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6217920" y="-914400"/>
            <a:ext cx="4114800" cy="4114800"/>
          </a:xfrm>
          <a:prstGeom prst="ellipse">
            <a:avLst/>
          </a:prstGeom>
          <a:solidFill>
            <a:srgbClr val="1C6E8C">
              <a:alpha val="22000"/>
            </a:srgbClr>
          </a:solidFill>
          <a:ln w="12700">
            <a:solidFill>
              <a:srgbClr val="1C6E8C">
                <a:alpha val="22000"/>
              </a:srgbClr>
            </a:solidFill>
            <a:prstDash val="solid"/>
          </a:ln>
        </p:spPr>
      </p:sp>
      <p:sp>
        <p:nvSpPr>
          <p:cNvPr id="3" name="Shape 1"/>
          <p:cNvSpPr/>
          <p:nvPr/>
        </p:nvSpPr>
        <p:spPr>
          <a:xfrm>
            <a:off x="-914400" y="3200400"/>
            <a:ext cx="2926080" cy="2926080"/>
          </a:xfrm>
          <a:prstGeom prst="ellipse">
            <a:avLst/>
          </a:prstGeom>
          <a:solidFill>
            <a:srgbClr val="2DC6D6">
              <a:alpha val="18000"/>
            </a:srgbClr>
          </a:solidFill>
          <a:ln w="12700">
            <a:solidFill>
              <a:srgbClr val="2DC6D6">
                <a:alpha val="18000"/>
              </a:srgbClr>
            </a:solidFill>
            <a:prstDash val="solid"/>
          </a:ln>
        </p:spPr>
      </p:sp>
      <p:sp>
        <p:nvSpPr>
          <p:cNvPr id="4" name="Text 2"/>
          <p:cNvSpPr/>
          <p:nvPr/>
        </p:nvSpPr>
        <p:spPr>
          <a:xfrm>
            <a:off x="640080" y="457200"/>
            <a:ext cx="7863840" cy="320040"/>
          </a:xfrm>
          <a:prstGeom prst="rect">
            <a:avLst/>
          </a:prstGeom>
          <a:noFill/>
          <a:ln/>
        </p:spPr>
        <p:txBody>
          <a:bodyPr wrap="square" lIns="0" tIns="0" rIns="0" bIns="0" rtlCol="0" anchor="ctr"/>
          <a:lstStyle/>
          <a:p>
            <a:pPr indent="0" marL="0">
              <a:buNone/>
            </a:pPr>
            <a:r>
              <a:rPr lang="en-US" sz="1100" dirty="0">
                <a:solidFill>
                  <a:srgbClr val="2DC6D6"/>
                </a:solidFill>
                <a:latin typeface="Calibri" pitchFamily="34" charset="0"/>
                <a:ea typeface="Calibri" pitchFamily="34" charset="-122"/>
                <a:cs typeface="Calibri" pitchFamily="34" charset="-120"/>
              </a:rPr>
              <a:t>TÜBİTAK 2209-A  |  2026 – 1st Term Application</a:t>
            </a:r>
            <a:endParaRPr lang="en-US" sz="1100" dirty="0"/>
          </a:p>
        </p:txBody>
      </p:sp>
      <p:sp>
        <p:nvSpPr>
          <p:cNvPr id="5" name="Text 3"/>
          <p:cNvSpPr/>
          <p:nvPr/>
        </p:nvSpPr>
        <p:spPr>
          <a:xfrm>
            <a:off x="640080" y="914400"/>
            <a:ext cx="8229600" cy="14173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HOLISTIC ENERGY</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OPTIMIZATION</a:t>
            </a:r>
            <a:endParaRPr lang="en-US" sz="3800" dirty="0"/>
          </a:p>
        </p:txBody>
      </p:sp>
      <p:sp>
        <p:nvSpPr>
          <p:cNvPr id="6" name="Text 4"/>
          <p:cNvSpPr/>
          <p:nvPr/>
        </p:nvSpPr>
        <p:spPr>
          <a:xfrm>
            <a:off x="640080" y="2286000"/>
            <a:ext cx="7315200" cy="502920"/>
          </a:xfrm>
          <a:prstGeom prst="rect">
            <a:avLst/>
          </a:prstGeom>
          <a:noFill/>
          <a:ln/>
        </p:spPr>
        <p:txBody>
          <a:bodyPr wrap="square" lIns="0" tIns="0" rIns="0" bIns="0" rtlCol="0" anchor="ctr"/>
          <a:lstStyle/>
          <a:p>
            <a:pPr indent="0" marL="0">
              <a:buNone/>
            </a:pPr>
            <a:r>
              <a:rPr lang="en-US" sz="2200" dirty="0">
                <a:solidFill>
                  <a:srgbClr val="2DC6D6"/>
                </a:solidFill>
                <a:latin typeface="Cambria" pitchFamily="34" charset="0"/>
                <a:ea typeface="Cambria" pitchFamily="34" charset="-122"/>
                <a:cs typeface="Cambria" pitchFamily="34" charset="-120"/>
              </a:rPr>
              <a:t>in GTU Campus Buildings</a:t>
            </a:r>
            <a:endParaRPr lang="en-US" sz="2200" dirty="0"/>
          </a:p>
        </p:txBody>
      </p:sp>
      <p:sp>
        <p:nvSpPr>
          <p:cNvPr id="7" name="Shape 5"/>
          <p:cNvSpPr/>
          <p:nvPr/>
        </p:nvSpPr>
        <p:spPr>
          <a:xfrm>
            <a:off x="640080" y="2880360"/>
            <a:ext cx="7863840" cy="27432"/>
          </a:xfrm>
          <a:prstGeom prst="rect">
            <a:avLst/>
          </a:prstGeom>
          <a:solidFill>
            <a:srgbClr val="2DC6D6"/>
          </a:solidFill>
          <a:ln w="12700">
            <a:solidFill>
              <a:srgbClr val="2DC6D6"/>
            </a:solidFill>
            <a:prstDash val="solid"/>
          </a:ln>
        </p:spPr>
      </p:sp>
      <p:sp>
        <p:nvSpPr>
          <p:cNvPr id="8" name="Text 6"/>
          <p:cNvSpPr/>
          <p:nvPr/>
        </p:nvSpPr>
        <p:spPr>
          <a:xfrm>
            <a:off x="640080" y="2999232"/>
            <a:ext cx="7863840" cy="274320"/>
          </a:xfrm>
          <a:prstGeom prst="rect">
            <a:avLst/>
          </a:prstGeom>
          <a:noFill/>
          <a:ln/>
        </p:spPr>
        <p:txBody>
          <a:bodyPr wrap="square" lIns="0" tIns="0" rIns="0" bIns="0" rtlCol="0" anchor="ctr"/>
          <a:lstStyle/>
          <a:p>
            <a:pPr indent="0" marL="0">
              <a:buNone/>
            </a:pPr>
            <a:r>
              <a:rPr lang="en-US" sz="1100" dirty="0">
                <a:solidFill>
                  <a:srgbClr val="AECBD6"/>
                </a:solidFill>
                <a:latin typeface="Calibri" pitchFamily="34" charset="0"/>
                <a:ea typeface="Calibri" pitchFamily="34" charset="-122"/>
                <a:cs typeface="Calibri" pitchFamily="34" charset="-120"/>
              </a:rPr>
              <a:t>Gebze Technical University  ·  Faculty of Engineering</a:t>
            </a:r>
            <a:endParaRPr lang="en-US" sz="1100" dirty="0"/>
          </a:p>
        </p:txBody>
      </p:sp>
      <p:sp>
        <p:nvSpPr>
          <p:cNvPr id="9" name="Text 7"/>
          <p:cNvSpPr/>
          <p:nvPr/>
        </p:nvSpPr>
        <p:spPr>
          <a:xfrm>
            <a:off x="640080" y="3291840"/>
            <a:ext cx="7863840" cy="256032"/>
          </a:xfrm>
          <a:prstGeom prst="rect">
            <a:avLst/>
          </a:prstGeom>
          <a:noFill/>
          <a:ln/>
        </p:spPr>
        <p:txBody>
          <a:bodyPr wrap="square" lIns="0" tIns="0" rIns="0" bIns="0" rtlCol="0" anchor="ctr"/>
          <a:lstStyle/>
          <a:p>
            <a:pPr indent="0" marL="0">
              <a:buNone/>
            </a:pPr>
            <a:r>
              <a:rPr lang="en-US" sz="1100" dirty="0">
                <a:solidFill>
                  <a:srgbClr val="7BAFC4"/>
                </a:solidFill>
                <a:latin typeface="Calibri" pitchFamily="34" charset="0"/>
                <a:ea typeface="Calibri" pitchFamily="34" charset="-122"/>
                <a:cs typeface="Calibri" pitchFamily="34" charset="-120"/>
              </a:rPr>
              <a:t>Chemical  ·  Computer  ·  Industrial  ·  Civil Engineering</a:t>
            </a:r>
            <a:endParaRPr lang="en-US" sz="1100" dirty="0"/>
          </a:p>
        </p:txBody>
      </p:sp>
      <p:sp>
        <p:nvSpPr>
          <p:cNvPr id="10" name="Text 8"/>
          <p:cNvSpPr/>
          <p:nvPr/>
        </p:nvSpPr>
        <p:spPr>
          <a:xfrm>
            <a:off x="640080" y="3730752"/>
            <a:ext cx="3657600" cy="256032"/>
          </a:xfrm>
          <a:prstGeom prst="rect">
            <a:avLst/>
          </a:prstGeom>
          <a:noFill/>
          <a:ln/>
        </p:spPr>
        <p:txBody>
          <a:bodyPr wrap="square" lIns="0" tIns="0" rIns="0" bIns="0" rtlCol="0" anchor="ctr"/>
          <a:lstStyle/>
          <a:p>
            <a:pPr indent="0" marL="0">
              <a:buNone/>
            </a:pPr>
            <a:r>
              <a:rPr lang="en-US" sz="1100" b="1" dirty="0">
                <a:solidFill>
                  <a:srgbClr val="2DC6D6"/>
                </a:solidFill>
                <a:latin typeface="Calibri" pitchFamily="34" charset="0"/>
                <a:ea typeface="Calibri" pitchFamily="34" charset="-122"/>
                <a:cs typeface="Calibri" pitchFamily="34" charset="-120"/>
              </a:rPr>
              <a:t>Project Team</a:t>
            </a:r>
            <a:endParaRPr lang="en-US" sz="1100" dirty="0"/>
          </a:p>
        </p:txBody>
      </p:sp>
      <p:sp>
        <p:nvSpPr>
          <p:cNvPr id="11" name="Text 9"/>
          <p:cNvSpPr/>
          <p:nvPr/>
        </p:nvSpPr>
        <p:spPr>
          <a:xfrm>
            <a:off x="640080" y="4005072"/>
            <a:ext cx="39319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Mücahit Cem Peküz</a:t>
            </a:r>
            <a:endParaRPr lang="en-US" sz="1100" dirty="0"/>
          </a:p>
        </p:txBody>
      </p:sp>
      <p:sp>
        <p:nvSpPr>
          <p:cNvPr id="12" name="Text 10"/>
          <p:cNvSpPr/>
          <p:nvPr/>
        </p:nvSpPr>
        <p:spPr>
          <a:xfrm>
            <a:off x="640080" y="4279392"/>
            <a:ext cx="39319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Fatih Emre Oğan</a:t>
            </a:r>
            <a:endParaRPr lang="en-US" sz="1100" dirty="0"/>
          </a:p>
        </p:txBody>
      </p:sp>
      <p:sp>
        <p:nvSpPr>
          <p:cNvPr id="13" name="Text 11"/>
          <p:cNvSpPr/>
          <p:nvPr/>
        </p:nvSpPr>
        <p:spPr>
          <a:xfrm>
            <a:off x="4754880" y="4005072"/>
            <a:ext cx="39319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Taha Batuhan Çubukçu</a:t>
            </a:r>
            <a:endParaRPr lang="en-US" sz="1100" dirty="0"/>
          </a:p>
        </p:txBody>
      </p:sp>
      <p:sp>
        <p:nvSpPr>
          <p:cNvPr id="14" name="Text 12"/>
          <p:cNvSpPr/>
          <p:nvPr/>
        </p:nvSpPr>
        <p:spPr>
          <a:xfrm>
            <a:off x="4754880" y="4279392"/>
            <a:ext cx="39319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Fatma Yağmur Akbulut</a:t>
            </a:r>
            <a:endParaRPr lang="en-US" sz="1100" dirty="0"/>
          </a:p>
        </p:txBody>
      </p:sp>
      <p:sp>
        <p:nvSpPr>
          <p:cNvPr id="15" name="Text 13"/>
          <p:cNvSpPr/>
          <p:nvPr/>
        </p:nvSpPr>
        <p:spPr>
          <a:xfrm>
            <a:off x="640080" y="4645152"/>
            <a:ext cx="7863840" cy="256032"/>
          </a:xfrm>
          <a:prstGeom prst="rect">
            <a:avLst/>
          </a:prstGeom>
          <a:noFill/>
          <a:ln/>
        </p:spPr>
        <p:txBody>
          <a:bodyPr wrap="square" lIns="0" tIns="0" rIns="0" bIns="0" rtlCol="0" anchor="ctr"/>
          <a:lstStyle/>
          <a:p>
            <a:pPr indent="0" marL="0">
              <a:buNone/>
            </a:pPr>
            <a:r>
              <a:rPr lang="en-US" sz="1100" i="1" dirty="0">
                <a:solidFill>
                  <a:srgbClr val="AECBD6"/>
                </a:solidFill>
                <a:latin typeface="Calibri" pitchFamily="34" charset="0"/>
                <a:ea typeface="Calibri" pitchFamily="34" charset="-122"/>
                <a:cs typeface="Calibri" pitchFamily="34" charset="-120"/>
              </a:rPr>
              <a:t>Advisor: Assoc. Prof. Dr. Murat Oluş Özbek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6FA"/>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2342"/>
          </a:solidFill>
          <a:ln w="12700">
            <a:solidFill>
              <a:srgbClr val="0A2342"/>
            </a:solidFill>
            <a:prstDash val="solid"/>
          </a:ln>
        </p:spPr>
      </p:sp>
      <p:sp>
        <p:nvSpPr>
          <p:cNvPr id="3" name="Text 1"/>
          <p:cNvSpPr/>
          <p:nvPr/>
        </p:nvSpPr>
        <p:spPr>
          <a:xfrm>
            <a:off x="457200" y="91440"/>
            <a:ext cx="77724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This Project?</a:t>
            </a:r>
            <a:endParaRPr lang="en-US" sz="2600" dirty="0"/>
          </a:p>
        </p:txBody>
      </p:sp>
      <p:sp>
        <p:nvSpPr>
          <p:cNvPr id="4" name="Text 2"/>
          <p:cNvSpPr/>
          <p:nvPr/>
        </p:nvSpPr>
        <p:spPr>
          <a:xfrm>
            <a:off x="457200" y="493776"/>
            <a:ext cx="4572000" cy="201168"/>
          </a:xfrm>
          <a:prstGeom prst="rect">
            <a:avLst/>
          </a:prstGeom>
          <a:noFill/>
          <a:ln/>
        </p:spPr>
        <p:txBody>
          <a:bodyPr wrap="square" lIns="0" tIns="0" rIns="0" bIns="0" rtlCol="0" anchor="ctr"/>
          <a:lstStyle/>
          <a:p>
            <a:pPr indent="0" marL="0">
              <a:buNone/>
            </a:pPr>
            <a:r>
              <a:rPr lang="en-US" sz="1000" dirty="0">
                <a:solidFill>
                  <a:srgbClr val="2DC6D6"/>
                </a:solidFill>
                <a:latin typeface="Calibri" pitchFamily="34" charset="0"/>
                <a:ea typeface="Calibri" pitchFamily="34" charset="-122"/>
                <a:cs typeface="Calibri" pitchFamily="34" charset="-120"/>
              </a:rPr>
              <a:t>The problem we are solving</a:t>
            </a:r>
            <a:endParaRPr lang="en-US" sz="1000" dirty="0"/>
          </a:p>
        </p:txBody>
      </p:sp>
      <p:sp>
        <p:nvSpPr>
          <p:cNvPr id="5" name="Shape 3"/>
          <p:cNvSpPr/>
          <p:nvPr/>
        </p:nvSpPr>
        <p:spPr>
          <a:xfrm>
            <a:off x="347472" y="896112"/>
            <a:ext cx="2670048" cy="1572768"/>
          </a:xfrm>
          <a:prstGeom prst="roundRect">
            <a:avLst>
              <a:gd name="adj" fmla="val 6977"/>
            </a:avLst>
          </a:prstGeom>
          <a:solidFill>
            <a:srgbClr val="0A2342"/>
          </a:solidFill>
          <a:ln/>
          <a:effectLst>
            <a:outerShdw sx="100000" sy="100000" kx="0" ky="0" algn="bl" rotWithShape="0" blurRad="101600" dist="38100" dir="2700000">
              <a:srgbClr val="000000">
                <a:alpha val="11000"/>
              </a:srgbClr>
            </a:outerShdw>
          </a:effectLst>
        </p:spPr>
      </p:sp>
      <p:sp>
        <p:nvSpPr>
          <p:cNvPr id="6" name="Text 4"/>
          <p:cNvSpPr/>
          <p:nvPr/>
        </p:nvSpPr>
        <p:spPr>
          <a:xfrm>
            <a:off x="347472" y="960120"/>
            <a:ext cx="2670048" cy="749808"/>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30%</a:t>
            </a:r>
            <a:endParaRPr lang="en-US" sz="3800" dirty="0"/>
          </a:p>
        </p:txBody>
      </p:sp>
      <p:sp>
        <p:nvSpPr>
          <p:cNvPr id="7" name="Text 5"/>
          <p:cNvSpPr/>
          <p:nvPr/>
        </p:nvSpPr>
        <p:spPr>
          <a:xfrm>
            <a:off x="347472" y="1691640"/>
            <a:ext cx="2670048" cy="685800"/>
          </a:xfrm>
          <a:prstGeom prst="rect">
            <a:avLst/>
          </a:prstGeom>
          <a:noFill/>
          <a:ln/>
        </p:spPr>
        <p:txBody>
          <a:bodyPr wrap="square" lIns="0" tIns="0" rIns="0" bIns="0" rtlCol="0" anchor="ctr"/>
          <a:lstStyle/>
          <a:p>
            <a:pPr algn="ctr" indent="0" marL="0">
              <a:buNone/>
            </a:pPr>
            <a:r>
              <a:rPr lang="en-US" sz="1050" dirty="0">
                <a:solidFill>
                  <a:srgbClr val="D4EBF2"/>
                </a:solidFill>
                <a:latin typeface="Calibri" pitchFamily="34" charset="0"/>
                <a:ea typeface="Calibri" pitchFamily="34" charset="-122"/>
                <a:cs typeface="Calibri" pitchFamily="34" charset="-120"/>
              </a:rPr>
              <a:t>of global energy</a:t>
            </a:r>
            <a:endParaRPr lang="en-US" sz="1050" dirty="0"/>
          </a:p>
          <a:p>
            <a:pPr algn="ctr" indent="0" marL="0">
              <a:buNone/>
            </a:pPr>
            <a:r>
              <a:rPr lang="en-US" sz="1050" dirty="0">
                <a:solidFill>
                  <a:srgbClr val="D4EBF2"/>
                </a:solidFill>
                <a:latin typeface="Calibri" pitchFamily="34" charset="0"/>
                <a:ea typeface="Calibri" pitchFamily="34" charset="-122"/>
                <a:cs typeface="Calibri" pitchFamily="34" charset="-120"/>
              </a:rPr>
              <a:t>is consumed by</a:t>
            </a:r>
            <a:endParaRPr lang="en-US" sz="1050" dirty="0"/>
          </a:p>
          <a:p>
            <a:pPr algn="ctr" indent="0" marL="0">
              <a:buNone/>
            </a:pPr>
            <a:r>
              <a:rPr lang="en-US" sz="1050" dirty="0">
                <a:solidFill>
                  <a:srgbClr val="D4EBF2"/>
                </a:solidFill>
                <a:latin typeface="Calibri" pitchFamily="34" charset="0"/>
                <a:ea typeface="Calibri" pitchFamily="34" charset="-122"/>
                <a:cs typeface="Calibri" pitchFamily="34" charset="-120"/>
              </a:rPr>
              <a:t>buildings</a:t>
            </a:r>
            <a:endParaRPr lang="en-US" sz="1050" dirty="0"/>
          </a:p>
        </p:txBody>
      </p:sp>
      <p:sp>
        <p:nvSpPr>
          <p:cNvPr id="8" name="Shape 6"/>
          <p:cNvSpPr/>
          <p:nvPr/>
        </p:nvSpPr>
        <p:spPr>
          <a:xfrm>
            <a:off x="3182112" y="896112"/>
            <a:ext cx="2670048" cy="1572768"/>
          </a:xfrm>
          <a:prstGeom prst="roundRect">
            <a:avLst>
              <a:gd name="adj" fmla="val 6977"/>
            </a:avLst>
          </a:prstGeom>
          <a:solidFill>
            <a:srgbClr val="1C6E8C"/>
          </a:solidFill>
          <a:ln/>
          <a:effectLst>
            <a:outerShdw sx="100000" sy="100000" kx="0" ky="0" algn="bl" rotWithShape="0" blurRad="101600" dist="38100" dir="2700000">
              <a:srgbClr val="000000">
                <a:alpha val="11000"/>
              </a:srgbClr>
            </a:outerShdw>
          </a:effectLst>
        </p:spPr>
      </p:sp>
      <p:sp>
        <p:nvSpPr>
          <p:cNvPr id="9" name="Text 7"/>
          <p:cNvSpPr/>
          <p:nvPr/>
        </p:nvSpPr>
        <p:spPr>
          <a:xfrm>
            <a:off x="3182112" y="960120"/>
            <a:ext cx="2670048" cy="749808"/>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40%+</a:t>
            </a:r>
            <a:endParaRPr lang="en-US" sz="3800" dirty="0"/>
          </a:p>
        </p:txBody>
      </p:sp>
      <p:sp>
        <p:nvSpPr>
          <p:cNvPr id="10" name="Text 8"/>
          <p:cNvSpPr/>
          <p:nvPr/>
        </p:nvSpPr>
        <p:spPr>
          <a:xfrm>
            <a:off x="3182112" y="1691640"/>
            <a:ext cx="2670048" cy="685800"/>
          </a:xfrm>
          <a:prstGeom prst="rect">
            <a:avLst/>
          </a:prstGeom>
          <a:noFill/>
          <a:ln/>
        </p:spPr>
        <p:txBody>
          <a:bodyPr wrap="square" lIns="0" tIns="0" rIns="0" bIns="0" rtlCol="0" anchor="ctr"/>
          <a:lstStyle/>
          <a:p>
            <a:pPr algn="ctr" indent="0" marL="0">
              <a:buNone/>
            </a:pPr>
            <a:r>
              <a:rPr lang="en-US" sz="1050" dirty="0">
                <a:solidFill>
                  <a:srgbClr val="D4EBF2"/>
                </a:solidFill>
                <a:latin typeface="Calibri" pitchFamily="34" charset="0"/>
                <a:ea typeface="Calibri" pitchFamily="34" charset="-122"/>
                <a:cs typeface="Calibri" pitchFamily="34" charset="-120"/>
              </a:rPr>
              <a:t>of a building's</a:t>
            </a:r>
            <a:endParaRPr lang="en-US" sz="1050" dirty="0"/>
          </a:p>
          <a:p>
            <a:pPr algn="ctr" indent="0" marL="0">
              <a:buNone/>
            </a:pPr>
            <a:r>
              <a:rPr lang="en-US" sz="1050" dirty="0">
                <a:solidFill>
                  <a:srgbClr val="D4EBF2"/>
                </a:solidFill>
                <a:latin typeface="Calibri" pitchFamily="34" charset="0"/>
                <a:ea typeface="Calibri" pitchFamily="34" charset="-122"/>
                <a:cs typeface="Calibri" pitchFamily="34" charset="-120"/>
              </a:rPr>
              <a:t>energy goes to</a:t>
            </a:r>
            <a:endParaRPr lang="en-US" sz="1050" dirty="0"/>
          </a:p>
          <a:p>
            <a:pPr algn="ctr" indent="0" marL="0">
              <a:buNone/>
            </a:pPr>
            <a:r>
              <a:rPr lang="en-US" sz="1050" dirty="0">
                <a:solidFill>
                  <a:srgbClr val="D4EBF2"/>
                </a:solidFill>
                <a:latin typeface="Calibri" pitchFamily="34" charset="0"/>
                <a:ea typeface="Calibri" pitchFamily="34" charset="-122"/>
                <a:cs typeface="Calibri" pitchFamily="34" charset="-120"/>
              </a:rPr>
              <a:t>heating &amp; cooling</a:t>
            </a:r>
            <a:endParaRPr lang="en-US" sz="1050" dirty="0"/>
          </a:p>
        </p:txBody>
      </p:sp>
      <p:sp>
        <p:nvSpPr>
          <p:cNvPr id="11" name="Shape 9"/>
          <p:cNvSpPr/>
          <p:nvPr/>
        </p:nvSpPr>
        <p:spPr>
          <a:xfrm>
            <a:off x="6016752" y="896112"/>
            <a:ext cx="2670048" cy="1572768"/>
          </a:xfrm>
          <a:prstGeom prst="roundRect">
            <a:avLst>
              <a:gd name="adj" fmla="val 6977"/>
            </a:avLst>
          </a:prstGeom>
          <a:solidFill>
            <a:srgbClr val="1A7F6F"/>
          </a:solidFill>
          <a:ln/>
          <a:effectLst>
            <a:outerShdw sx="100000" sy="100000" kx="0" ky="0" algn="bl" rotWithShape="0" blurRad="101600" dist="38100" dir="2700000">
              <a:srgbClr val="000000">
                <a:alpha val="11000"/>
              </a:srgbClr>
            </a:outerShdw>
          </a:effectLst>
        </p:spPr>
      </p:sp>
      <p:sp>
        <p:nvSpPr>
          <p:cNvPr id="12" name="Text 10"/>
          <p:cNvSpPr/>
          <p:nvPr/>
        </p:nvSpPr>
        <p:spPr>
          <a:xfrm>
            <a:off x="6016752" y="960120"/>
            <a:ext cx="2670048" cy="749808"/>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Gap</a:t>
            </a:r>
            <a:endParaRPr lang="en-US" sz="3800" dirty="0"/>
          </a:p>
        </p:txBody>
      </p:sp>
      <p:sp>
        <p:nvSpPr>
          <p:cNvPr id="13" name="Text 11"/>
          <p:cNvSpPr/>
          <p:nvPr/>
        </p:nvSpPr>
        <p:spPr>
          <a:xfrm>
            <a:off x="6016752" y="1691640"/>
            <a:ext cx="2670048" cy="685800"/>
          </a:xfrm>
          <a:prstGeom prst="rect">
            <a:avLst/>
          </a:prstGeom>
          <a:noFill/>
          <a:ln/>
        </p:spPr>
        <p:txBody>
          <a:bodyPr wrap="square" lIns="0" tIns="0" rIns="0" bIns="0" rtlCol="0" anchor="ctr"/>
          <a:lstStyle/>
          <a:p>
            <a:pPr algn="ctr" indent="0" marL="0">
              <a:buNone/>
            </a:pPr>
            <a:r>
              <a:rPr lang="en-US" sz="1050" dirty="0">
                <a:solidFill>
                  <a:srgbClr val="D4EBF2"/>
                </a:solidFill>
                <a:latin typeface="Calibri" pitchFamily="34" charset="0"/>
                <a:ea typeface="Calibri" pitchFamily="34" charset="-122"/>
                <a:cs typeface="Calibri" pitchFamily="34" charset="-120"/>
              </a:rPr>
              <a:t>No study combines</a:t>
            </a:r>
            <a:endParaRPr lang="en-US" sz="1050" dirty="0"/>
          </a:p>
          <a:p>
            <a:pPr algn="ctr" indent="0" marL="0">
              <a:buNone/>
            </a:pPr>
            <a:r>
              <a:rPr lang="en-US" sz="1050" dirty="0">
                <a:solidFill>
                  <a:srgbClr val="D4EBF2"/>
                </a:solidFill>
                <a:latin typeface="Calibri" pitchFamily="34" charset="0"/>
                <a:ea typeface="Calibri" pitchFamily="34" charset="-122"/>
                <a:cs typeface="Calibri" pitchFamily="34" charset="-120"/>
              </a:rPr>
              <a:t>behavior, physics</a:t>
            </a:r>
            <a:endParaRPr lang="en-US" sz="1050" dirty="0"/>
          </a:p>
          <a:p>
            <a:pPr algn="ctr" indent="0" marL="0">
              <a:buNone/>
            </a:pPr>
            <a:r>
              <a:rPr lang="en-US" sz="1050" dirty="0">
                <a:solidFill>
                  <a:srgbClr val="D4EBF2"/>
                </a:solidFill>
                <a:latin typeface="Calibri" pitchFamily="34" charset="0"/>
                <a:ea typeface="Calibri" pitchFamily="34" charset="-122"/>
                <a:cs typeface="Calibri" pitchFamily="34" charset="-120"/>
              </a:rPr>
              <a:t>&amp; optimization together</a:t>
            </a:r>
            <a:endParaRPr lang="en-US" sz="1050" dirty="0"/>
          </a:p>
        </p:txBody>
      </p:sp>
      <p:sp>
        <p:nvSpPr>
          <p:cNvPr id="14" name="Shape 12"/>
          <p:cNvSpPr/>
          <p:nvPr/>
        </p:nvSpPr>
        <p:spPr>
          <a:xfrm>
            <a:off x="347472" y="2578608"/>
            <a:ext cx="8449056" cy="749808"/>
          </a:xfrm>
          <a:prstGeom prst="roundRect">
            <a:avLst>
              <a:gd name="adj" fmla="val 10976"/>
            </a:avLst>
          </a:prstGeom>
          <a:solidFill>
            <a:srgbClr val="FFFFFF"/>
          </a:solidFill>
          <a:ln/>
          <a:effectLst>
            <a:outerShdw sx="100000" sy="100000" kx="0" ky="0" algn="bl" rotWithShape="0" blurRad="101600" dist="38100" dir="2700000">
              <a:srgbClr val="000000">
                <a:alpha val="11000"/>
              </a:srgbClr>
            </a:outerShdw>
          </a:effectLst>
        </p:spPr>
      </p:sp>
      <p:sp>
        <p:nvSpPr>
          <p:cNvPr id="15" name="Text 13"/>
          <p:cNvSpPr/>
          <p:nvPr/>
        </p:nvSpPr>
        <p:spPr>
          <a:xfrm>
            <a:off x="475488" y="2615184"/>
            <a:ext cx="8229600" cy="676656"/>
          </a:xfrm>
          <a:prstGeom prst="rect">
            <a:avLst/>
          </a:prstGeom>
          <a:noFill/>
          <a:ln/>
        </p:spPr>
        <p:txBody>
          <a:bodyPr wrap="square" lIns="0" tIns="0" rIns="0" bIns="0" rtlCol="0" anchor="ctr"/>
          <a:lstStyle/>
          <a:p>
            <a:pPr indent="0" marL="0">
              <a:buNone/>
            </a:pPr>
            <a:r>
              <a:rPr lang="en-US" sz="1050" b="1" dirty="0">
                <a:solidFill>
                  <a:srgbClr val="1C6E8C"/>
                </a:solidFill>
                <a:latin typeface="Calibri" pitchFamily="34" charset="0"/>
                <a:ea typeface="Calibri" pitchFamily="34" charset="-122"/>
                <a:cs typeface="Calibri" pitchFamily="34" charset="-120"/>
              </a:rPr>
              <a:t>The Challenge  </a:t>
            </a:r>
            <a:pPr indent="0" marL="0">
              <a:buNone/>
            </a:pPr>
            <a:r>
              <a:rPr lang="en-US" sz="1050" dirty="0">
                <a:solidFill>
                  <a:srgbClr val="1E293B"/>
                </a:solidFill>
                <a:latin typeface="Calibri" pitchFamily="34" charset="0"/>
                <a:ea typeface="Calibri" pitchFamily="34" charset="-122"/>
                <a:cs typeface="Calibri" pitchFamily="34" charset="-120"/>
              </a:rPr>
              <a:t>University campus buildings are especially hard to manage. Occupancy changes every hour depending on class schedules, lab use, and season. Standard energy systems cannot adapt to this complexity — they waste energy when rooms are empty and fail to keep people comfortable when rooms are full.</a:t>
            </a:r>
            <a:endParaRPr lang="en-US" sz="1050" dirty="0"/>
          </a:p>
        </p:txBody>
      </p:sp>
      <p:sp>
        <p:nvSpPr>
          <p:cNvPr id="16" name="Shape 14"/>
          <p:cNvSpPr/>
          <p:nvPr/>
        </p:nvSpPr>
        <p:spPr>
          <a:xfrm>
            <a:off x="347472" y="3401568"/>
            <a:ext cx="8449056" cy="749808"/>
          </a:xfrm>
          <a:prstGeom prst="roundRect">
            <a:avLst>
              <a:gd name="adj" fmla="val 10976"/>
            </a:avLst>
          </a:prstGeom>
          <a:solidFill>
            <a:srgbClr val="FFFFFF"/>
          </a:solidFill>
          <a:ln/>
          <a:effectLst>
            <a:outerShdw sx="100000" sy="100000" kx="0" ky="0" algn="bl" rotWithShape="0" blurRad="101600" dist="38100" dir="2700000">
              <a:srgbClr val="000000">
                <a:alpha val="11000"/>
              </a:srgbClr>
            </a:outerShdw>
          </a:effectLst>
        </p:spPr>
      </p:sp>
      <p:sp>
        <p:nvSpPr>
          <p:cNvPr id="17" name="Text 15"/>
          <p:cNvSpPr/>
          <p:nvPr/>
        </p:nvSpPr>
        <p:spPr>
          <a:xfrm>
            <a:off x="475488" y="3438144"/>
            <a:ext cx="8229600" cy="676656"/>
          </a:xfrm>
          <a:prstGeom prst="rect">
            <a:avLst/>
          </a:prstGeom>
          <a:noFill/>
          <a:ln/>
        </p:spPr>
        <p:txBody>
          <a:bodyPr wrap="square" lIns="0" tIns="0" rIns="0" bIns="0" rtlCol="0" anchor="ctr"/>
          <a:lstStyle/>
          <a:p>
            <a:pPr indent="0" marL="0">
              <a:buNone/>
            </a:pPr>
            <a:r>
              <a:rPr lang="en-US" sz="1050" b="1" dirty="0">
                <a:solidFill>
                  <a:srgbClr val="1C6E8C"/>
                </a:solidFill>
                <a:latin typeface="Calibri" pitchFamily="34" charset="0"/>
                <a:ea typeface="Calibri" pitchFamily="34" charset="-122"/>
                <a:cs typeface="Calibri" pitchFamily="34" charset="-120"/>
              </a:rPr>
              <a:t>What Existing Studies Miss  </a:t>
            </a:r>
            <a:pPr indent="0" marL="0">
              <a:buNone/>
            </a:pPr>
            <a:r>
              <a:rPr lang="en-US" sz="1050" dirty="0">
                <a:solidFill>
                  <a:srgbClr val="1E293B"/>
                </a:solidFill>
                <a:latin typeface="Calibri" pitchFamily="34" charset="0"/>
                <a:ea typeface="Calibri" pitchFamily="34" charset="-122"/>
                <a:cs typeface="Calibri" pitchFamily="34" charset="-120"/>
              </a:rPr>
              <a:t>Most research either measures energy use, predicts it with machine learning, or optimizes HVAC schedules separately. None of them bring user behavior, building physics, and optimization together into a single working system — which is exactly what is needed to make real improvements.</a:t>
            </a:r>
            <a:endParaRPr lang="en-US" sz="1050" dirty="0"/>
          </a:p>
        </p:txBody>
      </p:sp>
      <p:sp>
        <p:nvSpPr>
          <p:cNvPr id="18" name="Shape 16"/>
          <p:cNvSpPr/>
          <p:nvPr/>
        </p:nvSpPr>
        <p:spPr>
          <a:xfrm>
            <a:off x="347472" y="4224528"/>
            <a:ext cx="8449056" cy="749808"/>
          </a:xfrm>
          <a:prstGeom prst="roundRect">
            <a:avLst>
              <a:gd name="adj" fmla="val 10976"/>
            </a:avLst>
          </a:prstGeom>
          <a:solidFill>
            <a:srgbClr val="FFFFFF"/>
          </a:solidFill>
          <a:ln/>
          <a:effectLst>
            <a:outerShdw sx="100000" sy="100000" kx="0" ky="0" algn="bl" rotWithShape="0" blurRad="101600" dist="38100" dir="2700000">
              <a:srgbClr val="000000">
                <a:alpha val="11000"/>
              </a:srgbClr>
            </a:outerShdw>
          </a:effectLst>
        </p:spPr>
      </p:sp>
      <p:sp>
        <p:nvSpPr>
          <p:cNvPr id="19" name="Text 17"/>
          <p:cNvSpPr/>
          <p:nvPr/>
        </p:nvSpPr>
        <p:spPr>
          <a:xfrm>
            <a:off x="475488" y="4261104"/>
            <a:ext cx="8229600" cy="676656"/>
          </a:xfrm>
          <a:prstGeom prst="rect">
            <a:avLst/>
          </a:prstGeom>
          <a:noFill/>
          <a:ln/>
        </p:spPr>
        <p:txBody>
          <a:bodyPr wrap="square" lIns="0" tIns="0" rIns="0" bIns="0" rtlCol="0" anchor="ctr"/>
          <a:lstStyle/>
          <a:p>
            <a:pPr indent="0" marL="0">
              <a:buNone/>
            </a:pPr>
            <a:r>
              <a:rPr lang="en-US" sz="1050" b="1" dirty="0">
                <a:solidFill>
                  <a:srgbClr val="1C6E8C"/>
                </a:solidFill>
                <a:latin typeface="Calibri" pitchFamily="34" charset="0"/>
                <a:ea typeface="Calibri" pitchFamily="34" charset="-122"/>
                <a:cs typeface="Calibri" pitchFamily="34" charset="-120"/>
              </a:rPr>
              <a:t>Our Answer  </a:t>
            </a:r>
            <a:pPr indent="0" marL="0">
              <a:buNone/>
            </a:pPr>
            <a:r>
              <a:rPr lang="en-US" sz="1050" dirty="0">
                <a:solidFill>
                  <a:srgbClr val="1E293B"/>
                </a:solidFill>
                <a:latin typeface="Calibri" pitchFamily="34" charset="0"/>
                <a:ea typeface="Calibri" pitchFamily="34" charset="-122"/>
                <a:cs typeface="Calibri" pitchFamily="34" charset="-120"/>
              </a:rPr>
              <a:t>This project builds one integrated framework that models how people use the building, calculates how heat moves through its walls and windows, evaluates how efficiently the HVAC system runs, and then finds the best operating strategy. The result is a practical decision-support tool that building managers can actually use.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6E8C"/>
          </a:solidFill>
          <a:ln w="12700">
            <a:solidFill>
              <a:srgbClr val="1C6E8C"/>
            </a:solidFill>
            <a:prstDash val="solid"/>
          </a:ln>
        </p:spPr>
      </p:sp>
      <p:sp>
        <p:nvSpPr>
          <p:cNvPr id="3" name="Text 1"/>
          <p:cNvSpPr/>
          <p:nvPr/>
        </p:nvSpPr>
        <p:spPr>
          <a:xfrm>
            <a:off x="457200" y="91440"/>
            <a:ext cx="77724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It Works</a:t>
            </a:r>
            <a:endParaRPr lang="en-US" sz="2600" dirty="0"/>
          </a:p>
        </p:txBody>
      </p:sp>
      <p:sp>
        <p:nvSpPr>
          <p:cNvPr id="4" name="Text 2"/>
          <p:cNvSpPr/>
          <p:nvPr/>
        </p:nvSpPr>
        <p:spPr>
          <a:xfrm>
            <a:off x="457200" y="493776"/>
            <a:ext cx="6400800" cy="201168"/>
          </a:xfrm>
          <a:prstGeom prst="rect">
            <a:avLst/>
          </a:prstGeom>
          <a:noFill/>
          <a:ln/>
        </p:spPr>
        <p:txBody>
          <a:bodyPr wrap="square" lIns="0" tIns="0" rIns="0" bIns="0" rtlCol="0" anchor="ctr"/>
          <a:lstStyle/>
          <a:p>
            <a:pPr indent="0" marL="0">
              <a:buNone/>
            </a:pPr>
            <a:r>
              <a:rPr lang="en-US" sz="1000" dirty="0">
                <a:solidFill>
                  <a:srgbClr val="C8EDF5"/>
                </a:solidFill>
                <a:latin typeface="Calibri" pitchFamily="34" charset="0"/>
                <a:ea typeface="Calibri" pitchFamily="34" charset="-122"/>
                <a:cs typeface="Calibri" pitchFamily="34" charset="-120"/>
              </a:rPr>
              <a:t>Four steps from raw data to actionable recommendations</a:t>
            </a:r>
            <a:endParaRPr lang="en-US" sz="1000" dirty="0"/>
          </a:p>
        </p:txBody>
      </p:sp>
      <p:sp>
        <p:nvSpPr>
          <p:cNvPr id="5" name="Shape 3"/>
          <p:cNvSpPr/>
          <p:nvPr/>
        </p:nvSpPr>
        <p:spPr>
          <a:xfrm>
            <a:off x="347472" y="868680"/>
            <a:ext cx="8449056" cy="969264"/>
          </a:xfrm>
          <a:prstGeom prst="roundRect">
            <a:avLst>
              <a:gd name="adj" fmla="val 9434"/>
            </a:avLst>
          </a:prstGeom>
          <a:solidFill>
            <a:srgbClr val="FFFFFF"/>
          </a:solidFill>
          <a:ln/>
          <a:effectLst>
            <a:outerShdw sx="100000" sy="100000" kx="0" ky="0" algn="bl" rotWithShape="0" blurRad="101600" dist="38100" dir="2700000">
              <a:srgbClr val="000000">
                <a:alpha val="11000"/>
              </a:srgbClr>
            </a:outerShdw>
          </a:effectLst>
        </p:spPr>
      </p:sp>
      <p:sp>
        <p:nvSpPr>
          <p:cNvPr id="6" name="Shape 4"/>
          <p:cNvSpPr/>
          <p:nvPr/>
        </p:nvSpPr>
        <p:spPr>
          <a:xfrm>
            <a:off x="438912" y="941832"/>
            <a:ext cx="658368" cy="658368"/>
          </a:xfrm>
          <a:prstGeom prst="ellipse">
            <a:avLst/>
          </a:prstGeom>
          <a:solidFill>
            <a:srgbClr val="0A2342"/>
          </a:solidFill>
          <a:ln w="12700">
            <a:solidFill>
              <a:srgbClr val="0A2342"/>
            </a:solidFill>
            <a:prstDash val="solid"/>
          </a:ln>
        </p:spPr>
      </p:sp>
      <p:sp>
        <p:nvSpPr>
          <p:cNvPr id="7" name="Text 5"/>
          <p:cNvSpPr/>
          <p:nvPr/>
        </p:nvSpPr>
        <p:spPr>
          <a:xfrm>
            <a:off x="438912" y="941832"/>
            <a:ext cx="658368"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1188720" y="960120"/>
            <a:ext cx="7223760" cy="274320"/>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Collect the Data</a:t>
            </a:r>
            <a:endParaRPr lang="en-US" sz="1200" dirty="0"/>
          </a:p>
        </p:txBody>
      </p:sp>
      <p:sp>
        <p:nvSpPr>
          <p:cNvPr id="9" name="Text 7"/>
          <p:cNvSpPr/>
          <p:nvPr/>
        </p:nvSpPr>
        <p:spPr>
          <a:xfrm>
            <a:off x="1188720" y="1234440"/>
            <a:ext cx="7223760" cy="548640"/>
          </a:xfrm>
          <a:prstGeom prst="rect">
            <a:avLst/>
          </a:prstGeom>
          <a:noFill/>
          <a:ln/>
        </p:spPr>
        <p:txBody>
          <a:bodyPr wrap="square" lIns="0" tIns="0" rIns="0" bIns="0" rtlCol="0" anchor="ctr"/>
          <a:lstStyle/>
          <a:p>
            <a:pPr indent="0" marL="0">
              <a:buNone/>
            </a:pPr>
            <a:r>
              <a:rPr lang="en-US" sz="980" dirty="0">
                <a:solidFill>
                  <a:srgbClr val="1E293B"/>
                </a:solidFill>
                <a:latin typeface="Calibri" pitchFamily="34" charset="0"/>
                <a:ea typeface="Calibri" pitchFamily="34" charset="-122"/>
                <a:cs typeface="Calibri" pitchFamily="34" charset="-120"/>
              </a:rPr>
              <a:t>The team gathers real information from the Computer Engineering building at GTU — how many people are in each room and when, what the HVAC system is consuming, indoor and outdoor temperatures, and the physical dimensions of walls, windows, and the roof. This data forms the foundation for everything that follows.</a:t>
            </a:r>
            <a:endParaRPr lang="en-US" sz="980" dirty="0"/>
          </a:p>
        </p:txBody>
      </p:sp>
      <p:sp>
        <p:nvSpPr>
          <p:cNvPr id="10" name="Shape 8"/>
          <p:cNvSpPr/>
          <p:nvPr/>
        </p:nvSpPr>
        <p:spPr>
          <a:xfrm>
            <a:off x="347472" y="1911096"/>
            <a:ext cx="8449056" cy="969264"/>
          </a:xfrm>
          <a:prstGeom prst="roundRect">
            <a:avLst>
              <a:gd name="adj" fmla="val 9434"/>
            </a:avLst>
          </a:prstGeom>
          <a:solidFill>
            <a:srgbClr val="FFFFFF"/>
          </a:solidFill>
          <a:ln/>
          <a:effectLst>
            <a:outerShdw sx="100000" sy="100000" kx="0" ky="0" algn="bl" rotWithShape="0" blurRad="101600" dist="38100" dir="2700000">
              <a:srgbClr val="000000">
                <a:alpha val="11000"/>
              </a:srgbClr>
            </a:outerShdw>
          </a:effectLst>
        </p:spPr>
      </p:sp>
      <p:sp>
        <p:nvSpPr>
          <p:cNvPr id="11" name="Shape 9"/>
          <p:cNvSpPr/>
          <p:nvPr/>
        </p:nvSpPr>
        <p:spPr>
          <a:xfrm>
            <a:off x="438912" y="1984248"/>
            <a:ext cx="658368" cy="658368"/>
          </a:xfrm>
          <a:prstGeom prst="ellipse">
            <a:avLst/>
          </a:prstGeom>
          <a:solidFill>
            <a:srgbClr val="1C6E8C"/>
          </a:solidFill>
          <a:ln w="12700">
            <a:solidFill>
              <a:srgbClr val="1C6E8C"/>
            </a:solidFill>
            <a:prstDash val="solid"/>
          </a:ln>
        </p:spPr>
      </p:sp>
      <p:sp>
        <p:nvSpPr>
          <p:cNvPr id="12" name="Text 10"/>
          <p:cNvSpPr/>
          <p:nvPr/>
        </p:nvSpPr>
        <p:spPr>
          <a:xfrm>
            <a:off x="438912" y="1984248"/>
            <a:ext cx="658368"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3" name="Text 11"/>
          <p:cNvSpPr/>
          <p:nvPr/>
        </p:nvSpPr>
        <p:spPr>
          <a:xfrm>
            <a:off x="1188720" y="2002536"/>
            <a:ext cx="7223760" cy="274320"/>
          </a:xfrm>
          <a:prstGeom prst="rect">
            <a:avLst/>
          </a:prstGeom>
          <a:noFill/>
          <a:ln/>
        </p:spPr>
        <p:txBody>
          <a:bodyPr wrap="square" lIns="0" tIns="0" rIns="0" bIns="0" rtlCol="0" anchor="ctr"/>
          <a:lstStyle/>
          <a:p>
            <a:pPr indent="0" marL="0">
              <a:buNone/>
            </a:pPr>
            <a:r>
              <a:rPr lang="en-US" sz="1200" b="1" dirty="0">
                <a:solidFill>
                  <a:srgbClr val="1C6E8C"/>
                </a:solidFill>
                <a:latin typeface="Calibri" pitchFamily="34" charset="0"/>
                <a:ea typeface="Calibri" pitchFamily="34" charset="-122"/>
                <a:cs typeface="Calibri" pitchFamily="34" charset="-120"/>
              </a:rPr>
              <a:t>Model How People Use the Building</a:t>
            </a:r>
            <a:endParaRPr lang="en-US" sz="1200" dirty="0"/>
          </a:p>
        </p:txBody>
      </p:sp>
      <p:sp>
        <p:nvSpPr>
          <p:cNvPr id="14" name="Text 12"/>
          <p:cNvSpPr/>
          <p:nvPr/>
        </p:nvSpPr>
        <p:spPr>
          <a:xfrm>
            <a:off x="1188720" y="2276856"/>
            <a:ext cx="7223760" cy="548640"/>
          </a:xfrm>
          <a:prstGeom prst="rect">
            <a:avLst/>
          </a:prstGeom>
          <a:noFill/>
          <a:ln/>
        </p:spPr>
        <p:txBody>
          <a:bodyPr wrap="square" lIns="0" tIns="0" rIns="0" bIns="0" rtlCol="0" anchor="ctr"/>
          <a:lstStyle/>
          <a:p>
            <a:pPr indent="0" marL="0">
              <a:buNone/>
            </a:pPr>
            <a:r>
              <a:rPr lang="en-US" sz="980" dirty="0">
                <a:solidFill>
                  <a:srgbClr val="1E293B"/>
                </a:solidFill>
                <a:latin typeface="Calibri" pitchFamily="34" charset="0"/>
                <a:ea typeface="Calibri" pitchFamily="34" charset="-122"/>
                <a:cs typeface="Calibri" pitchFamily="34" charset="-120"/>
              </a:rPr>
              <a:t>People do not arrive and leave at perfectly predictable times. To capture this uncertainty, the project uses a statistical technique called a Markov chain, which tracks how a room transitions between being empty, lightly occupied, and heavily occupied throughout the day. Hundreds of realistic daily scenarios are then generated using Monte Carlo simulation, giving the system a rich picture of how the building is actually used.</a:t>
            </a:r>
            <a:endParaRPr lang="en-US" sz="980" dirty="0"/>
          </a:p>
        </p:txBody>
      </p:sp>
      <p:sp>
        <p:nvSpPr>
          <p:cNvPr id="15" name="Shape 13"/>
          <p:cNvSpPr/>
          <p:nvPr/>
        </p:nvSpPr>
        <p:spPr>
          <a:xfrm>
            <a:off x="347472" y="2953512"/>
            <a:ext cx="8449056" cy="969264"/>
          </a:xfrm>
          <a:prstGeom prst="roundRect">
            <a:avLst>
              <a:gd name="adj" fmla="val 9434"/>
            </a:avLst>
          </a:prstGeom>
          <a:solidFill>
            <a:srgbClr val="FFFFFF"/>
          </a:solidFill>
          <a:ln/>
          <a:effectLst>
            <a:outerShdw sx="100000" sy="100000" kx="0" ky="0" algn="bl" rotWithShape="0" blurRad="101600" dist="38100" dir="2700000">
              <a:srgbClr val="000000">
                <a:alpha val="11000"/>
              </a:srgbClr>
            </a:outerShdw>
          </a:effectLst>
        </p:spPr>
      </p:sp>
      <p:sp>
        <p:nvSpPr>
          <p:cNvPr id="16" name="Shape 14"/>
          <p:cNvSpPr/>
          <p:nvPr/>
        </p:nvSpPr>
        <p:spPr>
          <a:xfrm>
            <a:off x="438912" y="3026664"/>
            <a:ext cx="658368" cy="658368"/>
          </a:xfrm>
          <a:prstGeom prst="ellipse">
            <a:avLst/>
          </a:prstGeom>
          <a:solidFill>
            <a:srgbClr val="1A7F6F"/>
          </a:solidFill>
          <a:ln w="12700">
            <a:solidFill>
              <a:srgbClr val="1A7F6F"/>
            </a:solidFill>
            <a:prstDash val="solid"/>
          </a:ln>
        </p:spPr>
      </p:sp>
      <p:sp>
        <p:nvSpPr>
          <p:cNvPr id="17" name="Text 15"/>
          <p:cNvSpPr/>
          <p:nvPr/>
        </p:nvSpPr>
        <p:spPr>
          <a:xfrm>
            <a:off x="438912" y="3026664"/>
            <a:ext cx="658368"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8" name="Text 16"/>
          <p:cNvSpPr/>
          <p:nvPr/>
        </p:nvSpPr>
        <p:spPr>
          <a:xfrm>
            <a:off x="1188720" y="3044952"/>
            <a:ext cx="7223760" cy="274320"/>
          </a:xfrm>
          <a:prstGeom prst="rect">
            <a:avLst/>
          </a:prstGeom>
          <a:noFill/>
          <a:ln/>
        </p:spPr>
        <p:txBody>
          <a:bodyPr wrap="square" lIns="0" tIns="0" rIns="0" bIns="0" rtlCol="0" anchor="ctr"/>
          <a:lstStyle/>
          <a:p>
            <a:pPr indent="0" marL="0">
              <a:buNone/>
            </a:pPr>
            <a:r>
              <a:rPr lang="en-US" sz="1200" b="1" dirty="0">
                <a:solidFill>
                  <a:srgbClr val="1A7F6F"/>
                </a:solidFill>
                <a:latin typeface="Calibri" pitchFamily="34" charset="0"/>
                <a:ea typeface="Calibri" pitchFamily="34" charset="-122"/>
                <a:cs typeface="Calibri" pitchFamily="34" charset="-120"/>
              </a:rPr>
              <a:t>Analyze the Building Physics</a:t>
            </a:r>
            <a:endParaRPr lang="en-US" sz="1200" dirty="0"/>
          </a:p>
        </p:txBody>
      </p:sp>
      <p:sp>
        <p:nvSpPr>
          <p:cNvPr id="19" name="Text 17"/>
          <p:cNvSpPr/>
          <p:nvPr/>
        </p:nvSpPr>
        <p:spPr>
          <a:xfrm>
            <a:off x="1188720" y="3319272"/>
            <a:ext cx="7223760" cy="548640"/>
          </a:xfrm>
          <a:prstGeom prst="rect">
            <a:avLst/>
          </a:prstGeom>
          <a:noFill/>
          <a:ln/>
        </p:spPr>
        <p:txBody>
          <a:bodyPr wrap="square" lIns="0" tIns="0" rIns="0" bIns="0" rtlCol="0" anchor="ctr"/>
          <a:lstStyle/>
          <a:p>
            <a:pPr indent="0" marL="0">
              <a:buNone/>
            </a:pPr>
            <a:r>
              <a:rPr lang="en-US" sz="980" dirty="0">
                <a:solidFill>
                  <a:srgbClr val="1E293B"/>
                </a:solidFill>
                <a:latin typeface="Calibri" pitchFamily="34" charset="0"/>
                <a:ea typeface="Calibri" pitchFamily="34" charset="-122"/>
                <a:cs typeface="Calibri" pitchFamily="34" charset="-120"/>
              </a:rPr>
              <a:t>Knowing how people use the building is only half the story. The team also calculates how heat flows through the building envelope — walls, windows, and roof — and how efficiently the HVAC system converts electricity into heating or cooling. Insulation alternatives such as stone wool, EPS, and XPS are compared to identify where physical upgrades would have the greatest impact.</a:t>
            </a:r>
            <a:endParaRPr lang="en-US" sz="980" dirty="0"/>
          </a:p>
        </p:txBody>
      </p:sp>
      <p:sp>
        <p:nvSpPr>
          <p:cNvPr id="20" name="Shape 18"/>
          <p:cNvSpPr/>
          <p:nvPr/>
        </p:nvSpPr>
        <p:spPr>
          <a:xfrm>
            <a:off x="347472" y="3995928"/>
            <a:ext cx="8449056" cy="969264"/>
          </a:xfrm>
          <a:prstGeom prst="roundRect">
            <a:avLst>
              <a:gd name="adj" fmla="val 9434"/>
            </a:avLst>
          </a:prstGeom>
          <a:solidFill>
            <a:srgbClr val="FFFFFF"/>
          </a:solidFill>
          <a:ln/>
          <a:effectLst>
            <a:outerShdw sx="100000" sy="100000" kx="0" ky="0" algn="bl" rotWithShape="0" blurRad="101600" dist="38100" dir="2700000">
              <a:srgbClr val="000000">
                <a:alpha val="11000"/>
              </a:srgbClr>
            </a:outerShdw>
          </a:effectLst>
        </p:spPr>
      </p:sp>
      <p:sp>
        <p:nvSpPr>
          <p:cNvPr id="21" name="Shape 19"/>
          <p:cNvSpPr/>
          <p:nvPr/>
        </p:nvSpPr>
        <p:spPr>
          <a:xfrm>
            <a:off x="438912" y="4069080"/>
            <a:ext cx="658368" cy="658368"/>
          </a:xfrm>
          <a:prstGeom prst="ellipse">
            <a:avLst/>
          </a:prstGeom>
          <a:solidFill>
            <a:srgbClr val="1E6B9E"/>
          </a:solidFill>
          <a:ln w="12700">
            <a:solidFill>
              <a:srgbClr val="1E6B9E"/>
            </a:solidFill>
            <a:prstDash val="solid"/>
          </a:ln>
        </p:spPr>
      </p:sp>
      <p:sp>
        <p:nvSpPr>
          <p:cNvPr id="22" name="Text 20"/>
          <p:cNvSpPr/>
          <p:nvPr/>
        </p:nvSpPr>
        <p:spPr>
          <a:xfrm>
            <a:off x="438912" y="4069080"/>
            <a:ext cx="658368"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3" name="Text 21"/>
          <p:cNvSpPr/>
          <p:nvPr/>
        </p:nvSpPr>
        <p:spPr>
          <a:xfrm>
            <a:off x="1188720" y="4087368"/>
            <a:ext cx="7223760" cy="274320"/>
          </a:xfrm>
          <a:prstGeom prst="rect">
            <a:avLst/>
          </a:prstGeom>
          <a:noFill/>
          <a:ln/>
        </p:spPr>
        <p:txBody>
          <a:bodyPr wrap="square" lIns="0" tIns="0" rIns="0" bIns="0" rtlCol="0" anchor="ctr"/>
          <a:lstStyle/>
          <a:p>
            <a:pPr indent="0" marL="0">
              <a:buNone/>
            </a:pPr>
            <a:r>
              <a:rPr lang="en-US" sz="1200" b="1" dirty="0">
                <a:solidFill>
                  <a:srgbClr val="1E6B9E"/>
                </a:solidFill>
                <a:latin typeface="Calibri" pitchFamily="34" charset="0"/>
                <a:ea typeface="Calibri" pitchFamily="34" charset="-122"/>
                <a:cs typeface="Calibri" pitchFamily="34" charset="-120"/>
              </a:rPr>
              <a:t>Optimize and Recommend</a:t>
            </a:r>
            <a:endParaRPr lang="en-US" sz="1200" dirty="0"/>
          </a:p>
        </p:txBody>
      </p:sp>
      <p:sp>
        <p:nvSpPr>
          <p:cNvPr id="24" name="Text 22"/>
          <p:cNvSpPr/>
          <p:nvPr/>
        </p:nvSpPr>
        <p:spPr>
          <a:xfrm>
            <a:off x="1188720" y="4361688"/>
            <a:ext cx="7223760" cy="548640"/>
          </a:xfrm>
          <a:prstGeom prst="rect">
            <a:avLst/>
          </a:prstGeom>
          <a:noFill/>
          <a:ln/>
        </p:spPr>
        <p:txBody>
          <a:bodyPr wrap="square" lIns="0" tIns="0" rIns="0" bIns="0" rtlCol="0" anchor="ctr"/>
          <a:lstStyle/>
          <a:p>
            <a:pPr indent="0" marL="0">
              <a:buNone/>
            </a:pPr>
            <a:r>
              <a:rPr lang="en-US" sz="980" dirty="0">
                <a:solidFill>
                  <a:srgbClr val="1E293B"/>
                </a:solidFill>
                <a:latin typeface="Calibri" pitchFamily="34" charset="0"/>
                <a:ea typeface="Calibri" pitchFamily="34" charset="-122"/>
                <a:cs typeface="Calibri" pitchFamily="34" charset="-120"/>
              </a:rPr>
              <a:t>All the behavioral and physical data feed into a mathematical optimization model that finds the best balance between minimizing energy consumption and maintaining user comfort. The outputs are presented through a Python-based dashboard where building managers can compare scenarios side by side and choose the strategy that fits their priorities.</a:t>
            </a:r>
            <a:endParaRPr lang="en-US" sz="9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7F6F"/>
          </a:solidFill>
          <a:ln w="12700">
            <a:solidFill>
              <a:srgbClr val="1A7F6F"/>
            </a:solidFill>
            <a:prstDash val="solid"/>
          </a:ln>
        </p:spPr>
      </p:sp>
      <p:sp>
        <p:nvSpPr>
          <p:cNvPr id="3" name="Text 1"/>
          <p:cNvSpPr/>
          <p:nvPr/>
        </p:nvSpPr>
        <p:spPr>
          <a:xfrm>
            <a:off x="457200" y="91440"/>
            <a:ext cx="77724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Who Does What</a:t>
            </a:r>
            <a:endParaRPr lang="en-US" sz="2600" dirty="0"/>
          </a:p>
        </p:txBody>
      </p:sp>
      <p:sp>
        <p:nvSpPr>
          <p:cNvPr id="4" name="Text 2"/>
          <p:cNvSpPr/>
          <p:nvPr/>
        </p:nvSpPr>
        <p:spPr>
          <a:xfrm>
            <a:off x="457200" y="493776"/>
            <a:ext cx="6400800" cy="201168"/>
          </a:xfrm>
          <a:prstGeom prst="rect">
            <a:avLst/>
          </a:prstGeom>
          <a:noFill/>
          <a:ln/>
        </p:spPr>
        <p:txBody>
          <a:bodyPr wrap="square" lIns="0" tIns="0" rIns="0" bIns="0" rtlCol="0" anchor="ctr"/>
          <a:lstStyle/>
          <a:p>
            <a:pPr indent="0" marL="0">
              <a:buNone/>
            </a:pPr>
            <a:r>
              <a:rPr lang="en-US" sz="1000" dirty="0">
                <a:solidFill>
                  <a:srgbClr val="2DC6D6"/>
                </a:solidFill>
                <a:latin typeface="Calibri" pitchFamily="34" charset="0"/>
                <a:ea typeface="Calibri" pitchFamily="34" charset="-122"/>
                <a:cs typeface="Calibri" pitchFamily="34" charset="-120"/>
              </a:rPr>
              <a:t>Each discipline contributes a distinct piece of the puzzle</a:t>
            </a:r>
            <a:endParaRPr lang="en-US" sz="1000" dirty="0"/>
          </a:p>
        </p:txBody>
      </p:sp>
      <p:sp>
        <p:nvSpPr>
          <p:cNvPr id="5" name="Shape 3"/>
          <p:cNvSpPr/>
          <p:nvPr/>
        </p:nvSpPr>
        <p:spPr>
          <a:xfrm>
            <a:off x="347472" y="914400"/>
            <a:ext cx="4224528" cy="1874520"/>
          </a:xfrm>
          <a:prstGeom prst="roundRect">
            <a:avLst>
              <a:gd name="adj" fmla="val 4878"/>
            </a:avLst>
          </a:prstGeom>
          <a:solidFill>
            <a:srgbClr val="FFFFFF"/>
          </a:solidFill>
          <a:ln/>
          <a:effectLst>
            <a:outerShdw sx="100000" sy="100000" kx="0" ky="0" algn="bl" rotWithShape="0" blurRad="101600" dist="38100" dir="2700000">
              <a:srgbClr val="000000">
                <a:alpha val="11000"/>
              </a:srgbClr>
            </a:outerShdw>
          </a:effectLst>
        </p:spPr>
      </p:sp>
      <p:sp>
        <p:nvSpPr>
          <p:cNvPr id="6" name="Shape 4"/>
          <p:cNvSpPr/>
          <p:nvPr/>
        </p:nvSpPr>
        <p:spPr>
          <a:xfrm>
            <a:off x="347472" y="914400"/>
            <a:ext cx="4224528" cy="402336"/>
          </a:xfrm>
          <a:prstGeom prst="roundRect">
            <a:avLst>
              <a:gd name="adj" fmla="val 22727"/>
            </a:avLst>
          </a:prstGeom>
          <a:solidFill>
            <a:srgbClr val="0A2342"/>
          </a:solidFill>
          <a:ln/>
        </p:spPr>
      </p:sp>
      <p:sp>
        <p:nvSpPr>
          <p:cNvPr id="7" name="Text 5"/>
          <p:cNvSpPr/>
          <p:nvPr/>
        </p:nvSpPr>
        <p:spPr>
          <a:xfrm>
            <a:off x="457200" y="969264"/>
            <a:ext cx="4005072"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Industrial Engineering</a:t>
            </a:r>
            <a:endParaRPr lang="en-US" sz="1150" dirty="0"/>
          </a:p>
        </p:txBody>
      </p:sp>
      <p:sp>
        <p:nvSpPr>
          <p:cNvPr id="8" name="Text 6"/>
          <p:cNvSpPr/>
          <p:nvPr/>
        </p:nvSpPr>
        <p:spPr>
          <a:xfrm>
            <a:off x="457200" y="1389888"/>
            <a:ext cx="4005072" cy="13350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Leads the overall project coordination and the mathematical optimization model. Builds the Markov chain occupancy model, runs Monte Carlo simulations to generate usage scenarios, and formulates the objective function that minimizes energy while preserving comfort.</a:t>
            </a:r>
            <a:endParaRPr lang="en-US" sz="1000" dirty="0"/>
          </a:p>
        </p:txBody>
      </p:sp>
      <p:sp>
        <p:nvSpPr>
          <p:cNvPr id="9" name="Shape 7"/>
          <p:cNvSpPr/>
          <p:nvPr/>
        </p:nvSpPr>
        <p:spPr>
          <a:xfrm>
            <a:off x="4754880" y="914400"/>
            <a:ext cx="4224528" cy="1874520"/>
          </a:xfrm>
          <a:prstGeom prst="roundRect">
            <a:avLst>
              <a:gd name="adj" fmla="val 4878"/>
            </a:avLst>
          </a:prstGeom>
          <a:solidFill>
            <a:srgbClr val="FFFFFF"/>
          </a:solidFill>
          <a:ln/>
          <a:effectLst>
            <a:outerShdw sx="100000" sy="100000" kx="0" ky="0" algn="bl" rotWithShape="0" blurRad="101600" dist="38100" dir="2700000">
              <a:srgbClr val="000000">
                <a:alpha val="11000"/>
              </a:srgbClr>
            </a:outerShdw>
          </a:effectLst>
        </p:spPr>
      </p:sp>
      <p:sp>
        <p:nvSpPr>
          <p:cNvPr id="10" name="Shape 8"/>
          <p:cNvSpPr/>
          <p:nvPr/>
        </p:nvSpPr>
        <p:spPr>
          <a:xfrm>
            <a:off x="4754880" y="914400"/>
            <a:ext cx="4224528" cy="402336"/>
          </a:xfrm>
          <a:prstGeom prst="roundRect">
            <a:avLst>
              <a:gd name="adj" fmla="val 22727"/>
            </a:avLst>
          </a:prstGeom>
          <a:solidFill>
            <a:srgbClr val="1C6E8C"/>
          </a:solidFill>
          <a:ln/>
        </p:spPr>
      </p:sp>
      <p:sp>
        <p:nvSpPr>
          <p:cNvPr id="11" name="Text 9"/>
          <p:cNvSpPr/>
          <p:nvPr/>
        </p:nvSpPr>
        <p:spPr>
          <a:xfrm>
            <a:off x="4864608" y="969264"/>
            <a:ext cx="4005072"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Computer Engineering</a:t>
            </a:r>
            <a:endParaRPr lang="en-US" sz="1150" dirty="0"/>
          </a:p>
        </p:txBody>
      </p:sp>
      <p:sp>
        <p:nvSpPr>
          <p:cNvPr id="12" name="Text 10"/>
          <p:cNvSpPr/>
          <p:nvPr/>
        </p:nvSpPr>
        <p:spPr>
          <a:xfrm>
            <a:off x="4864608" y="1389888"/>
            <a:ext cx="4005072" cy="13350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Develops the Python-based calculation engine and the Streamlit dashboard. Handles all data processing, connects the behavioral and physical modules, and builds the scenario comparison interface that managers use to explore results and make decisions.</a:t>
            </a:r>
            <a:endParaRPr lang="en-US" sz="1000" dirty="0"/>
          </a:p>
        </p:txBody>
      </p:sp>
      <p:sp>
        <p:nvSpPr>
          <p:cNvPr id="13" name="Shape 11"/>
          <p:cNvSpPr/>
          <p:nvPr/>
        </p:nvSpPr>
        <p:spPr>
          <a:xfrm>
            <a:off x="347472" y="2907792"/>
            <a:ext cx="4224528" cy="1874520"/>
          </a:xfrm>
          <a:prstGeom prst="roundRect">
            <a:avLst>
              <a:gd name="adj" fmla="val 4878"/>
            </a:avLst>
          </a:prstGeom>
          <a:solidFill>
            <a:srgbClr val="FFFFFF"/>
          </a:solidFill>
          <a:ln/>
          <a:effectLst>
            <a:outerShdw sx="100000" sy="100000" kx="0" ky="0" algn="bl" rotWithShape="0" blurRad="101600" dist="38100" dir="2700000">
              <a:srgbClr val="000000">
                <a:alpha val="11000"/>
              </a:srgbClr>
            </a:outerShdw>
          </a:effectLst>
        </p:spPr>
      </p:sp>
      <p:sp>
        <p:nvSpPr>
          <p:cNvPr id="14" name="Shape 12"/>
          <p:cNvSpPr/>
          <p:nvPr/>
        </p:nvSpPr>
        <p:spPr>
          <a:xfrm>
            <a:off x="347472" y="2907792"/>
            <a:ext cx="4224528" cy="402336"/>
          </a:xfrm>
          <a:prstGeom prst="roundRect">
            <a:avLst>
              <a:gd name="adj" fmla="val 22727"/>
            </a:avLst>
          </a:prstGeom>
          <a:solidFill>
            <a:srgbClr val="1A7F6F"/>
          </a:solidFill>
          <a:ln/>
        </p:spPr>
      </p:sp>
      <p:sp>
        <p:nvSpPr>
          <p:cNvPr id="15" name="Text 13"/>
          <p:cNvSpPr/>
          <p:nvPr/>
        </p:nvSpPr>
        <p:spPr>
          <a:xfrm>
            <a:off x="457200" y="2962656"/>
            <a:ext cx="4005072"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Chemical Engineering</a:t>
            </a:r>
            <a:endParaRPr lang="en-US" sz="1150" dirty="0"/>
          </a:p>
        </p:txBody>
      </p:sp>
      <p:sp>
        <p:nvSpPr>
          <p:cNvPr id="16" name="Text 14"/>
          <p:cNvSpPr/>
          <p:nvPr/>
        </p:nvSpPr>
        <p:spPr>
          <a:xfrm>
            <a:off x="457200" y="3383280"/>
            <a:ext cx="4005072" cy="13350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Conducts the thermodynamic analysis of the HVAC system. Calculates how efficiently the system converts electricity into heat or cooling under different conditions, and translates those efficiency metrics into concrete energy and emissions figures for each scenario.</a:t>
            </a:r>
            <a:endParaRPr lang="en-US" sz="1000" dirty="0"/>
          </a:p>
        </p:txBody>
      </p:sp>
      <p:sp>
        <p:nvSpPr>
          <p:cNvPr id="17" name="Shape 15"/>
          <p:cNvSpPr/>
          <p:nvPr/>
        </p:nvSpPr>
        <p:spPr>
          <a:xfrm>
            <a:off x="4754880" y="2907792"/>
            <a:ext cx="4224528" cy="1874520"/>
          </a:xfrm>
          <a:prstGeom prst="roundRect">
            <a:avLst>
              <a:gd name="adj" fmla="val 4878"/>
            </a:avLst>
          </a:prstGeom>
          <a:solidFill>
            <a:srgbClr val="FFFFFF"/>
          </a:solidFill>
          <a:ln/>
          <a:effectLst>
            <a:outerShdw sx="100000" sy="100000" kx="0" ky="0" algn="bl" rotWithShape="0" blurRad="101600" dist="38100" dir="2700000">
              <a:srgbClr val="000000">
                <a:alpha val="11000"/>
              </a:srgbClr>
            </a:outerShdw>
          </a:effectLst>
        </p:spPr>
      </p:sp>
      <p:sp>
        <p:nvSpPr>
          <p:cNvPr id="18" name="Shape 16"/>
          <p:cNvSpPr/>
          <p:nvPr/>
        </p:nvSpPr>
        <p:spPr>
          <a:xfrm>
            <a:off x="4754880" y="2907792"/>
            <a:ext cx="4224528" cy="402336"/>
          </a:xfrm>
          <a:prstGeom prst="roundRect">
            <a:avLst>
              <a:gd name="adj" fmla="val 22727"/>
            </a:avLst>
          </a:prstGeom>
          <a:solidFill>
            <a:srgbClr val="1E6B9E"/>
          </a:solidFill>
          <a:ln/>
        </p:spPr>
      </p:sp>
      <p:sp>
        <p:nvSpPr>
          <p:cNvPr id="19" name="Text 17"/>
          <p:cNvSpPr/>
          <p:nvPr/>
        </p:nvSpPr>
        <p:spPr>
          <a:xfrm>
            <a:off x="4864608" y="2962656"/>
            <a:ext cx="4005072" cy="2926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Civil Engineering</a:t>
            </a:r>
            <a:endParaRPr lang="en-US" sz="1150" dirty="0"/>
          </a:p>
        </p:txBody>
      </p:sp>
      <p:sp>
        <p:nvSpPr>
          <p:cNvPr id="20" name="Text 18"/>
          <p:cNvSpPr/>
          <p:nvPr/>
        </p:nvSpPr>
        <p:spPr>
          <a:xfrm>
            <a:off x="4864608" y="3383280"/>
            <a:ext cx="4005072" cy="13350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Evaluates the thermal performance of the building envelope in line with Turkish standard TS 825. Calculates heat loss through walls, windows, and the roof, assesses thermal bridges at junctions and edges, and compares insulation materials to identify the most cost-effective physical upgrades.</a:t>
            </a:r>
            <a:endParaRPr lang="en-US" sz="1000" dirty="0"/>
          </a:p>
        </p:txBody>
      </p:sp>
      <p:sp>
        <p:nvSpPr>
          <p:cNvPr id="21" name="Text 19"/>
          <p:cNvSpPr/>
          <p:nvPr/>
        </p:nvSpPr>
        <p:spPr>
          <a:xfrm>
            <a:off x="347472" y="4892040"/>
            <a:ext cx="8449056" cy="237744"/>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All four disciplines work in parallel and integrate their outputs at each project milestone.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1C6E8C">
              <a:alpha val="18000"/>
            </a:srgbClr>
          </a:solidFill>
          <a:ln w="12700">
            <a:solidFill>
              <a:srgbClr val="1C6E8C">
                <a:alpha val="18000"/>
              </a:srgbClr>
            </a:solidFill>
            <a:prstDash val="solid"/>
          </a:ln>
        </p:spPr>
      </p:sp>
      <p:sp>
        <p:nvSpPr>
          <p:cNvPr id="3" name="Shape 1"/>
          <p:cNvSpPr/>
          <p:nvPr/>
        </p:nvSpPr>
        <p:spPr>
          <a:xfrm>
            <a:off x="-914400" y="2926080"/>
            <a:ext cx="2926080" cy="2926080"/>
          </a:xfrm>
          <a:prstGeom prst="ellipse">
            <a:avLst/>
          </a:prstGeom>
          <a:solidFill>
            <a:srgbClr val="2DC6D6">
              <a:alpha val="15000"/>
            </a:srgbClr>
          </a:solidFill>
          <a:ln w="12700">
            <a:solidFill>
              <a:srgbClr val="2DC6D6">
                <a:alpha val="15000"/>
              </a:srgbClr>
            </a:solidFill>
            <a:prstDash val="solid"/>
          </a:ln>
        </p:spPr>
      </p:sp>
      <p:sp>
        <p:nvSpPr>
          <p:cNvPr id="4" name="Text 2"/>
          <p:cNvSpPr/>
          <p:nvPr/>
        </p:nvSpPr>
        <p:spPr>
          <a:xfrm>
            <a:off x="365760" y="164592"/>
            <a:ext cx="4114800" cy="42062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Project Timeline</a:t>
            </a:r>
            <a:endParaRPr lang="en-US" sz="2000" dirty="0"/>
          </a:p>
        </p:txBody>
      </p:sp>
      <p:sp>
        <p:nvSpPr>
          <p:cNvPr id="5" name="Shape 3"/>
          <p:cNvSpPr/>
          <p:nvPr/>
        </p:nvSpPr>
        <p:spPr>
          <a:xfrm>
            <a:off x="1463040" y="676656"/>
            <a:ext cx="3291840" cy="256032"/>
          </a:xfrm>
          <a:prstGeom prst="rect">
            <a:avLst/>
          </a:prstGeom>
          <a:solidFill>
            <a:srgbClr val="1C6E8C"/>
          </a:solidFill>
          <a:ln w="12700">
            <a:solidFill>
              <a:srgbClr val="1C6E8C"/>
            </a:solidFill>
            <a:prstDash val="solid"/>
          </a:ln>
        </p:spPr>
      </p:sp>
      <p:sp>
        <p:nvSpPr>
          <p:cNvPr id="6" name="Text 4"/>
          <p:cNvSpPr/>
          <p:nvPr/>
        </p:nvSpPr>
        <p:spPr>
          <a:xfrm>
            <a:off x="1463040" y="676656"/>
            <a:ext cx="548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M1</a:t>
            </a:r>
            <a:endParaRPr lang="en-US" sz="850" dirty="0"/>
          </a:p>
        </p:txBody>
      </p:sp>
      <p:sp>
        <p:nvSpPr>
          <p:cNvPr id="7" name="Text 5"/>
          <p:cNvSpPr/>
          <p:nvPr/>
        </p:nvSpPr>
        <p:spPr>
          <a:xfrm>
            <a:off x="2011680" y="676656"/>
            <a:ext cx="548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M2</a:t>
            </a:r>
            <a:endParaRPr lang="en-US" sz="850" dirty="0"/>
          </a:p>
        </p:txBody>
      </p:sp>
      <p:sp>
        <p:nvSpPr>
          <p:cNvPr id="8" name="Text 6"/>
          <p:cNvSpPr/>
          <p:nvPr/>
        </p:nvSpPr>
        <p:spPr>
          <a:xfrm>
            <a:off x="2560320" y="676656"/>
            <a:ext cx="548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M3</a:t>
            </a:r>
            <a:endParaRPr lang="en-US" sz="850" dirty="0"/>
          </a:p>
        </p:txBody>
      </p:sp>
      <p:sp>
        <p:nvSpPr>
          <p:cNvPr id="9" name="Text 7"/>
          <p:cNvSpPr/>
          <p:nvPr/>
        </p:nvSpPr>
        <p:spPr>
          <a:xfrm>
            <a:off x="3108960" y="676656"/>
            <a:ext cx="548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M4</a:t>
            </a:r>
            <a:endParaRPr lang="en-US" sz="850" dirty="0"/>
          </a:p>
        </p:txBody>
      </p:sp>
      <p:sp>
        <p:nvSpPr>
          <p:cNvPr id="10" name="Text 8"/>
          <p:cNvSpPr/>
          <p:nvPr/>
        </p:nvSpPr>
        <p:spPr>
          <a:xfrm>
            <a:off x="3657600" y="676656"/>
            <a:ext cx="548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M5</a:t>
            </a:r>
            <a:endParaRPr lang="en-US" sz="850" dirty="0"/>
          </a:p>
        </p:txBody>
      </p:sp>
      <p:sp>
        <p:nvSpPr>
          <p:cNvPr id="11" name="Text 9"/>
          <p:cNvSpPr/>
          <p:nvPr/>
        </p:nvSpPr>
        <p:spPr>
          <a:xfrm>
            <a:off x="4206240" y="676656"/>
            <a:ext cx="548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M6</a:t>
            </a:r>
            <a:endParaRPr lang="en-US" sz="850" dirty="0"/>
          </a:p>
        </p:txBody>
      </p:sp>
      <p:sp>
        <p:nvSpPr>
          <p:cNvPr id="12" name="Text 10"/>
          <p:cNvSpPr/>
          <p:nvPr/>
        </p:nvSpPr>
        <p:spPr>
          <a:xfrm>
            <a:off x="365760" y="1005840"/>
            <a:ext cx="1051560" cy="402336"/>
          </a:xfrm>
          <a:prstGeom prst="rect">
            <a:avLst/>
          </a:prstGeom>
          <a:noFill/>
          <a:ln/>
        </p:spPr>
        <p:txBody>
          <a:bodyPr wrap="square" lIns="0" tIns="0" rIns="0" bIns="0" rtlCol="0" anchor="ctr"/>
          <a:lstStyle/>
          <a:p>
            <a:pPr indent="0" marL="0">
              <a:buNone/>
            </a:pPr>
            <a:r>
              <a:rPr lang="en-US" sz="900" b="1" dirty="0">
                <a:solidFill>
                  <a:srgbClr val="2DC6D6"/>
                </a:solidFill>
                <a:latin typeface="Calibri" pitchFamily="34" charset="0"/>
                <a:ea typeface="Calibri" pitchFamily="34" charset="-122"/>
                <a:cs typeface="Calibri" pitchFamily="34" charset="-120"/>
              </a:rPr>
              <a:t>WP1</a:t>
            </a:r>
            <a:endParaRPr lang="en-US" sz="900" dirty="0"/>
          </a:p>
        </p:txBody>
      </p:sp>
      <p:sp>
        <p:nvSpPr>
          <p:cNvPr id="13" name="Shape 11"/>
          <p:cNvSpPr/>
          <p:nvPr/>
        </p:nvSpPr>
        <p:spPr>
          <a:xfrm>
            <a:off x="1490472" y="1051560"/>
            <a:ext cx="1042416" cy="301752"/>
          </a:xfrm>
          <a:prstGeom prst="roundRect">
            <a:avLst>
              <a:gd name="adj" fmla="val 15152"/>
            </a:avLst>
          </a:prstGeom>
          <a:solidFill>
            <a:srgbClr val="2B5F8E"/>
          </a:solidFill>
          <a:ln/>
        </p:spPr>
      </p:sp>
      <p:sp>
        <p:nvSpPr>
          <p:cNvPr id="14" name="Text 12"/>
          <p:cNvSpPr/>
          <p:nvPr/>
        </p:nvSpPr>
        <p:spPr>
          <a:xfrm>
            <a:off x="365760" y="1527048"/>
            <a:ext cx="1051560" cy="402336"/>
          </a:xfrm>
          <a:prstGeom prst="rect">
            <a:avLst/>
          </a:prstGeom>
          <a:noFill/>
          <a:ln/>
        </p:spPr>
        <p:txBody>
          <a:bodyPr wrap="square" lIns="0" tIns="0" rIns="0" bIns="0" rtlCol="0" anchor="ctr"/>
          <a:lstStyle/>
          <a:p>
            <a:pPr indent="0" marL="0">
              <a:buNone/>
            </a:pPr>
            <a:r>
              <a:rPr lang="en-US" sz="900" b="1" dirty="0">
                <a:solidFill>
                  <a:srgbClr val="2DC6D6"/>
                </a:solidFill>
                <a:latin typeface="Calibri" pitchFamily="34" charset="0"/>
                <a:ea typeface="Calibri" pitchFamily="34" charset="-122"/>
                <a:cs typeface="Calibri" pitchFamily="34" charset="-120"/>
              </a:rPr>
              <a:t>WP2</a:t>
            </a:r>
            <a:endParaRPr lang="en-US" sz="900" dirty="0"/>
          </a:p>
        </p:txBody>
      </p:sp>
      <p:sp>
        <p:nvSpPr>
          <p:cNvPr id="15" name="Shape 13"/>
          <p:cNvSpPr/>
          <p:nvPr/>
        </p:nvSpPr>
        <p:spPr>
          <a:xfrm>
            <a:off x="2039112" y="1572768"/>
            <a:ext cx="1042416" cy="301752"/>
          </a:xfrm>
          <a:prstGeom prst="roundRect">
            <a:avLst>
              <a:gd name="adj" fmla="val 15152"/>
            </a:avLst>
          </a:prstGeom>
          <a:solidFill>
            <a:srgbClr val="1C6E8C"/>
          </a:solidFill>
          <a:ln/>
        </p:spPr>
      </p:sp>
      <p:sp>
        <p:nvSpPr>
          <p:cNvPr id="16" name="Text 14"/>
          <p:cNvSpPr/>
          <p:nvPr/>
        </p:nvSpPr>
        <p:spPr>
          <a:xfrm>
            <a:off x="365760" y="2048256"/>
            <a:ext cx="1051560" cy="402336"/>
          </a:xfrm>
          <a:prstGeom prst="rect">
            <a:avLst/>
          </a:prstGeom>
          <a:noFill/>
          <a:ln/>
        </p:spPr>
        <p:txBody>
          <a:bodyPr wrap="square" lIns="0" tIns="0" rIns="0" bIns="0" rtlCol="0" anchor="ctr"/>
          <a:lstStyle/>
          <a:p>
            <a:pPr indent="0" marL="0">
              <a:buNone/>
            </a:pPr>
            <a:r>
              <a:rPr lang="en-US" sz="900" b="1" dirty="0">
                <a:solidFill>
                  <a:srgbClr val="2DC6D6"/>
                </a:solidFill>
                <a:latin typeface="Calibri" pitchFamily="34" charset="0"/>
                <a:ea typeface="Calibri" pitchFamily="34" charset="-122"/>
                <a:cs typeface="Calibri" pitchFamily="34" charset="-120"/>
              </a:rPr>
              <a:t>WP3</a:t>
            </a:r>
            <a:endParaRPr lang="en-US" sz="900" dirty="0"/>
          </a:p>
        </p:txBody>
      </p:sp>
      <p:sp>
        <p:nvSpPr>
          <p:cNvPr id="17" name="Shape 15"/>
          <p:cNvSpPr/>
          <p:nvPr/>
        </p:nvSpPr>
        <p:spPr>
          <a:xfrm>
            <a:off x="2587752" y="2093976"/>
            <a:ext cx="1042416" cy="301752"/>
          </a:xfrm>
          <a:prstGeom prst="roundRect">
            <a:avLst>
              <a:gd name="adj" fmla="val 15152"/>
            </a:avLst>
          </a:prstGeom>
          <a:solidFill>
            <a:srgbClr val="1A7F6F"/>
          </a:solidFill>
          <a:ln/>
        </p:spPr>
      </p:sp>
      <p:sp>
        <p:nvSpPr>
          <p:cNvPr id="18" name="Text 16"/>
          <p:cNvSpPr/>
          <p:nvPr/>
        </p:nvSpPr>
        <p:spPr>
          <a:xfrm>
            <a:off x="365760" y="2569464"/>
            <a:ext cx="1051560" cy="402336"/>
          </a:xfrm>
          <a:prstGeom prst="rect">
            <a:avLst/>
          </a:prstGeom>
          <a:noFill/>
          <a:ln/>
        </p:spPr>
        <p:txBody>
          <a:bodyPr wrap="square" lIns="0" tIns="0" rIns="0" bIns="0" rtlCol="0" anchor="ctr"/>
          <a:lstStyle/>
          <a:p>
            <a:pPr indent="0" marL="0">
              <a:buNone/>
            </a:pPr>
            <a:r>
              <a:rPr lang="en-US" sz="900" b="1" dirty="0">
                <a:solidFill>
                  <a:srgbClr val="2DC6D6"/>
                </a:solidFill>
                <a:latin typeface="Calibri" pitchFamily="34" charset="0"/>
                <a:ea typeface="Calibri" pitchFamily="34" charset="-122"/>
                <a:cs typeface="Calibri" pitchFamily="34" charset="-120"/>
              </a:rPr>
              <a:t>WP4</a:t>
            </a:r>
            <a:endParaRPr lang="en-US" sz="900" dirty="0"/>
          </a:p>
        </p:txBody>
      </p:sp>
      <p:sp>
        <p:nvSpPr>
          <p:cNvPr id="19" name="Shape 17"/>
          <p:cNvSpPr/>
          <p:nvPr/>
        </p:nvSpPr>
        <p:spPr>
          <a:xfrm>
            <a:off x="3136392" y="2615184"/>
            <a:ext cx="1042416" cy="301752"/>
          </a:xfrm>
          <a:prstGeom prst="roundRect">
            <a:avLst>
              <a:gd name="adj" fmla="val 15152"/>
            </a:avLst>
          </a:prstGeom>
          <a:solidFill>
            <a:srgbClr val="1E6B9E"/>
          </a:solidFill>
          <a:ln/>
        </p:spPr>
      </p:sp>
      <p:sp>
        <p:nvSpPr>
          <p:cNvPr id="20" name="Text 18"/>
          <p:cNvSpPr/>
          <p:nvPr/>
        </p:nvSpPr>
        <p:spPr>
          <a:xfrm>
            <a:off x="365760" y="3090672"/>
            <a:ext cx="1051560" cy="402336"/>
          </a:xfrm>
          <a:prstGeom prst="rect">
            <a:avLst/>
          </a:prstGeom>
          <a:noFill/>
          <a:ln/>
        </p:spPr>
        <p:txBody>
          <a:bodyPr wrap="square" lIns="0" tIns="0" rIns="0" bIns="0" rtlCol="0" anchor="ctr"/>
          <a:lstStyle/>
          <a:p>
            <a:pPr indent="0" marL="0">
              <a:buNone/>
            </a:pPr>
            <a:r>
              <a:rPr lang="en-US" sz="900" b="1" dirty="0">
                <a:solidFill>
                  <a:srgbClr val="2DC6D6"/>
                </a:solidFill>
                <a:latin typeface="Calibri" pitchFamily="34" charset="0"/>
                <a:ea typeface="Calibri" pitchFamily="34" charset="-122"/>
                <a:cs typeface="Calibri" pitchFamily="34" charset="-120"/>
              </a:rPr>
              <a:t>WP5</a:t>
            </a:r>
            <a:endParaRPr lang="en-US" sz="900" dirty="0"/>
          </a:p>
        </p:txBody>
      </p:sp>
      <p:sp>
        <p:nvSpPr>
          <p:cNvPr id="21" name="Shape 19"/>
          <p:cNvSpPr/>
          <p:nvPr/>
        </p:nvSpPr>
        <p:spPr>
          <a:xfrm>
            <a:off x="3685032" y="3136392"/>
            <a:ext cx="1042416" cy="301752"/>
          </a:xfrm>
          <a:prstGeom prst="roundRect">
            <a:avLst>
              <a:gd name="adj" fmla="val 15152"/>
            </a:avLst>
          </a:prstGeom>
          <a:solidFill>
            <a:srgbClr val="5C3D8F"/>
          </a:solidFill>
          <a:ln/>
        </p:spPr>
      </p:sp>
      <p:sp>
        <p:nvSpPr>
          <p:cNvPr id="22" name="Shape 20"/>
          <p:cNvSpPr/>
          <p:nvPr/>
        </p:nvSpPr>
        <p:spPr>
          <a:xfrm>
            <a:off x="4663440" y="137160"/>
            <a:ext cx="27432" cy="4754880"/>
          </a:xfrm>
          <a:prstGeom prst="rect">
            <a:avLst/>
          </a:prstGeom>
          <a:solidFill>
            <a:srgbClr val="2DC6D6">
              <a:alpha val="40000"/>
            </a:srgbClr>
          </a:solidFill>
          <a:ln w="12700">
            <a:solidFill>
              <a:srgbClr val="2DC6D6">
                <a:alpha val="40000"/>
              </a:srgbClr>
            </a:solidFill>
            <a:prstDash val="solid"/>
          </a:ln>
        </p:spPr>
      </p:sp>
      <p:sp>
        <p:nvSpPr>
          <p:cNvPr id="23" name="Text 21"/>
          <p:cNvSpPr/>
          <p:nvPr/>
        </p:nvSpPr>
        <p:spPr>
          <a:xfrm>
            <a:off x="4846320" y="164592"/>
            <a:ext cx="3931920" cy="42062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We Expect to Achieve</a:t>
            </a:r>
            <a:endParaRPr lang="en-US" sz="2000" dirty="0"/>
          </a:p>
        </p:txBody>
      </p:sp>
      <p:sp>
        <p:nvSpPr>
          <p:cNvPr id="24" name="Shape 22"/>
          <p:cNvSpPr/>
          <p:nvPr/>
        </p:nvSpPr>
        <p:spPr>
          <a:xfrm>
            <a:off x="4846320" y="713232"/>
            <a:ext cx="3931920" cy="1078992"/>
          </a:xfrm>
          <a:prstGeom prst="roundRect">
            <a:avLst>
              <a:gd name="adj" fmla="val 8475"/>
            </a:avLst>
          </a:prstGeom>
          <a:solidFill>
            <a:srgbClr val="1C6E8C"/>
          </a:solidFill>
          <a:ln/>
          <a:effectLst>
            <a:outerShdw sx="100000" sy="100000" kx="0" ky="0" algn="bl" rotWithShape="0" blurRad="101600" dist="38100" dir="2700000">
              <a:srgbClr val="000000">
                <a:alpha val="11000"/>
              </a:srgbClr>
            </a:outerShdw>
          </a:effectLst>
        </p:spPr>
      </p:sp>
      <p:sp>
        <p:nvSpPr>
          <p:cNvPr id="25" name="Text 23"/>
          <p:cNvSpPr/>
          <p:nvPr/>
        </p:nvSpPr>
        <p:spPr>
          <a:xfrm>
            <a:off x="4956048" y="758952"/>
            <a:ext cx="3712464" cy="292608"/>
          </a:xfrm>
          <a:prstGeom prst="rect">
            <a:avLst/>
          </a:prstGeom>
          <a:noFill/>
          <a:ln/>
        </p:spPr>
        <p:txBody>
          <a:bodyPr wrap="square" lIns="0" tIns="0" rIns="0" bIns="0" rtlCol="0" anchor="ctr"/>
          <a:lstStyle/>
          <a:p>
            <a:pPr indent="0" marL="0">
              <a:buNone/>
            </a:pPr>
            <a:r>
              <a:rPr lang="en-US" sz="1100" b="1" dirty="0">
                <a:solidFill>
                  <a:srgbClr val="2DC6D6"/>
                </a:solidFill>
                <a:latin typeface="Calibri" pitchFamily="34" charset="0"/>
                <a:ea typeface="Calibri" pitchFamily="34" charset="-122"/>
                <a:cs typeface="Calibri" pitchFamily="34" charset="-120"/>
              </a:rPr>
              <a:t>📚  Research Output</a:t>
            </a:r>
            <a:endParaRPr lang="en-US" sz="1100" dirty="0"/>
          </a:p>
        </p:txBody>
      </p:sp>
      <p:sp>
        <p:nvSpPr>
          <p:cNvPr id="26" name="Text 24"/>
          <p:cNvSpPr/>
          <p:nvPr/>
        </p:nvSpPr>
        <p:spPr>
          <a:xfrm>
            <a:off x="4956048" y="1042416"/>
            <a:ext cx="3712464" cy="6766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project will produce a peer-reviewed article submitted to an SCI or SCOPUS-indexed journal, along with a conference presentation. The methodology and codebase will also serve as a foundation for graduate thesis work.</a:t>
            </a:r>
            <a:endParaRPr lang="en-US" sz="950" dirty="0"/>
          </a:p>
        </p:txBody>
      </p:sp>
      <p:sp>
        <p:nvSpPr>
          <p:cNvPr id="27" name="Shape 25"/>
          <p:cNvSpPr/>
          <p:nvPr/>
        </p:nvSpPr>
        <p:spPr>
          <a:xfrm>
            <a:off x="4846320" y="1874520"/>
            <a:ext cx="3931920" cy="1078992"/>
          </a:xfrm>
          <a:prstGeom prst="roundRect">
            <a:avLst>
              <a:gd name="adj" fmla="val 8475"/>
            </a:avLst>
          </a:prstGeom>
          <a:solidFill>
            <a:srgbClr val="1C6E8C"/>
          </a:solidFill>
          <a:ln/>
          <a:effectLst>
            <a:outerShdw sx="100000" sy="100000" kx="0" ky="0" algn="bl" rotWithShape="0" blurRad="101600" dist="38100" dir="2700000">
              <a:srgbClr val="000000">
                <a:alpha val="11000"/>
              </a:srgbClr>
            </a:outerShdw>
          </a:effectLst>
        </p:spPr>
      </p:sp>
      <p:sp>
        <p:nvSpPr>
          <p:cNvPr id="28" name="Text 26"/>
          <p:cNvSpPr/>
          <p:nvPr/>
        </p:nvSpPr>
        <p:spPr>
          <a:xfrm>
            <a:off x="4956048" y="1920240"/>
            <a:ext cx="3712464" cy="292608"/>
          </a:xfrm>
          <a:prstGeom prst="rect">
            <a:avLst/>
          </a:prstGeom>
          <a:noFill/>
          <a:ln/>
        </p:spPr>
        <p:txBody>
          <a:bodyPr wrap="square" lIns="0" tIns="0" rIns="0" bIns="0" rtlCol="0" anchor="ctr"/>
          <a:lstStyle/>
          <a:p>
            <a:pPr indent="0" marL="0">
              <a:buNone/>
            </a:pPr>
            <a:r>
              <a:rPr lang="en-US" sz="1100" b="1" dirty="0">
                <a:solidFill>
                  <a:srgbClr val="2DC6D6"/>
                </a:solidFill>
                <a:latin typeface="Calibri" pitchFamily="34" charset="0"/>
                <a:ea typeface="Calibri" pitchFamily="34" charset="-122"/>
                <a:cs typeface="Calibri" pitchFamily="34" charset="-120"/>
              </a:rPr>
              <a:t>💡  Practical Impact</a:t>
            </a:r>
            <a:endParaRPr lang="en-US" sz="1100" dirty="0"/>
          </a:p>
        </p:txBody>
      </p:sp>
      <p:sp>
        <p:nvSpPr>
          <p:cNvPr id="29" name="Text 27"/>
          <p:cNvSpPr/>
          <p:nvPr/>
        </p:nvSpPr>
        <p:spPr>
          <a:xfrm>
            <a:off x="4956048" y="2203704"/>
            <a:ext cx="3712464" cy="6766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decision-support tool will give GTU building managers clear, scenario-based recommendations for reducing energy waste and lowering carbon emissions — and the same framework can be applied to any similar public building.</a:t>
            </a:r>
            <a:endParaRPr lang="en-US" sz="950" dirty="0"/>
          </a:p>
        </p:txBody>
      </p:sp>
      <p:sp>
        <p:nvSpPr>
          <p:cNvPr id="30" name="Shape 28"/>
          <p:cNvSpPr/>
          <p:nvPr/>
        </p:nvSpPr>
        <p:spPr>
          <a:xfrm>
            <a:off x="4846320" y="3035808"/>
            <a:ext cx="3931920" cy="1078992"/>
          </a:xfrm>
          <a:prstGeom prst="roundRect">
            <a:avLst>
              <a:gd name="adj" fmla="val 8475"/>
            </a:avLst>
          </a:prstGeom>
          <a:solidFill>
            <a:srgbClr val="1C6E8C"/>
          </a:solidFill>
          <a:ln/>
          <a:effectLst>
            <a:outerShdw sx="100000" sy="100000" kx="0" ky="0" algn="bl" rotWithShape="0" blurRad="101600" dist="38100" dir="2700000">
              <a:srgbClr val="000000">
                <a:alpha val="11000"/>
              </a:srgbClr>
            </a:outerShdw>
          </a:effectLst>
        </p:spPr>
      </p:sp>
      <p:sp>
        <p:nvSpPr>
          <p:cNvPr id="31" name="Text 29"/>
          <p:cNvSpPr/>
          <p:nvPr/>
        </p:nvSpPr>
        <p:spPr>
          <a:xfrm>
            <a:off x="4956048" y="3081528"/>
            <a:ext cx="3712464" cy="292608"/>
          </a:xfrm>
          <a:prstGeom prst="rect">
            <a:avLst/>
          </a:prstGeom>
          <a:noFill/>
          <a:ln/>
        </p:spPr>
        <p:txBody>
          <a:bodyPr wrap="square" lIns="0" tIns="0" rIns="0" bIns="0" rtlCol="0" anchor="ctr"/>
          <a:lstStyle/>
          <a:p>
            <a:pPr indent="0" marL="0">
              <a:buNone/>
            </a:pPr>
            <a:r>
              <a:rPr lang="en-US" sz="1100" b="1" dirty="0">
                <a:solidFill>
                  <a:srgbClr val="2DC6D6"/>
                </a:solidFill>
                <a:latin typeface="Calibri" pitchFamily="34" charset="0"/>
                <a:ea typeface="Calibri" pitchFamily="34" charset="-122"/>
                <a:cs typeface="Calibri" pitchFamily="34" charset="-120"/>
              </a:rPr>
              <a:t>🎓  Team Development</a:t>
            </a:r>
            <a:endParaRPr lang="en-US" sz="1100" dirty="0"/>
          </a:p>
        </p:txBody>
      </p:sp>
      <p:sp>
        <p:nvSpPr>
          <p:cNvPr id="32" name="Text 30"/>
          <p:cNvSpPr/>
          <p:nvPr/>
        </p:nvSpPr>
        <p:spPr>
          <a:xfrm>
            <a:off x="4956048" y="3364992"/>
            <a:ext cx="3712464" cy="6766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Each team member will gain hands-on experience in their specialist area as well as in cross-disciplinary collaboration, Python-based engineering software, and data-driven decision-making — skills directly applicable to future research projects.</a:t>
            </a:r>
            <a:endParaRPr lang="en-US" sz="950" dirty="0"/>
          </a:p>
        </p:txBody>
      </p:sp>
      <p:sp>
        <p:nvSpPr>
          <p:cNvPr id="33" name="Shape 31"/>
          <p:cNvSpPr/>
          <p:nvPr/>
        </p:nvSpPr>
        <p:spPr>
          <a:xfrm>
            <a:off x="365760" y="4526280"/>
            <a:ext cx="8412480" cy="475488"/>
          </a:xfrm>
          <a:prstGeom prst="roundRect">
            <a:avLst>
              <a:gd name="adj" fmla="val 19231"/>
            </a:avLst>
          </a:prstGeom>
          <a:solidFill>
            <a:srgbClr val="2DC6D6"/>
          </a:solidFill>
          <a:ln/>
        </p:spPr>
      </p:sp>
      <p:sp>
        <p:nvSpPr>
          <p:cNvPr id="34" name="Text 32"/>
          <p:cNvSpPr/>
          <p:nvPr/>
        </p:nvSpPr>
        <p:spPr>
          <a:xfrm>
            <a:off x="457200" y="4544568"/>
            <a:ext cx="8229600" cy="438912"/>
          </a:xfrm>
          <a:prstGeom prst="rect">
            <a:avLst/>
          </a:prstGeom>
          <a:noFill/>
          <a:ln/>
        </p:spPr>
        <p:txBody>
          <a:bodyPr wrap="square" lIns="0" tIns="0" rIns="0" bIns="0" rtlCol="0" anchor="ctr"/>
          <a:lstStyle/>
          <a:p>
            <a:pPr algn="ctr" indent="0" marL="0">
              <a:buNone/>
            </a:pPr>
            <a:r>
              <a:rPr lang="en-US" sz="1250" b="1" dirty="0">
                <a:solidFill>
                  <a:srgbClr val="0A2342"/>
                </a:solidFill>
                <a:latin typeface="Calibri" pitchFamily="34" charset="0"/>
                <a:ea typeface="Calibri" pitchFamily="34" charset="-122"/>
                <a:cs typeface="Calibri" pitchFamily="34" charset="-120"/>
              </a:rPr>
              <a:t>Budget: 9,500 TL   |   Duration: 6 Months   |   4 Disciplines  ·  5 Work Packages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2026-06-10T08:20:29Z</dcterms:created>
  <dcterms:modified xsi:type="dcterms:W3CDTF">2026-06-10T08:20:29Z</dcterms:modified>
</cp:coreProperties>
</file>