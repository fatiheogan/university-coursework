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aret Bold" charset="1" panose="00000000000000000000"/>
      <p:regular r:id="rId11"/>
    </p:embeddedFont>
    <p:embeddedFont>
      <p:font typeface="Anton" charset="1" panose="00000500000000000000"/>
      <p:regular r:id="rId12"/>
    </p:embeddedFont>
    <p:embeddedFont>
      <p:font typeface="Intro Rust" charset="1" panose="00000500000000000000"/>
      <p:regular r:id="rId13"/>
    </p:embeddedFont>
    <p:embeddedFont>
      <p:font typeface="Shantell Sans Bold" charset="1" panose="00000000000000000000"/>
      <p:regular r:id="rId14"/>
    </p:embeddedFont>
    <p:embeddedFont>
      <p:font typeface="Shantell Sans" charset="1" panose="00000000000000000000"/>
      <p:regular r:id="rId15"/>
    </p:embeddedFont>
    <p:embeddedFont>
      <p:font typeface="Kaushan Script" charset="1" panose="03060602040705080205"/>
      <p:regular r:id="rId16"/>
    </p:embeddedFont>
    <p:embeddedFont>
      <p:font typeface="Garet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6.png" Type="http://schemas.openxmlformats.org/officeDocument/2006/relationships/image"/><Relationship Id="rId4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37520" y="298543"/>
            <a:ext cx="2579545" cy="1612216"/>
          </a:xfrm>
          <a:custGeom>
            <a:avLst/>
            <a:gdLst/>
            <a:ahLst/>
            <a:cxnLst/>
            <a:rect r="r" b="b" t="t" l="l"/>
            <a:pathLst>
              <a:path h="1612216" w="2579545">
                <a:moveTo>
                  <a:pt x="0" y="0"/>
                </a:moveTo>
                <a:lnTo>
                  <a:pt x="2579545" y="0"/>
                </a:lnTo>
                <a:lnTo>
                  <a:pt x="2579545" y="1612216"/>
                </a:lnTo>
                <a:lnTo>
                  <a:pt x="0" y="1612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26240" y="6986016"/>
            <a:ext cx="7315200" cy="3300984"/>
          </a:xfrm>
          <a:custGeom>
            <a:avLst/>
            <a:gdLst/>
            <a:ahLst/>
            <a:cxnLst/>
            <a:rect r="r" b="b" t="t" l="l"/>
            <a:pathLst>
              <a:path h="3300984" w="7315200">
                <a:moveTo>
                  <a:pt x="0" y="0"/>
                </a:moveTo>
                <a:lnTo>
                  <a:pt x="7315200" y="0"/>
                </a:lnTo>
                <a:lnTo>
                  <a:pt x="7315200" y="3300984"/>
                </a:lnTo>
                <a:lnTo>
                  <a:pt x="0" y="3300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8960" y="6986016"/>
            <a:ext cx="7315200" cy="3300984"/>
          </a:xfrm>
          <a:custGeom>
            <a:avLst/>
            <a:gdLst/>
            <a:ahLst/>
            <a:cxnLst/>
            <a:rect r="r" b="b" t="t" l="l"/>
            <a:pathLst>
              <a:path h="3300984" w="7315200">
                <a:moveTo>
                  <a:pt x="0" y="0"/>
                </a:moveTo>
                <a:lnTo>
                  <a:pt x="7315200" y="0"/>
                </a:lnTo>
                <a:lnTo>
                  <a:pt x="7315200" y="3300984"/>
                </a:lnTo>
                <a:lnTo>
                  <a:pt x="0" y="3300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2793" y="341049"/>
            <a:ext cx="11282415" cy="6430977"/>
          </a:xfrm>
          <a:custGeom>
            <a:avLst/>
            <a:gdLst/>
            <a:ahLst/>
            <a:cxnLst/>
            <a:rect r="r" b="b" t="t" l="l"/>
            <a:pathLst>
              <a:path h="6430977" w="11282415">
                <a:moveTo>
                  <a:pt x="0" y="0"/>
                </a:moveTo>
                <a:lnTo>
                  <a:pt x="11282414" y="0"/>
                </a:lnTo>
                <a:lnTo>
                  <a:pt x="11282414" y="6430977"/>
                </a:lnTo>
                <a:lnTo>
                  <a:pt x="0" y="6430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639296" y="4051853"/>
            <a:ext cx="9009407" cy="1223668"/>
            <a:chOff x="0" y="0"/>
            <a:chExt cx="12012543" cy="163155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012543" cy="1631558"/>
              <a:chOff x="0" y="0"/>
              <a:chExt cx="2480806" cy="33694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80807" cy="336946"/>
              </a:xfrm>
              <a:custGeom>
                <a:avLst/>
                <a:gdLst/>
                <a:ahLst/>
                <a:cxnLst/>
                <a:rect r="r" b="b" t="t" l="l"/>
                <a:pathLst>
                  <a:path h="336946" w="2480807">
                    <a:moveTo>
                      <a:pt x="41918" y="0"/>
                    </a:moveTo>
                    <a:lnTo>
                      <a:pt x="2438889" y="0"/>
                    </a:lnTo>
                    <a:cubicBezTo>
                      <a:pt x="2450006" y="0"/>
                      <a:pt x="2460668" y="4416"/>
                      <a:pt x="2468529" y="12277"/>
                    </a:cubicBezTo>
                    <a:cubicBezTo>
                      <a:pt x="2476390" y="20139"/>
                      <a:pt x="2480807" y="30801"/>
                      <a:pt x="2480807" y="41918"/>
                    </a:cubicBezTo>
                    <a:lnTo>
                      <a:pt x="2480807" y="295028"/>
                    </a:lnTo>
                    <a:cubicBezTo>
                      <a:pt x="2480807" y="306145"/>
                      <a:pt x="2476390" y="316807"/>
                      <a:pt x="2468529" y="324669"/>
                    </a:cubicBezTo>
                    <a:cubicBezTo>
                      <a:pt x="2460668" y="332530"/>
                      <a:pt x="2450006" y="336946"/>
                      <a:pt x="2438889" y="336946"/>
                    </a:cubicBezTo>
                    <a:lnTo>
                      <a:pt x="41918" y="336946"/>
                    </a:lnTo>
                    <a:cubicBezTo>
                      <a:pt x="30801" y="336946"/>
                      <a:pt x="20139" y="332530"/>
                      <a:pt x="12277" y="324669"/>
                    </a:cubicBezTo>
                    <a:cubicBezTo>
                      <a:pt x="4416" y="316807"/>
                      <a:pt x="0" y="306145"/>
                      <a:pt x="0" y="295028"/>
                    </a:cubicBezTo>
                    <a:lnTo>
                      <a:pt x="0" y="41918"/>
                    </a:lnTo>
                    <a:cubicBezTo>
                      <a:pt x="0" y="30801"/>
                      <a:pt x="4416" y="20139"/>
                      <a:pt x="12277" y="12277"/>
                    </a:cubicBezTo>
                    <a:cubicBezTo>
                      <a:pt x="20139" y="4416"/>
                      <a:pt x="30801" y="0"/>
                      <a:pt x="41918" y="0"/>
                    </a:cubicBezTo>
                    <a:close/>
                  </a:path>
                </a:pathLst>
              </a:custGeom>
              <a:solidFill>
                <a:srgbClr val="231F2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38100"/>
                <a:ext cx="2480806" cy="2988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5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47350" y="86452"/>
              <a:ext cx="10717843" cy="140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76"/>
                </a:lnSpc>
              </a:pPr>
              <a:r>
                <a:rPr lang="en-US" b="true" sz="3054">
                  <a:solidFill>
                    <a:srgbClr val="FE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HOLISTIC ENERGY OPTIMIZATION IN CAMPUS BUILDINGS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97686" y="4520938"/>
            <a:ext cx="4582367" cy="4502176"/>
          </a:xfrm>
          <a:custGeom>
            <a:avLst/>
            <a:gdLst/>
            <a:ahLst/>
            <a:cxnLst/>
            <a:rect r="r" b="b" t="t" l="l"/>
            <a:pathLst>
              <a:path h="4502176" w="4582367">
                <a:moveTo>
                  <a:pt x="0" y="0"/>
                </a:moveTo>
                <a:lnTo>
                  <a:pt x="4582367" y="0"/>
                </a:lnTo>
                <a:lnTo>
                  <a:pt x="4582367" y="4502175"/>
                </a:lnTo>
                <a:lnTo>
                  <a:pt x="0" y="45021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26389" y="5189796"/>
            <a:ext cx="1121322" cy="73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7"/>
              </a:lnSpc>
            </a:pPr>
            <a:r>
              <a:rPr lang="en-US" sz="425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CREW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797686" y="1561905"/>
            <a:ext cx="697707" cy="697707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true" flipV="false" rot="0">
            <a:off x="11392382" y="6986016"/>
            <a:ext cx="7315200" cy="3300984"/>
          </a:xfrm>
          <a:custGeom>
            <a:avLst/>
            <a:gdLst/>
            <a:ahLst/>
            <a:cxnLst/>
            <a:rect r="r" b="b" t="t" l="l"/>
            <a:pathLst>
              <a:path h="3300984" w="7315200">
                <a:moveTo>
                  <a:pt x="7315200" y="0"/>
                </a:moveTo>
                <a:lnTo>
                  <a:pt x="0" y="0"/>
                </a:lnTo>
                <a:lnTo>
                  <a:pt x="0" y="3300984"/>
                </a:lnTo>
                <a:lnTo>
                  <a:pt x="7315200" y="330098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22962" y="1198926"/>
            <a:ext cx="8042077" cy="135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0"/>
              </a:lnSpc>
            </a:pPr>
            <a:r>
              <a:rPr lang="en-US" sz="395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GEBZE TECHNICAL UNIVERSITY</a:t>
            </a:r>
          </a:p>
          <a:p>
            <a:pPr algn="ctr">
              <a:lnSpc>
                <a:spcPts val="553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911967" y="2184840"/>
            <a:ext cx="6464067" cy="53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3"/>
              </a:lnSpc>
            </a:pPr>
            <a:r>
              <a:rPr lang="en-US" sz="315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MUH - 391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62702" y="5119859"/>
            <a:ext cx="983337" cy="710888"/>
          </a:xfrm>
          <a:custGeom>
            <a:avLst/>
            <a:gdLst/>
            <a:ahLst/>
            <a:cxnLst/>
            <a:rect r="r" b="b" t="t" l="l"/>
            <a:pathLst>
              <a:path h="710888" w="983337">
                <a:moveTo>
                  <a:pt x="0" y="0"/>
                </a:moveTo>
                <a:lnTo>
                  <a:pt x="983337" y="0"/>
                </a:lnTo>
                <a:lnTo>
                  <a:pt x="983337" y="710888"/>
                </a:lnTo>
                <a:lnTo>
                  <a:pt x="0" y="7108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25777" y="1514280"/>
            <a:ext cx="25843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Doç. Dr. Murat Oluş ÖZBEK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72602" y="9457713"/>
            <a:ext cx="659904" cy="33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4"/>
              </a:lnSpc>
            </a:pPr>
            <a:r>
              <a:rPr lang="en-US" sz="201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DATE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62134" y="9749555"/>
            <a:ext cx="1480840" cy="34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8"/>
              </a:lnSpc>
            </a:pPr>
            <a:r>
              <a:rPr lang="en-US" sz="202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26.03.2026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4299809">
            <a:off x="-1294287" y="8667962"/>
            <a:ext cx="1176758" cy="1097327"/>
          </a:xfrm>
          <a:custGeom>
            <a:avLst/>
            <a:gdLst/>
            <a:ahLst/>
            <a:cxnLst/>
            <a:rect r="r" b="b" t="t" l="l"/>
            <a:pathLst>
              <a:path h="1097327" w="1176758">
                <a:moveTo>
                  <a:pt x="0" y="0"/>
                </a:moveTo>
                <a:lnTo>
                  <a:pt x="1176758" y="0"/>
                </a:lnTo>
                <a:lnTo>
                  <a:pt x="1176758" y="1097327"/>
                </a:lnTo>
                <a:lnTo>
                  <a:pt x="0" y="10973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4738768">
            <a:off x="-1239400" y="8826224"/>
            <a:ext cx="1176758" cy="1097327"/>
          </a:xfrm>
          <a:custGeom>
            <a:avLst/>
            <a:gdLst/>
            <a:ahLst/>
            <a:cxnLst/>
            <a:rect r="r" b="b" t="t" l="l"/>
            <a:pathLst>
              <a:path h="1097327" w="1176758">
                <a:moveTo>
                  <a:pt x="0" y="0"/>
                </a:moveTo>
                <a:lnTo>
                  <a:pt x="1176759" y="0"/>
                </a:lnTo>
                <a:lnTo>
                  <a:pt x="1176759" y="1097327"/>
                </a:lnTo>
                <a:lnTo>
                  <a:pt x="0" y="10973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5400000">
            <a:off x="-3273175" y="-4332405"/>
            <a:ext cx="1992655" cy="7994950"/>
            <a:chOff x="0" y="0"/>
            <a:chExt cx="524815" cy="21056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4815" cy="2105666"/>
            </a:xfrm>
            <a:custGeom>
              <a:avLst/>
              <a:gdLst/>
              <a:ahLst/>
              <a:cxnLst/>
              <a:rect r="r" b="b" t="t" l="l"/>
              <a:pathLst>
                <a:path h="2105666" w="524815">
                  <a:moveTo>
                    <a:pt x="198147" y="0"/>
                  </a:moveTo>
                  <a:lnTo>
                    <a:pt x="326668" y="0"/>
                  </a:lnTo>
                  <a:cubicBezTo>
                    <a:pt x="436101" y="0"/>
                    <a:pt x="524815" y="88713"/>
                    <a:pt x="524815" y="198147"/>
                  </a:cubicBezTo>
                  <a:lnTo>
                    <a:pt x="524815" y="1907519"/>
                  </a:lnTo>
                  <a:cubicBezTo>
                    <a:pt x="524815" y="1960071"/>
                    <a:pt x="503938" y="2010470"/>
                    <a:pt x="466779" y="2047630"/>
                  </a:cubicBezTo>
                  <a:cubicBezTo>
                    <a:pt x="429619" y="2084790"/>
                    <a:pt x="379220" y="2105666"/>
                    <a:pt x="326668" y="2105666"/>
                  </a:cubicBezTo>
                  <a:lnTo>
                    <a:pt x="198147" y="2105666"/>
                  </a:lnTo>
                  <a:cubicBezTo>
                    <a:pt x="145595" y="2105666"/>
                    <a:pt x="95196" y="2084790"/>
                    <a:pt x="58036" y="2047630"/>
                  </a:cubicBezTo>
                  <a:cubicBezTo>
                    <a:pt x="20876" y="2010470"/>
                    <a:pt x="0" y="1960071"/>
                    <a:pt x="0" y="1907519"/>
                  </a:cubicBezTo>
                  <a:lnTo>
                    <a:pt x="0" y="198147"/>
                  </a:lnTo>
                  <a:cubicBezTo>
                    <a:pt x="0" y="145595"/>
                    <a:pt x="20876" y="95196"/>
                    <a:pt x="58036" y="58036"/>
                  </a:cubicBezTo>
                  <a:cubicBezTo>
                    <a:pt x="95196" y="20876"/>
                    <a:pt x="145595" y="0"/>
                    <a:pt x="198147" y="0"/>
                  </a:cubicBezTo>
                  <a:close/>
                </a:path>
              </a:pathLst>
            </a:custGeom>
            <a:solidFill>
              <a:srgbClr val="4B4B4A">
                <a:alpha val="73725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24815" cy="2153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2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6274322" y="-1331257"/>
            <a:ext cx="7994950" cy="1992655"/>
            <a:chOff x="0" y="0"/>
            <a:chExt cx="10659934" cy="2656874"/>
          </a:xfrm>
        </p:grpSpPr>
        <p:grpSp>
          <p:nvGrpSpPr>
            <p:cNvPr name="Group 27" id="27"/>
            <p:cNvGrpSpPr/>
            <p:nvPr/>
          </p:nvGrpSpPr>
          <p:grpSpPr>
            <a:xfrm rot="5400000">
              <a:off x="4001530" y="-4001530"/>
              <a:ext cx="2656874" cy="10659934"/>
              <a:chOff x="0" y="0"/>
              <a:chExt cx="524815" cy="210566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24815" cy="2105666"/>
              </a:xfrm>
              <a:custGeom>
                <a:avLst/>
                <a:gdLst/>
                <a:ahLst/>
                <a:cxnLst/>
                <a:rect r="r" b="b" t="t" l="l"/>
                <a:pathLst>
                  <a:path h="2105666" w="524815">
                    <a:moveTo>
                      <a:pt x="198147" y="0"/>
                    </a:moveTo>
                    <a:lnTo>
                      <a:pt x="326668" y="0"/>
                    </a:lnTo>
                    <a:cubicBezTo>
                      <a:pt x="436101" y="0"/>
                      <a:pt x="524815" y="88713"/>
                      <a:pt x="524815" y="198147"/>
                    </a:cubicBezTo>
                    <a:lnTo>
                      <a:pt x="524815" y="1907519"/>
                    </a:lnTo>
                    <a:cubicBezTo>
                      <a:pt x="524815" y="1960071"/>
                      <a:pt x="503938" y="2010470"/>
                      <a:pt x="466779" y="2047630"/>
                    </a:cubicBezTo>
                    <a:cubicBezTo>
                      <a:pt x="429619" y="2084790"/>
                      <a:pt x="379220" y="2105666"/>
                      <a:pt x="326668" y="2105666"/>
                    </a:cubicBezTo>
                    <a:lnTo>
                      <a:pt x="198147" y="2105666"/>
                    </a:lnTo>
                    <a:cubicBezTo>
                      <a:pt x="145595" y="2105666"/>
                      <a:pt x="95196" y="2084790"/>
                      <a:pt x="58036" y="2047630"/>
                    </a:cubicBezTo>
                    <a:cubicBezTo>
                      <a:pt x="20876" y="2010470"/>
                      <a:pt x="0" y="1960071"/>
                      <a:pt x="0" y="1907519"/>
                    </a:cubicBezTo>
                    <a:lnTo>
                      <a:pt x="0" y="198147"/>
                    </a:lnTo>
                    <a:cubicBezTo>
                      <a:pt x="0" y="145595"/>
                      <a:pt x="20876" y="95196"/>
                      <a:pt x="58036" y="58036"/>
                    </a:cubicBezTo>
                    <a:cubicBezTo>
                      <a:pt x="95196" y="20876"/>
                      <a:pt x="145595" y="0"/>
                      <a:pt x="198147" y="0"/>
                    </a:cubicBezTo>
                    <a:close/>
                  </a:path>
                </a:pathLst>
              </a:custGeom>
              <a:solidFill>
                <a:srgbClr val="B6B199">
                  <a:alpha val="73725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524815" cy="2153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2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9426444" y="705290"/>
              <a:ext cx="376039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3D3E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-6274322" y="-1331257"/>
            <a:ext cx="7994950" cy="1992655"/>
            <a:chOff x="0" y="0"/>
            <a:chExt cx="10659934" cy="2656874"/>
          </a:xfrm>
        </p:grpSpPr>
        <p:grpSp>
          <p:nvGrpSpPr>
            <p:cNvPr name="Group 32" id="32"/>
            <p:cNvGrpSpPr/>
            <p:nvPr/>
          </p:nvGrpSpPr>
          <p:grpSpPr>
            <a:xfrm rot="5400000">
              <a:off x="4001530" y="-4001530"/>
              <a:ext cx="2656874" cy="10659934"/>
              <a:chOff x="0" y="0"/>
              <a:chExt cx="524815" cy="210566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24815" cy="2105666"/>
              </a:xfrm>
              <a:custGeom>
                <a:avLst/>
                <a:gdLst/>
                <a:ahLst/>
                <a:cxnLst/>
                <a:rect r="r" b="b" t="t" l="l"/>
                <a:pathLst>
                  <a:path h="2105666" w="524815">
                    <a:moveTo>
                      <a:pt x="198147" y="0"/>
                    </a:moveTo>
                    <a:lnTo>
                      <a:pt x="326668" y="0"/>
                    </a:lnTo>
                    <a:cubicBezTo>
                      <a:pt x="436101" y="0"/>
                      <a:pt x="524815" y="88713"/>
                      <a:pt x="524815" y="198147"/>
                    </a:cubicBezTo>
                    <a:lnTo>
                      <a:pt x="524815" y="1907519"/>
                    </a:lnTo>
                    <a:cubicBezTo>
                      <a:pt x="524815" y="1960071"/>
                      <a:pt x="503938" y="2010470"/>
                      <a:pt x="466779" y="2047630"/>
                    </a:cubicBezTo>
                    <a:cubicBezTo>
                      <a:pt x="429619" y="2084790"/>
                      <a:pt x="379220" y="2105666"/>
                      <a:pt x="326668" y="2105666"/>
                    </a:cubicBezTo>
                    <a:lnTo>
                      <a:pt x="198147" y="2105666"/>
                    </a:lnTo>
                    <a:cubicBezTo>
                      <a:pt x="145595" y="2105666"/>
                      <a:pt x="95196" y="2084790"/>
                      <a:pt x="58036" y="2047630"/>
                    </a:cubicBezTo>
                    <a:cubicBezTo>
                      <a:pt x="20876" y="2010470"/>
                      <a:pt x="0" y="1960071"/>
                      <a:pt x="0" y="1907519"/>
                    </a:cubicBezTo>
                    <a:lnTo>
                      <a:pt x="0" y="198147"/>
                    </a:lnTo>
                    <a:cubicBezTo>
                      <a:pt x="0" y="145595"/>
                      <a:pt x="20876" y="95196"/>
                      <a:pt x="58036" y="58036"/>
                    </a:cubicBezTo>
                    <a:cubicBezTo>
                      <a:pt x="95196" y="20876"/>
                      <a:pt x="145595" y="0"/>
                      <a:pt x="198147" y="0"/>
                    </a:cubicBezTo>
                    <a:close/>
                  </a:path>
                </a:pathLst>
              </a:custGeom>
              <a:solidFill>
                <a:srgbClr val="62615E">
                  <a:alpha val="73725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524815" cy="2153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2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9330004" y="705290"/>
              <a:ext cx="568920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3D3E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6274322" y="-1329327"/>
            <a:ext cx="7994950" cy="1992655"/>
            <a:chOff x="0" y="0"/>
            <a:chExt cx="10659934" cy="2656874"/>
          </a:xfrm>
        </p:grpSpPr>
        <p:grpSp>
          <p:nvGrpSpPr>
            <p:cNvPr name="Group 37" id="37"/>
            <p:cNvGrpSpPr/>
            <p:nvPr/>
          </p:nvGrpSpPr>
          <p:grpSpPr>
            <a:xfrm rot="5400000">
              <a:off x="4001530" y="-4001530"/>
              <a:ext cx="2656874" cy="10659934"/>
              <a:chOff x="0" y="0"/>
              <a:chExt cx="524815" cy="210566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24815" cy="2105666"/>
              </a:xfrm>
              <a:custGeom>
                <a:avLst/>
                <a:gdLst/>
                <a:ahLst/>
                <a:cxnLst/>
                <a:rect r="r" b="b" t="t" l="l"/>
                <a:pathLst>
                  <a:path h="2105666" w="524815">
                    <a:moveTo>
                      <a:pt x="198147" y="0"/>
                    </a:moveTo>
                    <a:lnTo>
                      <a:pt x="326668" y="0"/>
                    </a:lnTo>
                    <a:cubicBezTo>
                      <a:pt x="436101" y="0"/>
                      <a:pt x="524815" y="88713"/>
                      <a:pt x="524815" y="198147"/>
                    </a:cubicBezTo>
                    <a:lnTo>
                      <a:pt x="524815" y="1907519"/>
                    </a:lnTo>
                    <a:cubicBezTo>
                      <a:pt x="524815" y="1960071"/>
                      <a:pt x="503938" y="2010470"/>
                      <a:pt x="466779" y="2047630"/>
                    </a:cubicBezTo>
                    <a:cubicBezTo>
                      <a:pt x="429619" y="2084790"/>
                      <a:pt x="379220" y="2105666"/>
                      <a:pt x="326668" y="2105666"/>
                    </a:cubicBezTo>
                    <a:lnTo>
                      <a:pt x="198147" y="2105666"/>
                    </a:lnTo>
                    <a:cubicBezTo>
                      <a:pt x="145595" y="2105666"/>
                      <a:pt x="95196" y="2084790"/>
                      <a:pt x="58036" y="2047630"/>
                    </a:cubicBezTo>
                    <a:cubicBezTo>
                      <a:pt x="20876" y="2010470"/>
                      <a:pt x="0" y="1960071"/>
                      <a:pt x="0" y="1907519"/>
                    </a:cubicBezTo>
                    <a:lnTo>
                      <a:pt x="0" y="198147"/>
                    </a:lnTo>
                    <a:cubicBezTo>
                      <a:pt x="0" y="145595"/>
                      <a:pt x="20876" y="95196"/>
                      <a:pt x="58036" y="58036"/>
                    </a:cubicBezTo>
                    <a:cubicBezTo>
                      <a:pt x="95196" y="20876"/>
                      <a:pt x="145595" y="0"/>
                      <a:pt x="198147" y="0"/>
                    </a:cubicBezTo>
                    <a:close/>
                  </a:path>
                </a:pathLst>
              </a:custGeom>
              <a:solidFill>
                <a:srgbClr val="84837D">
                  <a:alpha val="73725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524815" cy="2153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2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9340620" y="705290"/>
              <a:ext cx="547688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3D3E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-6274322" y="-1329327"/>
            <a:ext cx="7994950" cy="1992655"/>
            <a:chOff x="0" y="0"/>
            <a:chExt cx="10659934" cy="2656874"/>
          </a:xfrm>
        </p:grpSpPr>
        <p:grpSp>
          <p:nvGrpSpPr>
            <p:cNvPr name="Group 42" id="42"/>
            <p:cNvGrpSpPr/>
            <p:nvPr/>
          </p:nvGrpSpPr>
          <p:grpSpPr>
            <a:xfrm rot="5400000">
              <a:off x="4001530" y="-4001530"/>
              <a:ext cx="2656874" cy="10659934"/>
              <a:chOff x="0" y="0"/>
              <a:chExt cx="524815" cy="210566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524815" cy="2105666"/>
              </a:xfrm>
              <a:custGeom>
                <a:avLst/>
                <a:gdLst/>
                <a:ahLst/>
                <a:cxnLst/>
                <a:rect r="r" b="b" t="t" l="l"/>
                <a:pathLst>
                  <a:path h="2105666" w="524815">
                    <a:moveTo>
                      <a:pt x="198147" y="0"/>
                    </a:moveTo>
                    <a:lnTo>
                      <a:pt x="326668" y="0"/>
                    </a:lnTo>
                    <a:cubicBezTo>
                      <a:pt x="436101" y="0"/>
                      <a:pt x="524815" y="88713"/>
                      <a:pt x="524815" y="198147"/>
                    </a:cubicBezTo>
                    <a:lnTo>
                      <a:pt x="524815" y="1907519"/>
                    </a:lnTo>
                    <a:cubicBezTo>
                      <a:pt x="524815" y="1960071"/>
                      <a:pt x="503938" y="2010470"/>
                      <a:pt x="466779" y="2047630"/>
                    </a:cubicBezTo>
                    <a:cubicBezTo>
                      <a:pt x="429619" y="2084790"/>
                      <a:pt x="379220" y="2105666"/>
                      <a:pt x="326668" y="2105666"/>
                    </a:cubicBezTo>
                    <a:lnTo>
                      <a:pt x="198147" y="2105666"/>
                    </a:lnTo>
                    <a:cubicBezTo>
                      <a:pt x="145595" y="2105666"/>
                      <a:pt x="95196" y="2084790"/>
                      <a:pt x="58036" y="2047630"/>
                    </a:cubicBezTo>
                    <a:cubicBezTo>
                      <a:pt x="20876" y="2010470"/>
                      <a:pt x="0" y="1960071"/>
                      <a:pt x="0" y="1907519"/>
                    </a:cubicBezTo>
                    <a:lnTo>
                      <a:pt x="0" y="198147"/>
                    </a:lnTo>
                    <a:cubicBezTo>
                      <a:pt x="0" y="145595"/>
                      <a:pt x="20876" y="95196"/>
                      <a:pt x="58036" y="58036"/>
                    </a:cubicBezTo>
                    <a:cubicBezTo>
                      <a:pt x="95196" y="20876"/>
                      <a:pt x="145595" y="0"/>
                      <a:pt x="198147" y="0"/>
                    </a:cubicBezTo>
                    <a:close/>
                  </a:path>
                </a:pathLst>
              </a:custGeom>
              <a:solidFill>
                <a:srgbClr val="FFE746">
                  <a:alpha val="73725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524815" cy="2153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2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9331294" y="705290"/>
              <a:ext cx="566341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3D3E3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495393" y="6431011"/>
            <a:ext cx="3285232" cy="1405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02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Fatih Emre OĞAN</a:t>
            </a:r>
          </a:p>
          <a:p>
            <a:pPr algn="l">
              <a:lnSpc>
                <a:spcPts val="2830"/>
              </a:lnSpc>
            </a:pPr>
            <a:r>
              <a:rPr lang="en-US" sz="202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Taha Batuhan ÇUBUKÇU</a:t>
            </a:r>
          </a:p>
          <a:p>
            <a:pPr algn="l">
              <a:lnSpc>
                <a:spcPts val="2830"/>
              </a:lnSpc>
            </a:pPr>
            <a:r>
              <a:rPr lang="en-US" sz="202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Fatma Yağmur AKBULUT</a:t>
            </a:r>
          </a:p>
          <a:p>
            <a:pPr algn="l">
              <a:lnSpc>
                <a:spcPts val="2830"/>
              </a:lnSpc>
              <a:spcBef>
                <a:spcPct val="0"/>
              </a:spcBef>
            </a:pPr>
            <a:r>
              <a:rPr lang="en-US" b="true" sz="202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Mücahit Cem PEKÜZ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12816" y="4581694"/>
            <a:ext cx="6692972" cy="3090333"/>
            <a:chOff x="0" y="0"/>
            <a:chExt cx="8923963" cy="4120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23963" cy="4120444"/>
            </a:xfrm>
            <a:custGeom>
              <a:avLst/>
              <a:gdLst/>
              <a:ahLst/>
              <a:cxnLst/>
              <a:rect r="r" b="b" t="t" l="l"/>
              <a:pathLst>
                <a:path h="4120444" w="8923963">
                  <a:moveTo>
                    <a:pt x="0" y="0"/>
                  </a:moveTo>
                  <a:lnTo>
                    <a:pt x="8923963" y="0"/>
                  </a:lnTo>
                  <a:lnTo>
                    <a:pt x="8923963" y="4120444"/>
                  </a:lnTo>
                  <a:lnTo>
                    <a:pt x="0" y="4120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12807" r="0" b="-1280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913687" y="848583"/>
              <a:ext cx="7415316" cy="2472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2"/>
                </a:lnSpc>
              </a:pPr>
              <a:r>
                <a:rPr lang="en-US" sz="2130" b="true">
                  <a:solidFill>
                    <a:srgbClr val="000000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Ma</a:t>
              </a:r>
              <a:r>
                <a:rPr lang="en-US" b="true" sz="2130">
                  <a:solidFill>
                    <a:srgbClr val="000000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in problems:</a:t>
              </a:r>
            </a:p>
            <a:p>
              <a:pPr algn="l" marL="459933" indent="-229967" lvl="1">
                <a:lnSpc>
                  <a:spcPts val="2982"/>
                </a:lnSpc>
                <a:buAutoNum type="arabicPeriod" startAt="1"/>
              </a:pPr>
              <a:r>
                <a:rPr lang="en-US" sz="2130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Class schedules are used inefficiently</a:t>
              </a:r>
            </a:p>
            <a:p>
              <a:pPr algn="l" marL="459933" indent="-229967" lvl="1">
                <a:lnSpc>
                  <a:spcPts val="2982"/>
                </a:lnSpc>
                <a:buAutoNum type="arabicPeriod" startAt="1"/>
              </a:pPr>
              <a:r>
                <a:rPr lang="en-US" sz="2130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Empty spaces are unnecessarily conditioned</a:t>
              </a:r>
            </a:p>
            <a:p>
              <a:pPr algn="l" marL="459933" indent="-229967" lvl="1">
                <a:lnSpc>
                  <a:spcPts val="2982"/>
                </a:lnSpc>
                <a:buAutoNum type="arabicPeriod" startAt="1"/>
              </a:pPr>
              <a:r>
                <a:rPr lang="en-US" sz="2130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User behaviors cause energy waste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7190" y="0"/>
            <a:ext cx="806447" cy="815622"/>
          </a:xfrm>
          <a:custGeom>
            <a:avLst/>
            <a:gdLst/>
            <a:ahLst/>
            <a:cxnLst/>
            <a:rect r="r" b="b" t="t" l="l"/>
            <a:pathLst>
              <a:path h="815622" w="806447">
                <a:moveTo>
                  <a:pt x="0" y="0"/>
                </a:moveTo>
                <a:lnTo>
                  <a:pt x="806447" y="0"/>
                </a:lnTo>
                <a:lnTo>
                  <a:pt x="806447" y="815622"/>
                </a:lnTo>
                <a:lnTo>
                  <a:pt x="0" y="81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1392132" y="9253538"/>
            <a:ext cx="57498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995931" y="8808065"/>
            <a:ext cx="2292069" cy="1299865"/>
          </a:xfrm>
          <a:custGeom>
            <a:avLst/>
            <a:gdLst/>
            <a:ahLst/>
            <a:cxnLst/>
            <a:rect r="r" b="b" t="t" l="l"/>
            <a:pathLst>
              <a:path h="1299865" w="2292069">
                <a:moveTo>
                  <a:pt x="0" y="0"/>
                </a:moveTo>
                <a:lnTo>
                  <a:pt x="2292069" y="0"/>
                </a:lnTo>
                <a:lnTo>
                  <a:pt x="2292069" y="1299865"/>
                </a:lnTo>
                <a:lnTo>
                  <a:pt x="0" y="1299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4407" y="4392454"/>
            <a:ext cx="6316165" cy="4192355"/>
          </a:xfrm>
          <a:custGeom>
            <a:avLst/>
            <a:gdLst/>
            <a:ahLst/>
            <a:cxnLst/>
            <a:rect r="r" b="b" t="t" l="l"/>
            <a:pathLst>
              <a:path h="4192355" w="6316165">
                <a:moveTo>
                  <a:pt x="0" y="0"/>
                </a:moveTo>
                <a:lnTo>
                  <a:pt x="6316165" y="0"/>
                </a:lnTo>
                <a:lnTo>
                  <a:pt x="6316165" y="4192355"/>
                </a:lnTo>
                <a:lnTo>
                  <a:pt x="0" y="41923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9" id="9"/>
          <p:cNvSpPr txBox="true"/>
          <p:nvPr/>
        </p:nvSpPr>
        <p:spPr>
          <a:xfrm rot="0">
            <a:off x="3800405" y="650875"/>
            <a:ext cx="1068719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PROBLEM</a:t>
            </a: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 DEFINITION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9890760"/>
            <a:ext cx="37603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8376" y="2350832"/>
            <a:ext cx="12270851" cy="116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b="true" sz="222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University campuses have high energy consumption.</a:t>
            </a:r>
          </a:p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b="true" sz="222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 large portion of energy comes from HVAC (heating–cooling) systems.</a:t>
            </a:r>
          </a:p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b="true" sz="222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However, these systems often do not operate efficiently.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392132" y="9253538"/>
            <a:ext cx="57498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995931" y="8808065"/>
            <a:ext cx="2292069" cy="1299865"/>
          </a:xfrm>
          <a:custGeom>
            <a:avLst/>
            <a:gdLst/>
            <a:ahLst/>
            <a:cxnLst/>
            <a:rect r="r" b="b" t="t" l="l"/>
            <a:pathLst>
              <a:path h="1299865" w="2292069">
                <a:moveTo>
                  <a:pt x="0" y="0"/>
                </a:moveTo>
                <a:lnTo>
                  <a:pt x="2292069" y="0"/>
                </a:lnTo>
                <a:lnTo>
                  <a:pt x="2292069" y="1299865"/>
                </a:lnTo>
                <a:lnTo>
                  <a:pt x="0" y="1299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71483" y="6103337"/>
            <a:ext cx="7728809" cy="2015374"/>
            <a:chOff x="0" y="0"/>
            <a:chExt cx="10305079" cy="268716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305079" cy="2687165"/>
              <a:chOff x="0" y="0"/>
              <a:chExt cx="1789007" cy="46650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89007" cy="466504"/>
              </a:xfrm>
              <a:custGeom>
                <a:avLst/>
                <a:gdLst/>
                <a:ahLst/>
                <a:cxnLst/>
                <a:rect r="r" b="b" t="t" l="l"/>
                <a:pathLst>
                  <a:path h="466504" w="1789007">
                    <a:moveTo>
                      <a:pt x="51087" y="0"/>
                    </a:moveTo>
                    <a:lnTo>
                      <a:pt x="1737921" y="0"/>
                    </a:lnTo>
                    <a:cubicBezTo>
                      <a:pt x="1766135" y="0"/>
                      <a:pt x="1789007" y="22872"/>
                      <a:pt x="1789007" y="51087"/>
                    </a:cubicBezTo>
                    <a:lnTo>
                      <a:pt x="1789007" y="415417"/>
                    </a:lnTo>
                    <a:cubicBezTo>
                      <a:pt x="1789007" y="443632"/>
                      <a:pt x="1766135" y="466504"/>
                      <a:pt x="1737921" y="466504"/>
                    </a:cubicBezTo>
                    <a:lnTo>
                      <a:pt x="51087" y="466504"/>
                    </a:lnTo>
                    <a:cubicBezTo>
                      <a:pt x="22872" y="466504"/>
                      <a:pt x="0" y="443632"/>
                      <a:pt x="0" y="415417"/>
                    </a:cubicBezTo>
                    <a:lnTo>
                      <a:pt x="0" y="51087"/>
                    </a:lnTo>
                    <a:cubicBezTo>
                      <a:pt x="0" y="22872"/>
                      <a:pt x="22872" y="0"/>
                      <a:pt x="51087" y="0"/>
                    </a:cubicBezTo>
                    <a:close/>
                  </a:path>
                </a:pathLst>
              </a:custGeom>
              <a:solidFill>
                <a:srgbClr val="6F9ABC">
                  <a:alpha val="29804"/>
                </a:srgbClr>
              </a:solidFill>
              <a:ln w="47625" cap="rnd">
                <a:solidFill>
                  <a:srgbClr val="000000">
                    <a:alpha val="29804"/>
                  </a:srgbClr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789007" cy="514129"/>
              </a:xfrm>
              <a:prstGeom prst="rect">
                <a:avLst/>
              </a:prstGeom>
            </p:spPr>
            <p:txBody>
              <a:bodyPr anchor="ctr" rtlCol="false" tIns="57801" lIns="57801" bIns="57801" rIns="57801"/>
              <a:lstStyle/>
              <a:p>
                <a:pPr algn="ctr">
                  <a:lnSpc>
                    <a:spcPts val="2931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45431" y="292204"/>
              <a:ext cx="9414217" cy="2055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b="true" sz="2223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Approach:</a:t>
              </a:r>
            </a:p>
            <a:p>
              <a:pPr algn="l" marL="479998" indent="-239999" lvl="1">
                <a:lnSpc>
                  <a:spcPts val="3112"/>
                </a:lnSpc>
                <a:buFont typeface="Arial"/>
                <a:buChar char="•"/>
              </a:pPr>
              <a:r>
                <a:rPr lang="en-US" sz="222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Insulation + HVAC + occupancy density are considered together</a:t>
              </a:r>
            </a:p>
            <a:p>
              <a:pPr algn="l" marL="479998" indent="-239999" lvl="1">
                <a:lnSpc>
                  <a:spcPts val="3112"/>
                </a:lnSpc>
                <a:buFont typeface="Arial"/>
                <a:buChar char="•"/>
              </a:pPr>
              <a:r>
                <a:rPr lang="en-US" sz="222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An interdisciplinary solution is applied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9224" y="2858099"/>
            <a:ext cx="7628870" cy="2555884"/>
            <a:chOff x="0" y="0"/>
            <a:chExt cx="10171826" cy="34078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457531"/>
              <a:ext cx="9450409" cy="2950314"/>
            </a:xfrm>
            <a:custGeom>
              <a:avLst/>
              <a:gdLst/>
              <a:ahLst/>
              <a:cxnLst/>
              <a:rect r="r" b="b" t="t" l="l"/>
              <a:pathLst>
                <a:path h="2950314" w="9450409">
                  <a:moveTo>
                    <a:pt x="0" y="0"/>
                  </a:moveTo>
                  <a:lnTo>
                    <a:pt x="9450409" y="0"/>
                  </a:lnTo>
                  <a:lnTo>
                    <a:pt x="9450409" y="2950314"/>
                  </a:lnTo>
                  <a:lnTo>
                    <a:pt x="0" y="2950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706" r="-4341" b="-59876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1481581">
              <a:off x="8235133" y="356559"/>
              <a:ext cx="1868250" cy="736606"/>
            </a:xfrm>
            <a:custGeom>
              <a:avLst/>
              <a:gdLst/>
              <a:ahLst/>
              <a:cxnLst/>
              <a:rect r="r" b="b" t="t" l="l"/>
              <a:pathLst>
                <a:path h="736606" w="1868250">
                  <a:moveTo>
                    <a:pt x="0" y="0"/>
                  </a:moveTo>
                  <a:lnTo>
                    <a:pt x="1868250" y="0"/>
                  </a:lnTo>
                  <a:lnTo>
                    <a:pt x="1868250" y="736606"/>
                  </a:lnTo>
                  <a:lnTo>
                    <a:pt x="0" y="736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004" t="0" r="-11004" b="-342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537051" y="881310"/>
              <a:ext cx="8472488" cy="2055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9998" indent="-239999" lvl="1">
                <a:lnSpc>
                  <a:spcPts val="3112"/>
                </a:lnSpc>
                <a:buFont typeface="Arial"/>
                <a:buChar char="•"/>
              </a:pPr>
              <a:r>
                <a:rPr lang="en-US" b="true" sz="2223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Industry: </a:t>
              </a:r>
              <a:r>
                <a:rPr lang="en-US" sz="222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optimization &amp; decision system</a:t>
              </a:r>
            </a:p>
            <a:p>
              <a:pPr algn="l" marL="479998" indent="-239999" lvl="1">
                <a:lnSpc>
                  <a:spcPts val="3112"/>
                </a:lnSpc>
                <a:buFont typeface="Arial"/>
                <a:buChar char="•"/>
              </a:pPr>
              <a:r>
                <a:rPr lang="en-US" b="true" sz="2223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Civil: </a:t>
              </a:r>
              <a:r>
                <a:rPr lang="en-US" sz="222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insulation solutions</a:t>
              </a:r>
            </a:p>
            <a:p>
              <a:pPr algn="l" marL="479998" indent="-239999" lvl="1">
                <a:lnSpc>
                  <a:spcPts val="3112"/>
                </a:lnSpc>
                <a:buFont typeface="Arial"/>
                <a:buChar char="•"/>
              </a:pPr>
              <a:r>
                <a:rPr lang="en-US" b="true" sz="2223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Computer: </a:t>
              </a:r>
              <a:r>
                <a:rPr lang="en-US" sz="222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software &amp; data</a:t>
              </a:r>
            </a:p>
            <a:p>
              <a:pPr algn="l" marL="479998" indent="-239999" lvl="1">
                <a:lnSpc>
                  <a:spcPts val="3112"/>
                </a:lnSpc>
                <a:buFont typeface="Arial"/>
                <a:buChar char="•"/>
              </a:pPr>
              <a:r>
                <a:rPr lang="en-US" b="true" sz="2223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Chemistry: </a:t>
              </a:r>
              <a:r>
                <a:rPr lang="en-US" sz="2223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energy modeling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378646" y="1732697"/>
            <a:ext cx="2814692" cy="432315"/>
          </a:xfrm>
          <a:custGeom>
            <a:avLst/>
            <a:gdLst/>
            <a:ahLst/>
            <a:cxnLst/>
            <a:rect r="r" b="b" t="t" l="l"/>
            <a:pathLst>
              <a:path h="432315" w="2814692">
                <a:moveTo>
                  <a:pt x="0" y="0"/>
                </a:moveTo>
                <a:lnTo>
                  <a:pt x="2814692" y="0"/>
                </a:lnTo>
                <a:lnTo>
                  <a:pt x="2814692" y="432316"/>
                </a:lnTo>
                <a:lnTo>
                  <a:pt x="0" y="4323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9312" r="0" b="-2931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64475" y="5056415"/>
            <a:ext cx="4879525" cy="4298788"/>
          </a:xfrm>
          <a:custGeom>
            <a:avLst/>
            <a:gdLst/>
            <a:ahLst/>
            <a:cxnLst/>
            <a:rect r="r" b="b" t="t" l="l"/>
            <a:pathLst>
              <a:path h="4298788" w="4879525">
                <a:moveTo>
                  <a:pt x="0" y="0"/>
                </a:moveTo>
                <a:lnTo>
                  <a:pt x="4879525" y="0"/>
                </a:lnTo>
                <a:lnTo>
                  <a:pt x="4879525" y="4298789"/>
                </a:lnTo>
                <a:lnTo>
                  <a:pt x="0" y="42987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9890760"/>
            <a:ext cx="37603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50463" y="650875"/>
            <a:ext cx="1358707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PR</a:t>
            </a: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OJECT TOPIC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27883" y="1734203"/>
            <a:ext cx="12632234" cy="38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  <a:spcBef>
                <a:spcPct val="0"/>
              </a:spcBef>
            </a:pPr>
            <a:r>
              <a:rPr lang="en-US" b="true" sz="222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Developing a holistic system that optimizes energy consumption in campus buildings.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392132" y="9253538"/>
            <a:ext cx="57498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995931" y="8808065"/>
            <a:ext cx="2292069" cy="1299865"/>
          </a:xfrm>
          <a:custGeom>
            <a:avLst/>
            <a:gdLst/>
            <a:ahLst/>
            <a:cxnLst/>
            <a:rect r="r" b="b" t="t" l="l"/>
            <a:pathLst>
              <a:path h="1299865" w="2292069">
                <a:moveTo>
                  <a:pt x="0" y="0"/>
                </a:moveTo>
                <a:lnTo>
                  <a:pt x="2292069" y="0"/>
                </a:lnTo>
                <a:lnTo>
                  <a:pt x="2292069" y="1299865"/>
                </a:lnTo>
                <a:lnTo>
                  <a:pt x="0" y="1299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78646" y="1732697"/>
            <a:ext cx="2814692" cy="432315"/>
          </a:xfrm>
          <a:custGeom>
            <a:avLst/>
            <a:gdLst/>
            <a:ahLst/>
            <a:cxnLst/>
            <a:rect r="r" b="b" t="t" l="l"/>
            <a:pathLst>
              <a:path h="432315" w="2814692">
                <a:moveTo>
                  <a:pt x="0" y="0"/>
                </a:moveTo>
                <a:lnTo>
                  <a:pt x="2814692" y="0"/>
                </a:lnTo>
                <a:lnTo>
                  <a:pt x="2814692" y="432316"/>
                </a:lnTo>
                <a:lnTo>
                  <a:pt x="0" y="4323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9312" r="0" b="-2931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09636" y="2900220"/>
            <a:ext cx="7132329" cy="4778661"/>
          </a:xfrm>
          <a:custGeom>
            <a:avLst/>
            <a:gdLst/>
            <a:ahLst/>
            <a:cxnLst/>
            <a:rect r="r" b="b" t="t" l="l"/>
            <a:pathLst>
              <a:path h="4778661" w="7132329">
                <a:moveTo>
                  <a:pt x="0" y="0"/>
                </a:moveTo>
                <a:lnTo>
                  <a:pt x="7132330" y="0"/>
                </a:lnTo>
                <a:lnTo>
                  <a:pt x="7132330" y="4778660"/>
                </a:lnTo>
                <a:lnTo>
                  <a:pt x="0" y="47786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0" y="9890760"/>
            <a:ext cx="37603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0463" y="650875"/>
            <a:ext cx="1358707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PR</a:t>
            </a: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OJECT 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6505" y="3952535"/>
            <a:ext cx="7817495" cy="233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Targets:</a:t>
            </a:r>
          </a:p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Smart air conditioning according to class schedule</a:t>
            </a:r>
          </a:p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Reducing energy demand with insulation</a:t>
            </a:r>
          </a:p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Establishing a simulation + optimization system</a:t>
            </a:r>
          </a:p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Including user behavior in the model</a:t>
            </a:r>
          </a:p>
          <a:p>
            <a:pPr algn="l" marL="479998" indent="-239999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Developing an applicable and user-friendly tool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4254" y="1734203"/>
            <a:ext cx="8832205" cy="38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  <a:spcBef>
                <a:spcPct val="0"/>
              </a:spcBef>
            </a:pPr>
            <a:r>
              <a:rPr lang="en-US" b="true" sz="222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Developing an integrated model that reduces energy waste.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75010" y="1495252"/>
            <a:ext cx="5010846" cy="3648248"/>
          </a:xfrm>
          <a:custGeom>
            <a:avLst/>
            <a:gdLst/>
            <a:ahLst/>
            <a:cxnLst/>
            <a:rect r="r" b="b" t="t" l="l"/>
            <a:pathLst>
              <a:path h="3648248" w="5010846">
                <a:moveTo>
                  <a:pt x="0" y="0"/>
                </a:moveTo>
                <a:lnTo>
                  <a:pt x="5010847" y="0"/>
                </a:lnTo>
                <a:lnTo>
                  <a:pt x="5010847" y="3648248"/>
                </a:lnTo>
                <a:lnTo>
                  <a:pt x="0" y="364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42526" y="2372466"/>
            <a:ext cx="8470850" cy="3249210"/>
            <a:chOff x="0" y="0"/>
            <a:chExt cx="11294467" cy="43322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195941" cy="4332280"/>
              <a:chOff x="0" y="0"/>
              <a:chExt cx="1943665" cy="75210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43665" cy="752103"/>
              </a:xfrm>
              <a:custGeom>
                <a:avLst/>
                <a:gdLst/>
                <a:ahLst/>
                <a:cxnLst/>
                <a:rect r="r" b="b" t="t" l="l"/>
                <a:pathLst>
                  <a:path h="752103" w="1943665">
                    <a:moveTo>
                      <a:pt x="53502" y="0"/>
                    </a:moveTo>
                    <a:lnTo>
                      <a:pt x="1890163" y="0"/>
                    </a:lnTo>
                    <a:cubicBezTo>
                      <a:pt x="1904352" y="0"/>
                      <a:pt x="1917961" y="5637"/>
                      <a:pt x="1927995" y="15670"/>
                    </a:cubicBezTo>
                    <a:cubicBezTo>
                      <a:pt x="1938028" y="25704"/>
                      <a:pt x="1943665" y="39312"/>
                      <a:pt x="1943665" y="53502"/>
                    </a:cubicBezTo>
                    <a:lnTo>
                      <a:pt x="1943665" y="698601"/>
                    </a:lnTo>
                    <a:cubicBezTo>
                      <a:pt x="1943665" y="712790"/>
                      <a:pt x="1938028" y="726399"/>
                      <a:pt x="1927995" y="736432"/>
                    </a:cubicBezTo>
                    <a:cubicBezTo>
                      <a:pt x="1917961" y="746466"/>
                      <a:pt x="1904352" y="752103"/>
                      <a:pt x="1890163" y="752103"/>
                    </a:cubicBezTo>
                    <a:lnTo>
                      <a:pt x="53502" y="752103"/>
                    </a:lnTo>
                    <a:cubicBezTo>
                      <a:pt x="39312" y="752103"/>
                      <a:pt x="25704" y="746466"/>
                      <a:pt x="15670" y="736432"/>
                    </a:cubicBezTo>
                    <a:cubicBezTo>
                      <a:pt x="5637" y="726399"/>
                      <a:pt x="0" y="712790"/>
                      <a:pt x="0" y="698601"/>
                    </a:cubicBezTo>
                    <a:lnTo>
                      <a:pt x="0" y="53502"/>
                    </a:lnTo>
                    <a:cubicBezTo>
                      <a:pt x="0" y="39312"/>
                      <a:pt x="5637" y="25704"/>
                      <a:pt x="15670" y="15670"/>
                    </a:cubicBezTo>
                    <a:cubicBezTo>
                      <a:pt x="25704" y="5637"/>
                      <a:pt x="39312" y="0"/>
                      <a:pt x="53502" y="0"/>
                    </a:cubicBezTo>
                    <a:close/>
                  </a:path>
                </a:pathLst>
              </a:custGeom>
              <a:solidFill>
                <a:srgbClr val="6F9ABC">
                  <a:alpha val="29804"/>
                </a:srgbClr>
              </a:solidFill>
              <a:ln w="47625" cap="rnd">
                <a:solidFill>
                  <a:srgbClr val="000000">
                    <a:alpha val="29804"/>
                  </a:srgbClr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943665" cy="7997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1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91673" y="136216"/>
              <a:ext cx="11002794" cy="3911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45"/>
                </a:lnSpc>
                <a:spcBef>
                  <a:spcPct val="0"/>
                </a:spcBef>
              </a:pPr>
              <a:r>
                <a:rPr lang="en-US" b="true" sz="2389">
                  <a:solidFill>
                    <a:srgbClr val="000000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Wha</a:t>
              </a:r>
              <a:r>
                <a:rPr lang="en-US" b="true" sz="2389">
                  <a:solidFill>
                    <a:srgbClr val="000000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t will be done in the project:</a:t>
              </a:r>
            </a:p>
            <a:p>
              <a:pPr algn="just" marL="515877" indent="-257938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Collection of building data</a:t>
              </a:r>
            </a:p>
            <a:p>
              <a:pPr algn="just" marL="515877" indent="-257938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Creating an energy simulation model</a:t>
              </a:r>
            </a:p>
            <a:p>
              <a:pPr algn="just" marL="515877" indent="-257938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Adding occupancy density to the model</a:t>
              </a:r>
            </a:p>
            <a:p>
              <a:pPr algn="just" marL="515877" indent="-257938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Insu</a:t>
              </a:r>
              <a:r>
                <a:rPr lang="en-US" sz="2389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lation and structural improvements</a:t>
              </a:r>
            </a:p>
            <a:p>
              <a:pPr algn="just" marL="515877" indent="-257938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Analysis of HVAC scenarios</a:t>
              </a:r>
            </a:p>
            <a:p>
              <a:pPr algn="just" marL="515877" indent="-257938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000000"/>
                  </a:solidFill>
                  <a:latin typeface="Shantell Sans"/>
                  <a:ea typeface="Shantell Sans"/>
                  <a:cs typeface="Shantell Sans"/>
                  <a:sym typeface="Shantell Sans"/>
                </a:rPr>
                <a:t>Economic analysis (cost &amp; payback)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1392132" y="9253538"/>
            <a:ext cx="57498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995931" y="8808065"/>
            <a:ext cx="2292069" cy="1299865"/>
          </a:xfrm>
          <a:custGeom>
            <a:avLst/>
            <a:gdLst/>
            <a:ahLst/>
            <a:cxnLst/>
            <a:rect r="r" b="b" t="t" l="l"/>
            <a:pathLst>
              <a:path h="1299865" w="2292069">
                <a:moveTo>
                  <a:pt x="0" y="0"/>
                </a:moveTo>
                <a:lnTo>
                  <a:pt x="2292069" y="0"/>
                </a:lnTo>
                <a:lnTo>
                  <a:pt x="2292069" y="1299865"/>
                </a:lnTo>
                <a:lnTo>
                  <a:pt x="0" y="1299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50104" y="5660212"/>
            <a:ext cx="6694078" cy="3797786"/>
          </a:xfrm>
          <a:custGeom>
            <a:avLst/>
            <a:gdLst/>
            <a:ahLst/>
            <a:cxnLst/>
            <a:rect r="r" b="b" t="t" l="l"/>
            <a:pathLst>
              <a:path h="3797786" w="6694078">
                <a:moveTo>
                  <a:pt x="0" y="0"/>
                </a:moveTo>
                <a:lnTo>
                  <a:pt x="6694078" y="0"/>
                </a:lnTo>
                <a:lnTo>
                  <a:pt x="6694078" y="3797786"/>
                </a:lnTo>
                <a:lnTo>
                  <a:pt x="0" y="3797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9890760"/>
            <a:ext cx="37603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50463" y="650875"/>
            <a:ext cx="1358707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PR</a:t>
            </a:r>
            <a:r>
              <a:rPr lang="en-US" sz="3999">
                <a:solidFill>
                  <a:srgbClr val="00000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OJECT SCOPE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DAHFFJD5nHg</dc:identifier>
  <dcterms:modified xsi:type="dcterms:W3CDTF">2011-08-01T06:04:30Z</dcterms:modified>
  <cp:revision>1</cp:revision>
  <dc:title>GEBZE TECHNICAL UNIVERSITY</dc:title>
</cp:coreProperties>
</file>