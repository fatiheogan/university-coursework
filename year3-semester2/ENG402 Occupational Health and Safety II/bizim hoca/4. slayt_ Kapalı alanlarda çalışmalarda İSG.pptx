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sldIdLst>
    <p:sldId id="256" r:id="rId5"/>
    <p:sldId id="257" r:id="rId6"/>
    <p:sldId id="258" r:id="rId7"/>
    <p:sldId id="259" r:id="rId8"/>
    <p:sldId id="267" r:id="rId9"/>
    <p:sldId id="261" r:id="rId10"/>
    <p:sldId id="260" r:id="rId11"/>
    <p:sldId id="262" r:id="rId12"/>
    <p:sldId id="263" r:id="rId13"/>
    <p:sldId id="293" r:id="rId14"/>
    <p:sldId id="264" r:id="rId15"/>
    <p:sldId id="294" r:id="rId16"/>
    <p:sldId id="265" r:id="rId17"/>
    <p:sldId id="266" r:id="rId18"/>
    <p:sldId id="289" r:id="rId19"/>
    <p:sldId id="290" r:id="rId20"/>
    <p:sldId id="291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2" r:id="rId31"/>
    <p:sldId id="280" r:id="rId32"/>
    <p:sldId id="281" r:id="rId33"/>
    <p:sldId id="283" r:id="rId34"/>
    <p:sldId id="284" r:id="rId35"/>
    <p:sldId id="285" r:id="rId36"/>
    <p:sldId id="292" r:id="rId37"/>
    <p:sldId id="286" r:id="rId38"/>
    <p:sldId id="287" r:id="rId39"/>
    <p:sldId id="295" r:id="rId4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0A5A5F-6EB4-EA06-0E30-2DDFEEB3300C}" v="4" dt="2026-04-04T22:15:44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7B68836F-70E9-7A62-DADA-53AB69C4ADA5}"/>
    <pc:docChg chg="modSld">
      <pc:chgData name="" userId="" providerId="" clId="Web-{7B68836F-70E9-7A62-DADA-53AB69C4ADA5}" dt="2026-03-23T15:45:01.158" v="3" actId="1076"/>
      <pc:docMkLst>
        <pc:docMk/>
      </pc:docMkLst>
      <pc:sldChg chg="modSp">
        <pc:chgData name="" userId="" providerId="" clId="Web-{7B68836F-70E9-7A62-DADA-53AB69C4ADA5}" dt="2026-03-23T15:45:01.158" v="3" actId="1076"/>
        <pc:sldMkLst>
          <pc:docMk/>
          <pc:sldMk cId="1048157557" sldId="256"/>
        </pc:sldMkLst>
        <pc:picChg chg="mod">
          <ac:chgData name="" userId="" providerId="" clId="Web-{7B68836F-70E9-7A62-DADA-53AB69C4ADA5}" dt="2026-03-23T15:45:01.158" v="3" actId="1076"/>
          <ac:picMkLst>
            <pc:docMk/>
            <pc:sldMk cId="1048157557" sldId="256"/>
            <ac:picMk id="4" creationId="{00000000-0000-0000-0000-000000000000}"/>
          </ac:picMkLst>
        </pc:picChg>
      </pc:sldChg>
    </pc:docChg>
  </pc:docChgLst>
  <pc:docChgLst>
    <pc:chgData name="CANSU DÜZGÜN" userId="S::c.duzgun2024@gtu.edu.tr::6d9d9bbe-456a-45cd-a1d8-8d189568ce4f" providerId="AD" clId="Web-{7B68836F-70E9-7A62-DADA-53AB69C4ADA5}"/>
    <pc:docChg chg="modSld">
      <pc:chgData name="CANSU DÜZGÜN" userId="S::c.duzgun2024@gtu.edu.tr::6d9d9bbe-456a-45cd-a1d8-8d189568ce4f" providerId="AD" clId="Web-{7B68836F-70E9-7A62-DADA-53AB69C4ADA5}" dt="2026-03-23T15:45:26.005" v="0"/>
      <pc:docMkLst>
        <pc:docMk/>
      </pc:docMkLst>
      <pc:sldChg chg="addSp">
        <pc:chgData name="CANSU DÜZGÜN" userId="S::c.duzgun2024@gtu.edu.tr::6d9d9bbe-456a-45cd-a1d8-8d189568ce4f" providerId="AD" clId="Web-{7B68836F-70E9-7A62-DADA-53AB69C4ADA5}" dt="2026-03-23T15:45:26.005" v="0"/>
        <pc:sldMkLst>
          <pc:docMk/>
          <pc:sldMk cId="1048157557" sldId="256"/>
        </pc:sldMkLst>
        <pc:spChg chg="add">
          <ac:chgData name="CANSU DÜZGÜN" userId="S::c.duzgun2024@gtu.edu.tr::6d9d9bbe-456a-45cd-a1d8-8d189568ce4f" providerId="AD" clId="Web-{7B68836F-70E9-7A62-DADA-53AB69C4ADA5}" dt="2026-03-23T15:45:26.005" v="0"/>
          <ac:spMkLst>
            <pc:docMk/>
            <pc:sldMk cId="1048157557" sldId="256"/>
            <ac:spMk id="2" creationId="{2E3E9D8A-2DAD-1E75-0D92-1989CBCBBBFB}"/>
          </ac:spMkLst>
        </pc:spChg>
      </pc:sldChg>
    </pc:docChg>
  </pc:docChgLst>
  <pc:docChgLst>
    <pc:chgData name="ALTAN EFE EKER" userId="S::a.eker2025@gtu.edu.tr::a4e93d8a-f3a1-4b06-bc38-57f72bc4fc3a" providerId="AD" clId="Web-{4A0A5A5F-6EB4-EA06-0E30-2DDFEEB3300C}"/>
    <pc:docChg chg="addSld delSld">
      <pc:chgData name="ALTAN EFE EKER" userId="S::a.eker2025@gtu.edu.tr::a4e93d8a-f3a1-4b06-bc38-57f72bc4fc3a" providerId="AD" clId="Web-{4A0A5A5F-6EB4-EA06-0E30-2DDFEEB3300C}" dt="2026-04-04T22:15:44.480" v="3"/>
      <pc:docMkLst>
        <pc:docMk/>
      </pc:docMkLst>
      <pc:sldChg chg="new del">
        <pc:chgData name="ALTAN EFE EKER" userId="S::a.eker2025@gtu.edu.tr::a4e93d8a-f3a1-4b06-bc38-57f72bc4fc3a" providerId="AD" clId="Web-{4A0A5A5F-6EB4-EA06-0E30-2DDFEEB3300C}" dt="2026-04-04T22:15:44.480" v="3"/>
        <pc:sldMkLst>
          <pc:docMk/>
          <pc:sldMk cId="316650848" sldId="296"/>
        </pc:sldMkLst>
      </pc:sldChg>
      <pc:sldChg chg="new del">
        <pc:chgData name="ALTAN EFE EKER" userId="S::a.eker2025@gtu.edu.tr::a4e93d8a-f3a1-4b06-bc38-57f72bc4fc3a" providerId="AD" clId="Web-{4A0A5A5F-6EB4-EA06-0E30-2DDFEEB3300C}" dt="2026-04-04T22:15:41.715" v="2"/>
        <pc:sldMkLst>
          <pc:docMk/>
          <pc:sldMk cId="3963233625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706F6-AF9F-435E-A234-88481EF5C56F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628F0-A58B-42C5-BCD2-288B6909830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7007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628F0-A58B-42C5-BCD2-288B69098300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7930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628F0-A58B-42C5-BCD2-288B69098300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8847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8763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2426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660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530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35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270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430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6560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368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389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040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1D3B1-3B9C-4B5A-B242-66DAAE32F846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81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966" y="-1793"/>
            <a:ext cx="12472146" cy="6858000"/>
          </a:xfrm>
          <a:prstGeom prst="rect">
            <a:avLst/>
          </a:prstGeom>
        </p:spPr>
      </p:pic>
      <p:sp>
        <p:nvSpPr>
          <p:cNvPr id="2" name="Dikdörtgen: Köşeleri Yuvarlatılmış 1">
            <a:extLst>
              <a:ext uri="{FF2B5EF4-FFF2-40B4-BE49-F238E27FC236}">
                <a16:creationId xmlns:a16="http://schemas.microsoft.com/office/drawing/2014/main" id="{2E3E9D8A-2DAD-1E75-0D92-1989CBCBBBFB}"/>
              </a:ext>
            </a:extLst>
          </p:cNvPr>
          <p:cNvSpPr/>
          <p:nvPr/>
        </p:nvSpPr>
        <p:spPr>
          <a:xfrm>
            <a:off x="9194800" y="2120899"/>
            <a:ext cx="647700" cy="279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815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Dersin İçeriği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71368" y="2711395"/>
            <a:ext cx="4114801" cy="34655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tr-TR" sz="20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Kapalı alanlar neler?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Kapalı alanlarda oluşabilecek riskler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Hangi önlemleri almamız gerekir?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İlgili yönetmelikler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rcRect l="7015" r="14469" b="-1"/>
          <a:stretch>
            <a:fillRect/>
          </a:stretch>
        </p:blipFill>
        <p:spPr>
          <a:xfrm>
            <a:off x="8452968" y="3681465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rcRect l="15702" r="18095"/>
          <a:stretch>
            <a:fillRect/>
          </a:stretch>
        </p:blipFill>
        <p:spPr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rcRect l="17177" r="28019" b="2"/>
          <a:stretch>
            <a:fillRect/>
          </a:stretch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4031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000" b="1">
                <a:solidFill>
                  <a:srgbClr val="FFFFFF"/>
                </a:solidFill>
                <a:latin typeface="Aptos"/>
              </a:rPr>
              <a:t>Kapalı Alanlarda Çalışmalarda İSG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u="sng" dirty="0">
                <a:latin typeface="Aptos"/>
              </a:rPr>
              <a:t>Kapalı alan</a:t>
            </a:r>
            <a:r>
              <a:rPr lang="tr-TR" sz="2000" dirty="0">
                <a:latin typeface="Aptos"/>
              </a:rPr>
              <a:t>; 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Sürekli çalışmaya </a:t>
            </a:r>
            <a:r>
              <a:rPr lang="tr-TR" sz="2000" dirty="0">
                <a:latin typeface="Aptos"/>
              </a:rPr>
              <a:t>uygun olmayan,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Giriş ve çıkışları </a:t>
            </a:r>
            <a:r>
              <a:rPr lang="tr-TR" sz="2000" b="1" dirty="0">
                <a:latin typeface="Aptos"/>
              </a:rPr>
              <a:t>sınırlı</a:t>
            </a:r>
            <a:r>
              <a:rPr lang="tr-TR" sz="2000" dirty="0">
                <a:latin typeface="Aptos"/>
              </a:rPr>
              <a:t>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Doğal </a:t>
            </a:r>
            <a:r>
              <a:rPr lang="tr-TR" sz="2000" b="1" dirty="0">
                <a:latin typeface="Aptos"/>
              </a:rPr>
              <a:t>havalandırması yetersiz</a:t>
            </a:r>
            <a:r>
              <a:rPr lang="tr-TR" sz="2000" dirty="0">
                <a:latin typeface="Aptos"/>
              </a:rPr>
              <a:t>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İnsanların sürekli olarak </a:t>
            </a:r>
            <a:r>
              <a:rPr lang="tr-TR" sz="2000" b="1" dirty="0">
                <a:latin typeface="Aptos"/>
              </a:rPr>
              <a:t>bulunamayacağı büyüklükte</a:t>
            </a:r>
            <a:r>
              <a:rPr lang="tr-TR" sz="2000" dirty="0">
                <a:latin typeface="Aptos"/>
              </a:rPr>
              <a:t>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İçerisinde </a:t>
            </a:r>
            <a:r>
              <a:rPr lang="tr-TR" sz="2000" b="1" dirty="0">
                <a:latin typeface="Aptos"/>
              </a:rPr>
              <a:t>sınırlı miktarda hava </a:t>
            </a:r>
            <a:r>
              <a:rPr lang="tr-TR" sz="2000" dirty="0">
                <a:latin typeface="Aptos"/>
              </a:rPr>
              <a:t>olan,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Çalışanlar için ciddi </a:t>
            </a:r>
            <a:r>
              <a:rPr lang="tr-TR" sz="2000" b="1" dirty="0">
                <a:latin typeface="Aptos"/>
              </a:rPr>
              <a:t>sağlık ve güvenlik riskleri </a:t>
            </a:r>
            <a:r>
              <a:rPr lang="tr-TR" sz="2000" dirty="0">
                <a:latin typeface="Aptos"/>
              </a:rPr>
              <a:t>barındırabilen çalışma alanları olarak tanımlanmaktadır</a:t>
            </a:r>
            <a:r>
              <a:rPr lang="tr-T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622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anchor="t">
            <a:normAutofit/>
          </a:bodyPr>
          <a:lstStyle/>
          <a:p>
            <a:r>
              <a:rPr lang="tr-TR" b="1" dirty="0">
                <a:latin typeface="Aptos"/>
              </a:rPr>
              <a:t>Kapalı alanlar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E0E4CA-04FD-4712-9979-0D4FACCA6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2"/>
          <a:srcRect t="13016" r="-4" b="5861"/>
          <a:stretch>
            <a:fillRect/>
          </a:stretch>
        </p:blipFill>
        <p:spPr>
          <a:xfrm>
            <a:off x="751970" y="2338370"/>
            <a:ext cx="6348724" cy="343770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CA8D992-BB3F-47CD-BA18-71D545392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3000055"/>
            <a:ext cx="5243390" cy="2997970"/>
          </a:xfrm>
          <a:prstGeom prst="rect">
            <a:avLst/>
          </a:prstGeom>
          <a:gradFill flip="none" rotWithShape="1">
            <a:gsLst>
              <a:gs pos="100000">
                <a:schemeClr val="accent2">
                  <a:alpha val="20000"/>
                </a:schemeClr>
              </a:gs>
              <a:gs pos="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583968" y="879355"/>
            <a:ext cx="4124758" cy="5120755"/>
          </a:xfrm>
        </p:spPr>
        <p:txBody>
          <a:bodyPr anchor="ctr">
            <a:normAutofit/>
          </a:bodyPr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Tanklar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Silolar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Menholler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Kanalizasyon hatları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Kuyular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Kazanlar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Basınçlı kaplar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Boru hatları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Yeraltı galerileri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Tüneller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Gemi ambarları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Foseptik çukurları</a:t>
            </a:r>
          </a:p>
        </p:txBody>
      </p:sp>
    </p:spTree>
    <p:extLst>
      <p:ext uri="{BB962C8B-B14F-4D97-AF65-F5344CB8AC3E}">
        <p14:creationId xmlns:p14="http://schemas.microsoft.com/office/powerpoint/2010/main" val="3995028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alanlarda çalışma ile ilgili mevzuatlar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6676" y="2240915"/>
            <a:ext cx="10515600" cy="4251960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Yapı İşlerinde Sağlık ve Güvenlik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Yeraltı ve Yerüstü Maden İşletmelerinde Sağlık ve Güvenlik Şartları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Sondajla Maden Çıkarılan İşletmelerde Sağlık ve Güvenlik Şartları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İş Ekipmanlarının Kullanımında Sağlık ve Güvenlik Şartları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Makina Emniyet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Kişisel Koruyucu Donanımların İş Yerlerinde Kullanılması Hakkında Yönetmelik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Kimyasal Maddelerle Çalışmalarda Sağlık ve Güvenlik Şartları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Çalışanların Patlayıcı Ortamların Tehlikelerinden Korunması Hakkında Yönetmelik</a:t>
            </a:r>
          </a:p>
        </p:txBody>
      </p:sp>
    </p:spTree>
    <p:extLst>
      <p:ext uri="{BB962C8B-B14F-4D97-AF65-F5344CB8AC3E}">
        <p14:creationId xmlns:p14="http://schemas.microsoft.com/office/powerpoint/2010/main" val="407540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Kapalı alanlarda kazaların başlıca sebepleri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81053" y="2549334"/>
            <a:ext cx="6713552" cy="4119172"/>
          </a:xfrm>
        </p:spPr>
        <p:txBody>
          <a:bodyPr anchor="t">
            <a:norm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Doğru olmayan  ya da yetersiz teknik ekipman kullanımı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tr-TR" sz="2200" dirty="0">
                <a:latin typeface="Aptos"/>
              </a:rPr>
              <a:t>     Yetersiz havalandırma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Çalışanların çok az ya da hiç eğitim almamış olması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tr-TR" sz="2200" dirty="0">
                <a:latin typeface="Aptos"/>
              </a:rPr>
              <a:t>     Dışarıda gözcü bulundurmamak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İş güvenliği kural ve prosedürlerine uyulmaması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tr-TR" sz="2200" dirty="0">
                <a:latin typeface="Aptos"/>
              </a:rPr>
              <a:t>    Gaz ölçümü eksikliği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tr-TR" sz="2200" dirty="0">
                <a:latin typeface="Aptos"/>
              </a:rPr>
              <a:t>    KKD kullanımı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rcRect l="10606" r="14691" b="-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3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Kapalı ortamdaki tehlikeler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tr-TR" sz="2200" dirty="0">
              <a:latin typeface="Aptos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Oksijen yetersizliği (&lt;  %19.5 boğulmaya sebep olabilir)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Oksijen fazlalığı ( &gt; %23 oranında patlamaya sebep olabilir)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Zehirli gaz, duman ya da toz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Elektriksel ve mekanik tehlikeler</a:t>
            </a:r>
          </a:p>
          <a:p>
            <a:pPr lvl="1"/>
            <a:r>
              <a:rPr lang="tr-TR" sz="2200" dirty="0">
                <a:latin typeface="Aptos"/>
              </a:rPr>
              <a:t>Dönen ekipmanlar, hareketli parçalar veya ani basınç boşalmaları.</a:t>
            </a:r>
          </a:p>
          <a:p>
            <a:pPr lvl="1"/>
            <a:r>
              <a:rPr lang="tr-TR" sz="2200" dirty="0">
                <a:latin typeface="Aptos"/>
              </a:rPr>
              <a:t>Kapakların aniden kapanması veya ekipman arızaları</a:t>
            </a:r>
          </a:p>
          <a:p>
            <a:pPr lvl="1"/>
            <a:r>
              <a:rPr lang="tr-TR" sz="2200" dirty="0">
                <a:latin typeface="Aptos"/>
              </a:rPr>
              <a:t>Elektrik çarpması, ark patlaması, kıvılcım kaynaklı yangın/patlama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Kapalı alanlarda acil durumlarda çıkışın zor olması, kurtarma ekiplerinin erişim güçlüğü</a:t>
            </a:r>
          </a:p>
        </p:txBody>
      </p:sp>
    </p:spTree>
    <p:extLst>
      <p:ext uri="{BB962C8B-B14F-4D97-AF65-F5344CB8AC3E}">
        <p14:creationId xmlns:p14="http://schemas.microsoft.com/office/powerpoint/2010/main" val="280146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tr-TR" sz="2200" b="1">
                <a:latin typeface="Aptos"/>
              </a:rPr>
              <a:t>Organizasyonel ve Planlama Tedbirleri</a:t>
            </a:r>
          </a:p>
          <a:p>
            <a:pPr marL="0" indent="0">
              <a:buNone/>
            </a:pPr>
            <a:endParaRPr lang="tr-TR" sz="2200" b="1">
              <a:latin typeface="Aptos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Kapalı alan risk değerlendirmesi yapılmalıdır.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Gözcü personel (stand-by personel) bulundurulmalıdır.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Kurtarma planı önceden hazırlanmalıdır.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Acil durum ekipmanları hazır bulundurulmalıdır.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Çalışanlara kapalı alan eğitimi verilmelidir.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Yetkisiz kişilerin alana girişi engellenmelidir.</a:t>
            </a:r>
          </a:p>
          <a:p>
            <a:pPr marL="0" indent="0">
              <a:buNone/>
            </a:pPr>
            <a:endParaRPr lang="tr-TR" sz="220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/>
          <a:srcRect l="1936" r="1861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51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b="1" dirty="0">
                <a:latin typeface="Aptos"/>
              </a:rPr>
              <a:t>2.  Oksijen yetersizliği 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Kapalı alanlarda kaynak, kesme, boyama ya da lehimleme gibi yapılan işlerden dolayı veya paslanma gibi belirli kimyasal reaksiyonlar nedeniyle oksijen seviyesinde düşme gözlemlenebilir.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Doğal veya mekanik havalandırma sağlanmalıdır.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Temiz hava sürekli verilmelidir.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Havalandırma (56 m</a:t>
            </a:r>
            <a:r>
              <a:rPr lang="tr-TR" sz="2000" baseline="30000" dirty="0">
                <a:latin typeface="Aptos"/>
              </a:rPr>
              <a:t>3</a:t>
            </a:r>
            <a:r>
              <a:rPr lang="tr-TR" sz="2000" dirty="0">
                <a:latin typeface="Aptos"/>
              </a:rPr>
              <a:t>/dk) vantilatör ile sürekli temin edilmelidir.</a:t>
            </a:r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 rotWithShape="1">
          <a:blip r:embed="rId2"/>
          <a:srcRect l="5021" t="7278" r="6329" b="5520"/>
          <a:stretch/>
        </p:blipFill>
        <p:spPr>
          <a:xfrm>
            <a:off x="7863840" y="711499"/>
            <a:ext cx="4014216" cy="2665336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868" y="4079193"/>
            <a:ext cx="3491871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5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BE8F8-D042-DCD9-7C73-A48E7E728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B6B7C5-60B6-4F0B-1DEB-457B0FCF5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859F8F8A-D411-7B5F-B3A5-DBCE2B308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AAC744E-5BEE-9195-9719-C9AF0C483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D8510BE-7791-982C-30FF-54C03FF60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992798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b="1" dirty="0">
                <a:latin typeface="Aptos"/>
              </a:rPr>
              <a:t>2.  Oksijen yetersizliği </a:t>
            </a:r>
          </a:p>
          <a:p>
            <a:r>
              <a:rPr lang="tr-TR" sz="2000" dirty="0">
                <a:latin typeface="Aptos"/>
              </a:rPr>
              <a:t>  Kanalizasyon ve menhol çalışmaları sırasında atıkların ayrışması oksijeni azaltabilir.</a:t>
            </a:r>
          </a:p>
          <a:p>
            <a:r>
              <a:rPr lang="tr-TR" sz="2000" dirty="0">
                <a:latin typeface="Aptos"/>
              </a:rPr>
              <a:t>  Uzun süre kapalı kalmaya bağlı olarak oksijen seviyesinin azaldığı tankların ve depoların temizleme işleri</a:t>
            </a:r>
          </a:p>
          <a:p>
            <a:r>
              <a:rPr lang="tr-TR" sz="2000" dirty="0">
                <a:latin typeface="Aptos"/>
              </a:rPr>
              <a:t> Silo ve tahıl depolarında çalışma sırasında organik maddelerin çürümesine bağlı olarak oksijen tükenebilir.</a:t>
            </a:r>
          </a:p>
          <a:p>
            <a:r>
              <a:rPr lang="tr-TR" sz="2000" dirty="0">
                <a:latin typeface="Aptos"/>
              </a:rPr>
              <a:t> Kaynak ve kesme işleri yapılan kapalı alanlar (yanma ve gaz kullanımı oksijeni azaltabilir)</a:t>
            </a:r>
          </a:p>
          <a:p>
            <a:r>
              <a:rPr lang="tr-TR" sz="2000" dirty="0">
                <a:latin typeface="Aptos"/>
              </a:rPr>
              <a:t> Kimyasal tank ve reaktörlerde bakım işleri (kimyasal reaksiyonlar oksijen tüketebilir) </a:t>
            </a:r>
          </a:p>
        </p:txBody>
      </p:sp>
    </p:spTree>
    <p:extLst>
      <p:ext uri="{BB962C8B-B14F-4D97-AF65-F5344CB8AC3E}">
        <p14:creationId xmlns:p14="http://schemas.microsoft.com/office/powerpoint/2010/main" val="1974488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457200" indent="-457200">
              <a:buAutoNum type="arabicPeriod" startAt="3"/>
            </a:pPr>
            <a:r>
              <a:rPr lang="tr-TR" sz="2200" b="1">
                <a:latin typeface="Aptos"/>
              </a:rPr>
              <a:t>Oksijen fazlalığı</a:t>
            </a:r>
          </a:p>
          <a:p>
            <a:pPr marL="0" indent="0">
              <a:buNone/>
            </a:pPr>
            <a:r>
              <a:rPr lang="tr-TR" sz="2200"/>
              <a:t>   </a:t>
            </a:r>
            <a:r>
              <a:rPr lang="tr-TR" sz="2200" dirty="0">
                <a:latin typeface="Aptos"/>
              </a:rPr>
              <a:t>Oksijenin havadaki oranının artması yanıcı maddenin yanma ve patlama ihtimalini artırır. Oksijence zengin ortam (%22’den fazla) giysi vb. parlayıcı maddelerin şiddetle tutuşmasına neden olur. 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Bu nedenle hiç bir zaman kapalı alanın havalandırılması için saf oksijen kullanılmamalıdır.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Bunun yerine normal hava tercih edilmelidir</a:t>
            </a:r>
            <a:r>
              <a:rPr lang="tr-TR" sz="2200"/>
              <a:t>. </a:t>
            </a:r>
            <a:endParaRPr lang="tr-TR" sz="2200" b="1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34818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30221-7918-DC1F-A84B-2A5A918FE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4ADC0A-F5BC-0524-01B3-12094CB7D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18A4A8B3-104B-EA97-C4EB-CDAE7DCF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D52238E-A056-D950-855C-20462225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99B45DE-889C-1FEA-FA8E-E8273EA0E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457200" indent="-457200">
              <a:buAutoNum type="arabicPeriod" startAt="3"/>
            </a:pPr>
            <a:r>
              <a:rPr lang="tr-TR" sz="2200" b="1" dirty="0">
                <a:latin typeface="Aptos"/>
              </a:rPr>
              <a:t>Oksijen fazlalığı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r>
              <a:rPr lang="tr-TR" sz="2200" u="sng" dirty="0">
                <a:latin typeface="Aptos"/>
              </a:rPr>
              <a:t>Fotosentez:</a:t>
            </a:r>
            <a:r>
              <a:rPr lang="tr-TR" sz="2200" dirty="0">
                <a:latin typeface="Aptos"/>
              </a:rPr>
              <a:t> Bitkiler ve algler fotosentez sırasında oksijen üretir.</a:t>
            </a:r>
          </a:p>
          <a:p>
            <a:r>
              <a:rPr lang="tr-TR" sz="2200" u="sng" dirty="0">
                <a:latin typeface="Aptos"/>
              </a:rPr>
              <a:t>Tıbbi veya endüstriyel oksijen kullanımı: </a:t>
            </a:r>
            <a:r>
              <a:rPr lang="tr-TR" sz="2200" dirty="0">
                <a:latin typeface="Aptos"/>
              </a:rPr>
              <a:t>Oksijen tüplerinden ortama gaz kaçması.</a:t>
            </a:r>
          </a:p>
          <a:p>
            <a:r>
              <a:rPr lang="tr-TR" sz="2200" u="sng" dirty="0">
                <a:latin typeface="Aptos"/>
              </a:rPr>
              <a:t>Oksijenle çalışan ekipmanlar:</a:t>
            </a:r>
            <a:r>
              <a:rPr lang="tr-TR" sz="2200" dirty="0">
                <a:latin typeface="Aptos"/>
              </a:rPr>
              <a:t> Kaynak, kesme veya oksijen destekli sistemler.</a:t>
            </a:r>
          </a:p>
          <a:p>
            <a:r>
              <a:rPr lang="tr-TR" sz="2200" u="sng" dirty="0">
                <a:latin typeface="Aptos"/>
              </a:rPr>
              <a:t>Yetersiz kontrol edilen oksijen beslemesi: </a:t>
            </a:r>
            <a:r>
              <a:rPr lang="tr-TR" sz="2200" dirty="0">
                <a:latin typeface="Aptos"/>
              </a:rPr>
              <a:t>Endüstriyel proseslerde oksijen verilmesi.</a:t>
            </a:r>
          </a:p>
          <a:p>
            <a:r>
              <a:rPr lang="tr-TR" sz="2200" u="sng" dirty="0">
                <a:latin typeface="Aptos"/>
              </a:rPr>
              <a:t>Havalandırma ile temiz hava verilmesi: </a:t>
            </a:r>
            <a:r>
              <a:rPr lang="tr-TR" sz="2200" dirty="0">
                <a:latin typeface="Aptos"/>
              </a:rPr>
              <a:t>Ortama yüksek oksijenli temiz hava girişi.</a:t>
            </a:r>
            <a:endParaRPr lang="tr-TR" sz="2200" b="1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47447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457200" indent="-457200">
              <a:buAutoNum type="arabicPeriod" startAt="4"/>
            </a:pPr>
            <a:r>
              <a:rPr lang="tr-TR" sz="2200" b="1" dirty="0">
                <a:latin typeface="Aptos"/>
              </a:rPr>
              <a:t>Zehirli gazlar</a:t>
            </a:r>
          </a:p>
          <a:p>
            <a:pPr marL="0" indent="0">
              <a:buNone/>
            </a:pPr>
            <a:r>
              <a:rPr lang="tr-TR" sz="2200" dirty="0"/>
              <a:t>   </a:t>
            </a:r>
            <a:r>
              <a:rPr lang="tr-TR" sz="2200" dirty="0">
                <a:latin typeface="Aptos"/>
              </a:rPr>
              <a:t>Kapalı alanlarda yapılan çalışmalarda en sık karşılaşılan riskler, ortamdaki </a:t>
            </a:r>
            <a:r>
              <a:rPr lang="tr-TR" sz="2200" b="1" dirty="0">
                <a:latin typeface="Aptos"/>
              </a:rPr>
              <a:t>zararlı veya patlayıcı gazların</a:t>
            </a:r>
            <a:r>
              <a:rPr lang="tr-TR" sz="2200" dirty="0">
                <a:latin typeface="Aptos"/>
              </a:rPr>
              <a:t> birikmesiyle ilgilidir. Bu gazlar genellikle yetersiz havalandırma, çürüyen organik maddeler, kimyasal reaksiyonlar veya proses kaynaklı sızıntılar sonucu oluşur.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CO: </a:t>
            </a:r>
            <a:r>
              <a:rPr lang="tr-TR" sz="2200" dirty="0">
                <a:latin typeface="Aptos"/>
              </a:rPr>
              <a:t>Egzoz gazları, yanma işlemleri, kaynak çalışmaları (zehirlenme)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H₂S : </a:t>
            </a:r>
            <a:r>
              <a:rPr lang="tr-TR" sz="2200" dirty="0">
                <a:latin typeface="Aptos"/>
              </a:rPr>
              <a:t>Kanalizasyon, atık su sistemleri, petrol ve doğal gaz tesisleri, çürüyen organik maddeler (ölüm)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CH₄ : </a:t>
            </a:r>
            <a:r>
              <a:rPr lang="tr-TR" sz="2200" dirty="0">
                <a:latin typeface="Aptos"/>
              </a:rPr>
              <a:t>Madenler, kanalizasyon sistemleri (patlayıcı etki)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CO₂ : </a:t>
            </a:r>
            <a:r>
              <a:rPr lang="tr-TR" sz="2200" dirty="0">
                <a:latin typeface="Aptos"/>
              </a:rPr>
              <a:t>Yanma (boğulma)</a:t>
            </a:r>
          </a:p>
        </p:txBody>
      </p:sp>
    </p:spTree>
    <p:extLst>
      <p:ext uri="{BB962C8B-B14F-4D97-AF65-F5344CB8AC3E}">
        <p14:creationId xmlns:p14="http://schemas.microsoft.com/office/powerpoint/2010/main" val="150276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786684"/>
          </a:xfrm>
        </p:spPr>
        <p:txBody>
          <a:bodyPr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tr-TR" sz="1700" b="1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Gaz ölçümleri</a:t>
            </a:r>
            <a:r>
              <a:rPr lang="tr-TR" sz="2000" dirty="0">
                <a:latin typeface="Aptos"/>
              </a:rPr>
              <a:t> (O₂, CO, H₂S, CH₄ vb.) giriş öncesi ve çalışma süresince yapılmalı.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Yeterli havalandırma</a:t>
            </a:r>
            <a:r>
              <a:rPr lang="tr-TR" sz="2000" dirty="0">
                <a:latin typeface="Aptos"/>
              </a:rPr>
              <a:t> sağlanmalı (doğal veya mekanik).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Kişisel koruyucu donanımlar</a:t>
            </a:r>
            <a:r>
              <a:rPr lang="tr-TR" sz="2000" dirty="0">
                <a:latin typeface="Aptos"/>
              </a:rPr>
              <a:t> (gaz maskesi, solunum cihazı, emniyet kemeri) kullanılmalı.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Gözcü personel</a:t>
            </a:r>
            <a:r>
              <a:rPr lang="tr-TR" sz="2000" dirty="0">
                <a:latin typeface="Aptos"/>
              </a:rPr>
              <a:t> dışarıda bulunmalı ve iletişim sürekli sağlanmalı.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Acil durum planı</a:t>
            </a:r>
            <a:r>
              <a:rPr lang="tr-TR" sz="2000" dirty="0">
                <a:latin typeface="Aptos"/>
              </a:rPr>
              <a:t> ve kurtarma ekipmanı hazır bulundurulmalı</a:t>
            </a:r>
            <a:r>
              <a:rPr lang="tr-TR" sz="20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Kimyasal kalıntılar </a:t>
            </a:r>
            <a:r>
              <a:rPr lang="tr-TR" sz="2000" dirty="0">
                <a:latin typeface="Aptos"/>
              </a:rPr>
              <a:t>çalışma öncesi temizlenmelidir.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Tank / hat içi </a:t>
            </a:r>
            <a:r>
              <a:rPr lang="tr-TR" sz="2000" b="1" dirty="0">
                <a:latin typeface="Aptos"/>
              </a:rPr>
              <a:t>izolasyon</a:t>
            </a:r>
            <a:r>
              <a:rPr lang="tr-TR" sz="2000" dirty="0">
                <a:latin typeface="Aptos"/>
              </a:rPr>
              <a:t> yapılmalıdır.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Toz oluşumu azaltılmalıdır.</a:t>
            </a:r>
          </a:p>
          <a:p>
            <a:pPr marL="0" indent="0">
              <a:buNone/>
            </a:pPr>
            <a:endParaRPr lang="tr-TR" sz="17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2"/>
          <a:srcRect l="20249" r="14092" b="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05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8099A-F8A9-7317-1D39-EB6D4B876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9A5D65-BE65-8568-FD42-E610DDEF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88DDEF1B-487C-CB39-1FB5-6B30829E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3590452-3D2A-3144-9A58-E8D4321FD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D7CD0A6-5C31-12F8-5496-139A2FFE2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latin typeface="Aptos"/>
              </a:rPr>
              <a:t>5. Elektriksel ve Mekanik tehlikeler </a:t>
            </a:r>
          </a:p>
          <a:p>
            <a:pPr marL="0" indent="0">
              <a:buNone/>
            </a:pPr>
            <a:endParaRPr lang="tr-TR" sz="2000" b="1" dirty="0">
              <a:solidFill>
                <a:schemeClr val="accent6"/>
              </a:solidFill>
              <a:latin typeface="Aptos"/>
            </a:endParaRPr>
          </a:p>
          <a:p>
            <a:pPr marL="0" indent="0">
              <a:buNone/>
            </a:pPr>
            <a:r>
              <a:rPr lang="tr-TR" sz="2400" dirty="0"/>
              <a:t>   </a:t>
            </a:r>
            <a:r>
              <a:rPr lang="tr-TR" sz="2200" dirty="0">
                <a:latin typeface="Aptos" panose="020B0004020202020204" pitchFamily="34" charset="0"/>
              </a:rPr>
              <a:t>Bu tehlikeler genellikle ekipmanların yanlış kullanımı, bakım eksiklikleri veya uygun güvenlik önlemlerinin alınmaması sonucu ortaya çıkar.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sz="2200" b="1" dirty="0">
                <a:latin typeface="Aptos" panose="020B0004020202020204" pitchFamily="34" charset="0"/>
              </a:rPr>
              <a:t>   Elektriksel: </a:t>
            </a:r>
            <a:r>
              <a:rPr lang="tr-TR" sz="2200" dirty="0">
                <a:latin typeface="Aptos" panose="020B0004020202020204" pitchFamily="34" charset="0"/>
              </a:rPr>
              <a:t>Hasarlı kablolar veya izolasyon eksiklikleri,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sz="2200" dirty="0">
                <a:latin typeface="Aptos" panose="020B0004020202020204" pitchFamily="34" charset="0"/>
              </a:rPr>
              <a:t>                       Uygun olmayan bağlantılar veya geçici kablolama,</a:t>
            </a:r>
          </a:p>
          <a:p>
            <a:pPr marL="0" indent="0">
              <a:buNone/>
            </a:pPr>
            <a:endParaRPr lang="tr-TR" sz="2200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 panose="020B0004020202020204" pitchFamily="34" charset="0"/>
              </a:rPr>
              <a:t>Elektrik kaynakları kapalı alan dışında konumlandırılmalı.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 panose="020B0004020202020204" pitchFamily="34" charset="0"/>
              </a:rPr>
              <a:t>Tüm ekipmanlar </a:t>
            </a:r>
            <a:r>
              <a:rPr lang="tr-TR" sz="2200" b="1" dirty="0">
                <a:latin typeface="Aptos" panose="020B0004020202020204" pitchFamily="34" charset="0"/>
              </a:rPr>
              <a:t>topraklanmalı</a:t>
            </a:r>
            <a:r>
              <a:rPr lang="tr-TR" sz="2200" dirty="0">
                <a:latin typeface="Aptos" panose="020B0004020202020204" pitchFamily="34" charset="0"/>
              </a:rPr>
              <a:t> ve </a:t>
            </a:r>
            <a:r>
              <a:rPr lang="tr-TR" sz="2200" b="1" dirty="0">
                <a:latin typeface="Aptos" panose="020B0004020202020204" pitchFamily="34" charset="0"/>
              </a:rPr>
              <a:t>izolasyonu</a:t>
            </a:r>
            <a:r>
              <a:rPr lang="tr-TR" sz="2200" dirty="0">
                <a:latin typeface="Aptos" panose="020B0004020202020204" pitchFamily="34" charset="0"/>
              </a:rPr>
              <a:t> kontrol edilmelidir.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 err="1">
                <a:latin typeface="Aptos" panose="020B0004020202020204" pitchFamily="34" charset="0"/>
              </a:rPr>
              <a:t>Ex-proof</a:t>
            </a:r>
            <a:r>
              <a:rPr lang="tr-TR" sz="2200" b="1" dirty="0">
                <a:latin typeface="Aptos" panose="020B0004020202020204" pitchFamily="34" charset="0"/>
              </a:rPr>
              <a:t> (patlamaya dayanıklı)</a:t>
            </a:r>
            <a:r>
              <a:rPr lang="tr-TR" sz="2200" dirty="0">
                <a:latin typeface="Aptos" panose="020B0004020202020204" pitchFamily="34" charset="0"/>
              </a:rPr>
              <a:t> ekipman kullanılmalıdır.</a:t>
            </a:r>
          </a:p>
          <a:p>
            <a:pPr marL="0" indent="0">
              <a:buNone/>
            </a:pPr>
            <a:endParaRPr lang="tr-TR" sz="2400" dirty="0"/>
          </a:p>
          <a:p>
            <a:pPr marL="457200" indent="-457200">
              <a:buAutoNum type="arabicPeriod" startAt="4"/>
            </a:pPr>
            <a:endParaRPr lang="tr-TR" sz="22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80823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F1FDD-EB81-5B97-4E4A-88A88904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886EC5-2797-3051-5C77-4DDE91402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1D1B26C2-6C37-E6CD-8209-D28329E3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7FA8992-AE46-A0EE-2F19-1976728E2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7353E87-B0C2-D977-2E3E-2785602B5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400" b="1" dirty="0">
                <a:latin typeface="Aptos"/>
              </a:rPr>
              <a:t>Mekanik:</a:t>
            </a:r>
            <a:r>
              <a:rPr lang="tr-TR" sz="2400" dirty="0">
                <a:latin typeface="Aptos"/>
              </a:rPr>
              <a:t>     Koruyucu muhafazaların kaldırılması veya eksik olması,</a:t>
            </a:r>
          </a:p>
          <a:p>
            <a:pPr marL="0" indent="0">
              <a:buNone/>
            </a:pPr>
            <a:r>
              <a:rPr lang="tr-TR" sz="2400" dirty="0">
                <a:latin typeface="Aptos"/>
              </a:rPr>
              <a:t>                     Ekipman bakımının yapılmaması</a:t>
            </a:r>
          </a:p>
          <a:p>
            <a:pPr marL="0" indent="0">
              <a:buNone/>
            </a:pPr>
            <a:r>
              <a:rPr lang="tr-TR" sz="2400" dirty="0">
                <a:latin typeface="Aptos"/>
              </a:rPr>
              <a:t>                     Enerji izolasyonu yapılmadan bakım veya temizlik yapılması</a:t>
            </a:r>
          </a:p>
          <a:p>
            <a:pPr marL="0" indent="0">
              <a:buNone/>
            </a:pPr>
            <a:r>
              <a:rPr lang="tr-TR" sz="2400" dirty="0">
                <a:latin typeface="Aptos"/>
              </a:rPr>
              <a:t>                     Uygun olmayan alet veya yöntem kullanımı</a:t>
            </a:r>
          </a:p>
          <a:p>
            <a:pPr marL="0" indent="0">
              <a:buNone/>
            </a:pPr>
            <a:endParaRPr lang="tr-TR" sz="24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>
                <a:latin typeface="Aptos"/>
              </a:rPr>
              <a:t>Tüm hareketli parçalar </a:t>
            </a:r>
            <a:r>
              <a:rPr lang="tr-TR" sz="2400" b="1" dirty="0">
                <a:latin typeface="Aptos"/>
              </a:rPr>
              <a:t>koruyucu muhafazalarla</a:t>
            </a:r>
            <a:r>
              <a:rPr lang="tr-TR" sz="2400" dirty="0">
                <a:latin typeface="Aptos"/>
              </a:rPr>
              <a:t> kapatılmalıdır.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>
                <a:latin typeface="Aptos"/>
              </a:rPr>
              <a:t>Bakım ve temizlik işlemleri öncesinde </a:t>
            </a:r>
            <a:r>
              <a:rPr lang="tr-TR" sz="2400" b="1" dirty="0">
                <a:latin typeface="Aptos"/>
              </a:rPr>
              <a:t>mekanik enerji kaynakları izole edilmelidir.</a:t>
            </a:r>
            <a:endParaRPr lang="tr-TR" sz="24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>
                <a:latin typeface="Aptos"/>
              </a:rPr>
              <a:t>Çalışanlar </a:t>
            </a:r>
            <a:r>
              <a:rPr lang="tr-TR" sz="2400" b="1" dirty="0">
                <a:latin typeface="Aptos"/>
              </a:rPr>
              <a:t>mekanik tehlikeler konusunda eğitilmeli</a:t>
            </a:r>
            <a:r>
              <a:rPr lang="tr-TR" sz="2400" dirty="0">
                <a:latin typeface="Aptos"/>
              </a:rPr>
              <a:t> ve uygun </a:t>
            </a:r>
            <a:r>
              <a:rPr lang="tr-TR" sz="2400" b="1" dirty="0">
                <a:latin typeface="Aptos"/>
              </a:rPr>
              <a:t>kişisel koruyucu donanım</a:t>
            </a:r>
            <a:r>
              <a:rPr lang="tr-TR" sz="2400" dirty="0">
                <a:latin typeface="Aptos"/>
              </a:rPr>
              <a:t> (eldiven, baret, gözlük vb.) kullanmalıdır.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>
                <a:latin typeface="Aptos"/>
              </a:rPr>
              <a:t>Ekipmanlar düzenli olarak </a:t>
            </a:r>
            <a:r>
              <a:rPr lang="tr-TR" sz="2400" b="1" dirty="0">
                <a:latin typeface="Aptos"/>
              </a:rPr>
              <a:t>bakım ve kontrol</a:t>
            </a:r>
            <a:r>
              <a:rPr lang="tr-TR" sz="2400" dirty="0">
                <a:latin typeface="Aptos"/>
              </a:rPr>
              <a:t> edilmelidir.</a:t>
            </a:r>
          </a:p>
          <a:p>
            <a:pPr marL="0" indent="0">
              <a:buNone/>
            </a:pPr>
            <a:endParaRPr lang="tr-TR" sz="2400" dirty="0"/>
          </a:p>
          <a:p>
            <a:pPr marL="457200" indent="-457200">
              <a:buAutoNum type="arabicPeriod" startAt="4"/>
            </a:pPr>
            <a:endParaRPr lang="tr-TR" sz="22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21163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DDB1D-8ADA-46FE-9DA2-32765C673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15966B-0433-452C-BCA0-2E47E52EE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DA650333-7C2B-767C-324D-0678A277F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A2E75FF-F0DE-8C67-FB25-AF5379D1D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D9BBD3-7820-EC88-665C-4167D3E6F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 startAt="6"/>
            </a:pPr>
            <a:r>
              <a:rPr lang="tr-TR" sz="2200" b="1" dirty="0">
                <a:latin typeface="Aptos"/>
              </a:rPr>
              <a:t>Acil durum ve kurtarma tedbirleri</a:t>
            </a:r>
          </a:p>
          <a:p>
            <a:pPr marL="0" indent="0">
              <a:buNone/>
            </a:pPr>
            <a:endParaRPr lang="tr-TR" sz="2200" b="1" dirty="0">
              <a:solidFill>
                <a:schemeClr val="accent6"/>
              </a:solidFill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Her kapalı alan için </a:t>
            </a:r>
            <a:r>
              <a:rPr lang="tr-TR" sz="2200" b="1" dirty="0">
                <a:latin typeface="Aptos"/>
              </a:rPr>
              <a:t>özel bir acil durum planı</a:t>
            </a:r>
            <a:r>
              <a:rPr lang="tr-TR" sz="2200" dirty="0">
                <a:latin typeface="Aptos"/>
              </a:rPr>
              <a:t> hazırlanmalıdır.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Plan; olası tehlikeleri, kaçış yollarını, iletişim yöntemlerini ve kurtarma ekiplerinin görevlerini içermelidir.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Çalışanlar, planın içeriği hakkında </a:t>
            </a:r>
            <a:r>
              <a:rPr lang="tr-TR" sz="2200" b="1" dirty="0">
                <a:latin typeface="Aptos"/>
              </a:rPr>
              <a:t>eğitim almalı</a:t>
            </a:r>
            <a:r>
              <a:rPr lang="tr-TR" sz="2200" dirty="0">
                <a:latin typeface="Aptos"/>
              </a:rPr>
              <a:t> ve düzenli olarak </a:t>
            </a:r>
            <a:r>
              <a:rPr lang="tr-TR" sz="2200" b="1" dirty="0">
                <a:latin typeface="Aptos"/>
              </a:rPr>
              <a:t>tatbikatlar</a:t>
            </a:r>
            <a:r>
              <a:rPr lang="tr-TR" sz="2200" dirty="0">
                <a:latin typeface="Aptos"/>
              </a:rPr>
              <a:t> yapılmalıdır.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Kapalı alanda çalışma sırasında dışarıda </a:t>
            </a:r>
            <a:r>
              <a:rPr lang="tr-TR" sz="2200" b="1" dirty="0">
                <a:latin typeface="Aptos"/>
              </a:rPr>
              <a:t>en az bir gözcü personel</a:t>
            </a:r>
            <a:r>
              <a:rPr lang="tr-TR" sz="2200" dirty="0">
                <a:latin typeface="Aptos"/>
              </a:rPr>
              <a:t> bulunmalıdır.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Gözcü, içerideki çalışanlarla </a:t>
            </a:r>
            <a:r>
              <a:rPr lang="tr-TR" sz="2200" b="1" dirty="0">
                <a:latin typeface="Aptos"/>
              </a:rPr>
              <a:t>sürekli iletişim</a:t>
            </a:r>
            <a:r>
              <a:rPr lang="tr-TR" sz="2200" dirty="0">
                <a:latin typeface="Aptos"/>
              </a:rPr>
              <a:t> halinde olmalı ve acil durumda </a:t>
            </a:r>
            <a:r>
              <a:rPr lang="tr-TR" sz="2200" b="1" dirty="0">
                <a:latin typeface="Aptos"/>
              </a:rPr>
              <a:t>kurtarma ekibini haberdar etmelidir.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Kurtarma ekipmanları her zaman hazır, kontrol edilmiş ve kolay ulaşılabilir olmalıdır.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 err="1">
                <a:latin typeface="Aptos"/>
              </a:rPr>
              <a:t>Tripod</a:t>
            </a:r>
            <a:r>
              <a:rPr lang="tr-TR" sz="2200" dirty="0">
                <a:latin typeface="Aptos"/>
              </a:rPr>
              <a:t>, yaşam hattı kullanılmalıdır.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Haberleşme sistemi kurulmalıdır.</a:t>
            </a:r>
          </a:p>
          <a:p>
            <a:pPr marL="457200" indent="-457200">
              <a:buAutoNum type="arabicPeriod" startAt="4"/>
            </a:pPr>
            <a:endParaRPr lang="tr-TR" sz="22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63847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/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>
                <a:latin typeface="Aptos" panose="020B0004020202020204" pitchFamily="34" charset="0"/>
              </a:rPr>
              <a:t>Kapalı</a:t>
            </a:r>
            <a:r>
              <a:rPr lang="en-US" sz="2200" dirty="0">
                <a:latin typeface="Aptos" panose="020B0004020202020204" pitchFamily="34" charset="0"/>
              </a:rPr>
              <a:t> </a:t>
            </a:r>
            <a:r>
              <a:rPr lang="en-US" sz="2200" dirty="0" err="1">
                <a:latin typeface="Aptos" panose="020B0004020202020204" pitchFamily="34" charset="0"/>
              </a:rPr>
              <a:t>alanda</a:t>
            </a:r>
            <a:r>
              <a:rPr lang="en-US" sz="2200" dirty="0">
                <a:latin typeface="Aptos" panose="020B0004020202020204" pitchFamily="34" charset="0"/>
              </a:rPr>
              <a:t> </a:t>
            </a:r>
            <a:r>
              <a:rPr lang="en-US" sz="2200" dirty="0" err="1">
                <a:latin typeface="Aptos" panose="020B0004020202020204" pitchFamily="34" charset="0"/>
              </a:rPr>
              <a:t>çalışan</a:t>
            </a:r>
            <a:r>
              <a:rPr lang="en-US" sz="2200" dirty="0">
                <a:latin typeface="Aptos" panose="020B0004020202020204" pitchFamily="34" charset="0"/>
              </a:rPr>
              <a:t> </a:t>
            </a:r>
            <a:r>
              <a:rPr lang="en-US" sz="2200" dirty="0" err="1">
                <a:latin typeface="Aptos" panose="020B0004020202020204" pitchFamily="34" charset="0"/>
              </a:rPr>
              <a:t>işçi</a:t>
            </a:r>
            <a:r>
              <a:rPr lang="en-US" sz="2200" dirty="0">
                <a:latin typeface="Aptos" panose="020B0004020202020204" pitchFamily="34" charset="0"/>
              </a:rPr>
              <a:t> </a:t>
            </a:r>
            <a:r>
              <a:rPr lang="en-US" sz="2200" dirty="0" err="1">
                <a:latin typeface="Aptos" panose="020B0004020202020204" pitchFamily="34" charset="0"/>
              </a:rPr>
              <a:t>ve</a:t>
            </a:r>
            <a:r>
              <a:rPr lang="en-US" sz="2200" dirty="0">
                <a:latin typeface="Aptos" panose="020B0004020202020204" pitchFamily="34" charset="0"/>
              </a:rPr>
              <a:t> </a:t>
            </a:r>
            <a:r>
              <a:rPr lang="en-US" sz="2200" dirty="0" err="1">
                <a:latin typeface="Aptos" panose="020B0004020202020204" pitchFamily="34" charset="0"/>
              </a:rPr>
              <a:t>gözlemci</a:t>
            </a:r>
            <a:endParaRPr lang="en-US" sz="2200" dirty="0">
              <a:latin typeface="Aptos" panose="020B0004020202020204" pitchFamily="34" charset="0"/>
            </a:endParaRP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661" t="15035"/>
          <a:stretch>
            <a:fillRect/>
          </a:stretch>
        </p:blipFill>
        <p:spPr>
          <a:xfrm>
            <a:off x="3898373" y="971758"/>
            <a:ext cx="7945329" cy="491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24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tr-TR" sz="3000" b="1">
                <a:latin typeface="Aptos"/>
              </a:rPr>
              <a:t>Kapalı alanlarda çalışan personelin donanımı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    </a:t>
            </a:r>
            <a:r>
              <a:rPr lang="tr-TR" sz="2000" b="1" dirty="0">
                <a:latin typeface="Aptos"/>
              </a:rPr>
              <a:t>KKD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Kapalı alanlarda yapılan çalışmalar, yüksek risk taşıdığı için kullanılacak donanımların doğru seçilmesi hayati önem taşır.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Bu donanımlar, hem çalışanların güvenliğini sağlamak hem de olası kazaları önlemek amacıyla kullanılır.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12968"/>
            <a:ext cx="6903720" cy="383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43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alanlarda çalışan personelin donanımı</a:t>
            </a:r>
            <a:endParaRPr lang="tr-TR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Ortam Kontrol ve İzleme Donanımları: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Gaz ölçüm cihazları:</a:t>
            </a:r>
            <a:r>
              <a:rPr lang="tr-TR" sz="2200" dirty="0">
                <a:latin typeface="Aptos"/>
              </a:rPr>
              <a:t>            Oksijen seviyesi, 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                                             Patlayıcı gazlar (metan, hidrojen vb.) 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                                             Zehirli gazlar (H₂S, CO vb.) </a:t>
            </a: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Havalandırma sistemleri: </a:t>
            </a:r>
            <a:r>
              <a:rPr lang="tr-TR" sz="2200" dirty="0">
                <a:latin typeface="Aptos"/>
              </a:rPr>
              <a:t>Ortam havasını temizlemek ve oksijen seviyesini güvenli düzeyde tutmak için kullanılır.</a:t>
            </a: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Aydınlatma ekipmanları: </a:t>
            </a:r>
            <a:r>
              <a:rPr lang="tr-TR" sz="2200" dirty="0">
                <a:latin typeface="Aptos"/>
              </a:rPr>
              <a:t>Patlamaya dayanıklı (</a:t>
            </a:r>
            <a:r>
              <a:rPr lang="tr-TR" sz="2200" dirty="0" err="1">
                <a:latin typeface="Aptos"/>
              </a:rPr>
              <a:t>Ex-proof</a:t>
            </a:r>
            <a:r>
              <a:rPr lang="tr-TR" sz="2200" dirty="0">
                <a:latin typeface="Aptos"/>
              </a:rPr>
              <a:t>) özellikte olmalıdır.</a:t>
            </a:r>
          </a:p>
          <a:p>
            <a:endParaRPr lang="tr-TR" sz="22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327C69C-05E5-CDBA-C61E-868544EE8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251" y="1804489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21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Kapalı alanlarda çalışan personelin donanımı</a:t>
            </a:r>
            <a:endParaRPr lang="tr-TR" dirty="0"/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 Kurtarma ve Acil Durum Donanımları: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Tripod ve kurtarma vinci</a:t>
            </a:r>
            <a:r>
              <a:rPr lang="tr-TR" sz="2200" dirty="0">
                <a:latin typeface="Aptos"/>
              </a:rPr>
              <a:t>: Düşme veya bayılma durumunda çalışanı güvenli şekilde tahliye etmek için.</a:t>
            </a: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İlk yardım seti</a:t>
            </a:r>
            <a:r>
              <a:rPr lang="tr-TR" sz="2200" dirty="0">
                <a:latin typeface="Aptos"/>
              </a:rPr>
              <a:t>: Olası yaralanmalarda hızlı müdahale için.</a:t>
            </a: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İletişim sistemleri</a:t>
            </a:r>
            <a:r>
              <a:rPr lang="tr-TR" sz="2200" dirty="0">
                <a:latin typeface="Aptos"/>
              </a:rPr>
              <a:t>: Çalışan ile dışarıdaki gözetleyici arasında sürekli iletişim sağlanmalıdır.</a:t>
            </a: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Acil durum alarm sistemi</a:t>
            </a:r>
            <a:r>
              <a:rPr lang="tr-TR" sz="2200" dirty="0">
                <a:latin typeface="Aptos"/>
              </a:rPr>
              <a:t>: Tehlike anında hızlı uyarı için.</a:t>
            </a:r>
          </a:p>
          <a:p>
            <a:endParaRPr lang="tr-TR" sz="22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2E89DD6-80C5-F41A-79DA-88FDF43DF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952" y="2071316"/>
            <a:ext cx="3245341" cy="374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31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>
                <a:latin typeface="Aptos"/>
              </a:rPr>
              <a:t>Kapalı alana girmeden önce yapılması gerekenler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6676" y="2240915"/>
            <a:ext cx="10515600" cy="4251960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Alanı tehlikelerden izole etmek</a:t>
            </a:r>
          </a:p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Alanı havalandırmak</a:t>
            </a:r>
          </a:p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Kısa bilgilendirme yapmak</a:t>
            </a:r>
          </a:p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İzni tamamlamak</a:t>
            </a:r>
          </a:p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İç atmosferi test etmek</a:t>
            </a:r>
          </a:p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Kapalı alana girişi başlatmak</a:t>
            </a:r>
          </a:p>
        </p:txBody>
      </p:sp>
    </p:spTree>
    <p:extLst>
      <p:ext uri="{BB962C8B-B14F-4D97-AF65-F5344CB8AC3E}">
        <p14:creationId xmlns:p14="http://schemas.microsoft.com/office/powerpoint/2010/main" val="3225614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79829" y="365125"/>
            <a:ext cx="11549574" cy="1325563"/>
          </a:xfrm>
        </p:spPr>
        <p:txBody>
          <a:bodyPr/>
          <a:lstStyle/>
          <a:p>
            <a:r>
              <a:rPr lang="tr-TR" sz="3800" b="1" dirty="0">
                <a:solidFill>
                  <a:prstClr val="black"/>
                </a:solidFill>
                <a:latin typeface="Aptos"/>
              </a:rPr>
              <a:t>Kapalı alana girmeden önce yapılması gerekenler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6776" y="1825625"/>
            <a:ext cx="4515730" cy="4351338"/>
          </a:xfrm>
        </p:spPr>
        <p:txBody>
          <a:bodyPr/>
          <a:lstStyle/>
          <a:p>
            <a:pPr marL="0" indent="0">
              <a:buNone/>
            </a:pPr>
            <a:r>
              <a:rPr lang="tr-TR" sz="2400" dirty="0">
                <a:solidFill>
                  <a:srgbClr val="C00000"/>
                </a:solidFill>
                <a:latin typeface="Aptos"/>
              </a:rPr>
              <a:t>Alanı tehlikelerden izole etmek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Valfleri kapatılması, alanın boşaltılması, kilitleme/etiketleme yapılması ve alandaki kalıntıların temizlenmesi gibi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103" y="1787942"/>
            <a:ext cx="6836897" cy="507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48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sz="4200" b="1">
                <a:latin typeface="Aptos"/>
              </a:rPr>
              <a:t>Kapalı alana girmeden önce yapılması gerekenler</a:t>
            </a:r>
            <a:endParaRPr lang="tr-TR" sz="42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>
                <a:solidFill>
                  <a:srgbClr val="FF0000"/>
                </a:solidFill>
                <a:latin typeface="Aptos"/>
              </a:rPr>
              <a:t>Alanı havalandırmak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Havalandırma ekipmanı kullanılması (fanlar, hava boruları…),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1saatte, kapalı alanın en az dört (4) katı kadar havalandırma yapılması,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Havalandırmada taze hava beslenmesi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708528"/>
            <a:ext cx="4014216" cy="267127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512" y="4079193"/>
            <a:ext cx="3798583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37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alana girmeden önce yapılması gerekenler</a:t>
            </a:r>
            <a:endParaRPr lang="tr-TR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>
                <a:solidFill>
                  <a:srgbClr val="FF0000"/>
                </a:solidFill>
                <a:latin typeface="Aptos" panose="020B0004020202020204" pitchFamily="34" charset="0"/>
              </a:rPr>
              <a:t>Kısa bilgilendirme yapmak</a:t>
            </a:r>
          </a:p>
          <a:p>
            <a:pPr marL="0" indent="0">
              <a:buNone/>
            </a:pPr>
            <a:endParaRPr lang="tr-TR" sz="2200" dirty="0">
              <a:latin typeface="Aptos" panose="020B0004020202020204" pitchFamily="34" charset="0"/>
            </a:endParaRPr>
          </a:p>
          <a:p>
            <a:r>
              <a:rPr lang="tr-TR" sz="2200" dirty="0">
                <a:latin typeface="Aptos" panose="020B0004020202020204" pitchFamily="34" charset="0"/>
              </a:rPr>
              <a:t>Tüm ekibin katılması gerekir (Gözlemciler, giriş yapanlar, yetki verenler).</a:t>
            </a:r>
          </a:p>
          <a:p>
            <a:r>
              <a:rPr lang="tr-TR" sz="2200" dirty="0">
                <a:latin typeface="Aptos" panose="020B0004020202020204" pitchFamily="34" charset="0"/>
              </a:rPr>
              <a:t>Girişte ve çalışma sırasındaki </a:t>
            </a:r>
            <a:r>
              <a:rPr lang="tr-TR" sz="2200" b="1" dirty="0">
                <a:latin typeface="Aptos" panose="020B0004020202020204" pitchFamily="34" charset="0"/>
              </a:rPr>
              <a:t>tehlikeleri</a:t>
            </a:r>
            <a:r>
              <a:rPr lang="tr-TR" sz="2200" dirty="0">
                <a:latin typeface="Aptos" panose="020B0004020202020204" pitchFamily="34" charset="0"/>
              </a:rPr>
              <a:t> gözden geçirilir.</a:t>
            </a:r>
          </a:p>
          <a:p>
            <a:r>
              <a:rPr lang="tr-TR" sz="2200" b="1" dirty="0">
                <a:latin typeface="Aptos" panose="020B0004020202020204" pitchFamily="34" charset="0"/>
              </a:rPr>
              <a:t>Kişisel koruyucu ekipmanlar </a:t>
            </a:r>
            <a:r>
              <a:rPr lang="tr-TR" sz="2200" dirty="0">
                <a:latin typeface="Aptos" panose="020B0004020202020204" pitchFamily="34" charset="0"/>
              </a:rPr>
              <a:t>kontrol edilir.</a:t>
            </a:r>
          </a:p>
          <a:p>
            <a:r>
              <a:rPr lang="tr-TR" sz="2200" b="1" dirty="0">
                <a:latin typeface="Aptos" panose="020B0004020202020204" pitchFamily="34" charset="0"/>
              </a:rPr>
              <a:t>Kurtarma prosedürleri </a:t>
            </a:r>
            <a:r>
              <a:rPr lang="tr-TR" sz="2200" dirty="0">
                <a:latin typeface="Aptos" panose="020B0004020202020204" pitchFamily="34" charset="0"/>
              </a:rPr>
              <a:t>gözden geçirilerek uygulanabilir olduğu doğrulanır.</a:t>
            </a:r>
          </a:p>
          <a:p>
            <a:r>
              <a:rPr lang="tr-TR" sz="2200" b="1" dirty="0">
                <a:latin typeface="Aptos" panose="020B0004020202020204" pitchFamily="34" charset="0"/>
              </a:rPr>
              <a:t>İzin</a:t>
            </a:r>
            <a:r>
              <a:rPr lang="tr-TR" sz="2200" dirty="0">
                <a:latin typeface="Aptos" panose="020B0004020202020204" pitchFamily="34" charset="0"/>
              </a:rPr>
              <a:t> tamamlanır.</a:t>
            </a:r>
          </a:p>
        </p:txBody>
      </p:sp>
    </p:spTree>
    <p:extLst>
      <p:ext uri="{BB962C8B-B14F-4D97-AF65-F5344CB8AC3E}">
        <p14:creationId xmlns:p14="http://schemas.microsoft.com/office/powerpoint/2010/main" val="3806386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alana girmeden önce yapılması gerekenler</a:t>
            </a:r>
            <a:endParaRPr lang="tr-TR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>
                <a:solidFill>
                  <a:srgbClr val="FF0000"/>
                </a:solidFill>
                <a:latin typeface="Aptos"/>
              </a:rPr>
              <a:t>İzni tamamlamak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r>
              <a:rPr lang="tr-TR" sz="2200" dirty="0">
                <a:latin typeface="Aptos"/>
              </a:rPr>
              <a:t>Kapalı alana girişten önce izin </a:t>
            </a:r>
            <a:r>
              <a:rPr lang="tr-TR" sz="2200" b="1" dirty="0">
                <a:latin typeface="Aptos"/>
              </a:rPr>
              <a:t>tam ve doğru </a:t>
            </a:r>
            <a:r>
              <a:rPr lang="tr-TR" sz="2200" dirty="0">
                <a:latin typeface="Aptos"/>
              </a:rPr>
              <a:t>olarak doldurulmalıdır.</a:t>
            </a:r>
          </a:p>
          <a:p>
            <a:r>
              <a:rPr lang="tr-TR" sz="2200" dirty="0">
                <a:latin typeface="Aptos"/>
              </a:rPr>
              <a:t>İznin geçerli olabilmesi için </a:t>
            </a:r>
            <a:r>
              <a:rPr lang="tr-TR" sz="2200" b="1" dirty="0">
                <a:latin typeface="Aptos"/>
              </a:rPr>
              <a:t>yetki verenin imzası </a:t>
            </a:r>
            <a:r>
              <a:rPr lang="tr-TR" sz="2200" dirty="0">
                <a:latin typeface="Aptos"/>
              </a:rPr>
              <a:t>bulunmalıdır.</a:t>
            </a:r>
          </a:p>
          <a:p>
            <a:r>
              <a:rPr lang="tr-TR" sz="2200" b="1" dirty="0">
                <a:latin typeface="Aptos"/>
              </a:rPr>
              <a:t>Geçerli bir izin </a:t>
            </a:r>
            <a:r>
              <a:rPr lang="tr-TR" sz="2200" dirty="0">
                <a:latin typeface="Aptos"/>
              </a:rPr>
              <a:t>olmadan giriş yapılamaz.</a:t>
            </a:r>
          </a:p>
          <a:p>
            <a:r>
              <a:rPr lang="tr-TR" sz="2200" dirty="0">
                <a:latin typeface="Aptos"/>
              </a:rPr>
              <a:t>İzinler </a:t>
            </a:r>
            <a:r>
              <a:rPr lang="tr-TR" sz="2200" b="1" dirty="0">
                <a:latin typeface="Aptos"/>
              </a:rPr>
              <a:t>12 saate </a:t>
            </a:r>
            <a:r>
              <a:rPr lang="tr-TR" sz="2200" dirty="0">
                <a:latin typeface="Aptos"/>
              </a:rPr>
              <a:t>kadar geçerlidir.</a:t>
            </a:r>
          </a:p>
          <a:p>
            <a:r>
              <a:rPr lang="tr-TR" sz="2200" dirty="0">
                <a:latin typeface="Aptos"/>
              </a:rPr>
              <a:t>İş tamamlandığı zaman izin </a:t>
            </a:r>
            <a:r>
              <a:rPr lang="tr-TR" sz="2200" b="1" dirty="0">
                <a:latin typeface="Aptos"/>
              </a:rPr>
              <a:t>İSG yöneticisine teslim </a:t>
            </a:r>
            <a:r>
              <a:rPr lang="tr-TR" sz="2200" dirty="0">
                <a:latin typeface="Aptos"/>
              </a:rPr>
              <a:t>edilmelidir.</a:t>
            </a:r>
          </a:p>
          <a:p>
            <a:r>
              <a:rPr lang="tr-TR" sz="2200" dirty="0">
                <a:latin typeface="Aptos"/>
              </a:rPr>
              <a:t>İptal edilen izinler </a:t>
            </a:r>
            <a:r>
              <a:rPr lang="tr-TR" sz="2200" b="1" dirty="0">
                <a:latin typeface="Aptos"/>
              </a:rPr>
              <a:t>en az 1 sene saklanmalıdır</a:t>
            </a:r>
          </a:p>
        </p:txBody>
      </p:sp>
    </p:spTree>
    <p:extLst>
      <p:ext uri="{BB962C8B-B14F-4D97-AF65-F5344CB8AC3E}">
        <p14:creationId xmlns:p14="http://schemas.microsoft.com/office/powerpoint/2010/main" val="3895252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32509" y="365125"/>
            <a:ext cx="11538065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Kapalı</a:t>
            </a:r>
            <a:r>
              <a:rPr lang="en-US" sz="4000" b="1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alana</a:t>
            </a:r>
            <a:r>
              <a:rPr lang="en-US" sz="4000" b="1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girmeden</a:t>
            </a:r>
            <a:r>
              <a:rPr lang="en-US" sz="4000" b="1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önce</a:t>
            </a:r>
            <a:r>
              <a:rPr lang="en-US" sz="4000" b="1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yapılması</a:t>
            </a:r>
            <a:r>
              <a:rPr lang="en-US" sz="4000" b="1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gerekenler</a:t>
            </a:r>
            <a:endParaRPr lang="en-US" sz="4000" kern="12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2398625"/>
            <a:ext cx="5158427" cy="4094249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tr-TR" sz="2000" b="1" noProof="0" dirty="0">
                <a:solidFill>
                  <a:srgbClr val="C00000"/>
                </a:solidFill>
                <a:latin typeface="Aptos" panose="020B0004020202020204" pitchFamily="34" charset="0"/>
              </a:rPr>
              <a:t>İzin formunda bulunması gereken bilgiler: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Kapalı birimin bulunduğu </a:t>
            </a:r>
            <a:r>
              <a:rPr lang="tr-TR" sz="1800" b="1" noProof="0" dirty="0">
                <a:latin typeface="Aptos" panose="020B0004020202020204" pitchFamily="34" charset="0"/>
              </a:rPr>
              <a:t>bölüm ve lokasyon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Yapılacak girişin </a:t>
            </a:r>
            <a:r>
              <a:rPr lang="tr-TR" sz="1800" b="1" noProof="0" dirty="0">
                <a:latin typeface="Aptos" panose="020B0004020202020204" pitchFamily="34" charset="0"/>
              </a:rPr>
              <a:t>sebebi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Giriş </a:t>
            </a:r>
            <a:r>
              <a:rPr lang="tr-TR" sz="1800" b="1" noProof="0" dirty="0">
                <a:latin typeface="Aptos" panose="020B0004020202020204" pitchFamily="34" charset="0"/>
              </a:rPr>
              <a:t>tarihi ve saati/</a:t>
            </a:r>
            <a:r>
              <a:rPr lang="tr-TR" sz="1800" noProof="0" dirty="0">
                <a:latin typeface="Aptos" panose="020B0004020202020204" pitchFamily="34" charset="0"/>
              </a:rPr>
              <a:t>izin formunun </a:t>
            </a:r>
            <a:r>
              <a:rPr lang="tr-TR" sz="1800" b="1" noProof="0" dirty="0">
                <a:latin typeface="Aptos" panose="020B0004020202020204" pitchFamily="34" charset="0"/>
              </a:rPr>
              <a:t>geçerlilik süresi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Giriş yapacak elemanların </a:t>
            </a:r>
            <a:r>
              <a:rPr lang="tr-TR" sz="1800" b="1" noProof="0" dirty="0">
                <a:latin typeface="Aptos" panose="020B0004020202020204" pitchFamily="34" charset="0"/>
              </a:rPr>
              <a:t>isimleri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Gözlemcinin ismi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İzin formunu </a:t>
            </a:r>
            <a:r>
              <a:rPr lang="tr-TR" sz="1800" b="1" noProof="0" dirty="0">
                <a:latin typeface="Aptos" panose="020B0004020202020204" pitchFamily="34" charset="0"/>
              </a:rPr>
              <a:t>onaylayanın ismi, imzası </a:t>
            </a:r>
            <a:r>
              <a:rPr lang="tr-TR" sz="1800" noProof="0" dirty="0">
                <a:latin typeface="Aptos" panose="020B0004020202020204" pitchFamily="34" charset="0"/>
              </a:rPr>
              <a:t>ve imza tarihi</a:t>
            </a:r>
          </a:p>
          <a:p>
            <a:r>
              <a:rPr lang="tr-TR" sz="1800" b="1" noProof="0" dirty="0">
                <a:latin typeface="Aptos" panose="020B0004020202020204" pitchFamily="34" charset="0"/>
              </a:rPr>
              <a:t>Tehlikeler</a:t>
            </a:r>
            <a:r>
              <a:rPr lang="tr-TR" sz="1800" noProof="0" dirty="0">
                <a:latin typeface="Aptos" panose="020B0004020202020204" pitchFamily="34" charset="0"/>
              </a:rPr>
              <a:t> ( tehlikeli gazlar, mekanik ekipmanlar vb.)</a:t>
            </a:r>
          </a:p>
          <a:p>
            <a:r>
              <a:rPr lang="tr-TR" sz="1800" b="1" noProof="0" dirty="0">
                <a:latin typeface="Aptos" panose="020B0004020202020204" pitchFamily="34" charset="0"/>
              </a:rPr>
              <a:t>İzolasyon yöntemleri </a:t>
            </a:r>
            <a:r>
              <a:rPr lang="tr-TR" sz="1800" noProof="0" dirty="0">
                <a:latin typeface="Aptos" panose="020B0004020202020204" pitchFamily="34" charset="0"/>
              </a:rPr>
              <a:t>(kilitleme, etiketleme, </a:t>
            </a:r>
            <a:r>
              <a:rPr lang="tr-TR" sz="1800" noProof="0" dirty="0" err="1">
                <a:latin typeface="Aptos" panose="020B0004020202020204" pitchFamily="34" charset="0"/>
              </a:rPr>
              <a:t>vb</a:t>
            </a:r>
            <a:r>
              <a:rPr lang="tr-TR" sz="1800" noProof="0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6" name="Metin kutusu 5"/>
          <p:cNvSpPr txBox="1"/>
          <p:nvPr/>
        </p:nvSpPr>
        <p:spPr>
          <a:xfrm>
            <a:off x="6189155" y="2678335"/>
            <a:ext cx="5164645" cy="3972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b="1" noProof="0" dirty="0">
                <a:latin typeface="Aptos" panose="020B0004020202020204" pitchFamily="34" charset="0"/>
              </a:rPr>
              <a:t>Tehlike kontrol yöntemleri </a:t>
            </a:r>
            <a:r>
              <a:rPr lang="tr-TR" noProof="0" dirty="0">
                <a:latin typeface="Aptos" panose="020B0004020202020204" pitchFamily="34" charset="0"/>
              </a:rPr>
              <a:t>(sürekli hava temini, havanın sürekli ölçülmesi, vb.)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noProof="0" dirty="0">
                <a:latin typeface="Aptos" panose="020B0004020202020204" pitchFamily="34" charset="0"/>
              </a:rPr>
              <a:t> Gereken ve mevcut </a:t>
            </a:r>
            <a:r>
              <a:rPr lang="tr-TR" b="1" noProof="0" dirty="0">
                <a:latin typeface="Aptos" panose="020B0004020202020204" pitchFamily="34" charset="0"/>
              </a:rPr>
              <a:t>acil kurtarma servis ve ekipmanları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noProof="0" dirty="0">
                <a:latin typeface="Aptos" panose="020B0004020202020204" pitchFamily="34" charset="0"/>
              </a:rPr>
              <a:t>Giren ve gözlemci arasındaki </a:t>
            </a:r>
            <a:r>
              <a:rPr lang="tr-TR" b="1" noProof="0" dirty="0">
                <a:latin typeface="Aptos" panose="020B0004020202020204" pitchFamily="34" charset="0"/>
              </a:rPr>
              <a:t>haberleşme yöntemi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noProof="0" dirty="0">
                <a:latin typeface="Aptos" panose="020B0004020202020204" pitchFamily="34" charset="0"/>
              </a:rPr>
              <a:t>Giren elemanın kullanması gereken ve mevcut </a:t>
            </a:r>
            <a:r>
              <a:rPr lang="tr-TR" b="1" noProof="0" dirty="0">
                <a:latin typeface="Aptos" panose="020B0004020202020204" pitchFamily="34" charset="0"/>
              </a:rPr>
              <a:t>kişisel korunma ekipmanları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noProof="0" dirty="0">
                <a:latin typeface="Aptos" panose="020B0004020202020204" pitchFamily="34" charset="0"/>
              </a:rPr>
              <a:t>Gereken </a:t>
            </a:r>
            <a:r>
              <a:rPr lang="tr-TR" b="1" noProof="0" dirty="0">
                <a:latin typeface="Aptos" panose="020B0004020202020204" pitchFamily="34" charset="0"/>
              </a:rPr>
              <a:t>ölçüm ekipmanları</a:t>
            </a:r>
            <a:r>
              <a:rPr lang="tr-TR" noProof="0" dirty="0">
                <a:latin typeface="Aptos" panose="020B0004020202020204" pitchFamily="34" charset="0"/>
              </a:rPr>
              <a:t>, yapılan ölçüm (oksijen seviyesi, patlayabilir gaz seviyesi, toksik gaz seviyesi) sonuçları ve ölçüm yapanların parafları.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noProof="0" dirty="0">
                <a:latin typeface="Aptos" panose="020B0004020202020204" pitchFamily="34" charset="0"/>
              </a:rPr>
              <a:t> Girişin </a:t>
            </a:r>
            <a:r>
              <a:rPr lang="tr-TR" b="1" noProof="0" dirty="0">
                <a:latin typeface="Aptos" panose="020B0004020202020204" pitchFamily="34" charset="0"/>
              </a:rPr>
              <a:t>bitiş tarihi ve saati</a:t>
            </a:r>
            <a:endParaRPr lang="en-US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181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alana girmeden önce yapılması gerekenler</a:t>
            </a:r>
            <a:endParaRPr lang="tr-TR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9103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000" dirty="0">
                <a:solidFill>
                  <a:srgbClr val="FF0000"/>
                </a:solidFill>
                <a:latin typeface="Aptos"/>
              </a:rPr>
              <a:t>İç atmosferi test etmek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r>
              <a:rPr lang="tr-TR" sz="2000" dirty="0">
                <a:latin typeface="Aptos"/>
              </a:rPr>
              <a:t>Ölçümler kapalı alana girilmeden uzatma çubuğu kullanılarak yapılmalıdır. </a:t>
            </a:r>
          </a:p>
          <a:p>
            <a:r>
              <a:rPr lang="tr-TR" sz="2000" dirty="0">
                <a:latin typeface="Aptos"/>
              </a:rPr>
              <a:t>Ayrıca çalışma sırasında oksijen ölçüm aleti kapalı birim içerisinde tutularak oksijen seviyesi sürekli kontrol edilmelidir.</a:t>
            </a:r>
          </a:p>
          <a:p>
            <a:r>
              <a:rPr lang="tr-TR" sz="2000" dirty="0">
                <a:latin typeface="Aptos"/>
              </a:rPr>
              <a:t>Ölçüm kapalı ortam içerisinde değişik noktalarda yapılmalıdır. </a:t>
            </a:r>
          </a:p>
          <a:p>
            <a:r>
              <a:rPr lang="tr-TR" sz="2000" dirty="0">
                <a:latin typeface="Aptos"/>
              </a:rPr>
              <a:t>Kapalı ortamın alt kısmında, solunum bölgesi seviyesinde ve üst kısımda mutlaka ölçüm alınmalıdır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                     </a:t>
            </a:r>
            <a:r>
              <a:rPr lang="tr-TR" sz="2000" b="1" dirty="0">
                <a:latin typeface="Aptos"/>
              </a:rPr>
              <a:t>Oksijen</a:t>
            </a:r>
            <a:r>
              <a:rPr lang="tr-TR" sz="2000" dirty="0">
                <a:latin typeface="Aptos"/>
              </a:rPr>
              <a:t> seviyesini kontrol et 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                (%19.5 &lt; O</a:t>
            </a:r>
            <a:r>
              <a:rPr lang="tr-TR" sz="2000" baseline="-25000" dirty="0">
                <a:latin typeface="Aptos"/>
              </a:rPr>
              <a:t>2</a:t>
            </a:r>
            <a:r>
              <a:rPr lang="tr-TR" sz="2000" dirty="0">
                <a:latin typeface="Aptos"/>
              </a:rPr>
              <a:t> konsantrasyonu &lt; % 23)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                     </a:t>
            </a:r>
            <a:r>
              <a:rPr lang="tr-TR" sz="2000" b="1" dirty="0">
                <a:latin typeface="Aptos"/>
              </a:rPr>
              <a:t>Yanıcı,</a:t>
            </a:r>
            <a:r>
              <a:rPr lang="tr-TR" sz="2000" dirty="0">
                <a:latin typeface="Aptos"/>
              </a:rPr>
              <a:t> parlayıcıları kontrol et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        (Parlama seviyesi (kendi ‘LEL’ değerinin %10’undan küçük olmalıdır. ) 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                    </a:t>
            </a:r>
            <a:r>
              <a:rPr lang="tr-TR" sz="2000" b="1" dirty="0">
                <a:latin typeface="Aptos"/>
              </a:rPr>
              <a:t>Toksik</a:t>
            </a:r>
            <a:r>
              <a:rPr lang="tr-TR" sz="2000" dirty="0">
                <a:latin typeface="Aptos"/>
              </a:rPr>
              <a:t> (zehirli) gazları kontrol et</a:t>
            </a:r>
          </a:p>
        </p:txBody>
      </p:sp>
    </p:spTree>
    <p:extLst>
      <p:ext uri="{BB962C8B-B14F-4D97-AF65-F5344CB8AC3E}">
        <p14:creationId xmlns:p14="http://schemas.microsoft.com/office/powerpoint/2010/main" val="3764828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51692" y="365125"/>
            <a:ext cx="11605846" cy="1325563"/>
          </a:xfrm>
        </p:spPr>
        <p:txBody>
          <a:bodyPr/>
          <a:lstStyle/>
          <a:p>
            <a:r>
              <a:rPr lang="tr-TR" sz="3800" b="1" dirty="0">
                <a:solidFill>
                  <a:prstClr val="black"/>
                </a:solidFill>
                <a:latin typeface="Aptos"/>
              </a:rPr>
              <a:t>Kapalı alana girmeden önce yapılması gerekenler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577361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>
                <a:latin typeface="Aptos"/>
              </a:rPr>
              <a:t>          </a:t>
            </a:r>
            <a:r>
              <a:rPr lang="tr-TR" sz="2200" u="sng">
                <a:latin typeface="Aptos"/>
              </a:rPr>
              <a:t>Oksijen miktarının etkileri</a:t>
            </a:r>
          </a:p>
          <a:p>
            <a:pPr marL="0" indent="0">
              <a:buNone/>
            </a:pPr>
            <a:endParaRPr lang="tr-TR" sz="2200" u="sng">
              <a:latin typeface="Aptos"/>
            </a:endParaRP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23</a:t>
            </a:r>
            <a:r>
              <a:rPr lang="tr-TR" sz="2200">
                <a:latin typeface="Aptos"/>
              </a:rPr>
              <a:t>     </a:t>
            </a:r>
            <a:r>
              <a:rPr lang="tr-TR" sz="2000">
                <a:solidFill>
                  <a:srgbClr val="FF0000"/>
                </a:solidFill>
                <a:latin typeface="Aptos"/>
              </a:rPr>
              <a:t>ve yukarısı Patlama / yangın tehlikesi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21</a:t>
            </a:r>
            <a:r>
              <a:rPr lang="tr-TR" sz="2200">
                <a:latin typeface="Aptos"/>
              </a:rPr>
              <a:t>     </a:t>
            </a:r>
            <a:r>
              <a:rPr lang="tr-TR" sz="2000">
                <a:solidFill>
                  <a:srgbClr val="0070C0"/>
                </a:solidFill>
                <a:latin typeface="Aptos"/>
              </a:rPr>
              <a:t>Normal seviye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19.5  </a:t>
            </a:r>
            <a:r>
              <a:rPr lang="tr-TR" sz="2000">
                <a:latin typeface="Aptos"/>
              </a:rPr>
              <a:t>Alt tehlike sınırı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16     </a:t>
            </a:r>
            <a:r>
              <a:rPr lang="tr-TR" sz="2000">
                <a:latin typeface="Aptos"/>
              </a:rPr>
              <a:t>Hafif bilinç kaybı, sersemlik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14     </a:t>
            </a:r>
            <a:r>
              <a:rPr lang="tr-TR" sz="2000">
                <a:latin typeface="Aptos"/>
              </a:rPr>
              <a:t>Halsizlik, yanlış değerlendirme yapma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8</a:t>
            </a:r>
            <a:r>
              <a:rPr lang="tr-TR" sz="2200">
                <a:latin typeface="Aptos"/>
              </a:rPr>
              <a:t>       </a:t>
            </a:r>
            <a:r>
              <a:rPr lang="tr-TR" sz="2000">
                <a:latin typeface="Aptos"/>
              </a:rPr>
              <a:t>Anlık hafıza kaybı, baygınlık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6</a:t>
            </a:r>
            <a:r>
              <a:rPr lang="tr-TR" sz="2200">
                <a:latin typeface="Aptos"/>
              </a:rPr>
              <a:t>       </a:t>
            </a:r>
            <a:r>
              <a:rPr lang="tr-TR" sz="2000">
                <a:latin typeface="Aptos"/>
              </a:rPr>
              <a:t>Nefes almada zorluk, ölüm</a:t>
            </a:r>
            <a:endParaRPr lang="tr-TR" sz="2000" dirty="0">
              <a:latin typeface="Aptos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6611815" y="1771919"/>
            <a:ext cx="558018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u="sng" dirty="0">
                <a:latin typeface="Aptos"/>
              </a:rPr>
              <a:t>Parlayabilir Gaz Seviyesi</a:t>
            </a:r>
          </a:p>
          <a:p>
            <a:pPr algn="ctr"/>
            <a:endParaRPr lang="tr-TR" u="sng" dirty="0">
              <a:latin typeface="Aptos"/>
            </a:endParaRPr>
          </a:p>
          <a:p>
            <a:endParaRPr lang="tr-TR" dirty="0">
              <a:latin typeface="Aptos"/>
            </a:endParaRPr>
          </a:p>
          <a:p>
            <a:r>
              <a:rPr lang="tr-TR" sz="2000" dirty="0">
                <a:latin typeface="Aptos"/>
              </a:rPr>
              <a:t>Herhangi bir parlayabilir gaz için </a:t>
            </a:r>
          </a:p>
          <a:p>
            <a:r>
              <a:rPr lang="tr-TR" sz="2000" dirty="0">
                <a:solidFill>
                  <a:srgbClr val="0070C0"/>
                </a:solidFill>
                <a:latin typeface="Aptos"/>
              </a:rPr>
              <a:t>Parlama seviyesi = </a:t>
            </a:r>
            <a:r>
              <a:rPr lang="tr-TR" sz="2000" dirty="0">
                <a:latin typeface="Aptos"/>
              </a:rPr>
              <a:t>%10 </a:t>
            </a:r>
            <a:r>
              <a:rPr lang="tr-TR" sz="2000" dirty="0" err="1">
                <a:latin typeface="Aptos"/>
              </a:rPr>
              <a:t>LEL’den</a:t>
            </a:r>
            <a:r>
              <a:rPr lang="tr-TR" sz="2000" dirty="0">
                <a:latin typeface="Aptos"/>
              </a:rPr>
              <a:t> küçük olmalıdır.</a:t>
            </a:r>
          </a:p>
          <a:p>
            <a:r>
              <a:rPr lang="tr-TR" sz="2000" dirty="0">
                <a:latin typeface="Aptos"/>
              </a:rPr>
              <a:t> </a:t>
            </a:r>
          </a:p>
          <a:p>
            <a:r>
              <a:rPr lang="tr-TR" sz="2000" dirty="0">
                <a:latin typeface="Aptos"/>
              </a:rPr>
              <a:t>                           </a:t>
            </a:r>
            <a:r>
              <a:rPr lang="tr-TR" sz="2000" u="sng" dirty="0">
                <a:latin typeface="Aptos"/>
              </a:rPr>
              <a:t>LEL(%)</a:t>
            </a:r>
            <a:r>
              <a:rPr lang="tr-TR" sz="2000" dirty="0">
                <a:latin typeface="Aptos"/>
              </a:rPr>
              <a:t>               </a:t>
            </a:r>
            <a:r>
              <a:rPr lang="tr-TR" sz="2000" u="sng" dirty="0">
                <a:latin typeface="Aptos"/>
              </a:rPr>
              <a:t>UEL(%)</a:t>
            </a:r>
          </a:p>
          <a:p>
            <a:r>
              <a:rPr lang="tr-TR" sz="2000" dirty="0">
                <a:latin typeface="Aptos"/>
              </a:rPr>
              <a:t>Etanol                   3.5                      15</a:t>
            </a:r>
          </a:p>
          <a:p>
            <a:r>
              <a:rPr lang="tr-TR" sz="2000" dirty="0">
                <a:latin typeface="Aptos"/>
              </a:rPr>
              <a:t>Amonyak             15                        28</a:t>
            </a:r>
          </a:p>
          <a:p>
            <a:r>
              <a:rPr lang="tr-TR" sz="2000" dirty="0">
                <a:latin typeface="Aptos"/>
              </a:rPr>
              <a:t>Metan                    5                         15</a:t>
            </a:r>
          </a:p>
          <a:p>
            <a:r>
              <a:rPr lang="tr-TR" sz="2000" dirty="0">
                <a:latin typeface="Aptos"/>
              </a:rPr>
              <a:t>H</a:t>
            </a:r>
            <a:r>
              <a:rPr lang="tr-TR" sz="2000" baseline="-25000" dirty="0">
                <a:latin typeface="Aptos"/>
              </a:rPr>
              <a:t>2</a:t>
            </a:r>
            <a:r>
              <a:rPr lang="tr-TR" sz="2000" dirty="0">
                <a:latin typeface="Aptos"/>
              </a:rPr>
              <a:t>                            4                          76</a:t>
            </a:r>
          </a:p>
          <a:p>
            <a:endParaRPr lang="tr-TR" sz="2000" dirty="0">
              <a:latin typeface="Aptos"/>
            </a:endParaRPr>
          </a:p>
          <a:p>
            <a:r>
              <a:rPr lang="tr-TR" sz="2000" dirty="0">
                <a:latin typeface="Aptos"/>
              </a:rPr>
              <a:t> (</a:t>
            </a:r>
            <a:r>
              <a:rPr lang="tr-TR" sz="2000" b="1" dirty="0">
                <a:latin typeface="Aptos"/>
              </a:rPr>
              <a:t>LEL</a:t>
            </a:r>
            <a:r>
              <a:rPr lang="tr-TR" sz="2000" dirty="0">
                <a:latin typeface="Aptos"/>
              </a:rPr>
              <a:t> : En alt patlama sınırı, </a:t>
            </a:r>
            <a:r>
              <a:rPr lang="tr-TR" sz="2000" b="1" dirty="0">
                <a:latin typeface="Aptos"/>
              </a:rPr>
              <a:t>UEL</a:t>
            </a:r>
            <a:r>
              <a:rPr lang="tr-TR" sz="2000" dirty="0">
                <a:latin typeface="Aptos"/>
              </a:rPr>
              <a:t> : En üst patlama sınırı)</a:t>
            </a:r>
          </a:p>
        </p:txBody>
      </p:sp>
    </p:spTree>
    <p:extLst>
      <p:ext uri="{BB962C8B-B14F-4D97-AF65-F5344CB8AC3E}">
        <p14:creationId xmlns:p14="http://schemas.microsoft.com/office/powerpoint/2010/main" val="29996494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alana girmeden önce yapılması gerekenler</a:t>
            </a:r>
            <a:endParaRPr lang="tr-TR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2378271"/>
            <a:ext cx="10515600" cy="4251960"/>
          </a:xfrm>
        </p:spPr>
        <p:txBody>
          <a:bodyPr>
            <a:normAutofit/>
          </a:bodyPr>
          <a:lstStyle/>
          <a:p>
            <a:r>
              <a:rPr lang="tr-TR" sz="2200" dirty="0">
                <a:latin typeface="Aptos"/>
              </a:rPr>
              <a:t>Kapalı alan boş olduğu zamanlarda </a:t>
            </a:r>
            <a:r>
              <a:rPr lang="tr-TR" sz="2200" b="1" dirty="0">
                <a:latin typeface="Aptos"/>
              </a:rPr>
              <a:t>her girişten önce</a:t>
            </a:r>
            <a:r>
              <a:rPr lang="tr-TR" sz="2200" dirty="0">
                <a:latin typeface="Aptos"/>
              </a:rPr>
              <a:t>,</a:t>
            </a:r>
          </a:p>
          <a:p>
            <a:r>
              <a:rPr lang="tr-TR" sz="2200" dirty="0">
                <a:latin typeface="Aptos"/>
              </a:rPr>
              <a:t>10 dakikalık havalandırma (gerekliyse) </a:t>
            </a:r>
          </a:p>
          <a:p>
            <a:r>
              <a:rPr lang="tr-TR" sz="2200" dirty="0">
                <a:latin typeface="Aptos"/>
              </a:rPr>
              <a:t>periyotlarından sonra,</a:t>
            </a:r>
          </a:p>
          <a:p>
            <a:r>
              <a:rPr lang="tr-TR" sz="2200" b="1" dirty="0">
                <a:latin typeface="Aptos"/>
              </a:rPr>
              <a:t>En az saat başı</a:t>
            </a:r>
            <a:r>
              <a:rPr lang="tr-TR" sz="2200" dirty="0">
                <a:latin typeface="Aptos"/>
              </a:rPr>
              <a:t>,</a:t>
            </a:r>
          </a:p>
          <a:p>
            <a:r>
              <a:rPr lang="tr-TR" sz="2200" b="1" dirty="0">
                <a:latin typeface="Aptos"/>
              </a:rPr>
              <a:t>Şüpheli durumlarda </a:t>
            </a:r>
            <a:r>
              <a:rPr lang="tr-TR" sz="2200" dirty="0">
                <a:latin typeface="Aptos"/>
              </a:rPr>
              <a:t>daha </a:t>
            </a:r>
            <a:r>
              <a:rPr lang="tr-TR" sz="2200" b="1" dirty="0">
                <a:latin typeface="Aptos"/>
              </a:rPr>
              <a:t>sık</a:t>
            </a:r>
            <a:r>
              <a:rPr lang="tr-TR" sz="2200" dirty="0">
                <a:latin typeface="Aptos"/>
              </a:rPr>
              <a:t> olarak testler yapılmalıdır.</a:t>
            </a:r>
          </a:p>
        </p:txBody>
      </p:sp>
    </p:spTree>
    <p:extLst>
      <p:ext uri="{BB962C8B-B14F-4D97-AF65-F5344CB8AC3E}">
        <p14:creationId xmlns:p14="http://schemas.microsoft.com/office/powerpoint/2010/main" val="456774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>
                <a:latin typeface="Aptos"/>
              </a:rPr>
              <a:t>Kapalı alana girmeden önce yapılması gerekenler</a:t>
            </a:r>
            <a:endParaRPr lang="tr-TR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>
                <a:solidFill>
                  <a:srgbClr val="FF0000"/>
                </a:solidFill>
                <a:latin typeface="Aptos"/>
              </a:rPr>
              <a:t>Kapalı alana girişi başlatmak</a:t>
            </a:r>
          </a:p>
          <a:p>
            <a:pPr marL="0" indent="0">
              <a:buNone/>
            </a:pPr>
            <a:endParaRPr lang="tr-TR" sz="2200" dirty="0"/>
          </a:p>
          <a:p>
            <a:r>
              <a:rPr lang="tr-TR" sz="2200" dirty="0">
                <a:latin typeface="Aptos"/>
              </a:rPr>
              <a:t>Gözlemci kapalı alanda çalışma süresince girişe yakın bir yerde beklemelidir. Çalışma devam ederken giriş yapan personelle sürekli iletişim halinde olmalıdır.</a:t>
            </a:r>
          </a:p>
          <a:p>
            <a:r>
              <a:rPr lang="tr-TR" sz="2200" dirty="0">
                <a:latin typeface="Aptos"/>
              </a:rPr>
              <a:t>Tüm gözlemciler kapalı alana giriş-çıkış dokümanlarını girişte ve çıkışta doldurmalıdırlar.</a:t>
            </a:r>
          </a:p>
          <a:p>
            <a:r>
              <a:rPr lang="tr-TR" sz="2200" dirty="0">
                <a:latin typeface="Aptos"/>
              </a:rPr>
              <a:t>Gözlemci çalışma süresince izin ve giriş dokümanlarını saklamalıdır.</a:t>
            </a:r>
          </a:p>
        </p:txBody>
      </p:sp>
    </p:spTree>
    <p:extLst>
      <p:ext uri="{BB962C8B-B14F-4D97-AF65-F5344CB8AC3E}">
        <p14:creationId xmlns:p14="http://schemas.microsoft.com/office/powerpoint/2010/main" val="564366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0" y="-140176"/>
            <a:ext cx="10515600" cy="816561"/>
          </a:xfrm>
        </p:spPr>
        <p:txBody>
          <a:bodyPr>
            <a:normAutofit/>
          </a:bodyPr>
          <a:lstStyle/>
          <a:p>
            <a:pPr algn="ctr"/>
            <a:r>
              <a:rPr lang="tr-TR" sz="2400" b="1" dirty="0">
                <a:solidFill>
                  <a:srgbClr val="FF0000"/>
                </a:solidFill>
                <a:latin typeface="Aptos"/>
              </a:rPr>
              <a:t>Gözlemcinin sorumlulukları</a:t>
            </a:r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243419"/>
              </p:ext>
            </p:extLst>
          </p:nvPr>
        </p:nvGraphicFramePr>
        <p:xfrm>
          <a:off x="0" y="376913"/>
          <a:ext cx="12192000" cy="6481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498">
                  <a:extLst>
                    <a:ext uri="{9D8B030D-6E8A-4147-A177-3AD203B41FA5}">
                      <a16:colId xmlns:a16="http://schemas.microsoft.com/office/drawing/2014/main" val="3652274603"/>
                    </a:ext>
                  </a:extLst>
                </a:gridCol>
                <a:gridCol w="10841502">
                  <a:extLst>
                    <a:ext uri="{9D8B030D-6E8A-4147-A177-3AD203B41FA5}">
                      <a16:colId xmlns:a16="http://schemas.microsoft.com/office/drawing/2014/main" val="2616188071"/>
                    </a:ext>
                  </a:extLst>
                </a:gridCol>
              </a:tblGrid>
              <a:tr h="1605118">
                <a:tc>
                  <a:txBody>
                    <a:bodyPr/>
                    <a:lstStyle/>
                    <a:p>
                      <a:r>
                        <a:rPr lang="tr-TR" sz="1600" b="1" i="0" kern="1200">
                          <a:solidFill>
                            <a:schemeClr val="tx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Çalışma Öncesi</a:t>
                      </a:r>
                      <a:endParaRPr lang="tr-TR" sz="160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Kapalı alanda yapılacak işin izin formunu ve risk değerlendirmesini incelemek.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Çalışmaya başlamadan önce gerekli önlemlerin (havalandırma, gaz ölçümü, KKD kullanımı vb.) alındığını kontrol etmek.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İletişim araçlarının (telsiz, sesli sistem vb.) çalışır durumda olduğundan emin olmak.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Kurtarma ekipmanlarının (tripod, halat, vinç, sedye vb.) hazır ve erişilebilir olduğunu doğrulamak.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09448"/>
                  </a:ext>
                </a:extLst>
              </a:tr>
              <a:tr h="2091967">
                <a:tc>
                  <a:txBody>
                    <a:bodyPr/>
                    <a:lstStyle/>
                    <a:p>
                      <a:r>
                        <a:rPr lang="tr-TR" sz="1600" b="1" i="0" kern="120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Çalışma Sırasında</a:t>
                      </a:r>
                      <a:endParaRPr lang="tr-TR" sz="16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Kapalı alana giren çalışanlarla </a:t>
                      </a:r>
                      <a:r>
                        <a:rPr lang="tr-TR" b="1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sürekli iletişim</a:t>
                      </a: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 halinde olmak.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Çalışanların sayısını ve içerideki kişilerin kim olduğunu sürekli takip etmek.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Ortam koşullarını (gaz ölçüm sonuçları, havalandırma, sıcaklık vb.) düzenli aralıklarla kontrol etmek.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Çalışma sırasında </a:t>
                      </a:r>
                      <a:r>
                        <a:rPr lang="tr-TR" b="1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kapalı alan girişini gözetimsiz bırakmamak</a:t>
                      </a: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Herhangi bir tehlike belirtisi (bilinç kaybı, gaz alarmı, iletişim kesilmesi vb.) fark ettiğinde derhal </a:t>
                      </a:r>
                      <a:r>
                        <a:rPr lang="tr-TR" b="1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çalışmayı durdurmak</a:t>
                      </a: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 ve acil durum prosedürünü başlatmak.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262079"/>
                  </a:ext>
                </a:extLst>
              </a:tr>
              <a:tr h="1351678">
                <a:tc>
                  <a:txBody>
                    <a:bodyPr/>
                    <a:lstStyle/>
                    <a:p>
                      <a:r>
                        <a:rPr lang="tr-TR" sz="1600" b="1" i="0" kern="120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Acil Durumlarda</a:t>
                      </a:r>
                      <a:endParaRPr lang="tr-TR" sz="16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Kendi güvenliğini tehlikeye atmadan, eğitimli olduğu ölçüde kurtarma ekipmanlarını kullanarak tahliye sürecini başlatmak.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İlk yardım ekibini ve işyeri acil durum ekibini haberdar etmek.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Olayla ilgili bilgileri (zaman, neden, içerideki kişi sayısı vb.) doğru şekilde iletmek.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2686"/>
                  </a:ext>
                </a:extLst>
              </a:tr>
              <a:tr h="1098239">
                <a:tc>
                  <a:txBody>
                    <a:bodyPr/>
                    <a:lstStyle/>
                    <a:p>
                      <a:r>
                        <a:rPr lang="tr-TR" sz="1600" b="1" i="0" kern="120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Çalışma Sonrası </a:t>
                      </a:r>
                      <a:endParaRPr lang="tr-TR" sz="16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Çalışma tamamlandığında içeride kimsenin kalmadığını kontrol etmek.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Kullanılan ekipmanların toplanmasını ve alanın güvenli hale getirilmesini sağlamak.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Çalışma izin formunun kapatılması sürecine katkıda bulunmak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61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8316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7033F-B9CF-9FD7-A407-DB4898EB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564BBF-B768-777A-F70E-74C4C5E20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3D2DF179-31DE-BF0C-7E47-9076D2297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000" b="1" dirty="0">
                <a:latin typeface="Aptos"/>
              </a:rPr>
              <a:t>Kaza örnekleri</a:t>
            </a:r>
            <a:endParaRPr lang="tr-TR" sz="4200" b="1" dirty="0">
              <a:latin typeface="Apto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BF2309EB-EE8E-134A-070B-159EC49D3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515457D-260A-0882-6F8E-D58AB20F9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418" y="2240915"/>
            <a:ext cx="10515600" cy="4251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400" b="1" dirty="0">
                <a:solidFill>
                  <a:srgbClr val="FF0000"/>
                </a:solidFill>
                <a:latin typeface="Aptos"/>
              </a:rPr>
              <a:t>Atık su arıtma tesisinde çamur tankında temizlik ve bakım</a:t>
            </a:r>
          </a:p>
          <a:p>
            <a:pPr marL="0" indent="0">
              <a:buNone/>
            </a:pPr>
            <a:endParaRPr lang="tr-TR" sz="2400" b="1" dirty="0">
              <a:solidFill>
                <a:srgbClr val="FF0000"/>
              </a:solidFill>
              <a:latin typeface="Aptos"/>
            </a:endParaRP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İki işçi tankın iç yüzeyini temizlemek için kapalı alana girer. </a:t>
            </a: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Gözlemci, gaz ölçüm cihazının kalibrasyonunun yapılmadığını fark etmez. </a:t>
            </a: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Çalışma başladıktan kısa süre sonra içerideki işçilerden biri baş dönmesi ve nefes darlığı yaşar, ardından bayılır. </a:t>
            </a: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Diğer işçi yardım etmeye çalışırken o da etkilenir. </a:t>
            </a: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Gözlemci, içeriden ses gelmediğini fark edip alarm verir. </a:t>
            </a: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Kurtarma ekibi tripod sistemiyle işçileri çıkarır. </a:t>
            </a:r>
          </a:p>
          <a:p>
            <a:endParaRPr lang="tr-TR" sz="2400" b="1" dirty="0">
              <a:solidFill>
                <a:srgbClr val="0F1015"/>
              </a:solidFill>
              <a:latin typeface="Aptos"/>
            </a:endParaRPr>
          </a:p>
          <a:p>
            <a:pPr marL="0" lvl="0" indent="0">
              <a:buNone/>
            </a:pPr>
            <a:r>
              <a:rPr lang="tr-TR" sz="2400" b="1" dirty="0">
                <a:latin typeface="Aptos"/>
              </a:rPr>
              <a:t>Sonuç:</a:t>
            </a:r>
            <a:r>
              <a:rPr lang="tr-TR" sz="2400" dirty="0">
                <a:latin typeface="Aptos"/>
              </a:rPr>
              <a:t> </a:t>
            </a:r>
            <a:r>
              <a:rPr lang="tr-TR" sz="2400" dirty="0">
                <a:solidFill>
                  <a:srgbClr val="0F1015"/>
                </a:solidFill>
                <a:latin typeface="Aptos"/>
              </a:rPr>
              <a:t>Bir işçi hafif zehirlenme, diğeri bilinç kaybı yaşar.</a:t>
            </a:r>
            <a:endParaRPr lang="tr-TR" sz="2400" dirty="0">
              <a:solidFill>
                <a:prstClr val="black"/>
              </a:solidFill>
              <a:latin typeface="Aptos"/>
            </a:endParaRPr>
          </a:p>
          <a:p>
            <a:pPr marL="0" indent="0">
              <a:buClr>
                <a:srgbClr val="C00000"/>
              </a:buClr>
              <a:buNone/>
            </a:pPr>
            <a:endParaRPr lang="tr-TR" sz="2200" dirty="0">
              <a:latin typeface="Aptos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06E8341-3256-D420-7F1A-796FE5F6E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96" y="4437678"/>
            <a:ext cx="4389500" cy="242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72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Kaza örnekleri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200" b="1" dirty="0" err="1">
                <a:solidFill>
                  <a:srgbClr val="FF0000"/>
                </a:solidFill>
                <a:latin typeface="Aptos"/>
              </a:rPr>
              <a:t>Toluen</a:t>
            </a:r>
            <a:r>
              <a:rPr lang="tr-TR" sz="2200" b="1" dirty="0">
                <a:solidFill>
                  <a:srgbClr val="FF0000"/>
                </a:solidFill>
                <a:latin typeface="Aptos"/>
              </a:rPr>
              <a:t> içeren tankta temizlik çalışması</a:t>
            </a:r>
          </a:p>
          <a:p>
            <a:pPr marL="0" indent="0">
              <a:buNone/>
            </a:pPr>
            <a:endParaRPr lang="tr-TR" sz="2200" dirty="0">
              <a:solidFill>
                <a:srgbClr val="C00000"/>
              </a:solidFill>
              <a:latin typeface="Aptos"/>
            </a:endParaRPr>
          </a:p>
          <a:p>
            <a:r>
              <a:rPr lang="tr-TR" sz="2200" dirty="0">
                <a:latin typeface="Aptos"/>
              </a:rPr>
              <a:t>Eleman 45 m</a:t>
            </a:r>
            <a:r>
              <a:rPr lang="tr-TR" sz="2200" baseline="30000" dirty="0">
                <a:latin typeface="Aptos"/>
              </a:rPr>
              <a:t>3</a:t>
            </a:r>
            <a:r>
              <a:rPr lang="tr-TR" sz="2200" dirty="0">
                <a:latin typeface="Aptos"/>
              </a:rPr>
              <a:t> lük </a:t>
            </a:r>
            <a:r>
              <a:rPr lang="tr-TR" sz="2200" dirty="0" err="1">
                <a:latin typeface="Aptos"/>
              </a:rPr>
              <a:t>Toluen</a:t>
            </a:r>
            <a:r>
              <a:rPr lang="tr-TR" sz="2200" dirty="0">
                <a:latin typeface="Aptos"/>
              </a:rPr>
              <a:t> içeren tankı temizlemekle görevlendiriliyor.</a:t>
            </a:r>
          </a:p>
          <a:p>
            <a:r>
              <a:rPr lang="tr-TR" sz="2200" dirty="0">
                <a:latin typeface="Aptos"/>
              </a:rPr>
              <a:t>Tankın boyutları: 6m yükseklik, 3m çap.</a:t>
            </a:r>
          </a:p>
          <a:p>
            <a:r>
              <a:rPr lang="tr-TR" sz="2200" dirty="0">
                <a:latin typeface="Aptos"/>
              </a:rPr>
              <a:t>İçeride kalan gazın boşalıp boşalmadığı kontrol edilmiyor ve oksijen ölçülmüyor. Eleman 40 cm çapındaki üst kapaktan iple aşağı iniyor.</a:t>
            </a:r>
          </a:p>
          <a:p>
            <a:r>
              <a:rPr lang="tr-TR" sz="2200" dirty="0">
                <a:latin typeface="Aptos"/>
              </a:rPr>
              <a:t>Solunum cihazı olmasına rağmen eleman tarafından takılmıyor</a:t>
            </a:r>
          </a:p>
          <a:p>
            <a:r>
              <a:rPr lang="tr-TR" sz="2200" dirty="0">
                <a:latin typeface="Aptos"/>
              </a:rPr>
              <a:t>Yetersiz oksijen sebebiyle eleman tankın dibinde yere yığılıyor.</a:t>
            </a:r>
          </a:p>
          <a:p>
            <a:r>
              <a:rPr lang="tr-TR" sz="2200" dirty="0">
                <a:latin typeface="Aptos"/>
              </a:rPr>
              <a:t>Çağrılan kurtarma ekibi tankın yanından delik açmaya çalışırken tank patlıyor. 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b="1" dirty="0">
                <a:latin typeface="Aptos"/>
              </a:rPr>
              <a:t>Sonuç</a:t>
            </a:r>
            <a:r>
              <a:rPr lang="tr-TR" sz="2200" dirty="0">
                <a:latin typeface="Aptos"/>
              </a:rPr>
              <a:t>: İçeriye giren eleman ve kurtarma ekibinin bir elemanı ölüyor, 15 yaralı !</a:t>
            </a:r>
          </a:p>
        </p:txBody>
      </p:sp>
    </p:spTree>
    <p:extLst>
      <p:ext uri="{BB962C8B-B14F-4D97-AF65-F5344CB8AC3E}">
        <p14:creationId xmlns:p14="http://schemas.microsoft.com/office/powerpoint/2010/main" val="875832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Kaza örnekleri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Atıksu arıtma tesisinde rögar hattı bakımı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r>
              <a:rPr lang="tr-TR" sz="2200" dirty="0">
                <a:latin typeface="Aptos"/>
              </a:rPr>
              <a:t>Bakım ekibi gaz ölçümü yapmadan rögar kapağını açar.</a:t>
            </a:r>
          </a:p>
          <a:p>
            <a:r>
              <a:rPr lang="tr-TR" sz="2200" dirty="0">
                <a:latin typeface="Aptos"/>
              </a:rPr>
              <a:t>Bir çalışan hızlı kontrol için içeri iner.</a:t>
            </a:r>
          </a:p>
          <a:p>
            <a:r>
              <a:rPr lang="tr-TR" sz="2200" dirty="0">
                <a:latin typeface="Aptos"/>
              </a:rPr>
              <a:t>1–2 dakika içinde bilinç kaybı yaşar.</a:t>
            </a:r>
          </a:p>
          <a:p>
            <a:r>
              <a:rPr lang="tr-TR" sz="2200" dirty="0">
                <a:latin typeface="Aptos"/>
              </a:rPr>
              <a:t>Üstteki çalışan “kurtarmak” için içeri girer.</a:t>
            </a:r>
          </a:p>
          <a:p>
            <a:r>
              <a:rPr lang="tr-TR" sz="2200" dirty="0">
                <a:latin typeface="Aptos"/>
              </a:rPr>
              <a:t>O da kısa sürede etkilenir.</a:t>
            </a:r>
          </a:p>
          <a:p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b="1" dirty="0">
                <a:latin typeface="Aptos"/>
              </a:rPr>
              <a:t>Sonuç:</a:t>
            </a:r>
            <a:r>
              <a:rPr lang="tr-TR" sz="2200" dirty="0">
                <a:latin typeface="Aptos"/>
              </a:rPr>
              <a:t> 2 ölüm (</a:t>
            </a:r>
            <a:r>
              <a:rPr lang="tr-TR" sz="2200" u="sng" dirty="0">
                <a:latin typeface="Aptos"/>
              </a:rPr>
              <a:t>Kapalı alan ölümlerinin önemli kısmı kurtarma sırasında olur</a:t>
            </a:r>
            <a:r>
              <a:rPr lang="tr-TR" sz="2200" dirty="0">
                <a:latin typeface="Apto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17838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Kazaya sebep olabilecek hatalar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83971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 panose="020B0004020202020204"/>
              </a:rPr>
              <a:t>Gaz ölçümlerinin yanlış yerden yapılması (CO</a:t>
            </a:r>
            <a:r>
              <a:rPr lang="tr-TR" sz="2200" baseline="-25000" dirty="0">
                <a:latin typeface="Aptos"/>
              </a:rPr>
              <a:t>2</a:t>
            </a:r>
            <a:r>
              <a:rPr lang="tr-TR" sz="2200" dirty="0">
                <a:latin typeface="Aptos"/>
              </a:rPr>
              <a:t> ve CH</a:t>
            </a:r>
            <a:r>
              <a:rPr lang="tr-TR" sz="2200" baseline="-25000" dirty="0">
                <a:latin typeface="Aptos"/>
              </a:rPr>
              <a:t>4</a:t>
            </a:r>
            <a:r>
              <a:rPr lang="tr-TR" sz="2200" dirty="0">
                <a:latin typeface="Aptos"/>
              </a:rPr>
              <a:t>),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    </a:t>
            </a:r>
            <a:r>
              <a:rPr lang="tr-TR" sz="2400" dirty="0"/>
              <a:t>İşçilerin daima doğrudan vücutlarının üzerinde bir mobil gaz ölçüm cihazı taşımaları bu bakımdan önemlidir.</a:t>
            </a:r>
            <a:endParaRPr lang="tr-TR" sz="22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Ortamda hatalı ya da yanlış sensörlerin kullanılması,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/>
              <a:t>Kurtarma çalışmalarında, dikkatlice durum değerlendirmesi yapılmadan ezbere hareket edilmesi,</a:t>
            </a:r>
          </a:p>
          <a:p>
            <a:pPr marL="0" indent="0">
              <a:buNone/>
            </a:pPr>
            <a:r>
              <a:rPr lang="tr-TR" sz="2400" dirty="0"/>
              <a:t>       Berkeley Üniversitesi, California/ABD tarafından yapılan bir çalışmaya göre en yüksek kaza oranlarına sahip durumlar şu şekildedir: </a:t>
            </a:r>
          </a:p>
          <a:p>
            <a:pPr marL="0" indent="0">
              <a:buNone/>
            </a:pPr>
            <a:r>
              <a:rPr lang="tr-TR" sz="2400" dirty="0"/>
              <a:t>       Onarım ve bakım işi (kayıtlı vakaların % 24'ü), </a:t>
            </a:r>
          </a:p>
          <a:p>
            <a:pPr marL="0" indent="0">
              <a:buNone/>
            </a:pPr>
            <a:r>
              <a:rPr lang="tr-TR" sz="2400" dirty="0"/>
              <a:t>       Temizlik işi (% 12) </a:t>
            </a:r>
          </a:p>
          <a:p>
            <a:pPr marL="0" indent="0">
              <a:buNone/>
            </a:pPr>
            <a:r>
              <a:rPr lang="tr-TR" sz="2400" dirty="0"/>
              <a:t>       Kontroller (% 11)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dirty="0">
                <a:latin typeface="Aptos"/>
              </a:rPr>
              <a:t>https://www.youtube.com/watch?v=ldvl0nGnz0E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72361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F9B77E4691661743A660FF05B7F04230" ma:contentTypeVersion="7" ma:contentTypeDescription="Yeni belge oluşturun." ma:contentTypeScope="" ma:versionID="9d32d04d70d6d9baea567697068c4d4e">
  <xsd:schema xmlns:xsd="http://www.w3.org/2001/XMLSchema" xmlns:xs="http://www.w3.org/2001/XMLSchema" xmlns:p="http://schemas.microsoft.com/office/2006/metadata/properties" xmlns:ns2="cdf1b71d-17dc-43d1-a227-ce462ff3c2cb" targetNamespace="http://schemas.microsoft.com/office/2006/metadata/properties" ma:root="true" ma:fieldsID="5597c3ccb989186d08c174c65806cc46" ns2:_="">
    <xsd:import namespace="cdf1b71d-17dc-43d1-a227-ce462ff3c2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f1b71d-17dc-43d1-a227-ce462ff3c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ED8B68-D573-47B0-B847-7DE0D94C4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DADA12-B02B-4C8E-BFF7-C5CF84148E4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567E106-0743-4341-99EA-B7771A8F99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f1b71d-17dc-43d1-a227-ce462ff3c2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1108</TotalTime>
  <Words>2320</Words>
  <Application>Microsoft Office PowerPoint</Application>
  <PresentationFormat>Widescreen</PresentationFormat>
  <Paragraphs>321</Paragraphs>
  <Slides>36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Teması</vt:lpstr>
      <vt:lpstr>PowerPoint Presentation</vt:lpstr>
      <vt:lpstr>Dersin İçeriği</vt:lpstr>
      <vt:lpstr>Kapalı Alanlarda Çalışmalarda İSG</vt:lpstr>
      <vt:lpstr>Kapalı alanlar</vt:lpstr>
      <vt:lpstr>Kapalı alanlarda çalışma ile ilgili mevzuatlar</vt:lpstr>
      <vt:lpstr>Kapalı alanlarda kazaların başlıca sebepleri</vt:lpstr>
      <vt:lpstr>Kapalı ortamdaki tehlikeler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PowerPoint Presentation</vt:lpstr>
      <vt:lpstr>Kapalı alanlarda çalışan personelin donanımı</vt:lpstr>
      <vt:lpstr>Kapalı alanlarda çalışan personelin donanımı</vt:lpstr>
      <vt:lpstr>Kapalı alanlarda çalışan personelin donanımı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Gözlemcinin sorumlulukları</vt:lpstr>
      <vt:lpstr>Kaza örnekleri</vt:lpstr>
      <vt:lpstr>Kaza örnekleri</vt:lpstr>
      <vt:lpstr>Kaza örnekleri</vt:lpstr>
      <vt:lpstr>Kazaya sebep olabilecek hatalar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Beyza samuk</dc:creator>
  <cp:lastModifiedBy>Beyza samuk</cp:lastModifiedBy>
  <cp:revision>63</cp:revision>
  <dcterms:created xsi:type="dcterms:W3CDTF">2026-02-04T08:54:19Z</dcterms:created>
  <dcterms:modified xsi:type="dcterms:W3CDTF">2026-04-04T22:15:46Z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0x010100F9B77E4691661743A660FF05B7F04230</vt:lpwstr>
  </property>
</Properties>
</file>