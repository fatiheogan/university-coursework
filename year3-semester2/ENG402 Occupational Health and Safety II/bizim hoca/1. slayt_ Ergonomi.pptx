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56" r:id="rId5"/>
    <p:sldId id="258" r:id="rId6"/>
    <p:sldId id="266" r:id="rId7"/>
    <p:sldId id="257" r:id="rId8"/>
    <p:sldId id="259" r:id="rId9"/>
    <p:sldId id="260" r:id="rId10"/>
    <p:sldId id="261" r:id="rId11"/>
    <p:sldId id="298" r:id="rId12"/>
    <p:sldId id="262" r:id="rId13"/>
    <p:sldId id="264" r:id="rId14"/>
    <p:sldId id="275" r:id="rId15"/>
    <p:sldId id="296" r:id="rId16"/>
    <p:sldId id="265" r:id="rId17"/>
    <p:sldId id="267" r:id="rId18"/>
    <p:sldId id="268" r:id="rId19"/>
    <p:sldId id="269" r:id="rId20"/>
    <p:sldId id="270" r:id="rId21"/>
    <p:sldId id="271" r:id="rId22"/>
    <p:sldId id="273" r:id="rId23"/>
    <p:sldId id="274" r:id="rId24"/>
    <p:sldId id="276" r:id="rId25"/>
    <p:sldId id="272" r:id="rId26"/>
    <p:sldId id="277" r:id="rId27"/>
    <p:sldId id="300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9" r:id="rId36"/>
    <p:sldId id="288" r:id="rId37"/>
    <p:sldId id="287" r:id="rId38"/>
    <p:sldId id="286" r:id="rId39"/>
    <p:sldId id="285" r:id="rId40"/>
    <p:sldId id="290" r:id="rId41"/>
    <p:sldId id="291" r:id="rId42"/>
    <p:sldId id="292" r:id="rId43"/>
    <p:sldId id="293" r:id="rId44"/>
    <p:sldId id="294" r:id="rId45"/>
    <p:sldId id="263" r:id="rId46"/>
    <p:sldId id="295" r:id="rId47"/>
    <p:sldId id="297" r:id="rId4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F7005-69B1-B134-4EC3-FE8D0F62FBB3}" v="2" dt="2026-04-06T14:54:23.323"/>
    <p1510:client id="{A7AFC9A6-8146-96F3-B894-A48671B04F0B}" v="2" dt="2026-04-07T05:39:09.850"/>
    <p1510:client id="{A902E3B1-9571-9006-DD85-C283AA8C2BA0}" v="2" dt="2026-04-05T17:52:43.809"/>
    <p1510:client id="{AB5D9D03-B373-1EC7-D6F0-E1C0B5F69124}" v="7" dt="2026-04-07T10:56:56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PEREN ÇINKI" userId="S::a.cinki2023@gtu.edu.tr::92be342b-2cfc-4d89-9e33-efd5063c3bd4" providerId="AD" clId="Web-{19EF7005-69B1-B134-4EC3-FE8D0F62FBB3}"/>
    <pc:docChg chg="sldOrd">
      <pc:chgData name="ALPEREN ÇINKI" userId="S::a.cinki2023@gtu.edu.tr::92be342b-2cfc-4d89-9e33-efd5063c3bd4" providerId="AD" clId="Web-{19EF7005-69B1-B134-4EC3-FE8D0F62FBB3}" dt="2026-04-06T14:54:23.323" v="1"/>
      <pc:docMkLst>
        <pc:docMk/>
      </pc:docMkLst>
      <pc:sldChg chg="ord">
        <pc:chgData name="ALPEREN ÇINKI" userId="S::a.cinki2023@gtu.edu.tr::92be342b-2cfc-4d89-9e33-efd5063c3bd4" providerId="AD" clId="Web-{19EF7005-69B1-B134-4EC3-FE8D0F62FBB3}" dt="2026-04-06T14:54:23.323" v="1"/>
        <pc:sldMkLst>
          <pc:docMk/>
          <pc:sldMk cId="3051437217" sldId="256"/>
        </pc:sldMkLst>
      </pc:sldChg>
    </pc:docChg>
  </pc:docChgLst>
  <pc:docChgLst>
    <pc:chgData name="MUSTAFA ADİL ÖZBEKÇİ" userId="S::m.ozbekci2023@gtu.edu.tr::4cbc7c19-1e1b-47b1-8061-52b3c4d44d65" providerId="AD" clId="Web-{AB5D9D03-B373-1EC7-D6F0-E1C0B5F69124}"/>
    <pc:docChg chg="modSld">
      <pc:chgData name="MUSTAFA ADİL ÖZBEKÇİ" userId="S::m.ozbekci2023@gtu.edu.tr::4cbc7c19-1e1b-47b1-8061-52b3c4d44d65" providerId="AD" clId="Web-{AB5D9D03-B373-1EC7-D6F0-E1C0B5F69124}" dt="2026-04-07T09:25:01.774" v="3" actId="1076"/>
      <pc:docMkLst>
        <pc:docMk/>
      </pc:docMkLst>
      <pc:sldChg chg="modSp">
        <pc:chgData name="MUSTAFA ADİL ÖZBEKÇİ" userId="S::m.ozbekci2023@gtu.edu.tr::4cbc7c19-1e1b-47b1-8061-52b3c4d44d65" providerId="AD" clId="Web-{AB5D9D03-B373-1EC7-D6F0-E1C0B5F69124}" dt="2026-04-07T09:25:01.774" v="3" actId="1076"/>
        <pc:sldMkLst>
          <pc:docMk/>
          <pc:sldMk cId="2954119845" sldId="264"/>
        </pc:sldMkLst>
        <pc:spChg chg="mod">
          <ac:chgData name="MUSTAFA ADİL ÖZBEKÇİ" userId="S::m.ozbekci2023@gtu.edu.tr::4cbc7c19-1e1b-47b1-8061-52b3c4d44d65" providerId="AD" clId="Web-{AB5D9D03-B373-1EC7-D6F0-E1C0B5F69124}" dt="2026-04-07T09:22:00.803" v="1" actId="14100"/>
          <ac:spMkLst>
            <pc:docMk/>
            <pc:sldMk cId="2954119845" sldId="264"/>
            <ac:spMk id="2" creationId="{00000000-0000-0000-0000-000000000000}"/>
          </ac:spMkLst>
        </pc:spChg>
        <pc:spChg chg="mod">
          <ac:chgData name="MUSTAFA ADİL ÖZBEKÇİ" userId="S::m.ozbekci2023@gtu.edu.tr::4cbc7c19-1e1b-47b1-8061-52b3c4d44d65" providerId="AD" clId="Web-{AB5D9D03-B373-1EC7-D6F0-E1C0B5F69124}" dt="2026-04-07T09:25:01.774" v="3" actId="1076"/>
          <ac:spMkLst>
            <pc:docMk/>
            <pc:sldMk cId="2954119845" sldId="264"/>
            <ac:spMk id="3" creationId="{00000000-0000-0000-0000-000000000000}"/>
          </ac:spMkLst>
        </pc:spChg>
      </pc:sldChg>
    </pc:docChg>
  </pc:docChgLst>
  <pc:docChgLst>
    <pc:chgData name="CANSU DÜZGÜN" userId="S::c.duzgun2024@gtu.edu.tr::6d9d9bbe-456a-45cd-a1d8-8d189568ce4f" providerId="AD" clId="Web-{FCC1C374-A1AA-CF2F-753E-B6CCA58D4B0D}"/>
    <pc:docChg chg="modSld">
      <pc:chgData name="CANSU DÜZGÜN" userId="S::c.duzgun2024@gtu.edu.tr::6d9d9bbe-456a-45cd-a1d8-8d189568ce4f" providerId="AD" clId="Web-{FCC1C374-A1AA-CF2F-753E-B6CCA58D4B0D}" dt="2026-03-15T09:15:01.598" v="0"/>
      <pc:docMkLst>
        <pc:docMk/>
      </pc:docMkLst>
      <pc:sldChg chg="delSp">
        <pc:chgData name="CANSU DÜZGÜN" userId="S::c.duzgun2024@gtu.edu.tr::6d9d9bbe-456a-45cd-a1d8-8d189568ce4f" providerId="AD" clId="Web-{FCC1C374-A1AA-CF2F-753E-B6CCA58D4B0D}" dt="2026-03-15T09:15:01.598" v="0"/>
        <pc:sldMkLst>
          <pc:docMk/>
          <pc:sldMk cId="1567532442" sldId="265"/>
        </pc:sldMkLst>
      </pc:sldChg>
    </pc:docChg>
  </pc:docChgLst>
  <pc:docChgLst>
    <pc:chgData name="ALTAN BERDAN TAŞÇIOĞLU" userId="S::a.tascioglu2023@gtu.edu.tr::855deb0c-49eb-47f6-b01b-8318c18d79e8" providerId="AD" clId="Web-{A902E3B1-9571-9006-DD85-C283AA8C2BA0}"/>
    <pc:docChg chg="sldOrd">
      <pc:chgData name="ALTAN BERDAN TAŞÇIOĞLU" userId="S::a.tascioglu2023@gtu.edu.tr::855deb0c-49eb-47f6-b01b-8318c18d79e8" providerId="AD" clId="Web-{A902E3B1-9571-9006-DD85-C283AA8C2BA0}" dt="2026-04-05T17:52:43.809" v="1"/>
      <pc:docMkLst>
        <pc:docMk/>
      </pc:docMkLst>
      <pc:sldChg chg="ord">
        <pc:chgData name="ALTAN BERDAN TAŞÇIOĞLU" userId="S::a.tascioglu2023@gtu.edu.tr::855deb0c-49eb-47f6-b01b-8318c18d79e8" providerId="AD" clId="Web-{A902E3B1-9571-9006-DD85-C283AA8C2BA0}" dt="2026-04-05T17:52:43.809" v="1"/>
        <pc:sldMkLst>
          <pc:docMk/>
          <pc:sldMk cId="3915740964" sldId="258"/>
        </pc:sldMkLst>
      </pc:sldChg>
      <pc:sldChg chg="ord">
        <pc:chgData name="ALTAN BERDAN TAŞÇIOĞLU" userId="S::a.tascioglu2023@gtu.edu.tr::855deb0c-49eb-47f6-b01b-8318c18d79e8" providerId="AD" clId="Web-{A902E3B1-9571-9006-DD85-C283AA8C2BA0}" dt="2026-04-05T17:52:37.042" v="0"/>
        <pc:sldMkLst>
          <pc:docMk/>
          <pc:sldMk cId="1667001422" sldId="266"/>
        </pc:sldMkLst>
      </pc:sldChg>
    </pc:docChg>
  </pc:docChgLst>
  <pc:docChgLst>
    <pc:chgData name="FURKAN NURİ CANIPEK" userId="S::f.canipek2022@gtu.edu.tr::f3198797-0bc8-43c9-bf01-319ab4070579" providerId="AD" clId="Web-{A7AFC9A6-8146-96F3-B894-A48671B04F0B}"/>
    <pc:docChg chg="addSld delSld">
      <pc:chgData name="FURKAN NURİ CANIPEK" userId="S::f.canipek2022@gtu.edu.tr::f3198797-0bc8-43c9-bf01-319ab4070579" providerId="AD" clId="Web-{A7AFC9A6-8146-96F3-B894-A48671B04F0B}" dt="2026-04-07T05:39:09.850" v="1"/>
      <pc:docMkLst>
        <pc:docMk/>
      </pc:docMkLst>
      <pc:sldChg chg="new del">
        <pc:chgData name="FURKAN NURİ CANIPEK" userId="S::f.canipek2022@gtu.edu.tr::f3198797-0bc8-43c9-bf01-319ab4070579" providerId="AD" clId="Web-{A7AFC9A6-8146-96F3-B894-A48671B04F0B}" dt="2026-04-07T05:39:09.850" v="1"/>
        <pc:sldMkLst>
          <pc:docMk/>
          <pc:sldMk cId="1871914162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94627-325D-4432-984E-BFB4DCA84572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986FF-6CB7-4D76-B983-78B837BCB6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633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986FF-6CB7-4D76-B983-78B837BCB6CE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1327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sz="1200" b="1" i="0" u="none" strike="noStrike" baseline="0">
                <a:solidFill>
                  <a:srgbClr val="000000"/>
                </a:solidFill>
                <a:latin typeface="TimesNewRomanPS-BoldMT"/>
              </a:rPr>
              <a:t>Ortalama değere </a:t>
            </a:r>
            <a:r>
              <a:rPr lang="tr-TR" sz="1200" b="1" i="0" u="none" strike="noStrike" baseline="0">
                <a:solidFill>
                  <a:srgbClr val="0070C1"/>
                </a:solidFill>
                <a:latin typeface="TimesNewRomanPS-BoldMT"/>
              </a:rPr>
              <a:t>(%50;medyan) </a:t>
            </a:r>
            <a:r>
              <a:rPr lang="tr-TR" sz="1200" b="1" i="0" u="none" strike="noStrike" baseline="0">
                <a:solidFill>
                  <a:srgbClr val="000000"/>
                </a:solidFill>
                <a:latin typeface="TimesNewRomanPS-BoldMT"/>
              </a:rPr>
              <a:t>göre yapılan tasarımlar </a:t>
            </a:r>
            <a:r>
              <a:rPr lang="tr-TR" sz="1200" b="1" i="0" u="none" strike="noStrike" baseline="0">
                <a:solidFill>
                  <a:srgbClr val="FF0000"/>
                </a:solidFill>
                <a:latin typeface="TimesNewRomanPS-BoldMT"/>
              </a:rPr>
              <a:t>düşünüldüğünün aksine olarak büyük bir kullanıcı kitlesini karşılamamaktadır</a:t>
            </a:r>
            <a:r>
              <a:rPr lang="tr-TR" sz="1200" b="1" i="0" u="none" strike="noStrike" baseline="0">
                <a:solidFill>
                  <a:srgbClr val="000000"/>
                </a:solidFill>
                <a:latin typeface="TimesNewRomanPS-BoldMT"/>
              </a:rPr>
              <a:t>. Buna rağmen bazı eşya ve araç gereçlerin tasarımında ortalama değere göre boyutlandırma yapılmaktadır. Örneğin; </a:t>
            </a:r>
            <a:r>
              <a:rPr lang="tr-TR" sz="1200" b="1" i="0" u="none" strike="noStrike" baseline="0">
                <a:solidFill>
                  <a:srgbClr val="FF0000"/>
                </a:solidFill>
                <a:latin typeface="TimesNewRomanPS-BoldMT"/>
              </a:rPr>
              <a:t>kazak, çorap ve eldiven gibi giysiler</a:t>
            </a:r>
            <a:r>
              <a:rPr lang="tr-TR" sz="1200" b="1" i="0" u="none" strike="noStrike" baseline="0">
                <a:solidFill>
                  <a:srgbClr val="000000"/>
                </a:solidFill>
                <a:latin typeface="TimesNewRomanPS-BoldMT"/>
              </a:rPr>
              <a:t>, ortalama değerlere göre yapılmaktadır.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986FF-6CB7-4D76-B983-78B837BCB6CE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7247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986FF-6CB7-4D76-B983-78B837BCB6CE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224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180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243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551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14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238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519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771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136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141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2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537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77E4E-CA70-4AD0-8DE4-E0D3CD3015E4}" type="datetimeFigureOut">
              <a:rPr lang="tr-TR" smtClean="0"/>
              <a:t>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37236-0F98-43EE-B268-4DE651F3B7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33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3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>
                <a:latin typeface="Aptos"/>
              </a:rPr>
              <a:t>Ergonomi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>
                <a:latin typeface="Aptos"/>
              </a:rPr>
              <a:t>Ergonomi yunanca bir sözcük olup;</a:t>
            </a:r>
          </a:p>
          <a:p>
            <a:pPr marL="0" indent="0">
              <a:buNone/>
            </a:pPr>
            <a:endParaRPr lang="tr-TR">
              <a:latin typeface="Aptos"/>
            </a:endParaRPr>
          </a:p>
          <a:p>
            <a:pPr marL="0" indent="0">
              <a:buNone/>
            </a:pPr>
            <a:r>
              <a:rPr lang="tr-TR">
                <a:latin typeface="Aptos"/>
              </a:rPr>
              <a:t>      </a:t>
            </a:r>
            <a:r>
              <a:rPr lang="tr-TR" err="1">
                <a:latin typeface="Aptos"/>
              </a:rPr>
              <a:t>Ergos</a:t>
            </a:r>
            <a:r>
              <a:rPr lang="tr-TR">
                <a:latin typeface="Aptos"/>
              </a:rPr>
              <a:t>: İş, çalışma</a:t>
            </a:r>
          </a:p>
          <a:p>
            <a:pPr marL="0" indent="0">
              <a:buNone/>
            </a:pPr>
            <a:r>
              <a:rPr lang="tr-TR">
                <a:latin typeface="Aptos"/>
              </a:rPr>
              <a:t>      </a:t>
            </a:r>
            <a:r>
              <a:rPr lang="tr-TR" err="1">
                <a:latin typeface="Aptos"/>
              </a:rPr>
              <a:t>Nomos</a:t>
            </a:r>
            <a:r>
              <a:rPr lang="tr-TR">
                <a:latin typeface="Aptos"/>
              </a:rPr>
              <a:t>: Yasa </a:t>
            </a:r>
          </a:p>
          <a:p>
            <a:pPr marL="0" indent="0">
              <a:buNone/>
            </a:pPr>
            <a:endParaRPr lang="tr-TR">
              <a:latin typeface="Aptos"/>
            </a:endParaRPr>
          </a:p>
          <a:p>
            <a:pPr marL="0" indent="0">
              <a:buNone/>
            </a:pPr>
            <a:r>
              <a:rPr lang="tr-TR">
                <a:solidFill>
                  <a:srgbClr val="C00000"/>
                </a:solidFill>
                <a:latin typeface="Aptos"/>
              </a:rPr>
              <a:t>«İş Yasası» </a:t>
            </a:r>
            <a:r>
              <a:rPr lang="tr-TR">
                <a:latin typeface="Aptos"/>
              </a:rPr>
              <a:t>anlamına gelmektedir.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94" y="1825625"/>
            <a:ext cx="3872864" cy="310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40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</a:t>
            </a:r>
            <a:r>
              <a:rPr lang="tr-TR" sz="5400"/>
              <a:t> 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5"/>
            <a:ext cx="6713552" cy="4548145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İnsanların </a:t>
            </a:r>
            <a:r>
              <a:rPr lang="tr-TR" sz="2200" b="1">
                <a:solidFill>
                  <a:srgbClr val="C00000"/>
                </a:solidFill>
                <a:latin typeface="Aptos"/>
              </a:rPr>
              <a:t>anatomik ve antropometrik </a:t>
            </a:r>
            <a:r>
              <a:rPr lang="tr-TR" sz="2200">
                <a:latin typeface="Aptos"/>
              </a:rPr>
              <a:t>özelliklerini,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>
                <a:solidFill>
                  <a:srgbClr val="C00000"/>
                </a:solidFill>
                <a:latin typeface="Aptos"/>
              </a:rPr>
              <a:t>Fiziksel kapasiteleri ve toleranslarını </a:t>
            </a:r>
            <a:r>
              <a:rPr lang="tr-TR" sz="2200">
                <a:latin typeface="Aptos"/>
              </a:rPr>
              <a:t>göz önüne alarak,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İş ortamındaki faktörlerin etkisiyle olabilecek </a:t>
            </a:r>
            <a:r>
              <a:rPr lang="tr-TR" sz="2200" b="1">
                <a:solidFill>
                  <a:srgbClr val="C00000"/>
                </a:solidFill>
                <a:latin typeface="Aptos"/>
              </a:rPr>
              <a:t>organik ve </a:t>
            </a:r>
            <a:r>
              <a:rPr lang="tr-TR" sz="2200" b="1" err="1">
                <a:solidFill>
                  <a:srgbClr val="C00000"/>
                </a:solidFill>
                <a:latin typeface="Aptos"/>
              </a:rPr>
              <a:t>psiko</a:t>
            </a:r>
            <a:r>
              <a:rPr lang="tr-TR" sz="2200" b="1">
                <a:solidFill>
                  <a:srgbClr val="C00000"/>
                </a:solidFill>
                <a:latin typeface="Aptos"/>
              </a:rPr>
              <a:t>-sosyal stresler</a:t>
            </a:r>
            <a:r>
              <a:rPr lang="tr-TR" sz="2200">
                <a:solidFill>
                  <a:srgbClr val="C00000"/>
                </a:solidFill>
                <a:latin typeface="Aptos"/>
              </a:rPr>
              <a:t> </a:t>
            </a:r>
            <a:r>
              <a:rPr lang="tr-TR" sz="2200">
                <a:latin typeface="Aptos"/>
              </a:rPr>
              <a:t>karşısında,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>
                <a:solidFill>
                  <a:srgbClr val="C00000"/>
                </a:solidFill>
                <a:latin typeface="Aptos"/>
              </a:rPr>
              <a:t>Sistem verimliliğini </a:t>
            </a:r>
            <a:r>
              <a:rPr lang="tr-TR" sz="2200">
                <a:latin typeface="Aptos"/>
              </a:rPr>
              <a:t>ve </a:t>
            </a:r>
            <a:r>
              <a:rPr lang="tr-TR" sz="2200" b="1">
                <a:solidFill>
                  <a:srgbClr val="C00000"/>
                </a:solidFill>
                <a:latin typeface="Aptos"/>
              </a:rPr>
              <a:t>İnsan- Makine - Çevre</a:t>
            </a:r>
            <a:r>
              <a:rPr lang="tr-TR" sz="2200">
                <a:solidFill>
                  <a:srgbClr val="C00000"/>
                </a:solidFill>
                <a:latin typeface="Aptos"/>
              </a:rPr>
              <a:t> </a:t>
            </a:r>
            <a:r>
              <a:rPr lang="tr-TR" sz="2200">
                <a:latin typeface="Aptos"/>
              </a:rPr>
              <a:t>uyumunun temel yasalarını ortaya koymaya çalışan,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 b="1">
                <a:latin typeface="Aptos"/>
              </a:rPr>
              <a:t>                        </a:t>
            </a:r>
            <a:r>
              <a:rPr lang="tr-TR" sz="2200" b="1">
                <a:solidFill>
                  <a:srgbClr val="C00000"/>
                </a:solidFill>
                <a:latin typeface="Aptos"/>
              </a:rPr>
              <a:t> Multidisipliner</a:t>
            </a:r>
            <a:r>
              <a:rPr lang="tr-TR" sz="2200">
                <a:solidFill>
                  <a:srgbClr val="C00000"/>
                </a:solidFill>
                <a:latin typeface="Aptos"/>
              </a:rPr>
              <a:t> </a:t>
            </a:r>
            <a:r>
              <a:rPr lang="tr-TR" sz="2200">
                <a:latin typeface="Aptos"/>
              </a:rPr>
              <a:t>bir bilim dalıdır.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26629" r="2" b="7698"/>
          <a:stretch>
            <a:fillRect/>
          </a:stretch>
        </p:blipFill>
        <p:spPr>
          <a:xfrm>
            <a:off x="7675658" y="2093976"/>
            <a:ext cx="3941064" cy="378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0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</a:t>
            </a:r>
            <a:r>
              <a:rPr lang="tr-TR" sz="5400" b="1">
                <a:latin typeface="Aptos"/>
              </a:rPr>
              <a:t> 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2" y="2071316"/>
            <a:ext cx="7542077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>
                <a:latin typeface="Aptos"/>
              </a:rPr>
              <a:t>Ergonominin amacı;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    Çalışan kişiyle, yaptığı iş arasında olabilecek en iyi uyumu sağlamak,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    Çalışma sırasında aşırı zorlanmalar yüzünden oluşabilecek yıpranmaların önlenmesi ile beraber, ortaya çıkan uyum sayesinde iş verimi yükseltmektir.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 b="1">
                <a:latin typeface="Aptos"/>
              </a:rPr>
              <a:t>   </a:t>
            </a:r>
            <a:r>
              <a:rPr lang="tr-TR" sz="2200" b="1">
                <a:solidFill>
                  <a:srgbClr val="C00000"/>
                </a:solidFill>
                <a:latin typeface="Aptos"/>
              </a:rPr>
              <a:t>İş Yaşam koşullarının insana uygun hale getirilmesidir.   </a:t>
            </a:r>
            <a:endParaRPr lang="tr-TR" sz="2200">
              <a:solidFill>
                <a:srgbClr val="C00000"/>
              </a:solidFill>
              <a:latin typeface="Apto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8ADF9B8-52C1-706D-D4BF-2D10817E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96" r="17708" b="-2"/>
          <a:stretch>
            <a:fillRect/>
          </a:stretch>
        </p:blipFill>
        <p:spPr>
          <a:xfrm>
            <a:off x="8686800" y="2093976"/>
            <a:ext cx="2929922" cy="30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1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 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79" y="2706624"/>
            <a:ext cx="8191193" cy="38221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Aydınlatma, gürültü, sıcaklık, titreşim, hava kalitesi gibi çevresel faktörler çalışan için uygun düzeyde mi?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Çalışanların duruşları, oturma-ayağa kalkma biçimleri, yük kaldırma veya tekrarlayan hareketleri kas-iskelet sistemi açısından risk oluşturuyor mu?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Kullanılan makineler, bilgisayarlar, el aletleri ve mobilyalar insan anatomisine uygun mu?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Fiziksel ve zihinsel iş yükü, çalışanın kapasitesini aşmadan sürdürülebilir mi?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Bu soruların cevapları </a:t>
            </a:r>
            <a:r>
              <a:rPr lang="tr-TR" sz="2000" b="1">
                <a:solidFill>
                  <a:srgbClr val="C00000"/>
                </a:solidFill>
                <a:latin typeface="Aptos"/>
              </a:rPr>
              <a:t>Ergonominin hedefleri </a:t>
            </a:r>
            <a:r>
              <a:rPr lang="tr-TR" sz="2000">
                <a:latin typeface="Aptos"/>
              </a:rPr>
              <a:t>arasındadır.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274" y="610520"/>
            <a:ext cx="3046781" cy="217627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273" y="4079193"/>
            <a:ext cx="2665707" cy="177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3093970"/>
          </a:xfrm>
        </p:spPr>
        <p:txBody>
          <a:bodyPr>
            <a:normAutofit/>
          </a:bodyPr>
          <a:lstStyle/>
          <a:p>
            <a:r>
              <a:rPr lang="tr-TR" b="1">
                <a:latin typeface="Aptos"/>
              </a:rPr>
              <a:t>Ergonominin Önemi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198784"/>
            <a:ext cx="7062534" cy="648031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Bilgisayar başında uzun süre yanlış pozisyonda oturan bir çalışanın, boyun ve bel ağrısı yaşaması durumu.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</a:t>
            </a:r>
            <a:r>
              <a:rPr lang="tr-TR" sz="20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Çözüm:</a:t>
            </a:r>
            <a:r>
              <a:rPr lang="tr-TR" sz="2000">
                <a:latin typeface="Aptos"/>
              </a:rPr>
              <a:t> Ergonomik bir sandalye ve doğru masa yüksekliğin sağlanması.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Yük kaldırma işlerinde ergonomik kaldırma teknikleri öğretilmemesi sonucu  çalışanın belini incitmesi.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</a:t>
            </a:r>
            <a:r>
              <a:rPr lang="tr-TR" sz="20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Çözüm:</a:t>
            </a:r>
            <a:r>
              <a:rPr lang="tr-TR" sz="2000">
                <a:latin typeface="Aptos"/>
              </a:rPr>
              <a:t> Doğru kaldırma eğitimi ve yardımcı ekipman kullanılması.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Üretim hattında araçların ve malzemelerin kolay ulaşılabilir şekilde yerleştirilmemesi, 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</a:t>
            </a:r>
            <a:r>
              <a:rPr lang="tr-TR" sz="20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Sonuç:</a:t>
            </a:r>
            <a:r>
              <a:rPr lang="tr-TR" sz="2000" b="1">
                <a:latin typeface="Aptos"/>
              </a:rPr>
              <a:t> </a:t>
            </a:r>
            <a:r>
              <a:rPr lang="tr-TR" sz="2000">
                <a:latin typeface="Aptos"/>
              </a:rPr>
              <a:t>Çalışanların gereksiz hareketlerinin fazlalaşması ve üretim hızını yavaşlaması.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000">
                <a:latin typeface="Aptos"/>
              </a:rPr>
              <a:t>Ofis ortamında ayarlanabilir masa ve sandalye kullanımı, 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</a:t>
            </a:r>
            <a:r>
              <a:rPr lang="tr-TR" sz="2000" b="1">
                <a:solidFill>
                  <a:schemeClr val="accent6">
                    <a:lumMod val="75000"/>
                  </a:schemeClr>
                </a:solidFill>
                <a:latin typeface="Aptos"/>
              </a:rPr>
              <a:t>Sonuç:</a:t>
            </a:r>
            <a:r>
              <a:rPr lang="tr-TR" sz="200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Çalışanların kendini değerli hissetmesi ve işe bağlılığının güçlendirilmesi.</a:t>
            </a:r>
          </a:p>
          <a:p>
            <a:pPr marL="0" indent="0">
              <a:buNone/>
            </a:pPr>
            <a:endParaRPr lang="tr-TR" sz="1500">
              <a:latin typeface="Apto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10397D3-938D-FFC5-54EB-8CCD3E72E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02" y="3930140"/>
            <a:ext cx="23907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0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sz="5400" b="1">
                <a:latin typeface="Aptos"/>
              </a:rPr>
              <a:t>Ergonomi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 u="sng">
                <a:latin typeface="Aptos"/>
              </a:rPr>
              <a:t>Sonuç olarak</a:t>
            </a:r>
            <a:r>
              <a:rPr lang="tr-TR" sz="2200" u="sng">
                <a:latin typeface="Aptos"/>
              </a:rPr>
              <a:t>;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Çalışan sağlığı korunması,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İş kazaları ve meslek hastalıkları önlenmesi,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Verimliliğin artması, 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Motivasyon ve iş memnuniyeti yükselmesi,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İş gücü kaybı ve maliyetler azalması,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Kaliteli üretim ve sürdürülebilir çalışma ortamı sağlanması,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>
                <a:latin typeface="Aptos"/>
              </a:rPr>
              <a:t>Hedefleri gerçekleştirilmiş oluyor.</a:t>
            </a:r>
          </a:p>
          <a:p>
            <a:pPr marL="0" indent="0">
              <a:buNone/>
            </a:pPr>
            <a:endParaRPr lang="tr-TR" sz="2200"/>
          </a:p>
        </p:txBody>
      </p:sp>
    </p:spTree>
    <p:extLst>
      <p:ext uri="{BB962C8B-B14F-4D97-AF65-F5344CB8AC3E}">
        <p14:creationId xmlns:p14="http://schemas.microsoft.com/office/powerpoint/2010/main" val="2191622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15AD5F-1090-05F5-45C1-6CC3DDF1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64" y="365125"/>
            <a:ext cx="10994036" cy="1325563"/>
          </a:xfrm>
        </p:spPr>
        <p:txBody>
          <a:bodyPr>
            <a:normAutofit/>
          </a:bodyPr>
          <a:lstStyle/>
          <a:p>
            <a:r>
              <a:rPr lang="tr-TR" sz="4000" b="1">
                <a:latin typeface="Aptos Display" panose="020B0004020202020204" pitchFamily="34" charset="0"/>
              </a:rPr>
              <a:t>Ergonomiye bağlı oluşabilecek meslek hastalıkları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499A91-7D94-92CF-1825-6ECA91D5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4" y="1884413"/>
            <a:ext cx="11829188" cy="5577390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Bel ve Boyun Fıtığı:</a:t>
            </a:r>
            <a:r>
              <a:rPr lang="tr-TR" sz="2000">
                <a:latin typeface="Aptos Display" panose="020B0004020202020204" pitchFamily="34" charset="0"/>
              </a:rPr>
              <a:t> Uzun süre oturarak veya yanlış pozisyonda çalışmak, ağır kaldırmak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Karpal Tünel Sendromu:</a:t>
            </a:r>
            <a:r>
              <a:rPr lang="tr-TR" sz="2000">
                <a:latin typeface="Aptos Display" panose="020B0004020202020204" pitchFamily="34" charset="0"/>
              </a:rPr>
              <a:t> Bilgisayar kullanımı, montaj hattı işleri gibi el bileğinin tekrarlayan hareketlerine bağlı sinir sıkışması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 err="1">
                <a:latin typeface="Aptos Display" panose="020B0004020202020204" pitchFamily="34" charset="0"/>
              </a:rPr>
              <a:t>Tendinit</a:t>
            </a:r>
            <a:r>
              <a:rPr lang="tr-TR" sz="2000" b="1">
                <a:latin typeface="Aptos Display" panose="020B0004020202020204" pitchFamily="34" charset="0"/>
              </a:rPr>
              <a:t> (Kas ve Tendon İltihabı):</a:t>
            </a:r>
            <a:r>
              <a:rPr lang="tr-TR" sz="2000">
                <a:latin typeface="Aptos Display" panose="020B0004020202020204" pitchFamily="34" charset="0"/>
              </a:rPr>
              <a:t> Sürekli aynı kas grubunun kullanılması sonucu kas ve tendonlarda iltihaplanmanın meydana gelmesi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Kas-İskelet Sistemi Rahatsızlıkları:</a:t>
            </a:r>
            <a:r>
              <a:rPr lang="tr-TR" sz="2000">
                <a:latin typeface="Aptos Display" panose="020B0004020202020204" pitchFamily="34" charset="0"/>
              </a:rPr>
              <a:t> Uygun olmayan çalışma masası, sandalye veya ekipman kullanımına bağlı olarak oluşan kas ağrıları, eklem sertliği ve duruş bozuklukları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Göz Yorgunluğu (Bilgisayar Görme Sendromu):</a:t>
            </a:r>
            <a:r>
              <a:rPr lang="tr-TR" sz="2000">
                <a:latin typeface="Aptos Display" panose="020B0004020202020204" pitchFamily="34" charset="0"/>
              </a:rPr>
              <a:t> Uzun süre ekran karşısında çalışmaya bağlı olarak oluşan göz kuruluğu, baş ağrısı ve bulanık görme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Omuz ve Dirsek Rahatsızlıkları:</a:t>
            </a:r>
            <a:r>
              <a:rPr lang="tr-TR" sz="2000">
                <a:latin typeface="Aptos Display" panose="020B0004020202020204" pitchFamily="34" charset="0"/>
              </a:rPr>
              <a:t> Tekrarlayan hareketler veya yüksekte çalışma sonucu omuz ve dirsek eklemlerinde zorlanma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Varis ve Dolaşım Bozuklukları:</a:t>
            </a:r>
            <a:r>
              <a:rPr lang="tr-TR" sz="2000">
                <a:latin typeface="Aptos Display" panose="020B0004020202020204" pitchFamily="34" charset="0"/>
              </a:rPr>
              <a:t> Uzun süre ayakta durmak veya hareketsiz oturmak bacaklarda dolaşım sorunlarının olması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sz="2000" b="1">
                <a:latin typeface="Aptos Display" panose="020B0004020202020204" pitchFamily="34" charset="0"/>
              </a:rPr>
              <a:t>Stres ve Yorgunluk Kaynaklı Rahatsızlıklar:</a:t>
            </a:r>
            <a:r>
              <a:rPr lang="tr-TR" sz="2000">
                <a:latin typeface="Aptos Display" panose="020B0004020202020204" pitchFamily="34" charset="0"/>
              </a:rPr>
              <a:t> Uygun olmayan çalışma temposu, mola eksikliği veya kötü iş organizasyonu</a:t>
            </a: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202228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64068" y="365125"/>
            <a:ext cx="5543595" cy="2063808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ana alanları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/>
              <a:t>   </a:t>
            </a:r>
            <a:r>
              <a:rPr lang="tr-TR" sz="2200">
                <a:latin typeface="Aptos"/>
              </a:rPr>
              <a:t>Ergonomi üç ana alanda incelenir ve her biri insan ile iş arasındaki uyumu farklı bir açıdan ele alır.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514350" indent="-514350">
              <a:buFont typeface="+mj-lt"/>
              <a:buAutoNum type="arabicPeriod"/>
            </a:pPr>
            <a:r>
              <a:rPr lang="tr-TR" sz="2200">
                <a:latin typeface="Aptos"/>
              </a:rPr>
              <a:t>Fiziksel ergonomi</a:t>
            </a:r>
          </a:p>
          <a:p>
            <a:pPr marL="514350" indent="-514350">
              <a:buFont typeface="+mj-lt"/>
              <a:buAutoNum type="arabicPeriod"/>
            </a:pPr>
            <a:r>
              <a:rPr lang="tr-TR" sz="2200">
                <a:latin typeface="Aptos"/>
              </a:rPr>
              <a:t>Bilişsel (zihinsel) ergonomi</a:t>
            </a:r>
          </a:p>
          <a:p>
            <a:pPr marL="514350" indent="-514350">
              <a:buFont typeface="+mj-lt"/>
              <a:buAutoNum type="arabicPeriod"/>
            </a:pPr>
            <a:r>
              <a:rPr lang="tr-TR" sz="2200">
                <a:latin typeface="Aptos"/>
              </a:rPr>
              <a:t>Örgütsel (organizasyonel) ergonomi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1588F5B-CDEB-CB00-83E2-C8163C79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97" y="832135"/>
            <a:ext cx="2603605" cy="194498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ACE4670-69B4-84A0-7D6D-8C05B512F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1" r="15576" b="21834"/>
          <a:stretch>
            <a:fillRect/>
          </a:stretch>
        </p:blipFill>
        <p:spPr>
          <a:xfrm>
            <a:off x="9224328" y="982011"/>
            <a:ext cx="2603605" cy="1645233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3D9F1DA5-FD81-CFB3-4CDD-4847EF645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447" y="3426258"/>
            <a:ext cx="5037435" cy="275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3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30426" cy="845056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Fiziksel Ergonomi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2" y="1083097"/>
            <a:ext cx="7642117" cy="573237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tr-TR" sz="2000" u="sng">
                <a:latin typeface="Aptos"/>
              </a:rPr>
              <a:t>İnsanın vücudu ile çalışma ortamı arasındaki uyumu inceler.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r>
              <a:rPr lang="tr-TR" sz="2000">
                <a:latin typeface="Aptos"/>
              </a:rPr>
              <a:t>Oturma, kaldırma, taşıma, çalışma pozisyonları gibi konularla ilgilenir.</a:t>
            </a:r>
          </a:p>
          <a:p>
            <a:r>
              <a:rPr lang="tr-TR" sz="2000">
                <a:latin typeface="Aptos"/>
              </a:rPr>
              <a:t>İş düzeni, araç ve gereçlerin boyut, ağırlık ve biçimleri, o üretim yerinde çalışan insan kitlesinin antropometrik verilerine dayandırılmalıdır.</a:t>
            </a:r>
          </a:p>
          <a:p>
            <a:r>
              <a:rPr lang="tr-TR" sz="2000">
                <a:latin typeface="Aptos"/>
              </a:rPr>
              <a:t>Amaç: Kas-iskelet sistemi rahatsızlıklarını önlemek ve fiziksel rahatlığı artırmaktır.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</a:t>
            </a:r>
            <a:br>
              <a:rPr lang="tr-TR" sz="2000">
                <a:latin typeface="Aptos"/>
              </a:rPr>
            </a:br>
            <a:r>
              <a:rPr lang="tr-TR" sz="2000">
                <a:latin typeface="Aptos"/>
              </a:rPr>
              <a:t>   </a:t>
            </a:r>
            <a:r>
              <a:rPr lang="tr-TR" sz="2000" b="1">
                <a:latin typeface="Aptos"/>
              </a:rPr>
              <a:t>Örnek:</a:t>
            </a:r>
            <a:r>
              <a:rPr lang="tr-TR" sz="2000">
                <a:latin typeface="Aptos"/>
              </a:rPr>
              <a:t> Ofis sandalyesinin yüksekliğinin farklı boylardaki   çalışanlara göre  ayarlanabilir olması,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Makine kumandalarının herkesin rahatça ulaşabileceği mesafede yerleştirilmesi,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pPr marL="0" indent="0">
              <a:buNone/>
            </a:pPr>
            <a:r>
              <a:rPr lang="tr-TR" sz="2000">
                <a:latin typeface="Aptos"/>
              </a:rPr>
              <a:t>Antropometri, insanların vücut ölçülerini (boy, kol uzunluğu, oturma yüksekliği, el genişliği gibi) inceleyen bilim dalıdır.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3289" r="507" b="2"/>
          <a:stretch>
            <a:fillRect/>
          </a:stretch>
        </p:blipFill>
        <p:spPr>
          <a:xfrm>
            <a:off x="8428308" y="2093976"/>
            <a:ext cx="3188414" cy="331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>
                <a:latin typeface="Aptos"/>
              </a:rPr>
              <a:t>Fiziksel Ergonomi</a:t>
            </a:r>
            <a:endParaRPr lang="tr-TR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0659" y="1825624"/>
            <a:ext cx="6432652" cy="471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1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AB5C84E-B4FF-340A-E307-A823C4AC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err="1">
                <a:solidFill>
                  <a:schemeClr val="tx1"/>
                </a:solidFill>
                <a:latin typeface="Aptos Display" panose="020B0004020202020204" pitchFamily="34" charset="0"/>
              </a:rPr>
              <a:t>Fiziksel</a:t>
            </a:r>
            <a:r>
              <a:rPr lang="en-US" sz="4000" b="1" kern="120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4000" b="1" kern="1200" err="1">
                <a:solidFill>
                  <a:schemeClr val="tx1"/>
                </a:solidFill>
                <a:latin typeface="Aptos Display" panose="020B0004020202020204" pitchFamily="34" charset="0"/>
              </a:rPr>
              <a:t>Ergonomi</a:t>
            </a:r>
            <a:endParaRPr lang="en-US" sz="4000" kern="120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EC97EAB-6EFD-83AD-B31D-9EBFDD73041B}"/>
              </a:ext>
            </a:extLst>
          </p:cNvPr>
          <p:cNvSpPr txBox="1"/>
          <p:nvPr/>
        </p:nvSpPr>
        <p:spPr>
          <a:xfrm>
            <a:off x="630936" y="2807208"/>
            <a:ext cx="3746192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>
                <a:latin typeface="Aptos Display" panose="020B0004020202020204" pitchFamily="34" charset="0"/>
              </a:rPr>
              <a:t>Yükü tanımak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>
                <a:latin typeface="Aptos Display" panose="020B0004020202020204" pitchFamily="34" charset="0"/>
              </a:rPr>
              <a:t>Asimetrik yaklaşmak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>
                <a:latin typeface="Aptos Display" panose="020B0004020202020204" pitchFamily="34" charset="0"/>
              </a:rPr>
              <a:t>Dizlerin üzerinde yaylanarak eğilmek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>
                <a:latin typeface="Aptos Display" panose="020B0004020202020204" pitchFamily="34" charset="0"/>
              </a:rPr>
              <a:t>Yükü çapraz olarak kavramak ve dizler üzerinde kalkmak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>
                <a:latin typeface="Aptos Display" panose="020B0004020202020204" pitchFamily="34" charset="0"/>
              </a:rPr>
              <a:t>Yükü vücudumuza yakın tutarak ayaklar ile dönmek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tr-TR" sz="2000" noProof="0">
                <a:latin typeface="Aptos Display" panose="020B0004020202020204" pitchFamily="34" charset="0"/>
              </a:rPr>
              <a:t>Yükü yerine koyma</a:t>
            </a:r>
            <a:r>
              <a:rPr lang="en-US" sz="2000">
                <a:latin typeface="Aptos Display" panose="020B0004020202020204" pitchFamily="34" charset="0"/>
              </a:rPr>
              <a:t>k 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BD297E5-4182-104E-3CA4-9204B47D8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2056886"/>
            <a:ext cx="6903720" cy="274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19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tr-TR" sz="4000" b="1">
                <a:latin typeface="Aptos"/>
              </a:rPr>
              <a:t>Bilişsel Ergonomi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09649" y="1847849"/>
            <a:ext cx="10262953" cy="44711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000" u="sng">
                <a:latin typeface="Aptos"/>
              </a:rPr>
              <a:t>İnsanın düşünme, algılama ve karar verme süreçleriyle ilgilenir.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r>
              <a:rPr lang="tr-TR" sz="2000">
                <a:latin typeface="Aptos"/>
              </a:rPr>
              <a:t>Bilgi yükü, dikkat, hafıza, stres ve hata yapma olasılığı gibi konulara odaklanır. </a:t>
            </a:r>
          </a:p>
          <a:p>
            <a:r>
              <a:rPr lang="tr-TR" sz="2000">
                <a:latin typeface="Aptos"/>
              </a:rPr>
              <a:t>Asıl amacı </a:t>
            </a:r>
            <a:r>
              <a:rPr lang="tr-TR" sz="2000" b="1">
                <a:solidFill>
                  <a:srgbClr val="FF0000"/>
                </a:solidFill>
                <a:latin typeface="Aptos"/>
              </a:rPr>
              <a:t>gösterge dizaynıdır</a:t>
            </a:r>
            <a:r>
              <a:rPr lang="tr-TR" sz="2000">
                <a:solidFill>
                  <a:srgbClr val="FF0000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(</a:t>
            </a:r>
            <a:r>
              <a:rPr lang="tr-TR" sz="2000" b="1">
                <a:latin typeface="Aptos"/>
              </a:rPr>
              <a:t>Kumanda, kontrol düğmeleri, sinyaller, </a:t>
            </a:r>
            <a:r>
              <a:rPr lang="tr-TR" sz="2000" b="1" err="1">
                <a:latin typeface="Aptos"/>
              </a:rPr>
              <a:t>joysticler</a:t>
            </a:r>
            <a:r>
              <a:rPr lang="tr-TR" sz="2000" b="1">
                <a:latin typeface="Aptos"/>
              </a:rPr>
              <a:t> ve direksiyon</a:t>
            </a:r>
            <a:r>
              <a:rPr lang="tr-TR" sz="2000">
                <a:latin typeface="Aptos"/>
              </a:rPr>
              <a:t> </a:t>
            </a:r>
            <a:r>
              <a:rPr lang="tr-TR" sz="2000" err="1">
                <a:latin typeface="Aptos"/>
              </a:rPr>
              <a:t>vs</a:t>
            </a:r>
            <a:r>
              <a:rPr lang="tr-TR" sz="2000">
                <a:latin typeface="Aptos"/>
              </a:rPr>
              <a:t>). Zihinsel yorgunluğu azaltmak ve hatasız, verimli çalışmayı sağlamaktır.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</a:t>
            </a:r>
            <a:br>
              <a:rPr lang="tr-TR" sz="2000">
                <a:latin typeface="Aptos"/>
              </a:rPr>
            </a:br>
            <a:r>
              <a:rPr lang="tr-TR" sz="2000" b="1">
                <a:latin typeface="Aptos"/>
              </a:rPr>
              <a:t>Örnek:</a:t>
            </a:r>
            <a:r>
              <a:rPr lang="tr-TR" sz="2000">
                <a:latin typeface="Aptos"/>
              </a:rPr>
              <a:t>    - Bilgisayar ekranında bilgilerin sade ve anlaşılır biçimde sunulması.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- Bilgisayar yazılımlarında kullanıcıya net ve anlaşılır menüler sunulması (zihinsel yükü azaltır).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- Makinelerde kontrol panellerinde düğmelerin renk ve şekillerine göre ayrılması (operatörün hata yapma riskini azaltır).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- Eğitim ve talimat dokümanlarının  görsellerle desteklenmiş, kısa ve açık anlatımlar (çalışanların bilgiyi daha kolay anlamasını sağlar).</a:t>
            </a:r>
          </a:p>
          <a:p>
            <a:pPr marL="0" indent="0">
              <a:buNone/>
            </a:pPr>
            <a:endParaRPr lang="tr-TR" sz="1700">
              <a:latin typeface="Aptos"/>
            </a:endParaRPr>
          </a:p>
          <a:p>
            <a:pPr marL="0" indent="0">
              <a:buNone/>
            </a:pPr>
            <a:endParaRPr lang="tr-TR" sz="1700">
              <a:latin typeface="Aptos"/>
            </a:endParaRPr>
          </a:p>
          <a:p>
            <a:endParaRPr lang="tr-TR" sz="17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753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Örgütsel Ergonomi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44774" y="2071315"/>
            <a:ext cx="8259580" cy="4548145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tr-TR" sz="2000">
                <a:latin typeface="Aptos"/>
              </a:rPr>
              <a:t>   </a:t>
            </a:r>
            <a:r>
              <a:rPr lang="tr-TR" sz="2000" u="sng">
                <a:latin typeface="Aptos"/>
              </a:rPr>
              <a:t>İşin düzenlenmesi, ekip çalışması, iletişim ve iş süreçlerinin planlanmasıyla ilgilenir.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r>
              <a:rPr lang="tr-TR" sz="2000">
                <a:latin typeface="Aptos"/>
              </a:rPr>
              <a:t>Çalışma saatleri, vardiya düzeni, görev dağılımı gibi konuları kapsar.</a:t>
            </a:r>
          </a:p>
          <a:p>
            <a:r>
              <a:rPr lang="tr-TR" sz="2000">
                <a:latin typeface="Aptos"/>
              </a:rPr>
              <a:t>Amaç: İş birliğini, motivasyonu ve verimliliği artırmaktır.</a:t>
            </a:r>
          </a:p>
          <a:p>
            <a:endParaRPr lang="tr-TR" sz="2000">
              <a:latin typeface="Aptos"/>
            </a:endParaRPr>
          </a:p>
          <a:p>
            <a:pPr marL="0" indent="0">
              <a:buNone/>
            </a:pPr>
            <a:r>
              <a:rPr lang="tr-TR" sz="2000" b="1">
                <a:latin typeface="Aptos"/>
              </a:rPr>
              <a:t>Örnek:</a:t>
            </a:r>
            <a:r>
              <a:rPr lang="tr-TR" sz="2000">
                <a:latin typeface="Aptos"/>
              </a:rPr>
              <a:t>     - Çalışanlara yeterli dinlenme molaları verilmesi.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 - Vardiya düzeninin planlanması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 - Ekip çalışmasının desteklenmesi (Görevlerin ekip üyeleri arasında dengeli dağıtılması)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 - İş yükü dengesinin sağlanması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 - Katılımcı yönetim anlayışı (Çalışanların karar süreçlerine dahil edilmesi)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 - Etkili iletişim sistemleri (Bilgi akışının açık ve hızlı olması)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             - Uzaktan veya esnek çalışma modelleri </a:t>
            </a:r>
          </a:p>
          <a:p>
            <a:pPr marL="0" indent="0">
              <a:buNone/>
            </a:pPr>
            <a:endParaRPr lang="tr-TR" sz="1400"/>
          </a:p>
          <a:p>
            <a:pPr marL="0" indent="0">
              <a:buNone/>
            </a:pPr>
            <a:endParaRPr lang="tr-TR" sz="1400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11982" r="2" b="2"/>
          <a:stretch>
            <a:fillRect/>
          </a:stretch>
        </p:blipFill>
        <p:spPr>
          <a:xfrm>
            <a:off x="8945745" y="2093976"/>
            <a:ext cx="2670976" cy="27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00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b="1">
                <a:solidFill>
                  <a:srgbClr val="FFFFFF"/>
                </a:solidFill>
                <a:latin typeface="Aptos"/>
              </a:rPr>
              <a:t>Ergonomi ile ilişkili bilim dalları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b="1">
                <a:latin typeface="Aptos"/>
              </a:rPr>
              <a:t>Üç temel dal: </a:t>
            </a:r>
            <a:r>
              <a:rPr lang="tr-TR">
                <a:latin typeface="Aptos"/>
              </a:rPr>
              <a:t>Antropometri, Fizyoloji, Biyomekanik</a:t>
            </a:r>
          </a:p>
          <a:p>
            <a:pPr marL="0" indent="0">
              <a:buNone/>
            </a:pPr>
            <a:endParaRPr lang="tr-TR">
              <a:latin typeface="Aptos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Mühendislik bilimleri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İşletme/yönetim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Tasarım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Psikoloji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İstatistik,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Endüstriyel hijyen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Enformasyon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>
                <a:latin typeface="Aptos"/>
              </a:rPr>
              <a:t>Sosyoloji</a:t>
            </a:r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6503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>
                <a:latin typeface="Aptos"/>
              </a:rPr>
              <a:t>Antropometri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3"/>
            <a:ext cx="10684764" cy="4563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900">
                <a:latin typeface="Aptos"/>
              </a:rPr>
              <a:t>    </a:t>
            </a:r>
            <a:r>
              <a:rPr lang="tr-TR" sz="2000">
                <a:latin typeface="Aptos"/>
              </a:rPr>
              <a:t>İnsan vücudunun </a:t>
            </a:r>
            <a:r>
              <a:rPr lang="tr-TR" sz="2000" b="1">
                <a:solidFill>
                  <a:srgbClr val="FF0000"/>
                </a:solidFill>
                <a:latin typeface="Aptos"/>
              </a:rPr>
              <a:t>ölçülerini, oranlarını ve fiziksel özelliklerini </a:t>
            </a:r>
            <a:r>
              <a:rPr lang="tr-TR" sz="2000">
                <a:latin typeface="Aptos"/>
              </a:rPr>
              <a:t>inceleyen bilim dalıdır. Boy, kilo, kol uzunluğu, oturma yüksekliği, el kavrama genişliği gibi ölçümler antropometrik verilere örnektir.</a:t>
            </a:r>
          </a:p>
          <a:p>
            <a:pPr marL="0" indent="0">
              <a:buNone/>
            </a:pPr>
            <a:endParaRPr lang="tr-TR" sz="2000">
              <a:latin typeface="Aptos"/>
            </a:endParaRPr>
          </a:p>
          <a:p>
            <a:pPr marL="0" indent="0">
              <a:buNone/>
            </a:pPr>
            <a:r>
              <a:rPr lang="tr-TR" sz="2000">
                <a:latin typeface="Aptos"/>
              </a:rPr>
              <a:t>   </a:t>
            </a:r>
            <a:r>
              <a:rPr lang="tr-TR" sz="2000" u="sng">
                <a:latin typeface="Aptos"/>
              </a:rPr>
              <a:t>İş Sağlığı ve Güvenliği (İSG) </a:t>
            </a:r>
            <a:r>
              <a:rPr lang="tr-TR" sz="2000">
                <a:latin typeface="Aptos"/>
              </a:rPr>
              <a:t>açısından antropometrinin önemi;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>
                <a:latin typeface="Aptos"/>
              </a:rPr>
              <a:t>Ergonomik tasarımın temelini oluşturmak: </a:t>
            </a:r>
            <a:r>
              <a:rPr lang="tr-TR" sz="2000">
                <a:latin typeface="Aptos"/>
              </a:rPr>
              <a:t>Çalışma masaları, sandalyeler, makineler ve ekipmanlar çalışanların vücut ölçülerine uygun tasarlanırsa kas-iskelet sistemi rahatsızlıkları azalır.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>
                <a:latin typeface="Aptos"/>
              </a:rPr>
              <a:t>İş kazalarını önlemek:</a:t>
            </a:r>
            <a:r>
              <a:rPr lang="tr-TR" sz="2000">
                <a:latin typeface="Aptos"/>
              </a:rPr>
              <a:t> Uygun olmayan yükseklik, mesafe veya erişim alanları kazalara yol açabilir. Antropometrik veriler bu riskleri azaltır.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>
                <a:latin typeface="Aptos"/>
              </a:rPr>
              <a:t>Verimliliği artırmak:</a:t>
            </a:r>
            <a:r>
              <a:rPr lang="tr-TR" sz="2000">
                <a:latin typeface="Aptos"/>
              </a:rPr>
              <a:t> Çalışanlar kendilerine uygun ortamlarda daha rahat ve verimli çalışır.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b="1">
                <a:latin typeface="Aptos"/>
              </a:rPr>
              <a:t>Çeşitliliği dikkate almak:</a:t>
            </a:r>
            <a:r>
              <a:rPr lang="tr-TR" sz="2000">
                <a:latin typeface="Aptos"/>
              </a:rPr>
              <a:t> Farklı cinsiyet, yaş ve fiziksel özelliklere sahip çalışanlar için uygun çalışma koşulları oluşturulmasını sağlar.</a:t>
            </a:r>
          </a:p>
          <a:p>
            <a:pPr marL="0" indent="0">
              <a:buNone/>
            </a:pPr>
            <a:endParaRPr lang="tr-TR" sz="19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40150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>
                <a:latin typeface="Aptos"/>
              </a:rPr>
              <a:t>Antropometri </a:t>
            </a:r>
            <a:endParaRPr lang="tr-TR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/>
              <a:t>   </a:t>
            </a:r>
            <a:r>
              <a:rPr lang="tr-TR" sz="2200">
                <a:latin typeface="Aptos"/>
              </a:rPr>
              <a:t>Tasarım çalışmalarının en önemli amacı kullanıcı kitlesinin tamamına yakın bir kısmına uyum sağlayabilecek tasarım standartlarının geliştirilmesidir.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Uç değerler için tasarım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Ayarlanabilir aralıklar için tasarım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Ortalama değer için tasarım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>
                <a:latin typeface="Aptos"/>
              </a:rPr>
              <a:t>   </a:t>
            </a:r>
            <a:r>
              <a:rPr lang="tr-TR" sz="2200" b="1">
                <a:latin typeface="Aptos"/>
              </a:rPr>
              <a:t>Hacimle ilgili </a:t>
            </a:r>
            <a:r>
              <a:rPr lang="tr-TR" sz="2200">
                <a:latin typeface="Aptos"/>
              </a:rPr>
              <a:t>tasarımlarda </a:t>
            </a:r>
            <a:r>
              <a:rPr lang="tr-TR" sz="2200" b="1">
                <a:latin typeface="Aptos"/>
              </a:rPr>
              <a:t>%95’lik </a:t>
            </a:r>
            <a:r>
              <a:rPr lang="tr-TR" sz="2200">
                <a:latin typeface="Aptos"/>
              </a:rPr>
              <a:t>dağılım değeri, </a:t>
            </a:r>
            <a:r>
              <a:rPr lang="tr-TR" sz="2200" b="1">
                <a:latin typeface="Aptos"/>
              </a:rPr>
              <a:t>erişimle ilgili </a:t>
            </a:r>
            <a:r>
              <a:rPr lang="tr-TR" sz="2200">
                <a:latin typeface="Aptos"/>
              </a:rPr>
              <a:t>tasarımlarda ise </a:t>
            </a:r>
            <a:r>
              <a:rPr lang="tr-TR" sz="2200" b="1">
                <a:latin typeface="Aptos"/>
              </a:rPr>
              <a:t>%5’lik </a:t>
            </a:r>
            <a:r>
              <a:rPr lang="tr-TR" sz="2200">
                <a:latin typeface="Aptos"/>
              </a:rPr>
              <a:t>dağılım</a:t>
            </a:r>
            <a:r>
              <a:rPr lang="tr-TR" sz="2200" b="1">
                <a:latin typeface="Aptos"/>
              </a:rPr>
              <a:t> </a:t>
            </a:r>
            <a:r>
              <a:rPr lang="tr-TR" sz="2200">
                <a:latin typeface="Aptos"/>
              </a:rPr>
              <a:t>değeri dikkate alınmalıdır.</a:t>
            </a:r>
          </a:p>
        </p:txBody>
      </p:sp>
    </p:spTree>
    <p:extLst>
      <p:ext uri="{BB962C8B-B14F-4D97-AF65-F5344CB8AC3E}">
        <p14:creationId xmlns:p14="http://schemas.microsoft.com/office/powerpoint/2010/main" val="1005920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>
                <a:latin typeface="Aptos"/>
              </a:rPr>
              <a:t>Antropometri </a:t>
            </a:r>
            <a:endParaRPr lang="tr-TR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/>
              <a:t>   </a:t>
            </a:r>
            <a:r>
              <a:rPr lang="tr-TR" sz="2200" b="1">
                <a:latin typeface="Aptos"/>
              </a:rPr>
              <a:t>Örnek: </a:t>
            </a:r>
            <a:r>
              <a:rPr lang="tr-TR" sz="2200">
                <a:latin typeface="Aptos"/>
              </a:rPr>
              <a:t>Bir asansörün tasarımı yapılırken, asansör kabininin boyutlandırılması sırasında %95’lik değerler, asansör içerisindeki kontrol panelinin döşemeden itibaren yüksekliği için %5’lik değerler dikkate alınmalıdır.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>
                <a:latin typeface="Aptos"/>
              </a:rPr>
              <a:t>   </a:t>
            </a:r>
            <a:r>
              <a:rPr lang="tr-TR" sz="2200" u="sng">
                <a:latin typeface="Aptos"/>
              </a:rPr>
              <a:t>Buradaki temel düşünce</a:t>
            </a:r>
            <a:r>
              <a:rPr lang="tr-TR" sz="2200">
                <a:latin typeface="Aptos"/>
              </a:rPr>
              <a:t>; Uzun boyluların sığabileceği bir kabine kısa boylular zaten sığabilecektir. Kısa boyluların erişebileceği kontrol paneline de uzun boylular erişebilecektir. 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>
                <a:latin typeface="Aptos"/>
              </a:rPr>
              <a:t>   </a:t>
            </a:r>
            <a:r>
              <a:rPr lang="tr-TR" sz="2200" b="1">
                <a:latin typeface="Aptos"/>
              </a:rPr>
              <a:t>İşyerleri düzenlenirken</a:t>
            </a:r>
            <a:r>
              <a:rPr lang="tr-TR" sz="2200">
                <a:latin typeface="Aptos"/>
              </a:rPr>
              <a:t>, çalışanların %5- %95 sınırları içerisinde kalanların rahat çalışabileceği bir düzenlemeye gidilirse, çalışanların %90’ının rahat çalışabileceği bir ortam sağlanmış olur.</a:t>
            </a:r>
          </a:p>
        </p:txBody>
      </p:sp>
    </p:spTree>
    <p:extLst>
      <p:ext uri="{BB962C8B-B14F-4D97-AF65-F5344CB8AC3E}">
        <p14:creationId xmlns:p14="http://schemas.microsoft.com/office/powerpoint/2010/main" val="3525677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Antropometri</a:t>
            </a:r>
            <a:endParaRPr lang="en-US" sz="4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065068"/>
            <a:ext cx="7214616" cy="47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0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1169" y="204845"/>
            <a:ext cx="6879102" cy="635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60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0"/>
            <a:ext cx="10325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462" y="457200"/>
            <a:ext cx="762307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0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>
                <a:latin typeface="Aptos"/>
              </a:rPr>
              <a:t>Fizyoloji ve Biyomekanik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200">
                <a:latin typeface="Aptos"/>
              </a:rPr>
              <a:t>  </a:t>
            </a:r>
            <a:r>
              <a:rPr lang="tr-TR" sz="2400" b="1" u="sng">
                <a:latin typeface="Aptos" panose="02110004020202020204"/>
              </a:rPr>
              <a:t>Fizyoloji:</a:t>
            </a:r>
            <a:r>
              <a:rPr lang="tr-TR" sz="2400">
                <a:latin typeface="Aptos" panose="02110004020202020204"/>
              </a:rPr>
              <a:t> İnsan vücudunun çalışma sırasında gösterdiği biyolojik ve fiziksel tepkileri inceleyen bilim dalıdır.</a:t>
            </a:r>
          </a:p>
          <a:p>
            <a:pPr marL="0" indent="0">
              <a:buNone/>
            </a:pPr>
            <a:r>
              <a:rPr lang="tr-TR" sz="2400">
                <a:latin typeface="Aptos" panose="02110004020202020204"/>
              </a:rPr>
              <a:t>    Amaç, çalışma koşullarının insanın dayanıklılığına, enerji harcamasına ve sağlık durumuna uygun olmasını sağlamaktır (Aşırı sıcak ortamlarda çalışanların dinlenme aralıklarının düzenlenmesi).</a:t>
            </a:r>
          </a:p>
          <a:p>
            <a:pPr marL="0" indent="0">
              <a:buNone/>
            </a:pPr>
            <a:br>
              <a:rPr lang="tr-TR" sz="2400">
                <a:latin typeface="Aptos" panose="02110004020202020204"/>
              </a:rPr>
            </a:br>
            <a:r>
              <a:rPr lang="tr-TR" sz="2400" b="1" u="sng">
                <a:latin typeface="Aptos" panose="02110004020202020204"/>
              </a:rPr>
              <a:t>Biyomekanik: </a:t>
            </a:r>
            <a:r>
              <a:rPr lang="tr-TR" sz="2400">
                <a:latin typeface="Aptos" panose="02110004020202020204"/>
              </a:rPr>
              <a:t>İnsan hareketlerinin fizik ve mekanik prensiplerle incelenmesini sağlayan bilim dalıdır.</a:t>
            </a:r>
          </a:p>
          <a:p>
            <a:pPr marL="0" indent="0">
              <a:buNone/>
            </a:pPr>
            <a:br>
              <a:rPr lang="tr-TR" sz="2400">
                <a:latin typeface="Aptos" panose="02110004020202020204"/>
              </a:rPr>
            </a:br>
            <a:r>
              <a:rPr lang="tr-TR" sz="2400">
                <a:latin typeface="Aptos" panose="02110004020202020204"/>
              </a:rPr>
              <a:t>    Kas, kemik ve eklem sisteminin iş sırasında nasıl çalıştığını analiz eder.</a:t>
            </a:r>
            <a:br>
              <a:rPr lang="tr-TR" sz="2400">
                <a:latin typeface="Aptos" panose="02110004020202020204"/>
              </a:rPr>
            </a:br>
            <a:r>
              <a:rPr lang="tr-TR" sz="2400">
                <a:latin typeface="Aptos" panose="02110004020202020204"/>
              </a:rPr>
              <a:t>    Amaç, vücuda binen yükleri azaltmak, doğru duruş ve hareket biçimlerini belirleyerek kas-iskelet sistemi rahatsızlıklarını önlemektir (Ağır yük kaldırma tekniklerinin doğru şekilde uygulanması).</a:t>
            </a:r>
          </a:p>
        </p:txBody>
      </p:sp>
    </p:spTree>
    <p:extLst>
      <p:ext uri="{BB962C8B-B14F-4D97-AF65-F5344CB8AC3E}">
        <p14:creationId xmlns:p14="http://schemas.microsoft.com/office/powerpoint/2010/main" val="2381672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>
                <a:latin typeface="Aptos"/>
              </a:rPr>
              <a:t>Ergonomik risk faktörleri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>
                <a:latin typeface="Aptos"/>
              </a:rPr>
              <a:t>  Çalışma ortamı ve işin yapılış biçiminden kaynaklanan; kas-iskelet sistemi rahatsızlıklarına, yorgunluğa ve iş veriminde düşüşe yol açabilen etmenlerdir.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Fiziksel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Çevresel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/>
              </a:rPr>
              <a:t>Psikolojik </a:t>
            </a:r>
          </a:p>
          <a:p>
            <a:pPr marL="0" indent="0">
              <a:buNone/>
            </a:pPr>
            <a:endParaRPr lang="tr-TR" sz="2200">
              <a:latin typeface="Aptos"/>
            </a:endParaRPr>
          </a:p>
          <a:p>
            <a:pPr marL="0" indent="0">
              <a:buNone/>
            </a:pPr>
            <a:r>
              <a:rPr lang="tr-TR" sz="2200">
                <a:latin typeface="Aptos"/>
              </a:rPr>
              <a:t>olmak üzere 3’e ayrılmaktadır.</a:t>
            </a:r>
          </a:p>
        </p:txBody>
      </p:sp>
    </p:spTree>
    <p:extLst>
      <p:ext uri="{BB962C8B-B14F-4D97-AF65-F5344CB8AC3E}">
        <p14:creationId xmlns:p14="http://schemas.microsoft.com/office/powerpoint/2010/main" val="3059464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B80AB5-04E5-2C2D-26E9-EF3A3DA3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9725" y="5014525"/>
            <a:ext cx="4934153" cy="1401183"/>
          </a:xfrm>
        </p:spPr>
        <p:txBody>
          <a:bodyPr anchor="t">
            <a:normAutofit/>
          </a:bodyPr>
          <a:lstStyle/>
          <a:p>
            <a:r>
              <a:rPr lang="tr-TR" sz="3600" b="1">
                <a:latin typeface="Aptos"/>
              </a:rPr>
              <a:t>Fiziksel risk faktörleri </a:t>
            </a:r>
            <a:endParaRPr lang="tr-TR" sz="360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2013"/>
            <a:ext cx="4558748" cy="304296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3656" y="474740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96000" y="377688"/>
            <a:ext cx="6096000" cy="6480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1) Zorlayıcı / Uygunsuz Duruşlar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Eğilerek, bükülerek veya dönerek çalışma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Uzun süre ayakta ya da oturarak çalışma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Boyun, bel ve omuzların doğal olmayan pozisyonlarda tutulması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2) Tekrarlayıcı Hareketler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Aynı hareketin kısa aralıklarla ve sürekli yapılması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Klavye, </a:t>
            </a:r>
            <a:r>
              <a:rPr lang="tr-TR" sz="2000" err="1">
                <a:latin typeface="Aptos"/>
              </a:rPr>
              <a:t>mouse</a:t>
            </a:r>
            <a:r>
              <a:rPr lang="tr-TR" sz="2000">
                <a:latin typeface="Aptos"/>
              </a:rPr>
              <a:t>, montaj hattı gibi işlerde el–bilek zorlanması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3) Aşırı Kuvvet Kullanımı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Ağır yük kaldırma, itme veya çekme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El aletlerini fazla güç uygulayarak kullanma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4) Statik Yüklenme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Kasların uzun süre hareketsiz ve gergin tutulması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Monitöre sabit bakma, kolu askıda tutma gibi durumlar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5) İş İstasyonu Tasarımı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Masa, sandalye, ekran ve ekipmanların vücut ölçülerine uygun olmaması</a:t>
            </a:r>
          </a:p>
          <a:p>
            <a:pPr marL="0" indent="0">
              <a:buNone/>
            </a:pPr>
            <a:r>
              <a:rPr lang="tr-TR" sz="2000">
                <a:latin typeface="Aptos"/>
              </a:rPr>
              <a:t>    </a:t>
            </a:r>
            <a:r>
              <a:rPr lang="tr-TR" sz="2000" err="1">
                <a:latin typeface="Aptos"/>
              </a:rPr>
              <a:t>Ayarlanabilirliğin</a:t>
            </a:r>
            <a:r>
              <a:rPr lang="tr-TR" sz="2000">
                <a:latin typeface="Aptos"/>
              </a:rPr>
              <a:t> bulunmaması</a:t>
            </a:r>
          </a:p>
          <a:p>
            <a:pPr marL="0" indent="0">
              <a:buNone/>
            </a:pPr>
            <a:endParaRPr lang="tr-TR" sz="1300">
              <a:latin typeface="Aptos"/>
            </a:endParaRPr>
          </a:p>
          <a:p>
            <a:pPr marL="0" indent="0">
              <a:buNone/>
            </a:pPr>
            <a:endParaRPr lang="tr-TR" sz="13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29631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88596" y="4936931"/>
            <a:ext cx="4482059" cy="1253127"/>
          </a:xfrm>
        </p:spPr>
        <p:txBody>
          <a:bodyPr anchor="t">
            <a:normAutofit/>
          </a:bodyPr>
          <a:lstStyle/>
          <a:p>
            <a:r>
              <a:rPr lang="tr-TR" sz="3600" b="1">
                <a:latin typeface="Aptos"/>
              </a:rPr>
              <a:t>Çevresel risk faktörleri </a:t>
            </a:r>
            <a:endParaRPr lang="tr-TR" sz="36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14" y="667942"/>
            <a:ext cx="2504711" cy="167189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3"/>
          <a:srcRect b="10716"/>
          <a:stretch/>
        </p:blipFill>
        <p:spPr>
          <a:xfrm>
            <a:off x="865140" y="2534345"/>
            <a:ext cx="1742374" cy="157535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626" y="2534345"/>
            <a:ext cx="1742374" cy="118045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BB8BC3-C891-B7D3-CC28-D1E233DCF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4693032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D66DE-28D1-EA69-3ACC-6D107A117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0439" y="0"/>
            <a:ext cx="697615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250438" y="667942"/>
            <a:ext cx="6775910" cy="6190058"/>
          </a:xfrm>
        </p:spPr>
        <p:txBody>
          <a:bodyPr>
            <a:normAutofit/>
          </a:bodyPr>
          <a:lstStyle/>
          <a:p>
            <a:pPr marL="0" indent="0">
              <a:buClr>
                <a:srgbClr val="0070C0"/>
              </a:buClr>
              <a:buNone/>
            </a:pPr>
            <a:r>
              <a:rPr lang="tr-TR" sz="2000" b="1">
                <a:solidFill>
                  <a:schemeClr val="accent5"/>
                </a:solidFill>
                <a:latin typeface="Aptos Display" panose="020B0004020202020204" pitchFamily="34" charset="0"/>
              </a:rPr>
              <a:t>1) Gürültü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>
                <a:latin typeface="Aptos Display" panose="020B0004020202020204" pitchFamily="34" charset="0"/>
              </a:rPr>
              <a:t>İşyerinde istenmeyen ve zararlı seslerdir.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>
                <a:solidFill>
                  <a:schemeClr val="accent5"/>
                </a:solidFill>
                <a:latin typeface="Aptos Display" panose="020B0004020202020204" pitchFamily="34" charset="0"/>
              </a:rPr>
              <a:t>2) Sıcaklık, nem ve hava akımı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>
                <a:latin typeface="Aptos Display" panose="020B0004020202020204" pitchFamily="34" charset="0"/>
              </a:rPr>
              <a:t>Çalışma ortamının termal konforunu ifa eder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>
                <a:solidFill>
                  <a:schemeClr val="accent5"/>
                </a:solidFill>
                <a:latin typeface="Aptos Display" panose="020B0004020202020204" pitchFamily="34" charset="0"/>
              </a:rPr>
              <a:t>3) Aydınlatma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>
                <a:latin typeface="Aptos Display" panose="020B0004020202020204" pitchFamily="34" charset="0"/>
              </a:rPr>
              <a:t>İşin yapıldığı ortamın yeterli ve uygun ışıkla aydınlatılmasıdır.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>
                <a:solidFill>
                  <a:schemeClr val="accent5"/>
                </a:solidFill>
                <a:latin typeface="Aptos Display" panose="020B0004020202020204" pitchFamily="34" charset="0"/>
              </a:rPr>
              <a:t>4) Titreşim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>
                <a:latin typeface="Aptos Display" panose="020B0004020202020204" pitchFamily="34" charset="0"/>
              </a:rPr>
              <a:t>Makine ve ekipmanlardan vücuda iletilen mekanik salınımlardır.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>
                <a:solidFill>
                  <a:schemeClr val="accent5"/>
                </a:solidFill>
                <a:latin typeface="Aptos Display" panose="020B0004020202020204" pitchFamily="34" charset="0"/>
              </a:rPr>
              <a:t>5) Alçak ve yüksek basınç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>
                <a:latin typeface="Aptos Display" panose="020B0004020202020204" pitchFamily="34" charset="0"/>
              </a:rPr>
              <a:t>Normal atmosfer basıncının altı veya üstündeki ortamlardır.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 b="1">
                <a:solidFill>
                  <a:schemeClr val="accent5"/>
                </a:solidFill>
                <a:latin typeface="Aptos Display" panose="020B0004020202020204" pitchFamily="34" charset="0"/>
              </a:rPr>
              <a:t>6) Ortamdaki kimyasallar</a:t>
            </a:r>
          </a:p>
          <a:p>
            <a:pPr marL="0" indent="0">
              <a:buClr>
                <a:srgbClr val="0070C0"/>
              </a:buClr>
              <a:buNone/>
            </a:pPr>
            <a:r>
              <a:rPr lang="tr-TR" sz="2000">
                <a:latin typeface="Aptos Display" panose="020B0004020202020204" pitchFamily="34" charset="0"/>
              </a:rPr>
              <a:t>Gaz, buhar, toz, duman veya sıvı maddelere maruz kalmayı ifade eder.</a:t>
            </a:r>
          </a:p>
        </p:txBody>
      </p:sp>
    </p:spTree>
    <p:extLst>
      <p:ext uri="{BB962C8B-B14F-4D97-AF65-F5344CB8AC3E}">
        <p14:creationId xmlns:p14="http://schemas.microsoft.com/office/powerpoint/2010/main" val="1608534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762000" y="4966685"/>
            <a:ext cx="3809999" cy="1253127"/>
          </a:xfrm>
        </p:spPr>
        <p:txBody>
          <a:bodyPr anchor="t">
            <a:normAutofit/>
          </a:bodyPr>
          <a:lstStyle/>
          <a:p>
            <a:r>
              <a:rPr lang="tr-TR" sz="3200" b="1">
                <a:latin typeface="Aptos"/>
              </a:rPr>
              <a:t>Psikolojik risk faktörleri </a:t>
            </a:r>
            <a:endParaRPr lang="tr-TR" sz="320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527" y="667942"/>
            <a:ext cx="2592085" cy="167189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40" y="2534345"/>
            <a:ext cx="1742374" cy="116303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626" y="2534345"/>
            <a:ext cx="1742374" cy="116303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BB8BC3-C891-B7D3-CC28-D1E233DCF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4693032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D66DE-28D1-EA69-3ACC-6D107A117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0439" y="0"/>
            <a:ext cx="697615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972689" y="667942"/>
            <a:ext cx="5457312" cy="5499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1)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Ailevi sorunlar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2)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İş stresi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3)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Unutkanlık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4)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Ekonomik zorluklar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5)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Güvensizlik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6)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Sınırlı kariyer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7)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İşyerinde negatif sosyal iletişim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8)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Vardiyalı çalışma sistemi</a:t>
            </a:r>
          </a:p>
          <a:p>
            <a:pPr marL="0" indent="0">
              <a:buNone/>
            </a:pPr>
            <a:r>
              <a:rPr lang="tr-TR" sz="2000" b="1">
                <a:solidFill>
                  <a:schemeClr val="accent5"/>
                </a:solidFill>
                <a:latin typeface="Aptos"/>
              </a:rPr>
              <a:t>9)</a:t>
            </a:r>
            <a:r>
              <a:rPr lang="tr-TR" sz="2000">
                <a:solidFill>
                  <a:schemeClr val="accent5"/>
                </a:solidFill>
                <a:latin typeface="Aptos"/>
              </a:rPr>
              <a:t> </a:t>
            </a:r>
            <a:r>
              <a:rPr lang="tr-TR" sz="2000">
                <a:latin typeface="Aptos"/>
              </a:rPr>
              <a:t>Grup içerisinde çalışma baskısı</a:t>
            </a:r>
          </a:p>
        </p:txBody>
      </p:sp>
    </p:spTree>
    <p:extLst>
      <p:ext uri="{BB962C8B-B14F-4D97-AF65-F5344CB8AC3E}">
        <p14:creationId xmlns:p14="http://schemas.microsoft.com/office/powerpoint/2010/main" val="1272286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1- Omurganın S biçimini koru</a:t>
            </a:r>
          </a:p>
          <a:p>
            <a:pPr marL="0" indent="0">
              <a:buNone/>
            </a:pPr>
            <a:r>
              <a:rPr lang="tr-TR" sz="2200">
                <a:latin typeface="Aptos"/>
              </a:rPr>
              <a:t>    Gerek ayakta, gerekse oturarak yapılan çalışmalarda omurganın doğal pozisyonu (nötral) olan «S» şeklini korumak gerekmektedir.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68" y="329183"/>
            <a:ext cx="2956159" cy="342996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256" y="4079193"/>
            <a:ext cx="2247096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47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9224"/>
            <a:ext cx="5468112" cy="1481328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2- Dirsekleri içte omuzları gevşek tut</a:t>
            </a:r>
          </a:p>
          <a:p>
            <a:pPr marL="0" indent="0">
              <a:buNone/>
            </a:pPr>
            <a:r>
              <a:rPr lang="tr-TR" sz="2200"/>
              <a:t>    </a:t>
            </a:r>
            <a:r>
              <a:rPr lang="tr-TR" sz="2200">
                <a:latin typeface="Aptos"/>
              </a:rPr>
              <a:t>Dirsekler vücut kenarında olmalı ve omuzlar gevşek olarak bırakılmalıdır. Aksi takdirde vücutta daha çabuk yorgunluk başlayacaktır.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55597"/>
            <a:ext cx="5458968" cy="334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1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3- Bilekleri doğal tut</a:t>
            </a:r>
          </a:p>
          <a:p>
            <a:pPr marL="0" indent="0">
              <a:buNone/>
            </a:pPr>
            <a:r>
              <a:rPr lang="tr-TR" sz="2200">
                <a:latin typeface="Aptos" panose="02110004020202020204"/>
              </a:rPr>
              <a:t>   Bilek duruşunda zorlanmaların önüne geçmek için, eli ön kol ile aynı düzlem üzerinde tutmak gerekir.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25967"/>
            <a:ext cx="4014216" cy="2236401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17620"/>
            <a:ext cx="3995928" cy="16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36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4- Aşırı zorlanmayı önle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pPr marL="0" indent="0">
              <a:buNone/>
            </a:pPr>
            <a:endParaRPr lang="tr-TR" sz="220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42890"/>
            <a:ext cx="4014216" cy="300255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42814"/>
            <a:ext cx="3995928" cy="184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75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5- Her şeyi kolay ulaşabilecek şekilde yerleştir</a:t>
            </a:r>
          </a:p>
          <a:p>
            <a:endParaRPr lang="tr-TR" sz="220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44299"/>
            <a:ext cx="4014216" cy="319973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570" y="4079193"/>
            <a:ext cx="2822468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18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>
                <a:solidFill>
                  <a:srgbClr val="FF0000"/>
                </a:solidFill>
                <a:latin typeface="Aptos"/>
              </a:rPr>
              <a:t>6- Uygun yükseklikte çalış</a:t>
            </a:r>
          </a:p>
          <a:p>
            <a:pPr marL="0" indent="0">
              <a:buNone/>
            </a:pPr>
            <a:r>
              <a:rPr lang="tr-TR" sz="2200">
                <a:latin typeface="Aptos"/>
              </a:rPr>
              <a:t>    İstisnalar: Ağır işler aşağıda, hassas işler yukarıda çalışılmalıdır.</a:t>
            </a:r>
          </a:p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3457"/>
            <a:ext cx="4760259" cy="317350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209" y="2904845"/>
            <a:ext cx="2330824" cy="327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51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7- Aşırı hareketleri azalt</a:t>
            </a:r>
          </a:p>
          <a:p>
            <a:endParaRPr lang="tr-TR" sz="220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70239"/>
            <a:ext cx="4014216" cy="194785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69244"/>
            <a:ext cx="3995928" cy="159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40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8- Yorgunluğu ve statik yükü en aza indir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endParaRPr lang="tr-TR" sz="22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023" y="329183"/>
            <a:ext cx="3163850" cy="342996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609" y="4079193"/>
            <a:ext cx="3684390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58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9- Basınç noktalarını en aza indir</a:t>
            </a:r>
          </a:p>
          <a:p>
            <a:pPr marL="0" indent="0">
              <a:buNone/>
            </a:pPr>
            <a:endParaRPr lang="tr-TR" sz="2200" b="1">
              <a:solidFill>
                <a:srgbClr val="FF0000"/>
              </a:solidFill>
              <a:latin typeface="Aptos"/>
            </a:endParaRPr>
          </a:p>
          <a:p>
            <a:endParaRPr lang="tr-TR" sz="220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05581"/>
            <a:ext cx="4014216" cy="2477173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26540"/>
            <a:ext cx="3995928" cy="188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89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5465064" cy="1481328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10- Hareket, egzersiz ve gerinmeyi unutma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endParaRPr lang="tr-TR" sz="220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516" y="640080"/>
            <a:ext cx="328403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32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11- Rahat bir çevre sağla ve iş organizasyonunu geliştir</a:t>
            </a:r>
          </a:p>
          <a:p>
            <a:pPr marL="0" indent="0">
              <a:buNone/>
            </a:pPr>
            <a:r>
              <a:rPr lang="tr-TR" sz="2200"/>
              <a:t>    </a:t>
            </a:r>
            <a:r>
              <a:rPr lang="tr-TR" sz="2200">
                <a:latin typeface="Aptos" panose="02110004020202020204"/>
              </a:rPr>
              <a:t>Çalışma ortamını ve iş organizasyonunu sürekli olarak geliştirmek en önemli seçenektir (mekan, dinlenme araları, vardiya </a:t>
            </a:r>
            <a:r>
              <a:rPr lang="tr-TR" sz="2200" err="1">
                <a:latin typeface="Aptos" panose="02110004020202020204"/>
              </a:rPr>
              <a:t>vs</a:t>
            </a:r>
            <a:r>
              <a:rPr lang="tr-TR" sz="2200">
                <a:latin typeface="Aptos" panose="02110004020202020204"/>
              </a:rPr>
              <a:t>).</a:t>
            </a:r>
            <a:endParaRPr lang="tr-TR" sz="2200" b="1">
              <a:latin typeface="Aptos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08047"/>
            <a:ext cx="4014216" cy="287224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08" y="4079193"/>
            <a:ext cx="3106192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309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12- Doğru ofis düzenlemesi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endParaRPr lang="tr-TR" sz="22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801614"/>
            <a:ext cx="5468112" cy="321463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818588"/>
            <a:ext cx="5468112" cy="318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62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13- Büroda bilgisayar ile çalışmalarda doğal duruş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endParaRPr lang="tr-TR" sz="22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32" y="2569464"/>
            <a:ext cx="3678936" cy="367893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79642"/>
            <a:ext cx="5468112" cy="345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92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tr-TR" b="1">
                <a:latin typeface="Aptos"/>
              </a:rPr>
              <a:t>Ergonominin temel ilkeleri</a:t>
            </a:r>
            <a:endParaRPr lang="tr-TR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>
                <a:solidFill>
                  <a:srgbClr val="FF0000"/>
                </a:solidFill>
                <a:latin typeface="Aptos"/>
              </a:rPr>
              <a:t>14- Ekran ve kumanda/kontrol elemanlarının kolay anlaşılır olması</a:t>
            </a:r>
          </a:p>
          <a:p>
            <a:pPr marL="0" indent="0">
              <a:buNone/>
            </a:pPr>
            <a:endParaRPr lang="tr-TR" sz="2200" b="1">
              <a:latin typeface="Aptos"/>
            </a:endParaRPr>
          </a:p>
          <a:p>
            <a:endParaRPr lang="tr-TR" sz="22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76" y="2569464"/>
            <a:ext cx="4905248" cy="367893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590785"/>
            <a:ext cx="5468112" cy="36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05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611"/>
          </a:xfrm>
        </p:spPr>
        <p:txBody>
          <a:bodyPr/>
          <a:lstStyle/>
          <a:p>
            <a:r>
              <a:rPr lang="tr-TR" b="1">
                <a:latin typeface="Aptos"/>
              </a:rPr>
              <a:t>İlgili yönetmelikler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95312"/>
            <a:ext cx="10515600" cy="53626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>
                <a:latin typeface="Aptos"/>
              </a:rPr>
              <a:t>   </a:t>
            </a:r>
            <a:r>
              <a:rPr lang="tr-TR" sz="2600">
                <a:latin typeface="Aptos"/>
              </a:rPr>
              <a:t>Türkiye’de ergonomiyle ilgili hükümler, doğrudan “Ergonomi Yönetmeliği” adıyla değil; çeşitli </a:t>
            </a:r>
            <a:r>
              <a:rPr lang="tr-TR" sz="2600" b="1">
                <a:latin typeface="Aptos"/>
              </a:rPr>
              <a:t>İş Sağlığı ve Güvenliği (İSG)</a:t>
            </a:r>
            <a:r>
              <a:rPr lang="tr-TR" sz="2600">
                <a:latin typeface="Aptos"/>
              </a:rPr>
              <a:t> mevzuatları içinde yer alan düzenlemelerle ele alınır. </a:t>
            </a:r>
          </a:p>
          <a:p>
            <a:pPr marL="0" indent="0">
              <a:buNone/>
            </a:pPr>
            <a:endParaRPr lang="tr-TR" sz="2600">
              <a:latin typeface="Aptos"/>
            </a:endParaRPr>
          </a:p>
          <a:p>
            <a:pPr marL="0" indent="0">
              <a:buNone/>
            </a:pPr>
            <a:r>
              <a:rPr lang="tr-TR" sz="2600" b="1">
                <a:solidFill>
                  <a:srgbClr val="FF0000"/>
                </a:solidFill>
                <a:latin typeface="Aptos"/>
              </a:rPr>
              <a:t>6331 Sayılı İş Sağlığı ve Güvenliği Kanunu</a:t>
            </a:r>
          </a:p>
          <a:p>
            <a:r>
              <a:rPr lang="tr-TR" sz="2600">
                <a:latin typeface="Aptos"/>
              </a:rPr>
              <a:t>İşverenin, çalışanların sağlık ve güvenliğini korumak için gerekli önlemleri alma yükümlülüğünü düzenler.</a:t>
            </a:r>
          </a:p>
          <a:p>
            <a:r>
              <a:rPr lang="tr-TR" sz="2600">
                <a:latin typeface="Aptos"/>
              </a:rPr>
              <a:t>İşin insana uygun hale getirilmesi, ergonomik risklerin değerlendirilmesi ve önlenmesi bu kapsamda değerlendirilir.</a:t>
            </a:r>
          </a:p>
          <a:p>
            <a:r>
              <a:rPr lang="tr-TR" sz="2600">
                <a:latin typeface="Aptos"/>
              </a:rPr>
              <a:t>Madde 4 ve 5’te “risklerin kaynağında önlenmesi” ve “işin çalışana uygun hale getirilmesi” ifadeleri ergonomik yaklaşımı destekler.</a:t>
            </a:r>
          </a:p>
          <a:p>
            <a:pPr marL="0" indent="0">
              <a:buNone/>
            </a:pPr>
            <a:endParaRPr lang="tr-TR" sz="2600">
              <a:latin typeface="Aptos"/>
            </a:endParaRPr>
          </a:p>
          <a:p>
            <a:pPr marL="0" indent="0">
              <a:buNone/>
            </a:pPr>
            <a:r>
              <a:rPr lang="tr-TR" sz="2600" b="1">
                <a:solidFill>
                  <a:srgbClr val="FF0000"/>
                </a:solidFill>
                <a:latin typeface="Aptos"/>
              </a:rPr>
              <a:t>İş Ekipmanlarının Kullanımında Sağlık ve Güvenlik Şartları Yönetmeliği</a:t>
            </a:r>
            <a:endParaRPr lang="tr-TR" sz="2600">
              <a:solidFill>
                <a:srgbClr val="FF0000"/>
              </a:solidFill>
              <a:latin typeface="Aptos"/>
            </a:endParaRPr>
          </a:p>
          <a:p>
            <a:r>
              <a:rPr lang="tr-TR" sz="2600">
                <a:latin typeface="Aptos"/>
              </a:rPr>
              <a:t>Kullanılan makinelerin, araçların ve ekipmanların ergonomik tasarım ilkelerine uygun olmasını zorunlu kılar.</a:t>
            </a:r>
          </a:p>
          <a:p>
            <a:r>
              <a:rPr lang="tr-TR" sz="2600">
                <a:latin typeface="Aptos"/>
              </a:rPr>
              <a:t>Çalışanların ekipmanları güvenli ve rahat biçimde kullanabilmesi hedeflenir.</a:t>
            </a:r>
          </a:p>
          <a:p>
            <a:pPr marL="0" indent="0">
              <a:buNone/>
            </a:pPr>
            <a:endParaRPr lang="tr-TR" sz="2400">
              <a:solidFill>
                <a:srgbClr val="0E1318"/>
              </a:solidFill>
              <a:latin typeface="Canva Sans"/>
            </a:endParaRPr>
          </a:p>
          <a:p>
            <a:pPr marL="0" indent="0">
              <a:buNone/>
            </a:pPr>
            <a:endParaRPr lang="tr-TR" sz="2700" b="1">
              <a:latin typeface="Aptos"/>
            </a:endParaRPr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3082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7742-B2FF-1675-ACE4-858A315E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2643CBB-0B80-4372-233F-C5583D96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611"/>
          </a:xfrm>
        </p:spPr>
        <p:txBody>
          <a:bodyPr/>
          <a:lstStyle/>
          <a:p>
            <a:r>
              <a:rPr lang="tr-TR" b="1">
                <a:latin typeface="Aptos"/>
              </a:rPr>
              <a:t>İlgili yönetmelikler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4413E5-B417-1D70-10AA-B6FAD69D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12"/>
            <a:ext cx="10515600" cy="53626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sz="2600" b="1">
                <a:solidFill>
                  <a:srgbClr val="FF0000"/>
                </a:solidFill>
                <a:latin typeface="Aptos"/>
              </a:rPr>
              <a:t>Ekranlı Araçlarla Çalışmalarda Sağlık ve Güvenlik Önlemleri Hakkında Yönetmelik</a:t>
            </a:r>
            <a:endParaRPr lang="tr-TR" sz="2600">
              <a:solidFill>
                <a:srgbClr val="FF0000"/>
              </a:solidFill>
              <a:latin typeface="Aptos"/>
            </a:endParaRPr>
          </a:p>
          <a:p>
            <a:r>
              <a:rPr lang="tr-TR" sz="2600">
                <a:latin typeface="Aptos"/>
              </a:rPr>
              <a:t>Bilgisayar başında çalışanlar için ergonomik düzenlemeleri içerir.</a:t>
            </a:r>
          </a:p>
          <a:p>
            <a:r>
              <a:rPr lang="tr-TR" sz="2600">
                <a:latin typeface="Aptos"/>
              </a:rPr>
              <a:t>Ekran, klavye, masa, sandalye, aydınlatma ve çalışma pozisyonlarıyla ilgili ayrıntılı ergonomik kriterler belirlenmiştir.</a:t>
            </a:r>
          </a:p>
          <a:p>
            <a:pPr marL="0" indent="0">
              <a:buNone/>
            </a:pPr>
            <a:endParaRPr lang="tr-TR" sz="2600" b="1">
              <a:latin typeface="Aptos"/>
            </a:endParaRPr>
          </a:p>
          <a:p>
            <a:pPr marL="0" indent="0">
              <a:buNone/>
            </a:pPr>
            <a:r>
              <a:rPr lang="tr-TR" sz="2600" b="1">
                <a:solidFill>
                  <a:srgbClr val="FF0000"/>
                </a:solidFill>
                <a:latin typeface="Aptos"/>
              </a:rPr>
              <a:t>Elle Taşıma İşleri Yönetmeliği</a:t>
            </a:r>
            <a:endParaRPr lang="tr-TR" sz="2600">
              <a:solidFill>
                <a:srgbClr val="FF0000"/>
              </a:solidFill>
              <a:latin typeface="Aptos"/>
            </a:endParaRPr>
          </a:p>
          <a:p>
            <a:r>
              <a:rPr lang="tr-TR" sz="2600">
                <a:latin typeface="Aptos"/>
              </a:rPr>
              <a:t>Yük kaldırma, taşıma, itme veya çekme gibi işlerde çalışanların kas-iskelet sistemi rahatsızlıklarına karşı korunmasını amaçlar.</a:t>
            </a:r>
          </a:p>
          <a:p>
            <a:r>
              <a:rPr lang="tr-TR" sz="2600">
                <a:latin typeface="Aptos"/>
              </a:rPr>
              <a:t>Ergonomik kaldırma teknikleri, yük ağırlığı sınırları ve iş organizasyonu konularında hükümler içerir.</a:t>
            </a:r>
          </a:p>
          <a:p>
            <a:pPr marL="0" indent="0">
              <a:buNone/>
            </a:pPr>
            <a:endParaRPr lang="tr-TR" sz="2600">
              <a:latin typeface="Aptos"/>
            </a:endParaRPr>
          </a:p>
          <a:p>
            <a:pPr marL="0" indent="0">
              <a:buNone/>
            </a:pPr>
            <a:r>
              <a:rPr lang="tr-TR" sz="2600" b="1">
                <a:solidFill>
                  <a:srgbClr val="FF0000"/>
                </a:solidFill>
                <a:latin typeface="Aptos"/>
              </a:rPr>
              <a:t>Çalışanların Titreşimle İlgili Risklerden Korunmalarına Dair Yönetmelik</a:t>
            </a:r>
          </a:p>
          <a:p>
            <a:r>
              <a:rPr lang="tr-TR" sz="2600">
                <a:latin typeface="Aptos"/>
              </a:rPr>
              <a:t>Titreşimin çalışanlar üzerindeki olumsuz etkilerini (özellikle kas-iskelet sistemi, dolaşım sistemi ve sinir sistemi rahatsızlıklarını) önlemek,</a:t>
            </a:r>
          </a:p>
          <a:p>
            <a:r>
              <a:rPr lang="tr-TR" sz="2600">
                <a:latin typeface="Aptos"/>
              </a:rPr>
              <a:t>Titreşim maruziyetini sınırlandırmak,</a:t>
            </a:r>
          </a:p>
          <a:p>
            <a:pPr marL="0" indent="0">
              <a:buNone/>
            </a:pPr>
            <a:endParaRPr lang="tr-TR" sz="2400">
              <a:solidFill>
                <a:srgbClr val="0E1318"/>
              </a:solidFill>
              <a:latin typeface="Canva Sans"/>
            </a:endParaRPr>
          </a:p>
          <a:p>
            <a:pPr marL="0" indent="0">
              <a:buNone/>
            </a:pPr>
            <a:endParaRPr lang="tr-TR" sz="2700" b="1">
              <a:latin typeface="Aptos"/>
            </a:endParaRPr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8673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19C4582-6E58-1034-DFA3-EFDD7692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5"/>
            <a:ext cx="11528385" cy="1325563"/>
          </a:xfrm>
        </p:spPr>
        <p:txBody>
          <a:bodyPr>
            <a:normAutofit/>
          </a:bodyPr>
          <a:lstStyle/>
          <a:p>
            <a:r>
              <a:rPr lang="tr-TR" sz="3600" b="1">
                <a:latin typeface="Aptos"/>
              </a:rPr>
              <a:t>Ergonomik Çözümler ile Çalışma Verimini Artırma Yöntemleri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5E7076-AE64-F8C1-48DF-A41399FE3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0915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/>
              <a:t>  </a:t>
            </a:r>
            <a:r>
              <a:rPr lang="tr-TR" sz="2200">
                <a:latin typeface="Aptos" panose="02110004020202020204"/>
              </a:rPr>
              <a:t>Oturma pozisyonunu algılayarak yanlış duruşlarda uyarı veren </a:t>
            </a:r>
            <a:r>
              <a:rPr lang="tr-TR" sz="2200" b="1">
                <a:latin typeface="Aptos" panose="02110004020202020204"/>
              </a:rPr>
              <a:t>Sensörlü sandalyeler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 panose="02110004020202020204"/>
              </a:rPr>
              <a:t>   Çalışanların masa başında sıcaklık ve hava akışını kontrol edebilen </a:t>
            </a:r>
            <a:r>
              <a:rPr lang="tr-TR" sz="2200" b="1">
                <a:latin typeface="Aptos" panose="02110004020202020204"/>
              </a:rPr>
              <a:t>Kişisel iklim kontrolü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 panose="02110004020202020204"/>
              </a:rPr>
              <a:t>   Klavye, fare ve ekran kullanım sürelerini izleyerek mola hatırlatmaları yapan </a:t>
            </a:r>
            <a:r>
              <a:rPr lang="tr-TR" sz="2200" b="1">
                <a:latin typeface="Aptos" panose="02110004020202020204"/>
              </a:rPr>
              <a:t>Ergonomi takip yazılımları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 panose="02110004020202020204"/>
              </a:rPr>
              <a:t>  Uzun süre hareketsiz kalındığında kısa egzersiz veya esneme önerileri sunabilecek </a:t>
            </a:r>
            <a:r>
              <a:rPr lang="tr-TR" sz="2200" b="1">
                <a:latin typeface="Aptos" panose="02110004020202020204"/>
              </a:rPr>
              <a:t>Akıllı bileklikler veya masa sensörleri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>
                <a:latin typeface="Aptos" panose="02110004020202020204"/>
              </a:rPr>
              <a:t>  Özellikle sabah saatlerinde rahatsızlık vermeyecek seviyede çalınan </a:t>
            </a:r>
            <a:r>
              <a:rPr lang="tr-TR" sz="2200" b="1">
                <a:latin typeface="Aptos" panose="02110004020202020204"/>
              </a:rPr>
              <a:t>Müzik yayını</a:t>
            </a:r>
          </a:p>
        </p:txBody>
      </p:sp>
    </p:spTree>
    <p:extLst>
      <p:ext uri="{BB962C8B-B14F-4D97-AF65-F5344CB8AC3E}">
        <p14:creationId xmlns:p14="http://schemas.microsoft.com/office/powerpoint/2010/main" val="225339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9B77E4691661743A660FF05B7F04230" ma:contentTypeVersion="7" ma:contentTypeDescription="Yeni belge oluşturun." ma:contentTypeScope="" ma:versionID="9d32d04d70d6d9baea567697068c4d4e">
  <xsd:schema xmlns:xsd="http://www.w3.org/2001/XMLSchema" xmlns:xs="http://www.w3.org/2001/XMLSchema" xmlns:p="http://schemas.microsoft.com/office/2006/metadata/properties" xmlns:ns2="cdf1b71d-17dc-43d1-a227-ce462ff3c2cb" targetNamespace="http://schemas.microsoft.com/office/2006/metadata/properties" ma:root="true" ma:fieldsID="5597c3ccb989186d08c174c65806cc46" ns2:_="">
    <xsd:import namespace="cdf1b71d-17dc-43d1-a227-ce462ff3c2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f1b71d-17dc-43d1-a227-ce462ff3c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096100-A305-4FCA-A0D6-560F28E567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763072-F232-4950-9FBA-867B01247D29}">
  <ds:schemaRefs>
    <ds:schemaRef ds:uri="cdf1b71d-17dc-43d1-a227-ce462ff3c2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35DE913-D621-4D76-B245-6CEFFFD1B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Teması</vt:lpstr>
      <vt:lpstr>PowerPoint Presentation</vt:lpstr>
      <vt:lpstr>Ergonomi </vt:lpstr>
      <vt:lpstr>Ergonomi </vt:lpstr>
      <vt:lpstr>Ergonomi </vt:lpstr>
      <vt:lpstr>Ergonomi </vt:lpstr>
      <vt:lpstr>Ergonominin Önemi</vt:lpstr>
      <vt:lpstr>Ergonomi </vt:lpstr>
      <vt:lpstr>Ergonomiye bağlı oluşabilecek meslek hastalıkları</vt:lpstr>
      <vt:lpstr>Ergonominin ana alanları</vt:lpstr>
      <vt:lpstr>Fiziksel Ergonomi</vt:lpstr>
      <vt:lpstr>Fiziksel Ergonomi</vt:lpstr>
      <vt:lpstr>Fiziksel Ergonomi</vt:lpstr>
      <vt:lpstr>Bilişsel Ergonomi</vt:lpstr>
      <vt:lpstr>Örgütsel Ergonomi</vt:lpstr>
      <vt:lpstr>Ergonomi ile ilişkili bilim dalları</vt:lpstr>
      <vt:lpstr>Antropometri </vt:lpstr>
      <vt:lpstr>Antropometri </vt:lpstr>
      <vt:lpstr>Antropometri </vt:lpstr>
      <vt:lpstr>Antropometri</vt:lpstr>
      <vt:lpstr>PowerPoint Presentation</vt:lpstr>
      <vt:lpstr>PowerPoint Presentation</vt:lpstr>
      <vt:lpstr>PowerPoint Presentation</vt:lpstr>
      <vt:lpstr>Fizyoloji ve Biyomekanik</vt:lpstr>
      <vt:lpstr>Ergonomik risk faktörleri </vt:lpstr>
      <vt:lpstr>Fiziksel risk faktörleri </vt:lpstr>
      <vt:lpstr>Çevresel risk faktörleri </vt:lpstr>
      <vt:lpstr>Psikolojik risk faktörleri 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Ergonominin temel ilkeleri</vt:lpstr>
      <vt:lpstr>İlgili yönetmelikler</vt:lpstr>
      <vt:lpstr>İlgili yönetmelikler</vt:lpstr>
      <vt:lpstr>Ergonomik Çözümler ile Çalışma Verimini Artırma Yöntemleri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samuk</dc:creator>
  <cp:revision>1</cp:revision>
  <dcterms:created xsi:type="dcterms:W3CDTF">2026-01-06T15:17:56Z</dcterms:created>
  <dcterms:modified xsi:type="dcterms:W3CDTF">2026-04-07T10:57:42Z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0x010100F9B77E4691661743A660FF05B7F04230</vt:lpwstr>
  </property>
</Properties>
</file>