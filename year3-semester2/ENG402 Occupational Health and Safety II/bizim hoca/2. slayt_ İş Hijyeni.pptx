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5"/>
  </p:notesMasterIdLst>
  <p:sldIdLst>
    <p:sldId id="257" r:id="rId5"/>
    <p:sldId id="260" r:id="rId6"/>
    <p:sldId id="259" r:id="rId7"/>
    <p:sldId id="258" r:id="rId8"/>
    <p:sldId id="261" r:id="rId9"/>
    <p:sldId id="262" r:id="rId10"/>
    <p:sldId id="263" r:id="rId11"/>
    <p:sldId id="264" r:id="rId12"/>
    <p:sldId id="265" r:id="rId13"/>
    <p:sldId id="298" r:id="rId14"/>
    <p:sldId id="271" r:id="rId15"/>
    <p:sldId id="267" r:id="rId16"/>
    <p:sldId id="268" r:id="rId17"/>
    <p:sldId id="270" r:id="rId18"/>
    <p:sldId id="269" r:id="rId19"/>
    <p:sldId id="272" r:id="rId20"/>
    <p:sldId id="278" r:id="rId21"/>
    <p:sldId id="277" r:id="rId22"/>
    <p:sldId id="276" r:id="rId23"/>
    <p:sldId id="275" r:id="rId24"/>
    <p:sldId id="274" r:id="rId25"/>
    <p:sldId id="273" r:id="rId26"/>
    <p:sldId id="279" r:id="rId27"/>
    <p:sldId id="280" r:id="rId28"/>
    <p:sldId id="281" r:id="rId29"/>
    <p:sldId id="282" r:id="rId30"/>
    <p:sldId id="299" r:id="rId31"/>
    <p:sldId id="300" r:id="rId32"/>
    <p:sldId id="301" r:id="rId33"/>
    <p:sldId id="302" r:id="rId34"/>
    <p:sldId id="288" r:id="rId35"/>
    <p:sldId id="289" r:id="rId36"/>
    <p:sldId id="290" r:id="rId37"/>
    <p:sldId id="291" r:id="rId38"/>
    <p:sldId id="292" r:id="rId39"/>
    <p:sldId id="293" r:id="rId40"/>
    <p:sldId id="294" r:id="rId41"/>
    <p:sldId id="295" r:id="rId42"/>
    <p:sldId id="296" r:id="rId43"/>
    <p:sldId id="297" r:id="rId4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55789-DD1F-DD34-D168-8B50F2CAD352}" v="1" dt="2026-04-06T16:48:30.139"/>
    <p1510:client id="{3794D254-5D6A-DD1D-D5FF-57C296FE41AC}" v="4" dt="2026-04-07T11:10:03.997"/>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Orta Stil 2 - Vurgu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Orta Stil 2 - Vurgu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4C1A8A3-306A-4EB7-A6B1-4F7E0EB9C5D6}" styleName="Orta Stil 3 - Vurgu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PEREN ÇINKI" userId="S::a.cinki2023@gtu.edu.tr::92be342b-2cfc-4d89-9e33-efd5063c3bd4" providerId="AD" clId="Web-{0B655789-DD1F-DD34-D168-8B50F2CAD352}"/>
    <pc:docChg chg="modSld">
      <pc:chgData name="ALPEREN ÇINKI" userId="S::a.cinki2023@gtu.edu.tr::92be342b-2cfc-4d89-9e33-efd5063c3bd4" providerId="AD" clId="Web-{0B655789-DD1F-DD34-D168-8B50F2CAD352}" dt="2026-04-06T16:48:30.139" v="0" actId="1076"/>
      <pc:docMkLst>
        <pc:docMk/>
      </pc:docMkLst>
      <pc:sldChg chg="modSp">
        <pc:chgData name="ALPEREN ÇINKI" userId="S::a.cinki2023@gtu.edu.tr::92be342b-2cfc-4d89-9e33-efd5063c3bd4" providerId="AD" clId="Web-{0B655789-DD1F-DD34-D168-8B50F2CAD352}" dt="2026-04-06T16:48:30.139" v="0" actId="1076"/>
        <pc:sldMkLst>
          <pc:docMk/>
          <pc:sldMk cId="937379469" sldId="282"/>
        </pc:sldMkLst>
        <pc:graphicFrameChg chg="mod">
          <ac:chgData name="ALPEREN ÇINKI" userId="S::a.cinki2023@gtu.edu.tr::92be342b-2cfc-4d89-9e33-efd5063c3bd4" providerId="AD" clId="Web-{0B655789-DD1F-DD34-D168-8B50F2CAD352}" dt="2026-04-06T16:48:30.139" v="0" actId="1076"/>
          <ac:graphicFrameMkLst>
            <pc:docMk/>
            <pc:sldMk cId="937379469" sldId="282"/>
            <ac:graphicFrameMk id="2" creationId="{84B6E926-24B9-5F8D-FC27-3F97CB799813}"/>
          </ac:graphicFrameMkLst>
        </pc:graphicFrameChg>
      </pc:sldChg>
    </pc:docChg>
  </pc:docChgLst>
  <pc:docChgLst>
    <pc:chgData name="MUSTAFA ADİL ÖZBEKÇİ" userId="S::m.ozbekci2023@gtu.edu.tr::4cbc7c19-1e1b-47b1-8061-52b3c4d44d65" providerId="AD" clId="Web-{3794D254-5D6A-DD1D-D5FF-57C296FE41AC}"/>
    <pc:docChg chg="modSld">
      <pc:chgData name="MUSTAFA ADİL ÖZBEKÇİ" userId="S::m.ozbekci2023@gtu.edu.tr::4cbc7c19-1e1b-47b1-8061-52b3c4d44d65" providerId="AD" clId="Web-{3794D254-5D6A-DD1D-D5FF-57C296FE41AC}" dt="2026-04-07T11:10:03.997" v="0" actId="14100"/>
      <pc:docMkLst>
        <pc:docMk/>
      </pc:docMkLst>
      <pc:sldChg chg="modSp">
        <pc:chgData name="MUSTAFA ADİL ÖZBEKÇİ" userId="S::m.ozbekci2023@gtu.edu.tr::4cbc7c19-1e1b-47b1-8061-52b3c4d44d65" providerId="AD" clId="Web-{3794D254-5D6A-DD1D-D5FF-57C296FE41AC}" dt="2026-04-07T11:10:03.997" v="0" actId="14100"/>
        <pc:sldMkLst>
          <pc:docMk/>
          <pc:sldMk cId="3557816193" sldId="257"/>
        </pc:sldMkLst>
        <pc:spChg chg="mod">
          <ac:chgData name="MUSTAFA ADİL ÖZBEKÇİ" userId="S::m.ozbekci2023@gtu.edu.tr::4cbc7c19-1e1b-47b1-8061-52b3c4d44d65" providerId="AD" clId="Web-{3794D254-5D6A-DD1D-D5FF-57C296FE41AC}" dt="2026-04-07T11:10:03.997" v="0" actId="14100"/>
          <ac:spMkLst>
            <pc:docMk/>
            <pc:sldMk cId="3557816193" sldId="257"/>
            <ac:spMk id="3" creationId="{2B2B0D50-81E2-5470-1304-46CCA8F062A5}"/>
          </ac:spMkLst>
        </pc:spChg>
      </pc:sldChg>
    </pc:docChg>
  </pc:docChgLst>
  <pc:docChgLst>
    <pc:chgData name="CANSU DÜZGÜN" userId="S::c.duzgun2024@gtu.edu.tr::6d9d9bbe-456a-45cd-a1d8-8d189568ce4f" providerId="AD" clId="Web-{05F6AE77-7EFC-D82B-DC8F-714386A6E90F}"/>
    <pc:docChg chg="delSld">
      <pc:chgData name="CANSU DÜZGÜN" userId="S::c.duzgun2024@gtu.edu.tr::6d9d9bbe-456a-45cd-a1d8-8d189568ce4f" providerId="AD" clId="Web-{05F6AE77-7EFC-D82B-DC8F-714386A6E90F}" dt="2026-03-14T19:16:05.844" v="0"/>
      <pc:docMkLst>
        <pc:docMk/>
      </pc:docMkLst>
      <pc:sldChg chg="del">
        <pc:chgData name="CANSU DÜZGÜN" userId="S::c.duzgun2024@gtu.edu.tr::6d9d9bbe-456a-45cd-a1d8-8d189568ce4f" providerId="AD" clId="Web-{05F6AE77-7EFC-D82B-DC8F-714386A6E90F}" dt="2026-03-14T19:16:05.844" v="0"/>
        <pc:sldMkLst>
          <pc:docMk/>
          <pc:sldMk cId="1793123426"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6F4982-B680-46D1-AFB3-479AE2C9EF4D}" type="datetimeFigureOut">
              <a:rPr lang="tr-TR" smtClean="0"/>
              <a:t>7.04.2026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B7B3CD-5FBF-44E3-9BF1-96F783DBE1CA}" type="slidenum">
              <a:rPr lang="tr-TR" smtClean="0"/>
              <a:t>‹#›</a:t>
            </a:fld>
            <a:endParaRPr lang="tr-TR"/>
          </a:p>
        </p:txBody>
      </p:sp>
    </p:spTree>
    <p:extLst>
      <p:ext uri="{BB962C8B-B14F-4D97-AF65-F5344CB8AC3E}">
        <p14:creationId xmlns:p14="http://schemas.microsoft.com/office/powerpoint/2010/main" val="1740215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D4EE89-4AE0-4C61-048D-408BAAADEBA3}"/>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F1001C81-F1B3-BCB0-D04A-07C746AF9C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576E3C1F-DADD-BF99-94CB-A84CDADB018C}"/>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5" name="Alt Bilgi Yer Tutucusu 4">
            <a:extLst>
              <a:ext uri="{FF2B5EF4-FFF2-40B4-BE49-F238E27FC236}">
                <a16:creationId xmlns:a16="http://schemas.microsoft.com/office/drawing/2014/main" id="{94247C20-E9DA-159B-5826-AABC53457EF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69D09E3-F4D7-E93F-E767-53B17AB3A455}"/>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434351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3B377A-DE38-EA3A-606D-AEBD1F0E4C0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7ECD2FF-9A18-77A9-40DF-71EDB685D1D9}"/>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20F8367-19AF-8372-7BD0-92C1EF67E8CB}"/>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5" name="Alt Bilgi Yer Tutucusu 4">
            <a:extLst>
              <a:ext uri="{FF2B5EF4-FFF2-40B4-BE49-F238E27FC236}">
                <a16:creationId xmlns:a16="http://schemas.microsoft.com/office/drawing/2014/main" id="{FD64B59F-4F9A-BD45-A887-176A1E1D74C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E4BE0B9-7A28-159A-ECED-24806CBF1B64}"/>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53865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F3D2175-6A7B-B0D6-312C-96DDA1262383}"/>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034395DC-D0A4-72FD-0B99-E1E3A5D363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6039D845-42F4-4AD9-40B3-7D6B2DC0168E}"/>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5" name="Alt Bilgi Yer Tutucusu 4">
            <a:extLst>
              <a:ext uri="{FF2B5EF4-FFF2-40B4-BE49-F238E27FC236}">
                <a16:creationId xmlns:a16="http://schemas.microsoft.com/office/drawing/2014/main" id="{F3B4059A-EA0A-2E3B-6734-5C53141E3F8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A41DD7B-6F7A-63F7-DCD6-9BFB39498076}"/>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16565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472EE0-C16A-B1E3-0561-6B319C32E454}"/>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8D13642A-20CD-A993-8B1B-DF1D51184461}"/>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47082C94-DE1B-F502-20CF-A7F1C82DFA8A}"/>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E45AF9F4-4A43-F793-AD80-168BF2F3BC8F}"/>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6" name="Alt Bilgi Yer Tutucusu 5">
            <a:extLst>
              <a:ext uri="{FF2B5EF4-FFF2-40B4-BE49-F238E27FC236}">
                <a16:creationId xmlns:a16="http://schemas.microsoft.com/office/drawing/2014/main" id="{D366EAF3-3D61-6E45-714F-E3764ABAD72D}"/>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C11A69E1-3CB0-E593-9CE9-8B00D885583A}"/>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334423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0E3C40-A30D-6662-EA31-234629114B4B}"/>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EB8D8372-74AA-D4FB-CDB0-7C02F9CBE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19F5A292-560A-EB06-5AED-6488379EFE81}"/>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72FBBDFD-D982-9D51-3063-BDC0F89FD3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EE14732F-AC25-CFCF-91C2-80F61C56E171}"/>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38553BD8-4C4B-F055-E972-5C1699E5676F}"/>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8" name="Alt Bilgi Yer Tutucusu 7">
            <a:extLst>
              <a:ext uri="{FF2B5EF4-FFF2-40B4-BE49-F238E27FC236}">
                <a16:creationId xmlns:a16="http://schemas.microsoft.com/office/drawing/2014/main" id="{09F73E5C-36B3-D58B-988B-3CEAA94D6DCF}"/>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93E97B1A-AC83-88B5-DCEE-C815842FF86D}"/>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84490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A7BC1F-1720-18B0-7947-479F19340584}"/>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8EE5AAA6-A9CA-8241-D028-E9D448460F12}"/>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4" name="Alt Bilgi Yer Tutucusu 3">
            <a:extLst>
              <a:ext uri="{FF2B5EF4-FFF2-40B4-BE49-F238E27FC236}">
                <a16:creationId xmlns:a16="http://schemas.microsoft.com/office/drawing/2014/main" id="{2D9B6F3D-374D-3B99-EAE9-6023AE251FB9}"/>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90F0E3FE-9592-EEE5-8433-3044E9B8FAFB}"/>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3508543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3A5B560E-2BA9-5568-D199-0390499DCC5B}"/>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3" name="Alt Bilgi Yer Tutucusu 2">
            <a:extLst>
              <a:ext uri="{FF2B5EF4-FFF2-40B4-BE49-F238E27FC236}">
                <a16:creationId xmlns:a16="http://schemas.microsoft.com/office/drawing/2014/main" id="{FCBE2BCC-7C9C-7232-CF1F-94D2033AB797}"/>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3F891268-B2A2-C3FD-CE76-89440930B797}"/>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2919778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787B5FA-D5BE-9A0D-E39B-73066FA6E68D}"/>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84A8D46A-A949-621C-AD48-720EC23C9D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DDC910C4-0ECA-A033-F31D-EF65CD839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CF3EE66D-E5D9-4198-36F6-6A8F58CAD74F}"/>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6" name="Alt Bilgi Yer Tutucusu 5">
            <a:extLst>
              <a:ext uri="{FF2B5EF4-FFF2-40B4-BE49-F238E27FC236}">
                <a16:creationId xmlns:a16="http://schemas.microsoft.com/office/drawing/2014/main" id="{356A9637-1C6A-80D8-33CB-380D3BA74C7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7A1D011-CF10-820B-4A0F-7546D8F35188}"/>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4069295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9EE8F0E-3AFC-9308-30A3-BAC5D12F8DB1}"/>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92FF964D-D816-A01F-F824-FA02E3DB02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F44EB30F-4FAF-D3CD-0598-E02B221EE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F5F5A39-61B1-66B4-E968-3751D8F3E787}"/>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6" name="Alt Bilgi Yer Tutucusu 5">
            <a:extLst>
              <a:ext uri="{FF2B5EF4-FFF2-40B4-BE49-F238E27FC236}">
                <a16:creationId xmlns:a16="http://schemas.microsoft.com/office/drawing/2014/main" id="{984886EC-E6C0-8E14-3DF9-BA19F104190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B8AED64-A2F9-6115-E410-0D34CF77106C}"/>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3788673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8B9552-6A78-7F57-6A29-0D581B0FD607}"/>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F74BC1BE-C21D-0E4C-5718-8C901451FCFC}"/>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2D6B890-EB4A-7E1C-92BA-C7CB70E24EDB}"/>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5" name="Alt Bilgi Yer Tutucusu 4">
            <a:extLst>
              <a:ext uri="{FF2B5EF4-FFF2-40B4-BE49-F238E27FC236}">
                <a16:creationId xmlns:a16="http://schemas.microsoft.com/office/drawing/2014/main" id="{5E57F209-0DEE-2E1F-AB9B-069707E9C51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C6C8482-0E7A-92AD-E8B5-1DA213B97CEF}"/>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2748828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7DA52B5F-C9EE-ADE1-944D-C4699EC7AF97}"/>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4D1D262F-35FD-3664-B51E-C5B6DD756ECD}"/>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A7A9D5F-2ADB-6D85-463E-47CCA840B11F}"/>
              </a:ext>
            </a:extLst>
          </p:cNvPr>
          <p:cNvSpPr>
            <a:spLocks noGrp="1"/>
          </p:cNvSpPr>
          <p:nvPr>
            <p:ph type="dt" sz="half" idx="10"/>
          </p:nvPr>
        </p:nvSpPr>
        <p:spPr/>
        <p:txBody>
          <a:bodyPr/>
          <a:lstStyle/>
          <a:p>
            <a:fld id="{82E50E3E-379D-4AB4-A11D-B6EE431B6D08}" type="datetimeFigureOut">
              <a:rPr lang="tr-TR" smtClean="0"/>
              <a:t>7.04.2026</a:t>
            </a:fld>
            <a:endParaRPr lang="tr-TR"/>
          </a:p>
        </p:txBody>
      </p:sp>
      <p:sp>
        <p:nvSpPr>
          <p:cNvPr id="5" name="Alt Bilgi Yer Tutucusu 4">
            <a:extLst>
              <a:ext uri="{FF2B5EF4-FFF2-40B4-BE49-F238E27FC236}">
                <a16:creationId xmlns:a16="http://schemas.microsoft.com/office/drawing/2014/main" id="{ABE54482-93EC-E7FD-66E5-C14C9A39F21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7D729CC-A549-34F9-EFFF-B3AD074AB4D6}"/>
              </a:ext>
            </a:extLst>
          </p:cNvPr>
          <p:cNvSpPr>
            <a:spLocks noGrp="1"/>
          </p:cNvSpPr>
          <p:nvPr>
            <p:ph type="sldNum" sz="quarter" idx="12"/>
          </p:nvPr>
        </p:nvSpPr>
        <p:spPr/>
        <p:txBody>
          <a:bodyPr/>
          <a:lstStyle/>
          <a:p>
            <a:fld id="{C8A89FDF-BC5D-4BFE-945A-5E0B33E539F8}" type="slidenum">
              <a:rPr lang="tr-TR" smtClean="0"/>
              <a:t>‹#›</a:t>
            </a:fld>
            <a:endParaRPr lang="tr-TR"/>
          </a:p>
        </p:txBody>
      </p:sp>
    </p:spTree>
    <p:extLst>
      <p:ext uri="{BB962C8B-B14F-4D97-AF65-F5344CB8AC3E}">
        <p14:creationId xmlns:p14="http://schemas.microsoft.com/office/powerpoint/2010/main" val="3831503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D524989A-31D6-0598-2483-9836A7E364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55258CF7-3DA0-1F9B-55D0-262EDF54A6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329D185-FC82-41B5-981C-0757EF5195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E50E3E-379D-4AB4-A11D-B6EE431B6D08}" type="datetimeFigureOut">
              <a:rPr lang="tr-TR" smtClean="0"/>
              <a:t>7.04.2026</a:t>
            </a:fld>
            <a:endParaRPr lang="tr-TR"/>
          </a:p>
        </p:txBody>
      </p:sp>
      <p:sp>
        <p:nvSpPr>
          <p:cNvPr id="5" name="Alt Bilgi Yer Tutucusu 4">
            <a:extLst>
              <a:ext uri="{FF2B5EF4-FFF2-40B4-BE49-F238E27FC236}">
                <a16:creationId xmlns:a16="http://schemas.microsoft.com/office/drawing/2014/main" id="{A6606942-9DD7-B62D-0B53-60972728FD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A3A68C34-913A-EA44-8EB5-424135A79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A89FDF-BC5D-4BFE-945A-5E0B33E539F8}" type="slidenum">
              <a:rPr lang="tr-TR" smtClean="0"/>
              <a:t>‹#›</a:t>
            </a:fld>
            <a:endParaRPr lang="tr-TR"/>
          </a:p>
        </p:txBody>
      </p:sp>
    </p:spTree>
    <p:extLst>
      <p:ext uri="{BB962C8B-B14F-4D97-AF65-F5344CB8AC3E}">
        <p14:creationId xmlns:p14="http://schemas.microsoft.com/office/powerpoint/2010/main" val="1219065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21CFF8F-4045-722C-7B7E-FD652E27FDD9}"/>
              </a:ext>
            </a:extLst>
          </p:cNvPr>
          <p:cNvSpPr>
            <a:spLocks noGrp="1"/>
          </p:cNvSpPr>
          <p:nvPr>
            <p:ph type="title"/>
          </p:nvPr>
        </p:nvSpPr>
        <p:spPr>
          <a:xfrm>
            <a:off x="572493" y="238539"/>
            <a:ext cx="11018520" cy="1434415"/>
          </a:xfrm>
        </p:spPr>
        <p:txBody>
          <a:bodyPr anchor="b">
            <a:normAutofit/>
          </a:bodyPr>
          <a:lstStyle/>
          <a:p>
            <a:r>
              <a:rPr lang="tr-TR" b="1"/>
              <a:t>Tanım</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2B2B0D50-81E2-5470-1304-46CCA8F062A5}"/>
              </a:ext>
            </a:extLst>
          </p:cNvPr>
          <p:cNvSpPr>
            <a:spLocks noGrp="1"/>
          </p:cNvSpPr>
          <p:nvPr>
            <p:ph idx="1"/>
          </p:nvPr>
        </p:nvSpPr>
        <p:spPr>
          <a:xfrm>
            <a:off x="572493" y="1819144"/>
            <a:ext cx="6713552" cy="5031532"/>
          </a:xfrm>
        </p:spPr>
        <p:txBody>
          <a:bodyPr anchor="t">
            <a:normAutofit/>
          </a:bodyPr>
          <a:lstStyle/>
          <a:p>
            <a:pPr marL="0" indent="0">
              <a:buNone/>
            </a:pPr>
            <a:r>
              <a:rPr lang="tr-TR" sz="2200" b="1"/>
              <a:t>   Hijyen;</a:t>
            </a:r>
            <a:r>
              <a:rPr lang="tr-TR" sz="2200"/>
              <a:t> Sağlam ve sağlıklı durumu sürdürmek üzere sağlığa zarar verecek ortamlardan korunmak için yapılacak uygulamalar ve alınan temizlik önlemlerinin tümüdür.</a:t>
            </a:r>
          </a:p>
          <a:p>
            <a:pPr marL="0" indent="0">
              <a:buNone/>
            </a:pPr>
            <a:endParaRPr lang="tr-TR" sz="2200"/>
          </a:p>
          <a:p>
            <a:pPr marL="0" indent="0">
              <a:buNone/>
            </a:pPr>
            <a:r>
              <a:rPr lang="tr-TR" sz="2200" b="1"/>
              <a:t>   İş hijyeni;  </a:t>
            </a:r>
            <a:r>
              <a:rPr lang="tr-TR" sz="2200"/>
              <a:t>İşyerinde hastalığa neden olabilecek, sağlık ve iyilik halini bozabilecek, </a:t>
            </a:r>
          </a:p>
          <a:p>
            <a:pPr marL="0" indent="0">
              <a:buNone/>
            </a:pPr>
            <a:r>
              <a:rPr lang="tr-TR" sz="2200"/>
              <a:t>                          İşçiler ve toplumdaki bireyler arasında önemli ölçüde huzursuzluk ve verimsizlik yaratabilecek,</a:t>
            </a:r>
          </a:p>
          <a:p>
            <a:pPr marL="0" indent="0">
              <a:buNone/>
            </a:pPr>
            <a:r>
              <a:rPr lang="tr-TR" sz="2200" b="1"/>
              <a:t>                         </a:t>
            </a:r>
            <a:r>
              <a:rPr lang="tr-TR" sz="2200" b="1">
                <a:solidFill>
                  <a:srgbClr val="FF0000"/>
                </a:solidFill>
              </a:rPr>
              <a:t>çevresel tehlikelerin</a:t>
            </a:r>
            <a:r>
              <a:rPr lang="tr-TR" sz="2200">
                <a:solidFill>
                  <a:srgbClr val="FF0000"/>
                </a:solidFill>
              </a:rPr>
              <a:t> </a:t>
            </a:r>
            <a:r>
              <a:rPr lang="tr-TR" sz="2200"/>
              <a:t>ve </a:t>
            </a:r>
            <a:r>
              <a:rPr lang="tr-TR" sz="2200" b="1">
                <a:solidFill>
                  <a:srgbClr val="FF0000"/>
                </a:solidFill>
              </a:rPr>
              <a:t>streslerin</a:t>
            </a:r>
            <a:r>
              <a:rPr lang="tr-TR" sz="2200"/>
              <a:t> değerlendirilip </a:t>
            </a:r>
            <a:r>
              <a:rPr lang="tr-TR" sz="2200" b="1">
                <a:solidFill>
                  <a:srgbClr val="FF0000"/>
                </a:solidFill>
              </a:rPr>
              <a:t>kontrol</a:t>
            </a:r>
            <a:r>
              <a:rPr lang="tr-TR" sz="2200"/>
              <a:t> altına alınmasıdır.</a:t>
            </a:r>
          </a:p>
        </p:txBody>
      </p:sp>
      <p:pic>
        <p:nvPicPr>
          <p:cNvPr id="5" name="Resim 4">
            <a:extLst>
              <a:ext uri="{FF2B5EF4-FFF2-40B4-BE49-F238E27FC236}">
                <a16:creationId xmlns:a16="http://schemas.microsoft.com/office/drawing/2014/main" id="{5EE0537F-729A-906E-253F-E343AE1D61DA}"/>
              </a:ext>
            </a:extLst>
          </p:cNvPr>
          <p:cNvPicPr>
            <a:picLocks noChangeAspect="1"/>
          </p:cNvPicPr>
          <p:nvPr/>
        </p:nvPicPr>
        <p:blipFill>
          <a:blip r:embed="rId2"/>
          <a:srcRect l="7206" r="12140"/>
          <a:stretch>
            <a:fillRect/>
          </a:stretch>
        </p:blipFill>
        <p:spPr>
          <a:xfrm>
            <a:off x="7487999" y="2344511"/>
            <a:ext cx="4498999" cy="2586248"/>
          </a:xfrm>
          <a:prstGeom prst="rect">
            <a:avLst/>
          </a:prstGeom>
        </p:spPr>
      </p:pic>
    </p:spTree>
    <p:extLst>
      <p:ext uri="{BB962C8B-B14F-4D97-AF65-F5344CB8AC3E}">
        <p14:creationId xmlns:p14="http://schemas.microsoft.com/office/powerpoint/2010/main" val="3557816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E6688D-1DED-48EA-8368-FCD09C0B7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Unvan 1"/>
          <p:cNvSpPr>
            <a:spLocks noGrp="1"/>
          </p:cNvSpPr>
          <p:nvPr>
            <p:ph type="title"/>
          </p:nvPr>
        </p:nvSpPr>
        <p:spPr>
          <a:xfrm>
            <a:off x="8368528" y="431212"/>
            <a:ext cx="3420305" cy="1906317"/>
          </a:xfrm>
        </p:spPr>
        <p:txBody>
          <a:bodyPr>
            <a:normAutofit/>
          </a:bodyPr>
          <a:lstStyle/>
          <a:p>
            <a:pPr algn="ctr"/>
            <a:r>
              <a:rPr lang="tr-TR" b="1"/>
              <a:t>Kişisel Hijyen</a:t>
            </a:r>
          </a:p>
        </p:txBody>
      </p:sp>
      <p:sp>
        <p:nvSpPr>
          <p:cNvPr id="3" name="İçerik Yer Tutucusu 2"/>
          <p:cNvSpPr>
            <a:spLocks noGrp="1"/>
          </p:cNvSpPr>
          <p:nvPr>
            <p:ph idx="1"/>
          </p:nvPr>
        </p:nvSpPr>
        <p:spPr>
          <a:xfrm>
            <a:off x="579651" y="669751"/>
            <a:ext cx="6754415" cy="6188249"/>
          </a:xfrm>
        </p:spPr>
        <p:txBody>
          <a:bodyPr anchor="ctr">
            <a:normAutofit fontScale="92500" lnSpcReduction="20000"/>
          </a:bodyPr>
          <a:lstStyle/>
          <a:p>
            <a:pPr>
              <a:buClr>
                <a:srgbClr val="C00000"/>
              </a:buClr>
              <a:buFont typeface="Wingdings" panose="05000000000000000000" pitchFamily="2" charset="2"/>
              <a:buChar char="ü"/>
            </a:pPr>
            <a:r>
              <a:rPr lang="tr-TR" sz="2000"/>
              <a:t>Temiz ve içilebilir su içmek.</a:t>
            </a:r>
          </a:p>
          <a:p>
            <a:pPr>
              <a:buClr>
                <a:srgbClr val="C00000"/>
              </a:buClr>
              <a:buFont typeface="Wingdings" panose="05000000000000000000" pitchFamily="2" charset="2"/>
              <a:buChar char="ü"/>
            </a:pPr>
            <a:r>
              <a:rPr lang="tr-TR" sz="2000"/>
              <a:t>Soyunma odasında, tuvaletlerde, veya tehlikeli maddelerin kullanıldığı yerlerde asla bir şey yememek.</a:t>
            </a:r>
          </a:p>
          <a:p>
            <a:pPr>
              <a:buClr>
                <a:srgbClr val="C00000"/>
              </a:buClr>
              <a:buFont typeface="Wingdings" panose="05000000000000000000" pitchFamily="2" charset="2"/>
              <a:buChar char="ü"/>
            </a:pPr>
            <a:r>
              <a:rPr lang="tr-TR" sz="2000"/>
              <a:t>Ellerin ve vücudun kimyasal maddelere maruz kalan bölümlerini düzenli olarak yıkamak ve günlük duş almak.</a:t>
            </a:r>
          </a:p>
          <a:p>
            <a:pPr>
              <a:buClr>
                <a:srgbClr val="C00000"/>
              </a:buClr>
              <a:buFont typeface="Wingdings" panose="05000000000000000000" pitchFamily="2" charset="2"/>
              <a:buChar char="ü"/>
            </a:pPr>
            <a:r>
              <a:rPr lang="tr-TR" sz="2000"/>
              <a:t>Dişleri ve ağzı her gün temizleyip, düzenli</a:t>
            </a:r>
            <a:r>
              <a:rPr lang="tr-TR" sz="2000" i="1"/>
              <a:t> </a:t>
            </a:r>
            <a:r>
              <a:rPr lang="tr-TR" sz="2000"/>
              <a:t>olarak kontrollerini yaptırmak.</a:t>
            </a:r>
          </a:p>
          <a:p>
            <a:pPr>
              <a:buClr>
                <a:srgbClr val="C00000"/>
              </a:buClr>
              <a:buFont typeface="Wingdings" panose="05000000000000000000" pitchFamily="2" charset="2"/>
              <a:buChar char="ü"/>
            </a:pPr>
            <a:r>
              <a:rPr lang="tr-TR" sz="2000"/>
              <a:t>Uygun iş elbisesi ve iş </a:t>
            </a:r>
            <a:r>
              <a:rPr lang="tr-TR" sz="2000" i="1"/>
              <a:t> </a:t>
            </a:r>
            <a:r>
              <a:rPr lang="tr-TR" sz="2000"/>
              <a:t>ayakkabısı giymek.</a:t>
            </a:r>
          </a:p>
          <a:p>
            <a:pPr>
              <a:buClr>
                <a:srgbClr val="C00000"/>
              </a:buClr>
              <a:buFont typeface="Wingdings" panose="05000000000000000000" pitchFamily="2" charset="2"/>
              <a:buChar char="ü"/>
            </a:pPr>
            <a:r>
              <a:rPr lang="tr-TR" sz="2000"/>
              <a:t>İş elbiselerini ile iş dışında giyilen elbiseleri karıştırmamak.</a:t>
            </a:r>
          </a:p>
          <a:p>
            <a:pPr>
              <a:buClr>
                <a:srgbClr val="C00000"/>
              </a:buClr>
              <a:buFont typeface="Wingdings" panose="05000000000000000000" pitchFamily="2" charset="2"/>
              <a:buChar char="ü"/>
            </a:pPr>
            <a:r>
              <a:rPr lang="tr-TR" sz="2000"/>
              <a:t>İş elbiselerini, havluları vb., özellikle zehirli ve/veya zararlı maddelerle kirlenmişse temizliğine dikkat etmek.</a:t>
            </a:r>
          </a:p>
          <a:p>
            <a:pPr>
              <a:buClr>
                <a:srgbClr val="C00000"/>
              </a:buClr>
              <a:buFont typeface="Wingdings" panose="05000000000000000000" pitchFamily="2" charset="2"/>
              <a:buChar char="ü"/>
            </a:pPr>
            <a:r>
              <a:rPr lang="tr-TR" sz="2000"/>
              <a:t>Koruyucu maskeleri, gözlükleri, eldivenleri, kulak koruyucularını, vb., uygun şekilde kullanmak.</a:t>
            </a:r>
          </a:p>
          <a:p>
            <a:pPr>
              <a:buClr>
                <a:srgbClr val="C00000"/>
              </a:buClr>
              <a:buFont typeface="Wingdings" panose="05000000000000000000" pitchFamily="2" charset="2"/>
              <a:buChar char="ü"/>
            </a:pPr>
            <a:r>
              <a:rPr lang="tr-TR" sz="2000"/>
              <a:t>Düzenli egzersizler ile fiziksel sağlığı korumak.</a:t>
            </a:r>
          </a:p>
          <a:p>
            <a:pPr>
              <a:buClr>
                <a:srgbClr val="C00000"/>
              </a:buClr>
              <a:buFont typeface="Wingdings" panose="05000000000000000000" pitchFamily="2" charset="2"/>
              <a:buChar char="ü"/>
            </a:pPr>
            <a:r>
              <a:rPr lang="tr-TR" sz="2000"/>
              <a:t>Çözücüler, tinerler, alkaliler veya makine yağları gibi maddeleri asla cildi temizlemek için kullanmamak.</a:t>
            </a:r>
          </a:p>
          <a:p>
            <a:endParaRPr lang="tr-TR" sz="1600"/>
          </a:p>
          <a:p>
            <a:endParaRPr lang="tr-TR" sz="1600"/>
          </a:p>
        </p:txBody>
      </p:sp>
      <p:pic>
        <p:nvPicPr>
          <p:cNvPr id="4" name="Resim 3">
            <a:extLst>
              <a:ext uri="{FF2B5EF4-FFF2-40B4-BE49-F238E27FC236}">
                <a16:creationId xmlns:a16="http://schemas.microsoft.com/office/drawing/2014/main" id="{78F091B5-2777-E64C-EF44-3F8655A5FEC2}"/>
              </a:ext>
            </a:extLst>
          </p:cNvPr>
          <p:cNvPicPr>
            <a:picLocks noChangeAspect="1"/>
          </p:cNvPicPr>
          <p:nvPr/>
        </p:nvPicPr>
        <p:blipFill>
          <a:blip r:embed="rId2"/>
          <a:srcRect l="10797" r="31158" b="2"/>
          <a:stretch>
            <a:fillRect/>
          </a:stretch>
        </p:blipFill>
        <p:spPr>
          <a:xfrm>
            <a:off x="7913716" y="2768743"/>
            <a:ext cx="4278284" cy="4089258"/>
          </a:xfrm>
          <a:prstGeom prst="rect">
            <a:avLst/>
          </a:prstGeom>
        </p:spPr>
      </p:pic>
      <p:grpSp>
        <p:nvGrpSpPr>
          <p:cNvPr id="11" name="Group 10">
            <a:extLst>
              <a:ext uri="{FF2B5EF4-FFF2-40B4-BE49-F238E27FC236}">
                <a16:creationId xmlns:a16="http://schemas.microsoft.com/office/drawing/2014/main" id="{16BD38F4-5888-4B5B-836C-A316C52232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7881712" y="-2"/>
            <a:ext cx="4310288" cy="6858002"/>
            <a:chOff x="0" y="-2"/>
            <a:chExt cx="4310288" cy="6858002"/>
          </a:xfrm>
        </p:grpSpPr>
        <p:sp>
          <p:nvSpPr>
            <p:cNvPr id="12" name="Rectangle 11">
              <a:extLst>
                <a:ext uri="{FF2B5EF4-FFF2-40B4-BE49-F238E27FC236}">
                  <a16:creationId xmlns:a16="http://schemas.microsoft.com/office/drawing/2014/main" id="{BA3D150B-ADB5-401D-8304-C7845A109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768743"/>
              <a:ext cx="4310288"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Rectangle 12">
              <a:extLst>
                <a:ext uri="{FF2B5EF4-FFF2-40B4-BE49-F238E27FC236}">
                  <a16:creationId xmlns:a16="http://schemas.microsoft.com/office/drawing/2014/main" id="{ACD3AB31-A71C-4414-BA05-CF667CBA3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849283"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Tree>
    <p:extLst>
      <p:ext uri="{BB962C8B-B14F-4D97-AF65-F5344CB8AC3E}">
        <p14:creationId xmlns:p14="http://schemas.microsoft.com/office/powerpoint/2010/main" val="3159462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773724"/>
            <a:ext cx="10515600" cy="5795888"/>
          </a:xfrm>
        </p:spPr>
        <p:txBody>
          <a:bodyPr/>
          <a:lstStyle/>
          <a:p>
            <a:pPr marL="0" indent="0">
              <a:buNone/>
            </a:pPr>
            <a:r>
              <a:rPr lang="tr-TR"/>
              <a:t>   </a:t>
            </a:r>
            <a:r>
              <a:rPr lang="tr-TR" sz="2400"/>
              <a:t>İşyeri uygulamalarında çoğu kez "</a:t>
            </a:r>
            <a:r>
              <a:rPr lang="tr-TR" sz="2400" b="1"/>
              <a:t>kişisel hijyen"</a:t>
            </a:r>
            <a:r>
              <a:rPr lang="tr-TR" sz="2400"/>
              <a:t> ile  </a:t>
            </a:r>
            <a:r>
              <a:rPr lang="tr-TR" sz="2400" b="1"/>
              <a:t>"iş hijyeni</a:t>
            </a:r>
            <a:r>
              <a:rPr lang="tr-TR" sz="2400"/>
              <a:t>" nin bire bir örtüştüğü, aynı şeyi ifade ettiği düşünülebilir.</a:t>
            </a:r>
          </a:p>
          <a:p>
            <a:pPr marL="0" indent="0">
              <a:buNone/>
            </a:pPr>
            <a:r>
              <a:rPr lang="tr-TR" sz="2400"/>
              <a:t>   Ancak </a:t>
            </a:r>
            <a:r>
              <a:rPr lang="tr-TR" sz="2400" b="1">
                <a:solidFill>
                  <a:schemeClr val="accent6"/>
                </a:solidFill>
              </a:rPr>
              <a:t>kişisel hijyen</a:t>
            </a:r>
            <a:r>
              <a:rPr lang="tr-TR" sz="2400"/>
              <a:t>, kişinin kendi bakımını ifade ederken (özellikle mikrobiyolojik açıdan korunmak) </a:t>
            </a:r>
          </a:p>
          <a:p>
            <a:pPr marL="0" indent="0">
              <a:buNone/>
            </a:pPr>
            <a:r>
              <a:rPr lang="tr-TR" sz="2400" b="1"/>
              <a:t>   </a:t>
            </a:r>
            <a:r>
              <a:rPr lang="tr-TR" sz="2400" b="1">
                <a:solidFill>
                  <a:schemeClr val="accent6"/>
                </a:solidFill>
              </a:rPr>
              <a:t>İş hijyeni</a:t>
            </a:r>
            <a:r>
              <a:rPr lang="tr-TR" sz="2400"/>
              <a:t>, çalışan sağlığını olumsuz yönde etkileyebilecek fiziksel, kimyasal ve biyolojik faktörlerin kontrol altına alınması anlamına gelmektedir.</a:t>
            </a:r>
          </a:p>
          <a:p>
            <a:pPr marL="0" indent="0">
              <a:buNone/>
            </a:pPr>
            <a:endParaRPr lang="tr-TR"/>
          </a:p>
        </p:txBody>
      </p:sp>
      <p:graphicFrame>
        <p:nvGraphicFramePr>
          <p:cNvPr id="4" name="Tablo 3"/>
          <p:cNvGraphicFramePr>
            <a:graphicFrameLocks noGrp="1"/>
          </p:cNvGraphicFramePr>
          <p:nvPr>
            <p:extLst>
              <p:ext uri="{D42A27DB-BD31-4B8C-83A1-F6EECF244321}">
                <p14:modId xmlns:p14="http://schemas.microsoft.com/office/powerpoint/2010/main" val="778518859"/>
              </p:ext>
            </p:extLst>
          </p:nvPr>
        </p:nvGraphicFramePr>
        <p:xfrm>
          <a:off x="2011680" y="4014737"/>
          <a:ext cx="7441809" cy="2215642"/>
        </p:xfrm>
        <a:graphic>
          <a:graphicData uri="http://schemas.openxmlformats.org/drawingml/2006/table">
            <a:tbl>
              <a:tblPr firstRow="1" firstCol="1" bandRow="1"/>
              <a:tblGrid>
                <a:gridCol w="3573957">
                  <a:extLst>
                    <a:ext uri="{9D8B030D-6E8A-4147-A177-3AD203B41FA5}">
                      <a16:colId xmlns:a16="http://schemas.microsoft.com/office/drawing/2014/main" val="2262956199"/>
                    </a:ext>
                  </a:extLst>
                </a:gridCol>
                <a:gridCol w="3867852">
                  <a:extLst>
                    <a:ext uri="{9D8B030D-6E8A-4147-A177-3AD203B41FA5}">
                      <a16:colId xmlns:a16="http://schemas.microsoft.com/office/drawing/2014/main" val="4287723908"/>
                    </a:ext>
                  </a:extLst>
                </a:gridCol>
              </a:tblGrid>
              <a:tr h="345207">
                <a:tc>
                  <a:txBody>
                    <a:bodyPr/>
                    <a:lstStyle/>
                    <a:p>
                      <a:pPr algn="ctr">
                        <a:lnSpc>
                          <a:spcPct val="107000"/>
                        </a:lnSpc>
                        <a:spcAft>
                          <a:spcPts val="0"/>
                        </a:spcAft>
                      </a:pPr>
                      <a:r>
                        <a:rPr lang="tr-TR" sz="2200" b="1" kern="100">
                          <a:effectLst/>
                          <a:latin typeface="Aptos" panose="02110004020202020204"/>
                          <a:ea typeface="Calibri" panose="020F0502020204030204" pitchFamily="34" charset="0"/>
                          <a:cs typeface="Times New Roman" panose="02020603050405020304" pitchFamily="18" charset="0"/>
                        </a:rPr>
                        <a:t>Kişisel Hijyen</a:t>
                      </a:r>
                      <a:endParaRPr lang="tr-TR" sz="2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200" b="1" kern="100">
                          <a:effectLst/>
                          <a:latin typeface="Aptos" panose="02110004020202020204"/>
                          <a:ea typeface="Calibri" panose="020F0502020204030204" pitchFamily="34" charset="0"/>
                          <a:cs typeface="Times New Roman" panose="02020603050405020304" pitchFamily="18" charset="0"/>
                        </a:rPr>
                        <a:t>İş Hijyeni</a:t>
                      </a:r>
                      <a:endParaRPr lang="tr-TR" sz="2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3538547"/>
                  </a:ext>
                </a:extLst>
              </a:tr>
              <a:tr h="271269">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Kültür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Fiziksel tehlikeler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4797788"/>
                  </a:ext>
                </a:extLst>
              </a:tr>
              <a:tr h="271269">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Sosyal durum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Kimyasal tehlikeler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2413150"/>
                  </a:ext>
                </a:extLst>
              </a:tr>
              <a:tr h="271269">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Ekonomik durum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Biyolojik tehlikeler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9205335"/>
                  </a:ext>
                </a:extLst>
              </a:tr>
              <a:tr h="271269">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Aile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Ergonomik tehlikeler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3296150"/>
                  </a:ext>
                </a:extLst>
              </a:tr>
              <a:tr h="271269">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Kişilik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1592375"/>
                  </a:ext>
                </a:extLst>
              </a:tr>
              <a:tr h="238913">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Hastalık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tr-TR"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8959254"/>
                  </a:ext>
                </a:extLst>
              </a:tr>
            </a:tbl>
          </a:graphicData>
        </a:graphic>
      </p:graphicFrame>
    </p:spTree>
    <p:extLst>
      <p:ext uri="{BB962C8B-B14F-4D97-AF65-F5344CB8AC3E}">
        <p14:creationId xmlns:p14="http://schemas.microsoft.com/office/powerpoint/2010/main" val="3298807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2EDE4A4-DDDD-98A5-4B80-72055DF8AE9C}"/>
              </a:ext>
            </a:extLst>
          </p:cNvPr>
          <p:cNvSpPr>
            <a:spLocks noGrp="1"/>
          </p:cNvSpPr>
          <p:nvPr>
            <p:ph type="title"/>
          </p:nvPr>
        </p:nvSpPr>
        <p:spPr>
          <a:xfrm>
            <a:off x="838200" y="365125"/>
            <a:ext cx="10515600" cy="1325563"/>
          </a:xfrm>
        </p:spPr>
        <p:txBody>
          <a:bodyPr>
            <a:normAutofit/>
          </a:bodyPr>
          <a:lstStyle/>
          <a:p>
            <a:r>
              <a:rPr lang="tr-TR" b="1"/>
              <a:t>Mevzuatta İş Hijyeni</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D53BCD4-F7E5-4A5F-205F-3D56E1EA26D3}"/>
              </a:ext>
            </a:extLst>
          </p:cNvPr>
          <p:cNvSpPr>
            <a:spLocks noGrp="1"/>
          </p:cNvSpPr>
          <p:nvPr>
            <p:ph idx="1"/>
          </p:nvPr>
        </p:nvSpPr>
        <p:spPr>
          <a:xfrm>
            <a:off x="838200" y="1929383"/>
            <a:ext cx="10515600" cy="4563491"/>
          </a:xfrm>
        </p:spPr>
        <p:txBody>
          <a:bodyPr>
            <a:normAutofit/>
          </a:bodyPr>
          <a:lstStyle/>
          <a:p>
            <a:pPr marL="0" indent="0">
              <a:buNone/>
            </a:pPr>
            <a:r>
              <a:rPr lang="tr-TR" sz="2200"/>
              <a:t>   </a:t>
            </a:r>
            <a:r>
              <a:rPr lang="tr-TR" sz="2200" u="sng"/>
              <a:t>Kanserojen ve Mutajen Maddelerle Çalışmalarda Sağlık ve Güvenlik Önlemleri Hakkında Yönetmeliğinin</a:t>
            </a:r>
            <a:r>
              <a:rPr lang="tr-TR" sz="2200"/>
              <a:t>;</a:t>
            </a:r>
          </a:p>
          <a:p>
            <a:pPr marL="0" indent="0">
              <a:buNone/>
            </a:pPr>
            <a:endParaRPr lang="tr-TR" sz="2200"/>
          </a:p>
          <a:p>
            <a:pPr>
              <a:buClr>
                <a:schemeClr val="accent6">
                  <a:lumMod val="75000"/>
                </a:schemeClr>
              </a:buClr>
              <a:buFont typeface="Wingdings" panose="05000000000000000000" pitchFamily="2" charset="2"/>
              <a:buChar char="Ø"/>
            </a:pPr>
            <a:r>
              <a:rPr lang="tr-TR" sz="2200"/>
              <a:t> </a:t>
            </a:r>
            <a:r>
              <a:rPr lang="tr-TR" sz="2200" b="1"/>
              <a:t>7. maddesi</a:t>
            </a:r>
            <a:r>
              <a:rPr lang="tr-TR" sz="2200"/>
              <a:t>, "özellikle işyeri tabanı, duvarlar ve diğer yüzeyler düzenli olarak temizlenecek ve hijyen şartları sağlanacaktır"</a:t>
            </a:r>
          </a:p>
          <a:p>
            <a:pPr>
              <a:buClr>
                <a:schemeClr val="accent6">
                  <a:lumMod val="75000"/>
                </a:schemeClr>
              </a:buClr>
              <a:buFont typeface="Wingdings" panose="05000000000000000000" pitchFamily="2" charset="2"/>
              <a:buChar char="Ø"/>
            </a:pPr>
            <a:r>
              <a:rPr lang="tr-TR" sz="2200"/>
              <a:t> </a:t>
            </a:r>
            <a:r>
              <a:rPr lang="tr-TR" sz="2200" b="1"/>
              <a:t>12. maddesi </a:t>
            </a:r>
            <a:r>
              <a:rPr lang="tr-TR" sz="2200"/>
              <a:t>"hijyen ve kişisel korunma" </a:t>
            </a:r>
          </a:p>
          <a:p>
            <a:pPr>
              <a:buClr>
                <a:schemeClr val="accent6">
                  <a:lumMod val="75000"/>
                </a:schemeClr>
              </a:buClr>
              <a:buFont typeface="Wingdings" panose="05000000000000000000" pitchFamily="2" charset="2"/>
              <a:buChar char="Ø"/>
            </a:pPr>
            <a:r>
              <a:rPr lang="tr-TR" sz="2200"/>
              <a:t> </a:t>
            </a:r>
            <a:r>
              <a:rPr lang="tr-TR" sz="2200" b="1"/>
              <a:t>13. maddesi </a:t>
            </a:r>
            <a:r>
              <a:rPr lang="tr-TR" sz="2200"/>
              <a:t>"hijyen kuralları" konusunda çalışanlara eğitim verilmesi,</a:t>
            </a:r>
          </a:p>
          <a:p>
            <a:pPr>
              <a:buClr>
                <a:schemeClr val="accent6">
                  <a:lumMod val="75000"/>
                </a:schemeClr>
              </a:buClr>
              <a:buFont typeface="Wingdings" panose="05000000000000000000" pitchFamily="2" charset="2"/>
              <a:buChar char="Ø"/>
            </a:pPr>
            <a:r>
              <a:rPr lang="tr-TR" sz="2200"/>
              <a:t> </a:t>
            </a:r>
            <a:r>
              <a:rPr lang="tr-TR" sz="2200" b="1"/>
              <a:t>16. maddesi </a:t>
            </a:r>
            <a:r>
              <a:rPr lang="tr-TR" sz="2200"/>
              <a:t>" İşyerinde kişisel ve mesleki hijyen önlemlerinin derhal alınabilmesi mümkün olacak şekilde gerekli düzenleme yapılacaktır denilmektedir "</a:t>
            </a:r>
          </a:p>
          <a:p>
            <a:pPr marL="0" indent="0">
              <a:buNone/>
            </a:pPr>
            <a:endParaRPr lang="tr-TR" sz="2200"/>
          </a:p>
        </p:txBody>
      </p:sp>
    </p:spTree>
    <p:extLst>
      <p:ext uri="{BB962C8B-B14F-4D97-AF65-F5344CB8AC3E}">
        <p14:creationId xmlns:p14="http://schemas.microsoft.com/office/powerpoint/2010/main" val="1803689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b="1"/>
              <a:t>Mevzuatta İş Hijyeni</a:t>
            </a:r>
            <a:endParaRPr lang="tr-T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a:t>   </a:t>
            </a:r>
            <a:r>
              <a:rPr lang="tr-TR" sz="2200" u="sng"/>
              <a:t>İş Sağlığı ve Güvenliği Kurulları Hakkında Yönetmeliğin</a:t>
            </a:r>
            <a:r>
              <a:rPr lang="tr-TR" sz="2200"/>
              <a:t>;</a:t>
            </a:r>
          </a:p>
          <a:p>
            <a:pPr marL="0" indent="0">
              <a:buNone/>
            </a:pPr>
            <a:endParaRPr lang="tr-TR" sz="2200"/>
          </a:p>
          <a:p>
            <a:pPr>
              <a:buClr>
                <a:schemeClr val="accent6">
                  <a:lumMod val="75000"/>
                </a:schemeClr>
              </a:buClr>
              <a:buFont typeface="Wingdings" panose="05000000000000000000" pitchFamily="2" charset="2"/>
              <a:buChar char="Ø"/>
            </a:pPr>
            <a:r>
              <a:rPr lang="tr-TR" sz="2200"/>
              <a:t> </a:t>
            </a:r>
            <a:r>
              <a:rPr lang="tr-TR" sz="2200" b="1"/>
              <a:t>6.maddesi</a:t>
            </a:r>
            <a:r>
              <a:rPr lang="tr-TR" sz="2200"/>
              <a:t> "İşveren tarafından, iş sağlığı ve güvenliği kurulu üyelerine ve yedeklerine "endüstriyel hijyenin temel ilkeleri konularında eğitim verilmesi sağlanır" ifadesi yer almaktadır.</a:t>
            </a:r>
          </a:p>
          <a:p>
            <a:endParaRPr lang="tr-TR" sz="2200"/>
          </a:p>
        </p:txBody>
      </p:sp>
    </p:spTree>
    <p:extLst>
      <p:ext uri="{BB962C8B-B14F-4D97-AF65-F5344CB8AC3E}">
        <p14:creationId xmlns:p14="http://schemas.microsoft.com/office/powerpoint/2010/main" val="2621518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572493" y="238539"/>
            <a:ext cx="11018520" cy="1434415"/>
          </a:xfrm>
        </p:spPr>
        <p:txBody>
          <a:bodyPr anchor="b">
            <a:normAutofit/>
          </a:bodyPr>
          <a:lstStyle/>
          <a:p>
            <a:r>
              <a:rPr lang="tr-TR" b="1"/>
              <a:t>İş Hijyeni</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572492" y="2071315"/>
            <a:ext cx="7537837" cy="4548145"/>
          </a:xfrm>
        </p:spPr>
        <p:txBody>
          <a:bodyPr anchor="t">
            <a:normAutofit fontScale="92500" lnSpcReduction="10000"/>
          </a:bodyPr>
          <a:lstStyle/>
          <a:p>
            <a:pPr marL="0" indent="0">
              <a:buNone/>
            </a:pPr>
            <a:r>
              <a:rPr lang="tr-TR" sz="2000"/>
              <a:t>   </a:t>
            </a:r>
            <a:r>
              <a:rPr lang="tr-TR" sz="2200"/>
              <a:t>Öncelikli olarak, iş sağlığını tehdit edebilecek tehlikeler, bunların çalışanların vücuduna olası giriş yolları , bunların değerlendirme yöntemleri ve tehlikeyi önleyici kontrol yöntemlerini gözden geçirmek gerekir.</a:t>
            </a:r>
          </a:p>
          <a:p>
            <a:pPr marL="0" indent="0">
              <a:buNone/>
            </a:pPr>
            <a:endParaRPr lang="tr-TR" sz="2200"/>
          </a:p>
          <a:p>
            <a:pPr marL="514350" indent="-514350">
              <a:buFont typeface="+mj-lt"/>
              <a:buAutoNum type="arabicPeriod"/>
            </a:pPr>
            <a:r>
              <a:rPr lang="tr-TR" sz="2200"/>
              <a:t>Sağlığı tehdit eden tehlikelerin sınıflandırılması</a:t>
            </a:r>
          </a:p>
          <a:p>
            <a:pPr marL="514350" indent="-514350">
              <a:buFont typeface="+mj-lt"/>
              <a:buAutoNum type="arabicPeriod"/>
            </a:pPr>
            <a:r>
              <a:rPr lang="tr-TR" sz="2200"/>
              <a:t>Vücuda Giriş Yolları</a:t>
            </a:r>
          </a:p>
          <a:p>
            <a:pPr marL="514350" indent="-514350">
              <a:buFont typeface="+mj-lt"/>
              <a:buAutoNum type="arabicPeriod"/>
            </a:pPr>
            <a:r>
              <a:rPr lang="tr-TR" sz="2200"/>
              <a:t>Fiziksel Etkenlere (Çevresel Zararlara) Maruz Kalma</a:t>
            </a:r>
          </a:p>
          <a:p>
            <a:pPr marL="514350" indent="-514350">
              <a:buFont typeface="+mj-lt"/>
              <a:buAutoNum type="arabicPeriod"/>
            </a:pPr>
            <a:r>
              <a:rPr lang="tr-TR" sz="2200"/>
              <a:t>Sağlık Riski Oluşturan Tehlikelerin Değerlendirilmesi</a:t>
            </a:r>
          </a:p>
          <a:p>
            <a:pPr marL="514350" indent="-514350">
              <a:buFont typeface="+mj-lt"/>
              <a:buAutoNum type="arabicPeriod"/>
            </a:pPr>
            <a:r>
              <a:rPr lang="tr-TR" sz="2200"/>
              <a:t>Tehlikeleri Önleyici Kontrol Yöntemleri</a:t>
            </a:r>
          </a:p>
          <a:p>
            <a:pPr marL="0" indent="0">
              <a:buNone/>
            </a:pPr>
            <a:endParaRPr lang="tr-TR" sz="2000"/>
          </a:p>
        </p:txBody>
      </p:sp>
      <p:pic>
        <p:nvPicPr>
          <p:cNvPr id="5" name="Resim 4">
            <a:extLst>
              <a:ext uri="{FF2B5EF4-FFF2-40B4-BE49-F238E27FC236}">
                <a16:creationId xmlns:a16="http://schemas.microsoft.com/office/drawing/2014/main" id="{B90775CE-235F-2CC5-62C9-4AB33B3E5E2A}"/>
              </a:ext>
            </a:extLst>
          </p:cNvPr>
          <p:cNvPicPr>
            <a:picLocks noChangeAspect="1"/>
          </p:cNvPicPr>
          <p:nvPr/>
        </p:nvPicPr>
        <p:blipFill>
          <a:blip r:embed="rId2"/>
          <a:srcRect r="14728" b="1"/>
          <a:stretch>
            <a:fillRect/>
          </a:stretch>
        </p:blipFill>
        <p:spPr>
          <a:xfrm>
            <a:off x="8254348" y="2093976"/>
            <a:ext cx="3362373" cy="3494996"/>
          </a:xfrm>
          <a:prstGeom prst="rect">
            <a:avLst/>
          </a:prstGeom>
        </p:spPr>
      </p:pic>
    </p:spTree>
    <p:extLst>
      <p:ext uri="{BB962C8B-B14F-4D97-AF65-F5344CB8AC3E}">
        <p14:creationId xmlns:p14="http://schemas.microsoft.com/office/powerpoint/2010/main" val="1454678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Slide Background">
            <a:extLst>
              <a:ext uri="{FF2B5EF4-FFF2-40B4-BE49-F238E27FC236}">
                <a16:creationId xmlns:a16="http://schemas.microsoft.com/office/drawing/2014/main" id="{AA857166-A416-4C5E-8AA9-5D5D1E13D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57" name="Rectangle 2056">
            <a:extLst>
              <a:ext uri="{FF2B5EF4-FFF2-40B4-BE49-F238E27FC236}">
                <a16:creationId xmlns:a16="http://schemas.microsoft.com/office/drawing/2014/main" id="{13A48C6C-3CC4-4EE5-A773-EC1EB7F59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0" y="0"/>
            <a:ext cx="4617491" cy="6858000"/>
          </a:xfrm>
          <a:prstGeom prst="rect">
            <a:avLst/>
          </a:prstGeom>
          <a:ln>
            <a:noFill/>
          </a:ln>
          <a:effectLst>
            <a:outerShdw blurRad="203200" dist="88900" dir="21540000" sx="94000" sy="94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9" name="Rectangle 2058">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0" y="-1"/>
            <a:ext cx="4617491" cy="5136739"/>
          </a:xfrm>
          <a:prstGeom prst="rect">
            <a:avLst/>
          </a:prstGeom>
          <a:ln>
            <a:noFill/>
          </a:ln>
          <a:effectLst>
            <a:outerShdw blurRad="177800" dist="101600" dir="5400000" sx="97000" sy="97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419725" y="617921"/>
            <a:ext cx="3715203" cy="3988585"/>
          </a:xfrm>
        </p:spPr>
        <p:txBody>
          <a:bodyPr vert="horz" lIns="91440" tIns="45720" rIns="91440" bIns="45720" rtlCol="0" anchor="ctr">
            <a:normAutofit fontScale="90000"/>
          </a:bodyPr>
          <a:lstStyle/>
          <a:p>
            <a:br>
              <a:rPr lang="en-US" sz="3700" b="1" kern="1200">
                <a:solidFill>
                  <a:schemeClr val="tx1"/>
                </a:solidFill>
                <a:latin typeface="+mj-lt"/>
                <a:ea typeface="+mj-ea"/>
                <a:cs typeface="+mj-cs"/>
              </a:rPr>
            </a:br>
            <a:r>
              <a:rPr lang="en-US" sz="4000" b="1" err="1">
                <a:solidFill>
                  <a:schemeClr val="accent6">
                    <a:lumMod val="75000"/>
                  </a:schemeClr>
                </a:solidFill>
              </a:rPr>
              <a:t>Sağlığı</a:t>
            </a:r>
            <a:r>
              <a:rPr lang="en-US" sz="4000" b="1">
                <a:solidFill>
                  <a:schemeClr val="accent6">
                    <a:lumMod val="75000"/>
                  </a:schemeClr>
                </a:solidFill>
              </a:rPr>
              <a:t> </a:t>
            </a:r>
            <a:r>
              <a:rPr lang="en-US" sz="4000" b="1" err="1">
                <a:solidFill>
                  <a:schemeClr val="accent6">
                    <a:lumMod val="75000"/>
                  </a:schemeClr>
                </a:solidFill>
              </a:rPr>
              <a:t>tehdit</a:t>
            </a:r>
            <a:r>
              <a:rPr lang="en-US" sz="4000" b="1">
                <a:solidFill>
                  <a:schemeClr val="accent6">
                    <a:lumMod val="75000"/>
                  </a:schemeClr>
                </a:solidFill>
              </a:rPr>
              <a:t> </a:t>
            </a:r>
            <a:r>
              <a:rPr lang="en-US" sz="4000" b="1" err="1">
                <a:solidFill>
                  <a:schemeClr val="accent6">
                    <a:lumMod val="75000"/>
                  </a:schemeClr>
                </a:solidFill>
              </a:rPr>
              <a:t>eden</a:t>
            </a:r>
            <a:r>
              <a:rPr lang="en-US" sz="4000" b="1">
                <a:solidFill>
                  <a:schemeClr val="accent6">
                    <a:lumMod val="75000"/>
                  </a:schemeClr>
                </a:solidFill>
              </a:rPr>
              <a:t> </a:t>
            </a:r>
            <a:r>
              <a:rPr lang="en-US" sz="4000" b="1" err="1">
                <a:solidFill>
                  <a:schemeClr val="accent6">
                    <a:lumMod val="75000"/>
                  </a:schemeClr>
                </a:solidFill>
              </a:rPr>
              <a:t>tehlikelerin</a:t>
            </a:r>
            <a:r>
              <a:rPr lang="en-US" sz="4000" b="1">
                <a:solidFill>
                  <a:schemeClr val="accent6">
                    <a:lumMod val="75000"/>
                  </a:schemeClr>
                </a:solidFill>
              </a:rPr>
              <a:t> </a:t>
            </a:r>
            <a:r>
              <a:rPr lang="en-US" sz="4000" b="1" err="1">
                <a:solidFill>
                  <a:schemeClr val="accent6">
                    <a:lumMod val="75000"/>
                  </a:schemeClr>
                </a:solidFill>
              </a:rPr>
              <a:t>sınıflandırılması</a:t>
            </a:r>
            <a:br>
              <a:rPr lang="en-US" sz="3700" b="1" kern="1200">
                <a:solidFill>
                  <a:schemeClr val="tx1"/>
                </a:solidFill>
                <a:latin typeface="+mj-lt"/>
                <a:ea typeface="+mj-ea"/>
                <a:cs typeface="+mj-cs"/>
              </a:rPr>
            </a:br>
            <a:endParaRPr lang="en-US" sz="3700" b="1" kern="1200">
              <a:solidFill>
                <a:schemeClr val="tx1"/>
              </a:solidFill>
              <a:latin typeface="+mj-lt"/>
              <a:ea typeface="+mj-ea"/>
              <a:cs typeface="+mj-cs"/>
            </a:endParaRPr>
          </a:p>
        </p:txBody>
      </p:sp>
      <p:pic>
        <p:nvPicPr>
          <p:cNvPr id="2050" name="Picture 2" descr="https://www.isguvenligi.net/wp-content/uploads/m4922935e.jp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199145" y="917369"/>
            <a:ext cx="6409958" cy="5112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299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Unvan 1"/>
          <p:cNvSpPr>
            <a:spLocks noGrp="1"/>
          </p:cNvSpPr>
          <p:nvPr>
            <p:ph type="title"/>
          </p:nvPr>
        </p:nvSpPr>
        <p:spPr>
          <a:xfrm>
            <a:off x="804672" y="2053641"/>
            <a:ext cx="3669161" cy="2760098"/>
          </a:xfrm>
        </p:spPr>
        <p:txBody>
          <a:bodyPr>
            <a:normAutofit fontScale="90000"/>
          </a:bodyPr>
          <a:lstStyle/>
          <a:p>
            <a:br>
              <a:rPr lang="tr-TR" sz="3700" b="1">
                <a:solidFill>
                  <a:schemeClr val="tx2"/>
                </a:solidFill>
              </a:rPr>
            </a:br>
            <a:r>
              <a:rPr lang="tr-TR" sz="4000" b="1">
                <a:solidFill>
                  <a:schemeClr val="accent6">
                    <a:lumMod val="75000"/>
                  </a:schemeClr>
                </a:solidFill>
              </a:rPr>
              <a:t>Sağlığı tehdit eden tehlikelerin sınıflandırılması</a:t>
            </a:r>
            <a:br>
              <a:rPr lang="tr-TR" sz="3700" b="1">
                <a:solidFill>
                  <a:schemeClr val="tx2"/>
                </a:solidFill>
              </a:rPr>
            </a:br>
            <a:endParaRPr lang="tr-TR" sz="3700">
              <a:solidFill>
                <a:schemeClr val="tx2"/>
              </a:solidFill>
            </a:endParaRPr>
          </a:p>
        </p:txBody>
      </p:sp>
      <p:sp>
        <p:nvSpPr>
          <p:cNvPr id="3" name="İçerik Yer Tutucusu 2"/>
          <p:cNvSpPr>
            <a:spLocks noGrp="1"/>
          </p:cNvSpPr>
          <p:nvPr>
            <p:ph idx="1"/>
          </p:nvPr>
        </p:nvSpPr>
        <p:spPr>
          <a:xfrm>
            <a:off x="5509339" y="176240"/>
            <a:ext cx="6497131" cy="6522734"/>
          </a:xfrm>
          <a:noFill/>
          <a:ln>
            <a:noFill/>
          </a:ln>
        </p:spPr>
        <p:txBody>
          <a:bodyPr anchor="ctr">
            <a:normAutofit fontScale="77500" lnSpcReduction="20000"/>
          </a:bodyPr>
          <a:lstStyle/>
          <a:p>
            <a:pPr marL="0" indent="0">
              <a:buNone/>
            </a:pPr>
            <a:r>
              <a:rPr lang="tr-TR" sz="1400" b="1">
                <a:solidFill>
                  <a:schemeClr val="tx2"/>
                </a:solidFill>
              </a:rPr>
              <a:t>*</a:t>
            </a:r>
            <a:r>
              <a:rPr lang="tr-TR" sz="2000" b="1"/>
              <a:t>Kimyasal Tehlikeler</a:t>
            </a:r>
            <a:endParaRPr lang="tr-TR" sz="2000"/>
          </a:p>
          <a:p>
            <a:pPr marL="0" indent="0">
              <a:buNone/>
            </a:pPr>
            <a:r>
              <a:rPr lang="tr-TR" sz="2000"/>
              <a:t>  Zehirli veya tahriş edici maddelerdir ve doğrudan vücuda girerler. Gazlar, buharlar, sıvılar, katılar, tozlar veya bunların karışımları vb. </a:t>
            </a:r>
          </a:p>
          <a:p>
            <a:pPr marL="0" indent="0">
              <a:buNone/>
            </a:pPr>
            <a:endParaRPr lang="tr-TR" sz="2000"/>
          </a:p>
          <a:p>
            <a:pPr marL="0" indent="0">
              <a:buNone/>
            </a:pPr>
            <a:r>
              <a:rPr lang="tr-TR" sz="2000" b="1"/>
              <a:t>*Biyolojik Tehlikeler</a:t>
            </a:r>
            <a:endParaRPr lang="tr-TR" sz="2000"/>
          </a:p>
          <a:p>
            <a:pPr marL="0" indent="0">
              <a:buNone/>
            </a:pPr>
            <a:r>
              <a:rPr lang="tr-TR" sz="2000"/>
              <a:t>   Bakteriler, virüsler, mantarlar, küfler ve </a:t>
            </a:r>
            <a:r>
              <a:rPr lang="tr-TR" sz="2000" err="1"/>
              <a:t>protista</a:t>
            </a:r>
            <a:r>
              <a:rPr lang="tr-TR" sz="2000"/>
              <a:t> (bir hücreliler) gibi mikrobiyolojik olanlar ve böcekler, parazitler (asalaklar), bitkiler; ve hayvanlar gibi </a:t>
            </a:r>
            <a:r>
              <a:rPr lang="tr-TR" sz="2000" err="1"/>
              <a:t>makrobiyolojik</a:t>
            </a:r>
            <a:r>
              <a:rPr lang="tr-TR" sz="2000"/>
              <a:t> tehlikeler.</a:t>
            </a:r>
          </a:p>
          <a:p>
            <a:pPr marL="0" indent="0">
              <a:buNone/>
            </a:pPr>
            <a:endParaRPr lang="tr-TR" sz="2000"/>
          </a:p>
          <a:p>
            <a:pPr marL="0" indent="0">
              <a:buNone/>
            </a:pPr>
            <a:r>
              <a:rPr lang="tr-TR" sz="2000" b="1"/>
              <a:t>*Fiziksel Tehlikelerin Meydana Getirdiği Tehlikeler</a:t>
            </a:r>
            <a:endParaRPr lang="tr-TR" sz="2000"/>
          </a:p>
          <a:p>
            <a:pPr marL="0" indent="0">
              <a:buNone/>
            </a:pPr>
            <a:r>
              <a:rPr lang="tr-TR" sz="2000"/>
              <a:t>  Aşırı gürültü, titreşim (sarsıntı), ışın saçan enerji, olağan dışı sıcaklık değişimlerine ( termal konfor koşullarına) maruz kalma durumlarıdır.</a:t>
            </a:r>
          </a:p>
          <a:p>
            <a:pPr marL="0" indent="0">
              <a:buNone/>
            </a:pPr>
            <a:endParaRPr lang="tr-TR" sz="2000" b="1"/>
          </a:p>
          <a:p>
            <a:pPr marL="0" indent="0">
              <a:buNone/>
            </a:pPr>
            <a:r>
              <a:rPr lang="tr-TR" sz="2000" b="1"/>
              <a:t>*Ergonomik Tehlikeler</a:t>
            </a:r>
          </a:p>
          <a:p>
            <a:pPr marL="0" indent="0">
              <a:buNone/>
            </a:pPr>
            <a:r>
              <a:rPr lang="tr-TR" sz="2000"/>
              <a:t>  – Fiziksel Stresörler (tekrarlanan hareketler, ağır kaldırma, uygunsuz veya statik (değişmeyen) duruş, yorgunluk, aşırı güç uygulama, doğrudan/direkt basınç veya aşırı güç uygulama gibi).</a:t>
            </a:r>
          </a:p>
          <a:p>
            <a:pPr marL="0" indent="0">
              <a:buNone/>
            </a:pPr>
            <a:r>
              <a:rPr lang="tr-TR" sz="2000"/>
              <a:t>  – Psikolojik stresörler (monotonluk, aşır iş yükü gibi).</a:t>
            </a:r>
          </a:p>
          <a:p>
            <a:endParaRPr lang="tr-TR" sz="1400">
              <a:solidFill>
                <a:schemeClr val="tx2"/>
              </a:solidFill>
            </a:endParaRPr>
          </a:p>
        </p:txBody>
      </p:sp>
    </p:spTree>
    <p:extLst>
      <p:ext uri="{BB962C8B-B14F-4D97-AF65-F5344CB8AC3E}">
        <p14:creationId xmlns:p14="http://schemas.microsoft.com/office/powerpoint/2010/main" val="1596687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Unvan 1"/>
          <p:cNvSpPr>
            <a:spLocks noGrp="1"/>
          </p:cNvSpPr>
          <p:nvPr>
            <p:ph type="title"/>
          </p:nvPr>
        </p:nvSpPr>
        <p:spPr>
          <a:xfrm>
            <a:off x="479686" y="741391"/>
            <a:ext cx="3946658" cy="1616203"/>
          </a:xfrm>
        </p:spPr>
        <p:txBody>
          <a:bodyPr vert="horz" lIns="91440" tIns="45720" rIns="91440" bIns="45720" rtlCol="0" anchor="b">
            <a:normAutofit/>
          </a:bodyPr>
          <a:lstStyle/>
          <a:p>
            <a:pPr marL="514350" indent="-514350"/>
            <a:r>
              <a:rPr lang="en-US" sz="3600" b="1" err="1">
                <a:solidFill>
                  <a:schemeClr val="accent1"/>
                </a:solidFill>
              </a:rPr>
              <a:t>Vücuda</a:t>
            </a:r>
            <a:r>
              <a:rPr lang="en-US" sz="3600" b="1">
                <a:solidFill>
                  <a:schemeClr val="accent1"/>
                </a:solidFill>
              </a:rPr>
              <a:t> </a:t>
            </a:r>
            <a:r>
              <a:rPr lang="en-US" sz="3600" b="1" err="1">
                <a:solidFill>
                  <a:schemeClr val="accent1"/>
                </a:solidFill>
              </a:rPr>
              <a:t>Giriş</a:t>
            </a:r>
            <a:r>
              <a:rPr lang="en-US" sz="3600" b="1">
                <a:solidFill>
                  <a:schemeClr val="accent1"/>
                </a:solidFill>
              </a:rPr>
              <a:t> </a:t>
            </a:r>
            <a:r>
              <a:rPr lang="en-US" sz="3600" b="1" err="1">
                <a:solidFill>
                  <a:schemeClr val="accent1"/>
                </a:solidFill>
              </a:rPr>
              <a:t>Yolları</a:t>
            </a:r>
            <a:endParaRPr lang="en-US" sz="3600" b="1">
              <a:solidFill>
                <a:schemeClr val="accent1"/>
              </a:solidFill>
            </a:endParaRPr>
          </a:p>
        </p:txBody>
      </p:sp>
      <p:sp>
        <p:nvSpPr>
          <p:cNvPr id="4" name="Metin kutusu 3"/>
          <p:cNvSpPr txBox="1"/>
          <p:nvPr/>
        </p:nvSpPr>
        <p:spPr>
          <a:xfrm>
            <a:off x="876293" y="3070189"/>
            <a:ext cx="3346964" cy="3447832"/>
          </a:xfrm>
          <a:prstGeom prst="rect">
            <a:avLst/>
          </a:prstGeom>
        </p:spPr>
        <p:txBody>
          <a:bodyPr vert="horz" lIns="91440" tIns="45720" rIns="91440" bIns="45720" rtlCol="0" anchor="t">
            <a:normAutofit/>
          </a:bodyPr>
          <a:lstStyle/>
          <a:p>
            <a:pPr marL="457200" indent="-342900">
              <a:lnSpc>
                <a:spcPct val="150000"/>
              </a:lnSpc>
              <a:spcAft>
                <a:spcPts val="600"/>
              </a:spcAft>
              <a:buClr>
                <a:schemeClr val="accent1"/>
              </a:buClr>
              <a:buFont typeface="Wingdings" panose="05000000000000000000" pitchFamily="2" charset="2"/>
              <a:buChar char="Ø"/>
            </a:pPr>
            <a:r>
              <a:rPr lang="en-US" sz="2000" err="1"/>
              <a:t>Solunum</a:t>
            </a:r>
            <a:r>
              <a:rPr lang="en-US" sz="2000"/>
              <a:t> </a:t>
            </a:r>
            <a:r>
              <a:rPr lang="en-US" sz="2000" err="1"/>
              <a:t>yolu</a:t>
            </a:r>
            <a:r>
              <a:rPr lang="en-US" sz="2000"/>
              <a:t> </a:t>
            </a:r>
            <a:r>
              <a:rPr lang="en-US" sz="2000" err="1"/>
              <a:t>ile</a:t>
            </a:r>
            <a:endParaRPr lang="en-US" sz="2000"/>
          </a:p>
          <a:p>
            <a:pPr marL="457200" indent="-342900">
              <a:lnSpc>
                <a:spcPct val="150000"/>
              </a:lnSpc>
              <a:spcAft>
                <a:spcPts val="600"/>
              </a:spcAft>
              <a:buClr>
                <a:schemeClr val="accent1"/>
              </a:buClr>
              <a:buFont typeface="Wingdings" panose="05000000000000000000" pitchFamily="2" charset="2"/>
              <a:buChar char="Ø"/>
            </a:pPr>
            <a:r>
              <a:rPr lang="en-US" sz="2000" err="1"/>
              <a:t>Deriye</a:t>
            </a:r>
            <a:r>
              <a:rPr lang="en-US" sz="2000"/>
              <a:t> </a:t>
            </a:r>
            <a:r>
              <a:rPr lang="en-US" sz="2000" err="1"/>
              <a:t>temas</a:t>
            </a:r>
            <a:r>
              <a:rPr lang="en-US" sz="2000"/>
              <a:t> </a:t>
            </a:r>
            <a:r>
              <a:rPr lang="en-US" sz="2000" err="1"/>
              <a:t>yolu</a:t>
            </a:r>
            <a:r>
              <a:rPr lang="en-US" sz="2000"/>
              <a:t> </a:t>
            </a:r>
            <a:r>
              <a:rPr lang="en-US" sz="2000" err="1"/>
              <a:t>ile</a:t>
            </a:r>
            <a:endParaRPr lang="en-US" sz="2000"/>
          </a:p>
          <a:p>
            <a:pPr marL="457200" indent="-342900">
              <a:lnSpc>
                <a:spcPct val="150000"/>
              </a:lnSpc>
              <a:spcAft>
                <a:spcPts val="600"/>
              </a:spcAft>
              <a:buClr>
                <a:schemeClr val="accent1"/>
              </a:buClr>
              <a:buFont typeface="Wingdings" panose="05000000000000000000" pitchFamily="2" charset="2"/>
              <a:buChar char="Ø"/>
            </a:pPr>
            <a:r>
              <a:rPr lang="en-US" sz="2000" err="1"/>
              <a:t>Sindirim</a:t>
            </a:r>
            <a:r>
              <a:rPr lang="en-US" sz="2000"/>
              <a:t> </a:t>
            </a:r>
            <a:r>
              <a:rPr lang="en-US" sz="2000" err="1"/>
              <a:t>yolu</a:t>
            </a:r>
            <a:r>
              <a:rPr lang="en-US" sz="2000"/>
              <a:t> </a:t>
            </a:r>
            <a:r>
              <a:rPr lang="en-US" sz="2000" err="1"/>
              <a:t>ile</a:t>
            </a:r>
            <a:endParaRPr lang="en-US" sz="2000"/>
          </a:p>
        </p:txBody>
      </p:sp>
      <p:pic>
        <p:nvPicPr>
          <p:cNvPr id="3074" name="Picture 2" descr="https://www.isguvenligi.net/wp-content/uploads/m7af7ff6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2" r="1" b="1"/>
          <a:stretch>
            <a:fillRect/>
          </a:stretch>
        </p:blipFill>
        <p:spPr bwMode="auto">
          <a:xfrm>
            <a:off x="5089243" y="877413"/>
            <a:ext cx="6222628" cy="5043096"/>
          </a:xfrm>
          <a:prstGeom prst="rect">
            <a:avLst/>
          </a:prstGeom>
          <a:noFill/>
          <a:extLst>
            <a:ext uri="{909E8E84-426E-40DD-AFC4-6F175D3DCCD1}">
              <a14:hiddenFill xmlns:a14="http://schemas.microsoft.com/office/drawing/2010/main">
                <a:solidFill>
                  <a:srgbClr val="FFFFFF"/>
                </a:solidFill>
              </a14:hiddenFill>
            </a:ext>
          </a:extLst>
        </p:spPr>
      </p:pic>
      <p:grpSp>
        <p:nvGrpSpPr>
          <p:cNvPr id="3079" name="Group 3078">
            <a:extLst>
              <a:ext uri="{FF2B5EF4-FFF2-40B4-BE49-F238E27FC236}">
                <a16:creationId xmlns:a16="http://schemas.microsoft.com/office/drawing/2014/main" id="{3AFCAD34-1AFC-BC1A-F6B2-C34C63912E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89243" y="5858828"/>
            <a:ext cx="6226463" cy="123363"/>
            <a:chOff x="7015162" y="5858828"/>
            <a:chExt cx="4300544" cy="123363"/>
          </a:xfrm>
        </p:grpSpPr>
        <p:sp>
          <p:nvSpPr>
            <p:cNvPr id="3076" name="Rectangle 3079">
              <a:extLst>
                <a:ext uri="{FF2B5EF4-FFF2-40B4-BE49-F238E27FC236}">
                  <a16:creationId xmlns:a16="http://schemas.microsoft.com/office/drawing/2014/main" id="{1129F4A2-3705-CF87-3DDA-AF9CE9389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Rectangle 3080">
              <a:extLst>
                <a:ext uri="{FF2B5EF4-FFF2-40B4-BE49-F238E27FC236}">
                  <a16:creationId xmlns:a16="http://schemas.microsoft.com/office/drawing/2014/main" id="{891B1028-FC76-5583-3A1F-5815A7DCF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12168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ADF87A-60D4-3B8A-740E-74F6AB876F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C5DA9E-8363-20E0-2F3E-26519D6BA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C13AE834-BEE4-D500-292D-540C42430D0F}"/>
              </a:ext>
            </a:extLst>
          </p:cNvPr>
          <p:cNvSpPr>
            <a:spLocks noGrp="1"/>
          </p:cNvSpPr>
          <p:nvPr>
            <p:ph type="title"/>
          </p:nvPr>
        </p:nvSpPr>
        <p:spPr>
          <a:xfrm>
            <a:off x="838200" y="365125"/>
            <a:ext cx="10515600" cy="1325563"/>
          </a:xfrm>
        </p:spPr>
        <p:txBody>
          <a:bodyPr>
            <a:normAutofit/>
          </a:bodyPr>
          <a:lstStyle/>
          <a:p>
            <a:r>
              <a:rPr lang="tr-TR" b="1">
                <a:solidFill>
                  <a:schemeClr val="tx2">
                    <a:lumMod val="75000"/>
                    <a:lumOff val="25000"/>
                  </a:schemeClr>
                </a:solidFill>
              </a:rPr>
              <a:t>Vücuda Giriş Yolları</a:t>
            </a:r>
            <a:endParaRPr lang="tr-TR"/>
          </a:p>
        </p:txBody>
      </p:sp>
      <p:sp>
        <p:nvSpPr>
          <p:cNvPr id="10" name="sketch line">
            <a:extLst>
              <a:ext uri="{FF2B5EF4-FFF2-40B4-BE49-F238E27FC236}">
                <a16:creationId xmlns:a16="http://schemas.microsoft.com/office/drawing/2014/main" id="{ACE2BBEA-39EF-F65C-C31F-D6601297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8D12A9EF-4290-B66C-9338-9B05E10260C6}"/>
              </a:ext>
            </a:extLst>
          </p:cNvPr>
          <p:cNvSpPr>
            <a:spLocks noGrp="1"/>
          </p:cNvSpPr>
          <p:nvPr>
            <p:ph idx="1"/>
          </p:nvPr>
        </p:nvSpPr>
        <p:spPr>
          <a:xfrm>
            <a:off x="669035" y="1929384"/>
            <a:ext cx="10963331" cy="4251960"/>
          </a:xfrm>
        </p:spPr>
        <p:txBody>
          <a:bodyPr>
            <a:normAutofit fontScale="85000" lnSpcReduction="20000"/>
          </a:bodyPr>
          <a:lstStyle/>
          <a:p>
            <a:pPr>
              <a:buClr>
                <a:schemeClr val="accent1"/>
              </a:buClr>
              <a:buFont typeface="Wingdings" panose="05000000000000000000" pitchFamily="2" charset="2"/>
              <a:buChar char="Ø"/>
            </a:pPr>
            <a:r>
              <a:rPr lang="tr-TR" sz="2200"/>
              <a:t>  </a:t>
            </a:r>
            <a:r>
              <a:rPr lang="tr-TR" u="sng"/>
              <a:t>Solunum yolu ile</a:t>
            </a:r>
          </a:p>
          <a:p>
            <a:pPr marL="0" indent="0">
              <a:buNone/>
            </a:pPr>
            <a:endParaRPr lang="tr-TR" sz="2400"/>
          </a:p>
          <a:p>
            <a:r>
              <a:rPr lang="tr-TR" sz="2400" b="1"/>
              <a:t>Gazlar : </a:t>
            </a:r>
            <a:r>
              <a:rPr lang="tr-TR" sz="2400"/>
              <a:t>Mesleki zehirlenmelerin, çoğu solunum yolu ile alınan havanın içinde bulunan klor, karbon monoksit, hidrojen sülfür, amonyak, azot dioksit, fosgen, brom , ozon gibi gazlarıdır. Bu maddeler normal sıcaklıkta ve atmosfer basıncında gaz olarak havada bulunabilir.</a:t>
            </a:r>
          </a:p>
          <a:p>
            <a:pPr marL="0" indent="0">
              <a:buNone/>
            </a:pPr>
            <a:endParaRPr lang="tr-TR" sz="2400"/>
          </a:p>
          <a:p>
            <a:r>
              <a:rPr lang="tr-TR" sz="2400" b="1"/>
              <a:t>Buharlar: </a:t>
            </a:r>
            <a:r>
              <a:rPr lang="tr-TR" sz="2400"/>
              <a:t>Normal sıcaklıkta ve atmosfer basıncında buharlaşabilen , gaz veya sıvı maddelerin havada bulunan buharlarıdır.</a:t>
            </a:r>
          </a:p>
          <a:p>
            <a:pPr marL="0" indent="0">
              <a:buNone/>
            </a:pPr>
            <a:endParaRPr lang="tr-TR" sz="2400"/>
          </a:p>
          <a:p>
            <a:r>
              <a:rPr lang="tr-TR" sz="2400" b="1"/>
              <a:t>Sisler (</a:t>
            </a:r>
            <a:r>
              <a:rPr lang="tr-TR" sz="2400" b="1" err="1"/>
              <a:t>mistler</a:t>
            </a:r>
            <a:r>
              <a:rPr lang="tr-TR" sz="2400" b="1"/>
              <a:t>): </a:t>
            </a:r>
            <a:r>
              <a:rPr lang="tr-TR" sz="2400"/>
              <a:t>Bunlar, çok ince sıvı damlacıklarının havada dağılması  sonucu meydana gelirler, elektro metal kaplama tanklarında ve tabanca ile boya yapılması durumlarında olduğu gibi. </a:t>
            </a:r>
          </a:p>
          <a:p>
            <a:endParaRPr lang="tr-TR" sz="2200"/>
          </a:p>
        </p:txBody>
      </p:sp>
    </p:spTree>
    <p:extLst>
      <p:ext uri="{BB962C8B-B14F-4D97-AF65-F5344CB8AC3E}">
        <p14:creationId xmlns:p14="http://schemas.microsoft.com/office/powerpoint/2010/main" val="2932854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b="1">
                <a:solidFill>
                  <a:schemeClr val="tx2">
                    <a:lumMod val="75000"/>
                    <a:lumOff val="25000"/>
                  </a:schemeClr>
                </a:solidFill>
              </a:rPr>
              <a:t>Vücuda Giriş Yolları</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fontScale="92500" lnSpcReduction="20000"/>
          </a:bodyPr>
          <a:lstStyle/>
          <a:p>
            <a:pPr marL="0" indent="0">
              <a:buNone/>
            </a:pPr>
            <a:endParaRPr lang="tr-TR" sz="2200"/>
          </a:p>
          <a:p>
            <a:r>
              <a:rPr lang="tr-TR" sz="2200" b="1"/>
              <a:t>Tozlar: </a:t>
            </a:r>
            <a:r>
              <a:rPr lang="tr-TR" sz="2200"/>
              <a:t>Bunların, çok ince katı madde parçacıklarının havada dağılması ile meydana gelirler. Organik ve inorganik partiküllerden oluşur. Partikül büyüklüğüne göre solunabilir, ya da üst solunum yolları ile atılabilir olmalarına göre sınıflandırılabilir. </a:t>
            </a:r>
            <a:r>
              <a:rPr lang="tr-TR" sz="2200" b="1"/>
              <a:t>Özellikle 0,1 ila 5 mikron </a:t>
            </a:r>
            <a:r>
              <a:rPr lang="tr-TR" sz="2200"/>
              <a:t>arasındaki tozlar son derece tehlikelidir. </a:t>
            </a:r>
          </a:p>
          <a:p>
            <a:pPr marL="0" indent="0">
              <a:buNone/>
            </a:pPr>
            <a:r>
              <a:rPr lang="tr-TR" sz="2200"/>
              <a:t>  Tahriş Edici Tozlar, Zehirli Tozlar (Kurşun, arsenik, </a:t>
            </a:r>
            <a:r>
              <a:rPr lang="tr-TR" sz="2200" err="1"/>
              <a:t>civa</a:t>
            </a:r>
            <a:r>
              <a:rPr lang="tr-TR" sz="2200"/>
              <a:t>, kadmiyum, fosfor), </a:t>
            </a:r>
            <a:r>
              <a:rPr lang="tr-TR" sz="2200" err="1"/>
              <a:t>Fibrosis</a:t>
            </a:r>
            <a:r>
              <a:rPr lang="tr-TR" sz="2200"/>
              <a:t> Yapan Tozlar(</a:t>
            </a:r>
            <a:r>
              <a:rPr lang="tr-TR" sz="2200" b="1"/>
              <a:t>silika</a:t>
            </a:r>
            <a:r>
              <a:rPr lang="tr-TR" sz="2200"/>
              <a:t> ve </a:t>
            </a:r>
            <a:r>
              <a:rPr lang="tr-TR" sz="2200" b="1"/>
              <a:t>asbest </a:t>
            </a:r>
            <a:r>
              <a:rPr lang="tr-TR" sz="2200"/>
              <a:t>tozları), İnert Tozlar, </a:t>
            </a:r>
            <a:r>
              <a:rPr lang="tr-TR" sz="2200" err="1"/>
              <a:t>Allerji</a:t>
            </a:r>
            <a:r>
              <a:rPr lang="tr-TR" sz="2200"/>
              <a:t> Yapan Tozlar</a:t>
            </a:r>
          </a:p>
          <a:p>
            <a:pPr marL="0" indent="0">
              <a:buNone/>
            </a:pPr>
            <a:endParaRPr lang="tr-TR" sz="2200"/>
          </a:p>
          <a:p>
            <a:r>
              <a:rPr lang="tr-TR" sz="2200" b="1"/>
              <a:t>Dumanlar:</a:t>
            </a:r>
            <a:r>
              <a:rPr lang="tr-TR" sz="2200"/>
              <a:t> Bunlar, kimyasal maddelerin meydana getirdikleri katı parçacıkların gaz halindeki dumanlarıdır. Örneğin hidroklorik asit ve amonyak buharları havada beyaz dumanlar halinde amonyum klorür meydana getirirler.</a:t>
            </a:r>
          </a:p>
          <a:p>
            <a:pPr marL="0" indent="0">
              <a:buNone/>
            </a:pPr>
            <a:endParaRPr lang="tr-TR" sz="2200"/>
          </a:p>
          <a:p>
            <a:endParaRPr lang="tr-TR" sz="2200"/>
          </a:p>
          <a:p>
            <a:endParaRPr lang="tr-TR" sz="2200"/>
          </a:p>
          <a:p>
            <a:pPr marL="0" indent="0">
              <a:buNone/>
            </a:pPr>
            <a:endParaRPr lang="tr-TR" sz="2200"/>
          </a:p>
          <a:p>
            <a:pPr marL="0" indent="0">
              <a:buNone/>
            </a:pPr>
            <a:endParaRPr lang="tr-TR" sz="2200"/>
          </a:p>
        </p:txBody>
      </p:sp>
    </p:spTree>
    <p:extLst>
      <p:ext uri="{BB962C8B-B14F-4D97-AF65-F5344CB8AC3E}">
        <p14:creationId xmlns:p14="http://schemas.microsoft.com/office/powerpoint/2010/main" val="3912290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a:solidFill>
                  <a:schemeClr val="tx2">
                    <a:lumMod val="75000"/>
                    <a:lumOff val="25000"/>
                  </a:schemeClr>
                </a:solidFill>
              </a:rPr>
              <a:t>Vücuda Giriş Yolları</a:t>
            </a:r>
            <a:endParaRPr lang="tr-TR"/>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59241892"/>
              </p:ext>
            </p:extLst>
          </p:nvPr>
        </p:nvGraphicFramePr>
        <p:xfrm>
          <a:off x="1418493" y="1465604"/>
          <a:ext cx="9355014" cy="5133376"/>
        </p:xfrm>
        <a:graphic>
          <a:graphicData uri="http://schemas.openxmlformats.org/drawingml/2006/table">
            <a:tbl>
              <a:tblPr firstRow="1" firstCol="1" bandRow="1">
                <a:tableStyleId>{21E4AEA4-8DFA-4A89-87EB-49C32662AFE0}</a:tableStyleId>
              </a:tblPr>
              <a:tblGrid>
                <a:gridCol w="3118338">
                  <a:extLst>
                    <a:ext uri="{9D8B030D-6E8A-4147-A177-3AD203B41FA5}">
                      <a16:colId xmlns:a16="http://schemas.microsoft.com/office/drawing/2014/main" val="1739390313"/>
                    </a:ext>
                  </a:extLst>
                </a:gridCol>
                <a:gridCol w="3118338">
                  <a:extLst>
                    <a:ext uri="{9D8B030D-6E8A-4147-A177-3AD203B41FA5}">
                      <a16:colId xmlns:a16="http://schemas.microsoft.com/office/drawing/2014/main" val="2146454228"/>
                    </a:ext>
                  </a:extLst>
                </a:gridCol>
                <a:gridCol w="3118338">
                  <a:extLst>
                    <a:ext uri="{9D8B030D-6E8A-4147-A177-3AD203B41FA5}">
                      <a16:colId xmlns:a16="http://schemas.microsoft.com/office/drawing/2014/main" val="772877906"/>
                    </a:ext>
                  </a:extLst>
                </a:gridCol>
              </a:tblGrid>
              <a:tr h="447990">
                <a:tc>
                  <a:txBody>
                    <a:bodyPr/>
                    <a:lstStyle/>
                    <a:p>
                      <a:pPr>
                        <a:lnSpc>
                          <a:spcPct val="115000"/>
                        </a:lnSpc>
                        <a:spcAft>
                          <a:spcPts val="0"/>
                        </a:spcAft>
                      </a:pPr>
                      <a:r>
                        <a:rPr lang="en-US" sz="1800" b="1">
                          <a:effectLst/>
                        </a:rPr>
                        <a:t>Madde Türü</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solidFill>
                      <a:schemeClr val="accent2">
                        <a:lumMod val="75000"/>
                      </a:schemeClr>
                    </a:solidFill>
                  </a:tcPr>
                </a:tc>
                <a:tc>
                  <a:txBody>
                    <a:bodyPr/>
                    <a:lstStyle/>
                    <a:p>
                      <a:pPr>
                        <a:lnSpc>
                          <a:spcPct val="115000"/>
                        </a:lnSpc>
                        <a:spcAft>
                          <a:spcPts val="0"/>
                        </a:spcAft>
                      </a:pPr>
                      <a:r>
                        <a:rPr lang="en-US" sz="1800" b="1">
                          <a:effectLst/>
                        </a:rPr>
                        <a:t>Örnekler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solidFill>
                      <a:schemeClr val="accent2">
                        <a:lumMod val="75000"/>
                      </a:schemeClr>
                    </a:solidFill>
                  </a:tcPr>
                </a:tc>
                <a:tc>
                  <a:txBody>
                    <a:bodyPr/>
                    <a:lstStyle/>
                    <a:p>
                      <a:pPr>
                        <a:lnSpc>
                          <a:spcPct val="115000"/>
                        </a:lnSpc>
                        <a:spcAft>
                          <a:spcPts val="0"/>
                        </a:spcAft>
                      </a:pPr>
                      <a:r>
                        <a:rPr lang="en-US" sz="1800" b="1">
                          <a:effectLst/>
                        </a:rPr>
                        <a:t>Görüldüğü İş Kolları / Ortamlar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solidFill>
                      <a:schemeClr val="accent2">
                        <a:lumMod val="75000"/>
                      </a:schemeClr>
                    </a:solidFill>
                  </a:tcPr>
                </a:tc>
                <a:extLst>
                  <a:ext uri="{0D108BD9-81ED-4DB2-BD59-A6C34878D82A}">
                    <a16:rowId xmlns:a16="http://schemas.microsoft.com/office/drawing/2014/main" val="846796621"/>
                  </a:ext>
                </a:extLst>
              </a:tr>
              <a:tr h="904095">
                <a:tc>
                  <a:txBody>
                    <a:bodyPr/>
                    <a:lstStyle/>
                    <a:p>
                      <a:pPr>
                        <a:lnSpc>
                          <a:spcPct val="115000"/>
                        </a:lnSpc>
                        <a:spcAft>
                          <a:spcPts val="0"/>
                        </a:spcAft>
                      </a:pPr>
                      <a:r>
                        <a:rPr lang="en-US" sz="1800" b="1">
                          <a:effectLst/>
                        </a:rPr>
                        <a:t>Tozlar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Silika (kuvars), kömür tozu, asbest, un tozu</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Maden ocakları, taş ocakları, inşaat, seramik, gıda sektörü</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349278380"/>
                  </a:ext>
                </a:extLst>
              </a:tr>
              <a:tr h="1132146">
                <a:tc>
                  <a:txBody>
                    <a:bodyPr/>
                    <a:lstStyle/>
                    <a:p>
                      <a:pPr>
                        <a:lnSpc>
                          <a:spcPct val="115000"/>
                        </a:lnSpc>
                        <a:spcAft>
                          <a:spcPts val="0"/>
                        </a:spcAft>
                      </a:pPr>
                      <a:r>
                        <a:rPr lang="en-US" sz="1800" b="1">
                          <a:effectLst/>
                        </a:rPr>
                        <a:t>Gazlar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Karbon monoksit (CO), kükürt dioksit (SO₂), amonyak (NH₃), hidrojen sülfür (H₂S)</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Kazan daireleri, metal sanayi, kimya tesisleri, kanalizasyon</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62635891"/>
                  </a:ext>
                </a:extLst>
              </a:tr>
              <a:tr h="904095">
                <a:tc>
                  <a:txBody>
                    <a:bodyPr/>
                    <a:lstStyle/>
                    <a:p>
                      <a:pPr>
                        <a:lnSpc>
                          <a:spcPct val="115000"/>
                        </a:lnSpc>
                        <a:spcAft>
                          <a:spcPts val="0"/>
                        </a:spcAft>
                      </a:pPr>
                      <a:r>
                        <a:rPr lang="en-US" sz="1800" b="1">
                          <a:effectLst/>
                        </a:rPr>
                        <a:t>Buharlar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Benzin buharı, toluen, ksilen, cıva buharı</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Akaryakıt istasyonları, boya işleri, laboratuvarlar</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886367815"/>
                  </a:ext>
                </a:extLst>
              </a:tr>
              <a:tr h="676043">
                <a:tc>
                  <a:txBody>
                    <a:bodyPr/>
                    <a:lstStyle/>
                    <a:p>
                      <a:pPr>
                        <a:lnSpc>
                          <a:spcPct val="115000"/>
                        </a:lnSpc>
                        <a:spcAft>
                          <a:spcPts val="0"/>
                        </a:spcAft>
                      </a:pPr>
                      <a:r>
                        <a:rPr lang="en-US" sz="1800" b="1">
                          <a:effectLst/>
                        </a:rPr>
                        <a:t>Dumanlar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Kaynak dumanı, kurşun, çinko, kadmiyum dumanları</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Kaynak ve lehimleme işleri, metal imalatı</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942550092"/>
                  </a:ext>
                </a:extLst>
              </a:tr>
              <a:tr h="904095">
                <a:tc>
                  <a:txBody>
                    <a:bodyPr/>
                    <a:lstStyle/>
                    <a:p>
                      <a:pPr>
                        <a:lnSpc>
                          <a:spcPct val="115000"/>
                        </a:lnSpc>
                        <a:spcAft>
                          <a:spcPts val="0"/>
                        </a:spcAft>
                      </a:pPr>
                      <a:r>
                        <a:rPr lang="en-US" sz="1800" b="1">
                          <a:effectLst/>
                        </a:rPr>
                        <a:t>Aerosoller / Sisler</a:t>
                      </a:r>
                      <a:endParaRPr lang="tr-TR" sz="1800" b="1">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Sülfürik asit sisi, pestisit aerosolleri, yağ sisleri</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Akü üretimi, tarım ilaçlaması, metal işleme tezgâhları</a:t>
                      </a:r>
                      <a:endParaRPr lang="tr-TR"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650437591"/>
                  </a:ext>
                </a:extLst>
              </a:tr>
            </a:tbl>
          </a:graphicData>
        </a:graphic>
      </p:graphicFrame>
    </p:spTree>
    <p:extLst>
      <p:ext uri="{BB962C8B-B14F-4D97-AF65-F5344CB8AC3E}">
        <p14:creationId xmlns:p14="http://schemas.microsoft.com/office/powerpoint/2010/main" val="137492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b="1">
                <a:solidFill>
                  <a:schemeClr val="tx2">
                    <a:lumMod val="75000"/>
                    <a:lumOff val="25000"/>
                  </a:schemeClr>
                </a:solidFill>
              </a:rPr>
              <a:t>Vücuda Giriş Yolları</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199" y="1929383"/>
            <a:ext cx="10959059" cy="4726249"/>
          </a:xfrm>
        </p:spPr>
        <p:txBody>
          <a:bodyPr>
            <a:normAutofit fontScale="77500" lnSpcReduction="20000"/>
          </a:bodyPr>
          <a:lstStyle/>
          <a:p>
            <a:pPr>
              <a:buClr>
                <a:schemeClr val="accent1"/>
              </a:buClr>
              <a:buFont typeface="Wingdings" panose="05000000000000000000" pitchFamily="2" charset="2"/>
              <a:buChar char="Ø"/>
            </a:pPr>
            <a:r>
              <a:rPr lang="tr-TR" sz="1500" u="sng"/>
              <a:t> </a:t>
            </a:r>
            <a:r>
              <a:rPr lang="tr-TR" sz="2600" u="sng"/>
              <a:t>Deriye temas yolu ile</a:t>
            </a:r>
          </a:p>
          <a:p>
            <a:pPr marL="0" indent="0">
              <a:buNone/>
            </a:pPr>
            <a:endParaRPr lang="tr-TR" sz="2000" u="sng"/>
          </a:p>
          <a:p>
            <a:pPr marL="0" indent="0">
              <a:buNone/>
            </a:pPr>
            <a:r>
              <a:rPr lang="tr-TR" sz="2000"/>
              <a:t>  </a:t>
            </a:r>
            <a:r>
              <a:rPr lang="tr-TR" sz="2200"/>
              <a:t>Deri yolu ile </a:t>
            </a:r>
            <a:r>
              <a:rPr lang="tr-TR" sz="2200" err="1"/>
              <a:t>absorbe</a:t>
            </a:r>
            <a:r>
              <a:rPr lang="tr-TR" sz="2200"/>
              <a:t> edilme, doğrudan doğruya deriye temas etme ile meydana gelir. Asitler, alkaliler, solventler, yağlar, formaldehit, krom veya nikel, bazı organik tozlar, epoksi sertleştiriciler, neftyağı cilt için tehlikelidir.</a:t>
            </a:r>
          </a:p>
          <a:p>
            <a:pPr marL="0" indent="0">
              <a:buNone/>
            </a:pPr>
            <a:endParaRPr lang="tr-TR" sz="2200"/>
          </a:p>
          <a:p>
            <a:r>
              <a:rPr lang="tr-TR" sz="2200" b="1"/>
              <a:t>Öldürücü zehirlenmeler:</a:t>
            </a:r>
            <a:r>
              <a:rPr lang="tr-TR" sz="2200"/>
              <a:t> </a:t>
            </a:r>
            <a:r>
              <a:rPr lang="tr-TR" sz="2200" err="1"/>
              <a:t>Nisbeten</a:t>
            </a:r>
            <a:r>
              <a:rPr lang="tr-TR" sz="2200"/>
              <a:t>, çok az miktarlardaki zehirli maddeler </a:t>
            </a:r>
            <a:r>
              <a:rPr lang="tr-TR" sz="2200" err="1"/>
              <a:t>absorbe</a:t>
            </a:r>
            <a:r>
              <a:rPr lang="tr-TR" sz="2200"/>
              <a:t> edilebilir. Fakat, anilin, kurşun tetra etil veya hidrojen siyanür asidinin deriye kısa süre teması çok büyük tehlikeler meydana getirebilir.</a:t>
            </a:r>
          </a:p>
          <a:p>
            <a:pPr marL="0" indent="0">
              <a:buNone/>
            </a:pPr>
            <a:endParaRPr lang="tr-TR" sz="2200"/>
          </a:p>
          <a:p>
            <a:r>
              <a:rPr lang="tr-TR" sz="2200" b="1"/>
              <a:t>Tahriş Edici Maddeler</a:t>
            </a:r>
            <a:r>
              <a:rPr lang="tr-TR" sz="2200"/>
              <a:t>: Bunlar, doğrudan doğruya deriye (cilde) etki ederler. Kuvvetli asitler (sülfürik asit, nitrik asit, </a:t>
            </a:r>
            <a:r>
              <a:rPr lang="tr-TR" sz="2200" err="1"/>
              <a:t>hidro</a:t>
            </a:r>
            <a:r>
              <a:rPr lang="tr-TR" sz="2200"/>
              <a:t> </a:t>
            </a:r>
            <a:r>
              <a:rPr lang="tr-TR" sz="2200" err="1"/>
              <a:t>florik</a:t>
            </a:r>
            <a:r>
              <a:rPr lang="tr-TR" sz="2200"/>
              <a:t> asit vb.). Bazlar (sodyum hidroksit – kostik, potasyum hidroksit, kireç vb.), klor, flor, brom, fenol vb.</a:t>
            </a:r>
          </a:p>
          <a:p>
            <a:pPr marL="0" indent="0">
              <a:buNone/>
            </a:pPr>
            <a:endParaRPr lang="tr-TR" sz="2200"/>
          </a:p>
          <a:p>
            <a:r>
              <a:rPr lang="tr-TR" sz="2200" b="1"/>
              <a:t>Çözücüler</a:t>
            </a:r>
            <a:r>
              <a:rPr lang="tr-TR" sz="2200"/>
              <a:t>: Bunlar, doğrudan doğruya deriyi tahriş etmezler ancak, bakterilere karşı derinin direncini azaltırlar. (</a:t>
            </a:r>
            <a:r>
              <a:rPr lang="tr-TR" sz="2200" b="1" err="1"/>
              <a:t>Dermatosis</a:t>
            </a:r>
            <a:r>
              <a:rPr lang="tr-TR" sz="2200" b="1"/>
              <a:t>)</a:t>
            </a:r>
            <a:r>
              <a:rPr lang="tr-TR" sz="2200"/>
              <a:t> Örneğin: Benzin, Gazyağı ve Alkol vb.)</a:t>
            </a:r>
          </a:p>
          <a:p>
            <a:endParaRPr lang="tr-TR" sz="2000"/>
          </a:p>
          <a:p>
            <a:pPr marL="0" indent="0">
              <a:buNone/>
            </a:pPr>
            <a:endParaRPr lang="tr-TR" sz="1500"/>
          </a:p>
        </p:txBody>
      </p:sp>
    </p:spTree>
    <p:extLst>
      <p:ext uri="{BB962C8B-B14F-4D97-AF65-F5344CB8AC3E}">
        <p14:creationId xmlns:p14="http://schemas.microsoft.com/office/powerpoint/2010/main" val="2414339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extLst>
              <p:ext uri="{D42A27DB-BD31-4B8C-83A1-F6EECF244321}">
                <p14:modId xmlns:p14="http://schemas.microsoft.com/office/powerpoint/2010/main" val="2200909551"/>
              </p:ext>
            </p:extLst>
          </p:nvPr>
        </p:nvGraphicFramePr>
        <p:xfrm>
          <a:off x="633047" y="689317"/>
          <a:ext cx="11211951" cy="4834820"/>
        </p:xfrm>
        <a:graphic>
          <a:graphicData uri="http://schemas.openxmlformats.org/drawingml/2006/table">
            <a:tbl>
              <a:tblPr firstRow="1" firstCol="1" bandRow="1">
                <a:tableStyleId>{F5AB1C69-6EDB-4FF4-983F-18BD219EF322}</a:tableStyleId>
              </a:tblPr>
              <a:tblGrid>
                <a:gridCol w="3737317">
                  <a:extLst>
                    <a:ext uri="{9D8B030D-6E8A-4147-A177-3AD203B41FA5}">
                      <a16:colId xmlns:a16="http://schemas.microsoft.com/office/drawing/2014/main" val="3376770802"/>
                    </a:ext>
                  </a:extLst>
                </a:gridCol>
                <a:gridCol w="3737317">
                  <a:extLst>
                    <a:ext uri="{9D8B030D-6E8A-4147-A177-3AD203B41FA5}">
                      <a16:colId xmlns:a16="http://schemas.microsoft.com/office/drawing/2014/main" val="1000069158"/>
                    </a:ext>
                  </a:extLst>
                </a:gridCol>
                <a:gridCol w="3737317">
                  <a:extLst>
                    <a:ext uri="{9D8B030D-6E8A-4147-A177-3AD203B41FA5}">
                      <a16:colId xmlns:a16="http://schemas.microsoft.com/office/drawing/2014/main" val="1408260320"/>
                    </a:ext>
                  </a:extLst>
                </a:gridCol>
              </a:tblGrid>
              <a:tr h="483482">
                <a:tc>
                  <a:txBody>
                    <a:bodyPr/>
                    <a:lstStyle/>
                    <a:p>
                      <a:pPr>
                        <a:lnSpc>
                          <a:spcPct val="115000"/>
                        </a:lnSpc>
                        <a:spcAft>
                          <a:spcPts val="0"/>
                        </a:spcAft>
                      </a:pPr>
                      <a:r>
                        <a:rPr lang="en-US" sz="1800" err="1">
                          <a:effectLst/>
                        </a:rPr>
                        <a:t>Madde</a:t>
                      </a:r>
                      <a:r>
                        <a:rPr lang="en-US" sz="1800">
                          <a:effectLst/>
                        </a:rPr>
                        <a:t> </a:t>
                      </a:r>
                      <a:r>
                        <a:rPr lang="en-US" sz="1800" err="1">
                          <a:effectLst/>
                        </a:rPr>
                        <a:t>Türü</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Örnek Maddeler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Görüldüğü İş Kolları / Ortamlar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633638147"/>
                  </a:ext>
                </a:extLst>
              </a:tr>
              <a:tr h="725223">
                <a:tc>
                  <a:txBody>
                    <a:bodyPr/>
                    <a:lstStyle/>
                    <a:p>
                      <a:pPr>
                        <a:lnSpc>
                          <a:spcPct val="115000"/>
                        </a:lnSpc>
                        <a:spcAft>
                          <a:spcPts val="0"/>
                        </a:spcAft>
                      </a:pPr>
                      <a:r>
                        <a:rPr lang="en-US" sz="1800" err="1">
                          <a:effectLst/>
                        </a:rPr>
                        <a:t>Asit</a:t>
                      </a:r>
                      <a:r>
                        <a:rPr lang="en-US" sz="1800">
                          <a:effectLst/>
                        </a:rPr>
                        <a:t> </a:t>
                      </a:r>
                      <a:r>
                        <a:rPr lang="en-US" sz="1800" err="1">
                          <a:effectLst/>
                        </a:rPr>
                        <a:t>ve</a:t>
                      </a:r>
                      <a:r>
                        <a:rPr lang="en-US" sz="1800">
                          <a:effectLst/>
                        </a:rPr>
                        <a:t> </a:t>
                      </a:r>
                      <a:r>
                        <a:rPr lang="en-US" sz="1800" err="1">
                          <a:effectLst/>
                        </a:rPr>
                        <a:t>Bazlar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Sülfürik asit, hidroklorik asit, sodyum hidroksit</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Kimya sanayi, akü üretimi, laboratuvarlar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82324943"/>
                  </a:ext>
                </a:extLst>
              </a:tr>
              <a:tr h="725223">
                <a:tc>
                  <a:txBody>
                    <a:bodyPr/>
                    <a:lstStyle/>
                    <a:p>
                      <a:pPr>
                        <a:lnSpc>
                          <a:spcPct val="115000"/>
                        </a:lnSpc>
                        <a:spcAft>
                          <a:spcPts val="0"/>
                        </a:spcAft>
                      </a:pPr>
                      <a:r>
                        <a:rPr lang="en-US" sz="1800" err="1">
                          <a:effectLst/>
                        </a:rPr>
                        <a:t>Organik</a:t>
                      </a:r>
                      <a:r>
                        <a:rPr lang="en-US" sz="1800">
                          <a:effectLst/>
                        </a:rPr>
                        <a:t> </a:t>
                      </a:r>
                      <a:r>
                        <a:rPr lang="en-US" sz="1800" err="1">
                          <a:effectLst/>
                        </a:rPr>
                        <a:t>Solventler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err="1">
                          <a:effectLst/>
                        </a:rPr>
                        <a:t>Toluen</a:t>
                      </a:r>
                      <a:r>
                        <a:rPr lang="en-US" sz="1800">
                          <a:effectLst/>
                        </a:rPr>
                        <a:t>, </a:t>
                      </a:r>
                      <a:r>
                        <a:rPr lang="en-US" sz="1800" err="1">
                          <a:effectLst/>
                        </a:rPr>
                        <a:t>ksilen</a:t>
                      </a:r>
                      <a:r>
                        <a:rPr lang="en-US" sz="1800">
                          <a:effectLst/>
                        </a:rPr>
                        <a:t>, </a:t>
                      </a:r>
                      <a:r>
                        <a:rPr lang="en-US" sz="1800" err="1">
                          <a:effectLst/>
                        </a:rPr>
                        <a:t>benzen</a:t>
                      </a:r>
                      <a:r>
                        <a:rPr lang="en-US" sz="1800">
                          <a:effectLst/>
                        </a:rPr>
                        <a:t>, </a:t>
                      </a:r>
                      <a:r>
                        <a:rPr lang="en-US" sz="1800" err="1">
                          <a:effectLst/>
                        </a:rPr>
                        <a:t>aseton</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Boya işleri, matbaa, temizlik ve kaplama işleri</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030845976"/>
                  </a:ext>
                </a:extLst>
              </a:tr>
              <a:tr h="483482">
                <a:tc>
                  <a:txBody>
                    <a:bodyPr/>
                    <a:lstStyle/>
                    <a:p>
                      <a:pPr>
                        <a:lnSpc>
                          <a:spcPct val="115000"/>
                        </a:lnSpc>
                        <a:spcAft>
                          <a:spcPts val="0"/>
                        </a:spcAft>
                      </a:pPr>
                      <a:r>
                        <a:rPr lang="en-US" sz="1800">
                          <a:effectLst/>
                        </a:rPr>
                        <a:t>Yağlar ve Gresler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Mineral </a:t>
                      </a:r>
                      <a:r>
                        <a:rPr lang="en-US" sz="1800" err="1">
                          <a:effectLst/>
                        </a:rPr>
                        <a:t>yağlar</a:t>
                      </a:r>
                      <a:r>
                        <a:rPr lang="en-US" sz="1800">
                          <a:effectLst/>
                        </a:rPr>
                        <a:t>, </a:t>
                      </a:r>
                      <a:r>
                        <a:rPr lang="en-US" sz="1800" err="1">
                          <a:effectLst/>
                        </a:rPr>
                        <a:t>kesme</a:t>
                      </a:r>
                      <a:r>
                        <a:rPr lang="en-US" sz="1800">
                          <a:effectLst/>
                        </a:rPr>
                        <a:t> </a:t>
                      </a:r>
                      <a:r>
                        <a:rPr lang="en-US" sz="1800" err="1">
                          <a:effectLst/>
                        </a:rPr>
                        <a:t>yağları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Metal işleme, makine bakım-onarım</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462927814"/>
                  </a:ext>
                </a:extLst>
              </a:tr>
              <a:tr h="483482">
                <a:tc>
                  <a:txBody>
                    <a:bodyPr/>
                    <a:lstStyle/>
                    <a:p>
                      <a:pPr>
                        <a:lnSpc>
                          <a:spcPct val="115000"/>
                        </a:lnSpc>
                        <a:spcAft>
                          <a:spcPts val="0"/>
                        </a:spcAft>
                      </a:pPr>
                      <a:r>
                        <a:rPr lang="en-US" sz="1800">
                          <a:effectLst/>
                        </a:rPr>
                        <a:t>Ağır Metaller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err="1">
                          <a:effectLst/>
                        </a:rPr>
                        <a:t>Cıva</a:t>
                      </a:r>
                      <a:r>
                        <a:rPr lang="en-US" sz="1800">
                          <a:effectLst/>
                        </a:rPr>
                        <a:t>, </a:t>
                      </a:r>
                      <a:r>
                        <a:rPr lang="en-US" sz="1800" err="1">
                          <a:effectLst/>
                        </a:rPr>
                        <a:t>kurşun</a:t>
                      </a:r>
                      <a:r>
                        <a:rPr lang="en-US" sz="1800">
                          <a:effectLst/>
                        </a:rPr>
                        <a:t>, </a:t>
                      </a:r>
                      <a:r>
                        <a:rPr lang="en-US" sz="1800" err="1">
                          <a:effectLst/>
                        </a:rPr>
                        <a:t>nikel</a:t>
                      </a:r>
                      <a:r>
                        <a:rPr lang="en-US" sz="1800">
                          <a:effectLst/>
                        </a:rPr>
                        <a:t>, </a:t>
                      </a:r>
                      <a:r>
                        <a:rPr lang="en-US" sz="1800" err="1">
                          <a:effectLst/>
                        </a:rPr>
                        <a:t>krom</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Kaplama tesisleri, pil-akü üretimi</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684273659"/>
                  </a:ext>
                </a:extLst>
              </a:tr>
              <a:tr h="483482">
                <a:tc>
                  <a:txBody>
                    <a:bodyPr/>
                    <a:lstStyle/>
                    <a:p>
                      <a:pPr>
                        <a:lnSpc>
                          <a:spcPct val="115000"/>
                        </a:lnSpc>
                        <a:spcAft>
                          <a:spcPts val="0"/>
                        </a:spcAft>
                      </a:pPr>
                      <a:r>
                        <a:rPr lang="en-US" sz="1800">
                          <a:effectLst/>
                        </a:rPr>
                        <a:t>Pestisitler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err="1">
                          <a:effectLst/>
                        </a:rPr>
                        <a:t>Organofosfatlar</a:t>
                      </a:r>
                      <a:r>
                        <a:rPr lang="en-US" sz="1800">
                          <a:effectLst/>
                        </a:rPr>
                        <a:t>, </a:t>
                      </a:r>
                      <a:r>
                        <a:rPr lang="en-US" sz="1800" err="1">
                          <a:effectLst/>
                        </a:rPr>
                        <a:t>karbamatlar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Tarım ilaçlaması, sera çalışmaları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903684072"/>
                  </a:ext>
                </a:extLst>
              </a:tr>
              <a:tr h="483482">
                <a:tc>
                  <a:txBody>
                    <a:bodyPr/>
                    <a:lstStyle/>
                    <a:p>
                      <a:pPr>
                        <a:lnSpc>
                          <a:spcPct val="115000"/>
                        </a:lnSpc>
                        <a:spcAft>
                          <a:spcPts val="0"/>
                        </a:spcAft>
                      </a:pPr>
                      <a:r>
                        <a:rPr lang="en-US" sz="1800">
                          <a:effectLst/>
                        </a:rPr>
                        <a:t>Reçine ve Sertleştiriciler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err="1">
                          <a:effectLst/>
                        </a:rPr>
                        <a:t>Epoksi</a:t>
                      </a:r>
                      <a:r>
                        <a:rPr lang="en-US" sz="1800">
                          <a:effectLst/>
                        </a:rPr>
                        <a:t> </a:t>
                      </a:r>
                      <a:r>
                        <a:rPr lang="en-US" sz="1800" err="1">
                          <a:effectLst/>
                        </a:rPr>
                        <a:t>reçineler</a:t>
                      </a:r>
                      <a:r>
                        <a:rPr lang="en-US" sz="1800">
                          <a:effectLst/>
                        </a:rPr>
                        <a:t>, </a:t>
                      </a:r>
                      <a:r>
                        <a:rPr lang="en-US" sz="1800" err="1">
                          <a:effectLst/>
                        </a:rPr>
                        <a:t>aminler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Kompozit üretimi, yapı kimyasalları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85949444"/>
                  </a:ext>
                </a:extLst>
              </a:tr>
              <a:tr h="483482">
                <a:tc>
                  <a:txBody>
                    <a:bodyPr/>
                    <a:lstStyle/>
                    <a:p>
                      <a:pPr>
                        <a:lnSpc>
                          <a:spcPct val="115000"/>
                        </a:lnSpc>
                        <a:spcAft>
                          <a:spcPts val="0"/>
                        </a:spcAft>
                      </a:pPr>
                      <a:r>
                        <a:rPr lang="en-US" sz="1800">
                          <a:effectLst/>
                        </a:rPr>
                        <a:t>Deterjan ve Temizleyiciler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err="1">
                          <a:effectLst/>
                        </a:rPr>
                        <a:t>Güçlü</a:t>
                      </a:r>
                      <a:r>
                        <a:rPr lang="en-US" sz="1800">
                          <a:effectLst/>
                        </a:rPr>
                        <a:t> alkali </a:t>
                      </a:r>
                      <a:r>
                        <a:rPr lang="en-US" sz="1800" err="1">
                          <a:effectLst/>
                        </a:rPr>
                        <a:t>ve</a:t>
                      </a:r>
                      <a:r>
                        <a:rPr lang="en-US" sz="1800">
                          <a:effectLst/>
                        </a:rPr>
                        <a:t> </a:t>
                      </a:r>
                      <a:r>
                        <a:rPr lang="en-US" sz="1800" err="1">
                          <a:effectLst/>
                        </a:rPr>
                        <a:t>asidik</a:t>
                      </a:r>
                      <a:r>
                        <a:rPr lang="en-US" sz="1800">
                          <a:effectLst/>
                        </a:rPr>
                        <a:t> </a:t>
                      </a:r>
                      <a:r>
                        <a:rPr lang="en-US" sz="1800" err="1">
                          <a:effectLst/>
                        </a:rPr>
                        <a:t>temizleyiciler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Hastaneler, temizlik hizmetleri</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425689694"/>
                  </a:ext>
                </a:extLst>
              </a:tr>
              <a:tr h="483482">
                <a:tc>
                  <a:txBody>
                    <a:bodyPr/>
                    <a:lstStyle/>
                    <a:p>
                      <a:pPr>
                        <a:lnSpc>
                          <a:spcPct val="115000"/>
                        </a:lnSpc>
                        <a:spcAft>
                          <a:spcPts val="0"/>
                        </a:spcAft>
                      </a:pPr>
                      <a:r>
                        <a:rPr lang="en-US" sz="1800">
                          <a:effectLst/>
                        </a:rPr>
                        <a:t>Katran ve Bitüm</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err="1">
                          <a:effectLst/>
                        </a:rPr>
                        <a:t>Katran</a:t>
                      </a:r>
                      <a:r>
                        <a:rPr lang="en-US" sz="1800">
                          <a:effectLst/>
                        </a:rPr>
                        <a:t>, </a:t>
                      </a:r>
                      <a:r>
                        <a:rPr lang="en-US" sz="1800" err="1">
                          <a:effectLst/>
                        </a:rPr>
                        <a:t>asfalt</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800" err="1">
                          <a:effectLst/>
                        </a:rPr>
                        <a:t>Yol</a:t>
                      </a:r>
                      <a:r>
                        <a:rPr lang="en-US" sz="1800">
                          <a:effectLst/>
                        </a:rPr>
                        <a:t> </a:t>
                      </a:r>
                      <a:r>
                        <a:rPr lang="en-US" sz="1800" err="1">
                          <a:effectLst/>
                        </a:rPr>
                        <a:t>yapım</a:t>
                      </a:r>
                      <a:r>
                        <a:rPr lang="en-US" sz="1800">
                          <a:effectLst/>
                        </a:rPr>
                        <a:t> </a:t>
                      </a:r>
                      <a:r>
                        <a:rPr lang="en-US" sz="1800" err="1">
                          <a:effectLst/>
                        </a:rPr>
                        <a:t>ve</a:t>
                      </a:r>
                      <a:r>
                        <a:rPr lang="en-US" sz="1800">
                          <a:effectLst/>
                        </a:rPr>
                        <a:t> </a:t>
                      </a:r>
                      <a:r>
                        <a:rPr lang="en-US" sz="1800" err="1">
                          <a:effectLst/>
                        </a:rPr>
                        <a:t>bakım</a:t>
                      </a:r>
                      <a:r>
                        <a:rPr lang="en-US" sz="1800">
                          <a:effectLst/>
                        </a:rPr>
                        <a:t> </a:t>
                      </a:r>
                      <a:r>
                        <a:rPr lang="en-US" sz="1800" err="1">
                          <a:effectLst/>
                        </a:rPr>
                        <a:t>çalışmaları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011015402"/>
                  </a:ext>
                </a:extLst>
              </a:tr>
            </a:tbl>
          </a:graphicData>
        </a:graphic>
      </p:graphicFrame>
    </p:spTree>
    <p:extLst>
      <p:ext uri="{BB962C8B-B14F-4D97-AF65-F5344CB8AC3E}">
        <p14:creationId xmlns:p14="http://schemas.microsoft.com/office/powerpoint/2010/main" val="3317158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b="1">
                <a:solidFill>
                  <a:schemeClr val="tx2">
                    <a:lumMod val="75000"/>
                    <a:lumOff val="25000"/>
                  </a:schemeClr>
                </a:solidFill>
              </a:rPr>
              <a:t>Vücuda Giriş Yolları</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a:buClr>
                <a:schemeClr val="accent1"/>
              </a:buClr>
              <a:buFont typeface="Wingdings" panose="05000000000000000000" pitchFamily="2" charset="2"/>
              <a:buChar char="Ø"/>
            </a:pPr>
            <a:r>
              <a:rPr lang="tr-TR" sz="2200" u="sng"/>
              <a:t> Sindirim yolu ile</a:t>
            </a:r>
          </a:p>
          <a:p>
            <a:pPr marL="0" indent="0">
              <a:buNone/>
            </a:pPr>
            <a:endParaRPr lang="tr-TR" sz="2200" u="sng"/>
          </a:p>
          <a:p>
            <a:r>
              <a:rPr lang="tr-TR" sz="2200"/>
              <a:t>  Atmosferde bulunan ve salya ile karışan zehirli maddeleri yutmak, </a:t>
            </a:r>
          </a:p>
          <a:p>
            <a:r>
              <a:rPr lang="tr-TR" sz="2200"/>
              <a:t>  Kimyasal maddeler bulaşmış gıdaları yemek, içmek, çiğnemek ve tüttürmek</a:t>
            </a:r>
          </a:p>
          <a:p>
            <a:r>
              <a:rPr lang="tr-TR" sz="2200"/>
              <a:t>  Enjeksiyon yolu ile</a:t>
            </a:r>
          </a:p>
          <a:p>
            <a:r>
              <a:rPr lang="tr-TR" sz="2200"/>
              <a:t>  Göz tarafından </a:t>
            </a:r>
            <a:r>
              <a:rPr lang="tr-TR" sz="2200" err="1"/>
              <a:t>absorbe</a:t>
            </a:r>
            <a:r>
              <a:rPr lang="tr-TR" sz="2200"/>
              <a:t> edilerek.</a:t>
            </a:r>
          </a:p>
          <a:p>
            <a:pPr marL="0" indent="0">
              <a:buNone/>
            </a:pPr>
            <a:endParaRPr lang="tr-TR" sz="2200"/>
          </a:p>
        </p:txBody>
      </p:sp>
    </p:spTree>
    <p:extLst>
      <p:ext uri="{BB962C8B-B14F-4D97-AF65-F5344CB8AC3E}">
        <p14:creationId xmlns:p14="http://schemas.microsoft.com/office/powerpoint/2010/main" val="1215757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299802" y="238539"/>
            <a:ext cx="11632367" cy="1434415"/>
          </a:xfrm>
        </p:spPr>
        <p:txBody>
          <a:bodyPr anchor="b">
            <a:normAutofit fontScale="90000"/>
          </a:bodyPr>
          <a:lstStyle/>
          <a:p>
            <a:br>
              <a:rPr lang="tr-TR" sz="3000"/>
            </a:br>
            <a:r>
              <a:rPr lang="tr-TR" b="1">
                <a:solidFill>
                  <a:srgbClr val="7030A0"/>
                </a:solidFill>
              </a:rPr>
              <a:t>Fiziksel Etkenlere (Çevresel Zararlara) Maruz Kalma</a:t>
            </a:r>
            <a:br>
              <a:rPr lang="tr-TR" sz="3000"/>
            </a:br>
            <a:endParaRPr lang="tr-TR" sz="30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572493" y="2071316"/>
            <a:ext cx="6713552" cy="4119172"/>
          </a:xfrm>
        </p:spPr>
        <p:txBody>
          <a:bodyPr anchor="t">
            <a:normAutofit/>
          </a:bodyPr>
          <a:lstStyle/>
          <a:p>
            <a:pPr marL="0" indent="0">
              <a:buNone/>
            </a:pPr>
            <a:endParaRPr lang="tr-TR" sz="2200"/>
          </a:p>
          <a:p>
            <a:pPr>
              <a:buFont typeface="Wingdings" panose="05000000000000000000" pitchFamily="2" charset="2"/>
              <a:buChar char="Ø"/>
            </a:pPr>
            <a:endParaRPr lang="tr-TR" sz="2200"/>
          </a:p>
          <a:p>
            <a:pPr>
              <a:buFont typeface="Wingdings" panose="05000000000000000000" pitchFamily="2" charset="2"/>
              <a:buChar char="Ø"/>
            </a:pPr>
            <a:r>
              <a:rPr lang="tr-TR" sz="2200"/>
              <a:t>Titreşim – Sarsıntı – Vibrasyon</a:t>
            </a:r>
          </a:p>
          <a:p>
            <a:pPr>
              <a:buFont typeface="Wingdings" panose="05000000000000000000" pitchFamily="2" charset="2"/>
              <a:buChar char="Ø"/>
            </a:pPr>
            <a:r>
              <a:rPr lang="tr-TR" sz="2200"/>
              <a:t>Gürültü</a:t>
            </a:r>
          </a:p>
          <a:p>
            <a:pPr>
              <a:buFont typeface="Wingdings" panose="05000000000000000000" pitchFamily="2" charset="2"/>
              <a:buChar char="Ø"/>
            </a:pPr>
            <a:r>
              <a:rPr lang="tr-TR" sz="2200"/>
              <a:t>Aydınlatma</a:t>
            </a:r>
          </a:p>
          <a:p>
            <a:pPr>
              <a:buFont typeface="Wingdings" panose="05000000000000000000" pitchFamily="2" charset="2"/>
              <a:buChar char="Ø"/>
            </a:pPr>
            <a:r>
              <a:rPr lang="tr-TR" sz="2200"/>
              <a:t>Radyasyon – Işın Saçan Enerji</a:t>
            </a:r>
          </a:p>
        </p:txBody>
      </p:sp>
      <p:pic>
        <p:nvPicPr>
          <p:cNvPr id="4" name="Resim 3"/>
          <p:cNvPicPr>
            <a:picLocks noChangeAspect="1"/>
          </p:cNvPicPr>
          <p:nvPr/>
        </p:nvPicPr>
        <p:blipFill>
          <a:blip r:embed="rId2"/>
          <a:srcRect l="15921" r="21546" b="1"/>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856395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238539" y="238539"/>
            <a:ext cx="11352474" cy="1434415"/>
          </a:xfrm>
        </p:spPr>
        <p:txBody>
          <a:bodyPr anchor="b">
            <a:normAutofit fontScale="90000"/>
          </a:bodyPr>
          <a:lstStyle/>
          <a:p>
            <a:br>
              <a:rPr lang="tr-TR" sz="3000"/>
            </a:br>
            <a:r>
              <a:rPr lang="tr-TR" b="1">
                <a:solidFill>
                  <a:srgbClr val="7030A0"/>
                </a:solidFill>
              </a:rPr>
              <a:t>Fiziksel Etkenlere (Çevresel Zararlara) Maruz Kalma</a:t>
            </a:r>
            <a:br>
              <a:rPr lang="tr-TR" sz="3000"/>
            </a:br>
            <a:endParaRPr lang="tr-TR" sz="3000"/>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572493" y="2071316"/>
            <a:ext cx="6713552" cy="4119172"/>
          </a:xfrm>
        </p:spPr>
        <p:txBody>
          <a:bodyPr anchor="t">
            <a:normAutofit/>
          </a:bodyPr>
          <a:lstStyle/>
          <a:p>
            <a:pPr marL="0" indent="0">
              <a:buNone/>
            </a:pPr>
            <a:r>
              <a:rPr lang="tr-TR" sz="2200" u="sng"/>
              <a:t>Titreşim – Sarsıntı – Vibrasyon</a:t>
            </a:r>
          </a:p>
          <a:p>
            <a:endParaRPr lang="tr-TR" sz="2200"/>
          </a:p>
          <a:p>
            <a:pPr marL="0" indent="0">
              <a:buNone/>
            </a:pPr>
            <a:r>
              <a:rPr lang="tr-TR" sz="2200"/>
              <a:t>  Çalışanların vücuduna </a:t>
            </a:r>
            <a:r>
              <a:rPr lang="tr-TR" sz="2200" b="1"/>
              <a:t>mekanik enerjinin tekrarlı veya ani hareketler şeklinde aktarılması</a:t>
            </a:r>
            <a:r>
              <a:rPr lang="tr-TR" sz="2200"/>
              <a:t> sonucu ortaya çıkan sağlık risklerini ifade etmektedir.</a:t>
            </a:r>
          </a:p>
          <a:p>
            <a:pPr marL="0" indent="0">
              <a:buNone/>
            </a:pPr>
            <a:r>
              <a:rPr lang="tr-TR" sz="2200" b="1"/>
              <a:t>  Sarsıntı, </a:t>
            </a:r>
            <a:r>
              <a:rPr lang="tr-TR" sz="2200"/>
              <a:t>Genellikle </a:t>
            </a:r>
            <a:r>
              <a:rPr lang="tr-TR" sz="2200" b="1"/>
              <a:t>ani, düzensiz ve kısa süreli</a:t>
            </a:r>
            <a:r>
              <a:rPr lang="tr-TR" sz="2200"/>
              <a:t> titreşimlerdir (çarpma, zıplama, darbe gibi)</a:t>
            </a:r>
          </a:p>
        </p:txBody>
      </p:sp>
      <p:pic>
        <p:nvPicPr>
          <p:cNvPr id="4" name="Resim 3">
            <a:extLst>
              <a:ext uri="{FF2B5EF4-FFF2-40B4-BE49-F238E27FC236}">
                <a16:creationId xmlns:a16="http://schemas.microsoft.com/office/drawing/2014/main" id="{C28D6932-42D4-6A9D-0CB3-A40AB0F192EB}"/>
              </a:ext>
            </a:extLst>
          </p:cNvPr>
          <p:cNvPicPr>
            <a:picLocks noChangeAspect="1"/>
          </p:cNvPicPr>
          <p:nvPr/>
        </p:nvPicPr>
        <p:blipFill>
          <a:blip r:embed="rId2"/>
          <a:srcRect l="1838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15282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65759" y="365125"/>
            <a:ext cx="11479237" cy="1325563"/>
          </a:xfrm>
        </p:spPr>
        <p:txBody>
          <a:bodyPr>
            <a:normAutofit fontScale="90000"/>
          </a:bodyPr>
          <a:lstStyle/>
          <a:p>
            <a:br>
              <a:rPr lang="tr-TR"/>
            </a:br>
            <a:r>
              <a:rPr lang="tr-TR" b="1">
                <a:solidFill>
                  <a:srgbClr val="7030A0"/>
                </a:solidFill>
              </a:rPr>
              <a:t>Fiziksel Etkenlere (Çevresel Zararlara) Maruz Kalma</a:t>
            </a:r>
            <a:br>
              <a:rPr lang="tr-TR"/>
            </a:br>
            <a:endParaRPr lang="tr-TR"/>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661369115"/>
              </p:ext>
            </p:extLst>
          </p:nvPr>
        </p:nvGraphicFramePr>
        <p:xfrm>
          <a:off x="1519310" y="1947326"/>
          <a:ext cx="9566031" cy="3715111"/>
        </p:xfrm>
        <a:graphic>
          <a:graphicData uri="http://schemas.openxmlformats.org/drawingml/2006/table">
            <a:tbl>
              <a:tblPr firstRow="1" firstCol="1" bandRow="1">
                <a:tableStyleId>{74C1A8A3-306A-4EB7-A6B1-4F7E0EB9C5D6}</a:tableStyleId>
              </a:tblPr>
              <a:tblGrid>
                <a:gridCol w="3188677">
                  <a:extLst>
                    <a:ext uri="{9D8B030D-6E8A-4147-A177-3AD203B41FA5}">
                      <a16:colId xmlns:a16="http://schemas.microsoft.com/office/drawing/2014/main" val="3956453200"/>
                    </a:ext>
                  </a:extLst>
                </a:gridCol>
                <a:gridCol w="3188677">
                  <a:extLst>
                    <a:ext uri="{9D8B030D-6E8A-4147-A177-3AD203B41FA5}">
                      <a16:colId xmlns:a16="http://schemas.microsoft.com/office/drawing/2014/main" val="637059657"/>
                    </a:ext>
                  </a:extLst>
                </a:gridCol>
                <a:gridCol w="3188677">
                  <a:extLst>
                    <a:ext uri="{9D8B030D-6E8A-4147-A177-3AD203B41FA5}">
                      <a16:colId xmlns:a16="http://schemas.microsoft.com/office/drawing/2014/main" val="3157264814"/>
                    </a:ext>
                  </a:extLst>
                </a:gridCol>
              </a:tblGrid>
              <a:tr h="0">
                <a:tc>
                  <a:txBody>
                    <a:bodyPr/>
                    <a:lstStyle/>
                    <a:p>
                      <a:pPr>
                        <a:lnSpc>
                          <a:spcPct val="115000"/>
                        </a:lnSpc>
                        <a:spcAft>
                          <a:spcPts val="1000"/>
                        </a:spcAft>
                      </a:pPr>
                      <a:r>
                        <a:rPr lang="en-US" sz="1800" err="1">
                          <a:effectLst/>
                        </a:rPr>
                        <a:t>Başlık</a:t>
                      </a:r>
                      <a:endParaRPr lang="tr-TR" sz="18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err="1">
                          <a:effectLst/>
                        </a:rPr>
                        <a:t>Açıklama</a:t>
                      </a:r>
                      <a:endParaRPr lang="tr-TR" sz="18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err="1">
                          <a:effectLst/>
                        </a:rPr>
                        <a:t>Örnek</a:t>
                      </a:r>
                      <a:r>
                        <a:rPr lang="en-US" sz="1800">
                          <a:effectLst/>
                        </a:rPr>
                        <a:t> / </a:t>
                      </a:r>
                      <a:r>
                        <a:rPr lang="en-US" sz="1800" err="1">
                          <a:effectLst/>
                        </a:rPr>
                        <a:t>Etki</a:t>
                      </a:r>
                      <a:endParaRPr lang="tr-TR" sz="18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28631914"/>
                  </a:ext>
                </a:extLst>
              </a:tr>
              <a:tr h="569200">
                <a:tc>
                  <a:txBody>
                    <a:bodyPr/>
                    <a:lstStyle/>
                    <a:p>
                      <a:pPr>
                        <a:lnSpc>
                          <a:spcPct val="115000"/>
                        </a:lnSpc>
                        <a:spcAft>
                          <a:spcPts val="1000"/>
                        </a:spcAft>
                      </a:pPr>
                      <a:r>
                        <a:rPr lang="en-US" sz="1800" err="1">
                          <a:effectLst/>
                        </a:rPr>
                        <a:t>Tanım</a:t>
                      </a:r>
                      <a:endParaRPr lang="tr-TR" sz="18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err="1">
                          <a:effectLst/>
                        </a:rPr>
                        <a:t>Mekanik</a:t>
                      </a:r>
                      <a:r>
                        <a:rPr lang="en-US" sz="1600">
                          <a:effectLst/>
                        </a:rPr>
                        <a:t> </a:t>
                      </a:r>
                      <a:r>
                        <a:rPr lang="en-US" sz="1600" err="1">
                          <a:effectLst/>
                        </a:rPr>
                        <a:t>titreşimlerin</a:t>
                      </a:r>
                      <a:r>
                        <a:rPr lang="en-US" sz="1600">
                          <a:effectLst/>
                        </a:rPr>
                        <a:t> </a:t>
                      </a:r>
                      <a:r>
                        <a:rPr lang="en-US" sz="1600" err="1">
                          <a:effectLst/>
                        </a:rPr>
                        <a:t>vücuda</a:t>
                      </a:r>
                      <a:r>
                        <a:rPr lang="en-US" sz="1600">
                          <a:effectLst/>
                        </a:rPr>
                        <a:t> </a:t>
                      </a:r>
                      <a:r>
                        <a:rPr lang="en-US" sz="1600" err="1">
                          <a:effectLst/>
                        </a:rPr>
                        <a:t>iletilmesi</a:t>
                      </a:r>
                      <a:endParaRPr lang="tr-TR" sz="16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Makine, araç, el aletleri</a:t>
                      </a:r>
                      <a:endParaRPr lang="tr-TR" sz="16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751382258"/>
                  </a:ext>
                </a:extLst>
              </a:tr>
              <a:tr h="569200">
                <a:tc>
                  <a:txBody>
                    <a:bodyPr/>
                    <a:lstStyle/>
                    <a:p>
                      <a:pPr>
                        <a:lnSpc>
                          <a:spcPct val="115000"/>
                        </a:lnSpc>
                        <a:spcAft>
                          <a:spcPts val="1000"/>
                        </a:spcAft>
                      </a:pPr>
                      <a:r>
                        <a:rPr lang="en-US" sz="1800">
                          <a:effectLst/>
                        </a:rPr>
                        <a:t>El–</a:t>
                      </a:r>
                      <a:r>
                        <a:rPr lang="en-US" sz="1800" err="1">
                          <a:effectLst/>
                        </a:rPr>
                        <a:t>Kol</a:t>
                      </a:r>
                      <a:r>
                        <a:rPr lang="en-US" sz="1800">
                          <a:effectLst/>
                        </a:rPr>
                        <a:t> </a:t>
                      </a:r>
                      <a:r>
                        <a:rPr lang="en-US" sz="1800" err="1">
                          <a:effectLst/>
                        </a:rPr>
                        <a:t>Titreşimi</a:t>
                      </a:r>
                      <a:endParaRPr lang="tr-TR" sz="18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err="1">
                          <a:effectLst/>
                        </a:rPr>
                        <a:t>Titreşimin</a:t>
                      </a:r>
                      <a:r>
                        <a:rPr lang="en-US" sz="1600">
                          <a:effectLst/>
                        </a:rPr>
                        <a:t> el </a:t>
                      </a:r>
                      <a:r>
                        <a:rPr lang="en-US" sz="1600" err="1">
                          <a:effectLst/>
                        </a:rPr>
                        <a:t>ve</a:t>
                      </a:r>
                      <a:r>
                        <a:rPr lang="en-US" sz="1600">
                          <a:effectLst/>
                        </a:rPr>
                        <a:t> </a:t>
                      </a:r>
                      <a:r>
                        <a:rPr lang="en-US" sz="1600" err="1">
                          <a:effectLst/>
                        </a:rPr>
                        <a:t>kol</a:t>
                      </a:r>
                      <a:r>
                        <a:rPr lang="en-US" sz="1600">
                          <a:effectLst/>
                        </a:rPr>
                        <a:t> </a:t>
                      </a:r>
                      <a:r>
                        <a:rPr lang="en-US" sz="1600" err="1">
                          <a:effectLst/>
                        </a:rPr>
                        <a:t>yoluyla</a:t>
                      </a:r>
                      <a:r>
                        <a:rPr lang="en-US" sz="1600">
                          <a:effectLst/>
                        </a:rPr>
                        <a:t> </a:t>
                      </a:r>
                      <a:r>
                        <a:rPr lang="en-US" sz="1600" err="1">
                          <a:effectLst/>
                        </a:rPr>
                        <a:t>vücuda</a:t>
                      </a:r>
                      <a:r>
                        <a:rPr lang="en-US" sz="1600">
                          <a:effectLst/>
                        </a:rPr>
                        <a:t> </a:t>
                      </a:r>
                      <a:r>
                        <a:rPr lang="en-US" sz="1600" err="1">
                          <a:effectLst/>
                        </a:rPr>
                        <a:t>girmesi</a:t>
                      </a:r>
                      <a:endParaRPr lang="tr-TR" sz="16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Matkap, taşlama</a:t>
                      </a:r>
                      <a:endParaRPr lang="tr-TR" sz="16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181089093"/>
                  </a:ext>
                </a:extLst>
              </a:tr>
              <a:tr h="569200">
                <a:tc>
                  <a:txBody>
                    <a:bodyPr/>
                    <a:lstStyle/>
                    <a:p>
                      <a:pPr>
                        <a:lnSpc>
                          <a:spcPct val="115000"/>
                        </a:lnSpc>
                        <a:spcAft>
                          <a:spcPts val="1000"/>
                        </a:spcAft>
                      </a:pPr>
                      <a:r>
                        <a:rPr lang="en-US" sz="1800" err="1">
                          <a:effectLst/>
                        </a:rPr>
                        <a:t>Tüm</a:t>
                      </a:r>
                      <a:r>
                        <a:rPr lang="en-US" sz="1800">
                          <a:effectLst/>
                        </a:rPr>
                        <a:t> </a:t>
                      </a:r>
                      <a:r>
                        <a:rPr lang="en-US" sz="1800" err="1">
                          <a:effectLst/>
                        </a:rPr>
                        <a:t>Vücut</a:t>
                      </a:r>
                      <a:r>
                        <a:rPr lang="en-US" sz="1800">
                          <a:effectLst/>
                        </a:rPr>
                        <a:t> </a:t>
                      </a:r>
                      <a:r>
                        <a:rPr lang="en-US" sz="1800" err="1">
                          <a:effectLst/>
                        </a:rPr>
                        <a:t>Titreşimi</a:t>
                      </a:r>
                      <a:endParaRPr lang="tr-TR" sz="18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err="1">
                          <a:effectLst/>
                        </a:rPr>
                        <a:t>Titreşimin</a:t>
                      </a:r>
                      <a:r>
                        <a:rPr lang="en-US" sz="1600">
                          <a:effectLst/>
                        </a:rPr>
                        <a:t> </a:t>
                      </a:r>
                      <a:r>
                        <a:rPr lang="en-US" sz="1600" err="1">
                          <a:effectLst/>
                        </a:rPr>
                        <a:t>tüm</a:t>
                      </a:r>
                      <a:r>
                        <a:rPr lang="en-US" sz="1600">
                          <a:effectLst/>
                        </a:rPr>
                        <a:t> </a:t>
                      </a:r>
                      <a:r>
                        <a:rPr lang="en-US" sz="1600" err="1">
                          <a:effectLst/>
                        </a:rPr>
                        <a:t>vücuda</a:t>
                      </a:r>
                      <a:r>
                        <a:rPr lang="en-US" sz="1600">
                          <a:effectLst/>
                        </a:rPr>
                        <a:t> </a:t>
                      </a:r>
                      <a:r>
                        <a:rPr lang="en-US" sz="1600" err="1">
                          <a:effectLst/>
                        </a:rPr>
                        <a:t>iletilmesi</a:t>
                      </a:r>
                      <a:endParaRPr lang="tr-TR" sz="16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Forklift, kamyon</a:t>
                      </a:r>
                      <a:endParaRPr lang="tr-TR" sz="16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837220833"/>
                  </a:ext>
                </a:extLst>
              </a:tr>
              <a:tr h="569200">
                <a:tc>
                  <a:txBody>
                    <a:bodyPr/>
                    <a:lstStyle/>
                    <a:p>
                      <a:pPr>
                        <a:lnSpc>
                          <a:spcPct val="115000"/>
                        </a:lnSpc>
                        <a:spcAft>
                          <a:spcPts val="1000"/>
                        </a:spcAft>
                      </a:pPr>
                      <a:r>
                        <a:rPr lang="en-US" sz="1800" err="1">
                          <a:effectLst/>
                        </a:rPr>
                        <a:t>Sağlık</a:t>
                      </a:r>
                      <a:r>
                        <a:rPr lang="en-US" sz="1800">
                          <a:effectLst/>
                        </a:rPr>
                        <a:t> </a:t>
                      </a:r>
                      <a:r>
                        <a:rPr lang="en-US" sz="1800" err="1">
                          <a:effectLst/>
                        </a:rPr>
                        <a:t>Etkileri</a:t>
                      </a:r>
                      <a:endParaRPr lang="tr-TR" sz="18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err="1">
                          <a:effectLst/>
                        </a:rPr>
                        <a:t>Kas</a:t>
                      </a:r>
                      <a:r>
                        <a:rPr lang="en-US" sz="1600">
                          <a:effectLst/>
                        </a:rPr>
                        <a:t>–</a:t>
                      </a:r>
                      <a:r>
                        <a:rPr lang="en-US" sz="1600" err="1">
                          <a:effectLst/>
                        </a:rPr>
                        <a:t>iskelet</a:t>
                      </a:r>
                      <a:r>
                        <a:rPr lang="en-US" sz="1600">
                          <a:effectLst/>
                        </a:rPr>
                        <a:t> </a:t>
                      </a:r>
                      <a:r>
                        <a:rPr lang="en-US" sz="1600" err="1">
                          <a:effectLst/>
                        </a:rPr>
                        <a:t>ve</a:t>
                      </a:r>
                      <a:r>
                        <a:rPr lang="en-US" sz="1600">
                          <a:effectLst/>
                        </a:rPr>
                        <a:t> </a:t>
                      </a:r>
                      <a:r>
                        <a:rPr lang="en-US" sz="1600" err="1">
                          <a:effectLst/>
                        </a:rPr>
                        <a:t>dolaşım</a:t>
                      </a:r>
                      <a:r>
                        <a:rPr lang="en-US" sz="1600">
                          <a:effectLst/>
                        </a:rPr>
                        <a:t> </a:t>
                      </a:r>
                      <a:r>
                        <a:rPr lang="en-US" sz="1600" err="1">
                          <a:effectLst/>
                        </a:rPr>
                        <a:t>sorunları</a:t>
                      </a:r>
                      <a:endParaRPr lang="tr-TR" sz="16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Bel </a:t>
                      </a:r>
                      <a:r>
                        <a:rPr lang="en-US" sz="1600" err="1">
                          <a:effectLst/>
                        </a:rPr>
                        <a:t>ağrısı</a:t>
                      </a:r>
                      <a:r>
                        <a:rPr lang="en-US" sz="1600">
                          <a:effectLst/>
                        </a:rPr>
                        <a:t>, </a:t>
                      </a:r>
                      <a:r>
                        <a:rPr lang="en-US" sz="1600" err="1">
                          <a:effectLst/>
                        </a:rPr>
                        <a:t>beyaz</a:t>
                      </a:r>
                      <a:r>
                        <a:rPr lang="en-US" sz="1600">
                          <a:effectLst/>
                        </a:rPr>
                        <a:t> </a:t>
                      </a:r>
                      <a:r>
                        <a:rPr lang="en-US" sz="1600" err="1">
                          <a:effectLst/>
                        </a:rPr>
                        <a:t>parmak</a:t>
                      </a:r>
                      <a:endParaRPr lang="tr-TR" sz="16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646562108"/>
                  </a:ext>
                </a:extLst>
              </a:tr>
              <a:tr h="569200">
                <a:tc>
                  <a:txBody>
                    <a:bodyPr/>
                    <a:lstStyle/>
                    <a:p>
                      <a:pPr>
                        <a:lnSpc>
                          <a:spcPct val="115000"/>
                        </a:lnSpc>
                        <a:spcAft>
                          <a:spcPts val="1000"/>
                        </a:spcAft>
                      </a:pPr>
                      <a:r>
                        <a:rPr lang="en-US" sz="1800">
                          <a:effectLst/>
                        </a:rPr>
                        <a:t>Risk </a:t>
                      </a:r>
                      <a:r>
                        <a:rPr lang="en-US" sz="1800" err="1">
                          <a:effectLst/>
                        </a:rPr>
                        <a:t>Faktörleri</a:t>
                      </a:r>
                      <a:endParaRPr lang="tr-TR" sz="18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Uzun süre ve yüksek frekans</a:t>
                      </a:r>
                      <a:endParaRPr lang="tr-TR" sz="16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err="1">
                          <a:effectLst/>
                        </a:rPr>
                        <a:t>Gün</a:t>
                      </a:r>
                      <a:r>
                        <a:rPr lang="en-US" sz="1600">
                          <a:effectLst/>
                        </a:rPr>
                        <a:t> </a:t>
                      </a:r>
                      <a:r>
                        <a:rPr lang="en-US" sz="1600" err="1">
                          <a:effectLst/>
                        </a:rPr>
                        <a:t>boyu</a:t>
                      </a:r>
                      <a:r>
                        <a:rPr lang="en-US" sz="1600">
                          <a:effectLst/>
                        </a:rPr>
                        <a:t> </a:t>
                      </a:r>
                      <a:r>
                        <a:rPr lang="en-US" sz="1600" err="1">
                          <a:effectLst/>
                        </a:rPr>
                        <a:t>titreşimli</a:t>
                      </a:r>
                      <a:r>
                        <a:rPr lang="en-US" sz="1600">
                          <a:effectLst/>
                        </a:rPr>
                        <a:t> </a:t>
                      </a:r>
                      <a:r>
                        <a:rPr lang="en-US" sz="1600" err="1">
                          <a:effectLst/>
                        </a:rPr>
                        <a:t>çalışma</a:t>
                      </a:r>
                      <a:endParaRPr lang="tr-TR" sz="16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600101408"/>
                  </a:ext>
                </a:extLst>
              </a:tr>
              <a:tr h="569200">
                <a:tc>
                  <a:txBody>
                    <a:bodyPr/>
                    <a:lstStyle/>
                    <a:p>
                      <a:pPr>
                        <a:lnSpc>
                          <a:spcPct val="115000"/>
                        </a:lnSpc>
                        <a:spcAft>
                          <a:spcPts val="1000"/>
                        </a:spcAft>
                      </a:pPr>
                      <a:r>
                        <a:rPr lang="en-US" sz="1800" err="1">
                          <a:effectLst/>
                        </a:rPr>
                        <a:t>Korunma</a:t>
                      </a:r>
                      <a:endParaRPr lang="tr-TR" sz="18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a:effectLst/>
                        </a:rPr>
                        <a:t>Teknik ve organizasyonel önlemler</a:t>
                      </a:r>
                      <a:endParaRPr lang="tr-TR" sz="1600">
                        <a:effectLst/>
                        <a:latin typeface="+mn-lt"/>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600" err="1">
                          <a:effectLst/>
                        </a:rPr>
                        <a:t>Bakım</a:t>
                      </a:r>
                      <a:r>
                        <a:rPr lang="en-US" sz="1600">
                          <a:effectLst/>
                        </a:rPr>
                        <a:t>, KKD, </a:t>
                      </a:r>
                      <a:r>
                        <a:rPr lang="en-US" sz="1600" err="1">
                          <a:effectLst/>
                        </a:rPr>
                        <a:t>eğitim</a:t>
                      </a:r>
                      <a:endParaRPr lang="tr-TR" sz="1600">
                        <a:effectLst/>
                        <a:latin typeface="+mn-lt"/>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964488511"/>
                  </a:ext>
                </a:extLst>
              </a:tr>
            </a:tbl>
          </a:graphicData>
        </a:graphic>
      </p:graphicFrame>
    </p:spTree>
    <p:extLst>
      <p:ext uri="{BB962C8B-B14F-4D97-AF65-F5344CB8AC3E}">
        <p14:creationId xmlns:p14="http://schemas.microsoft.com/office/powerpoint/2010/main" val="2422924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269823" y="365125"/>
            <a:ext cx="11587397" cy="1325563"/>
          </a:xfrm>
        </p:spPr>
        <p:txBody>
          <a:bodyPr>
            <a:normAutofit fontScale="90000"/>
          </a:bodyPr>
          <a:lstStyle/>
          <a:p>
            <a:br>
              <a:rPr lang="tr-TR" sz="2600"/>
            </a:br>
            <a:r>
              <a:rPr lang="tr-TR" b="1">
                <a:solidFill>
                  <a:srgbClr val="7030A0"/>
                </a:solidFill>
              </a:rPr>
              <a:t>Fiziksel Etkenlere (Çevresel Zararlara) Maruz Kalma</a:t>
            </a:r>
            <a:br>
              <a:rPr lang="tr-TR" sz="2600"/>
            </a:br>
            <a:endParaRPr lang="tr-TR" sz="2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u="sng"/>
              <a:t>Gürültü</a:t>
            </a:r>
          </a:p>
          <a:p>
            <a:pPr marL="0" indent="0">
              <a:buNone/>
            </a:pPr>
            <a:r>
              <a:rPr lang="tr-TR" sz="2200" b="1"/>
              <a:t>  İstenmeyen, rahatsız edici ve sağlığa zarar verebilen seslerdir.</a:t>
            </a:r>
            <a:br>
              <a:rPr lang="tr-TR" sz="2200"/>
            </a:br>
            <a:r>
              <a:rPr lang="tr-TR" sz="2200"/>
              <a:t>  İş hijyeninde en yaygın fiziksel risk etkenlerinden birisidir. Başlıca kaynakları;</a:t>
            </a:r>
          </a:p>
          <a:p>
            <a:pPr marL="0" indent="0">
              <a:buNone/>
            </a:pPr>
            <a:endParaRPr lang="tr-TR" sz="2200"/>
          </a:p>
          <a:p>
            <a:r>
              <a:rPr lang="tr-TR" sz="2200"/>
              <a:t>Makineler (pres, kompresör, jeneratör)</a:t>
            </a:r>
          </a:p>
          <a:p>
            <a:r>
              <a:rPr lang="tr-TR" sz="2200"/>
              <a:t>İnşaat ekipmanları</a:t>
            </a:r>
          </a:p>
          <a:p>
            <a:r>
              <a:rPr lang="tr-TR" sz="2200"/>
              <a:t>Metal, ahşap işleme makineleri</a:t>
            </a:r>
          </a:p>
          <a:p>
            <a:r>
              <a:rPr lang="tr-TR" sz="2200"/>
              <a:t>Taşıtlar ve motorlar</a:t>
            </a:r>
          </a:p>
          <a:p>
            <a:endParaRPr lang="tr-TR" sz="2200"/>
          </a:p>
        </p:txBody>
      </p:sp>
      <p:pic>
        <p:nvPicPr>
          <p:cNvPr id="4" name="Resim 3">
            <a:extLst>
              <a:ext uri="{FF2B5EF4-FFF2-40B4-BE49-F238E27FC236}">
                <a16:creationId xmlns:a16="http://schemas.microsoft.com/office/drawing/2014/main" id="{DB084AA7-AF39-1E18-8E31-9F59996B7229}"/>
              </a:ext>
            </a:extLst>
          </p:cNvPr>
          <p:cNvPicPr>
            <a:picLocks noChangeAspect="1"/>
          </p:cNvPicPr>
          <p:nvPr/>
        </p:nvPicPr>
        <p:blipFill>
          <a:blip r:embed="rId2"/>
          <a:stretch>
            <a:fillRect/>
          </a:stretch>
        </p:blipFill>
        <p:spPr>
          <a:xfrm>
            <a:off x="7505770" y="3309240"/>
            <a:ext cx="4686230" cy="2591392"/>
          </a:xfrm>
          <a:prstGeom prst="rect">
            <a:avLst/>
          </a:prstGeom>
        </p:spPr>
      </p:pic>
    </p:spTree>
    <p:extLst>
      <p:ext uri="{BB962C8B-B14F-4D97-AF65-F5344CB8AC3E}">
        <p14:creationId xmlns:p14="http://schemas.microsoft.com/office/powerpoint/2010/main" val="2431472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499872" y="365125"/>
            <a:ext cx="11387328" cy="1325563"/>
          </a:xfrm>
        </p:spPr>
        <p:txBody>
          <a:bodyPr>
            <a:normAutofit fontScale="90000"/>
          </a:bodyPr>
          <a:lstStyle/>
          <a:p>
            <a:br>
              <a:rPr lang="tr-TR" sz="2600"/>
            </a:br>
            <a:r>
              <a:rPr lang="tr-TR" b="1">
                <a:solidFill>
                  <a:srgbClr val="7030A0"/>
                </a:solidFill>
              </a:rPr>
              <a:t>Fiziksel Etkenlere (Çevresel Zararlara) Maruz Kalma</a:t>
            </a:r>
            <a:br>
              <a:rPr lang="tr-TR" sz="2600"/>
            </a:br>
            <a:endParaRPr lang="tr-TR" sz="2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5880652" cy="4251960"/>
          </a:xfrm>
        </p:spPr>
        <p:txBody>
          <a:bodyPr>
            <a:normAutofit/>
          </a:bodyPr>
          <a:lstStyle/>
          <a:p>
            <a:pPr marL="0" indent="0">
              <a:buNone/>
            </a:pPr>
            <a:r>
              <a:rPr lang="tr-TR" sz="2200" u="sng"/>
              <a:t>Aydınlatma</a:t>
            </a:r>
          </a:p>
          <a:p>
            <a:pPr marL="0" indent="0">
              <a:buNone/>
            </a:pPr>
            <a:r>
              <a:rPr lang="tr-TR" sz="2200"/>
              <a:t>  Çalışma ortamında </a:t>
            </a:r>
            <a:r>
              <a:rPr lang="tr-TR" sz="2200" b="1"/>
              <a:t>işin güvenli ve verimli yapılabilmesi için yeterli ve uygun ışık sağlanmasıdır.</a:t>
            </a:r>
          </a:p>
          <a:p>
            <a:pPr marL="0" indent="0">
              <a:buNone/>
            </a:pPr>
            <a:r>
              <a:rPr lang="tr-TR" sz="2200"/>
              <a:t>  Yetersiz aydınlatma, farklı , göz kamaştıran titrek ve parlak ışıklar göz yorgunluğuna ve sinir sisteminin bozulmasına neden olmaktadır.</a:t>
            </a:r>
          </a:p>
          <a:p>
            <a:pPr marL="0" indent="0">
              <a:buNone/>
            </a:pPr>
            <a:endParaRPr lang="tr-TR" sz="2200"/>
          </a:p>
        </p:txBody>
      </p:sp>
      <p:pic>
        <p:nvPicPr>
          <p:cNvPr id="4" name="Resim 3">
            <a:extLst>
              <a:ext uri="{FF2B5EF4-FFF2-40B4-BE49-F238E27FC236}">
                <a16:creationId xmlns:a16="http://schemas.microsoft.com/office/drawing/2014/main" id="{D79A6231-2F09-D737-CA9D-4F79E7B3C09B}"/>
              </a:ext>
            </a:extLst>
          </p:cNvPr>
          <p:cNvPicPr>
            <a:picLocks noChangeAspect="1"/>
          </p:cNvPicPr>
          <p:nvPr/>
        </p:nvPicPr>
        <p:blipFill>
          <a:blip r:embed="rId2"/>
          <a:stretch>
            <a:fillRect/>
          </a:stretch>
        </p:blipFill>
        <p:spPr>
          <a:xfrm>
            <a:off x="7043700" y="2449855"/>
            <a:ext cx="4820404" cy="1958289"/>
          </a:xfrm>
          <a:prstGeom prst="rect">
            <a:avLst/>
          </a:prstGeom>
        </p:spPr>
      </p:pic>
    </p:spTree>
    <p:extLst>
      <p:ext uri="{BB962C8B-B14F-4D97-AF65-F5344CB8AC3E}">
        <p14:creationId xmlns:p14="http://schemas.microsoft.com/office/powerpoint/2010/main" val="1477452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499872" y="365125"/>
            <a:ext cx="11357348" cy="1325563"/>
          </a:xfrm>
        </p:spPr>
        <p:txBody>
          <a:bodyPr>
            <a:noAutofit/>
          </a:bodyPr>
          <a:lstStyle/>
          <a:p>
            <a:br>
              <a:rPr lang="tr-TR" sz="4000"/>
            </a:br>
            <a:r>
              <a:rPr lang="tr-TR" sz="4000" b="1">
                <a:solidFill>
                  <a:srgbClr val="7030A0"/>
                </a:solidFill>
              </a:rPr>
              <a:t>Fiziksel Etkenlere (Çevresel Zararlara) Maruz Kalma</a:t>
            </a:r>
            <a:br>
              <a:rPr lang="tr-TR" sz="4000"/>
            </a:br>
            <a:endParaRPr lang="tr-TR" sz="40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u="sng"/>
              <a:t>Radyasyon – Işın Saçan Enerji</a:t>
            </a:r>
          </a:p>
          <a:p>
            <a:pPr marL="0" indent="0">
              <a:buNone/>
            </a:pPr>
            <a:endParaRPr lang="tr-TR" sz="2200" b="1" u="sng"/>
          </a:p>
          <a:p>
            <a:pPr marL="0" indent="0">
              <a:buNone/>
            </a:pPr>
            <a:r>
              <a:rPr lang="tr-TR" sz="2200" b="1"/>
              <a:t>   Radyasyon</a:t>
            </a:r>
            <a:r>
              <a:rPr lang="tr-TR" sz="2200"/>
              <a:t>, enerjinin </a:t>
            </a:r>
            <a:r>
              <a:rPr lang="tr-TR" sz="2200" b="1"/>
              <a:t>dalga</a:t>
            </a:r>
            <a:r>
              <a:rPr lang="tr-TR" sz="2200"/>
              <a:t> veya </a:t>
            </a:r>
            <a:r>
              <a:rPr lang="tr-TR" sz="2200" b="1"/>
              <a:t>parçacık</a:t>
            </a:r>
            <a:r>
              <a:rPr lang="tr-TR" sz="2200"/>
              <a:t> halinde bir kaynaktan çevreye yayılmasıdır.</a:t>
            </a:r>
            <a:br>
              <a:rPr lang="tr-TR" sz="2200"/>
            </a:br>
            <a:r>
              <a:rPr lang="tr-TR" sz="2200"/>
              <a:t>   İş hijyeninde radyasyon; çalışanların </a:t>
            </a:r>
            <a:r>
              <a:rPr lang="tr-TR" sz="2200" b="1"/>
              <a:t>sağlığını olumsuz etkileyebilecek enerji yayılımı</a:t>
            </a:r>
            <a:r>
              <a:rPr lang="tr-TR" sz="2200"/>
              <a:t> olarak ele alınır.</a:t>
            </a:r>
          </a:p>
          <a:p>
            <a:pPr marL="0" indent="0">
              <a:buNone/>
            </a:pPr>
            <a:r>
              <a:rPr lang="tr-TR" sz="2200"/>
              <a:t>   Radyasyon </a:t>
            </a:r>
            <a:r>
              <a:rPr lang="tr-TR" sz="2200" b="1"/>
              <a:t>görünmez</a:t>
            </a:r>
            <a:r>
              <a:rPr lang="tr-TR" sz="2200"/>
              <a:t>, </a:t>
            </a:r>
            <a:r>
              <a:rPr lang="tr-TR" sz="2200" b="1"/>
              <a:t>kokusu yoktur</a:t>
            </a:r>
            <a:r>
              <a:rPr lang="tr-TR" sz="2200"/>
              <a:t> ve </a:t>
            </a:r>
            <a:r>
              <a:rPr lang="tr-TR" sz="2200" b="1"/>
              <a:t>duyularla fark edilmez</a:t>
            </a:r>
            <a:r>
              <a:rPr lang="tr-TR" sz="2200"/>
              <a:t> bu yüzden </a:t>
            </a:r>
            <a:r>
              <a:rPr lang="tr-TR" sz="2200" b="1"/>
              <a:t>ölçüm ve kontrol</a:t>
            </a:r>
            <a:r>
              <a:rPr lang="tr-TR" sz="2200"/>
              <a:t> şarttır.</a:t>
            </a:r>
          </a:p>
          <a:p>
            <a:pPr marL="0" indent="0">
              <a:buNone/>
            </a:pPr>
            <a:endParaRPr lang="tr-TR" sz="2200"/>
          </a:p>
          <a:p>
            <a:pPr marL="0" indent="0">
              <a:buNone/>
            </a:pPr>
            <a:r>
              <a:rPr lang="tr-TR" sz="2200"/>
              <a:t>Etkiler genelde </a:t>
            </a:r>
            <a:r>
              <a:rPr lang="tr-TR" sz="2200" b="1"/>
              <a:t>termal (ısıya bağlı)</a:t>
            </a:r>
            <a:r>
              <a:rPr lang="tr-TR" sz="2200"/>
              <a:t> veya </a:t>
            </a:r>
            <a:r>
              <a:rPr lang="tr-TR" sz="2200" b="1"/>
              <a:t>fotokimyasal</a:t>
            </a:r>
            <a:r>
              <a:rPr lang="tr-TR" sz="2200"/>
              <a:t>dır.</a:t>
            </a:r>
          </a:p>
        </p:txBody>
      </p:sp>
    </p:spTree>
    <p:extLst>
      <p:ext uri="{BB962C8B-B14F-4D97-AF65-F5344CB8AC3E}">
        <p14:creationId xmlns:p14="http://schemas.microsoft.com/office/powerpoint/2010/main" val="4074166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284813" y="365125"/>
            <a:ext cx="11392525" cy="1325563"/>
          </a:xfrm>
        </p:spPr>
        <p:txBody>
          <a:bodyPr>
            <a:normAutofit fontScale="90000"/>
          </a:bodyPr>
          <a:lstStyle/>
          <a:p>
            <a:br>
              <a:rPr lang="tr-TR" sz="2600"/>
            </a:br>
            <a:r>
              <a:rPr lang="tr-TR" b="1">
                <a:solidFill>
                  <a:srgbClr val="7030A0"/>
                </a:solidFill>
              </a:rPr>
              <a:t>Fiziksel Etkenlere (Çevresel Zararlara) Maruz Kalma</a:t>
            </a:r>
            <a:br>
              <a:rPr lang="tr-TR" sz="2600"/>
            </a:br>
            <a:endParaRPr lang="tr-TR" sz="2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b="1"/>
              <a:t>   Radyasyon kaynağı</a:t>
            </a:r>
            <a:r>
              <a:rPr lang="tr-TR" sz="2200"/>
              <a:t>, iyonlaştırıcı veya iyonlaştırıcı olmayan radyasyon yayan </a:t>
            </a:r>
            <a:r>
              <a:rPr lang="tr-TR" sz="2200" b="1"/>
              <a:t>her türlü cihaz, madde veya doğal oluşumdur</a:t>
            </a:r>
            <a:r>
              <a:rPr lang="tr-TR" sz="2200"/>
              <a:t>.</a:t>
            </a:r>
          </a:p>
          <a:p>
            <a:pPr>
              <a:buFont typeface="Wingdings" panose="05000000000000000000" pitchFamily="2" charset="2"/>
              <a:buChar char="Ø"/>
            </a:pPr>
            <a:r>
              <a:rPr lang="tr-TR" sz="2200"/>
              <a:t>Kaynağın </a:t>
            </a:r>
            <a:r>
              <a:rPr lang="tr-TR" sz="2200" b="1">
                <a:solidFill>
                  <a:srgbClr val="C00000"/>
                </a:solidFill>
              </a:rPr>
              <a:t>türü</a:t>
            </a:r>
          </a:p>
          <a:p>
            <a:pPr>
              <a:buFont typeface="Wingdings" panose="05000000000000000000" pitchFamily="2" charset="2"/>
              <a:buChar char="Ø"/>
            </a:pPr>
            <a:r>
              <a:rPr lang="tr-TR" sz="2200"/>
              <a:t>Yaydığı </a:t>
            </a:r>
            <a:r>
              <a:rPr lang="tr-TR" sz="2200" b="1">
                <a:solidFill>
                  <a:srgbClr val="C00000"/>
                </a:solidFill>
              </a:rPr>
              <a:t>radyasyonun enerjisi</a:t>
            </a:r>
          </a:p>
          <a:p>
            <a:pPr>
              <a:buFont typeface="Wingdings" panose="05000000000000000000" pitchFamily="2" charset="2"/>
              <a:buChar char="Ø"/>
            </a:pPr>
            <a:r>
              <a:rPr lang="tr-TR" sz="2200"/>
              <a:t>Maruziyetin</a:t>
            </a:r>
            <a:r>
              <a:rPr lang="tr-TR" sz="2200" b="1"/>
              <a:t> </a:t>
            </a:r>
            <a:r>
              <a:rPr lang="tr-TR" sz="2200" b="1">
                <a:solidFill>
                  <a:srgbClr val="C00000"/>
                </a:solidFill>
              </a:rPr>
              <a:t>süresi</a:t>
            </a:r>
            <a:r>
              <a:rPr lang="tr-TR" sz="2200" b="1"/>
              <a:t> </a:t>
            </a:r>
            <a:r>
              <a:rPr lang="tr-TR" sz="2200"/>
              <a:t>ve </a:t>
            </a:r>
            <a:r>
              <a:rPr lang="tr-TR" sz="2200" b="1">
                <a:solidFill>
                  <a:srgbClr val="C00000"/>
                </a:solidFill>
              </a:rPr>
              <a:t>sıklığı</a:t>
            </a:r>
          </a:p>
          <a:p>
            <a:pPr>
              <a:buFont typeface="Wingdings" panose="05000000000000000000" pitchFamily="2" charset="2"/>
              <a:buChar char="Ø"/>
            </a:pPr>
            <a:r>
              <a:rPr lang="tr-TR" sz="2200"/>
              <a:t>Çalışanın kaynağa </a:t>
            </a:r>
            <a:r>
              <a:rPr lang="tr-TR" sz="2200" b="1">
                <a:solidFill>
                  <a:srgbClr val="C00000"/>
                </a:solidFill>
              </a:rPr>
              <a:t>uzaklığı</a:t>
            </a:r>
          </a:p>
          <a:p>
            <a:pPr marL="0" indent="0">
              <a:buNone/>
            </a:pPr>
            <a:endParaRPr lang="tr-TR" sz="2200" b="1"/>
          </a:p>
          <a:p>
            <a:pPr marL="0" indent="0">
              <a:buNone/>
            </a:pPr>
            <a:r>
              <a:rPr lang="tr-TR" sz="2200"/>
              <a:t>   Radyasyon kaynakları </a:t>
            </a:r>
            <a:r>
              <a:rPr lang="tr-TR" sz="2200" b="1"/>
              <a:t>doğal</a:t>
            </a:r>
            <a:r>
              <a:rPr lang="tr-TR" sz="2200"/>
              <a:t> ve </a:t>
            </a:r>
            <a:r>
              <a:rPr lang="tr-TR" sz="2200" b="1"/>
              <a:t>yapay</a:t>
            </a:r>
            <a:r>
              <a:rPr lang="tr-TR" sz="2200"/>
              <a:t> olmak üzere ikiye ayrılmaktadır.</a:t>
            </a:r>
          </a:p>
        </p:txBody>
      </p:sp>
      <p:pic>
        <p:nvPicPr>
          <p:cNvPr id="4" name="Resim 3">
            <a:extLst>
              <a:ext uri="{FF2B5EF4-FFF2-40B4-BE49-F238E27FC236}">
                <a16:creationId xmlns:a16="http://schemas.microsoft.com/office/drawing/2014/main" id="{AE8A41E7-078D-4C45-D0B8-20DB0388DCE0}"/>
              </a:ext>
            </a:extLst>
          </p:cNvPr>
          <p:cNvPicPr>
            <a:picLocks noChangeAspect="1"/>
          </p:cNvPicPr>
          <p:nvPr/>
        </p:nvPicPr>
        <p:blipFill>
          <a:blip r:embed="rId2"/>
          <a:stretch>
            <a:fillRect/>
          </a:stretch>
        </p:blipFill>
        <p:spPr>
          <a:xfrm>
            <a:off x="7543488" y="3002936"/>
            <a:ext cx="4133850" cy="1104900"/>
          </a:xfrm>
          <a:prstGeom prst="rect">
            <a:avLst/>
          </a:prstGeom>
        </p:spPr>
      </p:pic>
    </p:spTree>
    <p:extLst>
      <p:ext uri="{BB962C8B-B14F-4D97-AF65-F5344CB8AC3E}">
        <p14:creationId xmlns:p14="http://schemas.microsoft.com/office/powerpoint/2010/main" val="3335625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E8331E-DDE5-BE22-7A98-A4D5FB71305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370177DE-8970-DF8A-CD7B-A7ABD9BB2BD1}"/>
              </a:ext>
            </a:extLst>
          </p:cNvPr>
          <p:cNvSpPr>
            <a:spLocks noGrp="1"/>
          </p:cNvSpPr>
          <p:nvPr>
            <p:ph type="title"/>
          </p:nvPr>
        </p:nvSpPr>
        <p:spPr>
          <a:xfrm>
            <a:off x="359764" y="365125"/>
            <a:ext cx="11377534" cy="1325563"/>
          </a:xfrm>
        </p:spPr>
        <p:txBody>
          <a:bodyPr>
            <a:noAutofit/>
          </a:bodyPr>
          <a:lstStyle/>
          <a:p>
            <a:br>
              <a:rPr lang="tr-TR" sz="4000"/>
            </a:br>
            <a:r>
              <a:rPr lang="tr-TR" sz="4000" b="1">
                <a:solidFill>
                  <a:srgbClr val="7030A0"/>
                </a:solidFill>
              </a:rPr>
              <a:t>Fiziksel Etkenlere (Çevresel Zararlara) Maruz Kalma</a:t>
            </a:r>
            <a:br>
              <a:rPr lang="tr-TR" sz="4000"/>
            </a:br>
            <a:endParaRPr lang="tr-TR" sz="40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3C7F5DDF-27FD-987D-D1AA-5AFE6D2BFB24}"/>
              </a:ext>
            </a:extLst>
          </p:cNvPr>
          <p:cNvSpPr>
            <a:spLocks noGrp="1"/>
          </p:cNvSpPr>
          <p:nvPr>
            <p:ph idx="1"/>
          </p:nvPr>
        </p:nvSpPr>
        <p:spPr>
          <a:xfrm>
            <a:off x="838200" y="1929384"/>
            <a:ext cx="10515600" cy="4251960"/>
          </a:xfrm>
        </p:spPr>
        <p:txBody>
          <a:bodyPr>
            <a:normAutofit fontScale="92500" lnSpcReduction="10000"/>
          </a:bodyPr>
          <a:lstStyle/>
          <a:p>
            <a:pPr marL="0" indent="0">
              <a:buNone/>
            </a:pPr>
            <a:r>
              <a:rPr lang="tr-TR" sz="2000" u="sng"/>
              <a:t>Doğal radyasyon kaynakları</a:t>
            </a:r>
          </a:p>
          <a:p>
            <a:r>
              <a:rPr lang="tr-TR" sz="2000" b="1"/>
              <a:t>Kozmik Radyasyon: </a:t>
            </a:r>
            <a:r>
              <a:rPr lang="tr-TR" sz="2000"/>
              <a:t>Uzaydan gelen yüksek enerjili ışınlardır.</a:t>
            </a:r>
          </a:p>
          <a:p>
            <a:pPr marL="0" indent="0">
              <a:buNone/>
            </a:pPr>
            <a:r>
              <a:rPr lang="tr-TR" sz="2000"/>
              <a:t>   Maruziyetin Yüksek Olduğu Meslekler, Dağlık bölgelerde çalışanlar.</a:t>
            </a:r>
          </a:p>
          <a:p>
            <a:pPr marL="0" indent="0">
              <a:buNone/>
            </a:pPr>
            <a:endParaRPr lang="tr-TR" sz="2000"/>
          </a:p>
          <a:p>
            <a:r>
              <a:rPr lang="tr-TR" sz="2000" b="1"/>
              <a:t>Yer kabuğu Kaynaklı Radyasyon: </a:t>
            </a:r>
            <a:r>
              <a:rPr lang="tr-TR" sz="2000"/>
              <a:t>Toprak, kayaç ve yapı malzemelerinde bulunan, Uranyum, Toryum,Potasyum-40 gibi.</a:t>
            </a:r>
          </a:p>
          <a:p>
            <a:pPr marL="0" indent="0">
              <a:buNone/>
            </a:pPr>
            <a:r>
              <a:rPr lang="tr-TR" sz="2000"/>
              <a:t>   Riskli Alanlar, Maden ocakları, Tüneller, Yer altı yapıları.</a:t>
            </a:r>
          </a:p>
          <a:p>
            <a:pPr marL="0" indent="0">
              <a:buNone/>
            </a:pPr>
            <a:endParaRPr lang="tr-TR" sz="2000"/>
          </a:p>
          <a:p>
            <a:r>
              <a:rPr lang="tr-TR" sz="2000" b="1"/>
              <a:t>Radon gazı: </a:t>
            </a:r>
            <a:r>
              <a:rPr lang="tr-TR" sz="2000"/>
              <a:t>Uranyumun </a:t>
            </a:r>
            <a:r>
              <a:rPr lang="tr-TR" sz="2000" err="1"/>
              <a:t>bozunmasıyla</a:t>
            </a:r>
            <a:r>
              <a:rPr lang="tr-TR" sz="2000"/>
              <a:t> oluşur. Renksiz, kokusuz bir gazdır.</a:t>
            </a:r>
          </a:p>
          <a:p>
            <a:pPr marL="0" indent="0">
              <a:buNone/>
            </a:pPr>
            <a:r>
              <a:rPr lang="tr-TR" sz="2000"/>
              <a:t>    Riskli Alanlar, Bodrum katlar, Yer altı madenleri, Kapalı ve havalandırması zayıf alanlar</a:t>
            </a:r>
          </a:p>
          <a:p>
            <a:pPr marL="0" indent="0">
              <a:buNone/>
            </a:pPr>
            <a:r>
              <a:rPr lang="tr-TR" sz="2000"/>
              <a:t>    </a:t>
            </a:r>
            <a:r>
              <a:rPr lang="tr-TR" sz="2000" u="sng"/>
              <a:t>Akciğer kanserinin </a:t>
            </a:r>
            <a:r>
              <a:rPr lang="tr-TR" sz="2000" b="1">
                <a:solidFill>
                  <a:srgbClr val="C00000"/>
                </a:solidFill>
              </a:rPr>
              <a:t>sigaradan sonra ikinci büyük nedenidir.</a:t>
            </a:r>
            <a:endParaRPr lang="tr-TR" sz="2000">
              <a:solidFill>
                <a:srgbClr val="C00000"/>
              </a:solidFill>
            </a:endParaRPr>
          </a:p>
          <a:p>
            <a:endParaRPr lang="tr-TR" sz="2000"/>
          </a:p>
          <a:p>
            <a:endParaRPr lang="tr-TR" sz="2000" b="1"/>
          </a:p>
          <a:p>
            <a:pPr marL="0" indent="0">
              <a:buNone/>
            </a:pPr>
            <a:endParaRPr lang="tr-TR" sz="2000"/>
          </a:p>
        </p:txBody>
      </p:sp>
    </p:spTree>
    <p:extLst>
      <p:ext uri="{BB962C8B-B14F-4D97-AF65-F5344CB8AC3E}">
        <p14:creationId xmlns:p14="http://schemas.microsoft.com/office/powerpoint/2010/main" val="2022303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9A3AF0-A1BD-1D19-3608-4CA376DACC4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B9468B89-381C-76CE-7E97-87BECEF2B93F}"/>
              </a:ext>
            </a:extLst>
          </p:cNvPr>
          <p:cNvSpPr>
            <a:spLocks noGrp="1"/>
          </p:cNvSpPr>
          <p:nvPr>
            <p:ph type="title"/>
          </p:nvPr>
        </p:nvSpPr>
        <p:spPr>
          <a:xfrm>
            <a:off x="329784" y="365125"/>
            <a:ext cx="11407514" cy="1325563"/>
          </a:xfrm>
        </p:spPr>
        <p:txBody>
          <a:bodyPr>
            <a:normAutofit fontScale="90000"/>
          </a:bodyPr>
          <a:lstStyle/>
          <a:p>
            <a:br>
              <a:rPr lang="tr-TR" sz="2600"/>
            </a:br>
            <a:r>
              <a:rPr lang="tr-TR" b="1">
                <a:solidFill>
                  <a:srgbClr val="7030A0"/>
                </a:solidFill>
              </a:rPr>
              <a:t>Fiziksel Etkenlere (Çevresel Zararlara) Maruz Kalma</a:t>
            </a:r>
            <a:br>
              <a:rPr lang="tr-TR" sz="2600"/>
            </a:br>
            <a:endParaRPr lang="tr-TR" sz="2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F03FCEB4-A1E0-46C7-5C75-F0090D4A71A3}"/>
              </a:ext>
            </a:extLst>
          </p:cNvPr>
          <p:cNvSpPr>
            <a:spLocks noGrp="1"/>
          </p:cNvSpPr>
          <p:nvPr>
            <p:ph idx="1"/>
          </p:nvPr>
        </p:nvSpPr>
        <p:spPr>
          <a:xfrm>
            <a:off x="838200" y="1929384"/>
            <a:ext cx="7649817" cy="4251960"/>
          </a:xfrm>
        </p:spPr>
        <p:txBody>
          <a:bodyPr>
            <a:normAutofit fontScale="92500" lnSpcReduction="20000"/>
          </a:bodyPr>
          <a:lstStyle/>
          <a:p>
            <a:pPr marL="0" indent="0">
              <a:buNone/>
            </a:pPr>
            <a:r>
              <a:rPr lang="tr-TR" sz="1900" u="sng"/>
              <a:t>Yapay radyasyon kaynakları</a:t>
            </a:r>
          </a:p>
          <a:p>
            <a:pPr marL="0" indent="0">
              <a:buNone/>
            </a:pPr>
            <a:r>
              <a:rPr lang="tr-TR" sz="1900"/>
              <a:t>    İnsan eliyle üretilen ve kontrollü ya da endüstriyel amaçlarla kullanılan </a:t>
            </a:r>
            <a:r>
              <a:rPr lang="tr-TR" sz="1900" b="1"/>
              <a:t>iyonlaştırıcı</a:t>
            </a:r>
            <a:r>
              <a:rPr lang="tr-TR" sz="1900"/>
              <a:t> veya </a:t>
            </a:r>
            <a:r>
              <a:rPr lang="tr-TR" sz="1900" b="1"/>
              <a:t>iyonlaştırıcı olmayan</a:t>
            </a:r>
            <a:r>
              <a:rPr lang="tr-TR" sz="1900"/>
              <a:t> radyasyon kaynaklarıdır.</a:t>
            </a:r>
          </a:p>
          <a:p>
            <a:r>
              <a:rPr lang="tr-TR" sz="1900" b="1"/>
              <a:t>İyonlaştırıcı radyasyon: </a:t>
            </a:r>
            <a:r>
              <a:rPr lang="tr-TR" sz="1900"/>
              <a:t>Atomdan </a:t>
            </a:r>
            <a:r>
              <a:rPr lang="tr-TR" sz="1900" b="1"/>
              <a:t>elektron koparabilecek kadar yüksek enerjili</a:t>
            </a:r>
            <a:r>
              <a:rPr lang="tr-TR" sz="1900"/>
              <a:t> radyasyondur. DNA ve hücre yapısını bozar ve kanser riski vardır. Düşük dozda bile uzun vadeli etki yapabilir.</a:t>
            </a:r>
            <a:r>
              <a:rPr lang="tr-TR" sz="1900" b="1"/>
              <a:t> </a:t>
            </a:r>
          </a:p>
          <a:p>
            <a:pPr marL="0" indent="0">
              <a:buNone/>
            </a:pPr>
            <a:r>
              <a:rPr lang="tr-TR" sz="1900" b="1"/>
              <a:t>   </a:t>
            </a:r>
            <a:r>
              <a:rPr lang="tr-TR" sz="1900"/>
              <a:t>Alfa (</a:t>
            </a:r>
            <a:r>
              <a:rPr lang="el-GR" sz="1900"/>
              <a:t>α)</a:t>
            </a:r>
            <a:r>
              <a:rPr lang="tr-TR" sz="1900"/>
              <a:t>, Beta (</a:t>
            </a:r>
            <a:r>
              <a:rPr lang="el-GR" sz="1900"/>
              <a:t>β)</a:t>
            </a:r>
            <a:r>
              <a:rPr lang="tr-TR" sz="1900"/>
              <a:t>, </a:t>
            </a:r>
            <a:r>
              <a:rPr lang="tr-TR" sz="1900" b="1">
                <a:solidFill>
                  <a:srgbClr val="C00000"/>
                </a:solidFill>
              </a:rPr>
              <a:t>Gama (</a:t>
            </a:r>
            <a:r>
              <a:rPr lang="el-GR" sz="1900" b="1">
                <a:solidFill>
                  <a:srgbClr val="C00000"/>
                </a:solidFill>
              </a:rPr>
              <a:t>γ)</a:t>
            </a:r>
            <a:r>
              <a:rPr lang="tr-TR" sz="1900"/>
              <a:t>, X-ışınları ve Nötron örnek olarak verilebilir. Örneğin, gamma ışınlarından korunmak için kurşun malzeme kullanılması gerekir.</a:t>
            </a:r>
          </a:p>
          <a:p>
            <a:pPr marL="0" indent="0">
              <a:buNone/>
            </a:pPr>
            <a:endParaRPr lang="tr-TR" sz="1900"/>
          </a:p>
          <a:p>
            <a:r>
              <a:rPr lang="tr-TR" sz="1900" b="1"/>
              <a:t>İyonlaştırıcı olmayan radyasyon: </a:t>
            </a:r>
            <a:r>
              <a:rPr lang="tr-TR" sz="1900"/>
              <a:t>Elektron koparamaz, ancak </a:t>
            </a:r>
            <a:r>
              <a:rPr lang="tr-TR" sz="1900" b="1"/>
              <a:t>ısı, ışık veya elektromanyetik etki</a:t>
            </a:r>
            <a:r>
              <a:rPr lang="tr-TR" sz="1900"/>
              <a:t> oluşturur.</a:t>
            </a:r>
          </a:p>
          <a:p>
            <a:pPr marL="0" indent="0">
              <a:buNone/>
            </a:pPr>
            <a:r>
              <a:rPr lang="tr-TR" sz="1900"/>
              <a:t>    Ultraviyole (UV), Görünür ışık, Kızılötesi (IR), Mikrodalga, Radyo frekansı (RF) ve Lazer örnek olarak verilebilir.</a:t>
            </a:r>
          </a:p>
          <a:p>
            <a:endParaRPr lang="tr-TR" sz="1900"/>
          </a:p>
          <a:p>
            <a:pPr marL="0" indent="0">
              <a:buNone/>
            </a:pPr>
            <a:endParaRPr lang="tr-TR" sz="1900" b="1"/>
          </a:p>
          <a:p>
            <a:endParaRPr lang="tr-TR" sz="1900" b="1"/>
          </a:p>
        </p:txBody>
      </p:sp>
      <p:pic>
        <p:nvPicPr>
          <p:cNvPr id="4" name="Resim 3">
            <a:extLst>
              <a:ext uri="{FF2B5EF4-FFF2-40B4-BE49-F238E27FC236}">
                <a16:creationId xmlns:a16="http://schemas.microsoft.com/office/drawing/2014/main" id="{FFE4FB92-322A-D634-3B1D-29BC9863C753}"/>
              </a:ext>
            </a:extLst>
          </p:cNvPr>
          <p:cNvPicPr>
            <a:picLocks noChangeAspect="1"/>
          </p:cNvPicPr>
          <p:nvPr/>
        </p:nvPicPr>
        <p:blipFill>
          <a:blip r:embed="rId2"/>
          <a:stretch>
            <a:fillRect/>
          </a:stretch>
        </p:blipFill>
        <p:spPr>
          <a:xfrm>
            <a:off x="9028797" y="2131398"/>
            <a:ext cx="2619375" cy="1743075"/>
          </a:xfrm>
          <a:prstGeom prst="rect">
            <a:avLst/>
          </a:prstGeom>
        </p:spPr>
      </p:pic>
    </p:spTree>
    <p:extLst>
      <p:ext uri="{BB962C8B-B14F-4D97-AF65-F5344CB8AC3E}">
        <p14:creationId xmlns:p14="http://schemas.microsoft.com/office/powerpoint/2010/main" val="179054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4D16B2-E2EF-3EBB-8D86-0514C714C7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B0A145C6-623C-1084-178F-EB3D44F4B795}"/>
              </a:ext>
            </a:extLst>
          </p:cNvPr>
          <p:cNvSpPr>
            <a:spLocks noGrp="1"/>
          </p:cNvSpPr>
          <p:nvPr>
            <p:ph type="title"/>
          </p:nvPr>
        </p:nvSpPr>
        <p:spPr>
          <a:xfrm>
            <a:off x="318052" y="365125"/>
            <a:ext cx="11035748" cy="1325563"/>
          </a:xfrm>
        </p:spPr>
        <p:txBody>
          <a:bodyPr>
            <a:normAutofit fontScale="90000"/>
          </a:bodyPr>
          <a:lstStyle/>
          <a:p>
            <a:br>
              <a:rPr lang="tr-TR" sz="2600"/>
            </a:br>
            <a:r>
              <a:rPr lang="tr-TR" sz="4000" b="1">
                <a:solidFill>
                  <a:srgbClr val="7030A0"/>
                </a:solidFill>
              </a:rPr>
              <a:t>Fiziksel Etkenlere (Çevresel Zararlara) Maruz Kalma</a:t>
            </a:r>
            <a:br>
              <a:rPr lang="tr-TR" sz="4000">
                <a:solidFill>
                  <a:srgbClr val="7030A0"/>
                </a:solidFill>
              </a:rPr>
            </a:br>
            <a:endParaRPr lang="tr-TR" sz="4000">
              <a:solidFill>
                <a:srgbClr val="7030A0"/>
              </a:solidFill>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77338BD4-F07A-B9EB-A388-2E67CDC678A2}"/>
              </a:ext>
            </a:extLst>
          </p:cNvPr>
          <p:cNvSpPr>
            <a:spLocks noGrp="1"/>
          </p:cNvSpPr>
          <p:nvPr>
            <p:ph idx="1"/>
          </p:nvPr>
        </p:nvSpPr>
        <p:spPr>
          <a:xfrm>
            <a:off x="164892" y="1929384"/>
            <a:ext cx="6865495" cy="4066682"/>
          </a:xfrm>
        </p:spPr>
        <p:txBody>
          <a:bodyPr>
            <a:normAutofit fontScale="32500" lnSpcReduction="20000"/>
          </a:bodyPr>
          <a:lstStyle/>
          <a:p>
            <a:pPr marL="0" indent="0">
              <a:buNone/>
            </a:pPr>
            <a:r>
              <a:rPr lang="tr-TR" sz="4500"/>
              <a:t>Ultraviyole (UV) lambalar:</a:t>
            </a:r>
          </a:p>
          <a:p>
            <a:pPr lvl="1"/>
            <a:r>
              <a:rPr lang="tr-TR" sz="4500"/>
              <a:t>Sterilizasyon, bronzlaşma cihazları ve bazı endüstriyel işlemlerde kullanılır.</a:t>
            </a:r>
          </a:p>
          <a:p>
            <a:pPr lvl="1"/>
            <a:r>
              <a:rPr lang="tr-TR" sz="4500"/>
              <a:t>Göz ve ciltte yanık, erken yaşlanma ve kanser riski oluşturabilir.</a:t>
            </a:r>
          </a:p>
          <a:p>
            <a:pPr marL="0" indent="0">
              <a:buNone/>
            </a:pPr>
            <a:r>
              <a:rPr lang="tr-TR" sz="4500"/>
              <a:t>Lazer sistemleri:</a:t>
            </a:r>
          </a:p>
          <a:p>
            <a:pPr lvl="1"/>
            <a:r>
              <a:rPr lang="tr-TR" sz="4500"/>
              <a:t>Cerrahi, kesim, ölçüm ve iletişim teknolojilerinde kullanılır.</a:t>
            </a:r>
          </a:p>
          <a:p>
            <a:pPr lvl="1"/>
            <a:r>
              <a:rPr lang="tr-TR" sz="4500"/>
              <a:t>Göz ve deri için tehlikeli olabilir; koruyucu gözlük ve ekranlar gereklidir.</a:t>
            </a:r>
          </a:p>
          <a:p>
            <a:pPr marL="0" indent="0">
              <a:buNone/>
            </a:pPr>
            <a:r>
              <a:rPr lang="tr-TR" sz="4500"/>
              <a:t>Mikrodalga ve radyo frekans kaynakları:</a:t>
            </a:r>
          </a:p>
          <a:p>
            <a:pPr lvl="1"/>
            <a:r>
              <a:rPr lang="tr-TR" sz="4500"/>
              <a:t>Haberleşme sistemleri, radarlar, endüstriyel ısıtma ve mikrodalga fırınlarda bulunur.</a:t>
            </a:r>
          </a:p>
          <a:p>
            <a:pPr lvl="1"/>
            <a:r>
              <a:rPr lang="tr-TR" sz="4500"/>
              <a:t>Aşırı maruziyet, doku ısınması ve termal hasara neden olabilir.</a:t>
            </a:r>
          </a:p>
          <a:p>
            <a:pPr marL="0" indent="0">
              <a:buNone/>
            </a:pPr>
            <a:r>
              <a:rPr lang="tr-TR" sz="3300"/>
              <a:t>.</a:t>
            </a:r>
          </a:p>
          <a:p>
            <a:pPr marL="457200" lvl="1" indent="0">
              <a:buNone/>
            </a:pPr>
            <a:endParaRPr lang="tr-TR" sz="2000"/>
          </a:p>
          <a:p>
            <a:pPr marL="457200" lvl="1" indent="0">
              <a:buNone/>
            </a:pPr>
            <a:br>
              <a:rPr lang="tr-TR" sz="1000"/>
            </a:br>
            <a:endParaRPr lang="tr-TR" sz="1000"/>
          </a:p>
        </p:txBody>
      </p:sp>
      <p:pic>
        <p:nvPicPr>
          <p:cNvPr id="4" name="Resim 3">
            <a:extLst>
              <a:ext uri="{FF2B5EF4-FFF2-40B4-BE49-F238E27FC236}">
                <a16:creationId xmlns:a16="http://schemas.microsoft.com/office/drawing/2014/main" id="{86236F4F-21C8-6092-DB2A-C426EAAE395E}"/>
              </a:ext>
            </a:extLst>
          </p:cNvPr>
          <p:cNvPicPr>
            <a:picLocks noChangeAspect="1"/>
          </p:cNvPicPr>
          <p:nvPr/>
        </p:nvPicPr>
        <p:blipFill>
          <a:blip r:embed="rId2"/>
          <a:stretch>
            <a:fillRect/>
          </a:stretch>
        </p:blipFill>
        <p:spPr>
          <a:xfrm>
            <a:off x="6967045" y="2382737"/>
            <a:ext cx="5060063" cy="2174939"/>
          </a:xfrm>
          <a:prstGeom prst="rect">
            <a:avLst/>
          </a:prstGeom>
        </p:spPr>
      </p:pic>
      <p:sp>
        <p:nvSpPr>
          <p:cNvPr id="6" name="Metin kutusu 5">
            <a:extLst>
              <a:ext uri="{FF2B5EF4-FFF2-40B4-BE49-F238E27FC236}">
                <a16:creationId xmlns:a16="http://schemas.microsoft.com/office/drawing/2014/main" id="{885B0D98-7EA0-EFE0-91A9-545E97109254}"/>
              </a:ext>
            </a:extLst>
          </p:cNvPr>
          <p:cNvSpPr txBox="1"/>
          <p:nvPr/>
        </p:nvSpPr>
        <p:spPr>
          <a:xfrm>
            <a:off x="3888665" y="5118903"/>
            <a:ext cx="9142785" cy="1754326"/>
          </a:xfrm>
          <a:prstGeom prst="rect">
            <a:avLst/>
          </a:prstGeom>
          <a:noFill/>
        </p:spPr>
        <p:txBody>
          <a:bodyPr wrap="square" rtlCol="0">
            <a:spAutoFit/>
          </a:bodyPr>
          <a:lstStyle/>
          <a:p>
            <a:r>
              <a:rPr lang="tr-TR"/>
              <a:t>Kızılötesi (</a:t>
            </a:r>
            <a:r>
              <a:rPr lang="tr-TR" err="1"/>
              <a:t>infrared</a:t>
            </a:r>
            <a:r>
              <a:rPr lang="tr-TR"/>
              <a:t>) ısıtıcılar:</a:t>
            </a:r>
          </a:p>
          <a:p>
            <a:pPr marL="800100" lvl="1" indent="-342900">
              <a:buFont typeface="Arial" panose="020B0604020202020204" pitchFamily="34" charset="0"/>
              <a:buChar char="•"/>
            </a:pPr>
            <a:r>
              <a:rPr lang="tr-TR"/>
              <a:t>Uzaktan kumandalar: Televizyon ve klima gibi cihazlarda sinyal iletimi için.</a:t>
            </a:r>
          </a:p>
          <a:p>
            <a:pPr marL="800100" lvl="1" indent="-342900">
              <a:buFont typeface="Arial" panose="020B0604020202020204" pitchFamily="34" charset="0"/>
              <a:buChar char="•"/>
            </a:pPr>
            <a:r>
              <a:rPr lang="tr-TR"/>
              <a:t>Gece görüş sistemleri: Karanlıkta ısı farklarını algılayarak görüntü oluşturur.</a:t>
            </a:r>
          </a:p>
          <a:p>
            <a:pPr marL="800100" lvl="1" indent="-342900">
              <a:buFont typeface="Arial" panose="020B0604020202020204" pitchFamily="34" charset="0"/>
              <a:buChar char="•"/>
            </a:pPr>
            <a:r>
              <a:rPr lang="tr-TR"/>
              <a:t>Tıp: Fizik tedavi ve kas gevşetici uygulamalarda.</a:t>
            </a:r>
          </a:p>
          <a:p>
            <a:pPr marL="800100" lvl="1" indent="-342900">
              <a:buFont typeface="Arial" panose="020B0604020202020204" pitchFamily="34" charset="0"/>
              <a:buChar char="•"/>
            </a:pPr>
            <a:r>
              <a:rPr lang="tr-TR"/>
              <a:t>Sanayi: Isıtma, kurutma ve kalite kontrol sistemlerinde.</a:t>
            </a:r>
          </a:p>
          <a:p>
            <a:pPr marL="800100" lvl="1" indent="-342900">
              <a:buFont typeface="Arial" panose="020B0604020202020204" pitchFamily="34" charset="0"/>
              <a:buChar char="•"/>
            </a:pPr>
            <a:r>
              <a:rPr lang="tr-TR"/>
              <a:t>Uzun süreli yakın temas, ciltte yanık ve göz hasarına yol açabilir</a:t>
            </a:r>
          </a:p>
        </p:txBody>
      </p:sp>
    </p:spTree>
    <p:extLst>
      <p:ext uri="{BB962C8B-B14F-4D97-AF65-F5344CB8AC3E}">
        <p14:creationId xmlns:p14="http://schemas.microsoft.com/office/powerpoint/2010/main" val="3531392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372D8-7A3D-2ED1-9F2E-64D264332C05}"/>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3B4411B-E8E8-CE60-91E7-4FAD08B087F7}"/>
              </a:ext>
            </a:extLst>
          </p:cNvPr>
          <p:cNvSpPr>
            <a:spLocks noGrp="1"/>
          </p:cNvSpPr>
          <p:nvPr>
            <p:ph idx="1"/>
          </p:nvPr>
        </p:nvSpPr>
        <p:spPr>
          <a:xfrm>
            <a:off x="838199" y="1825624"/>
            <a:ext cx="10794167" cy="5032376"/>
          </a:xfrm>
        </p:spPr>
        <p:txBody>
          <a:bodyPr>
            <a:normAutofit/>
          </a:bodyPr>
          <a:lstStyle/>
          <a:p>
            <a:pPr marL="457200" lvl="1" indent="0">
              <a:buNone/>
            </a:pPr>
            <a:endParaRPr lang="tr-TR" sz="3800"/>
          </a:p>
          <a:p>
            <a:pPr marL="457200" lvl="1" indent="0">
              <a:buNone/>
            </a:pPr>
            <a:br>
              <a:rPr lang="tr-TR"/>
            </a:br>
            <a:endParaRPr lang="tr-TR"/>
          </a:p>
        </p:txBody>
      </p:sp>
      <p:graphicFrame>
        <p:nvGraphicFramePr>
          <p:cNvPr id="2" name="Tablo 1">
            <a:extLst>
              <a:ext uri="{FF2B5EF4-FFF2-40B4-BE49-F238E27FC236}">
                <a16:creationId xmlns:a16="http://schemas.microsoft.com/office/drawing/2014/main" id="{84B6E926-24B9-5F8D-FC27-3F97CB799813}"/>
              </a:ext>
            </a:extLst>
          </p:cNvPr>
          <p:cNvGraphicFramePr>
            <a:graphicFrameLocks noGrp="1"/>
          </p:cNvGraphicFramePr>
          <p:nvPr>
            <p:extLst>
              <p:ext uri="{D42A27DB-BD31-4B8C-83A1-F6EECF244321}">
                <p14:modId xmlns:p14="http://schemas.microsoft.com/office/powerpoint/2010/main" val="2205350931"/>
              </p:ext>
            </p:extLst>
          </p:nvPr>
        </p:nvGraphicFramePr>
        <p:xfrm>
          <a:off x="139908" y="620447"/>
          <a:ext cx="12052092" cy="6245491"/>
        </p:xfrm>
        <a:graphic>
          <a:graphicData uri="http://schemas.openxmlformats.org/drawingml/2006/table">
            <a:tbl>
              <a:tblPr firstRow="1" firstCol="1" bandRow="1">
                <a:tableStyleId>{5C22544A-7EE6-4342-B048-85BDC9FD1C3A}</a:tableStyleId>
              </a:tblPr>
              <a:tblGrid>
                <a:gridCol w="1680149">
                  <a:extLst>
                    <a:ext uri="{9D8B030D-6E8A-4147-A177-3AD203B41FA5}">
                      <a16:colId xmlns:a16="http://schemas.microsoft.com/office/drawing/2014/main" val="2033763963"/>
                    </a:ext>
                  </a:extLst>
                </a:gridCol>
                <a:gridCol w="2596999">
                  <a:extLst>
                    <a:ext uri="{9D8B030D-6E8A-4147-A177-3AD203B41FA5}">
                      <a16:colId xmlns:a16="http://schemas.microsoft.com/office/drawing/2014/main" val="3995789253"/>
                    </a:ext>
                  </a:extLst>
                </a:gridCol>
                <a:gridCol w="2591648">
                  <a:extLst>
                    <a:ext uri="{9D8B030D-6E8A-4147-A177-3AD203B41FA5}">
                      <a16:colId xmlns:a16="http://schemas.microsoft.com/office/drawing/2014/main" val="2921400161"/>
                    </a:ext>
                  </a:extLst>
                </a:gridCol>
                <a:gridCol w="2591648">
                  <a:extLst>
                    <a:ext uri="{9D8B030D-6E8A-4147-A177-3AD203B41FA5}">
                      <a16:colId xmlns:a16="http://schemas.microsoft.com/office/drawing/2014/main" val="1974784550"/>
                    </a:ext>
                  </a:extLst>
                </a:gridCol>
                <a:gridCol w="2591648">
                  <a:extLst>
                    <a:ext uri="{9D8B030D-6E8A-4147-A177-3AD203B41FA5}">
                      <a16:colId xmlns:a16="http://schemas.microsoft.com/office/drawing/2014/main" val="233832877"/>
                    </a:ext>
                  </a:extLst>
                </a:gridCol>
              </a:tblGrid>
              <a:tr h="393745">
                <a:tc>
                  <a:txBody>
                    <a:bodyPr/>
                    <a:lstStyle/>
                    <a:p>
                      <a:pPr>
                        <a:lnSpc>
                          <a:spcPct val="115000"/>
                        </a:lnSpc>
                        <a:spcAft>
                          <a:spcPts val="1000"/>
                        </a:spcAft>
                        <a:buNone/>
                      </a:pPr>
                      <a:r>
                        <a:rPr lang="en-US" sz="1800" cap="all">
                          <a:effectLst/>
                        </a:rPr>
                        <a:t>Radyasyon Türü</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cap="all">
                          <a:effectLst/>
                        </a:rPr>
                        <a:t>Alt Türler / Örnekler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cap="all">
                          <a:effectLst/>
                        </a:rPr>
                        <a:t>İşyerindeki Kaynaklar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cap="all">
                          <a:effectLst/>
                        </a:rPr>
                        <a:t>Başlıca Etkiler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cap="all">
                          <a:effectLst/>
                        </a:rPr>
                        <a:t>Sağlık Riski Düzeyi</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2263674057"/>
                  </a:ext>
                </a:extLst>
              </a:tr>
              <a:tr h="599354">
                <a:tc>
                  <a:txBody>
                    <a:bodyPr/>
                    <a:lstStyle/>
                    <a:p>
                      <a:pPr>
                        <a:lnSpc>
                          <a:spcPct val="115000"/>
                        </a:lnSpc>
                        <a:spcAft>
                          <a:spcPts val="1000"/>
                        </a:spcAft>
                        <a:buNone/>
                      </a:pPr>
                      <a:r>
                        <a:rPr lang="en-US" sz="1800" cap="all" err="1">
                          <a:effectLst/>
                        </a:rPr>
                        <a:t>İyonlaştırıcı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Alfa (α)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Radyoaktif maddeler, madenler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İç organ hasarı (solunumla)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3543003635"/>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Beta (β)</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Endüstriyel ölçüm cihazları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Deri ve göz hasarı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601820361"/>
                  </a:ext>
                </a:extLst>
              </a:tr>
              <a:tr h="599354">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Gama (γ)</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Endüstriyel radyografi, nükleer tesisler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DNA hasarı, kanser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Çok 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4217021742"/>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X-ışınları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Röntgen, BT, floroskopi</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Kanser, katarakt</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Çok 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3891455654"/>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Nötron</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Nükleer reaktörler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Derin doku hasarı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Çok yüksek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1059750507"/>
                  </a:ext>
                </a:extLst>
              </a:tr>
              <a:tr h="599354">
                <a:tc>
                  <a:txBody>
                    <a:bodyPr/>
                    <a:lstStyle/>
                    <a:p>
                      <a:pPr>
                        <a:lnSpc>
                          <a:spcPct val="115000"/>
                        </a:lnSpc>
                        <a:spcAft>
                          <a:spcPts val="1000"/>
                        </a:spcAft>
                        <a:buNone/>
                      </a:pPr>
                      <a:r>
                        <a:rPr lang="en-US" sz="1800" cap="all">
                          <a:effectLst/>
                        </a:rPr>
                        <a:t>İyonlaştırıcı olmayan</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Ultraviyole (UV)</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Kaynak makineleri, güneş</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Cilt kanseri, göz yanıkları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1612949716"/>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Görünür ışık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Yoğun aydınlatma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Göz yorgunluğu</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Düşük-Orta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1893606520"/>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Kızılötesi (IR)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Fırınlar, dökümhaneler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Isı stresi, yanık</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2466652679"/>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Mikrodalga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Endüstriyel mikrodalgalar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Doku ısınması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1465865729"/>
                  </a:ext>
                </a:extLst>
              </a:tr>
              <a:tr h="599354">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Radyo Frekansı (RF)</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Baz istasyonları, radar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Sinir sistemi etkileri</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Düşük-Orta</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222464440"/>
                  </a:ext>
                </a:extLst>
              </a:tr>
              <a:tr h="393745">
                <a:tc>
                  <a:txBody>
                    <a:bodyPr/>
                    <a:lstStyle/>
                    <a:p>
                      <a:pPr>
                        <a:lnSpc>
                          <a:spcPct val="115000"/>
                        </a:lnSpc>
                        <a:spcAft>
                          <a:spcPts val="1000"/>
                        </a:spcAft>
                        <a:buNone/>
                      </a:pPr>
                      <a:r>
                        <a:rPr lang="en-US" sz="1800" cap="all">
                          <a:effectLst/>
                        </a:rPr>
                        <a:t> </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Lazer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Lazer kesim, tıbbi lazer</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Göz ve cilt hasarı</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tc>
                  <a:txBody>
                    <a:bodyPr/>
                    <a:lstStyle/>
                    <a:p>
                      <a:pPr>
                        <a:lnSpc>
                          <a:spcPct val="115000"/>
                        </a:lnSpc>
                        <a:spcAft>
                          <a:spcPts val="1000"/>
                        </a:spcAft>
                        <a:buNone/>
                      </a:pPr>
                      <a:r>
                        <a:rPr lang="en-US" sz="1800">
                          <a:effectLst/>
                        </a:rPr>
                        <a:t>Yüksek (</a:t>
                      </a:r>
                      <a:r>
                        <a:rPr lang="en-US" sz="1800" err="1">
                          <a:effectLst/>
                        </a:rPr>
                        <a:t>lokal</a:t>
                      </a:r>
                      <a:r>
                        <a:rPr lang="en-US" sz="1800">
                          <a:effectLst/>
                        </a:rPr>
                        <a:t>)</a:t>
                      </a:r>
                      <a:endParaRPr lang="tr-TR" sz="1800">
                        <a:effectLst/>
                        <a:latin typeface="Cambria" panose="02040503050406030204" pitchFamily="18" charset="0"/>
                        <a:ea typeface="MS Mincho" panose="02020609040205080304" pitchFamily="49" charset="-128"/>
                        <a:cs typeface="Times New Roman" panose="02020603050405020304" pitchFamily="18" charset="0"/>
                      </a:endParaRPr>
                    </a:p>
                  </a:txBody>
                  <a:tcPr marL="57372" marR="57372" marT="0" marB="0"/>
                </a:tc>
                <a:extLst>
                  <a:ext uri="{0D108BD9-81ED-4DB2-BD59-A6C34878D82A}">
                    <a16:rowId xmlns:a16="http://schemas.microsoft.com/office/drawing/2014/main" val="359576457"/>
                  </a:ext>
                </a:extLst>
              </a:tr>
            </a:tbl>
          </a:graphicData>
        </a:graphic>
      </p:graphicFrame>
    </p:spTree>
    <p:extLst>
      <p:ext uri="{BB962C8B-B14F-4D97-AF65-F5344CB8AC3E}">
        <p14:creationId xmlns:p14="http://schemas.microsoft.com/office/powerpoint/2010/main" val="937379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0B0333-6634-9847-65B4-52DD8105B7D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9781A0-2342-0AB7-4C95-8B41A3481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8DFF8941-AA07-A8EE-2972-E9585601ED61}"/>
              </a:ext>
            </a:extLst>
          </p:cNvPr>
          <p:cNvSpPr>
            <a:spLocks noGrp="1"/>
          </p:cNvSpPr>
          <p:nvPr>
            <p:ph type="title"/>
          </p:nvPr>
        </p:nvSpPr>
        <p:spPr>
          <a:xfrm>
            <a:off x="329784" y="365125"/>
            <a:ext cx="11407514" cy="1325563"/>
          </a:xfrm>
        </p:spPr>
        <p:txBody>
          <a:bodyPr>
            <a:normAutofit fontScale="90000"/>
          </a:bodyPr>
          <a:lstStyle/>
          <a:p>
            <a:br>
              <a:rPr lang="tr-TR" sz="2600"/>
            </a:br>
            <a:r>
              <a:rPr lang="tr-TR" b="1">
                <a:solidFill>
                  <a:srgbClr val="7030A0"/>
                </a:solidFill>
              </a:rPr>
              <a:t>Fiziksel Etkenlere (Çevresel Zararlara) Maruz Kalma</a:t>
            </a:r>
            <a:br>
              <a:rPr lang="tr-TR" sz="2600"/>
            </a:br>
            <a:endParaRPr lang="tr-TR" sz="2600"/>
          </a:p>
        </p:txBody>
      </p:sp>
      <p:sp>
        <p:nvSpPr>
          <p:cNvPr id="10" name="sketch line">
            <a:extLst>
              <a:ext uri="{FF2B5EF4-FFF2-40B4-BE49-F238E27FC236}">
                <a16:creationId xmlns:a16="http://schemas.microsoft.com/office/drawing/2014/main" id="{7621200E-7F27-A4D2-CC12-83F5D11AE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8FB4E75-F3EA-A6E0-ED08-63A2D4E3E15D}"/>
              </a:ext>
            </a:extLst>
          </p:cNvPr>
          <p:cNvSpPr>
            <a:spLocks noGrp="1"/>
          </p:cNvSpPr>
          <p:nvPr>
            <p:ph idx="1"/>
          </p:nvPr>
        </p:nvSpPr>
        <p:spPr>
          <a:xfrm>
            <a:off x="669036" y="1929384"/>
            <a:ext cx="10853928" cy="4251960"/>
          </a:xfrm>
        </p:spPr>
        <p:txBody>
          <a:bodyPr>
            <a:normAutofit lnSpcReduction="10000"/>
          </a:bodyPr>
          <a:lstStyle/>
          <a:p>
            <a:pPr marL="457200" lvl="1" indent="0" algn="just">
              <a:buNone/>
            </a:pPr>
            <a:r>
              <a:rPr lang="tr-TR" sz="2000" u="sng"/>
              <a:t>Isı-sıcaklık </a:t>
            </a:r>
          </a:p>
          <a:p>
            <a:pPr marL="457200" lvl="1" indent="0" algn="just">
              <a:buNone/>
            </a:pPr>
            <a:r>
              <a:rPr lang="tr-TR" sz="2000"/>
              <a:t>   Isı ve sıcaklık, iş hijyeninde yalnızca konfor değil, </a:t>
            </a:r>
            <a:r>
              <a:rPr lang="tr-TR" sz="2000" b="1"/>
              <a:t>sağlık ve güvenlik</a:t>
            </a:r>
            <a:r>
              <a:rPr lang="tr-TR" sz="2000"/>
              <a:t> açısından da kritik bir faktördür. Uygun kontrol önlemleri alınmadığında, hem kısa vadeli rahatsızlıklar hem de uzun vadeli sağlık sorunları ortaya çıkabilir.</a:t>
            </a:r>
          </a:p>
          <a:p>
            <a:pPr marL="457200" lvl="1" indent="0" algn="just">
              <a:buNone/>
            </a:pPr>
            <a:endParaRPr lang="tr-TR" sz="2000" b="1">
              <a:solidFill>
                <a:srgbClr val="0F1015"/>
              </a:solidFill>
            </a:endParaRPr>
          </a:p>
          <a:p>
            <a:pPr marL="457200" lvl="1" indent="0" algn="just">
              <a:buNone/>
            </a:pPr>
            <a:r>
              <a:rPr lang="tr-TR" sz="2000" b="1">
                <a:solidFill>
                  <a:srgbClr val="0F1015"/>
                </a:solidFill>
              </a:rPr>
              <a:t>İş Hijyeni Açısından Önlemler:</a:t>
            </a:r>
          </a:p>
          <a:p>
            <a:pPr>
              <a:lnSpc>
                <a:spcPts val="1650"/>
              </a:lnSpc>
              <a:buNone/>
            </a:pPr>
            <a:endParaRPr lang="tr-TR" sz="2000">
              <a:solidFill>
                <a:srgbClr val="0F1015"/>
              </a:solidFill>
            </a:endParaRPr>
          </a:p>
          <a:p>
            <a:pPr>
              <a:lnSpc>
                <a:spcPts val="1650"/>
              </a:lnSpc>
            </a:pPr>
            <a:r>
              <a:rPr lang="tr-TR" sz="2000">
                <a:solidFill>
                  <a:srgbClr val="0F1015"/>
                </a:solidFill>
              </a:rPr>
              <a:t>Radyasyon kaynaklarının </a:t>
            </a:r>
            <a:r>
              <a:rPr lang="tr-TR" sz="2000" b="1">
                <a:solidFill>
                  <a:srgbClr val="0F1015"/>
                </a:solidFill>
              </a:rPr>
              <a:t>düzenli kalibrasyonu ve bakımı</a:t>
            </a:r>
            <a:endParaRPr lang="tr-TR" sz="2000">
              <a:solidFill>
                <a:srgbClr val="0F1015"/>
              </a:solidFill>
            </a:endParaRPr>
          </a:p>
          <a:p>
            <a:pPr>
              <a:lnSpc>
                <a:spcPts val="1650"/>
              </a:lnSpc>
            </a:pPr>
            <a:r>
              <a:rPr lang="tr-TR" sz="2000" b="1">
                <a:solidFill>
                  <a:srgbClr val="0F1015"/>
                </a:solidFill>
              </a:rPr>
              <a:t>Koruyucu bariyerler</a:t>
            </a:r>
            <a:r>
              <a:rPr lang="tr-TR" sz="2000">
                <a:solidFill>
                  <a:srgbClr val="0F1015"/>
                </a:solidFill>
              </a:rPr>
              <a:t> (kurşun, beton, özel camlar)</a:t>
            </a:r>
          </a:p>
          <a:p>
            <a:pPr>
              <a:lnSpc>
                <a:spcPts val="1650"/>
              </a:lnSpc>
            </a:pPr>
            <a:r>
              <a:rPr lang="tr-TR" sz="2000" b="1">
                <a:solidFill>
                  <a:srgbClr val="0F1015"/>
                </a:solidFill>
              </a:rPr>
              <a:t>Kişisel dozimetre kullanımı</a:t>
            </a:r>
            <a:endParaRPr lang="tr-TR" sz="2000">
              <a:solidFill>
                <a:srgbClr val="0F1015"/>
              </a:solidFill>
            </a:endParaRPr>
          </a:p>
          <a:p>
            <a:pPr>
              <a:lnSpc>
                <a:spcPts val="1650"/>
              </a:lnSpc>
            </a:pPr>
            <a:r>
              <a:rPr lang="tr-TR" sz="2000" b="1">
                <a:solidFill>
                  <a:srgbClr val="0F1015"/>
                </a:solidFill>
              </a:rPr>
              <a:t>Eğitim ve farkındalık programları</a:t>
            </a:r>
            <a:endParaRPr lang="tr-TR" sz="2000">
              <a:solidFill>
                <a:srgbClr val="0F1015"/>
              </a:solidFill>
            </a:endParaRPr>
          </a:p>
          <a:p>
            <a:pPr>
              <a:lnSpc>
                <a:spcPts val="1650"/>
              </a:lnSpc>
            </a:pPr>
            <a:r>
              <a:rPr lang="tr-TR" sz="2000" b="1">
                <a:solidFill>
                  <a:srgbClr val="0F1015"/>
                </a:solidFill>
              </a:rPr>
              <a:t>Yasal sınır değerlerin</a:t>
            </a:r>
            <a:r>
              <a:rPr lang="tr-TR" sz="2000">
                <a:solidFill>
                  <a:srgbClr val="0F1015"/>
                </a:solidFill>
              </a:rPr>
              <a:t> izlenmesi ve raporlanması</a:t>
            </a:r>
          </a:p>
          <a:p>
            <a:pPr marL="0" indent="0">
              <a:buNone/>
            </a:pPr>
            <a:endParaRPr lang="tr-TR" sz="2000" b="1"/>
          </a:p>
          <a:p>
            <a:endParaRPr lang="tr-TR" sz="1900" b="1"/>
          </a:p>
        </p:txBody>
      </p:sp>
    </p:spTree>
    <p:extLst>
      <p:ext uri="{BB962C8B-B14F-4D97-AF65-F5344CB8AC3E}">
        <p14:creationId xmlns:p14="http://schemas.microsoft.com/office/powerpoint/2010/main" val="13149289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9C6712-E1FA-FDC1-71B1-0CDCFAA7AD8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F8B66D3-A708-0391-2468-789FE2AF8F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BCE28FB1-E426-F8B9-EDB6-D60AEF03A3FD}"/>
              </a:ext>
            </a:extLst>
          </p:cNvPr>
          <p:cNvSpPr>
            <a:spLocks noGrp="1"/>
          </p:cNvSpPr>
          <p:nvPr>
            <p:ph type="title"/>
          </p:nvPr>
        </p:nvSpPr>
        <p:spPr>
          <a:xfrm>
            <a:off x="329783" y="365125"/>
            <a:ext cx="11647357" cy="1325563"/>
          </a:xfrm>
        </p:spPr>
        <p:txBody>
          <a:bodyPr>
            <a:normAutofit fontScale="90000"/>
          </a:bodyPr>
          <a:lstStyle/>
          <a:p>
            <a:br>
              <a:rPr lang="tr-TR" sz="2600"/>
            </a:br>
            <a:r>
              <a:rPr lang="tr-TR" b="1">
                <a:solidFill>
                  <a:schemeClr val="accent2"/>
                </a:solidFill>
              </a:rPr>
              <a:t>Sağlık Riski Oluşturan Tehlikelerin Değerlendirilmesi</a:t>
            </a:r>
            <a:br>
              <a:rPr lang="tr-TR" sz="2600"/>
            </a:br>
            <a:endParaRPr lang="tr-TR" sz="2600"/>
          </a:p>
        </p:txBody>
      </p:sp>
      <p:sp>
        <p:nvSpPr>
          <p:cNvPr id="10" name="sketch line">
            <a:extLst>
              <a:ext uri="{FF2B5EF4-FFF2-40B4-BE49-F238E27FC236}">
                <a16:creationId xmlns:a16="http://schemas.microsoft.com/office/drawing/2014/main" id="{578C1209-46CF-7A90-AB8C-BF429DAD21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3C5A828-EC19-03CB-0492-B256BC4C2E9C}"/>
              </a:ext>
            </a:extLst>
          </p:cNvPr>
          <p:cNvSpPr>
            <a:spLocks noGrp="1"/>
          </p:cNvSpPr>
          <p:nvPr>
            <p:ph idx="1"/>
          </p:nvPr>
        </p:nvSpPr>
        <p:spPr>
          <a:xfrm>
            <a:off x="669036" y="1929384"/>
            <a:ext cx="11308104" cy="4696268"/>
          </a:xfrm>
        </p:spPr>
        <p:txBody>
          <a:bodyPr>
            <a:normAutofit fontScale="700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1. Tehlikelerin Tanımlanması (Belirleme Aşaması)</a:t>
            </a:r>
            <a:endParaRPr kumimoji="0" lang="tr-TR" sz="2200" b="0" i="0" u="none" strike="noStrike" kern="1200" cap="none" spc="0" normalizeH="0" baseline="0" noProof="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Çalışma ortamında bulunan </a:t>
            </a: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tüm potansiyel zararlı etkenler</a:t>
            </a: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 belirlenir:</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Kimyasal:</a:t>
            </a: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 Gazlar, buharlar, tozlar, çözücüler</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Fiziksel:</a:t>
            </a: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 Gürültü, titreşim, radyasyon, sıcaklık</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Biyolojik:</a:t>
            </a: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 Mikroorganizmalar, mantarlar, virüsler</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Ergonomik ve psikososyal:</a:t>
            </a: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 Uygun olmayan duruş, stres, vardiya düzeni</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Bu aşamada </a:t>
            </a: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iş akışları, kullanılan maddeler, ekipmanlar ve çalışma koşulları</a:t>
            </a: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 incelenir.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tr-TR" sz="2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2. Maruziyetin Değerlendirilmesi</a:t>
            </a:r>
            <a:endParaRPr kumimoji="0" lang="tr-TR" sz="2200" b="0" i="0" u="none" strike="noStrike" kern="1200" cap="none" spc="0" normalizeH="0" baseline="0" noProof="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Çalışanların bu tehlikelere </a:t>
            </a: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ne kadar, ne sıklıkta ve ne süreyle</a:t>
            </a: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 maruz kaldığı belirlenir.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Ölçüm ve izleme yöntemleri kullanılır:</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Hava örneklemesi (toz, gaz, buhar ölçümü)</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Gürültü ve titreşim ölçümleri</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Aydınlatma, sıcaklık, nem analizleri</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Biyolojik izleme (kan, idrar testleri)</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Maruziyet değerleri, </a:t>
            </a:r>
            <a:r>
              <a:rPr kumimoji="0" lang="tr-TR" sz="2200" b="1" i="0" u="none" strike="noStrike" kern="1200" cap="none" spc="0" normalizeH="0" baseline="0" noProof="0">
                <a:ln>
                  <a:noFill/>
                </a:ln>
                <a:solidFill>
                  <a:prstClr val="black"/>
                </a:solidFill>
                <a:effectLst/>
                <a:uLnTx/>
                <a:uFillTx/>
                <a:latin typeface="Aptos" panose="02110004020202020204"/>
                <a:ea typeface="+mn-ea"/>
                <a:cs typeface="+mn-cs"/>
              </a:rPr>
              <a:t>yasal sınır değerlerle</a:t>
            </a:r>
            <a:r>
              <a:rPr kumimoji="0" lang="tr-TR" sz="2200" b="0" i="0" u="none" strike="noStrike" kern="1200" cap="none" spc="0" normalizeH="0" baseline="0" noProof="0">
                <a:ln>
                  <a:noFill/>
                </a:ln>
                <a:solidFill>
                  <a:prstClr val="black"/>
                </a:solidFill>
                <a:effectLst/>
                <a:uLnTx/>
                <a:uFillTx/>
                <a:latin typeface="Aptos" panose="02110004020202020204"/>
                <a:ea typeface="+mn-ea"/>
                <a:cs typeface="+mn-cs"/>
              </a:rPr>
              <a:t> (örneğin MAK, TLV, OEL) karşılaştırılır.</a:t>
            </a:r>
          </a:p>
          <a:p>
            <a:pPr marL="0" indent="0">
              <a:buNone/>
            </a:pPr>
            <a:endParaRPr lang="tr-TR" sz="2000" b="1"/>
          </a:p>
          <a:p>
            <a:endParaRPr lang="tr-TR" sz="1900" b="1"/>
          </a:p>
        </p:txBody>
      </p:sp>
    </p:spTree>
    <p:extLst>
      <p:ext uri="{BB962C8B-B14F-4D97-AF65-F5344CB8AC3E}">
        <p14:creationId xmlns:p14="http://schemas.microsoft.com/office/powerpoint/2010/main" val="3192059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898793-C30B-9C96-D501-1F11F79D2B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FA8C885-9BFD-7367-996D-DB8EB1E8A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9A36CB64-3CD7-CE21-4080-D8AEF0A45399}"/>
              </a:ext>
            </a:extLst>
          </p:cNvPr>
          <p:cNvSpPr>
            <a:spLocks noGrp="1"/>
          </p:cNvSpPr>
          <p:nvPr>
            <p:ph type="title"/>
          </p:nvPr>
        </p:nvSpPr>
        <p:spPr>
          <a:xfrm>
            <a:off x="329783" y="365125"/>
            <a:ext cx="11647357" cy="1325563"/>
          </a:xfrm>
        </p:spPr>
        <p:txBody>
          <a:bodyPr>
            <a:normAutofit fontScale="90000"/>
          </a:bodyPr>
          <a:lstStyle/>
          <a:p>
            <a:br>
              <a:rPr lang="tr-TR" sz="2600"/>
            </a:br>
            <a:r>
              <a:rPr lang="tr-TR" b="1">
                <a:solidFill>
                  <a:schemeClr val="accent2"/>
                </a:solidFill>
              </a:rPr>
              <a:t>Sağlık Riski Oluşturan Tehlikelerin Değerlendirilmesi</a:t>
            </a:r>
            <a:br>
              <a:rPr lang="tr-TR" sz="2600"/>
            </a:br>
            <a:endParaRPr lang="tr-TR" sz="2600"/>
          </a:p>
        </p:txBody>
      </p:sp>
      <p:sp>
        <p:nvSpPr>
          <p:cNvPr id="10" name="sketch line">
            <a:extLst>
              <a:ext uri="{FF2B5EF4-FFF2-40B4-BE49-F238E27FC236}">
                <a16:creationId xmlns:a16="http://schemas.microsoft.com/office/drawing/2014/main" id="{C397B4DB-670B-0877-5A6E-70A08F5223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4970DC7-BFAF-ED3E-447E-9E06A4B44534}"/>
              </a:ext>
            </a:extLst>
          </p:cNvPr>
          <p:cNvSpPr>
            <a:spLocks noGrp="1"/>
          </p:cNvSpPr>
          <p:nvPr>
            <p:ph idx="1"/>
          </p:nvPr>
        </p:nvSpPr>
        <p:spPr>
          <a:xfrm>
            <a:off x="669036" y="1929384"/>
            <a:ext cx="11308104" cy="4696268"/>
          </a:xfrm>
        </p:spPr>
        <p:txBody>
          <a:bodyPr>
            <a:normAutofit lnSpcReduction="10000"/>
          </a:bodyPr>
          <a:lstStyle/>
          <a:p>
            <a:pPr marL="0" indent="0">
              <a:buNone/>
            </a:pPr>
            <a:r>
              <a:rPr lang="tr-TR" sz="2000" b="1"/>
              <a:t>3. Riskin Analizi ve Değerlendirilmesi</a:t>
            </a:r>
            <a:endParaRPr lang="tr-TR" sz="2000"/>
          </a:p>
          <a:p>
            <a:r>
              <a:rPr lang="tr-TR" sz="2000"/>
              <a:t>Her tehlike için </a:t>
            </a:r>
            <a:r>
              <a:rPr lang="tr-TR" sz="2000" b="1"/>
              <a:t>olasılık × şiddet</a:t>
            </a:r>
            <a:r>
              <a:rPr lang="tr-TR" sz="2000"/>
              <a:t> formülüyle risk düzeyi hesaplanır.</a:t>
            </a:r>
          </a:p>
          <a:p>
            <a:r>
              <a:rPr lang="tr-TR" sz="2000"/>
              <a:t>Riskler </a:t>
            </a:r>
            <a:r>
              <a:rPr lang="tr-TR" sz="2000" b="1"/>
              <a:t>yüksek, orta, düşük</a:t>
            </a:r>
            <a:r>
              <a:rPr lang="tr-TR" sz="2000"/>
              <a:t> olarak sınıflandırılır.</a:t>
            </a:r>
          </a:p>
          <a:p>
            <a:r>
              <a:rPr lang="tr-TR" sz="2000"/>
              <a:t>Öncelik, </a:t>
            </a:r>
            <a:r>
              <a:rPr lang="tr-TR" sz="2000" b="1"/>
              <a:t>yüksek riskli</a:t>
            </a:r>
            <a:r>
              <a:rPr lang="tr-TR" sz="2000"/>
              <a:t> tehlikelerin kontrol altına alınmasına verilir.</a:t>
            </a:r>
          </a:p>
          <a:p>
            <a:pPr marL="0" indent="0">
              <a:buNone/>
            </a:pPr>
            <a:endParaRPr lang="tr-TR" sz="2000"/>
          </a:p>
          <a:p>
            <a:pPr marL="0" indent="0">
              <a:buNone/>
            </a:pPr>
            <a:r>
              <a:rPr lang="tr-TR" sz="2000" b="1"/>
              <a:t>4. Kontrol Önlemlerinin Planlanması</a:t>
            </a:r>
            <a:br>
              <a:rPr lang="tr-TR" sz="2000"/>
            </a:br>
            <a:r>
              <a:rPr lang="tr-TR" sz="2000"/>
              <a:t>     Risk değerlendirmesi sonucunda, </a:t>
            </a:r>
            <a:r>
              <a:rPr lang="tr-TR" sz="2000" b="1"/>
              <a:t>önleme hiyerarşisine</a:t>
            </a:r>
            <a:r>
              <a:rPr lang="tr-TR" sz="2000"/>
              <a:t> göre kontrol önlemleri belirlenir:</a:t>
            </a:r>
          </a:p>
          <a:p>
            <a:r>
              <a:rPr lang="tr-TR" sz="2000" b="1"/>
              <a:t>Ortadan kaldırma:</a:t>
            </a:r>
            <a:r>
              <a:rPr lang="tr-TR" sz="2000"/>
              <a:t> Tehlikeli madde veya işlemi tamamen kaldırmak</a:t>
            </a:r>
          </a:p>
          <a:p>
            <a:r>
              <a:rPr lang="tr-TR" sz="2000" b="1"/>
              <a:t>İkame:</a:t>
            </a:r>
            <a:r>
              <a:rPr lang="tr-TR" sz="2000"/>
              <a:t> Daha az zararlı madde veya yöntemle değiştirmek</a:t>
            </a:r>
          </a:p>
          <a:p>
            <a:r>
              <a:rPr lang="tr-TR" sz="2000" b="1"/>
              <a:t>Mühendislik önlemleri:</a:t>
            </a:r>
            <a:r>
              <a:rPr lang="tr-TR" sz="2000"/>
              <a:t> Havalandırma, izolasyon, otomasyon</a:t>
            </a:r>
          </a:p>
          <a:p>
            <a:r>
              <a:rPr lang="tr-TR" sz="2000" b="1"/>
              <a:t>İdari önlemler:</a:t>
            </a:r>
            <a:r>
              <a:rPr lang="tr-TR" sz="2000"/>
              <a:t> Çalışma süresi, vardiya düzeni, eğitim</a:t>
            </a:r>
          </a:p>
          <a:p>
            <a:r>
              <a:rPr lang="tr-TR" sz="2000" b="1"/>
              <a:t>Kişisel koruyucu donanım (KKD):</a:t>
            </a:r>
            <a:r>
              <a:rPr lang="tr-TR" sz="2000"/>
              <a:t> Maske, eldiven, gözlük, kulaklık</a:t>
            </a:r>
          </a:p>
          <a:p>
            <a:pPr marL="0" indent="0">
              <a:buNone/>
            </a:pPr>
            <a:endParaRPr lang="tr-TR" sz="1900" b="1"/>
          </a:p>
        </p:txBody>
      </p:sp>
    </p:spTree>
    <p:extLst>
      <p:ext uri="{BB962C8B-B14F-4D97-AF65-F5344CB8AC3E}">
        <p14:creationId xmlns:p14="http://schemas.microsoft.com/office/powerpoint/2010/main" val="3043195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572E1C-74CB-F482-2BDF-10545C116E6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C08559-9297-C9F1-5498-E34CD49F4A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9D13994E-DA00-CAF2-B9E4-8E3B257CC96B}"/>
              </a:ext>
            </a:extLst>
          </p:cNvPr>
          <p:cNvSpPr>
            <a:spLocks noGrp="1"/>
          </p:cNvSpPr>
          <p:nvPr>
            <p:ph type="title"/>
          </p:nvPr>
        </p:nvSpPr>
        <p:spPr>
          <a:xfrm>
            <a:off x="329783" y="365125"/>
            <a:ext cx="11647357" cy="1325563"/>
          </a:xfrm>
        </p:spPr>
        <p:txBody>
          <a:bodyPr>
            <a:normAutofit fontScale="90000"/>
          </a:bodyPr>
          <a:lstStyle/>
          <a:p>
            <a:br>
              <a:rPr lang="tr-TR" sz="2600"/>
            </a:br>
            <a:r>
              <a:rPr lang="tr-TR" b="1">
                <a:solidFill>
                  <a:schemeClr val="accent2"/>
                </a:solidFill>
              </a:rPr>
              <a:t>Sağlık Riski Oluşturan Tehlikelerin Değerlendirilmesi</a:t>
            </a:r>
            <a:br>
              <a:rPr lang="tr-TR" sz="2600"/>
            </a:br>
            <a:endParaRPr lang="tr-TR" sz="2600"/>
          </a:p>
        </p:txBody>
      </p:sp>
      <p:sp>
        <p:nvSpPr>
          <p:cNvPr id="10" name="sketch line">
            <a:extLst>
              <a:ext uri="{FF2B5EF4-FFF2-40B4-BE49-F238E27FC236}">
                <a16:creationId xmlns:a16="http://schemas.microsoft.com/office/drawing/2014/main" id="{331B9411-866B-C986-24D6-633C62D872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F4720FE2-95C9-9863-B935-3857C0FAB472}"/>
              </a:ext>
            </a:extLst>
          </p:cNvPr>
          <p:cNvSpPr>
            <a:spLocks noGrp="1"/>
          </p:cNvSpPr>
          <p:nvPr>
            <p:ph idx="1"/>
          </p:nvPr>
        </p:nvSpPr>
        <p:spPr>
          <a:xfrm>
            <a:off x="669036" y="1929384"/>
            <a:ext cx="11308104" cy="4696268"/>
          </a:xfrm>
        </p:spPr>
        <p:txBody>
          <a:bodyPr>
            <a:normAutofit fontScale="85000" lnSpcReduction="20000"/>
          </a:bodyPr>
          <a:lstStyle/>
          <a:p>
            <a:pPr marL="0" indent="0">
              <a:buNone/>
            </a:pPr>
            <a:r>
              <a:rPr lang="tr-TR" sz="2400" b="1"/>
              <a:t>5. İzleme, Gözden Geçirme ve Sürekli İyileştirme</a:t>
            </a:r>
            <a:endParaRPr lang="tr-TR" sz="2400"/>
          </a:p>
          <a:p>
            <a:r>
              <a:rPr lang="tr-TR" sz="2400"/>
              <a:t>Risk değerlendirmesi </a:t>
            </a:r>
            <a:r>
              <a:rPr lang="tr-TR" sz="2400" b="1"/>
              <a:t>düzenli aralıklarla</a:t>
            </a:r>
            <a:r>
              <a:rPr lang="tr-TR" sz="2400"/>
              <a:t> veya çalışma koşulları değiştiğinde yenilenmelidir.</a:t>
            </a:r>
          </a:p>
          <a:p>
            <a:r>
              <a:rPr lang="tr-TR" sz="2400"/>
              <a:t>Ölçüm sonuçları, sağlık gözetimi verileri ve çalışan geri bildirimleri dikkate alınarak süreç sürekli iyileştirilir.</a:t>
            </a:r>
          </a:p>
          <a:p>
            <a:endParaRPr lang="tr-TR" sz="2400"/>
          </a:p>
          <a:p>
            <a:pPr marL="0" indent="0">
              <a:buNone/>
            </a:pPr>
            <a:r>
              <a:rPr lang="tr-TR" sz="2400" b="1"/>
              <a:t>6. Belgelendirme ve Raporlama</a:t>
            </a:r>
            <a:endParaRPr lang="tr-TR" sz="2400"/>
          </a:p>
          <a:p>
            <a:r>
              <a:rPr lang="tr-TR" sz="2400"/>
              <a:t>Tüm değerlendirme sonuçları, ölçüm raporları ve alınan önlemler </a:t>
            </a:r>
            <a:r>
              <a:rPr lang="tr-TR" sz="2400" b="1"/>
              <a:t>dokümante edilmelidir.</a:t>
            </a:r>
            <a:endParaRPr lang="tr-TR" sz="2400"/>
          </a:p>
          <a:p>
            <a:r>
              <a:rPr lang="tr-TR" sz="2400"/>
              <a:t>Bu belgeler, hem yasal gerekliliklerin takibi hem de iş hijyeni yönetim sisteminin sürdürülebilirliği için gereklidir.</a:t>
            </a:r>
          </a:p>
          <a:p>
            <a:endParaRPr lang="tr-TR" sz="2400"/>
          </a:p>
          <a:p>
            <a:pPr marL="0" indent="0">
              <a:buNone/>
            </a:pPr>
            <a:r>
              <a:rPr lang="tr-TR" sz="2400"/>
              <a:t>    Kısacası, iş hijyeninde sağlık riski değerlendirmesi </a:t>
            </a:r>
            <a:r>
              <a:rPr lang="tr-TR" sz="2400" b="1"/>
              <a:t>tanımlama, ölçüm, analiz, kontrol ve izleme</a:t>
            </a:r>
            <a:r>
              <a:rPr lang="tr-TR" sz="2400"/>
              <a:t> aşamalarından oluşan döngüsel bir süreçtir. Bu yaklaşım, çalışan sağlığını korumanın ve güvenli bir çalışma ortamı oluşturmanın temelini oluşturur.</a:t>
            </a:r>
          </a:p>
          <a:p>
            <a:endParaRPr lang="tr-TR" sz="1900" b="1"/>
          </a:p>
        </p:txBody>
      </p:sp>
    </p:spTree>
    <p:extLst>
      <p:ext uri="{BB962C8B-B14F-4D97-AF65-F5344CB8AC3E}">
        <p14:creationId xmlns:p14="http://schemas.microsoft.com/office/powerpoint/2010/main" val="2686953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0437D90D-A88B-B6EC-89E9-CD5DBC484DA2}"/>
              </a:ext>
            </a:extLst>
          </p:cNvPr>
          <p:cNvSpPr>
            <a:spLocks noGrp="1"/>
          </p:cNvSpPr>
          <p:nvPr>
            <p:ph type="title"/>
          </p:nvPr>
        </p:nvSpPr>
        <p:spPr>
          <a:xfrm>
            <a:off x="640080" y="1243013"/>
            <a:ext cx="3855720" cy="4371974"/>
          </a:xfrm>
        </p:spPr>
        <p:txBody>
          <a:bodyPr>
            <a:normAutofit/>
          </a:bodyPr>
          <a:lstStyle/>
          <a:p>
            <a:r>
              <a:rPr lang="tr-TR" sz="3600" b="1">
                <a:solidFill>
                  <a:srgbClr val="C00000"/>
                </a:solidFill>
              </a:rPr>
              <a:t>Tehlikeleri Önleyici Kontrol Yöntemleri</a:t>
            </a:r>
            <a:endParaRPr lang="tr-TR" sz="3600">
              <a:solidFill>
                <a:srgbClr val="C00000"/>
              </a:solidFill>
            </a:endParaRPr>
          </a:p>
        </p:txBody>
      </p:sp>
      <p:sp>
        <p:nvSpPr>
          <p:cNvPr id="3" name="İçerik Yer Tutucusu 2">
            <a:extLst>
              <a:ext uri="{FF2B5EF4-FFF2-40B4-BE49-F238E27FC236}">
                <a16:creationId xmlns:a16="http://schemas.microsoft.com/office/drawing/2014/main" id="{1A6B7DBC-AE5E-07E4-9387-BE381D710AF4}"/>
              </a:ext>
            </a:extLst>
          </p:cNvPr>
          <p:cNvSpPr>
            <a:spLocks noGrp="1"/>
          </p:cNvSpPr>
          <p:nvPr>
            <p:ph idx="1"/>
          </p:nvPr>
        </p:nvSpPr>
        <p:spPr>
          <a:xfrm>
            <a:off x="6172200" y="804672"/>
            <a:ext cx="5221224" cy="5230368"/>
          </a:xfrm>
        </p:spPr>
        <p:txBody>
          <a:bodyPr anchor="ctr">
            <a:normAutofit/>
          </a:bodyPr>
          <a:lstStyle/>
          <a:p>
            <a:pPr marL="0" indent="0">
              <a:buNone/>
            </a:pPr>
            <a:r>
              <a:rPr lang="tr-TR" sz="1800">
                <a:solidFill>
                  <a:schemeClr val="tx2"/>
                </a:solidFill>
              </a:rPr>
              <a:t>    </a:t>
            </a:r>
            <a:r>
              <a:rPr lang="tr-TR" sz="2000"/>
              <a:t>Çalışanların zararlı etkenlere maruziyetini azaltmak veya tamamen ortadan kaldırmak için uygulanan sistematik önlemlerdir. Bu yöntemler, </a:t>
            </a:r>
            <a:r>
              <a:rPr lang="tr-TR" sz="2000" b="1"/>
              <a:t>önleme hiyerarşisi</a:t>
            </a:r>
            <a:r>
              <a:rPr lang="tr-TR" sz="2000"/>
              <a:t> çerçevesinde değerlendirilir ve en etkili olandan en az etkili olana doğru sıralanır.</a:t>
            </a:r>
          </a:p>
          <a:p>
            <a:pPr marL="0" indent="0">
              <a:buNone/>
            </a:pPr>
            <a:endParaRPr lang="tr-TR" sz="2000"/>
          </a:p>
          <a:p>
            <a:pPr marL="514350" indent="-514350">
              <a:buFont typeface="+mj-lt"/>
              <a:buAutoNum type="arabicPeriod"/>
            </a:pPr>
            <a:r>
              <a:rPr lang="tr-TR" sz="2000"/>
              <a:t>Tehlike Kaynaklarını Giderme</a:t>
            </a:r>
          </a:p>
          <a:p>
            <a:pPr marL="514350" indent="-514350">
              <a:buFont typeface="+mj-lt"/>
              <a:buAutoNum type="arabicPeriod"/>
            </a:pPr>
            <a:r>
              <a:rPr lang="tr-TR" sz="2000"/>
              <a:t>Kirli Havanın Dağılmasını Önleme</a:t>
            </a:r>
          </a:p>
          <a:p>
            <a:pPr marL="514350" indent="-514350">
              <a:buFont typeface="+mj-lt"/>
              <a:buAutoNum type="arabicPeriod"/>
            </a:pPr>
            <a:r>
              <a:rPr lang="tr-TR" sz="2000"/>
              <a:t>İşçileri Tehlikelerden Korumak</a:t>
            </a:r>
          </a:p>
          <a:p>
            <a:pPr marL="0" indent="0">
              <a:buNone/>
            </a:pPr>
            <a:endParaRPr lang="tr-TR" sz="1800">
              <a:solidFill>
                <a:schemeClr val="tx2"/>
              </a:solidFill>
            </a:endParaRPr>
          </a:p>
        </p:txBody>
      </p:sp>
    </p:spTree>
    <p:extLst>
      <p:ext uri="{BB962C8B-B14F-4D97-AF65-F5344CB8AC3E}">
        <p14:creationId xmlns:p14="http://schemas.microsoft.com/office/powerpoint/2010/main" val="2483771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CA512-B4D0-7AD1-396C-57084703B8F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1729F32-E381-27BB-FD8F-9E0EFFBE13C9}"/>
              </a:ext>
            </a:extLst>
          </p:cNvPr>
          <p:cNvSpPr>
            <a:spLocks noGrp="1"/>
          </p:cNvSpPr>
          <p:nvPr>
            <p:ph type="title"/>
          </p:nvPr>
        </p:nvSpPr>
        <p:spPr/>
        <p:txBody>
          <a:bodyPr>
            <a:normAutofit/>
          </a:bodyPr>
          <a:lstStyle/>
          <a:p>
            <a:r>
              <a:rPr lang="tr-TR" sz="4000" b="1">
                <a:solidFill>
                  <a:srgbClr val="C00000"/>
                </a:solidFill>
              </a:rPr>
              <a:t>Tehlikeleri Önleyici Kontrol Yöntemleri</a:t>
            </a:r>
            <a:endParaRPr lang="tr-TR" sz="4000">
              <a:solidFill>
                <a:srgbClr val="C00000"/>
              </a:solidFill>
            </a:endParaRPr>
          </a:p>
        </p:txBody>
      </p:sp>
      <p:sp>
        <p:nvSpPr>
          <p:cNvPr id="3" name="İçerik Yer Tutucusu 2">
            <a:extLst>
              <a:ext uri="{FF2B5EF4-FFF2-40B4-BE49-F238E27FC236}">
                <a16:creationId xmlns:a16="http://schemas.microsoft.com/office/drawing/2014/main" id="{A25C9FB6-B690-4D5F-4F6C-648D924F7506}"/>
              </a:ext>
            </a:extLst>
          </p:cNvPr>
          <p:cNvSpPr>
            <a:spLocks noGrp="1"/>
          </p:cNvSpPr>
          <p:nvPr>
            <p:ph idx="1"/>
          </p:nvPr>
        </p:nvSpPr>
        <p:spPr/>
        <p:txBody>
          <a:bodyPr>
            <a:normAutofit fontScale="92500" lnSpcReduction="20000"/>
          </a:bodyPr>
          <a:lstStyle/>
          <a:p>
            <a:pPr marL="514350" indent="-514350">
              <a:buFont typeface="+mj-lt"/>
              <a:buAutoNum type="arabicPeriod"/>
            </a:pPr>
            <a:r>
              <a:rPr lang="tr-TR" u="sng"/>
              <a:t>Tehlike Kaynaklarını Giderme</a:t>
            </a:r>
          </a:p>
          <a:p>
            <a:pPr marL="0" indent="0">
              <a:buNone/>
            </a:pPr>
            <a:endParaRPr lang="tr-TR" u="sng"/>
          </a:p>
          <a:p>
            <a:r>
              <a:rPr lang="tr-TR" sz="2400" b="1"/>
              <a:t>Tesisat ve teçhizat değişikliği</a:t>
            </a:r>
            <a:endParaRPr lang="tr-TR" sz="2400"/>
          </a:p>
          <a:p>
            <a:pPr marL="0" indent="0">
              <a:buNone/>
            </a:pPr>
            <a:r>
              <a:rPr lang="tr-TR" sz="2400"/>
              <a:t>    İş yerinde makinelerin, ekipmanların, üretim hatlarının, havalandırma, elektrik, gaz, buhar gibi sistemlerin </a:t>
            </a:r>
            <a:r>
              <a:rPr lang="tr-TR" sz="2400" b="1"/>
              <a:t>yenilenmesi, değiştirilmesi veya modernize edilmesi</a:t>
            </a:r>
            <a:r>
              <a:rPr lang="tr-TR" sz="2400"/>
              <a:t> anlamına gelir.  Bu değişiklikler, </a:t>
            </a:r>
            <a:r>
              <a:rPr lang="tr-TR" sz="2400" b="1"/>
              <a:t>çalışanın maruziyetini azaltmaya yönelik mühendislik önlemleri</a:t>
            </a:r>
            <a:r>
              <a:rPr lang="tr-TR" sz="2400"/>
              <a:t> olarak değerlendirilir.</a:t>
            </a:r>
          </a:p>
          <a:p>
            <a:pPr marL="0" indent="0">
              <a:buNone/>
            </a:pPr>
            <a:endParaRPr lang="tr-TR" sz="2400"/>
          </a:p>
          <a:p>
            <a:r>
              <a:rPr lang="tr-TR" sz="2400" b="1"/>
              <a:t>Zehirli Olmayan veya Daha Az Zehirli Olan Maddelerin Kullanılması</a:t>
            </a:r>
            <a:endParaRPr lang="tr-TR" sz="2400"/>
          </a:p>
          <a:p>
            <a:pPr marL="0" indent="0">
              <a:buNone/>
            </a:pPr>
            <a:r>
              <a:rPr lang="tr-TR" sz="2400"/>
              <a:t>   Çoğu zaman, üretimin niteliği ve niceliği bakımından bunu başarmak zor olmaktadır. Bu durum, değişiklik yapılmadan önce dikkatle göz önünde bulundurulmalıdır.</a:t>
            </a:r>
          </a:p>
          <a:p>
            <a:pPr marL="0" indent="0">
              <a:buNone/>
            </a:pPr>
            <a:endParaRPr lang="tr-TR"/>
          </a:p>
          <a:p>
            <a:pPr marL="0" indent="0">
              <a:buNone/>
            </a:pPr>
            <a:endParaRPr lang="tr-TR"/>
          </a:p>
          <a:p>
            <a:pPr marL="0" indent="0">
              <a:buNone/>
            </a:pPr>
            <a:endParaRPr lang="tr-TR"/>
          </a:p>
        </p:txBody>
      </p:sp>
    </p:spTree>
    <p:extLst>
      <p:ext uri="{BB962C8B-B14F-4D97-AF65-F5344CB8AC3E}">
        <p14:creationId xmlns:p14="http://schemas.microsoft.com/office/powerpoint/2010/main" val="3832974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2E38F-4B99-9FC5-8D5B-C0239AB0EC3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A298C50-7341-1974-F113-B78A6FACF0BD}"/>
              </a:ext>
            </a:extLst>
          </p:cNvPr>
          <p:cNvSpPr>
            <a:spLocks noGrp="1"/>
          </p:cNvSpPr>
          <p:nvPr>
            <p:ph type="title"/>
          </p:nvPr>
        </p:nvSpPr>
        <p:spPr/>
        <p:txBody>
          <a:bodyPr>
            <a:normAutofit/>
          </a:bodyPr>
          <a:lstStyle/>
          <a:p>
            <a:r>
              <a:rPr lang="tr-TR" sz="4000" b="1">
                <a:solidFill>
                  <a:srgbClr val="C00000"/>
                </a:solidFill>
              </a:rPr>
              <a:t>Tehlikeleri Önleyici Kontrol Yöntemleri</a:t>
            </a:r>
            <a:endParaRPr lang="tr-TR" sz="4000">
              <a:solidFill>
                <a:srgbClr val="C00000"/>
              </a:solidFill>
            </a:endParaRPr>
          </a:p>
        </p:txBody>
      </p:sp>
      <p:pic>
        <p:nvPicPr>
          <p:cNvPr id="5" name="İçerik Yer Tutucusu 4" descr="metin, ekran görüntüsü, yazı tipi, sayı, numara içeren bir resim&#10;&#10;Yapay zeka tarafından oluşturulmuş içerik yanlış olabilir.">
            <a:extLst>
              <a:ext uri="{FF2B5EF4-FFF2-40B4-BE49-F238E27FC236}">
                <a16:creationId xmlns:a16="http://schemas.microsoft.com/office/drawing/2014/main" id="{F55972EE-8265-A4B8-0305-C33454BDC9F5}"/>
              </a:ext>
            </a:extLst>
          </p:cNvPr>
          <p:cNvPicPr>
            <a:picLocks noGrp="1" noChangeAspect="1"/>
          </p:cNvPicPr>
          <p:nvPr>
            <p:ph idx="1"/>
          </p:nvPr>
        </p:nvPicPr>
        <p:blipFill>
          <a:blip r:embed="rId2"/>
          <a:stretch>
            <a:fillRect/>
          </a:stretch>
        </p:blipFill>
        <p:spPr>
          <a:xfrm>
            <a:off x="556706" y="2414484"/>
            <a:ext cx="11081907" cy="2713218"/>
          </a:xfrm>
          <a:prstGeom prst="rect">
            <a:avLst/>
          </a:prstGeom>
        </p:spPr>
      </p:pic>
    </p:spTree>
    <p:extLst>
      <p:ext uri="{BB962C8B-B14F-4D97-AF65-F5344CB8AC3E}">
        <p14:creationId xmlns:p14="http://schemas.microsoft.com/office/powerpoint/2010/main" val="4169952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F961-9AB0-7C65-16D6-BBC0692CD74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010D518-1C7B-A98D-EC59-9A31FD5E9969}"/>
              </a:ext>
            </a:extLst>
          </p:cNvPr>
          <p:cNvSpPr>
            <a:spLocks noGrp="1"/>
          </p:cNvSpPr>
          <p:nvPr>
            <p:ph type="title"/>
          </p:nvPr>
        </p:nvSpPr>
        <p:spPr/>
        <p:txBody>
          <a:bodyPr>
            <a:normAutofit/>
          </a:bodyPr>
          <a:lstStyle/>
          <a:p>
            <a:r>
              <a:rPr lang="tr-TR" sz="4000" b="1">
                <a:solidFill>
                  <a:srgbClr val="C00000"/>
                </a:solidFill>
              </a:rPr>
              <a:t>Tehlikeleri Önleyici Kontrol Yöntemleri</a:t>
            </a:r>
            <a:endParaRPr lang="tr-TR" sz="4000">
              <a:solidFill>
                <a:srgbClr val="C00000"/>
              </a:solidFill>
            </a:endParaRPr>
          </a:p>
        </p:txBody>
      </p:sp>
      <p:sp>
        <p:nvSpPr>
          <p:cNvPr id="3" name="İçerik Yer Tutucusu 2">
            <a:extLst>
              <a:ext uri="{FF2B5EF4-FFF2-40B4-BE49-F238E27FC236}">
                <a16:creationId xmlns:a16="http://schemas.microsoft.com/office/drawing/2014/main" id="{0FC251AD-215B-2C17-4632-D8DCFEA84EA5}"/>
              </a:ext>
            </a:extLst>
          </p:cNvPr>
          <p:cNvSpPr>
            <a:spLocks noGrp="1"/>
          </p:cNvSpPr>
          <p:nvPr>
            <p:ph idx="1"/>
          </p:nvPr>
        </p:nvSpPr>
        <p:spPr>
          <a:xfrm>
            <a:off x="614597" y="1825624"/>
            <a:ext cx="10739203" cy="4904959"/>
          </a:xfrm>
        </p:spPr>
        <p:txBody>
          <a:bodyPr>
            <a:normAutofit fontScale="62500" lnSpcReduction="20000"/>
          </a:bodyPr>
          <a:lstStyle/>
          <a:p>
            <a:r>
              <a:rPr lang="tr-TR" b="1"/>
              <a:t>Üretim Yöntemini Değiştirme</a:t>
            </a:r>
            <a:endParaRPr lang="tr-TR"/>
          </a:p>
          <a:p>
            <a:pPr marL="0" indent="0">
              <a:buNone/>
            </a:pPr>
            <a:r>
              <a:rPr lang="tr-TR"/>
              <a:t>   Üretim yöntemlerinin sık sık değiştirilmesi, meslek hastalıklarını meydana getiren tehlikeleri kısmen veya tamamen ortadan kaldırabilir. Genellikle, işyerindeki büyük değişikliklerde Maliyet Artışları dikkatle göz önünde bulundurulmalıdır.</a:t>
            </a:r>
          </a:p>
          <a:p>
            <a:pPr marL="0" indent="0">
              <a:buNone/>
            </a:pPr>
            <a:r>
              <a:rPr lang="tr-TR"/>
              <a:t>   Bu konuda bazı örnekler:</a:t>
            </a:r>
          </a:p>
          <a:p>
            <a:pPr>
              <a:buFont typeface="Wingdings" panose="05000000000000000000" pitchFamily="2" charset="2"/>
              <a:buChar char="Ø"/>
            </a:pPr>
            <a:r>
              <a:rPr lang="tr-TR"/>
              <a:t>Sis, buhar ve gazların meydana geldiği kimyasal reaksiyonlarda sıcaklık, basınç ve reaksiyon hızının kontrolü.</a:t>
            </a:r>
          </a:p>
          <a:p>
            <a:pPr>
              <a:buFont typeface="Wingdings" panose="05000000000000000000" pitchFamily="2" charset="2"/>
              <a:buChar char="Ø"/>
            </a:pPr>
            <a:r>
              <a:rPr lang="tr-TR"/>
              <a:t>Kaynak ve lehim işleri yerine saç kesme ve perçinleme işlerinin yapılması.</a:t>
            </a:r>
          </a:p>
          <a:p>
            <a:pPr>
              <a:buFont typeface="Wingdings" panose="05000000000000000000" pitchFamily="2" charset="2"/>
              <a:buChar char="Ø"/>
            </a:pPr>
            <a:r>
              <a:rPr lang="tr-TR"/>
              <a:t>El ile yapılan işlerin, yükleme makineleri, araç gereçleri ile yapılması.</a:t>
            </a:r>
          </a:p>
          <a:p>
            <a:pPr marL="0" indent="0">
              <a:buNone/>
            </a:pPr>
            <a:endParaRPr lang="tr-TR"/>
          </a:p>
          <a:p>
            <a:r>
              <a:rPr lang="tr-TR" b="1"/>
              <a:t>İşyeri Düzeni</a:t>
            </a:r>
            <a:endParaRPr lang="tr-TR"/>
          </a:p>
          <a:p>
            <a:pPr marL="0" indent="0">
              <a:buNone/>
            </a:pPr>
            <a:r>
              <a:rPr lang="tr-TR"/>
              <a:t>    İşyerinin düzenli olması, havanın toz veya dumanlarla kirlenmesini önleme bakımından hayati önem taşır. Tozların, yeniden yayılmasını önleyecek şekilde etkili vakumlu temizleyicilerin bulunması ve herhangi bir temizleme işinin, işyerinde çok az işçi bulunduğu sürelerde yapılması gerekir.</a:t>
            </a:r>
          </a:p>
          <a:p>
            <a:pPr>
              <a:buFont typeface="Wingdings" panose="05000000000000000000" pitchFamily="2" charset="2"/>
              <a:buChar char="Ø"/>
            </a:pPr>
            <a:endParaRPr lang="tr-TR"/>
          </a:p>
          <a:p>
            <a:pPr marL="0" indent="0">
              <a:buNone/>
            </a:pPr>
            <a:endParaRPr lang="tr-TR"/>
          </a:p>
          <a:p>
            <a:pPr marL="0" indent="0">
              <a:buNone/>
            </a:pPr>
            <a:endParaRPr lang="tr-TR"/>
          </a:p>
        </p:txBody>
      </p:sp>
    </p:spTree>
    <p:extLst>
      <p:ext uri="{BB962C8B-B14F-4D97-AF65-F5344CB8AC3E}">
        <p14:creationId xmlns:p14="http://schemas.microsoft.com/office/powerpoint/2010/main" val="2459438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A5338D-02D7-50B0-A0AE-2586DC6FE0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a:p>
        </p:txBody>
      </p:sp>
      <p:sp>
        <p:nvSpPr>
          <p:cNvPr id="2" name="Başlık 1">
            <a:extLst>
              <a:ext uri="{FF2B5EF4-FFF2-40B4-BE49-F238E27FC236}">
                <a16:creationId xmlns:a16="http://schemas.microsoft.com/office/drawing/2014/main" id="{14F9CEE4-64B8-1AC3-C848-E231311132E0}"/>
              </a:ext>
            </a:extLst>
          </p:cNvPr>
          <p:cNvSpPr>
            <a:spLocks noGrp="1"/>
          </p:cNvSpPr>
          <p:nvPr>
            <p:ph type="title"/>
          </p:nvPr>
        </p:nvSpPr>
        <p:spPr>
          <a:xfrm>
            <a:off x="838200" y="713312"/>
            <a:ext cx="4038600" cy="5431376"/>
          </a:xfrm>
        </p:spPr>
        <p:txBody>
          <a:bodyPr>
            <a:normAutofit/>
          </a:bodyPr>
          <a:lstStyle/>
          <a:p>
            <a:r>
              <a:rPr lang="tr-TR" b="1">
                <a:solidFill>
                  <a:srgbClr val="C00000"/>
                </a:solidFill>
              </a:rPr>
              <a:t>Tehlikeleri Önleyici Kontrol Yöntemleri</a:t>
            </a:r>
            <a:endParaRPr lang="tr-TR">
              <a:solidFill>
                <a:srgbClr val="C00000"/>
              </a:solidFill>
            </a:endParaRPr>
          </a:p>
        </p:txBody>
      </p:sp>
      <p:sp>
        <p:nvSpPr>
          <p:cNvPr id="3" name="İçerik Yer Tutucusu 2">
            <a:extLst>
              <a:ext uri="{FF2B5EF4-FFF2-40B4-BE49-F238E27FC236}">
                <a16:creationId xmlns:a16="http://schemas.microsoft.com/office/drawing/2014/main" id="{BB1AB6F2-BA47-B283-3675-81DEEC845DB4}"/>
              </a:ext>
            </a:extLst>
          </p:cNvPr>
          <p:cNvSpPr>
            <a:spLocks noGrp="1"/>
          </p:cNvSpPr>
          <p:nvPr>
            <p:ph idx="1"/>
          </p:nvPr>
        </p:nvSpPr>
        <p:spPr>
          <a:xfrm>
            <a:off x="6095999" y="713312"/>
            <a:ext cx="5511704" cy="6017272"/>
          </a:xfrm>
        </p:spPr>
        <p:txBody>
          <a:bodyPr anchor="ctr">
            <a:normAutofit lnSpcReduction="10000"/>
          </a:bodyPr>
          <a:lstStyle/>
          <a:p>
            <a:pPr marL="514350" indent="-514350">
              <a:buAutoNum type="arabicPeriod" startAt="2"/>
            </a:pPr>
            <a:r>
              <a:rPr lang="tr-TR" sz="1900" u="sng"/>
              <a:t>Kirli Havanın Dağılmasını Önleme</a:t>
            </a:r>
          </a:p>
          <a:p>
            <a:pPr marL="0" indent="0">
              <a:buNone/>
            </a:pPr>
            <a:endParaRPr lang="tr-TR" sz="1900" u="sng"/>
          </a:p>
          <a:p>
            <a:pPr marL="0" indent="0">
              <a:buNone/>
            </a:pPr>
            <a:r>
              <a:rPr lang="tr-TR" sz="1900"/>
              <a:t>     Hava kirlenmesinin meydana gelmesini önlemenin, olası veya pratik olmadığı durumlarda, meydana gelen toz, gaz, buhar </a:t>
            </a:r>
            <a:r>
              <a:rPr lang="tr-TR" sz="1900" err="1"/>
              <a:t>vb</a:t>
            </a:r>
            <a:r>
              <a:rPr lang="tr-TR" sz="1900"/>
              <a:t>.'</a:t>
            </a:r>
            <a:r>
              <a:rPr lang="tr-TR" sz="1900" err="1"/>
              <a:t>nin</a:t>
            </a:r>
            <a:r>
              <a:rPr lang="tr-TR" sz="1900"/>
              <a:t> işyerine yayılmasını (dağılmasını) önlemek gerekir. Bu durumu başarmak için denenmiş 5 yol vardır.</a:t>
            </a:r>
          </a:p>
          <a:p>
            <a:r>
              <a:rPr lang="tr-TR" sz="1900"/>
              <a:t>Tehlikeli üretim yapılan işyerini – işi diğerlerinden ayırmak (tecrit etmek).</a:t>
            </a:r>
          </a:p>
          <a:p>
            <a:r>
              <a:rPr lang="tr-TR" sz="1900"/>
              <a:t>Tehlikeli üretim yapılan makine ve tesisatı tamamen kapalı duruma getirmek.</a:t>
            </a:r>
          </a:p>
          <a:p>
            <a:r>
              <a:rPr lang="tr-TR" sz="1900"/>
              <a:t>Islak (yaş) yöntem uygulamak.</a:t>
            </a:r>
          </a:p>
          <a:p>
            <a:r>
              <a:rPr lang="tr-TR" sz="1900"/>
              <a:t>Yerel (lokal, mevzii) olarak kirli havanın emilerek çalışma ortamından uzaklaştırılması.</a:t>
            </a:r>
          </a:p>
          <a:p>
            <a:r>
              <a:rPr lang="tr-TR" sz="1900"/>
              <a:t>İşçi eğitimi</a:t>
            </a:r>
          </a:p>
          <a:p>
            <a:pPr marL="0" indent="0">
              <a:buNone/>
            </a:pPr>
            <a:endParaRPr lang="tr-TR" sz="1900" u="sng"/>
          </a:p>
          <a:p>
            <a:pPr marL="0" indent="0">
              <a:buNone/>
            </a:pPr>
            <a:endParaRPr lang="tr-TR" sz="1900"/>
          </a:p>
        </p:txBody>
      </p:sp>
    </p:spTree>
    <p:extLst>
      <p:ext uri="{BB962C8B-B14F-4D97-AF65-F5344CB8AC3E}">
        <p14:creationId xmlns:p14="http://schemas.microsoft.com/office/powerpoint/2010/main" val="3569660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D5BF9-B1C7-654F-8EA3-C86D81989C73}"/>
            </a:ext>
          </a:extLst>
        </p:cNvPr>
        <p:cNvGrpSpPr/>
        <p:nvPr/>
      </p:nvGrpSpPr>
      <p:grpSpPr>
        <a:xfrm>
          <a:off x="0" y="0"/>
          <a:ext cx="0" cy="0"/>
          <a:chOff x="0" y="0"/>
          <a:chExt cx="0" cy="0"/>
        </a:xfrm>
      </p:grpSpPr>
      <p:graphicFrame>
        <p:nvGraphicFramePr>
          <p:cNvPr id="7" name="İçerik Yer Tutucusu 6">
            <a:extLst>
              <a:ext uri="{FF2B5EF4-FFF2-40B4-BE49-F238E27FC236}">
                <a16:creationId xmlns:a16="http://schemas.microsoft.com/office/drawing/2014/main" id="{DD66C152-A56A-E442-915F-4A6788978121}"/>
              </a:ext>
            </a:extLst>
          </p:cNvPr>
          <p:cNvGraphicFramePr>
            <a:graphicFrameLocks noGrp="1"/>
          </p:cNvGraphicFramePr>
          <p:nvPr>
            <p:ph idx="1"/>
            <p:extLst>
              <p:ext uri="{D42A27DB-BD31-4B8C-83A1-F6EECF244321}">
                <p14:modId xmlns:p14="http://schemas.microsoft.com/office/powerpoint/2010/main" val="990161391"/>
              </p:ext>
            </p:extLst>
          </p:nvPr>
        </p:nvGraphicFramePr>
        <p:xfrm>
          <a:off x="749509" y="644577"/>
          <a:ext cx="10283250" cy="5840039"/>
        </p:xfrm>
        <a:graphic>
          <a:graphicData uri="http://schemas.openxmlformats.org/drawingml/2006/table">
            <a:tbl>
              <a:tblPr firstRow="1" firstCol="1" bandRow="1"/>
              <a:tblGrid>
                <a:gridCol w="2056650">
                  <a:extLst>
                    <a:ext uri="{9D8B030D-6E8A-4147-A177-3AD203B41FA5}">
                      <a16:colId xmlns:a16="http://schemas.microsoft.com/office/drawing/2014/main" val="1452692729"/>
                    </a:ext>
                  </a:extLst>
                </a:gridCol>
                <a:gridCol w="2056650">
                  <a:extLst>
                    <a:ext uri="{9D8B030D-6E8A-4147-A177-3AD203B41FA5}">
                      <a16:colId xmlns:a16="http://schemas.microsoft.com/office/drawing/2014/main" val="2040475032"/>
                    </a:ext>
                  </a:extLst>
                </a:gridCol>
                <a:gridCol w="2056650">
                  <a:extLst>
                    <a:ext uri="{9D8B030D-6E8A-4147-A177-3AD203B41FA5}">
                      <a16:colId xmlns:a16="http://schemas.microsoft.com/office/drawing/2014/main" val="1230635850"/>
                    </a:ext>
                  </a:extLst>
                </a:gridCol>
                <a:gridCol w="2056650">
                  <a:extLst>
                    <a:ext uri="{9D8B030D-6E8A-4147-A177-3AD203B41FA5}">
                      <a16:colId xmlns:a16="http://schemas.microsoft.com/office/drawing/2014/main" val="682306056"/>
                    </a:ext>
                  </a:extLst>
                </a:gridCol>
                <a:gridCol w="2056650">
                  <a:extLst>
                    <a:ext uri="{9D8B030D-6E8A-4147-A177-3AD203B41FA5}">
                      <a16:colId xmlns:a16="http://schemas.microsoft.com/office/drawing/2014/main" val="664698717"/>
                    </a:ext>
                  </a:extLst>
                </a:gridCol>
              </a:tblGrid>
              <a:tr h="300614">
                <a:tc>
                  <a:txBody>
                    <a:bodyPr/>
                    <a:lstStyle/>
                    <a:p>
                      <a:pPr>
                        <a:lnSpc>
                          <a:spcPct val="115000"/>
                        </a:lnSpc>
                        <a:spcAft>
                          <a:spcPts val="1000"/>
                        </a:spcAft>
                        <a:buNone/>
                      </a:pPr>
                      <a:r>
                        <a:rPr lang="en-US" sz="1800" b="1" cap="all">
                          <a:effectLst/>
                          <a:latin typeface="+mn-lt"/>
                          <a:ea typeface="MS Mincho" panose="02020609040205080304" pitchFamily="49" charset="-128"/>
                          <a:cs typeface="Times New Roman" panose="02020603050405020304" pitchFamily="18" charset="0"/>
                        </a:rPr>
                        <a:t>No</a:t>
                      </a:r>
                      <a:endParaRPr lang="tr-TR" sz="18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tc>
                  <a:txBody>
                    <a:bodyPr/>
                    <a:lstStyle/>
                    <a:p>
                      <a:pPr>
                        <a:lnSpc>
                          <a:spcPct val="115000"/>
                        </a:lnSpc>
                        <a:spcAft>
                          <a:spcPts val="1000"/>
                        </a:spcAft>
                        <a:buNone/>
                      </a:pPr>
                      <a:r>
                        <a:rPr lang="en-US" sz="1600" b="1" cap="all" err="1">
                          <a:effectLst/>
                          <a:latin typeface="+mn-lt"/>
                          <a:ea typeface="MS Mincho" panose="02020609040205080304" pitchFamily="49" charset="-128"/>
                          <a:cs typeface="Times New Roman" panose="02020603050405020304" pitchFamily="18" charset="0"/>
                        </a:rPr>
                        <a:t>Kontrol</a:t>
                      </a:r>
                      <a:r>
                        <a:rPr lang="en-US" sz="1600" b="1" cap="all">
                          <a:effectLst/>
                          <a:latin typeface="+mn-lt"/>
                          <a:ea typeface="MS Mincho" panose="02020609040205080304" pitchFamily="49" charset="-128"/>
                          <a:cs typeface="Times New Roman" panose="02020603050405020304" pitchFamily="18" charset="0"/>
                        </a:rPr>
                        <a:t> </a:t>
                      </a:r>
                      <a:r>
                        <a:rPr lang="en-US" sz="1600" b="1" cap="all" err="1">
                          <a:effectLst/>
                          <a:latin typeface="+mn-lt"/>
                          <a:ea typeface="MS Mincho" panose="02020609040205080304" pitchFamily="49" charset="-128"/>
                          <a:cs typeface="Times New Roman" panose="02020603050405020304" pitchFamily="18" charset="0"/>
                        </a:rPr>
                        <a:t>Yöntemi</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tc>
                  <a:txBody>
                    <a:bodyPr/>
                    <a:lstStyle/>
                    <a:p>
                      <a:pPr>
                        <a:lnSpc>
                          <a:spcPct val="115000"/>
                        </a:lnSpc>
                        <a:spcAft>
                          <a:spcPts val="1000"/>
                        </a:spcAft>
                        <a:buNone/>
                      </a:pPr>
                      <a:r>
                        <a:rPr lang="en-US" sz="1600" b="1" cap="all">
                          <a:effectLst/>
                          <a:latin typeface="+mn-lt"/>
                          <a:ea typeface="MS Mincho" panose="02020609040205080304" pitchFamily="49" charset="-128"/>
                          <a:cs typeface="Times New Roman" panose="02020603050405020304" pitchFamily="18" charset="0"/>
                        </a:rPr>
                        <a:t>Açıklama</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tc>
                  <a:txBody>
                    <a:bodyPr/>
                    <a:lstStyle/>
                    <a:p>
                      <a:pPr>
                        <a:lnSpc>
                          <a:spcPct val="115000"/>
                        </a:lnSpc>
                        <a:spcAft>
                          <a:spcPts val="1000"/>
                        </a:spcAft>
                        <a:buNone/>
                      </a:pPr>
                      <a:r>
                        <a:rPr lang="en-US" sz="1600" b="1" cap="all">
                          <a:effectLst/>
                          <a:latin typeface="+mn-lt"/>
                          <a:ea typeface="MS Mincho" panose="02020609040205080304" pitchFamily="49" charset="-128"/>
                          <a:cs typeface="Times New Roman" panose="02020603050405020304" pitchFamily="18" charset="0"/>
                        </a:rPr>
                        <a:t>Amaç / Etki</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tc>
                  <a:txBody>
                    <a:bodyPr/>
                    <a:lstStyle/>
                    <a:p>
                      <a:pPr>
                        <a:lnSpc>
                          <a:spcPct val="115000"/>
                        </a:lnSpc>
                        <a:spcAft>
                          <a:spcPts val="1000"/>
                        </a:spcAft>
                        <a:buNone/>
                      </a:pPr>
                      <a:r>
                        <a:rPr lang="en-US" sz="1600" b="1" cap="all">
                          <a:effectLst/>
                          <a:latin typeface="+mn-lt"/>
                          <a:ea typeface="MS Mincho" panose="02020609040205080304" pitchFamily="49" charset="-128"/>
                          <a:cs typeface="Times New Roman" panose="02020603050405020304" pitchFamily="18" charset="0"/>
                        </a:rPr>
                        <a:t>Örnekler</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3556455343"/>
                  </a:ext>
                </a:extLst>
              </a:tr>
              <a:tr h="1242477">
                <a:tc>
                  <a:txBody>
                    <a:bodyPr/>
                    <a:lstStyle/>
                    <a:p>
                      <a:pPr>
                        <a:lnSpc>
                          <a:spcPct val="115000"/>
                        </a:lnSpc>
                        <a:spcAft>
                          <a:spcPts val="1000"/>
                        </a:spcAft>
                        <a:buNone/>
                      </a:pPr>
                      <a:r>
                        <a:rPr lang="en-US" sz="1800" b="1" cap="all">
                          <a:solidFill>
                            <a:srgbClr val="000000"/>
                          </a:solidFill>
                          <a:effectLst/>
                          <a:latin typeface="+mn-lt"/>
                          <a:ea typeface="MS Mincho" panose="02020609040205080304" pitchFamily="49" charset="-128"/>
                          <a:cs typeface="Times New Roman" panose="02020603050405020304" pitchFamily="18" charset="0"/>
                        </a:rPr>
                        <a:t>1</a:t>
                      </a:r>
                      <a:endParaRPr lang="tr-TR" sz="180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nSpc>
                          <a:spcPct val="115000"/>
                        </a:lnSpc>
                        <a:spcAft>
                          <a:spcPts val="1000"/>
                        </a:spcAft>
                        <a:buNone/>
                      </a:pPr>
                      <a:r>
                        <a:rPr lang="en-US" sz="1600" err="1">
                          <a:solidFill>
                            <a:srgbClr val="000000"/>
                          </a:solidFill>
                          <a:effectLst/>
                          <a:latin typeface="+mn-lt"/>
                          <a:ea typeface="MS Mincho" panose="02020609040205080304" pitchFamily="49" charset="-128"/>
                          <a:cs typeface="Times New Roman" panose="02020603050405020304" pitchFamily="18" charset="0"/>
                        </a:rPr>
                        <a:t>Ayırmak</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Tecrit</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Etmek</a:t>
                      </a:r>
                      <a:r>
                        <a:rPr lang="en-US" sz="1600">
                          <a:solidFill>
                            <a:srgbClr val="000000"/>
                          </a:solidFill>
                          <a:effectLst/>
                          <a:latin typeface="+mn-lt"/>
                          <a:ea typeface="MS Mincho" panose="02020609040205080304" pitchFamily="49" charset="-128"/>
                          <a:cs typeface="Times New Roman" panose="02020603050405020304" pitchFamily="18" charset="0"/>
                        </a:rPr>
                        <a:t>)</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nSpc>
                          <a:spcPct val="115000"/>
                        </a:lnSpc>
                        <a:spcAft>
                          <a:spcPts val="1000"/>
                        </a:spcAft>
                        <a:buNone/>
                      </a:pPr>
                      <a:r>
                        <a:rPr lang="en-US" sz="1600" err="1">
                          <a:solidFill>
                            <a:srgbClr val="000000"/>
                          </a:solidFill>
                          <a:effectLst/>
                          <a:latin typeface="+mn-lt"/>
                          <a:ea typeface="MS Mincho" panose="02020609040205080304" pitchFamily="49" charset="-128"/>
                          <a:cs typeface="Times New Roman" panose="02020603050405020304" pitchFamily="18" charset="0"/>
                        </a:rPr>
                        <a:t>Tehlikeli</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işlemlerin</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diğer</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işlerden</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fiziksel</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olarak</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ayrılmasıdır</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Sadece</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ilgili</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çalışanlar</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maruz</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kalır</a:t>
                      </a:r>
                      <a:r>
                        <a:rPr lang="en-US" sz="1600">
                          <a:solidFill>
                            <a:srgbClr val="000000"/>
                          </a:solidFill>
                          <a:effectLst/>
                          <a:latin typeface="+mn-lt"/>
                          <a:ea typeface="MS Mincho" panose="02020609040205080304" pitchFamily="49" charset="-128"/>
                          <a:cs typeface="Times New Roman" panose="02020603050405020304" pitchFamily="18" charset="0"/>
                        </a:rPr>
                        <a:t>.</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Maruziyetin yayılmasını önlemek</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Dökümhanelerde temizleme işlemleri, asit banyolarının ayrı alanlarda bulunması</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w="12700" cap="flat" cmpd="sng" algn="ctr">
                      <a:solidFill>
                        <a:srgbClr val="7F7F7F"/>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674411649"/>
                  </a:ext>
                </a:extLst>
              </a:tr>
              <a:tr h="928523">
                <a:tc>
                  <a:txBody>
                    <a:bodyPr/>
                    <a:lstStyle/>
                    <a:p>
                      <a:pPr>
                        <a:lnSpc>
                          <a:spcPct val="115000"/>
                        </a:lnSpc>
                        <a:spcAft>
                          <a:spcPts val="1000"/>
                        </a:spcAft>
                        <a:buNone/>
                      </a:pPr>
                      <a:r>
                        <a:rPr lang="en-US" sz="1800" b="1" cap="all">
                          <a:effectLst/>
                          <a:latin typeface="+mn-lt"/>
                          <a:ea typeface="MS Mincho" panose="02020609040205080304" pitchFamily="49" charset="-128"/>
                          <a:cs typeface="Times New Roman" panose="02020603050405020304" pitchFamily="18" charset="0"/>
                        </a:rPr>
                        <a:t>2</a:t>
                      </a:r>
                      <a:endParaRPr lang="tr-TR" sz="180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a:noFill/>
                    </a:lnT>
                    <a:lnB>
                      <a:noFill/>
                    </a:lnB>
                    <a:noFill/>
                  </a:tcPr>
                </a:tc>
                <a:tc>
                  <a:txBody>
                    <a:bodyPr/>
                    <a:lstStyle/>
                    <a:p>
                      <a:pPr>
                        <a:lnSpc>
                          <a:spcPct val="115000"/>
                        </a:lnSpc>
                        <a:spcAft>
                          <a:spcPts val="1000"/>
                        </a:spcAft>
                        <a:buNone/>
                      </a:pPr>
                      <a:r>
                        <a:rPr lang="en-US" sz="1600">
                          <a:effectLst/>
                          <a:latin typeface="+mn-lt"/>
                          <a:ea typeface="MS Mincho" panose="02020609040205080304" pitchFamily="49" charset="-128"/>
                          <a:cs typeface="Times New Roman" panose="02020603050405020304" pitchFamily="18" charset="0"/>
                        </a:rPr>
                        <a:t>Kapalı Duruma Getirme</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a:noFill/>
                    </a:lnT>
                    <a:lnB>
                      <a:noFill/>
                    </a:lnB>
                    <a:noFill/>
                  </a:tcPr>
                </a:tc>
                <a:tc>
                  <a:txBody>
                    <a:bodyPr/>
                    <a:lstStyle/>
                    <a:p>
                      <a:pPr>
                        <a:lnSpc>
                          <a:spcPct val="115000"/>
                        </a:lnSpc>
                        <a:spcAft>
                          <a:spcPts val="1000"/>
                        </a:spcAft>
                        <a:buNone/>
                      </a:pPr>
                      <a:r>
                        <a:rPr lang="en-US" sz="1600" err="1">
                          <a:effectLst/>
                          <a:latin typeface="+mn-lt"/>
                          <a:ea typeface="MS Mincho" panose="02020609040205080304" pitchFamily="49" charset="-128"/>
                          <a:cs typeface="Times New Roman" panose="02020603050405020304" pitchFamily="18" charset="0"/>
                        </a:rPr>
                        <a:t>Tehlikeli</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işlemin</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tamamen</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kapalı</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sistemler</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içinde</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yapılmasıdır</a:t>
                      </a:r>
                      <a:r>
                        <a:rPr lang="en-US" sz="1600">
                          <a:effectLst/>
                          <a:latin typeface="+mn-lt"/>
                          <a:ea typeface="MS Mincho" panose="02020609040205080304" pitchFamily="49" charset="-128"/>
                          <a:cs typeface="Times New Roman" panose="02020603050405020304" pitchFamily="18" charset="0"/>
                        </a:rPr>
                        <a:t>.</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tc>
                  <a:txBody>
                    <a:bodyPr/>
                    <a:lstStyle/>
                    <a:p>
                      <a:pPr>
                        <a:lnSpc>
                          <a:spcPct val="115000"/>
                        </a:lnSpc>
                        <a:spcAft>
                          <a:spcPts val="1000"/>
                        </a:spcAft>
                        <a:buNone/>
                      </a:pPr>
                      <a:r>
                        <a:rPr lang="en-US" sz="1600" err="1">
                          <a:effectLst/>
                          <a:latin typeface="+mn-lt"/>
                          <a:ea typeface="MS Mincho" panose="02020609040205080304" pitchFamily="49" charset="-128"/>
                          <a:cs typeface="Times New Roman" panose="02020603050405020304" pitchFamily="18" charset="0"/>
                        </a:rPr>
                        <a:t>Tehlikenin</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ortama</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yayılmasını</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engellemek</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tc>
                  <a:txBody>
                    <a:bodyPr/>
                    <a:lstStyle/>
                    <a:p>
                      <a:pPr>
                        <a:lnSpc>
                          <a:spcPct val="115000"/>
                        </a:lnSpc>
                        <a:spcAft>
                          <a:spcPts val="1000"/>
                        </a:spcAft>
                        <a:buNone/>
                      </a:pPr>
                      <a:r>
                        <a:rPr lang="en-US" sz="1600">
                          <a:effectLst/>
                          <a:latin typeface="+mn-lt"/>
                          <a:ea typeface="MS Mincho" panose="02020609040205080304" pitchFamily="49" charset="-128"/>
                          <a:cs typeface="Times New Roman" panose="02020603050405020304" pitchFamily="18" charset="0"/>
                        </a:rPr>
                        <a:t>Kapalı taşlama ve parlatma sistemleri, patlayıcı maddelerle kapalı çalışma</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extLst>
                  <a:ext uri="{0D108BD9-81ED-4DB2-BD59-A6C34878D82A}">
                    <a16:rowId xmlns:a16="http://schemas.microsoft.com/office/drawing/2014/main" val="1121274167"/>
                  </a:ext>
                </a:extLst>
              </a:tr>
              <a:tr h="614568">
                <a:tc>
                  <a:txBody>
                    <a:bodyPr/>
                    <a:lstStyle/>
                    <a:p>
                      <a:pPr>
                        <a:lnSpc>
                          <a:spcPct val="115000"/>
                        </a:lnSpc>
                        <a:spcAft>
                          <a:spcPts val="1000"/>
                        </a:spcAft>
                        <a:buNone/>
                      </a:pPr>
                      <a:r>
                        <a:rPr lang="en-US" sz="1800" b="1" cap="all">
                          <a:solidFill>
                            <a:srgbClr val="000000"/>
                          </a:solidFill>
                          <a:effectLst/>
                          <a:latin typeface="+mn-lt"/>
                          <a:ea typeface="MS Mincho" panose="02020609040205080304" pitchFamily="49" charset="-128"/>
                          <a:cs typeface="Times New Roman" panose="02020603050405020304" pitchFamily="18" charset="0"/>
                        </a:rPr>
                        <a:t>3</a:t>
                      </a:r>
                      <a:endParaRPr lang="tr-TR" sz="180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Islak (Yaş) Yöntem</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Toz oluşumunu bastırmak için su veya sıvı kullanılmasıdır.</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tc>
                  <a:txBody>
                    <a:bodyPr/>
                    <a:lstStyle/>
                    <a:p>
                      <a:pPr>
                        <a:lnSpc>
                          <a:spcPct val="115000"/>
                        </a:lnSpc>
                        <a:spcAft>
                          <a:spcPts val="1000"/>
                        </a:spcAft>
                        <a:buNone/>
                      </a:pPr>
                      <a:r>
                        <a:rPr lang="en-US" sz="1600" err="1">
                          <a:solidFill>
                            <a:srgbClr val="000000"/>
                          </a:solidFill>
                          <a:effectLst/>
                          <a:latin typeface="+mn-lt"/>
                          <a:ea typeface="MS Mincho" panose="02020609040205080304" pitchFamily="49" charset="-128"/>
                          <a:cs typeface="Times New Roman" panose="02020603050405020304" pitchFamily="18" charset="0"/>
                        </a:rPr>
                        <a:t>Toz</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oluşumunu</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ve</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yayılmasını</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azaltmak</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Delme ve taşlama işlemlerinde su kullanılması</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extLst>
                  <a:ext uri="{0D108BD9-81ED-4DB2-BD59-A6C34878D82A}">
                    <a16:rowId xmlns:a16="http://schemas.microsoft.com/office/drawing/2014/main" val="3851039159"/>
                  </a:ext>
                </a:extLst>
              </a:tr>
              <a:tr h="928523">
                <a:tc>
                  <a:txBody>
                    <a:bodyPr/>
                    <a:lstStyle/>
                    <a:p>
                      <a:pPr>
                        <a:lnSpc>
                          <a:spcPct val="115000"/>
                        </a:lnSpc>
                        <a:spcAft>
                          <a:spcPts val="1000"/>
                        </a:spcAft>
                        <a:buNone/>
                      </a:pPr>
                      <a:r>
                        <a:rPr lang="en-US" sz="1800" b="1" cap="all">
                          <a:effectLst/>
                          <a:latin typeface="+mn-lt"/>
                          <a:ea typeface="MS Mincho" panose="02020609040205080304" pitchFamily="49" charset="-128"/>
                          <a:cs typeface="Times New Roman" panose="02020603050405020304" pitchFamily="18" charset="0"/>
                        </a:rPr>
                        <a:t>4</a:t>
                      </a:r>
                      <a:endParaRPr lang="tr-TR" sz="180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a:noFill/>
                    </a:lnT>
                    <a:lnB>
                      <a:noFill/>
                    </a:lnB>
                    <a:noFill/>
                  </a:tcPr>
                </a:tc>
                <a:tc>
                  <a:txBody>
                    <a:bodyPr/>
                    <a:lstStyle/>
                    <a:p>
                      <a:pPr>
                        <a:lnSpc>
                          <a:spcPct val="115000"/>
                        </a:lnSpc>
                        <a:spcAft>
                          <a:spcPts val="1000"/>
                        </a:spcAft>
                        <a:buNone/>
                      </a:pPr>
                      <a:r>
                        <a:rPr lang="en-US" sz="1600">
                          <a:effectLst/>
                          <a:latin typeface="+mn-lt"/>
                          <a:ea typeface="MS Mincho" panose="02020609040205080304" pitchFamily="49" charset="-128"/>
                          <a:cs typeface="Times New Roman" panose="02020603050405020304" pitchFamily="18" charset="0"/>
                        </a:rPr>
                        <a:t>Kirli Havanın Emilerek Uzaklaştırılması</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a:noFill/>
                    </a:lnT>
                    <a:lnB>
                      <a:noFill/>
                    </a:lnB>
                    <a:noFill/>
                  </a:tcPr>
                </a:tc>
                <a:tc>
                  <a:txBody>
                    <a:bodyPr/>
                    <a:lstStyle/>
                    <a:p>
                      <a:pPr>
                        <a:lnSpc>
                          <a:spcPct val="115000"/>
                        </a:lnSpc>
                        <a:spcAft>
                          <a:spcPts val="1000"/>
                        </a:spcAft>
                        <a:buNone/>
                      </a:pPr>
                      <a:r>
                        <a:rPr lang="en-US" sz="1600">
                          <a:effectLst/>
                          <a:latin typeface="+mn-lt"/>
                          <a:ea typeface="MS Mincho" panose="02020609040205080304" pitchFamily="49" charset="-128"/>
                          <a:cs typeface="Times New Roman" panose="02020603050405020304" pitchFamily="18" charset="0"/>
                        </a:rPr>
                        <a:t>Kirli havanın kaynağında emilerek ortamdan uzaklaştırılmasıdır.</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tc>
                  <a:txBody>
                    <a:bodyPr/>
                    <a:lstStyle/>
                    <a:p>
                      <a:pPr>
                        <a:lnSpc>
                          <a:spcPct val="115000"/>
                        </a:lnSpc>
                        <a:spcAft>
                          <a:spcPts val="1000"/>
                        </a:spcAft>
                        <a:buNone/>
                      </a:pPr>
                      <a:r>
                        <a:rPr lang="en-US" sz="1600" err="1">
                          <a:effectLst/>
                          <a:latin typeface="+mn-lt"/>
                          <a:ea typeface="MS Mincho" panose="02020609040205080304" pitchFamily="49" charset="-128"/>
                          <a:cs typeface="Times New Roman" panose="02020603050405020304" pitchFamily="18" charset="0"/>
                        </a:rPr>
                        <a:t>Ortam</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havasının</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temiz</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tutulması</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tc>
                  <a:txBody>
                    <a:bodyPr/>
                    <a:lstStyle/>
                    <a:p>
                      <a:pPr>
                        <a:lnSpc>
                          <a:spcPct val="115000"/>
                        </a:lnSpc>
                        <a:spcAft>
                          <a:spcPts val="1000"/>
                        </a:spcAft>
                        <a:buNone/>
                      </a:pPr>
                      <a:r>
                        <a:rPr lang="en-US" sz="1600">
                          <a:effectLst/>
                          <a:latin typeface="+mn-lt"/>
                          <a:ea typeface="MS Mincho" panose="02020609040205080304" pitchFamily="49" charset="-128"/>
                          <a:cs typeface="Times New Roman" panose="02020603050405020304" pitchFamily="18" charset="0"/>
                        </a:rPr>
                        <a:t>Lokal (</a:t>
                      </a:r>
                      <a:r>
                        <a:rPr lang="en-US" sz="1600" err="1">
                          <a:effectLst/>
                          <a:latin typeface="+mn-lt"/>
                          <a:ea typeface="MS Mincho" panose="02020609040205080304" pitchFamily="49" charset="-128"/>
                          <a:cs typeface="Times New Roman" panose="02020603050405020304" pitchFamily="18" charset="0"/>
                        </a:rPr>
                        <a:t>mevzii</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havalandırma</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davlumbaz</a:t>
                      </a:r>
                      <a:r>
                        <a:rPr lang="en-US" sz="1600">
                          <a:effectLst/>
                          <a:latin typeface="+mn-lt"/>
                          <a:ea typeface="MS Mincho" panose="02020609040205080304" pitchFamily="49" charset="-128"/>
                          <a:cs typeface="Times New Roman" panose="02020603050405020304" pitchFamily="18" charset="0"/>
                        </a:rPr>
                        <a:t> </a:t>
                      </a:r>
                      <a:r>
                        <a:rPr lang="en-US" sz="1600" err="1">
                          <a:effectLst/>
                          <a:latin typeface="+mn-lt"/>
                          <a:ea typeface="MS Mincho" panose="02020609040205080304" pitchFamily="49" charset="-128"/>
                          <a:cs typeface="Times New Roman" panose="02020603050405020304" pitchFamily="18" charset="0"/>
                        </a:rPr>
                        <a:t>sistemleri</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noFill/>
                  </a:tcPr>
                </a:tc>
                <a:extLst>
                  <a:ext uri="{0D108BD9-81ED-4DB2-BD59-A6C34878D82A}">
                    <a16:rowId xmlns:a16="http://schemas.microsoft.com/office/drawing/2014/main" val="751479589"/>
                  </a:ext>
                </a:extLst>
              </a:tr>
              <a:tr h="1085500">
                <a:tc>
                  <a:txBody>
                    <a:bodyPr/>
                    <a:lstStyle/>
                    <a:p>
                      <a:pPr>
                        <a:lnSpc>
                          <a:spcPct val="115000"/>
                        </a:lnSpc>
                        <a:spcAft>
                          <a:spcPts val="1000"/>
                        </a:spcAft>
                        <a:buNone/>
                      </a:pPr>
                      <a:r>
                        <a:rPr lang="en-US" sz="1800" b="1" cap="all">
                          <a:solidFill>
                            <a:srgbClr val="000000"/>
                          </a:solidFill>
                          <a:effectLst/>
                          <a:latin typeface="+mn-lt"/>
                          <a:ea typeface="MS Mincho" panose="02020609040205080304" pitchFamily="49" charset="-128"/>
                          <a:cs typeface="Times New Roman" panose="02020603050405020304" pitchFamily="18" charset="0"/>
                        </a:rPr>
                        <a:t>5</a:t>
                      </a:r>
                      <a:endParaRPr lang="tr-TR" sz="1800">
                        <a:effectLst/>
                        <a:latin typeface="+mn-lt"/>
                        <a:ea typeface="MS Mincho" panose="02020609040205080304" pitchFamily="49" charset="-128"/>
                        <a:cs typeface="Times New Roman" panose="02020603050405020304" pitchFamily="18" charset="0"/>
                      </a:endParaRPr>
                    </a:p>
                  </a:txBody>
                  <a:tcPr marL="47642" marR="47642" marT="0" marB="0">
                    <a:lnL>
                      <a:noFill/>
                    </a:lnL>
                    <a:lnR w="12700" cap="flat" cmpd="sng" algn="ctr">
                      <a:solidFill>
                        <a:srgbClr val="7F7F7F"/>
                      </a:solidFill>
                      <a:prstDash val="solid"/>
                      <a:round/>
                      <a:headEnd type="none" w="med" len="med"/>
                      <a:tailEnd type="none" w="med" len="med"/>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İşçi Eğitimi</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w="12700" cap="flat" cmpd="sng" algn="ctr">
                      <a:solidFill>
                        <a:srgbClr val="7F7F7F"/>
                      </a:solidFill>
                      <a:prstDash val="solid"/>
                      <a:round/>
                      <a:headEnd type="none" w="med" len="med"/>
                      <a:tailEnd type="none" w="med" len="med"/>
                    </a:lnL>
                    <a:lnR>
                      <a:noFill/>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Çalışanların riskler ve korunma yöntemleri konusunda bilinçlendirilmesidir.</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tc>
                  <a:txBody>
                    <a:bodyPr/>
                    <a:lstStyle/>
                    <a:p>
                      <a:pPr>
                        <a:lnSpc>
                          <a:spcPct val="115000"/>
                        </a:lnSpc>
                        <a:spcAft>
                          <a:spcPts val="1000"/>
                        </a:spcAft>
                        <a:buNone/>
                      </a:pPr>
                      <a:r>
                        <a:rPr lang="en-US" sz="1600">
                          <a:solidFill>
                            <a:srgbClr val="000000"/>
                          </a:solidFill>
                          <a:effectLst/>
                          <a:latin typeface="+mn-lt"/>
                          <a:ea typeface="MS Mincho" panose="02020609040205080304" pitchFamily="49" charset="-128"/>
                          <a:cs typeface="Times New Roman" panose="02020603050405020304" pitchFamily="18" charset="0"/>
                        </a:rPr>
                        <a:t>Kontrol önlemlerinin etkinliğini artırmak</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tc>
                  <a:txBody>
                    <a:bodyPr/>
                    <a:lstStyle/>
                    <a:p>
                      <a:pPr>
                        <a:lnSpc>
                          <a:spcPct val="115000"/>
                        </a:lnSpc>
                        <a:spcAft>
                          <a:spcPts val="1000"/>
                        </a:spcAft>
                        <a:buNone/>
                      </a:pPr>
                      <a:r>
                        <a:rPr lang="en-US" sz="1600" err="1">
                          <a:solidFill>
                            <a:srgbClr val="000000"/>
                          </a:solidFill>
                          <a:effectLst/>
                          <a:latin typeface="+mn-lt"/>
                          <a:ea typeface="MS Mincho" panose="02020609040205080304" pitchFamily="49" charset="-128"/>
                          <a:cs typeface="Times New Roman" panose="02020603050405020304" pitchFamily="18" charset="0"/>
                        </a:rPr>
                        <a:t>Eğitim</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programları</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talimatlar</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ve</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uyarı</a:t>
                      </a:r>
                      <a:r>
                        <a:rPr lang="en-US" sz="1600">
                          <a:solidFill>
                            <a:srgbClr val="000000"/>
                          </a:solidFill>
                          <a:effectLst/>
                          <a:latin typeface="+mn-lt"/>
                          <a:ea typeface="MS Mincho" panose="02020609040205080304" pitchFamily="49" charset="-128"/>
                          <a:cs typeface="Times New Roman" panose="02020603050405020304" pitchFamily="18" charset="0"/>
                        </a:rPr>
                        <a:t> </a:t>
                      </a:r>
                      <a:r>
                        <a:rPr lang="en-US" sz="1600" err="1">
                          <a:solidFill>
                            <a:srgbClr val="000000"/>
                          </a:solidFill>
                          <a:effectLst/>
                          <a:latin typeface="+mn-lt"/>
                          <a:ea typeface="MS Mincho" panose="02020609040205080304" pitchFamily="49" charset="-128"/>
                          <a:cs typeface="Times New Roman" panose="02020603050405020304" pitchFamily="18" charset="0"/>
                        </a:rPr>
                        <a:t>levhaları</a:t>
                      </a:r>
                      <a:endParaRPr lang="tr-TR" sz="1600">
                        <a:effectLst/>
                        <a:latin typeface="+mn-lt"/>
                        <a:ea typeface="MS Mincho" panose="02020609040205080304" pitchFamily="49" charset="-128"/>
                        <a:cs typeface="Times New Roman" panose="02020603050405020304" pitchFamily="18" charset="0"/>
                      </a:endParaRPr>
                    </a:p>
                  </a:txBody>
                  <a:tcPr marL="47642" marR="47642" marT="0" marB="0">
                    <a:lnL>
                      <a:noFill/>
                    </a:lnL>
                    <a:lnR>
                      <a:noFill/>
                    </a:lnR>
                    <a:lnT>
                      <a:noFill/>
                    </a:lnT>
                    <a:lnB>
                      <a:noFill/>
                    </a:lnB>
                    <a:solidFill>
                      <a:srgbClr val="F2F2F2"/>
                    </a:solidFill>
                  </a:tcPr>
                </a:tc>
                <a:extLst>
                  <a:ext uri="{0D108BD9-81ED-4DB2-BD59-A6C34878D82A}">
                    <a16:rowId xmlns:a16="http://schemas.microsoft.com/office/drawing/2014/main" val="1894414271"/>
                  </a:ext>
                </a:extLst>
              </a:tr>
            </a:tbl>
          </a:graphicData>
        </a:graphic>
      </p:graphicFrame>
    </p:spTree>
    <p:extLst>
      <p:ext uri="{BB962C8B-B14F-4D97-AF65-F5344CB8AC3E}">
        <p14:creationId xmlns:p14="http://schemas.microsoft.com/office/powerpoint/2010/main" val="40621225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8A096-EAFF-9AD3-F495-38E7FC3AC02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EED0234-F0CA-AA6A-E987-9FC4A429FD3B}"/>
              </a:ext>
            </a:extLst>
          </p:cNvPr>
          <p:cNvSpPr>
            <a:spLocks noGrp="1"/>
          </p:cNvSpPr>
          <p:nvPr>
            <p:ph type="title"/>
          </p:nvPr>
        </p:nvSpPr>
        <p:spPr/>
        <p:txBody>
          <a:bodyPr>
            <a:normAutofit/>
          </a:bodyPr>
          <a:lstStyle/>
          <a:p>
            <a:r>
              <a:rPr lang="tr-TR" sz="4000" b="1">
                <a:solidFill>
                  <a:srgbClr val="C00000"/>
                </a:solidFill>
              </a:rPr>
              <a:t>Tehlikeleri Önleyici Kontrol Yöntemleri</a:t>
            </a:r>
            <a:endParaRPr lang="tr-TR" sz="4000">
              <a:solidFill>
                <a:srgbClr val="C00000"/>
              </a:solidFill>
            </a:endParaRPr>
          </a:p>
        </p:txBody>
      </p:sp>
      <p:sp>
        <p:nvSpPr>
          <p:cNvPr id="3" name="İçerik Yer Tutucusu 2">
            <a:extLst>
              <a:ext uri="{FF2B5EF4-FFF2-40B4-BE49-F238E27FC236}">
                <a16:creationId xmlns:a16="http://schemas.microsoft.com/office/drawing/2014/main" id="{9FF41A79-AF13-8AA1-3C89-3C91C977DE70}"/>
              </a:ext>
            </a:extLst>
          </p:cNvPr>
          <p:cNvSpPr>
            <a:spLocks noGrp="1"/>
          </p:cNvSpPr>
          <p:nvPr>
            <p:ph idx="1"/>
          </p:nvPr>
        </p:nvSpPr>
        <p:spPr/>
        <p:txBody>
          <a:bodyPr/>
          <a:lstStyle/>
          <a:p>
            <a:pPr marL="514350" indent="-514350">
              <a:buAutoNum type="arabicPeriod" startAt="3"/>
            </a:pPr>
            <a:r>
              <a:rPr lang="tr-TR" sz="2600" u="sng"/>
              <a:t>İşçileri Tehlikelerden Korumak</a:t>
            </a:r>
          </a:p>
          <a:p>
            <a:pPr marL="0" indent="0">
              <a:buNone/>
            </a:pPr>
            <a:endParaRPr lang="tr-TR" u="sng"/>
          </a:p>
          <a:p>
            <a:pPr marL="0" indent="0">
              <a:buNone/>
            </a:pPr>
            <a:r>
              <a:rPr lang="tr-TR"/>
              <a:t>   </a:t>
            </a:r>
            <a:r>
              <a:rPr lang="tr-TR" sz="2200"/>
              <a:t>Bir çok durumda işçilerin maruziyetini azaltma, sağlık riski oluşturan tehlikeleri ortadan kaldırmak için yeterli değildir. Bu gibi durumlarda kontrol ve geliştirme için (kabul görmüş) iki genel yöntem vardır.</a:t>
            </a:r>
          </a:p>
          <a:p>
            <a:r>
              <a:rPr lang="tr-TR" sz="2200"/>
              <a:t>Genel Havalandırma</a:t>
            </a:r>
          </a:p>
          <a:p>
            <a:r>
              <a:rPr lang="tr-TR" sz="2200"/>
              <a:t>Solunum yolları koruyucu donanımlarını kullanma.</a:t>
            </a:r>
          </a:p>
          <a:p>
            <a:pPr marL="0" indent="0">
              <a:buNone/>
            </a:pPr>
            <a:endParaRPr lang="tr-TR" u="sng"/>
          </a:p>
          <a:p>
            <a:pPr marL="0" indent="0">
              <a:buNone/>
            </a:pPr>
            <a:endParaRPr lang="tr-TR"/>
          </a:p>
        </p:txBody>
      </p:sp>
    </p:spTree>
    <p:extLst>
      <p:ext uri="{BB962C8B-B14F-4D97-AF65-F5344CB8AC3E}">
        <p14:creationId xmlns:p14="http://schemas.microsoft.com/office/powerpoint/2010/main" val="39107200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775CE9-BEA3-2F4B-FCBB-FCE4D7B80E62}"/>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9FDBB1C-99B8-3D7E-AA94-B4C52C8742F4}"/>
              </a:ext>
            </a:extLst>
          </p:cNvPr>
          <p:cNvSpPr>
            <a:spLocks noGrp="1"/>
          </p:cNvSpPr>
          <p:nvPr>
            <p:ph type="title"/>
          </p:nvPr>
        </p:nvSpPr>
        <p:spPr>
          <a:xfrm>
            <a:off x="873867" y="1098139"/>
            <a:ext cx="6155988" cy="1182927"/>
          </a:xfrm>
        </p:spPr>
        <p:txBody>
          <a:bodyPr anchor="b">
            <a:normAutofit/>
          </a:bodyPr>
          <a:lstStyle/>
          <a:p>
            <a:r>
              <a:rPr lang="tr-TR" sz="3900" b="1">
                <a:solidFill>
                  <a:srgbClr val="C00000"/>
                </a:solidFill>
              </a:rPr>
              <a:t>Tehlikeleri Önleyici Kontrol Yöntemleri</a:t>
            </a:r>
            <a:endParaRPr lang="tr-TR" sz="3900">
              <a:solidFill>
                <a:srgbClr val="C00000"/>
              </a:solidFill>
            </a:endParaRPr>
          </a:p>
        </p:txBody>
      </p:sp>
      <p:cxnSp>
        <p:nvCxnSpPr>
          <p:cNvPr id="27" name="Straight Connector 26">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7CF8141C-D7D4-F8F8-EAF3-C75B7FC70FF3}"/>
              </a:ext>
            </a:extLst>
          </p:cNvPr>
          <p:cNvSpPr>
            <a:spLocks noGrp="1"/>
          </p:cNvSpPr>
          <p:nvPr>
            <p:ph idx="1"/>
          </p:nvPr>
        </p:nvSpPr>
        <p:spPr>
          <a:xfrm>
            <a:off x="496957" y="2425150"/>
            <a:ext cx="11080443" cy="4432848"/>
          </a:xfrm>
        </p:spPr>
        <p:txBody>
          <a:bodyPr anchor="t">
            <a:normAutofit fontScale="77500" lnSpcReduction="20000"/>
          </a:bodyPr>
          <a:lstStyle/>
          <a:p>
            <a:r>
              <a:rPr lang="tr-TR" sz="2000" b="1">
                <a:solidFill>
                  <a:schemeClr val="tx1">
                    <a:alpha val="80000"/>
                  </a:schemeClr>
                </a:solidFill>
              </a:rPr>
              <a:t>Genel Havalandırma</a:t>
            </a:r>
          </a:p>
          <a:p>
            <a:pPr marL="0" indent="0">
              <a:buNone/>
            </a:pPr>
            <a:endParaRPr lang="tr-TR" sz="2000">
              <a:solidFill>
                <a:schemeClr val="tx1">
                  <a:alpha val="80000"/>
                </a:schemeClr>
              </a:solidFill>
            </a:endParaRPr>
          </a:p>
          <a:p>
            <a:pPr marL="0" indent="0">
              <a:buNone/>
            </a:pPr>
            <a:r>
              <a:rPr lang="tr-TR" sz="2000">
                <a:solidFill>
                  <a:schemeClr val="tx1">
                    <a:alpha val="80000"/>
                  </a:schemeClr>
                </a:solidFill>
              </a:rPr>
              <a:t>   Yerel (lokal) olarak yapılan, kirli havanın vakum yolu ile dışarı atılmasında, bu durum ikinci derecede önemlidir.</a:t>
            </a:r>
          </a:p>
          <a:p>
            <a:pPr marL="0" indent="0">
              <a:buNone/>
            </a:pPr>
            <a:r>
              <a:rPr lang="tr-TR" sz="2000">
                <a:solidFill>
                  <a:schemeClr val="tx1">
                    <a:alpha val="80000"/>
                  </a:schemeClr>
                </a:solidFill>
              </a:rPr>
              <a:t>   Çoğu zaman genel havalandırmada meydana gelen bir hata sonucu, bunun yerine yerel olarak havanın vakum yolu ile çalışma ortam atmosferinden uzaklaştırılması (atılması) uygulanır.</a:t>
            </a:r>
          </a:p>
          <a:p>
            <a:pPr marL="0" indent="0">
              <a:buNone/>
            </a:pPr>
            <a:r>
              <a:rPr lang="tr-TR" sz="2000">
                <a:solidFill>
                  <a:schemeClr val="tx1">
                    <a:alpha val="80000"/>
                  </a:schemeClr>
                </a:solidFill>
              </a:rPr>
              <a:t>   Genel havalandırmanın , </a:t>
            </a:r>
            <a:r>
              <a:rPr lang="tr-TR" sz="2000" b="1">
                <a:solidFill>
                  <a:schemeClr val="tx1">
                    <a:alpha val="80000"/>
                  </a:schemeClr>
                </a:solidFill>
              </a:rPr>
              <a:t>etkili olmasını sınırlayan bir çok faktör vardır</a:t>
            </a:r>
            <a:r>
              <a:rPr lang="tr-TR" sz="2000">
                <a:solidFill>
                  <a:schemeClr val="tx1">
                    <a:alpha val="80000"/>
                  </a:schemeClr>
                </a:solidFill>
              </a:rPr>
              <a:t>.</a:t>
            </a:r>
          </a:p>
          <a:p>
            <a:pPr>
              <a:buFont typeface="Wingdings" panose="05000000000000000000" pitchFamily="2" charset="2"/>
              <a:buChar char="ü"/>
            </a:pPr>
            <a:r>
              <a:rPr lang="tr-TR" sz="2000">
                <a:solidFill>
                  <a:schemeClr val="tx1">
                    <a:alpha val="80000"/>
                  </a:schemeClr>
                </a:solidFill>
              </a:rPr>
              <a:t>Kirli havanın toplam miktarı.</a:t>
            </a:r>
          </a:p>
          <a:p>
            <a:pPr>
              <a:buFont typeface="Wingdings" panose="05000000000000000000" pitchFamily="2" charset="2"/>
              <a:buChar char="ü"/>
            </a:pPr>
            <a:r>
              <a:rPr lang="tr-TR" sz="2000">
                <a:solidFill>
                  <a:schemeClr val="tx1">
                    <a:alpha val="80000"/>
                  </a:schemeClr>
                </a:solidFill>
              </a:rPr>
              <a:t>İşçilerin yakınında bulunan havayı kirleten kaynaklardaki kirlilik konsantrasyon derecesi.</a:t>
            </a:r>
          </a:p>
          <a:p>
            <a:pPr marL="0" indent="0">
              <a:buNone/>
            </a:pPr>
            <a:endParaRPr lang="tr-TR" sz="2000">
              <a:solidFill>
                <a:schemeClr val="tx1">
                  <a:alpha val="80000"/>
                </a:schemeClr>
              </a:solidFill>
            </a:endParaRPr>
          </a:p>
          <a:p>
            <a:pPr marL="0" indent="0">
              <a:buNone/>
            </a:pPr>
            <a:r>
              <a:rPr lang="tr-TR" sz="2000">
                <a:solidFill>
                  <a:schemeClr val="tx1">
                    <a:alpha val="80000"/>
                  </a:schemeClr>
                </a:solidFill>
              </a:rPr>
              <a:t>Genel havalandırma, aşağıdaki durumlarda </a:t>
            </a:r>
            <a:r>
              <a:rPr lang="tr-TR" sz="2000" b="1">
                <a:solidFill>
                  <a:schemeClr val="tx1">
                    <a:alpha val="80000"/>
                  </a:schemeClr>
                </a:solidFill>
              </a:rPr>
              <a:t>başarılı olarak kullanılabilir</a:t>
            </a:r>
            <a:r>
              <a:rPr lang="tr-TR" sz="2000">
                <a:solidFill>
                  <a:schemeClr val="tx1">
                    <a:alpha val="80000"/>
                  </a:schemeClr>
                </a:solidFill>
              </a:rPr>
              <a:t>.</a:t>
            </a:r>
          </a:p>
          <a:p>
            <a:pPr>
              <a:buFont typeface="Wingdings" panose="05000000000000000000" pitchFamily="2" charset="2"/>
              <a:buChar char="ü"/>
            </a:pPr>
            <a:r>
              <a:rPr lang="tr-TR" sz="2000">
                <a:solidFill>
                  <a:schemeClr val="tx1">
                    <a:alpha val="80000"/>
                  </a:schemeClr>
                </a:solidFill>
              </a:rPr>
              <a:t>Üretimden dolayı hava kirlilik oranının düşük olduğu ve konsantrasyonunun (miktarının), çalışma ortam atmosferi güvenlik sınırı içinde olduğu durumlarda.</a:t>
            </a:r>
          </a:p>
          <a:p>
            <a:pPr>
              <a:buFont typeface="Wingdings" panose="05000000000000000000" pitchFamily="2" charset="2"/>
              <a:buChar char="ü"/>
            </a:pPr>
            <a:r>
              <a:rPr lang="tr-TR" sz="2000">
                <a:solidFill>
                  <a:schemeClr val="tx1">
                    <a:alpha val="80000"/>
                  </a:schemeClr>
                </a:solidFill>
              </a:rPr>
              <a:t>Üretimden dolayı, hava kirlenmelerinin diğer bölgelere yayılmasının istenmediği veya bunun önemsiz olduğu durumlarda.</a:t>
            </a:r>
          </a:p>
          <a:p>
            <a:pPr marL="0" indent="0">
              <a:buNone/>
            </a:pPr>
            <a:endParaRPr lang="tr-TR" sz="800">
              <a:solidFill>
                <a:schemeClr val="tx1">
                  <a:alpha val="80000"/>
                </a:schemeClr>
              </a:solidFill>
            </a:endParaRPr>
          </a:p>
        </p:txBody>
      </p:sp>
      <p:pic>
        <p:nvPicPr>
          <p:cNvPr id="4" name="Resim 3">
            <a:extLst>
              <a:ext uri="{FF2B5EF4-FFF2-40B4-BE49-F238E27FC236}">
                <a16:creationId xmlns:a16="http://schemas.microsoft.com/office/drawing/2014/main" id="{C2700F80-19B6-F40D-09E7-30602333C4E0}"/>
              </a:ext>
            </a:extLst>
          </p:cNvPr>
          <p:cNvPicPr>
            <a:picLocks noChangeAspect="1"/>
          </p:cNvPicPr>
          <p:nvPr/>
        </p:nvPicPr>
        <p:blipFill>
          <a:blip r:embed="rId2"/>
          <a:srcRect b="13170"/>
          <a:stretch>
            <a:fillRect/>
          </a:stretch>
        </p:blipFill>
        <p:spPr>
          <a:xfrm>
            <a:off x="7301394" y="1098140"/>
            <a:ext cx="3548404" cy="1802522"/>
          </a:xfrm>
          <a:prstGeom prst="rect">
            <a:avLst/>
          </a:prstGeom>
        </p:spPr>
      </p:pic>
      <p:sp>
        <p:nvSpPr>
          <p:cNvPr id="29"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31"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8153337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1C9456-0A06-933D-0418-23150E5D0A3F}"/>
            </a:ext>
          </a:extLst>
        </p:cNvPr>
        <p:cNvGrpSpPr/>
        <p:nvPr/>
      </p:nvGrpSpPr>
      <p:grpSpPr>
        <a:xfrm>
          <a:off x="0" y="0"/>
          <a:ext cx="0" cy="0"/>
          <a:chOff x="0" y="0"/>
          <a:chExt cx="0" cy="0"/>
        </a:xfrm>
      </p:grpSpPr>
      <p:sp useBgFill="1">
        <p:nvSpPr>
          <p:cNvPr id="18" name="Rectangle 8">
            <a:extLst>
              <a:ext uri="{FF2B5EF4-FFF2-40B4-BE49-F238E27FC236}">
                <a16:creationId xmlns:a16="http://schemas.microsoft.com/office/drawing/2014/main" id="{687AFE0E-B37D-4531-AFE8-231C8348E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9085A4D-974E-4A24-33A3-8FBE05839A50}"/>
              </a:ext>
            </a:extLst>
          </p:cNvPr>
          <p:cNvSpPr>
            <a:spLocks noGrp="1"/>
          </p:cNvSpPr>
          <p:nvPr>
            <p:ph type="title"/>
          </p:nvPr>
        </p:nvSpPr>
        <p:spPr>
          <a:xfrm>
            <a:off x="838200" y="365125"/>
            <a:ext cx="10515600" cy="1325563"/>
          </a:xfrm>
        </p:spPr>
        <p:txBody>
          <a:bodyPr>
            <a:normAutofit/>
          </a:bodyPr>
          <a:lstStyle/>
          <a:p>
            <a:r>
              <a:rPr lang="tr-TR" b="1">
                <a:solidFill>
                  <a:srgbClr val="C00000"/>
                </a:solidFill>
              </a:rPr>
              <a:t>Tehlikeleri Önleyici Kontrol Yöntemleri</a:t>
            </a:r>
            <a:endParaRPr lang="tr-TR">
              <a:solidFill>
                <a:srgbClr val="C00000"/>
              </a:solidFill>
            </a:endParaRPr>
          </a:p>
        </p:txBody>
      </p:sp>
      <p:sp>
        <p:nvSpPr>
          <p:cNvPr id="3" name="İçerik Yer Tutucusu 2">
            <a:extLst>
              <a:ext uri="{FF2B5EF4-FFF2-40B4-BE49-F238E27FC236}">
                <a16:creationId xmlns:a16="http://schemas.microsoft.com/office/drawing/2014/main" id="{AE907822-742B-2D68-1745-4B4E8A2E3F7E}"/>
              </a:ext>
            </a:extLst>
          </p:cNvPr>
          <p:cNvSpPr>
            <a:spLocks noGrp="1"/>
          </p:cNvSpPr>
          <p:nvPr>
            <p:ph idx="1"/>
          </p:nvPr>
        </p:nvSpPr>
        <p:spPr>
          <a:xfrm>
            <a:off x="496957" y="1590262"/>
            <a:ext cx="7417850" cy="4902614"/>
          </a:xfrm>
        </p:spPr>
        <p:txBody>
          <a:bodyPr>
            <a:normAutofit lnSpcReduction="10000"/>
          </a:bodyPr>
          <a:lstStyle/>
          <a:p>
            <a:r>
              <a:rPr lang="tr-TR" sz="2000" b="1"/>
              <a:t> Solunum yolları koruyucu donanımlarını (teçhizatlarını) kullanma.</a:t>
            </a:r>
          </a:p>
          <a:p>
            <a:pPr marL="0" indent="0">
              <a:buNone/>
            </a:pPr>
            <a:r>
              <a:rPr lang="tr-TR" sz="2000"/>
              <a:t>    Çalışanların zararlı </a:t>
            </a:r>
            <a:r>
              <a:rPr lang="tr-TR" sz="2000" b="1"/>
              <a:t>toz, duman, gaz, buhar, sis, aerosol ve biyolojik etkenleri</a:t>
            </a:r>
            <a:r>
              <a:rPr lang="tr-TR" sz="2000"/>
              <a:t> solumasını önlemek amacıyla kullanılan kişisel koruyucu ekipmanlardır.</a:t>
            </a:r>
          </a:p>
          <a:p>
            <a:pPr marL="0" indent="0">
              <a:buNone/>
            </a:pPr>
            <a:r>
              <a:rPr lang="tr-TR" sz="2000"/>
              <a:t>   Koruyucu solunum donanımlarını </a:t>
            </a:r>
            <a:r>
              <a:rPr lang="tr-TR" sz="2000" b="1"/>
              <a:t>özel kullanım koşulları</a:t>
            </a:r>
            <a:r>
              <a:rPr lang="tr-TR" sz="2000"/>
              <a:t>:</a:t>
            </a:r>
          </a:p>
          <a:p>
            <a:pPr>
              <a:buFont typeface="Wingdings" panose="05000000000000000000" pitchFamily="2" charset="2"/>
              <a:buChar char="ü"/>
            </a:pPr>
            <a:r>
              <a:rPr lang="tr-TR" sz="2000"/>
              <a:t>Koruyucu solunum donanımı, </a:t>
            </a:r>
            <a:r>
              <a:rPr lang="tr-TR" sz="2000" b="1"/>
              <a:t>ortam riskine uygun seçilmeli, doğru takılmalı, düzenli kontrol edilmeli ve bilinçli kullanılmalıdır</a:t>
            </a:r>
            <a:r>
              <a:rPr lang="tr-TR" sz="2000"/>
              <a:t>. Yanlış ekipman, hiç kullanmamaktan daha tehlikeli olabilir. </a:t>
            </a:r>
          </a:p>
          <a:p>
            <a:pPr>
              <a:buFont typeface="Wingdings" panose="05000000000000000000" pitchFamily="2" charset="2"/>
              <a:buChar char="ü"/>
            </a:pPr>
            <a:r>
              <a:rPr lang="tr-TR" sz="2000"/>
              <a:t>Donanımın – teçhizatın temizliği ve bakımı için gerekli malzeme temini.</a:t>
            </a:r>
          </a:p>
          <a:p>
            <a:pPr>
              <a:buFont typeface="Wingdings" panose="05000000000000000000" pitchFamily="2" charset="2"/>
              <a:buChar char="ü"/>
            </a:pPr>
            <a:r>
              <a:rPr lang="tr-TR" sz="2000"/>
              <a:t>Çalışanlar ekipmanın doğru takılması ve çıkarılması konusunda eğitimi.</a:t>
            </a:r>
          </a:p>
          <a:p>
            <a:pPr marL="0" indent="0">
              <a:buNone/>
            </a:pPr>
            <a:endParaRPr lang="tr-TR" sz="1700"/>
          </a:p>
        </p:txBody>
      </p:sp>
      <p:pic>
        <p:nvPicPr>
          <p:cNvPr id="4" name="Resim 3">
            <a:extLst>
              <a:ext uri="{FF2B5EF4-FFF2-40B4-BE49-F238E27FC236}">
                <a16:creationId xmlns:a16="http://schemas.microsoft.com/office/drawing/2014/main" id="{8D2A0B71-62FF-C0FF-041B-98C0741FD439}"/>
              </a:ext>
            </a:extLst>
          </p:cNvPr>
          <p:cNvPicPr>
            <a:picLocks noChangeAspect="1"/>
          </p:cNvPicPr>
          <p:nvPr/>
        </p:nvPicPr>
        <p:blipFill>
          <a:blip r:embed="rId2"/>
          <a:srcRect l="32755" r="14654" b="2"/>
          <a:stretch>
            <a:fillRect/>
          </a:stretch>
        </p:blipFill>
        <p:spPr>
          <a:xfrm>
            <a:off x="7800369" y="1802714"/>
            <a:ext cx="4081792" cy="3252571"/>
          </a:xfrm>
          <a:custGeom>
            <a:avLst/>
            <a:gdLst/>
            <a:ahLst/>
            <a:cxnLst/>
            <a:rect l="l" t="t" r="r" b="b"/>
            <a:pathLst>
              <a:path w="5283866" h="4210442">
                <a:moveTo>
                  <a:pt x="839883" y="18"/>
                </a:moveTo>
                <a:cubicBezTo>
                  <a:pt x="851945" y="328"/>
                  <a:pt x="864423" y="4671"/>
                  <a:pt x="875727" y="6050"/>
                </a:cubicBezTo>
                <a:cubicBezTo>
                  <a:pt x="1125267" y="36932"/>
                  <a:pt x="1374804" y="70296"/>
                  <a:pt x="1624617" y="99799"/>
                </a:cubicBezTo>
                <a:cubicBezTo>
                  <a:pt x="1858164" y="127373"/>
                  <a:pt x="2093363" y="133714"/>
                  <a:pt x="2328012" y="148051"/>
                </a:cubicBezTo>
                <a:cubicBezTo>
                  <a:pt x="2612016" y="165424"/>
                  <a:pt x="2895470" y="189965"/>
                  <a:pt x="3177820" y="228566"/>
                </a:cubicBezTo>
                <a:cubicBezTo>
                  <a:pt x="3373866" y="255590"/>
                  <a:pt x="3571843" y="274338"/>
                  <a:pt x="3770646" y="252831"/>
                </a:cubicBezTo>
                <a:cubicBezTo>
                  <a:pt x="3780572" y="251727"/>
                  <a:pt x="3791878" y="248144"/>
                  <a:pt x="3800149" y="251727"/>
                </a:cubicBezTo>
                <a:cubicBezTo>
                  <a:pt x="3896658" y="291986"/>
                  <a:pt x="4001986" y="263033"/>
                  <a:pt x="4102076" y="288400"/>
                </a:cubicBezTo>
                <a:cubicBezTo>
                  <a:pt x="4076434" y="386286"/>
                  <a:pt x="3966416" y="378289"/>
                  <a:pt x="3904377" y="446120"/>
                </a:cubicBezTo>
                <a:cubicBezTo>
                  <a:pt x="4005570" y="473141"/>
                  <a:pt x="4096562" y="500439"/>
                  <a:pt x="4188933" y="520843"/>
                </a:cubicBezTo>
                <a:cubicBezTo>
                  <a:pt x="4286818" y="542350"/>
                  <a:pt x="4369813" y="600531"/>
                  <a:pt x="4465492" y="626449"/>
                </a:cubicBezTo>
                <a:cubicBezTo>
                  <a:pt x="4485897" y="631964"/>
                  <a:pt x="4510437" y="651264"/>
                  <a:pt x="4517606" y="670015"/>
                </a:cubicBezTo>
                <a:cubicBezTo>
                  <a:pt x="4540768" y="730677"/>
                  <a:pt x="5003171" y="900804"/>
                  <a:pt x="4948576" y="954847"/>
                </a:cubicBezTo>
                <a:cubicBezTo>
                  <a:pt x="4925966" y="977182"/>
                  <a:pt x="4896738" y="993174"/>
                  <a:pt x="4866132" y="1015233"/>
                </a:cubicBezTo>
                <a:cubicBezTo>
                  <a:pt x="4912180" y="1056869"/>
                  <a:pt x="4964017" y="1075067"/>
                  <a:pt x="5019164" y="1087474"/>
                </a:cubicBezTo>
                <a:cubicBezTo>
                  <a:pt x="5035708" y="1091335"/>
                  <a:pt x="5051977" y="1099055"/>
                  <a:pt x="5053630" y="1117806"/>
                </a:cubicBezTo>
                <a:cubicBezTo>
                  <a:pt x="5055284" y="1137382"/>
                  <a:pt x="5038464" y="1145101"/>
                  <a:pt x="5024404" y="1154202"/>
                </a:cubicBezTo>
                <a:cubicBezTo>
                  <a:pt x="5004826" y="1166885"/>
                  <a:pt x="4985800" y="1177916"/>
                  <a:pt x="4960984" y="1179569"/>
                </a:cubicBezTo>
                <a:cubicBezTo>
                  <a:pt x="4920176" y="1182051"/>
                  <a:pt x="4900600" y="1217344"/>
                  <a:pt x="4876887" y="1243814"/>
                </a:cubicBezTo>
                <a:cubicBezTo>
                  <a:pt x="4863652" y="1258705"/>
                  <a:pt x="4857034" y="1288759"/>
                  <a:pt x="4880195" y="1293998"/>
                </a:cubicBezTo>
                <a:cubicBezTo>
                  <a:pt x="4935892" y="1306682"/>
                  <a:pt x="4931480" y="1343355"/>
                  <a:pt x="4930104" y="1384991"/>
                </a:cubicBezTo>
                <a:cubicBezTo>
                  <a:pt x="4928173" y="1436553"/>
                  <a:pt x="4895360" y="1460265"/>
                  <a:pt x="4855103" y="1480119"/>
                </a:cubicBezTo>
                <a:cubicBezTo>
                  <a:pt x="4841316" y="1487011"/>
                  <a:pt x="4821740" y="1486735"/>
                  <a:pt x="4816500" y="1508242"/>
                </a:cubicBezTo>
                <a:cubicBezTo>
                  <a:pt x="4839110" y="1528648"/>
                  <a:pt x="4866684" y="1512103"/>
                  <a:pt x="4890949" y="1517893"/>
                </a:cubicBezTo>
                <a:cubicBezTo>
                  <a:pt x="4911077" y="1522581"/>
                  <a:pt x="4944441" y="1520100"/>
                  <a:pt x="4916868" y="1557599"/>
                </a:cubicBezTo>
                <a:cubicBezTo>
                  <a:pt x="4908870" y="1568352"/>
                  <a:pt x="4918245" y="1576625"/>
                  <a:pt x="4928448" y="1577453"/>
                </a:cubicBezTo>
                <a:cubicBezTo>
                  <a:pt x="5010066" y="1586000"/>
                  <a:pt x="4972566" y="1661827"/>
                  <a:pt x="4998760" y="1701809"/>
                </a:cubicBezTo>
                <a:cubicBezTo>
                  <a:pt x="5005928" y="1712836"/>
                  <a:pt x="4998208" y="1731862"/>
                  <a:pt x="4986903" y="1736550"/>
                </a:cubicBezTo>
                <a:cubicBezTo>
                  <a:pt x="4914660" y="1767432"/>
                  <a:pt x="4904735" y="1841053"/>
                  <a:pt x="4869716" y="1904472"/>
                </a:cubicBezTo>
                <a:cubicBezTo>
                  <a:pt x="4907768" y="1929562"/>
                  <a:pt x="4953264" y="1935077"/>
                  <a:pt x="4994348" y="1951346"/>
                </a:cubicBezTo>
                <a:cubicBezTo>
                  <a:pt x="5037087" y="1968441"/>
                  <a:pt x="5037087" y="1981125"/>
                  <a:pt x="5001792" y="2030756"/>
                </a:cubicBezTo>
                <a:cubicBezTo>
                  <a:pt x="5093611" y="2041511"/>
                  <a:pt x="5093611" y="2041511"/>
                  <a:pt x="5065212" y="2119543"/>
                </a:cubicBezTo>
                <a:cubicBezTo>
                  <a:pt x="5142142" y="2126712"/>
                  <a:pt x="5192876" y="2163660"/>
                  <a:pt x="5204732" y="2244450"/>
                </a:cubicBezTo>
                <a:cubicBezTo>
                  <a:pt x="5210523" y="2283604"/>
                  <a:pt x="5245265" y="2302077"/>
                  <a:pt x="5283866" y="2328272"/>
                </a:cubicBezTo>
                <a:cubicBezTo>
                  <a:pt x="5235890" y="2353641"/>
                  <a:pt x="5203354" y="2406580"/>
                  <a:pt x="5147380" y="2350606"/>
                </a:cubicBezTo>
                <a:cubicBezTo>
                  <a:pt x="5126976" y="2330203"/>
                  <a:pt x="5128904" y="2356121"/>
                  <a:pt x="5126148" y="2363566"/>
                </a:cubicBezTo>
                <a:cubicBezTo>
                  <a:pt x="5119532" y="2381764"/>
                  <a:pt x="5133316" y="2393897"/>
                  <a:pt x="5142417" y="2407682"/>
                </a:cubicBezTo>
                <a:cubicBezTo>
                  <a:pt x="5151240" y="2421470"/>
                  <a:pt x="5161718" y="2436083"/>
                  <a:pt x="5164200" y="2451526"/>
                </a:cubicBezTo>
                <a:cubicBezTo>
                  <a:pt x="5165852" y="2462279"/>
                  <a:pt x="5157858" y="2477994"/>
                  <a:pt x="5149034" y="2485992"/>
                </a:cubicBezTo>
                <a:cubicBezTo>
                  <a:pt x="5102710" y="2528178"/>
                  <a:pt x="5130284" y="2623031"/>
                  <a:pt x="5042601" y="2635164"/>
                </a:cubicBezTo>
                <a:cubicBezTo>
                  <a:pt x="5003171" y="2640677"/>
                  <a:pt x="4984146" y="2675420"/>
                  <a:pt x="4955194" y="2694445"/>
                </a:cubicBezTo>
                <a:cubicBezTo>
                  <a:pt x="4854552" y="2760897"/>
                  <a:pt x="4787272" y="2846375"/>
                  <a:pt x="4756116" y="2963836"/>
                </a:cubicBezTo>
                <a:cubicBezTo>
                  <a:pt x="4747568" y="2996372"/>
                  <a:pt x="4714754" y="3022569"/>
                  <a:pt x="4693523" y="3051244"/>
                </a:cubicBezTo>
                <a:cubicBezTo>
                  <a:pt x="4703726" y="3072199"/>
                  <a:pt x="4759424" y="3026979"/>
                  <a:pt x="4739848" y="3082125"/>
                </a:cubicBezTo>
                <a:cubicBezTo>
                  <a:pt x="4724958" y="3123486"/>
                  <a:pt x="4686906" y="3149129"/>
                  <a:pt x="4651060" y="3173670"/>
                </a:cubicBezTo>
                <a:cubicBezTo>
                  <a:pt x="4610252" y="3201518"/>
                  <a:pt x="4565032" y="3223852"/>
                  <a:pt x="4546556" y="3275413"/>
                </a:cubicBezTo>
                <a:cubicBezTo>
                  <a:pt x="4542697" y="3286444"/>
                  <a:pt x="4530288" y="3298024"/>
                  <a:pt x="4519261" y="3302437"/>
                </a:cubicBezTo>
                <a:cubicBezTo>
                  <a:pt x="3944081" y="4209875"/>
                  <a:pt x="2528194" y="4215939"/>
                  <a:pt x="2364961" y="4209597"/>
                </a:cubicBezTo>
                <a:cubicBezTo>
                  <a:pt x="2167260" y="4201602"/>
                  <a:pt x="1980313" y="4145627"/>
                  <a:pt x="1796951" y="4075867"/>
                </a:cubicBezTo>
                <a:cubicBezTo>
                  <a:pt x="1719469" y="4046365"/>
                  <a:pt x="1647505" y="4004453"/>
                  <a:pt x="1572227" y="3971917"/>
                </a:cubicBezTo>
                <a:cubicBezTo>
                  <a:pt x="1468277" y="3926971"/>
                  <a:pt x="1388040" y="3841219"/>
                  <a:pt x="1284364" y="3805097"/>
                </a:cubicBezTo>
                <a:cubicBezTo>
                  <a:pt x="1177655" y="3767873"/>
                  <a:pt x="1086388" y="3699767"/>
                  <a:pt x="976645" y="3670815"/>
                </a:cubicBezTo>
                <a:cubicBezTo>
                  <a:pt x="918742" y="3655375"/>
                  <a:pt x="862768" y="3627527"/>
                  <a:pt x="871866" y="3547839"/>
                </a:cubicBezTo>
                <a:cubicBezTo>
                  <a:pt x="874349" y="3525228"/>
                  <a:pt x="859184" y="3506755"/>
                  <a:pt x="835195" y="3513373"/>
                </a:cubicBezTo>
                <a:cubicBezTo>
                  <a:pt x="789424" y="3525780"/>
                  <a:pt x="768744" y="3492967"/>
                  <a:pt x="743375" y="3468427"/>
                </a:cubicBezTo>
                <a:cubicBezTo>
                  <a:pt x="698156" y="3424863"/>
                  <a:pt x="655142" y="3378540"/>
                  <a:pt x="583175" y="3371370"/>
                </a:cubicBezTo>
                <a:cubicBezTo>
                  <a:pt x="596961" y="3337178"/>
                  <a:pt x="620399" y="3342142"/>
                  <a:pt x="641906" y="3349311"/>
                </a:cubicBezTo>
                <a:cubicBezTo>
                  <a:pt x="698432" y="3368062"/>
                  <a:pt x="754405" y="3389293"/>
                  <a:pt x="810930" y="3408042"/>
                </a:cubicBezTo>
                <a:cubicBezTo>
                  <a:pt x="847878" y="3420175"/>
                  <a:pt x="884551" y="3437271"/>
                  <a:pt x="933908" y="3423758"/>
                </a:cubicBezTo>
                <a:cubicBezTo>
                  <a:pt x="891445" y="3354826"/>
                  <a:pt x="819202" y="3342418"/>
                  <a:pt x="760747" y="3321187"/>
                </a:cubicBezTo>
                <a:cubicBezTo>
                  <a:pt x="687678" y="3294441"/>
                  <a:pt x="644664" y="3243980"/>
                  <a:pt x="593101" y="3187731"/>
                </a:cubicBezTo>
                <a:cubicBezTo>
                  <a:pt x="646869" y="3174220"/>
                  <a:pt x="680233" y="3215581"/>
                  <a:pt x="722419" y="3213374"/>
                </a:cubicBezTo>
                <a:cubicBezTo>
                  <a:pt x="724627" y="3206207"/>
                  <a:pt x="728486" y="3195729"/>
                  <a:pt x="727934" y="3195451"/>
                </a:cubicBezTo>
                <a:cubicBezTo>
                  <a:pt x="659002" y="3164570"/>
                  <a:pt x="626741" y="3106666"/>
                  <a:pt x="615987" y="3036630"/>
                </a:cubicBezTo>
                <a:cubicBezTo>
                  <a:pt x="610473" y="3000510"/>
                  <a:pt x="585381" y="2989205"/>
                  <a:pt x="560564" y="2972660"/>
                </a:cubicBezTo>
                <a:cubicBezTo>
                  <a:pt x="473984" y="2913930"/>
                  <a:pt x="382441" y="2860713"/>
                  <a:pt x="311302" y="2779924"/>
                </a:cubicBezTo>
                <a:cubicBezTo>
                  <a:pt x="393471" y="2790677"/>
                  <a:pt x="459371" y="2843341"/>
                  <a:pt x="547882" y="2865952"/>
                </a:cubicBezTo>
                <a:cubicBezTo>
                  <a:pt x="477570" y="2777166"/>
                  <a:pt x="386577" y="2732222"/>
                  <a:pt x="303582" y="2678453"/>
                </a:cubicBezTo>
                <a:cubicBezTo>
                  <a:pt x="265806" y="2653913"/>
                  <a:pt x="230790" y="2622479"/>
                  <a:pt x="185016" y="2609244"/>
                </a:cubicBezTo>
                <a:cubicBezTo>
                  <a:pt x="168748" y="2604556"/>
                  <a:pt x="142002" y="2594630"/>
                  <a:pt x="154963" y="2568435"/>
                </a:cubicBezTo>
                <a:cubicBezTo>
                  <a:pt x="165990" y="2546654"/>
                  <a:pt x="187773" y="2553269"/>
                  <a:pt x="207627" y="2559612"/>
                </a:cubicBezTo>
                <a:cubicBezTo>
                  <a:pt x="255328" y="2575330"/>
                  <a:pt x="304685" y="2575604"/>
                  <a:pt x="369207" y="2575330"/>
                </a:cubicBezTo>
                <a:cubicBezTo>
                  <a:pt x="315163" y="2503363"/>
                  <a:pt x="216174" y="2524871"/>
                  <a:pt x="169852" y="2449319"/>
                </a:cubicBezTo>
                <a:cubicBezTo>
                  <a:pt x="227755" y="2436083"/>
                  <a:pt x="272424" y="2463381"/>
                  <a:pt x="319299" y="2468619"/>
                </a:cubicBezTo>
                <a:cubicBezTo>
                  <a:pt x="361761" y="2473307"/>
                  <a:pt x="372239" y="2460624"/>
                  <a:pt x="362313" y="2418988"/>
                </a:cubicBezTo>
                <a:cubicBezTo>
                  <a:pt x="346873" y="2354190"/>
                  <a:pt x="370034" y="2321102"/>
                  <a:pt x="431798" y="2338750"/>
                </a:cubicBezTo>
                <a:cubicBezTo>
                  <a:pt x="489149" y="2355293"/>
                  <a:pt x="495215" y="2331030"/>
                  <a:pt x="479775" y="2294082"/>
                </a:cubicBezTo>
                <a:cubicBezTo>
                  <a:pt x="457716" y="2240315"/>
                  <a:pt x="482807" y="2198678"/>
                  <a:pt x="499903" y="2153458"/>
                </a:cubicBezTo>
                <a:cubicBezTo>
                  <a:pt x="526099" y="2084525"/>
                  <a:pt x="515069" y="2050885"/>
                  <a:pt x="458544" y="1999599"/>
                </a:cubicBezTo>
                <a:cubicBezTo>
                  <a:pt x="426835" y="1970921"/>
                  <a:pt x="392645" y="1946658"/>
                  <a:pt x="346596" y="1921843"/>
                </a:cubicBezTo>
                <a:cubicBezTo>
                  <a:pt x="452753" y="1908331"/>
                  <a:pt x="341358" y="1862836"/>
                  <a:pt x="378857" y="1834435"/>
                </a:cubicBezTo>
                <a:cubicBezTo>
                  <a:pt x="453856" y="1822854"/>
                  <a:pt x="515069" y="1913294"/>
                  <a:pt x="617091" y="1887376"/>
                </a:cubicBezTo>
                <a:cubicBezTo>
                  <a:pt x="491080" y="1809066"/>
                  <a:pt x="351835" y="1783423"/>
                  <a:pt x="260568" y="1679198"/>
                </a:cubicBezTo>
                <a:cubicBezTo>
                  <a:pt x="281523" y="1655484"/>
                  <a:pt x="302479" y="1677543"/>
                  <a:pt x="320402" y="1668720"/>
                </a:cubicBezTo>
                <a:cubicBezTo>
                  <a:pt x="319850" y="1663205"/>
                  <a:pt x="321230" y="1654932"/>
                  <a:pt x="317920" y="1652452"/>
                </a:cubicBezTo>
                <a:cubicBezTo>
                  <a:pt x="249815" y="1595650"/>
                  <a:pt x="248711" y="1594273"/>
                  <a:pt x="321779" y="1552359"/>
                </a:cubicBezTo>
                <a:cubicBezTo>
                  <a:pt x="347424" y="1537746"/>
                  <a:pt x="345218" y="1524786"/>
                  <a:pt x="331707" y="1506313"/>
                </a:cubicBezTo>
                <a:cubicBezTo>
                  <a:pt x="322055" y="1493353"/>
                  <a:pt x="310475" y="1481772"/>
                  <a:pt x="315990" y="1453371"/>
                </a:cubicBezTo>
                <a:cubicBezTo>
                  <a:pt x="355971" y="1489769"/>
                  <a:pt x="549259" y="1477912"/>
                  <a:pt x="583450" y="1474052"/>
                </a:cubicBezTo>
                <a:cubicBezTo>
                  <a:pt x="621777" y="1469917"/>
                  <a:pt x="659553" y="1452269"/>
                  <a:pt x="699809" y="1461919"/>
                </a:cubicBezTo>
                <a:cubicBezTo>
                  <a:pt x="732070" y="1469641"/>
                  <a:pt x="881516" y="1544364"/>
                  <a:pt x="902750" y="1458612"/>
                </a:cubicBezTo>
                <a:cubicBezTo>
                  <a:pt x="903853" y="1454475"/>
                  <a:pt x="964237" y="1464127"/>
                  <a:pt x="996774" y="1468814"/>
                </a:cubicBezTo>
                <a:cubicBezTo>
                  <a:pt x="1025451" y="1472674"/>
                  <a:pt x="1057712" y="1489769"/>
                  <a:pt x="1077012" y="1455578"/>
                </a:cubicBezTo>
                <a:cubicBezTo>
                  <a:pt x="1088317" y="1435450"/>
                  <a:pt x="1041719" y="1396571"/>
                  <a:pt x="1000083" y="1393262"/>
                </a:cubicBezTo>
                <a:cubicBezTo>
                  <a:pt x="963961" y="1390229"/>
                  <a:pt x="926186" y="1385817"/>
                  <a:pt x="891720" y="1394089"/>
                </a:cubicBezTo>
                <a:cubicBezTo>
                  <a:pt x="849258" y="1404017"/>
                  <a:pt x="826372" y="1388024"/>
                  <a:pt x="814515" y="1353557"/>
                </a:cubicBezTo>
                <a:cubicBezTo>
                  <a:pt x="801280" y="1315506"/>
                  <a:pt x="775911" y="1297858"/>
                  <a:pt x="740895" y="1280211"/>
                </a:cubicBezTo>
                <a:cubicBezTo>
                  <a:pt x="655967" y="1237474"/>
                  <a:pt x="574352" y="1188118"/>
                  <a:pt x="481154" y="1163301"/>
                </a:cubicBezTo>
                <a:cubicBezTo>
                  <a:pt x="462679" y="1158337"/>
                  <a:pt x="442276" y="1151719"/>
                  <a:pt x="433728" y="1118909"/>
                </a:cubicBezTo>
                <a:cubicBezTo>
                  <a:pt x="686023" y="1167987"/>
                  <a:pt x="915984" y="1295929"/>
                  <a:pt x="1176276" y="1288484"/>
                </a:cubicBezTo>
                <a:cubicBezTo>
                  <a:pt x="1105137" y="1247950"/>
                  <a:pt x="1022694" y="1245745"/>
                  <a:pt x="946867" y="1217344"/>
                </a:cubicBezTo>
                <a:cubicBezTo>
                  <a:pt x="1000635" y="1196113"/>
                  <a:pt x="1051094" y="1218172"/>
                  <a:pt x="1102104" y="1230304"/>
                </a:cubicBezTo>
                <a:cubicBezTo>
                  <a:pt x="1144843" y="1240230"/>
                  <a:pt x="1183446" y="1241885"/>
                  <a:pt x="1188133" y="1182603"/>
                </a:cubicBezTo>
                <a:cubicBezTo>
                  <a:pt x="1186478" y="1178742"/>
                  <a:pt x="1186754" y="1173780"/>
                  <a:pt x="1187030" y="1169092"/>
                </a:cubicBezTo>
                <a:cubicBezTo>
                  <a:pt x="1172690" y="1144552"/>
                  <a:pt x="1150358" y="1131868"/>
                  <a:pt x="1123887" y="1124698"/>
                </a:cubicBezTo>
                <a:cubicBezTo>
                  <a:pt x="1107894" y="1120286"/>
                  <a:pt x="1086663" y="1113668"/>
                  <a:pt x="1086938" y="1096023"/>
                </a:cubicBezTo>
                <a:cubicBezTo>
                  <a:pt x="1087765" y="1030674"/>
                  <a:pt x="1036756" y="1011647"/>
                  <a:pt x="985744" y="992622"/>
                </a:cubicBezTo>
                <a:cubicBezTo>
                  <a:pt x="1014145" y="960086"/>
                  <a:pt x="1036479" y="984074"/>
                  <a:pt x="1057987" y="981594"/>
                </a:cubicBezTo>
                <a:cubicBezTo>
                  <a:pt x="1072049" y="979939"/>
                  <a:pt x="1084733" y="976906"/>
                  <a:pt x="1084733" y="960086"/>
                </a:cubicBezTo>
                <a:cubicBezTo>
                  <a:pt x="1085008" y="946023"/>
                  <a:pt x="1078390" y="930030"/>
                  <a:pt x="1064605" y="929756"/>
                </a:cubicBezTo>
                <a:cubicBezTo>
                  <a:pt x="978300" y="927273"/>
                  <a:pt x="930599" y="836833"/>
                  <a:pt x="840985" y="836558"/>
                </a:cubicBezTo>
                <a:cubicBezTo>
                  <a:pt x="787493" y="836558"/>
                  <a:pt x="868834" y="785547"/>
                  <a:pt x="823615" y="764315"/>
                </a:cubicBezTo>
                <a:cubicBezTo>
                  <a:pt x="813687" y="759628"/>
                  <a:pt x="849533" y="752460"/>
                  <a:pt x="865526" y="753562"/>
                </a:cubicBezTo>
                <a:cubicBezTo>
                  <a:pt x="881242" y="754665"/>
                  <a:pt x="895304" y="768175"/>
                  <a:pt x="914331" y="758525"/>
                </a:cubicBezTo>
                <a:cubicBezTo>
                  <a:pt x="924808" y="724059"/>
                  <a:pt x="897787" y="711375"/>
                  <a:pt x="875452" y="701724"/>
                </a:cubicBezTo>
                <a:cubicBezTo>
                  <a:pt x="823889" y="679390"/>
                  <a:pt x="773706" y="652369"/>
                  <a:pt x="717181" y="644371"/>
                </a:cubicBezTo>
                <a:cubicBezTo>
                  <a:pt x="697053" y="641614"/>
                  <a:pt x="746133" y="604666"/>
                  <a:pt x="755783" y="591707"/>
                </a:cubicBezTo>
                <a:cubicBezTo>
                  <a:pt x="528304" y="455496"/>
                  <a:pt x="254778" y="462388"/>
                  <a:pt x="0" y="352370"/>
                </a:cubicBezTo>
                <a:cubicBezTo>
                  <a:pt x="56250" y="330864"/>
                  <a:pt x="97610" y="346580"/>
                  <a:pt x="135937" y="349889"/>
                </a:cubicBezTo>
                <a:cubicBezTo>
                  <a:pt x="231615" y="358160"/>
                  <a:pt x="326193" y="375256"/>
                  <a:pt x="421595" y="385458"/>
                </a:cubicBezTo>
                <a:cubicBezTo>
                  <a:pt x="468469" y="390421"/>
                  <a:pt x="512035" y="409172"/>
                  <a:pt x="564424" y="379393"/>
                </a:cubicBezTo>
                <a:cubicBezTo>
                  <a:pt x="599443" y="359540"/>
                  <a:pt x="655418" y="381046"/>
                  <a:pt x="698432" y="398694"/>
                </a:cubicBezTo>
                <a:cubicBezTo>
                  <a:pt x="734000" y="413307"/>
                  <a:pt x="767916" y="417167"/>
                  <a:pt x="815067" y="398694"/>
                </a:cubicBezTo>
                <a:cubicBezTo>
                  <a:pt x="772328" y="387389"/>
                  <a:pt x="739515" y="377463"/>
                  <a:pt x="705876" y="370568"/>
                </a:cubicBezTo>
                <a:cubicBezTo>
                  <a:pt x="679130" y="365055"/>
                  <a:pt x="742825" y="342719"/>
                  <a:pt x="775360" y="345477"/>
                </a:cubicBezTo>
                <a:cubicBezTo>
                  <a:pt x="820857" y="349337"/>
                  <a:pt x="795214" y="335000"/>
                  <a:pt x="787493" y="315146"/>
                </a:cubicBezTo>
                <a:cubicBezTo>
                  <a:pt x="779221" y="293915"/>
                  <a:pt x="803761" y="287298"/>
                  <a:pt x="819202" y="291709"/>
                </a:cubicBezTo>
                <a:cubicBezTo>
                  <a:pt x="878484" y="309081"/>
                  <a:pt x="937491" y="278474"/>
                  <a:pt x="998705" y="303291"/>
                </a:cubicBezTo>
                <a:cubicBezTo>
                  <a:pt x="983263" y="242077"/>
                  <a:pt x="949899" y="215331"/>
                  <a:pt x="880139" y="206783"/>
                </a:cubicBezTo>
                <a:cubicBezTo>
                  <a:pt x="853944" y="203475"/>
                  <a:pt x="826647" y="208438"/>
                  <a:pt x="804037" y="190790"/>
                </a:cubicBezTo>
                <a:cubicBezTo>
                  <a:pt x="791076" y="180590"/>
                  <a:pt x="776463" y="168457"/>
                  <a:pt x="786666" y="149707"/>
                </a:cubicBezTo>
                <a:cubicBezTo>
                  <a:pt x="793834" y="136471"/>
                  <a:pt x="809276" y="136471"/>
                  <a:pt x="821960" y="140884"/>
                </a:cubicBezTo>
                <a:cubicBezTo>
                  <a:pt x="878761" y="160461"/>
                  <a:pt x="938043" y="167630"/>
                  <a:pt x="997325" y="174800"/>
                </a:cubicBezTo>
                <a:cubicBezTo>
                  <a:pt x="1006426" y="175902"/>
                  <a:pt x="1016626" y="179487"/>
                  <a:pt x="1026829" y="161287"/>
                </a:cubicBezTo>
                <a:cubicBezTo>
                  <a:pt x="915984" y="131783"/>
                  <a:pt x="810655" y="89872"/>
                  <a:pt x="696777" y="73604"/>
                </a:cubicBezTo>
                <a:cubicBezTo>
                  <a:pt x="698432" y="65884"/>
                  <a:pt x="700086" y="58164"/>
                  <a:pt x="701741" y="50444"/>
                </a:cubicBezTo>
                <a:cubicBezTo>
                  <a:pt x="790801" y="61471"/>
                  <a:pt x="879864" y="72501"/>
                  <a:pt x="992362" y="86289"/>
                </a:cubicBezTo>
                <a:cubicBezTo>
                  <a:pt x="923153" y="42446"/>
                  <a:pt x="857805" y="57060"/>
                  <a:pt x="806519" y="18183"/>
                </a:cubicBezTo>
                <a:cubicBezTo>
                  <a:pt x="816170" y="3431"/>
                  <a:pt x="827820" y="-292"/>
                  <a:pt x="839883" y="18"/>
                </a:cubicBezTo>
                <a:close/>
              </a:path>
            </a:pathLst>
          </a:custGeom>
        </p:spPr>
      </p:pic>
    </p:spTree>
    <p:extLst>
      <p:ext uri="{BB962C8B-B14F-4D97-AF65-F5344CB8AC3E}">
        <p14:creationId xmlns:p14="http://schemas.microsoft.com/office/powerpoint/2010/main" val="2558261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DB0400-B6FB-3E55-31A6-8E3A9B3C7A4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a:p>
        </p:txBody>
      </p:sp>
      <p:sp>
        <p:nvSpPr>
          <p:cNvPr id="2" name="Başlık 1">
            <a:extLst>
              <a:ext uri="{FF2B5EF4-FFF2-40B4-BE49-F238E27FC236}">
                <a16:creationId xmlns:a16="http://schemas.microsoft.com/office/drawing/2014/main" id="{73405581-5037-97AC-417F-F7F9CF6CFA30}"/>
              </a:ext>
            </a:extLst>
          </p:cNvPr>
          <p:cNvSpPr>
            <a:spLocks noGrp="1"/>
          </p:cNvSpPr>
          <p:nvPr>
            <p:ph type="title"/>
          </p:nvPr>
        </p:nvSpPr>
        <p:spPr>
          <a:xfrm>
            <a:off x="838200" y="713312"/>
            <a:ext cx="4038600" cy="5431376"/>
          </a:xfrm>
        </p:spPr>
        <p:txBody>
          <a:bodyPr>
            <a:normAutofit/>
          </a:bodyPr>
          <a:lstStyle/>
          <a:p>
            <a:r>
              <a:rPr lang="tr-TR" b="1">
                <a:solidFill>
                  <a:srgbClr val="C00000"/>
                </a:solidFill>
              </a:rPr>
              <a:t>İş Hijyeninden kim sorumludur?</a:t>
            </a:r>
            <a:endParaRPr lang="tr-TR">
              <a:solidFill>
                <a:srgbClr val="C00000"/>
              </a:solidFill>
            </a:endParaRPr>
          </a:p>
        </p:txBody>
      </p:sp>
      <p:sp>
        <p:nvSpPr>
          <p:cNvPr id="3" name="İçerik Yer Tutucusu 2">
            <a:extLst>
              <a:ext uri="{FF2B5EF4-FFF2-40B4-BE49-F238E27FC236}">
                <a16:creationId xmlns:a16="http://schemas.microsoft.com/office/drawing/2014/main" id="{12A5824E-6316-AB5A-1437-D91FD80278C0}"/>
              </a:ext>
            </a:extLst>
          </p:cNvPr>
          <p:cNvSpPr>
            <a:spLocks noGrp="1"/>
          </p:cNvSpPr>
          <p:nvPr>
            <p:ph idx="1"/>
          </p:nvPr>
        </p:nvSpPr>
        <p:spPr>
          <a:xfrm>
            <a:off x="5714999" y="713312"/>
            <a:ext cx="5638801" cy="5672497"/>
          </a:xfrm>
        </p:spPr>
        <p:txBody>
          <a:bodyPr anchor="ctr">
            <a:normAutofit lnSpcReduction="10000"/>
          </a:bodyPr>
          <a:lstStyle/>
          <a:p>
            <a:pPr marL="0" indent="0">
              <a:buNone/>
            </a:pPr>
            <a:r>
              <a:rPr lang="tr-TR" sz="2000"/>
              <a:t>   İş hijyeninde </a:t>
            </a:r>
            <a:r>
              <a:rPr lang="tr-TR" sz="2000" b="1"/>
              <a:t>planlama, uygulama ve süreklilik</a:t>
            </a:r>
            <a:r>
              <a:rPr lang="tr-TR" sz="2000"/>
              <a:t> konusunda asıl sorumluluk </a:t>
            </a:r>
            <a:r>
              <a:rPr lang="tr-TR" sz="2000" b="1"/>
              <a:t>İŞVERENE</a:t>
            </a:r>
            <a:r>
              <a:rPr lang="tr-TR" sz="2000"/>
              <a:t> aittir. Ancak işveren adına iş hijyeni faaliyetlerini </a:t>
            </a:r>
            <a:r>
              <a:rPr lang="tr-TR" sz="2000" b="1"/>
              <a:t>bir ekip</a:t>
            </a:r>
            <a:r>
              <a:rPr lang="tr-TR" sz="2000"/>
              <a:t> yürütür.</a:t>
            </a:r>
          </a:p>
          <a:p>
            <a:pPr marL="0" indent="0">
              <a:buNone/>
            </a:pPr>
            <a:endParaRPr lang="tr-TR" sz="2000"/>
          </a:p>
          <a:p>
            <a:pPr>
              <a:buFont typeface="Wingdings" panose="05000000000000000000" pitchFamily="2" charset="2"/>
              <a:buChar char="Ø"/>
            </a:pPr>
            <a:r>
              <a:rPr lang="tr-TR" sz="2000"/>
              <a:t>İş Güvenliği Uzmanı</a:t>
            </a:r>
          </a:p>
          <a:p>
            <a:pPr>
              <a:buFont typeface="Wingdings" panose="05000000000000000000" pitchFamily="2" charset="2"/>
              <a:buChar char="Ø"/>
            </a:pPr>
            <a:r>
              <a:rPr lang="tr-TR" sz="2000"/>
              <a:t>İşyeri Hekimi</a:t>
            </a:r>
          </a:p>
          <a:p>
            <a:pPr>
              <a:buFont typeface="Wingdings" panose="05000000000000000000" pitchFamily="2" charset="2"/>
              <a:buChar char="Ø"/>
            </a:pPr>
            <a:r>
              <a:rPr lang="tr-TR" sz="2000" b="1"/>
              <a:t>İş Hijyeni Uzmanı</a:t>
            </a:r>
            <a:r>
              <a:rPr lang="tr-TR" sz="2000"/>
              <a:t> </a:t>
            </a:r>
            <a:r>
              <a:rPr lang="tr-TR" sz="2000" i="1"/>
              <a:t>(varsa) </a:t>
            </a:r>
            <a:r>
              <a:rPr lang="tr-TR" sz="2000"/>
              <a:t>(Türkiye’de bu rol çoğu zaman </a:t>
            </a:r>
            <a:r>
              <a:rPr lang="tr-TR" sz="2000" b="1"/>
              <a:t>İSG uzmanı</a:t>
            </a:r>
            <a:r>
              <a:rPr lang="tr-TR" sz="2000"/>
              <a:t> tarafından üstlenilir)</a:t>
            </a:r>
          </a:p>
          <a:p>
            <a:pPr>
              <a:buFont typeface="Wingdings" panose="05000000000000000000" pitchFamily="2" charset="2"/>
              <a:buChar char="Ø"/>
            </a:pPr>
            <a:r>
              <a:rPr lang="tr-TR" sz="2000"/>
              <a:t>Diğer Sağlık Personeli (Hemşire, Sağlık Memuru vb.)</a:t>
            </a:r>
          </a:p>
          <a:p>
            <a:pPr>
              <a:buFont typeface="Wingdings" panose="05000000000000000000" pitchFamily="2" charset="2"/>
              <a:buChar char="Ø"/>
            </a:pPr>
            <a:r>
              <a:rPr lang="tr-TR" sz="2000"/>
              <a:t>Ortak Sağlık ve Güvenlik Birimi (OSGB) </a:t>
            </a:r>
            <a:r>
              <a:rPr lang="tr-TR" sz="2000" b="1"/>
              <a:t>(</a:t>
            </a:r>
            <a:r>
              <a:rPr lang="tr-TR" sz="2000"/>
              <a:t>İşyerinde tam zamanlı uzman bulunmuyorsa, iş hijyeni hizmetleri </a:t>
            </a:r>
            <a:r>
              <a:rPr lang="tr-TR" sz="2000" err="1"/>
              <a:t>OSGB’ler</a:t>
            </a:r>
            <a:r>
              <a:rPr lang="tr-TR" sz="2000"/>
              <a:t> aracılığıyla yürütülür).</a:t>
            </a:r>
          </a:p>
          <a:p>
            <a:pPr marL="0" indent="0">
              <a:buNone/>
            </a:pPr>
            <a:endParaRPr lang="tr-TR" sz="2000"/>
          </a:p>
        </p:txBody>
      </p:sp>
    </p:spTree>
    <p:extLst>
      <p:ext uri="{BB962C8B-B14F-4D97-AF65-F5344CB8AC3E}">
        <p14:creationId xmlns:p14="http://schemas.microsoft.com/office/powerpoint/2010/main" val="528221900"/>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F9B77E4691661743A660FF05B7F04230" ma:contentTypeVersion="7" ma:contentTypeDescription="Yeni belge oluşturun." ma:contentTypeScope="" ma:versionID="9d32d04d70d6d9baea567697068c4d4e">
  <xsd:schema xmlns:xsd="http://www.w3.org/2001/XMLSchema" xmlns:xs="http://www.w3.org/2001/XMLSchema" xmlns:p="http://schemas.microsoft.com/office/2006/metadata/properties" xmlns:ns2="cdf1b71d-17dc-43d1-a227-ce462ff3c2cb" targetNamespace="http://schemas.microsoft.com/office/2006/metadata/properties" ma:root="true" ma:fieldsID="5597c3ccb989186d08c174c65806cc46" ns2:_="">
    <xsd:import namespace="cdf1b71d-17dc-43d1-a227-ce462ff3c2c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f1b71d-17dc-43d1-a227-ce462ff3c2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0A6CD84-3A7D-4811-8225-76FB17B07A02}">
  <ds:schemaRefs>
    <ds:schemaRef ds:uri="cdf1b71d-17dc-43d1-a227-ce462ff3c2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93E2F4C-0BB9-422D-B4C8-791DA1863D3A}">
  <ds:schemaRefs>
    <ds:schemaRef ds:uri="http://schemas.microsoft.com/sharepoint/v3/contenttype/forms"/>
  </ds:schemaRefs>
</ds:datastoreItem>
</file>

<file path=customXml/itemProps3.xml><?xml version="1.0" encoding="utf-8"?>
<ds:datastoreItem xmlns:ds="http://schemas.openxmlformats.org/officeDocument/2006/customXml" ds:itemID="{35C6A15D-3A2C-4D06-8615-0005DEBFC82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40</Slides>
  <Notes>0</Notes>
  <HiddenSlides>0</HiddenSlide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Teması</vt:lpstr>
      <vt:lpstr>Tanım</vt:lpstr>
      <vt:lpstr>Kişisel Hijyen</vt:lpstr>
      <vt:lpstr>PowerPoint Presentation</vt:lpstr>
      <vt:lpstr>Mevzuatta İş Hijyeni</vt:lpstr>
      <vt:lpstr>Mevzuatta İş Hijyeni</vt:lpstr>
      <vt:lpstr>İş Hijyeni</vt:lpstr>
      <vt:lpstr> Sağlığı tehdit eden tehlikelerin sınıflandırılması </vt:lpstr>
      <vt:lpstr> Sağlığı tehdit eden tehlikelerin sınıflandırılması </vt:lpstr>
      <vt:lpstr>Vücuda Giriş Yolları</vt:lpstr>
      <vt:lpstr>Vücuda Giriş Yolları</vt:lpstr>
      <vt:lpstr>Vücuda Giriş Yolları</vt:lpstr>
      <vt:lpstr>Vücuda Giriş Yolları</vt:lpstr>
      <vt:lpstr>Vücuda Giriş Yolları</vt:lpstr>
      <vt:lpstr>PowerPoint Presentation</vt:lpstr>
      <vt:lpstr>Vücuda Giriş Yolları</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 Fiziksel Etkenlere (Çevresel Zararlara) Maruz Kalma </vt:lpstr>
      <vt:lpstr>PowerPoint Presentation</vt:lpstr>
      <vt:lpstr> Fiziksel Etkenlere (Çevresel Zararlara) Maruz Kalma </vt:lpstr>
      <vt:lpstr> Sağlık Riski Oluşturan Tehlikelerin Değerlendirilmesi </vt:lpstr>
      <vt:lpstr> Sağlık Riski Oluşturan Tehlikelerin Değerlendirilmesi </vt:lpstr>
      <vt:lpstr> Sağlık Riski Oluşturan Tehlikelerin Değerlendirilmesi </vt:lpstr>
      <vt:lpstr>Tehlikeleri Önleyici Kontrol Yöntemleri</vt:lpstr>
      <vt:lpstr>Tehlikeleri Önleyici Kontrol Yöntemleri</vt:lpstr>
      <vt:lpstr>Tehlikeleri Önleyici Kontrol Yöntemleri</vt:lpstr>
      <vt:lpstr>Tehlikeleri Önleyici Kontrol Yöntemleri</vt:lpstr>
      <vt:lpstr>Tehlikeleri Önleyici Kontrol Yöntemleri</vt:lpstr>
      <vt:lpstr>PowerPoint Presentation</vt:lpstr>
      <vt:lpstr>Tehlikeleri Önleyici Kontrol Yöntemleri</vt:lpstr>
      <vt:lpstr>Tehlikeleri Önleyici Kontrol Yöntemleri</vt:lpstr>
      <vt:lpstr>Tehlikeleri Önleyici Kontrol Yöntemleri</vt:lpstr>
      <vt:lpstr>İş Hijyeninden kim sorumludur?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Beyza Özgürses</dc:creator>
  <cp:revision>1</cp:revision>
  <dcterms:created xsi:type="dcterms:W3CDTF">2026-01-13T18:58:05Z</dcterms:created>
  <dcterms:modified xsi:type="dcterms:W3CDTF">2026-04-07T11:10:19Z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0x010100F9B77E4691661743A660FF05B7F04230</vt:lpwstr>
  </property>
</Properties>
</file>