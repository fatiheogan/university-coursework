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35.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8" r:id="rId3"/>
    <p:sldId id="265" r:id="rId4"/>
    <p:sldId id="264" r:id="rId5"/>
    <p:sldId id="257" r:id="rId6"/>
    <p:sldId id="259" r:id="rId7"/>
    <p:sldId id="266" r:id="rId8"/>
    <p:sldId id="291" r:id="rId9"/>
    <p:sldId id="292" r:id="rId10"/>
    <p:sldId id="262" r:id="rId11"/>
    <p:sldId id="261" r:id="rId12"/>
    <p:sldId id="293" r:id="rId13"/>
    <p:sldId id="269" r:id="rId14"/>
    <p:sldId id="268" r:id="rId15"/>
    <p:sldId id="270" r:id="rId16"/>
    <p:sldId id="294" r:id="rId17"/>
    <p:sldId id="272" r:id="rId18"/>
    <p:sldId id="295" r:id="rId19"/>
    <p:sldId id="274" r:id="rId20"/>
    <p:sldId id="296" r:id="rId21"/>
    <p:sldId id="297" r:id="rId22"/>
    <p:sldId id="298" r:id="rId23"/>
    <p:sldId id="278" r:id="rId24"/>
    <p:sldId id="279" r:id="rId25"/>
    <p:sldId id="299" r:id="rId26"/>
    <p:sldId id="283" r:id="rId27"/>
    <p:sldId id="289" r:id="rId28"/>
    <p:sldId id="280" r:id="rId29"/>
    <p:sldId id="281" r:id="rId30"/>
    <p:sldId id="282" r:id="rId31"/>
    <p:sldId id="290" r:id="rId32"/>
    <p:sldId id="285" r:id="rId33"/>
    <p:sldId id="287" r:id="rId34"/>
    <p:sldId id="302" r:id="rId35"/>
    <p:sldId id="288" r:id="rId36"/>
    <p:sldId id="300" r:id="rId37"/>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Orta Stil 2 - Vurgu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451" autoAdjust="0"/>
  </p:normalViewPr>
  <p:slideViewPr>
    <p:cSldViewPr snapToGrid="0">
      <p:cViewPr varScale="1">
        <p:scale>
          <a:sx n="79" d="100"/>
          <a:sy n="79" d="100"/>
        </p:scale>
        <p:origin x="120" y="5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261D7B-0615-43C5-B271-AF114CECD666}" type="datetimeFigureOut">
              <a:rPr lang="tr-TR" smtClean="0"/>
              <a:t>9.03.2026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8E7771-05B6-4FC7-B353-8A57F4D4BD97}" type="slidenum">
              <a:rPr lang="tr-TR" smtClean="0"/>
              <a:t>‹#›</a:t>
            </a:fld>
            <a:endParaRPr lang="tr-TR"/>
          </a:p>
        </p:txBody>
      </p:sp>
    </p:spTree>
    <p:extLst>
      <p:ext uri="{BB962C8B-B14F-4D97-AF65-F5344CB8AC3E}">
        <p14:creationId xmlns:p14="http://schemas.microsoft.com/office/powerpoint/2010/main" val="1518185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https://www.youtube.com/watch?v=FLlJbG5_wB8</a:t>
            </a:r>
            <a:endParaRPr lang="tr-TR" dirty="0"/>
          </a:p>
        </p:txBody>
      </p:sp>
      <p:sp>
        <p:nvSpPr>
          <p:cNvPr id="4" name="Slayt Numarası Yer Tutucusu 3"/>
          <p:cNvSpPr>
            <a:spLocks noGrp="1"/>
          </p:cNvSpPr>
          <p:nvPr>
            <p:ph type="sldNum" sz="quarter" idx="5"/>
          </p:nvPr>
        </p:nvSpPr>
        <p:spPr/>
        <p:txBody>
          <a:bodyPr/>
          <a:lstStyle/>
          <a:p>
            <a:fld id="{248E7771-05B6-4FC7-B353-8A57F4D4BD97}" type="slidenum">
              <a:rPr lang="tr-TR" smtClean="0"/>
              <a:t>10</a:t>
            </a:fld>
            <a:endParaRPr lang="tr-TR"/>
          </a:p>
        </p:txBody>
      </p:sp>
    </p:spTree>
    <p:extLst>
      <p:ext uri="{BB962C8B-B14F-4D97-AF65-F5344CB8AC3E}">
        <p14:creationId xmlns:p14="http://schemas.microsoft.com/office/powerpoint/2010/main" val="1290692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48E7771-05B6-4FC7-B353-8A57F4D4BD97}" type="slidenum">
              <a:rPr lang="tr-TR" smtClean="0"/>
              <a:t>11</a:t>
            </a:fld>
            <a:endParaRPr lang="tr-TR"/>
          </a:p>
        </p:txBody>
      </p:sp>
    </p:spTree>
    <p:extLst>
      <p:ext uri="{BB962C8B-B14F-4D97-AF65-F5344CB8AC3E}">
        <p14:creationId xmlns:p14="http://schemas.microsoft.com/office/powerpoint/2010/main" val="1757133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48E7771-05B6-4FC7-B353-8A57F4D4BD97}" type="slidenum">
              <a:rPr lang="tr-TR" smtClean="0"/>
              <a:t>12</a:t>
            </a:fld>
            <a:endParaRPr lang="tr-TR"/>
          </a:p>
        </p:txBody>
      </p:sp>
    </p:spTree>
    <p:extLst>
      <p:ext uri="{BB962C8B-B14F-4D97-AF65-F5344CB8AC3E}">
        <p14:creationId xmlns:p14="http://schemas.microsoft.com/office/powerpoint/2010/main" val="3994158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48E7771-05B6-4FC7-B353-8A57F4D4BD97}" type="slidenum">
              <a:rPr lang="tr-TR" smtClean="0"/>
              <a:t>15</a:t>
            </a:fld>
            <a:endParaRPr lang="tr-TR"/>
          </a:p>
        </p:txBody>
      </p:sp>
    </p:spTree>
    <p:extLst>
      <p:ext uri="{BB962C8B-B14F-4D97-AF65-F5344CB8AC3E}">
        <p14:creationId xmlns:p14="http://schemas.microsoft.com/office/powerpoint/2010/main" val="1840776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5C320-484B-770A-2100-7179DE826765}"/>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6704C1A1-6F28-C519-1E65-E567430EF795}"/>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F61691B-7920-4FD9-564B-0B1084789663}"/>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700872F9-58ED-B31C-90E8-95558127B894}"/>
              </a:ext>
            </a:extLst>
          </p:cNvPr>
          <p:cNvSpPr>
            <a:spLocks noGrp="1"/>
          </p:cNvSpPr>
          <p:nvPr>
            <p:ph type="sldNum" sz="quarter" idx="5"/>
          </p:nvPr>
        </p:nvSpPr>
        <p:spPr/>
        <p:txBody>
          <a:bodyPr/>
          <a:lstStyle/>
          <a:p>
            <a:fld id="{248E7771-05B6-4FC7-B353-8A57F4D4BD97}" type="slidenum">
              <a:rPr lang="tr-TR" smtClean="0"/>
              <a:t>16</a:t>
            </a:fld>
            <a:endParaRPr lang="tr-TR"/>
          </a:p>
        </p:txBody>
      </p:sp>
    </p:spTree>
    <p:extLst>
      <p:ext uri="{BB962C8B-B14F-4D97-AF65-F5344CB8AC3E}">
        <p14:creationId xmlns:p14="http://schemas.microsoft.com/office/powerpoint/2010/main" val="3917151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48E7771-05B6-4FC7-B353-8A57F4D4BD97}" type="slidenum">
              <a:rPr lang="tr-TR" smtClean="0"/>
              <a:t>17</a:t>
            </a:fld>
            <a:endParaRPr lang="tr-TR"/>
          </a:p>
        </p:txBody>
      </p:sp>
    </p:spTree>
    <p:extLst>
      <p:ext uri="{BB962C8B-B14F-4D97-AF65-F5344CB8AC3E}">
        <p14:creationId xmlns:p14="http://schemas.microsoft.com/office/powerpoint/2010/main" val="4045732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4FBF1-86CC-6E36-ADF4-66A2F059F099}"/>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D3D4209-68E5-2CE4-E42D-C02FEEF5E2D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B997CF1-ED86-06EA-4502-2289FB8C146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FDB679FA-B9C2-1DA2-AC9F-A3CE9338915B}"/>
              </a:ext>
            </a:extLst>
          </p:cNvPr>
          <p:cNvSpPr>
            <a:spLocks noGrp="1"/>
          </p:cNvSpPr>
          <p:nvPr>
            <p:ph type="sldNum" sz="quarter" idx="5"/>
          </p:nvPr>
        </p:nvSpPr>
        <p:spPr/>
        <p:txBody>
          <a:bodyPr/>
          <a:lstStyle/>
          <a:p>
            <a:fld id="{248E7771-05B6-4FC7-B353-8A57F4D4BD97}" type="slidenum">
              <a:rPr lang="tr-TR" smtClean="0"/>
              <a:t>18</a:t>
            </a:fld>
            <a:endParaRPr lang="tr-TR"/>
          </a:p>
        </p:txBody>
      </p:sp>
    </p:spTree>
    <p:extLst>
      <p:ext uri="{BB962C8B-B14F-4D97-AF65-F5344CB8AC3E}">
        <p14:creationId xmlns:p14="http://schemas.microsoft.com/office/powerpoint/2010/main" val="2367245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11AEC-7336-7066-D63C-0239872FB53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DA1D4B21-BF89-3341-360C-F5122A5C93A7}"/>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60DBFD7D-A6BB-FB92-036F-CEC6B3CC1490}"/>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488A6D65-F7F9-786E-A212-08CD96D63652}"/>
              </a:ext>
            </a:extLst>
          </p:cNvPr>
          <p:cNvSpPr>
            <a:spLocks noGrp="1"/>
          </p:cNvSpPr>
          <p:nvPr>
            <p:ph type="sldNum" sz="quarter" idx="5"/>
          </p:nvPr>
        </p:nvSpPr>
        <p:spPr/>
        <p:txBody>
          <a:bodyPr/>
          <a:lstStyle/>
          <a:p>
            <a:fld id="{248E7771-05B6-4FC7-B353-8A57F4D4BD97}" type="slidenum">
              <a:rPr lang="tr-TR" smtClean="0"/>
              <a:t>20</a:t>
            </a:fld>
            <a:endParaRPr lang="tr-TR"/>
          </a:p>
        </p:txBody>
      </p:sp>
    </p:spTree>
    <p:extLst>
      <p:ext uri="{BB962C8B-B14F-4D97-AF65-F5344CB8AC3E}">
        <p14:creationId xmlns:p14="http://schemas.microsoft.com/office/powerpoint/2010/main" val="977547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6C022-1C86-DECF-CEFD-EEB847F8C14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8B87DA4F-23B0-2CE7-0D7A-5CC421B94959}"/>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67ECC15-275C-1AE2-1A9E-23A009EB1D70}"/>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57529F97-1F0D-F2EF-F650-5A663F86C4AE}"/>
              </a:ext>
            </a:extLst>
          </p:cNvPr>
          <p:cNvSpPr>
            <a:spLocks noGrp="1"/>
          </p:cNvSpPr>
          <p:nvPr>
            <p:ph type="sldNum" sz="quarter" idx="5"/>
          </p:nvPr>
        </p:nvSpPr>
        <p:spPr/>
        <p:txBody>
          <a:bodyPr/>
          <a:lstStyle/>
          <a:p>
            <a:fld id="{248E7771-05B6-4FC7-B353-8A57F4D4BD97}" type="slidenum">
              <a:rPr lang="tr-TR" smtClean="0"/>
              <a:t>21</a:t>
            </a:fld>
            <a:endParaRPr lang="tr-TR"/>
          </a:p>
        </p:txBody>
      </p:sp>
    </p:spTree>
    <p:extLst>
      <p:ext uri="{BB962C8B-B14F-4D97-AF65-F5344CB8AC3E}">
        <p14:creationId xmlns:p14="http://schemas.microsoft.com/office/powerpoint/2010/main" val="3443596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6CE66-6EF4-77D3-07B8-A52FCA660E0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1D6E668-F02F-2324-9775-F828EDCD0F8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9DEF5BB8-8639-2F4E-6DEB-868FEC87CFF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0A517453-CC68-A288-535B-FF769815B5DC}"/>
              </a:ext>
            </a:extLst>
          </p:cNvPr>
          <p:cNvSpPr>
            <a:spLocks noGrp="1"/>
          </p:cNvSpPr>
          <p:nvPr>
            <p:ph type="sldNum" sz="quarter" idx="5"/>
          </p:nvPr>
        </p:nvSpPr>
        <p:spPr/>
        <p:txBody>
          <a:bodyPr/>
          <a:lstStyle/>
          <a:p>
            <a:fld id="{248E7771-05B6-4FC7-B353-8A57F4D4BD97}" type="slidenum">
              <a:rPr lang="tr-TR" smtClean="0"/>
              <a:t>22</a:t>
            </a:fld>
            <a:endParaRPr lang="tr-TR"/>
          </a:p>
        </p:txBody>
      </p:sp>
    </p:spTree>
    <p:extLst>
      <p:ext uri="{BB962C8B-B14F-4D97-AF65-F5344CB8AC3E}">
        <p14:creationId xmlns:p14="http://schemas.microsoft.com/office/powerpoint/2010/main" val="957505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4F48F-003F-3F45-014B-837D28F72AB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02E221E-9DBA-1D80-E9A9-320ED6A1FB4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1D865A30-A595-2E50-C08F-D65FCA84F54E}"/>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80B82195-AAD3-AB14-692E-0E97A2DA5E98}"/>
              </a:ext>
            </a:extLst>
          </p:cNvPr>
          <p:cNvSpPr>
            <a:spLocks noGrp="1"/>
          </p:cNvSpPr>
          <p:nvPr>
            <p:ph type="sldNum" sz="quarter" idx="5"/>
          </p:nvPr>
        </p:nvSpPr>
        <p:spPr/>
        <p:txBody>
          <a:bodyPr/>
          <a:lstStyle/>
          <a:p>
            <a:fld id="{248E7771-05B6-4FC7-B353-8A57F4D4BD97}" type="slidenum">
              <a:rPr lang="tr-TR" smtClean="0"/>
              <a:t>25</a:t>
            </a:fld>
            <a:endParaRPr lang="tr-TR"/>
          </a:p>
        </p:txBody>
      </p:sp>
    </p:spTree>
    <p:extLst>
      <p:ext uri="{BB962C8B-B14F-4D97-AF65-F5344CB8AC3E}">
        <p14:creationId xmlns:p14="http://schemas.microsoft.com/office/powerpoint/2010/main" val="1745938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A3407-572B-F479-3B97-8CA19F506BE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E9A04E0-6D69-A4DC-16D8-57B755A90E5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8A882913-E99F-F647-59E5-7BBFC8B5FC6A}"/>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39E0A19C-FC90-7D64-7799-7597FB4632B6}"/>
              </a:ext>
            </a:extLst>
          </p:cNvPr>
          <p:cNvSpPr>
            <a:spLocks noGrp="1"/>
          </p:cNvSpPr>
          <p:nvPr>
            <p:ph type="sldNum" sz="quarter" idx="5"/>
          </p:nvPr>
        </p:nvSpPr>
        <p:spPr/>
        <p:txBody>
          <a:bodyPr/>
          <a:lstStyle/>
          <a:p>
            <a:fld id="{248E7771-05B6-4FC7-B353-8A57F4D4BD97}" type="slidenum">
              <a:rPr lang="tr-TR" smtClean="0"/>
              <a:t>34</a:t>
            </a:fld>
            <a:endParaRPr lang="tr-TR"/>
          </a:p>
        </p:txBody>
      </p:sp>
    </p:spTree>
    <p:extLst>
      <p:ext uri="{BB962C8B-B14F-4D97-AF65-F5344CB8AC3E}">
        <p14:creationId xmlns:p14="http://schemas.microsoft.com/office/powerpoint/2010/main" val="42776800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D4D84-48B1-E0C4-79CA-D6E1E21BAC7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5925F8C-832F-5EA3-0060-2AEB225C9991}"/>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8BD5D21-EDE8-66CE-E6C0-9388D3634D6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51AA6D49-AD46-2351-0D0B-B1C52D04D216}"/>
              </a:ext>
            </a:extLst>
          </p:cNvPr>
          <p:cNvSpPr>
            <a:spLocks noGrp="1"/>
          </p:cNvSpPr>
          <p:nvPr>
            <p:ph type="sldNum" sz="quarter" idx="5"/>
          </p:nvPr>
        </p:nvSpPr>
        <p:spPr/>
        <p:txBody>
          <a:bodyPr/>
          <a:lstStyle/>
          <a:p>
            <a:fld id="{248E7771-05B6-4FC7-B353-8A57F4D4BD97}" type="slidenum">
              <a:rPr lang="tr-TR" smtClean="0"/>
              <a:t>36</a:t>
            </a:fld>
            <a:endParaRPr lang="tr-TR"/>
          </a:p>
        </p:txBody>
      </p:sp>
    </p:spTree>
    <p:extLst>
      <p:ext uri="{BB962C8B-B14F-4D97-AF65-F5344CB8AC3E}">
        <p14:creationId xmlns:p14="http://schemas.microsoft.com/office/powerpoint/2010/main" val="1954673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FB5725A-C2C9-EB26-1705-5727243F2346}"/>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BD558396-25F1-7BA4-C131-31B90F9C19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8078EF69-6A32-AF95-BBBD-6AA0D5FED960}"/>
              </a:ext>
            </a:extLst>
          </p:cNvPr>
          <p:cNvSpPr>
            <a:spLocks noGrp="1"/>
          </p:cNvSpPr>
          <p:nvPr>
            <p:ph type="dt" sz="half" idx="10"/>
          </p:nvPr>
        </p:nvSpPr>
        <p:spPr/>
        <p:txBody>
          <a:bodyPr/>
          <a:lstStyle/>
          <a:p>
            <a:fld id="{4E56284F-75AB-4876-AEE0-A11AA1AFB0AA}" type="datetimeFigureOut">
              <a:rPr lang="tr-TR" smtClean="0"/>
              <a:t>9.03.2026</a:t>
            </a:fld>
            <a:endParaRPr lang="tr-TR"/>
          </a:p>
        </p:txBody>
      </p:sp>
      <p:sp>
        <p:nvSpPr>
          <p:cNvPr id="5" name="Alt Bilgi Yer Tutucusu 4">
            <a:extLst>
              <a:ext uri="{FF2B5EF4-FFF2-40B4-BE49-F238E27FC236}">
                <a16:creationId xmlns:a16="http://schemas.microsoft.com/office/drawing/2014/main" id="{5A328B91-BF92-BC8D-96BC-64BE432900E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64C2742-9F65-346A-B0C6-B2F4673A2D76}"/>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3472443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B737DD6-E593-3116-054E-7851EBCEF88D}"/>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A15EFEF0-D576-6C3A-9700-AABB5384F85D}"/>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353672F-4E87-59D0-05E5-4687B213C55C}"/>
              </a:ext>
            </a:extLst>
          </p:cNvPr>
          <p:cNvSpPr>
            <a:spLocks noGrp="1"/>
          </p:cNvSpPr>
          <p:nvPr>
            <p:ph type="dt" sz="half" idx="10"/>
          </p:nvPr>
        </p:nvSpPr>
        <p:spPr/>
        <p:txBody>
          <a:bodyPr/>
          <a:lstStyle/>
          <a:p>
            <a:fld id="{4E56284F-75AB-4876-AEE0-A11AA1AFB0AA}" type="datetimeFigureOut">
              <a:rPr lang="tr-TR" smtClean="0"/>
              <a:t>9.03.2026</a:t>
            </a:fld>
            <a:endParaRPr lang="tr-TR"/>
          </a:p>
        </p:txBody>
      </p:sp>
      <p:sp>
        <p:nvSpPr>
          <p:cNvPr id="5" name="Alt Bilgi Yer Tutucusu 4">
            <a:extLst>
              <a:ext uri="{FF2B5EF4-FFF2-40B4-BE49-F238E27FC236}">
                <a16:creationId xmlns:a16="http://schemas.microsoft.com/office/drawing/2014/main" id="{1BE871C3-AF59-1C09-39DE-DFA63291C24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192FF28-5A38-FC08-1EBB-E8457A091FE4}"/>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4066990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D6B4307-E3D8-FD19-59B8-E2E9F539B881}"/>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220A9BFD-9BC1-2925-6541-97DEEF6472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B85B76B9-A1BE-A5AA-5F66-EB4A0A57656F}"/>
              </a:ext>
            </a:extLst>
          </p:cNvPr>
          <p:cNvSpPr>
            <a:spLocks noGrp="1"/>
          </p:cNvSpPr>
          <p:nvPr>
            <p:ph type="dt" sz="half" idx="10"/>
          </p:nvPr>
        </p:nvSpPr>
        <p:spPr/>
        <p:txBody>
          <a:bodyPr/>
          <a:lstStyle/>
          <a:p>
            <a:fld id="{4E56284F-75AB-4876-AEE0-A11AA1AFB0AA}" type="datetimeFigureOut">
              <a:rPr lang="tr-TR" smtClean="0"/>
              <a:t>9.03.2026</a:t>
            </a:fld>
            <a:endParaRPr lang="tr-TR"/>
          </a:p>
        </p:txBody>
      </p:sp>
      <p:sp>
        <p:nvSpPr>
          <p:cNvPr id="5" name="Alt Bilgi Yer Tutucusu 4">
            <a:extLst>
              <a:ext uri="{FF2B5EF4-FFF2-40B4-BE49-F238E27FC236}">
                <a16:creationId xmlns:a16="http://schemas.microsoft.com/office/drawing/2014/main" id="{0A8517A5-42BD-32DA-688E-FE211E5AF11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0484020-12FD-8AE4-0A8D-AFA378D45AC4}"/>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1843854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E751ADE-1702-53BA-CCAB-D566D920A073}"/>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9CBD1576-5226-C82B-5069-18A46E98D2CE}"/>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3B994DB8-76C4-89B7-3F1E-F0C901CF2814}"/>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35A94FD2-747B-244E-12FB-9E68543FB0D9}"/>
              </a:ext>
            </a:extLst>
          </p:cNvPr>
          <p:cNvSpPr>
            <a:spLocks noGrp="1"/>
          </p:cNvSpPr>
          <p:nvPr>
            <p:ph type="dt" sz="half" idx="10"/>
          </p:nvPr>
        </p:nvSpPr>
        <p:spPr/>
        <p:txBody>
          <a:bodyPr/>
          <a:lstStyle/>
          <a:p>
            <a:fld id="{4E56284F-75AB-4876-AEE0-A11AA1AFB0AA}" type="datetimeFigureOut">
              <a:rPr lang="tr-TR" smtClean="0"/>
              <a:t>9.03.2026</a:t>
            </a:fld>
            <a:endParaRPr lang="tr-TR"/>
          </a:p>
        </p:txBody>
      </p:sp>
      <p:sp>
        <p:nvSpPr>
          <p:cNvPr id="6" name="Alt Bilgi Yer Tutucusu 5">
            <a:extLst>
              <a:ext uri="{FF2B5EF4-FFF2-40B4-BE49-F238E27FC236}">
                <a16:creationId xmlns:a16="http://schemas.microsoft.com/office/drawing/2014/main" id="{0BE92618-407D-1A05-B2CA-B2E017BCBE53}"/>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3DA7CC8F-EF51-920D-46CE-7022905811B1}"/>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1418678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9043BD-4959-6423-FFC3-3B1051C73615}"/>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F97DFF28-77BD-F1CE-F537-4F1574240B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D04FD5B8-C514-B31E-6828-5C951BEC1C52}"/>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4B6B5E00-6EDD-5852-12BF-B78307D70F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B8E50483-2A88-FCE0-5F48-743FE93D0F73}"/>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E8789E8D-23EE-1F1B-5510-FB536E2C820F}"/>
              </a:ext>
            </a:extLst>
          </p:cNvPr>
          <p:cNvSpPr>
            <a:spLocks noGrp="1"/>
          </p:cNvSpPr>
          <p:nvPr>
            <p:ph type="dt" sz="half" idx="10"/>
          </p:nvPr>
        </p:nvSpPr>
        <p:spPr/>
        <p:txBody>
          <a:bodyPr/>
          <a:lstStyle/>
          <a:p>
            <a:fld id="{4E56284F-75AB-4876-AEE0-A11AA1AFB0AA}" type="datetimeFigureOut">
              <a:rPr lang="tr-TR" smtClean="0"/>
              <a:t>9.03.2026</a:t>
            </a:fld>
            <a:endParaRPr lang="tr-TR"/>
          </a:p>
        </p:txBody>
      </p:sp>
      <p:sp>
        <p:nvSpPr>
          <p:cNvPr id="8" name="Alt Bilgi Yer Tutucusu 7">
            <a:extLst>
              <a:ext uri="{FF2B5EF4-FFF2-40B4-BE49-F238E27FC236}">
                <a16:creationId xmlns:a16="http://schemas.microsoft.com/office/drawing/2014/main" id="{8BC38EEC-3CD0-4CE6-ACD1-61528A668E52}"/>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AD42BB31-2336-DBCD-A9FE-9E0F8ABE7D1A}"/>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3503231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0E8251F-C151-D558-F6E9-ECC1E4585A7A}"/>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25FA111E-6CFA-0367-87DF-47F993BC10CB}"/>
              </a:ext>
            </a:extLst>
          </p:cNvPr>
          <p:cNvSpPr>
            <a:spLocks noGrp="1"/>
          </p:cNvSpPr>
          <p:nvPr>
            <p:ph type="dt" sz="half" idx="10"/>
          </p:nvPr>
        </p:nvSpPr>
        <p:spPr/>
        <p:txBody>
          <a:bodyPr/>
          <a:lstStyle/>
          <a:p>
            <a:fld id="{4E56284F-75AB-4876-AEE0-A11AA1AFB0AA}" type="datetimeFigureOut">
              <a:rPr lang="tr-TR" smtClean="0"/>
              <a:t>9.03.2026</a:t>
            </a:fld>
            <a:endParaRPr lang="tr-TR"/>
          </a:p>
        </p:txBody>
      </p:sp>
      <p:sp>
        <p:nvSpPr>
          <p:cNvPr id="4" name="Alt Bilgi Yer Tutucusu 3">
            <a:extLst>
              <a:ext uri="{FF2B5EF4-FFF2-40B4-BE49-F238E27FC236}">
                <a16:creationId xmlns:a16="http://schemas.microsoft.com/office/drawing/2014/main" id="{ADEAE865-9DDB-9D0D-8B68-A60CC47CA52E}"/>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50080153-E0BA-B427-E102-02275E2B6432}"/>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23272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06749CDF-EF2D-D52D-CF7B-41F64272C466}"/>
              </a:ext>
            </a:extLst>
          </p:cNvPr>
          <p:cNvSpPr>
            <a:spLocks noGrp="1"/>
          </p:cNvSpPr>
          <p:nvPr>
            <p:ph type="dt" sz="half" idx="10"/>
          </p:nvPr>
        </p:nvSpPr>
        <p:spPr/>
        <p:txBody>
          <a:bodyPr/>
          <a:lstStyle/>
          <a:p>
            <a:fld id="{4E56284F-75AB-4876-AEE0-A11AA1AFB0AA}" type="datetimeFigureOut">
              <a:rPr lang="tr-TR" smtClean="0"/>
              <a:t>9.03.2026</a:t>
            </a:fld>
            <a:endParaRPr lang="tr-TR"/>
          </a:p>
        </p:txBody>
      </p:sp>
      <p:sp>
        <p:nvSpPr>
          <p:cNvPr id="3" name="Alt Bilgi Yer Tutucusu 2">
            <a:extLst>
              <a:ext uri="{FF2B5EF4-FFF2-40B4-BE49-F238E27FC236}">
                <a16:creationId xmlns:a16="http://schemas.microsoft.com/office/drawing/2014/main" id="{4D97E703-CC35-9B6D-904F-8E9F0A444E69}"/>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3D906357-4589-FED5-846A-81B25A7FE24C}"/>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1654333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0B29DC9-9A21-330B-2122-D7260BFE9096}"/>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8A9288AA-E028-9D8E-45CB-EF4A7C64D2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BD94B4AF-93A2-BA16-8DC0-F2EA14329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1C7DC021-6C16-46CC-0B6F-53ED22C0A2FC}"/>
              </a:ext>
            </a:extLst>
          </p:cNvPr>
          <p:cNvSpPr>
            <a:spLocks noGrp="1"/>
          </p:cNvSpPr>
          <p:nvPr>
            <p:ph type="dt" sz="half" idx="10"/>
          </p:nvPr>
        </p:nvSpPr>
        <p:spPr/>
        <p:txBody>
          <a:bodyPr/>
          <a:lstStyle/>
          <a:p>
            <a:fld id="{4E56284F-75AB-4876-AEE0-A11AA1AFB0AA}" type="datetimeFigureOut">
              <a:rPr lang="tr-TR" smtClean="0"/>
              <a:t>9.03.2026</a:t>
            </a:fld>
            <a:endParaRPr lang="tr-TR"/>
          </a:p>
        </p:txBody>
      </p:sp>
      <p:sp>
        <p:nvSpPr>
          <p:cNvPr id="6" name="Alt Bilgi Yer Tutucusu 5">
            <a:extLst>
              <a:ext uri="{FF2B5EF4-FFF2-40B4-BE49-F238E27FC236}">
                <a16:creationId xmlns:a16="http://schemas.microsoft.com/office/drawing/2014/main" id="{DDCA0B7C-5698-F1EF-E093-51200C3044F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8BE60056-6D3B-525E-E215-FEA7CEA14D18}"/>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3221437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44D4F06-A1E2-90EC-2572-283428F14E0E}"/>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24C4292D-FD45-CAEB-999E-39AEE5A642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D5B8B9B3-0392-731C-ED2D-AF8DEBCBEC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5C213A30-9F35-C787-CA93-ADF652777546}"/>
              </a:ext>
            </a:extLst>
          </p:cNvPr>
          <p:cNvSpPr>
            <a:spLocks noGrp="1"/>
          </p:cNvSpPr>
          <p:nvPr>
            <p:ph type="dt" sz="half" idx="10"/>
          </p:nvPr>
        </p:nvSpPr>
        <p:spPr/>
        <p:txBody>
          <a:bodyPr/>
          <a:lstStyle/>
          <a:p>
            <a:fld id="{4E56284F-75AB-4876-AEE0-A11AA1AFB0AA}" type="datetimeFigureOut">
              <a:rPr lang="tr-TR" smtClean="0"/>
              <a:t>9.03.2026</a:t>
            </a:fld>
            <a:endParaRPr lang="tr-TR"/>
          </a:p>
        </p:txBody>
      </p:sp>
      <p:sp>
        <p:nvSpPr>
          <p:cNvPr id="6" name="Alt Bilgi Yer Tutucusu 5">
            <a:extLst>
              <a:ext uri="{FF2B5EF4-FFF2-40B4-BE49-F238E27FC236}">
                <a16:creationId xmlns:a16="http://schemas.microsoft.com/office/drawing/2014/main" id="{C4563E52-9C24-3E51-5EA8-6D96BBFF48F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E99D0E6-A461-1710-9620-40A764A06AED}"/>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280964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EEB7B90-992D-4D2F-980A-AC0969C9AFC5}"/>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E9A6B47B-D6FB-CA09-DA0F-37C47EFEB41F}"/>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2EDADEFB-BCF2-AF58-F2EA-64551CB8A4FB}"/>
              </a:ext>
            </a:extLst>
          </p:cNvPr>
          <p:cNvSpPr>
            <a:spLocks noGrp="1"/>
          </p:cNvSpPr>
          <p:nvPr>
            <p:ph type="dt" sz="half" idx="10"/>
          </p:nvPr>
        </p:nvSpPr>
        <p:spPr/>
        <p:txBody>
          <a:bodyPr/>
          <a:lstStyle/>
          <a:p>
            <a:fld id="{4E56284F-75AB-4876-AEE0-A11AA1AFB0AA}" type="datetimeFigureOut">
              <a:rPr lang="tr-TR" smtClean="0"/>
              <a:t>9.03.2026</a:t>
            </a:fld>
            <a:endParaRPr lang="tr-TR"/>
          </a:p>
        </p:txBody>
      </p:sp>
      <p:sp>
        <p:nvSpPr>
          <p:cNvPr id="5" name="Alt Bilgi Yer Tutucusu 4">
            <a:extLst>
              <a:ext uri="{FF2B5EF4-FFF2-40B4-BE49-F238E27FC236}">
                <a16:creationId xmlns:a16="http://schemas.microsoft.com/office/drawing/2014/main" id="{B74E7E0A-303C-07B6-3D6C-A73E12B9B86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2E5C21E-C7AF-A887-F424-D477B9FF775C}"/>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3912180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46F70B3F-AE8E-3B02-B649-6DAD4B6C5F69}"/>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F03D3F40-C7DF-F620-5227-78303544CD6D}"/>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76873F3E-D5FF-F7DF-70AE-3FEECE380517}"/>
              </a:ext>
            </a:extLst>
          </p:cNvPr>
          <p:cNvSpPr>
            <a:spLocks noGrp="1"/>
          </p:cNvSpPr>
          <p:nvPr>
            <p:ph type="dt" sz="half" idx="10"/>
          </p:nvPr>
        </p:nvSpPr>
        <p:spPr/>
        <p:txBody>
          <a:bodyPr/>
          <a:lstStyle/>
          <a:p>
            <a:fld id="{4E56284F-75AB-4876-AEE0-A11AA1AFB0AA}" type="datetimeFigureOut">
              <a:rPr lang="tr-TR" smtClean="0"/>
              <a:t>9.03.2026</a:t>
            </a:fld>
            <a:endParaRPr lang="tr-TR"/>
          </a:p>
        </p:txBody>
      </p:sp>
      <p:sp>
        <p:nvSpPr>
          <p:cNvPr id="5" name="Alt Bilgi Yer Tutucusu 4">
            <a:extLst>
              <a:ext uri="{FF2B5EF4-FFF2-40B4-BE49-F238E27FC236}">
                <a16:creationId xmlns:a16="http://schemas.microsoft.com/office/drawing/2014/main" id="{D08A368F-6576-E4EA-A1AD-0953F61F266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A59D091-81D6-C336-D673-4C8D61938C19}"/>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51864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1C129BB2-CC23-11AA-CDC0-B8D355174A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870B6C68-7EA6-24D9-DD66-9A2E201ECC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8D1871AC-D0BB-3CA3-94A3-B39A9BA872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56284F-75AB-4876-AEE0-A11AA1AFB0AA}" type="datetimeFigureOut">
              <a:rPr lang="tr-TR" smtClean="0"/>
              <a:t>9.03.2026</a:t>
            </a:fld>
            <a:endParaRPr lang="tr-TR"/>
          </a:p>
        </p:txBody>
      </p:sp>
      <p:sp>
        <p:nvSpPr>
          <p:cNvPr id="5" name="Alt Bilgi Yer Tutucusu 4">
            <a:extLst>
              <a:ext uri="{FF2B5EF4-FFF2-40B4-BE49-F238E27FC236}">
                <a16:creationId xmlns:a16="http://schemas.microsoft.com/office/drawing/2014/main" id="{782463BD-2B42-C2FB-E713-D3F2BE486B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C3B2C79B-58CB-26BD-59F7-D3A93B2E54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F2E210-3BEF-489D-B9F3-D4D6B9677E6A}" type="slidenum">
              <a:rPr lang="tr-TR" smtClean="0"/>
              <a:t>‹#›</a:t>
            </a:fld>
            <a:endParaRPr lang="tr-TR"/>
          </a:p>
        </p:txBody>
      </p:sp>
    </p:spTree>
    <p:extLst>
      <p:ext uri="{BB962C8B-B14F-4D97-AF65-F5344CB8AC3E}">
        <p14:creationId xmlns:p14="http://schemas.microsoft.com/office/powerpoint/2010/main" val="4131089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muhendistan.com/celik-konstruksiyon-nedir/"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B3E5960A-C567-EEBC-90BF-C7DB42BCD99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67844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BAA053C-116A-DE99-15DE-56F565F07E95}"/>
              </a:ext>
            </a:extLst>
          </p:cNvPr>
          <p:cNvSpPr>
            <a:spLocks noGrp="1"/>
          </p:cNvSpPr>
          <p:nvPr>
            <p:ph type="title"/>
          </p:nvPr>
        </p:nvSpPr>
        <p:spPr>
          <a:xfrm>
            <a:off x="572493" y="238539"/>
            <a:ext cx="11018520" cy="1434415"/>
          </a:xfrm>
        </p:spPr>
        <p:txBody>
          <a:bodyPr anchor="b">
            <a:normAutofit/>
          </a:bodyPr>
          <a:lstStyle/>
          <a:p>
            <a:r>
              <a:rPr lang="tr-TR" b="1" dirty="0"/>
              <a:t>Dersin içeriği</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EDBB2E6B-1264-25F5-69A9-79FA51F991AA}"/>
              </a:ext>
            </a:extLst>
          </p:cNvPr>
          <p:cNvSpPr>
            <a:spLocks noGrp="1"/>
          </p:cNvSpPr>
          <p:nvPr>
            <p:ph idx="1"/>
          </p:nvPr>
        </p:nvSpPr>
        <p:spPr>
          <a:xfrm>
            <a:off x="572493" y="2071316"/>
            <a:ext cx="6713552" cy="4119172"/>
          </a:xfrm>
        </p:spPr>
        <p:txBody>
          <a:bodyPr anchor="t">
            <a:normAutofit/>
          </a:bodyPr>
          <a:lstStyle/>
          <a:p>
            <a:pPr>
              <a:buFont typeface="Wingdings" panose="05000000000000000000" pitchFamily="2" charset="2"/>
              <a:buChar char="Ø"/>
            </a:pPr>
            <a:r>
              <a:rPr lang="tr-TR" sz="2200" dirty="0"/>
              <a:t>Tanım </a:t>
            </a:r>
          </a:p>
          <a:p>
            <a:pPr>
              <a:buFont typeface="Wingdings" panose="05000000000000000000" pitchFamily="2" charset="2"/>
              <a:buChar char="Ø"/>
            </a:pPr>
            <a:r>
              <a:rPr lang="tr-TR" sz="2200" dirty="0"/>
              <a:t>Kaynak türleri</a:t>
            </a:r>
          </a:p>
          <a:p>
            <a:pPr>
              <a:buFont typeface="Wingdings" panose="05000000000000000000" pitchFamily="2" charset="2"/>
              <a:buChar char="Ø"/>
            </a:pPr>
            <a:r>
              <a:rPr lang="tr-TR" sz="2200" dirty="0"/>
              <a:t>Kaynak işlerinde tehlikeler</a:t>
            </a:r>
          </a:p>
          <a:p>
            <a:pPr>
              <a:buFont typeface="Wingdings" panose="05000000000000000000" pitchFamily="2" charset="2"/>
              <a:buChar char="Ø"/>
            </a:pPr>
            <a:r>
              <a:rPr lang="tr-TR" sz="2200" dirty="0"/>
              <a:t>Kaynak işlerinde kullanılan gazlar</a:t>
            </a:r>
          </a:p>
          <a:p>
            <a:pPr>
              <a:buFont typeface="Wingdings" panose="05000000000000000000" pitchFamily="2" charset="2"/>
              <a:buChar char="Ø"/>
            </a:pPr>
            <a:r>
              <a:rPr lang="tr-TR" sz="2200" dirty="0"/>
              <a:t>Kaynak ve kesme işlerinde, kullanılan enerji türüne göre, alınması gereken iş güvenliği önlemleri</a:t>
            </a:r>
          </a:p>
          <a:p>
            <a:pPr>
              <a:buFont typeface="Wingdings" panose="05000000000000000000" pitchFamily="2" charset="2"/>
              <a:buChar char="Ø"/>
            </a:pPr>
            <a:r>
              <a:rPr lang="tr-TR" sz="2200" dirty="0"/>
              <a:t>Yönetmelikler </a:t>
            </a:r>
          </a:p>
        </p:txBody>
      </p:sp>
      <p:pic>
        <p:nvPicPr>
          <p:cNvPr id="4" name="Resim 3" descr="ekran görüntüsü, duman, tütsü, ateş, yangın içeren bir resim&#10;&#10;Yapay zeka tarafından oluşturulmuş içerik yanlış olabilir.">
            <a:extLst>
              <a:ext uri="{FF2B5EF4-FFF2-40B4-BE49-F238E27FC236}">
                <a16:creationId xmlns:a16="http://schemas.microsoft.com/office/drawing/2014/main" id="{C57D80E4-B1CB-50E5-78C4-0A332B045221}"/>
              </a:ext>
            </a:extLst>
          </p:cNvPr>
          <p:cNvPicPr>
            <a:picLocks noChangeAspect="1"/>
          </p:cNvPicPr>
          <p:nvPr/>
        </p:nvPicPr>
        <p:blipFill>
          <a:blip r:embed="rId2"/>
          <a:srcRect l="10899" r="25080" b="-1"/>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26455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5283505" y="202259"/>
            <a:ext cx="4840010" cy="1374408"/>
          </a:xfrm>
        </p:spPr>
        <p:txBody>
          <a:bodyPr>
            <a:normAutofit/>
          </a:bodyPr>
          <a:lstStyle/>
          <a:p>
            <a:r>
              <a:rPr lang="tr-TR" b="1" dirty="0"/>
              <a:t>Kaynak nedir?</a:t>
            </a:r>
            <a:endParaRPr lang="tr-TR" dirty="0"/>
          </a:p>
        </p:txBody>
      </p:sp>
      <p:pic>
        <p:nvPicPr>
          <p:cNvPr id="5" name="Picture 4" descr="Kişi için kaynak gölgesi">
            <a:extLst>
              <a:ext uri="{FF2B5EF4-FFF2-40B4-BE49-F238E27FC236}">
                <a16:creationId xmlns:a16="http://schemas.microsoft.com/office/drawing/2014/main" id="{21860FE7-3B6C-B966-0406-E81DD7BB38EB}"/>
              </a:ext>
            </a:extLst>
          </p:cNvPr>
          <p:cNvPicPr>
            <a:picLocks noChangeAspect="1"/>
          </p:cNvPicPr>
          <p:nvPr/>
        </p:nvPicPr>
        <p:blipFill>
          <a:blip r:embed="rId2"/>
          <a:srcRect l="14840" r="25849"/>
          <a:stretch>
            <a:fillRect/>
          </a:stretch>
        </p:blipFill>
        <p:spPr>
          <a:xfrm>
            <a:off x="18" y="38803"/>
            <a:ext cx="4744957" cy="6857999"/>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İçerik Yer Tutucusu 2"/>
          <p:cNvSpPr>
            <a:spLocks noGrp="1"/>
          </p:cNvSpPr>
          <p:nvPr>
            <p:ph idx="1"/>
          </p:nvPr>
        </p:nvSpPr>
        <p:spPr>
          <a:xfrm>
            <a:off x="4744976" y="1537855"/>
            <a:ext cx="7443975" cy="5320146"/>
          </a:xfrm>
        </p:spPr>
        <p:txBody>
          <a:bodyPr>
            <a:normAutofit fontScale="85000" lnSpcReduction="20000"/>
          </a:bodyPr>
          <a:lstStyle/>
          <a:p>
            <a:pPr marL="0" indent="0">
              <a:buNone/>
            </a:pPr>
            <a:r>
              <a:rPr lang="tr-TR" sz="2000" b="1" dirty="0"/>
              <a:t>  Kaynak işi</a:t>
            </a:r>
            <a:r>
              <a:rPr lang="tr-TR" sz="2000" dirty="0"/>
              <a:t>, iki metal parçanın </a:t>
            </a:r>
            <a:r>
              <a:rPr lang="tr-TR" sz="2000" b="1" dirty="0"/>
              <a:t>yüksek ısı kullanılarak</a:t>
            </a:r>
            <a:r>
              <a:rPr lang="tr-TR" sz="2000" dirty="0"/>
              <a:t> birbirine </a:t>
            </a:r>
            <a:r>
              <a:rPr lang="tr-TR" sz="2000" b="1" dirty="0"/>
              <a:t>kalıcı olarak birleştirilmesi</a:t>
            </a:r>
            <a:r>
              <a:rPr lang="tr-TR" sz="2000" dirty="0"/>
              <a:t> işlemidir.</a:t>
            </a:r>
          </a:p>
          <a:p>
            <a:pPr marL="0" indent="0">
              <a:buNone/>
            </a:pPr>
            <a:endParaRPr lang="tr-TR" sz="2000" dirty="0"/>
          </a:p>
          <a:p>
            <a:pPr>
              <a:buFont typeface="Wingdings" panose="05000000000000000000" pitchFamily="2" charset="2"/>
              <a:buChar char="Ø"/>
            </a:pPr>
            <a:r>
              <a:rPr lang="tr-TR" sz="2000" dirty="0"/>
              <a:t>Önce </a:t>
            </a:r>
            <a:r>
              <a:rPr lang="tr-TR" sz="2000" b="1" dirty="0"/>
              <a:t>iki metal parça</a:t>
            </a:r>
            <a:r>
              <a:rPr lang="tr-TR" sz="2000" dirty="0"/>
              <a:t> yan yana getirilir.</a:t>
            </a:r>
          </a:p>
          <a:p>
            <a:pPr>
              <a:buFont typeface="Wingdings" panose="05000000000000000000" pitchFamily="2" charset="2"/>
              <a:buChar char="Ø"/>
            </a:pPr>
            <a:r>
              <a:rPr lang="tr-TR" sz="2000" dirty="0"/>
              <a:t>Kaynak makinesi çalıştırılır.</a:t>
            </a:r>
          </a:p>
          <a:p>
            <a:pPr>
              <a:buFont typeface="Wingdings" panose="05000000000000000000" pitchFamily="2" charset="2"/>
              <a:buChar char="Ø"/>
            </a:pPr>
            <a:r>
              <a:rPr lang="tr-TR" sz="2000" dirty="0"/>
              <a:t>Makineden çıkan </a:t>
            </a:r>
            <a:r>
              <a:rPr lang="tr-TR" sz="2000" b="1" dirty="0"/>
              <a:t>yüksek ısı ve elektrik arkı</a:t>
            </a:r>
            <a:r>
              <a:rPr lang="tr-TR" sz="2000" dirty="0"/>
              <a:t>, metalin uçlarını </a:t>
            </a:r>
            <a:r>
              <a:rPr lang="tr-TR" sz="2000" b="1" dirty="0"/>
              <a:t>eritir</a:t>
            </a:r>
            <a:r>
              <a:rPr lang="tr-TR" sz="2000" dirty="0"/>
              <a:t>.</a:t>
            </a:r>
          </a:p>
          <a:p>
            <a:pPr>
              <a:buFont typeface="Wingdings" panose="05000000000000000000" pitchFamily="2" charset="2"/>
              <a:buChar char="Ø"/>
            </a:pPr>
            <a:r>
              <a:rPr lang="tr-TR" sz="2000" dirty="0"/>
              <a:t>Eriyen metaller </a:t>
            </a:r>
            <a:r>
              <a:rPr lang="tr-TR" sz="2000" b="1" dirty="0"/>
              <a:t>birbirine karışır</a:t>
            </a:r>
            <a:r>
              <a:rPr lang="tr-TR" sz="2000" dirty="0"/>
              <a:t>.</a:t>
            </a:r>
          </a:p>
          <a:p>
            <a:pPr>
              <a:buFont typeface="Wingdings" panose="05000000000000000000" pitchFamily="2" charset="2"/>
              <a:buChar char="Ø"/>
            </a:pPr>
            <a:r>
              <a:rPr lang="tr-TR" sz="2000" dirty="0"/>
              <a:t>Soğuduğunda metaller </a:t>
            </a:r>
            <a:r>
              <a:rPr lang="tr-TR" sz="2000" b="1" dirty="0"/>
              <a:t>tek parça gibi</a:t>
            </a:r>
            <a:r>
              <a:rPr lang="tr-TR" sz="2000" dirty="0"/>
              <a:t> olur.</a:t>
            </a:r>
            <a:br>
              <a:rPr lang="tr-TR" sz="2000" dirty="0"/>
            </a:br>
            <a:r>
              <a:rPr lang="tr-TR" sz="2000" dirty="0"/>
              <a:t/>
            </a:r>
            <a:br>
              <a:rPr lang="tr-TR" sz="2000" dirty="0"/>
            </a:br>
            <a:endParaRPr lang="tr-TR" sz="2000" dirty="0"/>
          </a:p>
          <a:p>
            <a:pPr marL="0" indent="0">
              <a:buNone/>
            </a:pPr>
            <a:r>
              <a:rPr lang="tr-TR" sz="2000" b="1" dirty="0"/>
              <a:t>Kaynak işlemi sırasında;</a:t>
            </a:r>
          </a:p>
          <a:p>
            <a:pPr marL="0" indent="0">
              <a:buNone/>
            </a:pPr>
            <a:r>
              <a:rPr lang="tr-TR" sz="2000" dirty="0"/>
              <a:t>🔥 </a:t>
            </a:r>
            <a:r>
              <a:rPr lang="tr-TR" sz="2000" b="1" dirty="0"/>
              <a:t>Yüksek ısı</a:t>
            </a:r>
            <a:endParaRPr lang="tr-TR" sz="2000" dirty="0"/>
          </a:p>
          <a:p>
            <a:pPr marL="0" indent="0">
              <a:buNone/>
            </a:pPr>
            <a:r>
              <a:rPr lang="tr-TR" sz="2000" dirty="0"/>
              <a:t>⚡ </a:t>
            </a:r>
            <a:r>
              <a:rPr lang="tr-TR" sz="2000" b="1" dirty="0"/>
              <a:t>Elektrik arkı (kıvılcım)</a:t>
            </a:r>
            <a:endParaRPr lang="tr-TR" sz="2000" dirty="0"/>
          </a:p>
          <a:p>
            <a:pPr marL="0" indent="0">
              <a:buNone/>
            </a:pPr>
            <a:r>
              <a:rPr lang="tr-TR" sz="2000" dirty="0"/>
              <a:t>🌫️ </a:t>
            </a:r>
            <a:r>
              <a:rPr lang="tr-TR" sz="2000" b="1" dirty="0"/>
              <a:t>Kaynak dumanı</a:t>
            </a:r>
            <a:endParaRPr lang="tr-TR" sz="2000" dirty="0"/>
          </a:p>
          <a:p>
            <a:pPr marL="0" indent="0">
              <a:buNone/>
            </a:pPr>
            <a:r>
              <a:rPr lang="tr-TR" sz="2000" dirty="0"/>
              <a:t>✨ </a:t>
            </a:r>
            <a:r>
              <a:rPr lang="tr-TR" sz="2000" b="1" dirty="0"/>
              <a:t>Parlak ışık</a:t>
            </a:r>
            <a:endParaRPr lang="tr-TR" sz="2000" dirty="0"/>
          </a:p>
          <a:p>
            <a:pPr marL="0" indent="0">
              <a:buNone/>
            </a:pPr>
            <a:r>
              <a:rPr lang="tr-TR" sz="2000" dirty="0"/>
              <a:t>oluştuğundan dolayı, </a:t>
            </a:r>
            <a:r>
              <a:rPr lang="tr-TR" sz="2000" b="1" dirty="0"/>
              <a:t>tehlikeli bir iştir</a:t>
            </a:r>
            <a:r>
              <a:rPr lang="tr-TR" sz="2000" dirty="0"/>
              <a:t> ve mutlaka </a:t>
            </a:r>
            <a:r>
              <a:rPr lang="tr-TR" sz="2000" b="1" dirty="0"/>
              <a:t>iş sağlığı ve güvenliği kurallarına</a:t>
            </a:r>
            <a:r>
              <a:rPr lang="tr-TR" sz="2000" dirty="0"/>
              <a:t> uyulması gerekmektedir.</a:t>
            </a:r>
          </a:p>
          <a:p>
            <a:pPr marL="0" indent="0">
              <a:buNone/>
            </a:pPr>
            <a:endParaRPr lang="tr-TR" sz="800" dirty="0"/>
          </a:p>
        </p:txBody>
      </p:sp>
    </p:spTree>
    <p:extLst>
      <p:ext uri="{BB962C8B-B14F-4D97-AF65-F5344CB8AC3E}">
        <p14:creationId xmlns:p14="http://schemas.microsoft.com/office/powerpoint/2010/main" val="106506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Kaynak nedir?</a:t>
            </a:r>
          </a:p>
        </p:txBody>
      </p:sp>
      <p:pic>
        <p:nvPicPr>
          <p:cNvPr id="4" name="Resim 3"/>
          <p:cNvPicPr>
            <a:picLocks noChangeAspect="1"/>
          </p:cNvPicPr>
          <p:nvPr/>
        </p:nvPicPr>
        <p:blipFill>
          <a:blip r:embed="rId2"/>
          <a:stretch>
            <a:fillRect/>
          </a:stretch>
        </p:blipFill>
        <p:spPr>
          <a:xfrm>
            <a:off x="4702101" y="1710282"/>
            <a:ext cx="7489899" cy="4432526"/>
          </a:xfrm>
          <a:prstGeom prst="rect">
            <a:avLst/>
          </a:prstGeom>
        </p:spPr>
      </p:pic>
      <p:sp>
        <p:nvSpPr>
          <p:cNvPr id="5" name="Metin kutusu 4"/>
          <p:cNvSpPr txBox="1"/>
          <p:nvPr/>
        </p:nvSpPr>
        <p:spPr>
          <a:xfrm>
            <a:off x="206328" y="2011680"/>
            <a:ext cx="4495773" cy="5016758"/>
          </a:xfrm>
          <a:prstGeom prst="rect">
            <a:avLst/>
          </a:prstGeom>
          <a:noFill/>
        </p:spPr>
        <p:txBody>
          <a:bodyPr wrap="square" rtlCol="0">
            <a:spAutoFit/>
          </a:bodyPr>
          <a:lstStyle/>
          <a:p>
            <a:r>
              <a:rPr lang="tr-TR" sz="2000" b="1" dirty="0">
                <a:solidFill>
                  <a:schemeClr val="accent2">
                    <a:lumMod val="75000"/>
                  </a:schemeClr>
                </a:solidFill>
              </a:rPr>
              <a:t>Elektrik arkı: </a:t>
            </a:r>
          </a:p>
          <a:p>
            <a:r>
              <a:rPr lang="tr-TR" sz="2000" dirty="0"/>
              <a:t>    </a:t>
            </a:r>
            <a:r>
              <a:rPr lang="tr-TR" sz="2000" dirty="0" smtClean="0"/>
              <a:t>İki </a:t>
            </a:r>
            <a:r>
              <a:rPr lang="tr-TR" sz="2000" dirty="0"/>
              <a:t>iletken arasında (metal ile elektrot)</a:t>
            </a:r>
            <a:br>
              <a:rPr lang="tr-TR" sz="2000" dirty="0"/>
            </a:br>
            <a:r>
              <a:rPr lang="tr-TR" sz="2000" b="1" dirty="0"/>
              <a:t>elektrik akımının hava boşluğundan atlamasıyla</a:t>
            </a:r>
            <a:r>
              <a:rPr lang="tr-TR" sz="2000" dirty="0"/>
              <a:t> oluşan</a:t>
            </a:r>
            <a:br>
              <a:rPr lang="tr-TR" sz="2000" dirty="0"/>
            </a:br>
            <a:r>
              <a:rPr lang="tr-TR" sz="2000" b="1" dirty="0"/>
              <a:t>çok parlak, çok sıcak bir kıvılcımdır</a:t>
            </a:r>
            <a:r>
              <a:rPr lang="tr-TR" sz="2000" dirty="0"/>
              <a:t>.</a:t>
            </a:r>
          </a:p>
          <a:p>
            <a:endParaRPr lang="tr-TR" sz="2000" dirty="0"/>
          </a:p>
          <a:p>
            <a:r>
              <a:rPr lang="tr-TR" sz="2000" dirty="0"/>
              <a:t>👉 Kaynak sırasında gördüğümüz o </a:t>
            </a:r>
            <a:r>
              <a:rPr lang="tr-TR" sz="2000" b="1" dirty="0"/>
              <a:t>göz kamaştırıcı ışık</a:t>
            </a:r>
            <a:r>
              <a:rPr lang="tr-TR" sz="2000" dirty="0"/>
              <a:t> ve </a:t>
            </a:r>
            <a:r>
              <a:rPr lang="tr-TR" sz="2000" b="1" dirty="0"/>
              <a:t>kıvılcım</a:t>
            </a:r>
            <a:r>
              <a:rPr lang="tr-TR" sz="2000" dirty="0"/>
              <a:t>, elektrik arkıdır.</a:t>
            </a:r>
          </a:p>
          <a:p>
            <a:endParaRPr lang="tr-TR" sz="2000" dirty="0"/>
          </a:p>
          <a:p>
            <a:r>
              <a:rPr lang="tr-TR" sz="2000" dirty="0"/>
              <a:t>Mesela, prizde fişi takarken çıkan </a:t>
            </a:r>
            <a:r>
              <a:rPr lang="tr-TR" sz="2000" b="1" dirty="0"/>
              <a:t>küçük kıvılcım gibi…</a:t>
            </a:r>
            <a:endParaRPr lang="tr-TR" sz="2000" dirty="0"/>
          </a:p>
        </p:txBody>
      </p:sp>
    </p:spTree>
    <p:extLst>
      <p:ext uri="{BB962C8B-B14F-4D97-AF65-F5344CB8AC3E}">
        <p14:creationId xmlns:p14="http://schemas.microsoft.com/office/powerpoint/2010/main" val="525801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8E4441A-EB65-7014-0BA0-49EED3A7886C}"/>
              </a:ext>
            </a:extLst>
          </p:cNvPr>
          <p:cNvSpPr>
            <a:spLocks noGrp="1"/>
          </p:cNvSpPr>
          <p:nvPr>
            <p:ph type="title"/>
          </p:nvPr>
        </p:nvSpPr>
        <p:spPr>
          <a:xfrm>
            <a:off x="838200" y="365125"/>
            <a:ext cx="10515600" cy="1325563"/>
          </a:xfrm>
        </p:spPr>
        <p:txBody>
          <a:bodyPr>
            <a:normAutofit/>
          </a:bodyPr>
          <a:lstStyle/>
          <a:p>
            <a:r>
              <a:rPr lang="tr-TR" b="1" dirty="0"/>
              <a:t>Kaynak İşlerinde İSG</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07753D2B-D4FB-D584-5997-4F06785052B5}"/>
              </a:ext>
            </a:extLst>
          </p:cNvPr>
          <p:cNvSpPr>
            <a:spLocks noGrp="1"/>
          </p:cNvSpPr>
          <p:nvPr>
            <p:ph idx="1"/>
          </p:nvPr>
        </p:nvSpPr>
        <p:spPr>
          <a:xfrm>
            <a:off x="838200" y="1929384"/>
            <a:ext cx="10515600" cy="4251960"/>
          </a:xfrm>
        </p:spPr>
        <p:txBody>
          <a:bodyPr>
            <a:normAutofit/>
          </a:bodyPr>
          <a:lstStyle/>
          <a:p>
            <a:pPr marL="0" indent="0">
              <a:buNone/>
            </a:pPr>
            <a:r>
              <a:rPr lang="tr-TR" sz="2200" dirty="0"/>
              <a:t>   </a:t>
            </a:r>
          </a:p>
          <a:p>
            <a:pPr marL="0" indent="0">
              <a:buNone/>
            </a:pPr>
            <a:r>
              <a:rPr lang="tr-TR" sz="2200" dirty="0"/>
              <a:t>   Kaynak işlemleri; metal parçaların ısı, basınç veya her ikisi kullanılarak birleştirilmesini sağlayan işlemlerdir. </a:t>
            </a:r>
          </a:p>
          <a:p>
            <a:pPr marL="0" indent="0">
              <a:buNone/>
            </a:pPr>
            <a:endParaRPr lang="tr-TR" sz="2200" dirty="0"/>
          </a:p>
          <a:p>
            <a:pPr marL="0" indent="0">
              <a:buNone/>
            </a:pPr>
            <a:r>
              <a:rPr lang="tr-TR" sz="2200" dirty="0"/>
              <a:t>   Sanayi, inşaat, gemi yapımı, otomotiv ve bakım-onarım sektörlerinde yaygın olarak uygulanmaktadır.</a:t>
            </a:r>
          </a:p>
          <a:p>
            <a:pPr marL="0" indent="0">
              <a:buNone/>
            </a:pPr>
            <a:r>
              <a:rPr lang="tr-TR" sz="2200" dirty="0"/>
              <a:t/>
            </a:r>
            <a:br>
              <a:rPr lang="tr-TR" sz="2200" dirty="0"/>
            </a:br>
            <a:r>
              <a:rPr lang="tr-TR" sz="2200" dirty="0"/>
              <a:t>   Ancak kaynak işlemleri; </a:t>
            </a:r>
            <a:r>
              <a:rPr lang="tr-TR" sz="2200" b="1" dirty="0"/>
              <a:t>fiziksel, kimyasal ve ergonomik pek çok tehlikeyi</a:t>
            </a:r>
            <a:r>
              <a:rPr lang="tr-TR" sz="2200" dirty="0"/>
              <a:t> beraberinde getirir. Bu nedenle kaynak işleri, </a:t>
            </a:r>
            <a:r>
              <a:rPr lang="tr-TR" sz="2200" b="1" dirty="0"/>
              <a:t>yüksek riskli işler</a:t>
            </a:r>
            <a:r>
              <a:rPr lang="tr-TR" sz="2200" dirty="0"/>
              <a:t> arasında yer alır ve etkili bir İş Sağlığı ve Güvenliği (İSG) yönetimi gerektirir.</a:t>
            </a:r>
          </a:p>
        </p:txBody>
      </p:sp>
    </p:spTree>
    <p:extLst>
      <p:ext uri="{BB962C8B-B14F-4D97-AF65-F5344CB8AC3E}">
        <p14:creationId xmlns:p14="http://schemas.microsoft.com/office/powerpoint/2010/main" val="1146270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13C74B1-5B17-4795-BED0-7140497B445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186DA24-A529-1C13-67A2-BACB75D10A87}"/>
              </a:ext>
            </a:extLst>
          </p:cNvPr>
          <p:cNvSpPr>
            <a:spLocks noGrp="1"/>
          </p:cNvSpPr>
          <p:nvPr>
            <p:ph type="title"/>
          </p:nvPr>
        </p:nvSpPr>
        <p:spPr>
          <a:xfrm>
            <a:off x="640080" y="325369"/>
            <a:ext cx="2792438" cy="1956841"/>
          </a:xfrm>
        </p:spPr>
        <p:txBody>
          <a:bodyPr anchor="b">
            <a:normAutofit/>
          </a:bodyPr>
          <a:lstStyle/>
          <a:p>
            <a:r>
              <a:rPr lang="tr-TR" b="1" dirty="0"/>
              <a:t>Kaynak türleri </a:t>
            </a:r>
          </a:p>
        </p:txBody>
      </p:sp>
      <p:sp>
        <p:nvSpPr>
          <p:cNvPr id="1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xmln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81C04A7-DD96-515D-0B0F-76FBB2366C07}"/>
              </a:ext>
            </a:extLst>
          </p:cNvPr>
          <p:cNvSpPr>
            <a:spLocks noGrp="1"/>
          </p:cNvSpPr>
          <p:nvPr>
            <p:ph idx="1"/>
          </p:nvPr>
        </p:nvSpPr>
        <p:spPr>
          <a:xfrm>
            <a:off x="243840" y="2872899"/>
            <a:ext cx="3765452" cy="1689915"/>
          </a:xfrm>
        </p:spPr>
        <p:txBody>
          <a:bodyPr>
            <a:normAutofit fontScale="55000" lnSpcReduction="20000"/>
          </a:bodyPr>
          <a:lstStyle/>
          <a:p>
            <a:pPr marL="0" indent="0">
              <a:buNone/>
            </a:pPr>
            <a:endParaRPr lang="tr-TR" sz="5600" dirty="0"/>
          </a:p>
          <a:p>
            <a:pPr marL="0" indent="0">
              <a:buNone/>
            </a:pPr>
            <a:r>
              <a:rPr lang="tr-TR" sz="3600" dirty="0"/>
              <a:t>Her kaynak türünde ortaya çıkan </a:t>
            </a:r>
            <a:r>
              <a:rPr lang="tr-TR" sz="3600" b="1" dirty="0"/>
              <a:t>ışınım, duman, gaz ve ısı</a:t>
            </a:r>
            <a:r>
              <a:rPr lang="tr-TR" sz="3600" dirty="0"/>
              <a:t> miktarı farklıdır</a:t>
            </a:r>
            <a:r>
              <a:rPr lang="tr-TR" sz="5600" dirty="0"/>
              <a:t>.</a:t>
            </a:r>
          </a:p>
          <a:p>
            <a:endParaRPr lang="tr-TR" sz="5600" dirty="0"/>
          </a:p>
        </p:txBody>
      </p:sp>
      <p:pic>
        <p:nvPicPr>
          <p:cNvPr id="5" name="Resim 4" descr="çizim, kırpıntı çizim, çizgi film, taslak içeren bir resim&#10;&#10;Yapay zeka tarafından oluşturulmuş içerik yanlış olabilir.">
            <a:extLst>
              <a:ext uri="{FF2B5EF4-FFF2-40B4-BE49-F238E27FC236}">
                <a16:creationId xmlns:a16="http://schemas.microsoft.com/office/drawing/2014/main" id="{A884FCAB-3642-F24F-1968-DAE8DDB870EF}"/>
              </a:ext>
            </a:extLst>
          </p:cNvPr>
          <p:cNvPicPr>
            <a:picLocks noChangeAspect="1"/>
          </p:cNvPicPr>
          <p:nvPr/>
        </p:nvPicPr>
        <p:blipFill>
          <a:blip r:embed="rId2"/>
          <a:srcRect l="13139" r="13137" b="-2"/>
          <a:stretch>
            <a:fillRect/>
          </a:stretch>
        </p:blipFill>
        <p:spPr>
          <a:xfrm>
            <a:off x="996901" y="4869204"/>
            <a:ext cx="1684901" cy="167981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graphicFrame>
        <p:nvGraphicFramePr>
          <p:cNvPr id="4" name="Tablo 3"/>
          <p:cNvGraphicFramePr>
            <a:graphicFrameLocks noGrp="1"/>
          </p:cNvGraphicFramePr>
          <p:nvPr>
            <p:extLst>
              <p:ext uri="{D42A27DB-BD31-4B8C-83A1-F6EECF244321}">
                <p14:modId xmlns:p14="http://schemas.microsoft.com/office/powerpoint/2010/main" val="1957073765"/>
              </p:ext>
            </p:extLst>
          </p:nvPr>
        </p:nvGraphicFramePr>
        <p:xfrm>
          <a:off x="4072598" y="-4"/>
          <a:ext cx="8119403" cy="7298447"/>
        </p:xfrm>
        <a:graphic>
          <a:graphicData uri="http://schemas.openxmlformats.org/drawingml/2006/table">
            <a:tbl>
              <a:tblPr firstRow="1" firstCol="1" bandRow="1">
                <a:tableStyleId>{F5AB1C69-6EDB-4FF4-983F-18BD219EF322}</a:tableStyleId>
              </a:tblPr>
              <a:tblGrid>
                <a:gridCol w="1785878">
                  <a:extLst>
                    <a:ext uri="{9D8B030D-6E8A-4147-A177-3AD203B41FA5}">
                      <a16:colId xmlns:a16="http://schemas.microsoft.com/office/drawing/2014/main" val="292425153"/>
                    </a:ext>
                  </a:extLst>
                </a:gridCol>
                <a:gridCol w="1434558">
                  <a:extLst>
                    <a:ext uri="{9D8B030D-6E8A-4147-A177-3AD203B41FA5}">
                      <a16:colId xmlns:a16="http://schemas.microsoft.com/office/drawing/2014/main" val="2637487346"/>
                    </a:ext>
                  </a:extLst>
                </a:gridCol>
                <a:gridCol w="2122561">
                  <a:extLst>
                    <a:ext uri="{9D8B030D-6E8A-4147-A177-3AD203B41FA5}">
                      <a16:colId xmlns:a16="http://schemas.microsoft.com/office/drawing/2014/main" val="1757828932"/>
                    </a:ext>
                  </a:extLst>
                </a:gridCol>
                <a:gridCol w="2776406">
                  <a:extLst>
                    <a:ext uri="{9D8B030D-6E8A-4147-A177-3AD203B41FA5}">
                      <a16:colId xmlns:a16="http://schemas.microsoft.com/office/drawing/2014/main" val="2513849001"/>
                    </a:ext>
                  </a:extLst>
                </a:gridCol>
              </a:tblGrid>
              <a:tr h="272033">
                <a:tc>
                  <a:txBody>
                    <a:bodyPr/>
                    <a:lstStyle/>
                    <a:p>
                      <a:pPr>
                        <a:lnSpc>
                          <a:spcPct val="115000"/>
                        </a:lnSpc>
                        <a:spcAft>
                          <a:spcPts val="1000"/>
                        </a:spcAft>
                      </a:pPr>
                      <a:r>
                        <a:rPr lang="en-US" sz="1200" dirty="0">
                          <a:effectLst/>
                        </a:rPr>
                        <a:t>Ana </a:t>
                      </a:r>
                      <a:r>
                        <a:rPr lang="en-US" sz="1200" dirty="0" err="1">
                          <a:effectLst/>
                        </a:rPr>
                        <a:t>Kaynak</a:t>
                      </a:r>
                      <a:r>
                        <a:rPr lang="en-US" sz="1200" dirty="0">
                          <a:effectLst/>
                        </a:rPr>
                        <a:t> </a:t>
                      </a:r>
                      <a:r>
                        <a:rPr lang="en-US" sz="1200" dirty="0" err="1">
                          <a:effectLst/>
                        </a:rPr>
                        <a:t>Türü</a:t>
                      </a:r>
                      <a:endParaRPr lang="tr-TR" sz="12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Alt </a:t>
                      </a:r>
                      <a:r>
                        <a:rPr lang="en-US" sz="1400" dirty="0" err="1">
                          <a:effectLst/>
                        </a:rPr>
                        <a:t>Grup</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Kaynak</a:t>
                      </a:r>
                      <a:r>
                        <a:rPr lang="en-US" sz="1400" dirty="0">
                          <a:effectLst/>
                        </a:rPr>
                        <a:t> </a:t>
                      </a:r>
                      <a:r>
                        <a:rPr lang="en-US" sz="1400" dirty="0" err="1">
                          <a:effectLst/>
                        </a:rPr>
                        <a:t>Yöntemi</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Kısa</a:t>
                      </a:r>
                      <a:r>
                        <a:rPr lang="en-US" sz="1400" dirty="0">
                          <a:effectLst/>
                        </a:rPr>
                        <a:t> </a:t>
                      </a:r>
                      <a:r>
                        <a:rPr lang="en-US" sz="1400" dirty="0" err="1">
                          <a:effectLst/>
                        </a:rPr>
                        <a:t>Açıklama</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2564989157"/>
                  </a:ext>
                </a:extLst>
              </a:tr>
              <a:tr h="816100">
                <a:tc rowSpan="10">
                  <a:txBody>
                    <a:bodyPr/>
                    <a:lstStyle/>
                    <a:p>
                      <a:pPr>
                        <a:lnSpc>
                          <a:spcPct val="115000"/>
                        </a:lnSpc>
                        <a:spcAft>
                          <a:spcPts val="1000"/>
                        </a:spcAft>
                      </a:pPr>
                      <a:r>
                        <a:rPr lang="en-US" sz="1400" dirty="0" err="1">
                          <a:effectLst/>
                        </a:rPr>
                        <a:t>Elektrik</a:t>
                      </a:r>
                      <a:r>
                        <a:rPr lang="en-US" sz="1400" dirty="0">
                          <a:effectLst/>
                        </a:rPr>
                        <a:t> </a:t>
                      </a:r>
                      <a:r>
                        <a:rPr lang="en-US" sz="1400" dirty="0" err="1">
                          <a:effectLst/>
                        </a:rPr>
                        <a:t>Kaynağı</a:t>
                      </a:r>
                      <a:r>
                        <a:rPr lang="en-US" sz="1400" dirty="0">
                          <a:effectLst/>
                        </a:rPr>
                        <a:t> </a:t>
                      </a:r>
                      <a:r>
                        <a:rPr lang="en-US" sz="1400" dirty="0" err="1">
                          <a:effectLst/>
                        </a:rPr>
                        <a:t>Yöntemleri</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Ark </a:t>
                      </a:r>
                      <a:r>
                        <a:rPr lang="en-US" sz="1400" dirty="0" err="1">
                          <a:effectLst/>
                        </a:rPr>
                        <a:t>Kaynakları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Örtülü</a:t>
                      </a:r>
                      <a:r>
                        <a:rPr lang="en-US" sz="1400" dirty="0">
                          <a:effectLst/>
                        </a:rPr>
                        <a:t> </a:t>
                      </a:r>
                      <a:r>
                        <a:rPr lang="en-US" sz="1400" dirty="0" err="1">
                          <a:effectLst/>
                        </a:rPr>
                        <a:t>elektrotla</a:t>
                      </a:r>
                      <a:r>
                        <a:rPr lang="en-US" sz="1400" dirty="0">
                          <a:effectLst/>
                        </a:rPr>
                        <a:t> ark </a:t>
                      </a:r>
                      <a:r>
                        <a:rPr lang="en-US" sz="1400" dirty="0" err="1">
                          <a:effectLst/>
                        </a:rPr>
                        <a:t>kaynağı</a:t>
                      </a:r>
                      <a:r>
                        <a:rPr lang="en-US" sz="1400" dirty="0">
                          <a:effectLst/>
                        </a:rPr>
                        <a:t> (MMA)</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a:effectLst/>
                        </a:rPr>
                        <a:t>Elektrik arkı ile yapılan kaynak</a:t>
                      </a:r>
                      <a:endParaRPr lang="tr-TR" sz="140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2067928995"/>
                  </a:ext>
                </a:extLst>
              </a:tr>
              <a:tr h="699514">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TIG (Tungsten Inert Gaz)</a:t>
                      </a:r>
                      <a:r>
                        <a:rPr lang="tr-TR" sz="1400" dirty="0">
                          <a:effectLst/>
                        </a:rPr>
                        <a:t> </a:t>
                      </a:r>
                      <a:r>
                        <a:rPr lang="tr-TR" sz="1400" dirty="0" err="1">
                          <a:effectLst/>
                        </a:rPr>
                        <a:t>gazaltı</a:t>
                      </a:r>
                      <a:r>
                        <a:rPr lang="tr-TR" sz="1400" dirty="0">
                          <a:effectLst/>
                        </a:rPr>
                        <a:t> 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Tungsten </a:t>
                      </a:r>
                      <a:r>
                        <a:rPr lang="en-US" sz="1400" dirty="0" err="1">
                          <a:effectLst/>
                        </a:rPr>
                        <a:t>elektrot</a:t>
                      </a:r>
                      <a:r>
                        <a:rPr lang="en-US" sz="1400" dirty="0">
                          <a:effectLst/>
                        </a:rPr>
                        <a:t> </a:t>
                      </a:r>
                      <a:r>
                        <a:rPr lang="en-US" sz="1400" dirty="0" err="1">
                          <a:effectLst/>
                        </a:rPr>
                        <a:t>ve</a:t>
                      </a:r>
                      <a:r>
                        <a:rPr lang="en-US" sz="1400" dirty="0">
                          <a:effectLst/>
                        </a:rPr>
                        <a:t> </a:t>
                      </a:r>
                      <a:r>
                        <a:rPr lang="en-US" sz="1400" dirty="0" err="1">
                          <a:effectLst/>
                        </a:rPr>
                        <a:t>koruyucu</a:t>
                      </a:r>
                      <a:r>
                        <a:rPr lang="en-US" sz="1400" dirty="0">
                          <a:effectLst/>
                        </a:rPr>
                        <a:t> </a:t>
                      </a:r>
                      <a:r>
                        <a:rPr lang="en-US" sz="1400" dirty="0" err="1">
                          <a:effectLst/>
                        </a:rPr>
                        <a:t>gaz</a:t>
                      </a:r>
                      <a:r>
                        <a:rPr lang="en-US" sz="1400" dirty="0">
                          <a:effectLst/>
                        </a:rPr>
                        <a:t> </a:t>
                      </a:r>
                      <a:r>
                        <a:rPr lang="en-US" sz="1400" dirty="0" err="1">
                          <a:effectLst/>
                        </a:rPr>
                        <a:t>kullanılan</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211091358"/>
                  </a:ext>
                </a:extLst>
              </a:tr>
              <a:tr h="699514">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MIG/MAG (Metal Inert / Active Gaz)</a:t>
                      </a:r>
                      <a:r>
                        <a:rPr lang="tr-TR" sz="1400" dirty="0">
                          <a:effectLst/>
                        </a:rPr>
                        <a:t> </a:t>
                      </a:r>
                      <a:r>
                        <a:rPr lang="tr-TR" sz="1400" dirty="0" err="1">
                          <a:effectLst/>
                        </a:rPr>
                        <a:t>gazaltı</a:t>
                      </a:r>
                      <a:r>
                        <a:rPr lang="tr-TR" sz="1400" dirty="0">
                          <a:effectLst/>
                        </a:rPr>
                        <a:t> 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Tel </a:t>
                      </a:r>
                      <a:r>
                        <a:rPr lang="en-US" sz="1400" dirty="0" err="1">
                          <a:effectLst/>
                        </a:rPr>
                        <a:t>elektrot</a:t>
                      </a:r>
                      <a:r>
                        <a:rPr lang="en-US" sz="1400" dirty="0">
                          <a:effectLst/>
                        </a:rPr>
                        <a:t> </a:t>
                      </a:r>
                      <a:r>
                        <a:rPr lang="en-US" sz="1400" dirty="0" err="1">
                          <a:effectLst/>
                        </a:rPr>
                        <a:t>ve</a:t>
                      </a:r>
                      <a:r>
                        <a:rPr lang="en-US" sz="1400" dirty="0">
                          <a:effectLst/>
                        </a:rPr>
                        <a:t> </a:t>
                      </a:r>
                      <a:r>
                        <a:rPr lang="en-US" sz="1400" dirty="0" err="1">
                          <a:effectLst/>
                        </a:rPr>
                        <a:t>gaz</a:t>
                      </a:r>
                      <a:r>
                        <a:rPr lang="en-US" sz="1400" dirty="0">
                          <a:effectLst/>
                        </a:rPr>
                        <a:t> </a:t>
                      </a:r>
                      <a:r>
                        <a:rPr lang="en-US" sz="1400" dirty="0" err="1">
                          <a:effectLst/>
                        </a:rPr>
                        <a:t>kullanılan</a:t>
                      </a:r>
                      <a:r>
                        <a:rPr lang="en-US" sz="1400" dirty="0">
                          <a:effectLst/>
                        </a:rPr>
                        <a:t> </a:t>
                      </a:r>
                      <a:r>
                        <a:rPr lang="en-US" sz="1400" dirty="0" err="1">
                          <a:effectLst/>
                        </a:rPr>
                        <a:t>yarı</a:t>
                      </a:r>
                      <a:r>
                        <a:rPr lang="en-US" sz="1400" dirty="0">
                          <a:effectLst/>
                        </a:rPr>
                        <a:t> </a:t>
                      </a:r>
                      <a:r>
                        <a:rPr lang="en-US" sz="1400" dirty="0" err="1">
                          <a:effectLst/>
                        </a:rPr>
                        <a:t>otomatik</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2322266732"/>
                  </a:ext>
                </a:extLst>
              </a:tr>
              <a:tr h="46634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Tozaltı</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Arkın </a:t>
                      </a:r>
                      <a:r>
                        <a:rPr lang="en-US" sz="1400" dirty="0" err="1">
                          <a:effectLst/>
                        </a:rPr>
                        <a:t>toz</a:t>
                      </a:r>
                      <a:r>
                        <a:rPr lang="en-US" sz="1400" dirty="0">
                          <a:effectLst/>
                        </a:rPr>
                        <a:t> </a:t>
                      </a:r>
                      <a:r>
                        <a:rPr lang="en-US" sz="1400" dirty="0" err="1">
                          <a:effectLst/>
                        </a:rPr>
                        <a:t>altında</a:t>
                      </a:r>
                      <a:r>
                        <a:rPr lang="en-US" sz="1400" dirty="0">
                          <a:effectLst/>
                        </a:rPr>
                        <a:t> </a:t>
                      </a:r>
                      <a:r>
                        <a:rPr lang="en-US" sz="1400" dirty="0" err="1">
                          <a:effectLst/>
                        </a:rPr>
                        <a:t>oluştuğu</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3302237966"/>
                  </a:ext>
                </a:extLst>
              </a:tr>
              <a:tr h="49835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tc>
                  <a:txBody>
                    <a:bodyPr/>
                    <a:lstStyle/>
                    <a:p>
                      <a:pPr>
                        <a:lnSpc>
                          <a:spcPct val="115000"/>
                        </a:lnSpc>
                        <a:spcAft>
                          <a:spcPts val="1000"/>
                        </a:spcAft>
                      </a:pPr>
                      <a:r>
                        <a:rPr lang="en-US" sz="1400" dirty="0" err="1">
                          <a:effectLst/>
                        </a:rPr>
                        <a:t>Plazma</a:t>
                      </a:r>
                      <a:r>
                        <a:rPr lang="en-US" sz="1400" dirty="0">
                          <a:effectLst/>
                        </a:rPr>
                        <a:t> ark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tc>
                  <a:txBody>
                    <a:bodyPr/>
                    <a:lstStyle/>
                    <a:p>
                      <a:pPr>
                        <a:lnSpc>
                          <a:spcPct val="115000"/>
                        </a:lnSpc>
                        <a:spcAft>
                          <a:spcPts val="1000"/>
                        </a:spcAft>
                      </a:pPr>
                      <a:r>
                        <a:rPr lang="en-US" sz="1400" dirty="0" err="1">
                          <a:effectLst/>
                        </a:rPr>
                        <a:t>Plazma</a:t>
                      </a:r>
                      <a:r>
                        <a:rPr lang="en-US" sz="1400" dirty="0">
                          <a:effectLst/>
                        </a:rPr>
                        <a:t> </a:t>
                      </a:r>
                      <a:r>
                        <a:rPr lang="en-US" sz="1400" dirty="0" err="1">
                          <a:effectLst/>
                        </a:rPr>
                        <a:t>arkı</a:t>
                      </a:r>
                      <a:r>
                        <a:rPr lang="en-US" sz="1400" dirty="0">
                          <a:effectLst/>
                        </a:rPr>
                        <a:t> </a:t>
                      </a:r>
                      <a:r>
                        <a:rPr lang="en-US" sz="1400" dirty="0" err="1">
                          <a:effectLst/>
                        </a:rPr>
                        <a:t>ile</a:t>
                      </a:r>
                      <a:r>
                        <a:rPr lang="en-US" sz="1400" dirty="0">
                          <a:effectLst/>
                        </a:rPr>
                        <a:t> </a:t>
                      </a:r>
                      <a:r>
                        <a:rPr lang="en-US" sz="1400" dirty="0" err="1">
                          <a:effectLst/>
                        </a:rPr>
                        <a:t>yapılan</a:t>
                      </a:r>
                      <a:r>
                        <a:rPr lang="en-US" sz="1400" dirty="0">
                          <a:effectLst/>
                        </a:rPr>
                        <a:t> </a:t>
                      </a:r>
                      <a:r>
                        <a:rPr lang="en-US" sz="1400" dirty="0" err="1">
                          <a:effectLst/>
                        </a:rPr>
                        <a:t>yüksek</a:t>
                      </a:r>
                      <a:r>
                        <a:rPr lang="en-US" sz="1400" dirty="0">
                          <a:effectLst/>
                        </a:rPr>
                        <a:t> </a:t>
                      </a:r>
                      <a:r>
                        <a:rPr lang="en-US" sz="1400" dirty="0" err="1">
                          <a:effectLst/>
                        </a:rPr>
                        <a:t>sıcaklıklı</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3786225"/>
                  </a:ext>
                </a:extLst>
              </a:tr>
              <a:tr h="49835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Direnç</a:t>
                      </a:r>
                      <a:r>
                        <a:rPr lang="en-US" sz="1400" dirty="0">
                          <a:effectLst/>
                        </a:rPr>
                        <a:t> </a:t>
                      </a:r>
                      <a:r>
                        <a:rPr lang="en-US" sz="1400" dirty="0" err="1">
                          <a:effectLst/>
                        </a:rPr>
                        <a:t>Kaynakları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tc>
                  <a:txBody>
                    <a:bodyPr/>
                    <a:lstStyle/>
                    <a:p>
                      <a:pPr>
                        <a:lnSpc>
                          <a:spcPct val="115000"/>
                        </a:lnSpc>
                        <a:spcAft>
                          <a:spcPts val="1000"/>
                        </a:spcAft>
                      </a:pPr>
                      <a:r>
                        <a:rPr lang="en-US" sz="1400" dirty="0" err="1">
                          <a:effectLst/>
                        </a:rPr>
                        <a:t>Nokta</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tc>
                  <a:txBody>
                    <a:bodyPr/>
                    <a:lstStyle/>
                    <a:p>
                      <a:pPr>
                        <a:lnSpc>
                          <a:spcPct val="115000"/>
                        </a:lnSpc>
                        <a:spcAft>
                          <a:spcPts val="1000"/>
                        </a:spcAft>
                      </a:pPr>
                      <a:r>
                        <a:rPr lang="en-US" sz="1400" dirty="0" err="1">
                          <a:effectLst/>
                        </a:rPr>
                        <a:t>Elektrik</a:t>
                      </a:r>
                      <a:r>
                        <a:rPr lang="en-US" sz="1400" dirty="0">
                          <a:effectLst/>
                        </a:rPr>
                        <a:t> </a:t>
                      </a:r>
                      <a:r>
                        <a:rPr lang="en-US" sz="1400" dirty="0" err="1">
                          <a:effectLst/>
                        </a:rPr>
                        <a:t>direnciyle</a:t>
                      </a:r>
                      <a:r>
                        <a:rPr lang="en-US" sz="1400" dirty="0">
                          <a:effectLst/>
                        </a:rPr>
                        <a:t> </a:t>
                      </a:r>
                      <a:r>
                        <a:rPr lang="en-US" sz="1400" dirty="0" err="1">
                          <a:effectLst/>
                        </a:rPr>
                        <a:t>noktasal</a:t>
                      </a:r>
                      <a:r>
                        <a:rPr lang="en-US" sz="1400" dirty="0">
                          <a:effectLst/>
                        </a:rPr>
                        <a:t> </a:t>
                      </a:r>
                      <a:r>
                        <a:rPr lang="en-US" sz="1400" dirty="0" err="1">
                          <a:effectLst/>
                        </a:rPr>
                        <a:t>birleştirme</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46736171"/>
                  </a:ext>
                </a:extLst>
              </a:tr>
              <a:tr h="46634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Dikiş</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Sürekli</a:t>
                      </a:r>
                      <a:r>
                        <a:rPr lang="en-US" sz="1400" dirty="0">
                          <a:effectLst/>
                        </a:rPr>
                        <a:t> </a:t>
                      </a:r>
                      <a:r>
                        <a:rPr lang="en-US" sz="1400" dirty="0" err="1">
                          <a:effectLst/>
                        </a:rPr>
                        <a:t>nokta</a:t>
                      </a:r>
                      <a:r>
                        <a:rPr lang="en-US" sz="1400" dirty="0">
                          <a:effectLst/>
                        </a:rPr>
                        <a:t> </a:t>
                      </a:r>
                      <a:r>
                        <a:rPr lang="en-US" sz="1400" dirty="0" err="1">
                          <a:effectLst/>
                        </a:rPr>
                        <a:t>kaynağıyla</a:t>
                      </a:r>
                      <a:r>
                        <a:rPr lang="en-US" sz="1400" dirty="0">
                          <a:effectLst/>
                        </a:rPr>
                        <a:t> </a:t>
                      </a:r>
                      <a:r>
                        <a:rPr lang="en-US" sz="1400" dirty="0" err="1">
                          <a:effectLst/>
                        </a:rPr>
                        <a:t>yapılan</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1186398091"/>
                  </a:ext>
                </a:extLst>
              </a:tr>
              <a:tr h="49835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tc>
                  <a:txBody>
                    <a:bodyPr/>
                    <a:lstStyle/>
                    <a:p>
                      <a:pPr>
                        <a:lnSpc>
                          <a:spcPct val="115000"/>
                        </a:lnSpc>
                        <a:spcAft>
                          <a:spcPts val="1000"/>
                        </a:spcAft>
                      </a:pPr>
                      <a:r>
                        <a:rPr lang="en-US" sz="1400" dirty="0" err="1">
                          <a:effectLst/>
                        </a:rPr>
                        <a:t>Projeksiyon</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tc>
                  <a:txBody>
                    <a:bodyPr/>
                    <a:lstStyle/>
                    <a:p>
                      <a:pPr>
                        <a:lnSpc>
                          <a:spcPct val="115000"/>
                        </a:lnSpc>
                        <a:spcAft>
                          <a:spcPts val="1000"/>
                        </a:spcAft>
                      </a:pPr>
                      <a:r>
                        <a:rPr lang="en-US" sz="1400" dirty="0" err="1">
                          <a:effectLst/>
                        </a:rPr>
                        <a:t>Çıkıntılı</a:t>
                      </a:r>
                      <a:r>
                        <a:rPr lang="en-US" sz="1400" dirty="0">
                          <a:effectLst/>
                        </a:rPr>
                        <a:t> </a:t>
                      </a:r>
                      <a:r>
                        <a:rPr lang="en-US" sz="1400" dirty="0" err="1">
                          <a:effectLst/>
                        </a:rPr>
                        <a:t>yüzeylerde</a:t>
                      </a:r>
                      <a:r>
                        <a:rPr lang="en-US" sz="1400" dirty="0">
                          <a:effectLst/>
                        </a:rPr>
                        <a:t> </a:t>
                      </a:r>
                      <a:r>
                        <a:rPr lang="en-US" sz="1400" dirty="0" err="1">
                          <a:effectLst/>
                        </a:rPr>
                        <a:t>yapılan</a:t>
                      </a:r>
                      <a:r>
                        <a:rPr lang="en-US" sz="1400" dirty="0">
                          <a:effectLst/>
                        </a:rPr>
                        <a:t> </a:t>
                      </a:r>
                      <a:r>
                        <a:rPr lang="en-US" sz="1400" dirty="0" err="1">
                          <a:effectLst/>
                        </a:rPr>
                        <a:t>direnç</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6723265"/>
                  </a:ext>
                </a:extLst>
              </a:tr>
              <a:tr h="46634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Diğer</a:t>
                      </a:r>
                      <a:r>
                        <a:rPr lang="en-US" sz="1400" dirty="0">
                          <a:effectLst/>
                        </a:rPr>
                        <a:t> </a:t>
                      </a:r>
                      <a:r>
                        <a:rPr lang="en-US" sz="1400" dirty="0" err="1">
                          <a:effectLst/>
                        </a:rPr>
                        <a:t>Elektrik</a:t>
                      </a:r>
                      <a:r>
                        <a:rPr lang="en-US" sz="1400" dirty="0">
                          <a:effectLst/>
                        </a:rPr>
                        <a:t> </a:t>
                      </a:r>
                      <a:r>
                        <a:rPr lang="en-US" sz="1400" dirty="0" err="1">
                          <a:effectLst/>
                        </a:rPr>
                        <a:t>Kaynakları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tc>
                  <a:txBody>
                    <a:bodyPr/>
                    <a:lstStyle/>
                    <a:p>
                      <a:pPr>
                        <a:lnSpc>
                          <a:spcPct val="115000"/>
                        </a:lnSpc>
                        <a:spcAft>
                          <a:spcPts val="1000"/>
                        </a:spcAft>
                      </a:pPr>
                      <a:r>
                        <a:rPr lang="en-US" sz="1400" dirty="0" err="1">
                          <a:effectLst/>
                        </a:rPr>
                        <a:t>Elektron</a:t>
                      </a:r>
                      <a:r>
                        <a:rPr lang="en-US" sz="1400" dirty="0">
                          <a:effectLst/>
                        </a:rPr>
                        <a:t> </a:t>
                      </a:r>
                      <a:r>
                        <a:rPr lang="en-US" sz="1400" dirty="0" err="1">
                          <a:effectLst/>
                        </a:rPr>
                        <a:t>ışın</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tc>
                  <a:txBody>
                    <a:bodyPr/>
                    <a:lstStyle/>
                    <a:p>
                      <a:pPr>
                        <a:lnSpc>
                          <a:spcPct val="115000"/>
                        </a:lnSpc>
                        <a:spcAft>
                          <a:spcPts val="1000"/>
                        </a:spcAft>
                      </a:pPr>
                      <a:r>
                        <a:rPr lang="en-US" sz="1400">
                          <a:effectLst/>
                        </a:rPr>
                        <a:t>Elektron ışını ile yapılan hassas kaynak</a:t>
                      </a:r>
                      <a:endParaRPr lang="tr-TR" sz="140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96394808"/>
                  </a:ext>
                </a:extLst>
              </a:tr>
              <a:tr h="46634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tc>
                  <a:txBody>
                    <a:bodyPr/>
                    <a:lstStyle/>
                    <a:p>
                      <a:pPr>
                        <a:lnSpc>
                          <a:spcPct val="115000"/>
                        </a:lnSpc>
                        <a:spcAft>
                          <a:spcPts val="1000"/>
                        </a:spcAft>
                      </a:pPr>
                      <a:r>
                        <a:rPr lang="en-US" sz="1400" dirty="0" err="1">
                          <a:effectLst/>
                        </a:rPr>
                        <a:t>Lazer</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tc>
                  <a:txBody>
                    <a:bodyPr/>
                    <a:lstStyle/>
                    <a:p>
                      <a:pPr>
                        <a:lnSpc>
                          <a:spcPct val="115000"/>
                        </a:lnSpc>
                        <a:spcAft>
                          <a:spcPts val="1000"/>
                        </a:spcAft>
                      </a:pPr>
                      <a:r>
                        <a:rPr lang="en-US" sz="1400" dirty="0" err="1">
                          <a:effectLst/>
                        </a:rPr>
                        <a:t>Lazer</a:t>
                      </a:r>
                      <a:r>
                        <a:rPr lang="en-US" sz="1400" dirty="0">
                          <a:effectLst/>
                        </a:rPr>
                        <a:t> </a:t>
                      </a:r>
                      <a:r>
                        <a:rPr lang="en-US" sz="1400" dirty="0" err="1">
                          <a:effectLst/>
                        </a:rPr>
                        <a:t>ışınıyla</a:t>
                      </a:r>
                      <a:r>
                        <a:rPr lang="en-US" sz="1400" dirty="0">
                          <a:effectLst/>
                        </a:rPr>
                        <a:t> </a:t>
                      </a:r>
                      <a:r>
                        <a:rPr lang="en-US" sz="1400" dirty="0" err="1">
                          <a:effectLst/>
                        </a:rPr>
                        <a:t>yapılan</a:t>
                      </a:r>
                      <a:r>
                        <a:rPr lang="en-US" sz="1400" dirty="0">
                          <a:effectLst/>
                        </a:rPr>
                        <a:t> </a:t>
                      </a:r>
                      <a:r>
                        <a:rPr lang="en-US" sz="1400" dirty="0" err="1">
                          <a:effectLst/>
                        </a:rPr>
                        <a:t>hassas</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1666419"/>
                  </a:ext>
                </a:extLst>
              </a:tr>
              <a:tr h="544067">
                <a:tc>
                  <a:txBody>
                    <a:bodyPr/>
                    <a:lstStyle/>
                    <a:p>
                      <a:pPr>
                        <a:lnSpc>
                          <a:spcPct val="115000"/>
                        </a:lnSpc>
                        <a:spcAft>
                          <a:spcPts val="1000"/>
                        </a:spcAft>
                      </a:pPr>
                      <a:r>
                        <a:rPr lang="en-US" sz="1400" dirty="0" err="1">
                          <a:effectLst/>
                        </a:rPr>
                        <a:t>Gaz</a:t>
                      </a:r>
                      <a:r>
                        <a:rPr lang="en-US" sz="1400" dirty="0">
                          <a:effectLst/>
                        </a:rPr>
                        <a:t> </a:t>
                      </a:r>
                      <a:r>
                        <a:rPr lang="en-US" sz="1400" dirty="0" err="1">
                          <a:effectLst/>
                        </a:rPr>
                        <a:t>Kaynağı</a:t>
                      </a:r>
                      <a:r>
                        <a:rPr lang="en-US" sz="1400" dirty="0">
                          <a:effectLst/>
                        </a:rPr>
                        <a:t> </a:t>
                      </a:r>
                      <a:r>
                        <a:rPr lang="en-US" sz="1400" dirty="0" err="1">
                          <a:effectLst/>
                        </a:rPr>
                        <a:t>Yöntemleri</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tc>
                  <a:txBody>
                    <a:bodyPr/>
                    <a:lstStyle/>
                    <a:p>
                      <a:pPr>
                        <a:lnSpc>
                          <a:spcPct val="115000"/>
                        </a:lnSpc>
                        <a:spcAft>
                          <a:spcPts val="1000"/>
                        </a:spcAft>
                      </a:pPr>
                      <a:r>
                        <a:rPr lang="en-US" sz="1400">
                          <a:effectLst/>
                        </a:rPr>
                        <a:t>Oksi-asetilen kaynağı</a:t>
                      </a:r>
                      <a:endParaRPr lang="tr-TR" sz="140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tc>
                  <a:txBody>
                    <a:bodyPr/>
                    <a:lstStyle/>
                    <a:p>
                      <a:pPr>
                        <a:lnSpc>
                          <a:spcPct val="115000"/>
                        </a:lnSpc>
                        <a:spcAft>
                          <a:spcPts val="1000"/>
                        </a:spcAft>
                      </a:pPr>
                      <a:r>
                        <a:rPr lang="en-US" sz="1400" dirty="0" err="1">
                          <a:effectLst/>
                        </a:rPr>
                        <a:t>Oksijen</a:t>
                      </a:r>
                      <a:r>
                        <a:rPr lang="en-US" sz="1400" dirty="0">
                          <a:effectLst/>
                        </a:rPr>
                        <a:t> </a:t>
                      </a:r>
                      <a:r>
                        <a:rPr lang="en-US" sz="1400" dirty="0" err="1">
                          <a:effectLst/>
                        </a:rPr>
                        <a:t>ve</a:t>
                      </a:r>
                      <a:r>
                        <a:rPr lang="en-US" sz="1400" dirty="0">
                          <a:effectLst/>
                        </a:rPr>
                        <a:t> </a:t>
                      </a:r>
                      <a:r>
                        <a:rPr lang="en-US" sz="1400" dirty="0" err="1">
                          <a:effectLst/>
                        </a:rPr>
                        <a:t>asetilen</a:t>
                      </a:r>
                      <a:r>
                        <a:rPr lang="en-US" sz="1400" dirty="0">
                          <a:effectLst/>
                        </a:rPr>
                        <a:t> </a:t>
                      </a:r>
                      <a:r>
                        <a:rPr lang="en-US" sz="1400" dirty="0" err="1">
                          <a:effectLst/>
                        </a:rPr>
                        <a:t>gazı</a:t>
                      </a:r>
                      <a:r>
                        <a:rPr lang="en-US" sz="1400" dirty="0">
                          <a:effectLst/>
                        </a:rPr>
                        <a:t> </a:t>
                      </a:r>
                      <a:r>
                        <a:rPr lang="en-US" sz="1400" dirty="0" err="1">
                          <a:effectLst/>
                        </a:rPr>
                        <a:t>aleviyle</a:t>
                      </a:r>
                      <a:r>
                        <a:rPr lang="en-US" sz="1400" dirty="0">
                          <a:effectLst/>
                        </a:rPr>
                        <a:t> </a:t>
                      </a:r>
                      <a:r>
                        <a:rPr lang="en-US" sz="1400" dirty="0" err="1">
                          <a:effectLst/>
                        </a:rPr>
                        <a:t>yapılan</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997852346"/>
                  </a:ext>
                </a:extLst>
              </a:tr>
              <a:tr h="466343">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Oksi-propan</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Oksijen</a:t>
                      </a:r>
                      <a:r>
                        <a:rPr lang="en-US" sz="1400" dirty="0">
                          <a:effectLst/>
                        </a:rPr>
                        <a:t> </a:t>
                      </a:r>
                      <a:r>
                        <a:rPr lang="en-US" sz="1400" dirty="0" err="1">
                          <a:effectLst/>
                        </a:rPr>
                        <a:t>ve</a:t>
                      </a:r>
                      <a:r>
                        <a:rPr lang="en-US" sz="1400" dirty="0">
                          <a:effectLst/>
                        </a:rPr>
                        <a:t> </a:t>
                      </a:r>
                      <a:r>
                        <a:rPr lang="en-US" sz="1400" dirty="0" err="1">
                          <a:effectLst/>
                        </a:rPr>
                        <a:t>propan</a:t>
                      </a:r>
                      <a:r>
                        <a:rPr lang="en-US" sz="1400" dirty="0">
                          <a:effectLst/>
                        </a:rPr>
                        <a:t> </a:t>
                      </a:r>
                      <a:r>
                        <a:rPr lang="en-US" sz="1400" dirty="0" err="1">
                          <a:effectLst/>
                        </a:rPr>
                        <a:t>gazı</a:t>
                      </a:r>
                      <a:r>
                        <a:rPr lang="en-US" sz="1400" dirty="0">
                          <a:effectLst/>
                        </a:rPr>
                        <a:t> </a:t>
                      </a:r>
                      <a:r>
                        <a:rPr lang="en-US" sz="1400" dirty="0" err="1">
                          <a:effectLst/>
                        </a:rPr>
                        <a:t>ile</a:t>
                      </a:r>
                      <a:r>
                        <a:rPr lang="en-US" sz="1400" dirty="0">
                          <a:effectLst/>
                        </a:rPr>
                        <a:t> </a:t>
                      </a:r>
                      <a:r>
                        <a:rPr lang="en-US" sz="1400" dirty="0" err="1">
                          <a:effectLst/>
                        </a:rPr>
                        <a:t>yapılan</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3321274113"/>
                  </a:ext>
                </a:extLst>
              </a:tr>
            </a:tbl>
          </a:graphicData>
        </a:graphic>
      </p:graphicFrame>
    </p:spTree>
    <p:extLst>
      <p:ext uri="{BB962C8B-B14F-4D97-AF65-F5344CB8AC3E}">
        <p14:creationId xmlns:p14="http://schemas.microsoft.com/office/powerpoint/2010/main" val="3037731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1">
            <a:extLst>
              <a:ext uri="{FF2B5EF4-FFF2-40B4-BE49-F238E27FC236}">
                <a16:creationId xmlns:a16="http://schemas.microsoft.com/office/drawing/2014/main" id="{A2679492-7988-4050-9056-54244445241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23">
            <a:extLst>
              <a:ext uri="{FF2B5EF4-FFF2-40B4-BE49-F238E27FC236}">
                <a16:creationId xmlns:a16="http://schemas.microsoft.com/office/drawing/2014/main" id="{B091B163-7D61-4891-ABCF-5C13D9C418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Unvan 1"/>
          <p:cNvSpPr>
            <a:spLocks noGrp="1"/>
          </p:cNvSpPr>
          <p:nvPr>
            <p:ph type="title"/>
          </p:nvPr>
        </p:nvSpPr>
        <p:spPr>
          <a:xfrm>
            <a:off x="1188069" y="381935"/>
            <a:ext cx="4008583" cy="5974414"/>
          </a:xfrm>
        </p:spPr>
        <p:txBody>
          <a:bodyPr anchor="ctr">
            <a:normAutofit/>
          </a:bodyPr>
          <a:lstStyle/>
          <a:p>
            <a:r>
              <a:rPr lang="tr-TR" b="1" dirty="0">
                <a:solidFill>
                  <a:srgbClr val="FFFFFF"/>
                </a:solidFill>
              </a:rPr>
              <a:t>Hangi koruyucu gazlar kullanılır?</a:t>
            </a:r>
          </a:p>
        </p:txBody>
      </p:sp>
      <p:grpSp>
        <p:nvGrpSpPr>
          <p:cNvPr id="26" name="Group 25">
            <a:extLst>
              <a:ext uri="{FF2B5EF4-FFF2-40B4-BE49-F238E27FC236}">
                <a16:creationId xmlns:a16="http://schemas.microsoft.com/office/drawing/2014/main" id="{0474DF76-993E-44DE-AFB0-C416182ACEC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2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2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İçerik Yer Tutucusu 2"/>
          <p:cNvSpPr>
            <a:spLocks noGrp="1"/>
          </p:cNvSpPr>
          <p:nvPr>
            <p:ph idx="1"/>
          </p:nvPr>
        </p:nvSpPr>
        <p:spPr>
          <a:xfrm>
            <a:off x="5892337" y="8878"/>
            <a:ext cx="6184807" cy="6840244"/>
          </a:xfrm>
        </p:spPr>
        <p:txBody>
          <a:bodyPr anchor="ctr">
            <a:normAutofit lnSpcReduction="10000"/>
          </a:bodyPr>
          <a:lstStyle/>
          <a:p>
            <a:pPr marL="0" indent="0">
              <a:buNone/>
            </a:pPr>
            <a:r>
              <a:rPr lang="tr-TR" sz="1800" b="1" dirty="0">
                <a:solidFill>
                  <a:schemeClr val="tx1">
                    <a:alpha val="80000"/>
                  </a:schemeClr>
                </a:solidFill>
              </a:rPr>
              <a:t>1</a:t>
            </a:r>
            <a:r>
              <a:rPr lang="tr-TR" sz="1800" b="1" dirty="0">
                <a:solidFill>
                  <a:srgbClr val="002060">
                    <a:alpha val="80000"/>
                  </a:srgbClr>
                </a:solidFill>
              </a:rPr>
              <a:t>. Soy (inert) gazlar</a:t>
            </a:r>
            <a:r>
              <a:rPr lang="tr-TR" sz="1800" dirty="0">
                <a:solidFill>
                  <a:schemeClr val="tx1">
                    <a:alpha val="80000"/>
                  </a:schemeClr>
                </a:solidFill>
              </a:rPr>
              <a:t/>
            </a:r>
            <a:br>
              <a:rPr lang="tr-TR" sz="1800" dirty="0">
                <a:solidFill>
                  <a:schemeClr val="tx1">
                    <a:alpha val="80000"/>
                  </a:schemeClr>
                </a:solidFill>
              </a:rPr>
            </a:br>
            <a:r>
              <a:rPr lang="tr-TR" sz="1800" dirty="0">
                <a:solidFill>
                  <a:schemeClr val="tx1">
                    <a:alpha val="80000"/>
                  </a:schemeClr>
                </a:solidFill>
              </a:rPr>
              <a:t>  Kimyasal olarak tepkimeye girmezler, kaynak banyosunu sadece atmosferden korurlar.</a:t>
            </a:r>
          </a:p>
          <a:p>
            <a:pPr marL="0" indent="0">
              <a:buNone/>
            </a:pPr>
            <a:r>
              <a:rPr lang="tr-TR" sz="1800" b="1" dirty="0">
                <a:solidFill>
                  <a:schemeClr val="tx1">
                    <a:alpha val="80000"/>
                  </a:schemeClr>
                </a:solidFill>
              </a:rPr>
              <a:t>  Argon (Ar)</a:t>
            </a:r>
            <a:endParaRPr lang="tr-TR" sz="1800" dirty="0">
              <a:solidFill>
                <a:schemeClr val="tx1">
                  <a:alpha val="80000"/>
                </a:schemeClr>
              </a:solidFill>
            </a:endParaRPr>
          </a:p>
          <a:p>
            <a:pPr marL="0" indent="0">
              <a:buNone/>
            </a:pPr>
            <a:r>
              <a:rPr lang="tr-TR" sz="1800" b="1" dirty="0">
                <a:solidFill>
                  <a:schemeClr val="tx1">
                    <a:alpha val="80000"/>
                  </a:schemeClr>
                </a:solidFill>
              </a:rPr>
              <a:t>  Helyum (He)</a:t>
            </a:r>
            <a:endParaRPr lang="tr-TR" sz="1800" dirty="0">
              <a:solidFill>
                <a:schemeClr val="tx1">
                  <a:alpha val="80000"/>
                </a:schemeClr>
              </a:solidFill>
            </a:endParaRPr>
          </a:p>
          <a:p>
            <a:pPr marL="0" indent="0">
              <a:buNone/>
            </a:pPr>
            <a:r>
              <a:rPr lang="tr-TR" sz="1800" dirty="0">
                <a:solidFill>
                  <a:schemeClr val="tx1">
                    <a:alpha val="80000"/>
                  </a:schemeClr>
                </a:solidFill>
              </a:rPr>
              <a:t>  Bu gazlar özellikle </a:t>
            </a:r>
            <a:r>
              <a:rPr lang="tr-TR" sz="1800" b="1" dirty="0">
                <a:solidFill>
                  <a:schemeClr val="tx1">
                    <a:alpha val="80000"/>
                  </a:schemeClr>
                </a:solidFill>
              </a:rPr>
              <a:t>TIG</a:t>
            </a:r>
            <a:r>
              <a:rPr lang="tr-TR" sz="1800" dirty="0">
                <a:solidFill>
                  <a:schemeClr val="tx1">
                    <a:alpha val="80000"/>
                  </a:schemeClr>
                </a:solidFill>
              </a:rPr>
              <a:t> ve </a:t>
            </a:r>
            <a:r>
              <a:rPr lang="tr-TR" sz="1800" b="1" dirty="0">
                <a:solidFill>
                  <a:schemeClr val="tx1">
                    <a:alpha val="80000"/>
                  </a:schemeClr>
                </a:solidFill>
              </a:rPr>
              <a:t>MIG</a:t>
            </a:r>
            <a:r>
              <a:rPr lang="tr-TR" sz="1800" dirty="0">
                <a:solidFill>
                  <a:schemeClr val="tx1">
                    <a:alpha val="80000"/>
                  </a:schemeClr>
                </a:solidFill>
              </a:rPr>
              <a:t> kaynaklarında kullanılır.</a:t>
            </a:r>
          </a:p>
          <a:p>
            <a:pPr marL="0" indent="0">
              <a:buNone/>
            </a:pPr>
            <a:r>
              <a:rPr lang="tr-TR" sz="1800" b="1" dirty="0">
                <a:solidFill>
                  <a:schemeClr val="tx1">
                    <a:alpha val="80000"/>
                  </a:schemeClr>
                </a:solidFill>
              </a:rPr>
              <a:t>2. </a:t>
            </a:r>
            <a:r>
              <a:rPr lang="tr-TR" sz="1800" b="1" dirty="0">
                <a:solidFill>
                  <a:srgbClr val="002060">
                    <a:alpha val="80000"/>
                  </a:srgbClr>
                </a:solidFill>
              </a:rPr>
              <a:t>Aktif gazlar</a:t>
            </a:r>
            <a:r>
              <a:rPr lang="tr-TR" sz="1800" dirty="0">
                <a:solidFill>
                  <a:schemeClr val="tx1">
                    <a:alpha val="80000"/>
                  </a:schemeClr>
                </a:solidFill>
              </a:rPr>
              <a:t/>
            </a:r>
            <a:br>
              <a:rPr lang="tr-TR" sz="1800" dirty="0">
                <a:solidFill>
                  <a:schemeClr val="tx1">
                    <a:alpha val="80000"/>
                  </a:schemeClr>
                </a:solidFill>
              </a:rPr>
            </a:br>
            <a:r>
              <a:rPr lang="tr-TR" sz="1800" dirty="0">
                <a:solidFill>
                  <a:schemeClr val="tx1">
                    <a:alpha val="80000"/>
                  </a:schemeClr>
                </a:solidFill>
              </a:rPr>
              <a:t>   Kaynak sırasında kimyasal reaksiyona girerek kaynak dikişinin özelliklerini etkilerler.</a:t>
            </a:r>
          </a:p>
          <a:p>
            <a:pPr marL="0" indent="0">
              <a:buNone/>
            </a:pPr>
            <a:r>
              <a:rPr lang="tr-TR" sz="1800" b="1" dirty="0">
                <a:solidFill>
                  <a:schemeClr val="tx1">
                    <a:alpha val="80000"/>
                  </a:schemeClr>
                </a:solidFill>
              </a:rPr>
              <a:t>  Karbondioksit (CO₂)</a:t>
            </a:r>
            <a:endParaRPr lang="tr-TR" sz="1800" dirty="0">
              <a:solidFill>
                <a:schemeClr val="tx1">
                  <a:alpha val="80000"/>
                </a:schemeClr>
              </a:solidFill>
            </a:endParaRPr>
          </a:p>
          <a:p>
            <a:pPr marL="0" indent="0">
              <a:buNone/>
            </a:pPr>
            <a:r>
              <a:rPr lang="tr-TR" sz="1800" dirty="0">
                <a:solidFill>
                  <a:schemeClr val="tx1">
                    <a:alpha val="80000"/>
                  </a:schemeClr>
                </a:solidFill>
              </a:rPr>
              <a:t>  Bu gazlar daha çok </a:t>
            </a:r>
            <a:r>
              <a:rPr lang="tr-TR" sz="1800" b="1" dirty="0">
                <a:solidFill>
                  <a:schemeClr val="tx1">
                    <a:alpha val="80000"/>
                  </a:schemeClr>
                </a:solidFill>
              </a:rPr>
              <a:t>MAG (Metal Active </a:t>
            </a:r>
            <a:r>
              <a:rPr lang="tr-TR" sz="1800" b="1" dirty="0" err="1">
                <a:solidFill>
                  <a:schemeClr val="tx1">
                    <a:alpha val="80000"/>
                  </a:schemeClr>
                </a:solidFill>
              </a:rPr>
              <a:t>Gas</a:t>
            </a:r>
            <a:r>
              <a:rPr lang="tr-TR" sz="1800" b="1" dirty="0">
                <a:solidFill>
                  <a:schemeClr val="tx1">
                    <a:alpha val="80000"/>
                  </a:schemeClr>
                </a:solidFill>
              </a:rPr>
              <a:t>)</a:t>
            </a:r>
            <a:r>
              <a:rPr lang="tr-TR" sz="1800" dirty="0">
                <a:solidFill>
                  <a:schemeClr val="tx1">
                    <a:alpha val="80000"/>
                  </a:schemeClr>
                </a:solidFill>
              </a:rPr>
              <a:t> kaynağında kullanılır.</a:t>
            </a:r>
          </a:p>
          <a:p>
            <a:pPr marL="0" indent="0">
              <a:buNone/>
            </a:pPr>
            <a:endParaRPr lang="tr-TR" sz="1800" b="1" dirty="0">
              <a:solidFill>
                <a:schemeClr val="tx1">
                  <a:alpha val="80000"/>
                </a:schemeClr>
              </a:solidFill>
            </a:endParaRPr>
          </a:p>
          <a:p>
            <a:pPr marL="0" indent="0">
              <a:buNone/>
            </a:pPr>
            <a:r>
              <a:rPr lang="tr-TR" sz="1800" b="1" dirty="0">
                <a:solidFill>
                  <a:schemeClr val="tx1">
                    <a:alpha val="80000"/>
                  </a:schemeClr>
                </a:solidFill>
              </a:rPr>
              <a:t>Yaygın gaz karışımları:</a:t>
            </a:r>
            <a:endParaRPr lang="tr-TR" sz="1800" dirty="0">
              <a:solidFill>
                <a:schemeClr val="tx1">
                  <a:alpha val="80000"/>
                </a:schemeClr>
              </a:solidFill>
            </a:endParaRPr>
          </a:p>
          <a:p>
            <a:r>
              <a:rPr lang="tr-TR" sz="1800" dirty="0">
                <a:solidFill>
                  <a:schemeClr val="tx1">
                    <a:alpha val="80000"/>
                  </a:schemeClr>
                </a:solidFill>
              </a:rPr>
              <a:t>%100 Argon → Alüminyum, paslanmaz çelik gibi malzemelerde</a:t>
            </a:r>
          </a:p>
          <a:p>
            <a:r>
              <a:rPr lang="tr-TR" sz="1800" dirty="0">
                <a:solidFill>
                  <a:schemeClr val="tx1">
                    <a:alpha val="80000"/>
                  </a:schemeClr>
                </a:solidFill>
              </a:rPr>
              <a:t>%80 Argon + %20 CO₂ → Karbon çeliklerinde</a:t>
            </a:r>
          </a:p>
          <a:p>
            <a:r>
              <a:rPr lang="tr-TR" sz="1800" dirty="0">
                <a:solidFill>
                  <a:schemeClr val="tx1">
                    <a:alpha val="80000"/>
                  </a:schemeClr>
                </a:solidFill>
              </a:rPr>
              <a:t>%90 Argon + %10 CO₂ → İnce saclarda</a:t>
            </a:r>
          </a:p>
          <a:p>
            <a:r>
              <a:rPr lang="tr-TR" sz="1800" dirty="0">
                <a:solidFill>
                  <a:schemeClr val="tx1">
                    <a:alpha val="80000"/>
                  </a:schemeClr>
                </a:solidFill>
              </a:rPr>
              <a:t>Argon + Helyum karışımı → Kalın alüminyum ve bakır alaşımlarında</a:t>
            </a:r>
          </a:p>
          <a:p>
            <a:endParaRPr lang="tr-TR" sz="1400" dirty="0">
              <a:solidFill>
                <a:schemeClr val="tx1">
                  <a:alpha val="80000"/>
                </a:schemeClr>
              </a:solidFill>
            </a:endParaRPr>
          </a:p>
        </p:txBody>
      </p:sp>
      <p:cxnSp>
        <p:nvCxnSpPr>
          <p:cNvPr id="31" name="Straight Connector 30">
            <a:extLst>
              <a:ext uri="{FF2B5EF4-FFF2-40B4-BE49-F238E27FC236}">
                <a16:creationId xmlns:a16="http://schemas.microsoft.com/office/drawing/2014/main" id="{C49DA8F6-BCC1-4447-B54C-57856834B94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009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FC6CB6-D549-689F-2B37-EA8E74D7151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17E99A8-7039-559B-06D6-4839C69B843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D8CB74D-893F-B257-7D37-AA9E8DA77001}"/>
              </a:ext>
            </a:extLst>
          </p:cNvPr>
          <p:cNvSpPr>
            <a:spLocks noGrp="1"/>
          </p:cNvSpPr>
          <p:nvPr>
            <p:ph type="title"/>
          </p:nvPr>
        </p:nvSpPr>
        <p:spPr>
          <a:xfrm>
            <a:off x="838200" y="365125"/>
            <a:ext cx="10515600" cy="1325563"/>
          </a:xfrm>
        </p:spPr>
        <p:txBody>
          <a:bodyPr>
            <a:normAutofit/>
          </a:bodyPr>
          <a:lstStyle/>
          <a:p>
            <a:r>
              <a:rPr lang="tr-TR" b="1" dirty="0"/>
              <a:t>Gazların fonksiyonları nelerdir?</a:t>
            </a:r>
          </a:p>
        </p:txBody>
      </p:sp>
      <p:sp>
        <p:nvSpPr>
          <p:cNvPr id="10" name="sketch line">
            <a:extLst>
              <a:ext uri="{FF2B5EF4-FFF2-40B4-BE49-F238E27FC236}">
                <a16:creationId xmlns:a16="http://schemas.microsoft.com/office/drawing/2014/main" id="{480CCDE7-EB76-C7CA-7303-FD8B715634E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2AA23C61-E004-91F5-33F3-94E1A83DF7FF}"/>
              </a:ext>
            </a:extLst>
          </p:cNvPr>
          <p:cNvSpPr>
            <a:spLocks noGrp="1"/>
          </p:cNvSpPr>
          <p:nvPr>
            <p:ph idx="1"/>
          </p:nvPr>
        </p:nvSpPr>
        <p:spPr>
          <a:xfrm>
            <a:off x="479685" y="1929383"/>
            <a:ext cx="11377535" cy="4726249"/>
          </a:xfrm>
        </p:spPr>
        <p:txBody>
          <a:bodyPr>
            <a:normAutofit fontScale="25000" lnSpcReduction="20000"/>
          </a:bodyPr>
          <a:lstStyle/>
          <a:p>
            <a:pPr marL="0" indent="0">
              <a:buNone/>
            </a:pPr>
            <a:r>
              <a:rPr lang="tr-TR" sz="2200" dirty="0"/>
              <a:t>   </a:t>
            </a:r>
          </a:p>
          <a:p>
            <a:pPr>
              <a:buFont typeface="Wingdings" panose="05000000000000000000" pitchFamily="2" charset="2"/>
              <a:buChar char="Ø"/>
            </a:pPr>
            <a:r>
              <a:rPr lang="tr-TR" sz="7600" b="1" dirty="0"/>
              <a:t>Kaynak banyosunu atmosferden korur.</a:t>
            </a:r>
            <a:r>
              <a:rPr lang="tr-TR" sz="7600" dirty="0"/>
              <a:t/>
            </a:r>
            <a:br>
              <a:rPr lang="tr-TR" sz="7600" dirty="0"/>
            </a:br>
            <a:r>
              <a:rPr lang="tr-TR" sz="7600" dirty="0"/>
              <a:t>Hava içindeki oksijen, azot ve su buharı kaynak banyosuna girerse gözenek, çatlak veya </a:t>
            </a:r>
            <a:r>
              <a:rPr lang="tr-TR" sz="7600" dirty="0">
                <a:solidFill>
                  <a:srgbClr val="FF0000"/>
                </a:solidFill>
              </a:rPr>
              <a:t>oksitlenme</a:t>
            </a:r>
            <a:r>
              <a:rPr lang="tr-TR" sz="7600" dirty="0"/>
              <a:t> gibi hatalar oluşur. Koruyucu gaz bu etkileşimi engeller.</a:t>
            </a:r>
          </a:p>
          <a:p>
            <a:pPr>
              <a:buFont typeface="Wingdings" panose="05000000000000000000" pitchFamily="2" charset="2"/>
              <a:buChar char="Ø"/>
            </a:pPr>
            <a:endParaRPr lang="tr-TR" sz="7600" dirty="0"/>
          </a:p>
          <a:p>
            <a:pPr>
              <a:buFont typeface="Wingdings" panose="05000000000000000000" pitchFamily="2" charset="2"/>
              <a:buChar char="Ø"/>
            </a:pPr>
            <a:r>
              <a:rPr lang="tr-TR" sz="7600" b="1" dirty="0"/>
              <a:t>Arkın kararlılığını sağlar.</a:t>
            </a:r>
            <a:r>
              <a:rPr lang="tr-TR" sz="7600" dirty="0"/>
              <a:t/>
            </a:r>
            <a:br>
              <a:rPr lang="tr-TR" sz="7600" dirty="0"/>
            </a:br>
            <a:r>
              <a:rPr lang="tr-TR" sz="7600" dirty="0"/>
              <a:t>Gaz, arkın düzgün yanmasını ve </a:t>
            </a:r>
            <a:r>
              <a:rPr lang="tr-TR" sz="7600" dirty="0">
                <a:solidFill>
                  <a:srgbClr val="FF0000"/>
                </a:solidFill>
              </a:rPr>
              <a:t>sabit bir ısı dağılımı </a:t>
            </a:r>
            <a:r>
              <a:rPr lang="tr-TR" sz="7600" dirty="0"/>
              <a:t>oluşmasını sağlar. Bu da kaynak dikişinin düzgün olmasına yardımcı olur.</a:t>
            </a:r>
          </a:p>
          <a:p>
            <a:pPr>
              <a:buFont typeface="Wingdings" panose="05000000000000000000" pitchFamily="2" charset="2"/>
              <a:buChar char="Ø"/>
            </a:pPr>
            <a:endParaRPr lang="tr-TR" sz="7600" dirty="0"/>
          </a:p>
          <a:p>
            <a:pPr>
              <a:buFont typeface="Wingdings" panose="05000000000000000000" pitchFamily="2" charset="2"/>
              <a:buChar char="Ø"/>
            </a:pPr>
            <a:r>
              <a:rPr lang="tr-TR" sz="7600" b="1" dirty="0"/>
              <a:t>Kaynak dikişinin mekanik özelliklerini iyileştirir.</a:t>
            </a:r>
            <a:r>
              <a:rPr lang="tr-TR" sz="7600" dirty="0"/>
              <a:t/>
            </a:r>
            <a:br>
              <a:rPr lang="tr-TR" sz="7600" dirty="0"/>
            </a:br>
            <a:r>
              <a:rPr lang="tr-TR" sz="7600" dirty="0"/>
              <a:t>Uygun gaz seçimiyle dikişin mukavemeti, tokluğu ve görünümü artar.</a:t>
            </a:r>
          </a:p>
          <a:p>
            <a:pPr>
              <a:buFont typeface="Wingdings" panose="05000000000000000000" pitchFamily="2" charset="2"/>
              <a:buChar char="Ø"/>
            </a:pPr>
            <a:endParaRPr lang="tr-TR" sz="7600" dirty="0"/>
          </a:p>
          <a:p>
            <a:pPr>
              <a:buFont typeface="Wingdings" panose="05000000000000000000" pitchFamily="2" charset="2"/>
              <a:buChar char="Ø"/>
            </a:pPr>
            <a:r>
              <a:rPr lang="tr-TR" sz="7600" b="1" dirty="0"/>
              <a:t>Sıçramayı ve oksitlenmeyi azaltır.</a:t>
            </a:r>
            <a:r>
              <a:rPr lang="tr-TR" sz="7600" dirty="0"/>
              <a:t/>
            </a:r>
            <a:br>
              <a:rPr lang="tr-TR" sz="7600" dirty="0"/>
            </a:br>
            <a:r>
              <a:rPr lang="tr-TR" sz="7600" dirty="0"/>
              <a:t>Özellikle Argon ve Argon karışımları, kaynak sırasında </a:t>
            </a:r>
            <a:r>
              <a:rPr lang="tr-TR" sz="7600" dirty="0">
                <a:solidFill>
                  <a:srgbClr val="FF0000"/>
                </a:solidFill>
              </a:rPr>
              <a:t>metal sıçramasını </a:t>
            </a:r>
            <a:r>
              <a:rPr lang="tr-TR" sz="7600" dirty="0"/>
              <a:t>ve yüzeydeki oksit tabakasını azaltır.</a:t>
            </a:r>
          </a:p>
          <a:p>
            <a:pPr marL="0" indent="0">
              <a:buNone/>
            </a:pPr>
            <a:endParaRPr lang="tr-TR" sz="7600" dirty="0"/>
          </a:p>
          <a:p>
            <a:pPr>
              <a:buFont typeface="Wingdings" panose="05000000000000000000" pitchFamily="2" charset="2"/>
              <a:buChar char="Ø"/>
            </a:pPr>
            <a:r>
              <a:rPr lang="tr-TR" sz="7600" b="1" dirty="0"/>
              <a:t>Kaynak görünümünü güzelleştirir.</a:t>
            </a:r>
            <a:r>
              <a:rPr lang="tr-TR" sz="7600" dirty="0"/>
              <a:t/>
            </a:r>
            <a:br>
              <a:rPr lang="tr-TR" sz="7600" dirty="0"/>
            </a:br>
            <a:r>
              <a:rPr lang="tr-TR" sz="7600" dirty="0"/>
              <a:t>Koruyucu gaz, düzgün ve parlak bir kaynak dikişi elde edilmesini sağlar.</a:t>
            </a:r>
          </a:p>
          <a:p>
            <a:pPr marL="0" indent="0">
              <a:buNone/>
            </a:pPr>
            <a:endParaRPr lang="tr-TR" sz="2200" dirty="0"/>
          </a:p>
        </p:txBody>
      </p:sp>
    </p:spTree>
    <p:extLst>
      <p:ext uri="{BB962C8B-B14F-4D97-AF65-F5344CB8AC3E}">
        <p14:creationId xmlns:p14="http://schemas.microsoft.com/office/powerpoint/2010/main" val="2674665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81E13C-1BE9-BC92-A2E9-040A2ADC53F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BDDE73-C5B6-0C2B-8514-4ABBC8D36E4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E25991C-02E6-5C3A-2EFF-810E33D6B514}"/>
              </a:ext>
            </a:extLst>
          </p:cNvPr>
          <p:cNvSpPr>
            <a:spLocks noGrp="1"/>
          </p:cNvSpPr>
          <p:nvPr>
            <p:ph type="title"/>
          </p:nvPr>
        </p:nvSpPr>
        <p:spPr>
          <a:xfrm>
            <a:off x="838200" y="365125"/>
            <a:ext cx="10515600" cy="1325563"/>
          </a:xfrm>
        </p:spPr>
        <p:txBody>
          <a:bodyPr>
            <a:normAutofit/>
          </a:bodyPr>
          <a:lstStyle/>
          <a:p>
            <a:r>
              <a:rPr lang="tr-TR" b="1" dirty="0"/>
              <a:t>Kaynak türleri </a:t>
            </a:r>
          </a:p>
        </p:txBody>
      </p:sp>
      <p:sp>
        <p:nvSpPr>
          <p:cNvPr id="10" name="sketch line">
            <a:extLst>
              <a:ext uri="{FF2B5EF4-FFF2-40B4-BE49-F238E27FC236}">
                <a16:creationId xmlns:a16="http://schemas.microsoft.com/office/drawing/2014/main" id="{B2F8CD71-AE96-D40D-E79A-AD0A87EA73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CCF2CA71-06A3-9894-36F2-73EF6FAA212A}"/>
              </a:ext>
            </a:extLst>
          </p:cNvPr>
          <p:cNvSpPr>
            <a:spLocks noGrp="1"/>
          </p:cNvSpPr>
          <p:nvPr>
            <p:ph idx="1"/>
          </p:nvPr>
        </p:nvSpPr>
        <p:spPr>
          <a:xfrm>
            <a:off x="479685" y="1929383"/>
            <a:ext cx="11377535" cy="4726249"/>
          </a:xfrm>
        </p:spPr>
        <p:txBody>
          <a:bodyPr>
            <a:normAutofit fontScale="25000" lnSpcReduction="20000"/>
          </a:bodyPr>
          <a:lstStyle/>
          <a:p>
            <a:pPr marL="0" indent="0">
              <a:buNone/>
            </a:pPr>
            <a:r>
              <a:rPr lang="tr-TR" sz="2200" dirty="0"/>
              <a:t>   </a:t>
            </a:r>
          </a:p>
          <a:p>
            <a:pPr marL="0" indent="0">
              <a:buNone/>
            </a:pPr>
            <a:r>
              <a:rPr lang="tr-TR" sz="8000" u="sng" dirty="0">
                <a:solidFill>
                  <a:srgbClr val="C00000"/>
                </a:solidFill>
              </a:rPr>
              <a:t>Elektrik ark kaynağı</a:t>
            </a:r>
          </a:p>
          <a:p>
            <a:pPr marL="0" indent="0">
              <a:buNone/>
            </a:pPr>
            <a:r>
              <a:rPr lang="tr-TR" sz="8000" dirty="0"/>
              <a:t>   İki metal parça arasında veya elektrot ile iş parçası arasında oluşan </a:t>
            </a:r>
            <a:r>
              <a:rPr lang="tr-TR" sz="8000" b="1" dirty="0"/>
              <a:t>elektrik arkı</a:t>
            </a:r>
            <a:r>
              <a:rPr lang="tr-TR" sz="8000" dirty="0"/>
              <a:t> sayesinde ortaya çıkan yüksek ısı kullanılarak metallerin eritilip birleştirilmesi işlemidir.</a:t>
            </a:r>
          </a:p>
          <a:p>
            <a:pPr marL="0" indent="0">
              <a:buNone/>
            </a:pPr>
            <a:endParaRPr lang="tr-TR" sz="8000" dirty="0"/>
          </a:p>
          <a:p>
            <a:pPr>
              <a:buFont typeface="Wingdings" panose="05000000000000000000" pitchFamily="2" charset="2"/>
              <a:buChar char="Ø"/>
            </a:pPr>
            <a:r>
              <a:rPr lang="tr-TR" sz="8000" u="sng" dirty="0"/>
              <a:t>Bu yöntemde kaynak işlemi için gerekli olan ısı</a:t>
            </a:r>
            <a:r>
              <a:rPr lang="tr-TR" sz="8000" dirty="0"/>
              <a:t>, bir kaynak akım üretecinin biri eksi (</a:t>
            </a:r>
            <a:r>
              <a:rPr lang="tr-TR" sz="8000" dirty="0" err="1"/>
              <a:t>katod</a:t>
            </a:r>
            <a:r>
              <a:rPr lang="tr-TR" sz="8000" dirty="0"/>
              <a:t>), diğeri artı (</a:t>
            </a:r>
            <a:r>
              <a:rPr lang="tr-TR" sz="8000" dirty="0" err="1"/>
              <a:t>anod</a:t>
            </a:r>
            <a:r>
              <a:rPr lang="tr-TR" sz="8000" dirty="0"/>
              <a:t>) olan çıkışlarının iletken kablolarla, birinin iş parçasına diğerinin ise elektrodun bağlandığı pense bağlanması ve elektrodun iş parçasına değdirilmesi sonucu oluşan ark aracılığıyla ortaya çıkar.</a:t>
            </a:r>
          </a:p>
          <a:p>
            <a:pPr>
              <a:buFont typeface="Wingdings" panose="05000000000000000000" pitchFamily="2" charset="2"/>
              <a:buChar char="Ø"/>
            </a:pPr>
            <a:r>
              <a:rPr lang="tr-TR" sz="8000" dirty="0"/>
              <a:t>Böylelikle kaynak makinesi, elektrot ile iş parçası arasında bir elektrik akımı oluşturur.</a:t>
            </a:r>
          </a:p>
          <a:p>
            <a:pPr>
              <a:buFont typeface="Wingdings" panose="05000000000000000000" pitchFamily="2" charset="2"/>
              <a:buChar char="Ø"/>
            </a:pPr>
            <a:r>
              <a:rPr lang="tr-TR" sz="8000" dirty="0"/>
              <a:t>Bu akım, iki uç arasında bir </a:t>
            </a:r>
            <a:r>
              <a:rPr lang="tr-TR" sz="8000" b="1" dirty="0"/>
              <a:t>ark</a:t>
            </a:r>
            <a:r>
              <a:rPr lang="tr-TR" sz="8000" dirty="0"/>
              <a:t> (plazma) meydana getirir.</a:t>
            </a:r>
          </a:p>
          <a:p>
            <a:pPr>
              <a:buFont typeface="Wingdings" panose="05000000000000000000" pitchFamily="2" charset="2"/>
              <a:buChar char="Ø"/>
            </a:pPr>
            <a:r>
              <a:rPr lang="tr-TR" sz="8000" dirty="0"/>
              <a:t>Arkın sıcaklığı 3.000–20.000 °C arasında olabilir.</a:t>
            </a:r>
          </a:p>
          <a:p>
            <a:pPr>
              <a:buFont typeface="Wingdings" panose="05000000000000000000" pitchFamily="2" charset="2"/>
              <a:buChar char="Ø"/>
            </a:pPr>
            <a:r>
              <a:rPr lang="tr-TR" sz="8000" dirty="0"/>
              <a:t>Bu yüksek sıcaklık, metal yüzeyleri eriterek bir kaynak banyosu oluşturur.</a:t>
            </a:r>
          </a:p>
          <a:p>
            <a:pPr>
              <a:buFont typeface="Wingdings" panose="05000000000000000000" pitchFamily="2" charset="2"/>
              <a:buChar char="Ø"/>
            </a:pPr>
            <a:r>
              <a:rPr lang="tr-TR" sz="8000" dirty="0"/>
              <a:t>Kaynak banyosu soğuduğunda, iki parça birbirine metalürjik olarak bağlanmış olur.</a:t>
            </a:r>
          </a:p>
          <a:p>
            <a:pPr marL="0" indent="0">
              <a:buNone/>
            </a:pPr>
            <a:endParaRPr lang="tr-TR" sz="2200" dirty="0"/>
          </a:p>
        </p:txBody>
      </p:sp>
    </p:spTree>
    <p:extLst>
      <p:ext uri="{BB962C8B-B14F-4D97-AF65-F5344CB8AC3E}">
        <p14:creationId xmlns:p14="http://schemas.microsoft.com/office/powerpoint/2010/main" val="3988579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a:extLst>
              <a:ext uri="{FF2B5EF4-FFF2-40B4-BE49-F238E27FC236}">
                <a16:creationId xmlns:a16="http://schemas.microsoft.com/office/drawing/2014/main" id="{0DD43B9C-7526-55B5-F55F-C9E9BC6CF803}"/>
              </a:ext>
            </a:extLst>
          </p:cNvPr>
          <p:cNvPicPr>
            <a:picLocks noGrp="1" noChangeAspect="1"/>
          </p:cNvPicPr>
          <p:nvPr>
            <p:ph idx="1"/>
          </p:nvPr>
        </p:nvPicPr>
        <p:blipFill>
          <a:blip r:embed="rId3"/>
          <a:stretch>
            <a:fillRect/>
          </a:stretch>
        </p:blipFill>
        <p:spPr>
          <a:xfrm>
            <a:off x="1157188" y="-44970"/>
            <a:ext cx="9203960" cy="6902970"/>
          </a:xfrm>
          <a:prstGeom prst="rect">
            <a:avLst/>
          </a:prstGeom>
        </p:spPr>
      </p:pic>
    </p:spTree>
    <p:extLst>
      <p:ext uri="{BB962C8B-B14F-4D97-AF65-F5344CB8AC3E}">
        <p14:creationId xmlns:p14="http://schemas.microsoft.com/office/powerpoint/2010/main" val="179800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Resim 3">
            <a:extLst>
              <a:ext uri="{FF2B5EF4-FFF2-40B4-BE49-F238E27FC236}">
                <a16:creationId xmlns:a16="http://schemas.microsoft.com/office/drawing/2014/main" id="{3916A918-E6D6-8880-5617-D027119D8704}"/>
              </a:ext>
            </a:extLst>
          </p:cNvPr>
          <p:cNvPicPr>
            <a:picLocks noChangeAspect="1"/>
          </p:cNvPicPr>
          <p:nvPr/>
        </p:nvPicPr>
        <p:blipFill>
          <a:blip r:embed="rId3"/>
          <a:srcRect l="19455" r="3595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İçerik Yer Tutucusu 2">
            <a:extLst>
              <a:ext uri="{FF2B5EF4-FFF2-40B4-BE49-F238E27FC236}">
                <a16:creationId xmlns:a16="http://schemas.microsoft.com/office/drawing/2014/main" id="{E96252B4-B5A7-8044-64D6-FA3A3BC34C49}"/>
              </a:ext>
            </a:extLst>
          </p:cNvPr>
          <p:cNvSpPr>
            <a:spLocks noGrp="1"/>
          </p:cNvSpPr>
          <p:nvPr>
            <p:ph idx="1"/>
          </p:nvPr>
        </p:nvSpPr>
        <p:spPr>
          <a:xfrm>
            <a:off x="6547038" y="315883"/>
            <a:ext cx="5390038" cy="6226233"/>
          </a:xfrm>
        </p:spPr>
        <p:txBody>
          <a:bodyPr>
            <a:noAutofit/>
          </a:bodyPr>
          <a:lstStyle/>
          <a:p>
            <a:pPr marL="0" indent="0">
              <a:buNone/>
            </a:pPr>
            <a:r>
              <a:rPr lang="tr-TR" sz="2000" dirty="0">
                <a:solidFill>
                  <a:srgbClr val="FF0000"/>
                </a:solidFill>
              </a:rPr>
              <a:t>Elektrik ark kaynağı</a:t>
            </a:r>
          </a:p>
          <a:p>
            <a:pPr marL="0" indent="0">
              <a:buNone/>
            </a:pPr>
            <a:endParaRPr lang="tr-TR" sz="2000" dirty="0"/>
          </a:p>
          <a:p>
            <a:pPr marL="0" indent="0">
              <a:buNone/>
            </a:pPr>
            <a:r>
              <a:rPr lang="tr-TR" sz="2000" dirty="0"/>
              <a:t> Elektrik ark kaynağı pek çok alanda kullanılır. Bu alanlar şu şekilde sıralanabilir:</a:t>
            </a:r>
          </a:p>
          <a:p>
            <a:r>
              <a:rPr lang="tr-TR" sz="2000" dirty="0"/>
              <a:t>Demir ve çelik sanayi</a:t>
            </a:r>
          </a:p>
          <a:p>
            <a:r>
              <a:rPr lang="tr-TR" sz="2000" dirty="0"/>
              <a:t>PVC boru üretim sanayi</a:t>
            </a:r>
          </a:p>
          <a:p>
            <a:r>
              <a:rPr lang="tr-TR" sz="2000" dirty="0"/>
              <a:t>Havacılık ve uzay sanayi</a:t>
            </a:r>
          </a:p>
          <a:p>
            <a:r>
              <a:rPr lang="tr-TR" sz="2000" dirty="0">
                <a:hlinkClick r:id="rId4">
                  <a:extLst>
                    <a:ext uri="{A12FA001-AC4F-418D-AE19-62706E023703}">
                      <ahyp:hlinkClr xmlns:ahyp="http://schemas.microsoft.com/office/drawing/2018/hyperlinkcolor" xmlns="" val="tx"/>
                    </a:ext>
                  </a:extLst>
                </a:hlinkClick>
              </a:rPr>
              <a:t>Çelik konstrüksiyon</a:t>
            </a:r>
            <a:r>
              <a:rPr lang="tr-TR" sz="2000" dirty="0"/>
              <a:t> üretim sanayi</a:t>
            </a:r>
          </a:p>
          <a:p>
            <a:r>
              <a:rPr lang="tr-TR" sz="2000" dirty="0"/>
              <a:t>Makine parça imalat üretim sanayi</a:t>
            </a:r>
          </a:p>
          <a:p>
            <a:r>
              <a:rPr lang="tr-TR" sz="2000" dirty="0"/>
              <a:t>Enerji üretim tesisleri</a:t>
            </a:r>
          </a:p>
          <a:p>
            <a:r>
              <a:rPr lang="tr-TR" sz="2000" dirty="0"/>
              <a:t>Gemi imalat tesisleri</a:t>
            </a:r>
          </a:p>
          <a:p>
            <a:r>
              <a:rPr lang="tr-TR" sz="2000" dirty="0"/>
              <a:t>Otomotiv sanayi sektörü</a:t>
            </a:r>
          </a:p>
          <a:p>
            <a:r>
              <a:rPr lang="tr-TR" sz="2000" dirty="0"/>
              <a:t>İnşaat sektörü</a:t>
            </a:r>
          </a:p>
          <a:p>
            <a:pPr marL="0" indent="0">
              <a:buNone/>
            </a:pPr>
            <a:endParaRPr lang="tr-TR" sz="2000" dirty="0"/>
          </a:p>
          <a:p>
            <a:pPr marL="0" indent="0">
              <a:buNone/>
            </a:pPr>
            <a:r>
              <a:rPr lang="tr-TR" sz="2000" dirty="0"/>
              <a:t>Kaynak tekniğine göre olan</a:t>
            </a:r>
            <a:r>
              <a:rPr lang="tr-TR" sz="2000" dirty="0">
                <a:solidFill>
                  <a:srgbClr val="FF0000"/>
                </a:solidFill>
              </a:rPr>
              <a:t> </a:t>
            </a:r>
            <a:r>
              <a:rPr lang="tr-TR" sz="2000" b="1" dirty="0">
                <a:solidFill>
                  <a:srgbClr val="FF0000"/>
                </a:solidFill>
              </a:rPr>
              <a:t>iş kazalarının %66’sı </a:t>
            </a:r>
            <a:r>
              <a:rPr lang="tr-TR" sz="2000" dirty="0"/>
              <a:t>ark kaynağı sırasında gerçekleşmektedir.</a:t>
            </a:r>
          </a:p>
        </p:txBody>
      </p:sp>
    </p:spTree>
    <p:extLst>
      <p:ext uri="{BB962C8B-B14F-4D97-AF65-F5344CB8AC3E}">
        <p14:creationId xmlns:p14="http://schemas.microsoft.com/office/powerpoint/2010/main" val="1452258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852B81-A602-4292-0D36-2B633BE7FEC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563D1C5-BF50-A007-D43C-5D862A96639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7943773-D22C-5452-07B6-755B4F5D5405}"/>
              </a:ext>
            </a:extLst>
          </p:cNvPr>
          <p:cNvSpPr>
            <a:spLocks noGrp="1"/>
          </p:cNvSpPr>
          <p:nvPr>
            <p:ph type="title"/>
          </p:nvPr>
        </p:nvSpPr>
        <p:spPr>
          <a:xfrm>
            <a:off x="838200" y="365125"/>
            <a:ext cx="10515600" cy="1325563"/>
          </a:xfrm>
        </p:spPr>
        <p:txBody>
          <a:bodyPr>
            <a:normAutofit/>
          </a:bodyPr>
          <a:lstStyle/>
          <a:p>
            <a:r>
              <a:rPr lang="tr-TR" b="1" dirty="0"/>
              <a:t>Kaynak türleri </a:t>
            </a:r>
          </a:p>
        </p:txBody>
      </p:sp>
      <p:sp>
        <p:nvSpPr>
          <p:cNvPr id="10" name="sketch line">
            <a:extLst>
              <a:ext uri="{FF2B5EF4-FFF2-40B4-BE49-F238E27FC236}">
                <a16:creationId xmlns:a16="http://schemas.microsoft.com/office/drawing/2014/main" id="{55E1F0AC-4EA6-5A89-0BDE-3F04AFAAAFB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D22A2DA-C0C6-A3BA-4AA1-2889FDD9B407}"/>
              </a:ext>
            </a:extLst>
          </p:cNvPr>
          <p:cNvSpPr>
            <a:spLocks noGrp="1"/>
          </p:cNvSpPr>
          <p:nvPr>
            <p:ph idx="1"/>
          </p:nvPr>
        </p:nvSpPr>
        <p:spPr>
          <a:xfrm>
            <a:off x="479686" y="1929384"/>
            <a:ext cx="7084896" cy="4719136"/>
          </a:xfrm>
        </p:spPr>
        <p:txBody>
          <a:bodyPr>
            <a:normAutofit fontScale="25000" lnSpcReduction="20000"/>
          </a:bodyPr>
          <a:lstStyle/>
          <a:p>
            <a:pPr marL="0" indent="0">
              <a:buNone/>
            </a:pPr>
            <a:r>
              <a:rPr lang="tr-TR" sz="2200" dirty="0"/>
              <a:t>   </a:t>
            </a:r>
          </a:p>
          <a:p>
            <a:pPr marL="0" indent="0">
              <a:buNone/>
            </a:pPr>
            <a:r>
              <a:rPr lang="tr-TR" sz="6200" u="sng" dirty="0">
                <a:solidFill>
                  <a:srgbClr val="FF0000"/>
                </a:solidFill>
              </a:rPr>
              <a:t>Gaz altı kaynakları</a:t>
            </a:r>
          </a:p>
          <a:p>
            <a:pPr marL="0" indent="0">
              <a:buNone/>
            </a:pPr>
            <a:endParaRPr lang="tr-TR" sz="6200" u="sng" dirty="0">
              <a:solidFill>
                <a:srgbClr val="FF0000"/>
              </a:solidFill>
            </a:endParaRPr>
          </a:p>
          <a:p>
            <a:pPr marL="0" indent="0">
              <a:buNone/>
            </a:pPr>
            <a:r>
              <a:rPr lang="tr-TR" sz="6200" dirty="0"/>
              <a:t>    Gaz altı kaynakları, kaynak bölgesinin </a:t>
            </a:r>
            <a:r>
              <a:rPr lang="tr-TR" sz="6200" b="1" dirty="0"/>
              <a:t>koruyucu bir gaz atmosferi</a:t>
            </a:r>
            <a:r>
              <a:rPr lang="tr-TR" sz="6200" dirty="0"/>
              <a:t> altında yapıldığı kaynak yöntemleridir. </a:t>
            </a:r>
          </a:p>
          <a:p>
            <a:pPr marL="0" indent="0">
              <a:buNone/>
            </a:pPr>
            <a:r>
              <a:rPr lang="tr-TR" sz="6200" dirty="0"/>
              <a:t>    Amaç, kaynak banyosunu hava etkilerinden (oksijen, azot, su buharı) koruyarak </a:t>
            </a:r>
            <a:r>
              <a:rPr lang="tr-TR" sz="6200" b="1" dirty="0"/>
              <a:t>temiz, dayanıklı ve düzgün</a:t>
            </a:r>
            <a:r>
              <a:rPr lang="tr-TR" sz="6200" dirty="0"/>
              <a:t> bir kaynak dikişi elde etmektir.</a:t>
            </a:r>
          </a:p>
          <a:p>
            <a:pPr marL="0" indent="0">
              <a:buNone/>
            </a:pPr>
            <a:endParaRPr lang="tr-TR" sz="6200" dirty="0"/>
          </a:p>
          <a:p>
            <a:pPr marL="0" indent="0">
              <a:buNone/>
            </a:pPr>
            <a:r>
              <a:rPr lang="tr-TR" sz="6200" dirty="0"/>
              <a:t>    Az sıçrama ve yüksek kaynak kalitesi, ince malzemelerde kolay kontrol, yüksek kaynak hızı (özellikle MIG/</a:t>
            </a:r>
            <a:r>
              <a:rPr lang="tr-TR" sz="6200" dirty="0" err="1"/>
              <a:t>MAG’da</a:t>
            </a:r>
            <a:r>
              <a:rPr lang="tr-TR" sz="6200" dirty="0"/>
              <a:t>)gibi </a:t>
            </a:r>
            <a:r>
              <a:rPr lang="tr-TR" sz="6200" b="1" dirty="0"/>
              <a:t>avantajları</a:t>
            </a:r>
            <a:r>
              <a:rPr lang="tr-TR" sz="6200" dirty="0"/>
              <a:t> var iken; Rüzgarlı ortamlarda koruyucu gazın dağılması, ekipman maliyetinin yüksek olması, taşınabilirliğin sınırlı olması </a:t>
            </a:r>
            <a:r>
              <a:rPr lang="tr-TR" sz="6200" b="1" dirty="0"/>
              <a:t>dezavantajları</a:t>
            </a:r>
            <a:r>
              <a:rPr lang="tr-TR" sz="6200" dirty="0"/>
              <a:t> arasındadır.</a:t>
            </a:r>
          </a:p>
          <a:p>
            <a:pPr marL="0" indent="0">
              <a:buNone/>
            </a:pPr>
            <a:endParaRPr lang="tr-TR" sz="6200" dirty="0"/>
          </a:p>
          <a:p>
            <a:pPr marL="0" indent="0">
              <a:buNone/>
            </a:pPr>
            <a:r>
              <a:rPr lang="tr-TR" sz="6200" dirty="0"/>
              <a:t>    Özellikle </a:t>
            </a:r>
            <a:r>
              <a:rPr lang="tr-TR" sz="6200" b="1" dirty="0"/>
              <a:t>sanayi, otomotiv, gemi ve imalat sektörlerinde</a:t>
            </a:r>
            <a:r>
              <a:rPr lang="tr-TR" sz="6200" dirty="0"/>
              <a:t> yaygın olarak kullanılır.</a:t>
            </a:r>
          </a:p>
          <a:p>
            <a:pPr marL="0" indent="0">
              <a:buNone/>
            </a:pPr>
            <a:endParaRPr lang="tr-TR" sz="2200" dirty="0"/>
          </a:p>
        </p:txBody>
      </p:sp>
      <p:pic>
        <p:nvPicPr>
          <p:cNvPr id="5" name="Resim 4">
            <a:extLst>
              <a:ext uri="{FF2B5EF4-FFF2-40B4-BE49-F238E27FC236}">
                <a16:creationId xmlns:a16="http://schemas.microsoft.com/office/drawing/2014/main" id="{B0A44CF5-E023-7CAB-1E08-FF4F8C884E6B}"/>
              </a:ext>
            </a:extLst>
          </p:cNvPr>
          <p:cNvPicPr>
            <a:picLocks noChangeAspect="1"/>
          </p:cNvPicPr>
          <p:nvPr/>
        </p:nvPicPr>
        <p:blipFill>
          <a:blip r:embed="rId3"/>
          <a:stretch>
            <a:fillRect/>
          </a:stretch>
        </p:blipFill>
        <p:spPr>
          <a:xfrm>
            <a:off x="7564582" y="2496683"/>
            <a:ext cx="4453247" cy="3362394"/>
          </a:xfrm>
          <a:prstGeom prst="rect">
            <a:avLst/>
          </a:prstGeom>
        </p:spPr>
      </p:pic>
    </p:spTree>
    <p:extLst>
      <p:ext uri="{BB962C8B-B14F-4D97-AF65-F5344CB8AC3E}">
        <p14:creationId xmlns:p14="http://schemas.microsoft.com/office/powerpoint/2010/main" val="62553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çerik Yer Tutucusu 3"/>
          <p:cNvGraphicFramePr>
            <a:graphicFrameLocks noGrp="1"/>
          </p:cNvGraphicFramePr>
          <p:nvPr>
            <p:ph idx="1"/>
            <p:extLst>
              <p:ext uri="{D42A27DB-BD31-4B8C-83A1-F6EECF244321}">
                <p14:modId xmlns:p14="http://schemas.microsoft.com/office/powerpoint/2010/main" val="3482942340"/>
              </p:ext>
            </p:extLst>
          </p:nvPr>
        </p:nvGraphicFramePr>
        <p:xfrm>
          <a:off x="703386" y="1575583"/>
          <a:ext cx="11254152" cy="4642338"/>
        </p:xfrm>
        <a:graphic>
          <a:graphicData uri="http://schemas.openxmlformats.org/drawingml/2006/table">
            <a:tbl>
              <a:tblPr firstRow="1" firstCol="1" bandRow="1">
                <a:tableStyleId>{5C22544A-7EE6-4342-B048-85BDC9FD1C3A}</a:tableStyleId>
              </a:tblPr>
              <a:tblGrid>
                <a:gridCol w="1875692">
                  <a:extLst>
                    <a:ext uri="{9D8B030D-6E8A-4147-A177-3AD203B41FA5}">
                      <a16:colId xmlns:a16="http://schemas.microsoft.com/office/drawing/2014/main" val="3654714515"/>
                    </a:ext>
                  </a:extLst>
                </a:gridCol>
                <a:gridCol w="1875692">
                  <a:extLst>
                    <a:ext uri="{9D8B030D-6E8A-4147-A177-3AD203B41FA5}">
                      <a16:colId xmlns:a16="http://schemas.microsoft.com/office/drawing/2014/main" val="2914322853"/>
                    </a:ext>
                  </a:extLst>
                </a:gridCol>
                <a:gridCol w="1875692">
                  <a:extLst>
                    <a:ext uri="{9D8B030D-6E8A-4147-A177-3AD203B41FA5}">
                      <a16:colId xmlns:a16="http://schemas.microsoft.com/office/drawing/2014/main" val="4144975430"/>
                    </a:ext>
                  </a:extLst>
                </a:gridCol>
                <a:gridCol w="1875692">
                  <a:extLst>
                    <a:ext uri="{9D8B030D-6E8A-4147-A177-3AD203B41FA5}">
                      <a16:colId xmlns:a16="http://schemas.microsoft.com/office/drawing/2014/main" val="3317046973"/>
                    </a:ext>
                  </a:extLst>
                </a:gridCol>
                <a:gridCol w="1875692">
                  <a:extLst>
                    <a:ext uri="{9D8B030D-6E8A-4147-A177-3AD203B41FA5}">
                      <a16:colId xmlns:a16="http://schemas.microsoft.com/office/drawing/2014/main" val="2175255519"/>
                    </a:ext>
                  </a:extLst>
                </a:gridCol>
                <a:gridCol w="1875692">
                  <a:extLst>
                    <a:ext uri="{9D8B030D-6E8A-4147-A177-3AD203B41FA5}">
                      <a16:colId xmlns:a16="http://schemas.microsoft.com/office/drawing/2014/main" val="767941793"/>
                    </a:ext>
                  </a:extLst>
                </a:gridCol>
              </a:tblGrid>
              <a:tr h="839913">
                <a:tc>
                  <a:txBody>
                    <a:bodyPr/>
                    <a:lstStyle/>
                    <a:p>
                      <a:pPr>
                        <a:lnSpc>
                          <a:spcPct val="115000"/>
                        </a:lnSpc>
                        <a:spcAft>
                          <a:spcPts val="1000"/>
                        </a:spcAft>
                      </a:pPr>
                      <a:r>
                        <a:rPr lang="en-US" sz="1800" dirty="0" err="1">
                          <a:effectLst/>
                        </a:rPr>
                        <a:t>Kaynak</a:t>
                      </a:r>
                      <a:r>
                        <a:rPr lang="en-US" sz="1800" dirty="0">
                          <a:effectLst/>
                        </a:rPr>
                        <a:t> </a:t>
                      </a:r>
                      <a:r>
                        <a:rPr lang="en-US" sz="1800" dirty="0" err="1">
                          <a:effectLst/>
                        </a:rPr>
                        <a:t>Türü</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err="1">
                          <a:effectLst/>
                        </a:rPr>
                        <a:t>Açılımı</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err="1">
                          <a:effectLst/>
                        </a:rPr>
                        <a:t>Elektrot</a:t>
                      </a:r>
                      <a:r>
                        <a:rPr lang="en-US" sz="1800" dirty="0">
                          <a:effectLst/>
                        </a:rPr>
                        <a:t> </a:t>
                      </a:r>
                      <a:r>
                        <a:rPr lang="en-US" sz="1800" dirty="0" err="1">
                          <a:effectLst/>
                        </a:rPr>
                        <a:t>Türü</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Kullanılan Gaz</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Kullanım Alanı</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Temel Özellik</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550217228"/>
                  </a:ext>
                </a:extLst>
              </a:tr>
              <a:tr h="1267475">
                <a:tc>
                  <a:txBody>
                    <a:bodyPr/>
                    <a:lstStyle/>
                    <a:p>
                      <a:pPr>
                        <a:lnSpc>
                          <a:spcPct val="115000"/>
                        </a:lnSpc>
                        <a:spcAft>
                          <a:spcPts val="1000"/>
                        </a:spcAft>
                      </a:pPr>
                      <a:r>
                        <a:rPr lang="en-US" sz="1800">
                          <a:effectLst/>
                        </a:rPr>
                        <a:t>MIG</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a:effectLst/>
                        </a:rPr>
                        <a:t>Metal Inert Gas</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err="1">
                          <a:effectLst/>
                        </a:rPr>
                        <a:t>Eriyen</a:t>
                      </a:r>
                      <a:r>
                        <a:rPr lang="en-US" sz="1800" dirty="0">
                          <a:effectLst/>
                        </a:rPr>
                        <a:t> </a:t>
                      </a:r>
                      <a:r>
                        <a:rPr lang="en-US" sz="1800" dirty="0" err="1">
                          <a:effectLst/>
                        </a:rPr>
                        <a:t>tel</a:t>
                      </a:r>
                      <a:r>
                        <a:rPr lang="en-US" sz="1800" dirty="0">
                          <a:effectLst/>
                        </a:rPr>
                        <a:t> </a:t>
                      </a:r>
                      <a:r>
                        <a:rPr lang="en-US" sz="1800" dirty="0" err="1">
                          <a:effectLst/>
                        </a:rPr>
                        <a:t>elektrot</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a:effectLst/>
                        </a:rPr>
                        <a:t>Argon, </a:t>
                      </a:r>
                      <a:r>
                        <a:rPr lang="en-US" sz="1800" dirty="0" err="1">
                          <a:effectLst/>
                        </a:rPr>
                        <a:t>Helyum</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Alüminyum, bakır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Temiz ve düzgün kaynak</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397253563"/>
                  </a:ext>
                </a:extLst>
              </a:tr>
              <a:tr h="1267475">
                <a:tc>
                  <a:txBody>
                    <a:bodyPr/>
                    <a:lstStyle/>
                    <a:p>
                      <a:pPr>
                        <a:lnSpc>
                          <a:spcPct val="115000"/>
                        </a:lnSpc>
                        <a:spcAft>
                          <a:spcPts val="1000"/>
                        </a:spcAft>
                      </a:pPr>
                      <a:r>
                        <a:rPr lang="en-US" sz="1800">
                          <a:effectLst/>
                        </a:rPr>
                        <a:t>MAG</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Metal Active Gas</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Eriyen tel elektrot</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a:effectLst/>
                        </a:rPr>
                        <a:t>CO₂, Argon + CO₂</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Karbon çelikleri</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Ekonomik ve dayanıklı</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763909923"/>
                  </a:ext>
                </a:extLst>
              </a:tr>
              <a:tr h="1267475">
                <a:tc>
                  <a:txBody>
                    <a:bodyPr/>
                    <a:lstStyle/>
                    <a:p>
                      <a:pPr>
                        <a:lnSpc>
                          <a:spcPct val="115000"/>
                        </a:lnSpc>
                        <a:spcAft>
                          <a:spcPts val="1000"/>
                        </a:spcAft>
                      </a:pPr>
                      <a:r>
                        <a:rPr lang="en-US" sz="1800">
                          <a:effectLst/>
                        </a:rPr>
                        <a:t>TIG</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Tungsten Inert Gas</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Erimeyen tungsten elektrot</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a:effectLst/>
                        </a:rPr>
                        <a:t>Argon, Argon + </a:t>
                      </a:r>
                      <a:r>
                        <a:rPr lang="en-US" sz="1800" dirty="0" err="1">
                          <a:effectLst/>
                        </a:rPr>
                        <a:t>Helyum</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err="1">
                          <a:effectLst/>
                        </a:rPr>
                        <a:t>Paslanmaz</a:t>
                      </a:r>
                      <a:r>
                        <a:rPr lang="en-US" sz="1800" dirty="0">
                          <a:effectLst/>
                        </a:rPr>
                        <a:t> </a:t>
                      </a:r>
                      <a:r>
                        <a:rPr lang="en-US" sz="1800" dirty="0" err="1">
                          <a:effectLst/>
                        </a:rPr>
                        <a:t>çelik</a:t>
                      </a:r>
                      <a:r>
                        <a:rPr lang="en-US" sz="1800" dirty="0">
                          <a:effectLst/>
                        </a:rPr>
                        <a:t>, </a:t>
                      </a:r>
                      <a:r>
                        <a:rPr lang="en-US" sz="1800" dirty="0" err="1">
                          <a:effectLst/>
                        </a:rPr>
                        <a:t>ince</a:t>
                      </a:r>
                      <a:r>
                        <a:rPr lang="en-US" sz="1800" dirty="0">
                          <a:effectLst/>
                        </a:rPr>
                        <a:t> sac</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err="1">
                          <a:effectLst/>
                        </a:rPr>
                        <a:t>Çok</a:t>
                      </a:r>
                      <a:r>
                        <a:rPr lang="en-US" sz="1800" dirty="0">
                          <a:effectLst/>
                        </a:rPr>
                        <a:t> </a:t>
                      </a:r>
                      <a:r>
                        <a:rPr lang="en-US" sz="1800" dirty="0" err="1">
                          <a:effectLst/>
                        </a:rPr>
                        <a:t>kaliteli</a:t>
                      </a:r>
                      <a:r>
                        <a:rPr lang="en-US" sz="1800" dirty="0">
                          <a:effectLst/>
                        </a:rPr>
                        <a:t> </a:t>
                      </a:r>
                      <a:r>
                        <a:rPr lang="en-US" sz="1800" dirty="0" err="1">
                          <a:effectLst/>
                        </a:rPr>
                        <a:t>ve</a:t>
                      </a:r>
                      <a:r>
                        <a:rPr lang="en-US" sz="1800" dirty="0">
                          <a:effectLst/>
                        </a:rPr>
                        <a:t> </a:t>
                      </a:r>
                      <a:r>
                        <a:rPr lang="en-US" sz="1800" dirty="0" err="1">
                          <a:effectLst/>
                        </a:rPr>
                        <a:t>hassas</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532246488"/>
                  </a:ext>
                </a:extLst>
              </a:tr>
            </a:tbl>
          </a:graphicData>
        </a:graphic>
      </p:graphicFrame>
    </p:spTree>
    <p:extLst>
      <p:ext uri="{BB962C8B-B14F-4D97-AF65-F5344CB8AC3E}">
        <p14:creationId xmlns:p14="http://schemas.microsoft.com/office/powerpoint/2010/main" val="1697860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p:cNvPicPr>
            <a:picLocks noGrp="1" noChangeAspect="1"/>
          </p:cNvPicPr>
          <p:nvPr>
            <p:ph idx="1"/>
          </p:nvPr>
        </p:nvPicPr>
        <p:blipFill>
          <a:blip r:embed="rId2"/>
          <a:stretch>
            <a:fillRect/>
          </a:stretch>
        </p:blipFill>
        <p:spPr>
          <a:xfrm>
            <a:off x="395071" y="2096085"/>
            <a:ext cx="11543593" cy="4043457"/>
          </a:xfrm>
          <a:prstGeom prst="rect">
            <a:avLst/>
          </a:prstGeom>
        </p:spPr>
      </p:pic>
    </p:spTree>
    <p:extLst>
      <p:ext uri="{BB962C8B-B14F-4D97-AF65-F5344CB8AC3E}">
        <p14:creationId xmlns:p14="http://schemas.microsoft.com/office/powerpoint/2010/main" val="1750352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7B2035-1FCB-439A-B421-095E136C7E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76D6CDF-C512-4739-B158-55EE955EFA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1137033" y="670559"/>
            <a:ext cx="4683321" cy="2148841"/>
          </a:xfrm>
        </p:spPr>
        <p:txBody>
          <a:bodyPr anchor="t">
            <a:normAutofit/>
          </a:bodyPr>
          <a:lstStyle/>
          <a:p>
            <a:r>
              <a:rPr lang="tr-TR" b="1"/>
              <a:t>Kaynak türleri </a:t>
            </a:r>
            <a:endParaRPr lang="tr-TR" dirty="0"/>
          </a:p>
        </p:txBody>
      </p:sp>
      <p:pic>
        <p:nvPicPr>
          <p:cNvPr id="4" name="Resim 3"/>
          <p:cNvPicPr>
            <a:picLocks noChangeAspect="1"/>
          </p:cNvPicPr>
          <p:nvPr/>
        </p:nvPicPr>
        <p:blipFill>
          <a:blip r:embed="rId3"/>
          <a:srcRect t="1989" r="-2" b="20313"/>
          <a:stretch>
            <a:fillRect/>
          </a:stretch>
        </p:blipFill>
        <p:spPr>
          <a:xfrm>
            <a:off x="2" y="3459966"/>
            <a:ext cx="5519650" cy="3398034"/>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3" name="İçerik Yer Tutucusu 2"/>
          <p:cNvSpPr>
            <a:spLocks noGrp="1"/>
          </p:cNvSpPr>
          <p:nvPr>
            <p:ph idx="1"/>
          </p:nvPr>
        </p:nvSpPr>
        <p:spPr>
          <a:xfrm>
            <a:off x="5519653" y="670559"/>
            <a:ext cx="6666844" cy="5946372"/>
          </a:xfrm>
        </p:spPr>
        <p:txBody>
          <a:bodyPr anchor="t">
            <a:normAutofit fontScale="92500" lnSpcReduction="20000"/>
          </a:bodyPr>
          <a:lstStyle/>
          <a:p>
            <a:pPr marL="0" indent="0">
              <a:buNone/>
            </a:pPr>
            <a:r>
              <a:rPr lang="tr-TR" sz="2000" u="sng" dirty="0">
                <a:solidFill>
                  <a:srgbClr val="FF0000"/>
                </a:solidFill>
              </a:rPr>
              <a:t>Toz altı kaynağı</a:t>
            </a:r>
          </a:p>
          <a:p>
            <a:pPr marL="0" indent="0">
              <a:buNone/>
            </a:pPr>
            <a:endParaRPr lang="tr-TR" sz="1400" u="sng" dirty="0"/>
          </a:p>
          <a:p>
            <a:pPr marL="0" indent="0">
              <a:buNone/>
            </a:pPr>
            <a:r>
              <a:rPr lang="tr-TR" sz="1400" dirty="0"/>
              <a:t>    </a:t>
            </a:r>
            <a:r>
              <a:rPr lang="tr-TR" sz="2000" dirty="0"/>
              <a:t>Elektrik arkının </a:t>
            </a:r>
            <a:r>
              <a:rPr lang="tr-TR" sz="2000" b="1" dirty="0"/>
              <a:t>kaynak teli ile iş parçası arasında</a:t>
            </a:r>
            <a:r>
              <a:rPr lang="tr-TR" sz="2000" dirty="0"/>
              <a:t> oluştuğu ve bu arkın </a:t>
            </a:r>
            <a:r>
              <a:rPr lang="tr-TR" sz="2000" b="1" dirty="0"/>
              <a:t>özel bir kaynak tozu tabakası altında</a:t>
            </a:r>
            <a:r>
              <a:rPr lang="tr-TR" sz="2000" dirty="0"/>
              <a:t> gerçekleştiği bir kaynak yöntemidir.</a:t>
            </a:r>
          </a:p>
          <a:p>
            <a:pPr marL="0" indent="0">
              <a:buNone/>
            </a:pPr>
            <a:r>
              <a:rPr lang="tr-TR" sz="2000" dirty="0"/>
              <a:t>   Bu yöntemde kaynak işlemi sırasında </a:t>
            </a:r>
            <a:r>
              <a:rPr lang="tr-TR" sz="2000" b="1" dirty="0"/>
              <a:t>ark çıplak gözle görünmez</a:t>
            </a:r>
            <a:r>
              <a:rPr lang="tr-TR" sz="2000" dirty="0"/>
              <a:t>, çünkü tamamen tozun altında kalır. Kaynak tozu, hem </a:t>
            </a:r>
            <a:r>
              <a:rPr lang="tr-TR" sz="2000" b="1" dirty="0"/>
              <a:t>koruyucu gaz görevi</a:t>
            </a:r>
            <a:r>
              <a:rPr lang="tr-TR" sz="2000" dirty="0"/>
              <a:t> görür hem de </a:t>
            </a:r>
            <a:r>
              <a:rPr lang="tr-TR" sz="2000" b="1" dirty="0"/>
              <a:t>kaynak banyosunu dış etkilerden (hava, oksijen, azot)</a:t>
            </a:r>
            <a:r>
              <a:rPr lang="tr-TR" sz="2000" dirty="0"/>
              <a:t> korur.</a:t>
            </a:r>
          </a:p>
          <a:p>
            <a:pPr marL="0" indent="0">
              <a:buNone/>
            </a:pPr>
            <a:endParaRPr lang="tr-TR" sz="2000" dirty="0"/>
          </a:p>
          <a:p>
            <a:r>
              <a:rPr lang="tr-TR" sz="2000" dirty="0"/>
              <a:t>Sürekli beslenen bir </a:t>
            </a:r>
            <a:r>
              <a:rPr lang="tr-TR" sz="2000" b="1" dirty="0"/>
              <a:t>tel elektrot</a:t>
            </a:r>
            <a:r>
              <a:rPr lang="tr-TR" sz="2000" dirty="0"/>
              <a:t>, kaynak yapılacak bölgeye yönlendirilir.</a:t>
            </a:r>
          </a:p>
          <a:p>
            <a:r>
              <a:rPr lang="tr-TR" sz="2000" dirty="0"/>
              <a:t>Tel ile parça arasında </a:t>
            </a:r>
            <a:r>
              <a:rPr lang="tr-TR" sz="2000" b="1" dirty="0"/>
              <a:t>elektrik arkı</a:t>
            </a:r>
            <a:r>
              <a:rPr lang="tr-TR" sz="2000" dirty="0"/>
              <a:t> oluşur.</a:t>
            </a:r>
          </a:p>
          <a:p>
            <a:r>
              <a:rPr lang="tr-TR" sz="2000" dirty="0"/>
              <a:t>Arkın ısısıyla metal ve tel erir, birleşerek kaynak dikişini oluşturur.</a:t>
            </a:r>
          </a:p>
          <a:p>
            <a:r>
              <a:rPr lang="tr-TR" sz="2000" dirty="0"/>
              <a:t>Üstteki </a:t>
            </a:r>
            <a:r>
              <a:rPr lang="tr-TR" sz="2000" b="1" dirty="0"/>
              <a:t>toz tabakası</a:t>
            </a:r>
            <a:r>
              <a:rPr lang="tr-TR" sz="2000" dirty="0"/>
              <a:t>, ısıyla kısmen eriyerek kaynak dikişinin üzerinde </a:t>
            </a:r>
            <a:r>
              <a:rPr lang="tr-TR" sz="2000" b="1" dirty="0"/>
              <a:t>cüruf</a:t>
            </a:r>
            <a:r>
              <a:rPr lang="tr-TR" sz="2000" dirty="0"/>
              <a:t> oluşturur. Bu cüruf, kaynak soğuduktan sonra kolayca temizlenir.</a:t>
            </a:r>
          </a:p>
          <a:p>
            <a:pPr marL="0" indent="0">
              <a:buNone/>
            </a:pPr>
            <a:endParaRPr lang="tr-TR" sz="2000" dirty="0"/>
          </a:p>
          <a:p>
            <a:pPr marL="0" indent="0">
              <a:buNone/>
            </a:pPr>
            <a:endParaRPr lang="tr-TR" sz="1400" dirty="0"/>
          </a:p>
        </p:txBody>
      </p:sp>
    </p:spTree>
    <p:extLst>
      <p:ext uri="{BB962C8B-B14F-4D97-AF65-F5344CB8AC3E}">
        <p14:creationId xmlns:p14="http://schemas.microsoft.com/office/powerpoint/2010/main" val="429575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10D620-5665-D563-523D-6DA7DEABB14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7EB8F2-9B8A-E254-EA8F-4ED48530866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E7CD6D9-210B-A3DC-2408-0BF0E3A70661}"/>
              </a:ext>
            </a:extLst>
          </p:cNvPr>
          <p:cNvSpPr>
            <a:spLocks noGrp="1"/>
          </p:cNvSpPr>
          <p:nvPr>
            <p:ph type="title"/>
          </p:nvPr>
        </p:nvSpPr>
        <p:spPr>
          <a:xfrm>
            <a:off x="838200" y="365125"/>
            <a:ext cx="10515600" cy="1325563"/>
          </a:xfrm>
        </p:spPr>
        <p:txBody>
          <a:bodyPr>
            <a:normAutofit/>
          </a:bodyPr>
          <a:lstStyle/>
          <a:p>
            <a:r>
              <a:rPr lang="tr-TR" b="1" dirty="0"/>
              <a:t>Kaynak türleri </a:t>
            </a:r>
          </a:p>
        </p:txBody>
      </p:sp>
      <p:sp>
        <p:nvSpPr>
          <p:cNvPr id="10" name="sketch line">
            <a:extLst>
              <a:ext uri="{FF2B5EF4-FFF2-40B4-BE49-F238E27FC236}">
                <a16:creationId xmlns:a16="http://schemas.microsoft.com/office/drawing/2014/main" id="{EECE0D64-70F7-F5C6-68B9-94962479DE1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3FFBE2E2-2E62-8731-293F-94540BE4FD4F}"/>
              </a:ext>
            </a:extLst>
          </p:cNvPr>
          <p:cNvSpPr>
            <a:spLocks noGrp="1"/>
          </p:cNvSpPr>
          <p:nvPr>
            <p:ph idx="1"/>
          </p:nvPr>
        </p:nvSpPr>
        <p:spPr>
          <a:xfrm>
            <a:off x="479685" y="1929383"/>
            <a:ext cx="11377535" cy="4726249"/>
          </a:xfrm>
        </p:spPr>
        <p:txBody>
          <a:bodyPr>
            <a:normAutofit fontScale="85000" lnSpcReduction="20000"/>
          </a:bodyPr>
          <a:lstStyle/>
          <a:p>
            <a:pPr marL="0" indent="0">
              <a:buNone/>
            </a:pPr>
            <a:r>
              <a:rPr lang="tr-TR" sz="2200" dirty="0"/>
              <a:t>   </a:t>
            </a:r>
          </a:p>
          <a:p>
            <a:pPr marL="0" indent="0">
              <a:buNone/>
            </a:pPr>
            <a:r>
              <a:rPr lang="tr-TR" sz="2400" u="sng" dirty="0">
                <a:solidFill>
                  <a:srgbClr val="FF0000"/>
                </a:solidFill>
              </a:rPr>
              <a:t>Direnç kaynağı</a:t>
            </a:r>
          </a:p>
          <a:p>
            <a:pPr marL="0" indent="0">
              <a:buNone/>
            </a:pPr>
            <a:endParaRPr lang="tr-TR" sz="2400" u="sng" dirty="0">
              <a:solidFill>
                <a:srgbClr val="FF0000"/>
              </a:solidFill>
            </a:endParaRPr>
          </a:p>
          <a:p>
            <a:pPr marL="0" indent="0">
              <a:buNone/>
            </a:pPr>
            <a:r>
              <a:rPr lang="tr-TR" sz="2400" dirty="0"/>
              <a:t>  İki metal parçanın </a:t>
            </a:r>
            <a:r>
              <a:rPr lang="tr-TR" sz="2400" b="1" dirty="0"/>
              <a:t>elektrik akımı ve basınç</a:t>
            </a:r>
            <a:r>
              <a:rPr lang="tr-TR" sz="2400" dirty="0"/>
              <a:t> yardımıyla birleştirildiği bir kaynak yöntemidir. Bu yöntemde </a:t>
            </a:r>
            <a:r>
              <a:rPr lang="tr-TR" sz="2400" b="1" dirty="0"/>
              <a:t>ısı</a:t>
            </a:r>
            <a:r>
              <a:rPr lang="tr-TR" sz="2400" dirty="0"/>
              <a:t>, parçaların temas yüzeyinde elektrik akımının geçişine karşı oluşan </a:t>
            </a:r>
            <a:r>
              <a:rPr lang="tr-TR" sz="2400" b="1" dirty="0"/>
              <a:t>elektrik direnci</a:t>
            </a:r>
            <a:r>
              <a:rPr lang="tr-TR" sz="2400" dirty="0"/>
              <a:t> sayesinde meydana gelir.</a:t>
            </a:r>
          </a:p>
          <a:p>
            <a:pPr>
              <a:buFont typeface="Wingdings" panose="05000000000000000000" pitchFamily="2" charset="2"/>
              <a:buChar char="Ø"/>
            </a:pPr>
            <a:r>
              <a:rPr lang="tr-TR" sz="2400" dirty="0"/>
              <a:t>Yani, metal yüzeyler arasından yüksek akım geçirilir → temas noktasında ısı oluşur → metal yumuşar veya erir → uygulanan basınçla birleşme sağlanır.</a:t>
            </a:r>
          </a:p>
          <a:p>
            <a:pPr>
              <a:buFont typeface="Wingdings" panose="05000000000000000000" pitchFamily="2" charset="2"/>
              <a:buChar char="Ø"/>
            </a:pPr>
            <a:r>
              <a:rPr lang="tr-TR" sz="2400" dirty="0"/>
              <a:t>İlave dolgu metali veya koruyucu gaz kullanılmaz.</a:t>
            </a:r>
          </a:p>
          <a:p>
            <a:pPr>
              <a:buFont typeface="Wingdings" panose="05000000000000000000" pitchFamily="2" charset="2"/>
              <a:buChar char="Ø"/>
            </a:pPr>
            <a:r>
              <a:rPr lang="tr-TR" sz="2400" dirty="0"/>
              <a:t>Kaynak işlemi çok hızlıdır (birkaç saniye sürer).</a:t>
            </a:r>
          </a:p>
          <a:p>
            <a:pPr>
              <a:buFont typeface="Wingdings" panose="05000000000000000000" pitchFamily="2" charset="2"/>
              <a:buChar char="Ø"/>
            </a:pPr>
            <a:r>
              <a:rPr lang="tr-TR" sz="2400" dirty="0"/>
              <a:t>Genellikle </a:t>
            </a:r>
            <a:r>
              <a:rPr lang="tr-TR" sz="2400" b="1" dirty="0"/>
              <a:t>otomatik veya yarı otomatik</a:t>
            </a:r>
            <a:r>
              <a:rPr lang="tr-TR" sz="2400" dirty="0"/>
              <a:t> makinelerle yapılır.</a:t>
            </a:r>
          </a:p>
          <a:p>
            <a:pPr marL="0" indent="0">
              <a:buNone/>
            </a:pPr>
            <a:endParaRPr lang="tr-TR" sz="2400" dirty="0"/>
          </a:p>
          <a:p>
            <a:pPr marL="0" indent="0">
              <a:buNone/>
            </a:pPr>
            <a:r>
              <a:rPr lang="tr-TR" sz="2400" dirty="0"/>
              <a:t>   Özellikle </a:t>
            </a:r>
            <a:r>
              <a:rPr lang="tr-TR" sz="2400" b="1" dirty="0"/>
              <a:t>seri üretim ve sac metal birleştirmelerinde</a:t>
            </a:r>
            <a:r>
              <a:rPr lang="tr-TR" sz="2400" dirty="0"/>
              <a:t> yaygın olarak kullanılır.</a:t>
            </a:r>
          </a:p>
          <a:p>
            <a:pPr marL="0" indent="0">
              <a:buNone/>
            </a:pPr>
            <a:endParaRPr lang="tr-TR" sz="2200" dirty="0"/>
          </a:p>
        </p:txBody>
      </p:sp>
    </p:spTree>
    <p:extLst>
      <p:ext uri="{BB962C8B-B14F-4D97-AF65-F5344CB8AC3E}">
        <p14:creationId xmlns:p14="http://schemas.microsoft.com/office/powerpoint/2010/main" val="3758984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157940" y="1961804"/>
            <a:ext cx="7572895" cy="4896196"/>
          </a:xfrm>
        </p:spPr>
        <p:txBody>
          <a:bodyPr>
            <a:normAutofit fontScale="25000" lnSpcReduction="20000"/>
          </a:bodyPr>
          <a:lstStyle/>
          <a:p>
            <a:pPr marL="0" indent="0">
              <a:buNone/>
            </a:pPr>
            <a:r>
              <a:rPr lang="tr-TR" sz="8000" dirty="0"/>
              <a:t>       </a:t>
            </a:r>
            <a:r>
              <a:rPr lang="tr-TR" sz="8000" dirty="0">
                <a:solidFill>
                  <a:srgbClr val="FF0000"/>
                </a:solidFill>
              </a:rPr>
              <a:t>Direnç kaynağının başlıca türleri;</a:t>
            </a:r>
          </a:p>
          <a:p>
            <a:pPr marL="0" indent="0">
              <a:buNone/>
            </a:pPr>
            <a:endParaRPr lang="tr-TR" sz="7200" dirty="0">
              <a:solidFill>
                <a:srgbClr val="FF0000"/>
              </a:solidFill>
            </a:endParaRPr>
          </a:p>
          <a:p>
            <a:pPr marL="0" indent="0">
              <a:buNone/>
            </a:pPr>
            <a:r>
              <a:rPr lang="tr-TR" sz="7200" u="sng" dirty="0"/>
              <a:t>Nokta Kaynağı (Spot </a:t>
            </a:r>
            <a:r>
              <a:rPr lang="tr-TR" sz="7200" u="sng" dirty="0" err="1"/>
              <a:t>Welding</a:t>
            </a:r>
            <a:r>
              <a:rPr lang="tr-TR" sz="7200" u="sng" dirty="0"/>
              <a:t>)</a:t>
            </a:r>
          </a:p>
          <a:p>
            <a:pPr lvl="1">
              <a:buFont typeface="Wingdings" panose="05000000000000000000" pitchFamily="2" charset="2"/>
              <a:buChar char="ü"/>
            </a:pPr>
            <a:r>
              <a:rPr lang="tr-TR" sz="7200" b="1" dirty="0">
                <a:solidFill>
                  <a:srgbClr val="C00000"/>
                </a:solidFill>
              </a:rPr>
              <a:t>En yaygın </a:t>
            </a:r>
            <a:r>
              <a:rPr lang="tr-TR" sz="7200" dirty="0"/>
              <a:t>direnç kaynağı türüdür.</a:t>
            </a:r>
          </a:p>
          <a:p>
            <a:pPr lvl="1">
              <a:buFont typeface="Wingdings" panose="05000000000000000000" pitchFamily="2" charset="2"/>
              <a:buChar char="ü"/>
            </a:pPr>
            <a:r>
              <a:rPr lang="tr-TR" sz="7200" dirty="0"/>
              <a:t>İki metal levha, elektrot uçları arasında sıkıştırılır ve kısa süreli akım verilerek birleştirilir.</a:t>
            </a:r>
          </a:p>
          <a:p>
            <a:pPr lvl="1">
              <a:buFont typeface="Wingdings" panose="05000000000000000000" pitchFamily="2" charset="2"/>
              <a:buChar char="ü"/>
            </a:pPr>
            <a:r>
              <a:rPr lang="tr-TR" sz="7200" dirty="0"/>
              <a:t>Otomotiv sanayinde sac birleştirmede sıkça kullanılır.</a:t>
            </a:r>
          </a:p>
          <a:p>
            <a:pPr lvl="1">
              <a:buFont typeface="Wingdings" panose="05000000000000000000" pitchFamily="2" charset="2"/>
              <a:buChar char="ü"/>
            </a:pPr>
            <a:endParaRPr lang="tr-TR" sz="7200" dirty="0"/>
          </a:p>
          <a:p>
            <a:pPr marL="0" indent="0">
              <a:buNone/>
            </a:pPr>
            <a:r>
              <a:rPr lang="tr-TR" sz="7200" u="sng" dirty="0"/>
              <a:t>Dikiş Kaynağı (</a:t>
            </a:r>
            <a:r>
              <a:rPr lang="tr-TR" sz="7200" u="sng" dirty="0" err="1"/>
              <a:t>Seam</a:t>
            </a:r>
            <a:r>
              <a:rPr lang="tr-TR" sz="7200" u="sng" dirty="0"/>
              <a:t> </a:t>
            </a:r>
            <a:r>
              <a:rPr lang="tr-TR" sz="7200" u="sng" dirty="0" err="1"/>
              <a:t>Welding</a:t>
            </a:r>
            <a:r>
              <a:rPr lang="tr-TR" sz="7200" u="sng" dirty="0"/>
              <a:t>)</a:t>
            </a:r>
          </a:p>
          <a:p>
            <a:pPr lvl="1">
              <a:buFont typeface="Wingdings" panose="05000000000000000000" pitchFamily="2" charset="2"/>
              <a:buChar char="ü"/>
            </a:pPr>
            <a:r>
              <a:rPr lang="tr-TR" sz="7200" dirty="0"/>
              <a:t>Nokta kaynağına benzer, ancak elektrotlar döner tekerlek şeklindedir.</a:t>
            </a:r>
          </a:p>
          <a:p>
            <a:pPr lvl="1">
              <a:buFont typeface="Wingdings" panose="05000000000000000000" pitchFamily="2" charset="2"/>
              <a:buChar char="ü"/>
            </a:pPr>
            <a:r>
              <a:rPr lang="tr-TR" sz="7200" dirty="0"/>
              <a:t>Sürekli veya aralıklı kaynak dikişi oluşturur.</a:t>
            </a:r>
          </a:p>
          <a:p>
            <a:pPr lvl="1">
              <a:buFont typeface="Wingdings" panose="05000000000000000000" pitchFamily="2" charset="2"/>
              <a:buChar char="ü"/>
            </a:pPr>
            <a:r>
              <a:rPr lang="tr-TR" sz="7200" dirty="0"/>
              <a:t>Yakıt depoları, su tankları gibi sızdırmazlık gerektiren yerlerde kullanılır.</a:t>
            </a:r>
          </a:p>
          <a:p>
            <a:pPr lvl="1">
              <a:buFont typeface="Wingdings" panose="05000000000000000000" pitchFamily="2" charset="2"/>
              <a:buChar char="ü"/>
            </a:pPr>
            <a:endParaRPr lang="tr-TR" sz="7200" dirty="0"/>
          </a:p>
          <a:p>
            <a:pPr marL="0" indent="0">
              <a:buNone/>
            </a:pPr>
            <a:r>
              <a:rPr lang="tr-TR" sz="7200" u="sng" dirty="0"/>
              <a:t>Projeksiyon Kaynağı (</a:t>
            </a:r>
            <a:r>
              <a:rPr lang="tr-TR" sz="7200" u="sng" dirty="0" err="1"/>
              <a:t>Projection</a:t>
            </a:r>
            <a:r>
              <a:rPr lang="tr-TR" sz="7200" u="sng" dirty="0"/>
              <a:t> </a:t>
            </a:r>
            <a:r>
              <a:rPr lang="tr-TR" sz="7200" u="sng" dirty="0" err="1"/>
              <a:t>Welding</a:t>
            </a:r>
            <a:r>
              <a:rPr lang="tr-TR" sz="7200" u="sng" dirty="0"/>
              <a:t>)</a:t>
            </a:r>
          </a:p>
          <a:p>
            <a:pPr lvl="1">
              <a:buFont typeface="Wingdings" panose="05000000000000000000" pitchFamily="2" charset="2"/>
              <a:buChar char="ü"/>
            </a:pPr>
            <a:r>
              <a:rPr lang="tr-TR" sz="7200" dirty="0"/>
              <a:t>Parçalardan birinde küçük çıkıntılar (projeksiyonlar) bulunur.</a:t>
            </a:r>
          </a:p>
          <a:p>
            <a:pPr lvl="1">
              <a:buFont typeface="Wingdings" panose="05000000000000000000" pitchFamily="2" charset="2"/>
              <a:buChar char="ü"/>
            </a:pPr>
            <a:r>
              <a:rPr lang="tr-TR" sz="7200" dirty="0"/>
              <a:t>Akım bu çıkıntılardan geçerek lokal ısı oluşturur ve birleşme sağlanır.</a:t>
            </a:r>
          </a:p>
          <a:p>
            <a:pPr lvl="1">
              <a:buFont typeface="Wingdings" panose="05000000000000000000" pitchFamily="2" charset="2"/>
              <a:buChar char="ü"/>
            </a:pPr>
            <a:r>
              <a:rPr lang="tr-TR" sz="7200" dirty="0"/>
              <a:t>Cıvata, somun, bağlantı elemanlarının birleştirilmesinde kullanılır.</a:t>
            </a:r>
          </a:p>
          <a:p>
            <a:pPr marL="0" indent="0">
              <a:buNone/>
            </a:pPr>
            <a:endParaRPr lang="tr-TR" sz="900" dirty="0"/>
          </a:p>
        </p:txBody>
      </p:sp>
      <p:pic>
        <p:nvPicPr>
          <p:cNvPr id="5" name="Resim 4"/>
          <p:cNvPicPr>
            <a:picLocks noChangeAspect="1"/>
          </p:cNvPicPr>
          <p:nvPr/>
        </p:nvPicPr>
        <p:blipFill>
          <a:blip r:embed="rId3"/>
          <a:stretch>
            <a:fillRect/>
          </a:stretch>
        </p:blipFill>
        <p:spPr>
          <a:xfrm>
            <a:off x="8053694" y="329183"/>
            <a:ext cx="3634508" cy="3429969"/>
          </a:xfrm>
          <a:prstGeom prst="rect">
            <a:avLst/>
          </a:prstGeom>
        </p:spPr>
      </p:pic>
      <p:pic>
        <p:nvPicPr>
          <p:cNvPr id="4" name="Resim 3"/>
          <p:cNvPicPr>
            <a:picLocks noChangeAspect="1"/>
          </p:cNvPicPr>
          <p:nvPr/>
        </p:nvPicPr>
        <p:blipFill>
          <a:blip r:embed="rId4"/>
          <a:stretch>
            <a:fillRect/>
          </a:stretch>
        </p:blipFill>
        <p:spPr>
          <a:xfrm>
            <a:off x="7863840" y="4168347"/>
            <a:ext cx="3995928" cy="1997964"/>
          </a:xfrm>
          <a:prstGeom prst="rect">
            <a:avLst/>
          </a:prstGeom>
        </p:spPr>
      </p:pic>
    </p:spTree>
    <p:extLst>
      <p:ext uri="{BB962C8B-B14F-4D97-AF65-F5344CB8AC3E}">
        <p14:creationId xmlns:p14="http://schemas.microsoft.com/office/powerpoint/2010/main" val="1824985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E6B499-9658-FDBD-65D1-6D271EF063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C2A394-0F75-5247-BC2B-C8AB68381A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987F9F6-B483-93D4-6E46-534B58770687}"/>
              </a:ext>
            </a:extLst>
          </p:cNvPr>
          <p:cNvSpPr>
            <a:spLocks noGrp="1"/>
          </p:cNvSpPr>
          <p:nvPr>
            <p:ph type="title"/>
          </p:nvPr>
        </p:nvSpPr>
        <p:spPr>
          <a:xfrm>
            <a:off x="838200" y="365125"/>
            <a:ext cx="10515600" cy="1325563"/>
          </a:xfrm>
        </p:spPr>
        <p:txBody>
          <a:bodyPr>
            <a:normAutofit/>
          </a:bodyPr>
          <a:lstStyle/>
          <a:p>
            <a:r>
              <a:rPr lang="tr-TR" b="1" dirty="0"/>
              <a:t>Kaynak türleri </a:t>
            </a:r>
          </a:p>
        </p:txBody>
      </p:sp>
      <p:sp>
        <p:nvSpPr>
          <p:cNvPr id="10" name="sketch line">
            <a:extLst>
              <a:ext uri="{FF2B5EF4-FFF2-40B4-BE49-F238E27FC236}">
                <a16:creationId xmlns:a16="http://schemas.microsoft.com/office/drawing/2014/main" id="{2574256D-7264-4C4B-F1B9-824747FAAC1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1FF0D3BD-E961-A4CA-270C-F157F61C3ABC}"/>
              </a:ext>
            </a:extLst>
          </p:cNvPr>
          <p:cNvSpPr>
            <a:spLocks noGrp="1"/>
          </p:cNvSpPr>
          <p:nvPr>
            <p:ph idx="1"/>
          </p:nvPr>
        </p:nvSpPr>
        <p:spPr>
          <a:xfrm>
            <a:off x="479685" y="1929383"/>
            <a:ext cx="11377535" cy="4726249"/>
          </a:xfrm>
        </p:spPr>
        <p:txBody>
          <a:bodyPr>
            <a:normAutofit fontScale="85000" lnSpcReduction="20000"/>
          </a:bodyPr>
          <a:lstStyle/>
          <a:p>
            <a:pPr marL="0" indent="0">
              <a:buNone/>
            </a:pPr>
            <a:r>
              <a:rPr lang="tr-TR" sz="2200" dirty="0"/>
              <a:t>   </a:t>
            </a:r>
          </a:p>
          <a:p>
            <a:pPr marL="0" indent="0">
              <a:buNone/>
            </a:pPr>
            <a:r>
              <a:rPr lang="tr-TR" sz="2400" u="sng" dirty="0">
                <a:solidFill>
                  <a:srgbClr val="FF0000"/>
                </a:solidFill>
              </a:rPr>
              <a:t>Gaz kaynağı (</a:t>
            </a:r>
            <a:r>
              <a:rPr lang="tr-TR" sz="2400" u="sng" dirty="0" err="1">
                <a:solidFill>
                  <a:srgbClr val="FF0000"/>
                </a:solidFill>
              </a:rPr>
              <a:t>oksi</a:t>
            </a:r>
            <a:r>
              <a:rPr lang="tr-TR" sz="2400" u="sng" dirty="0">
                <a:solidFill>
                  <a:srgbClr val="FF0000"/>
                </a:solidFill>
              </a:rPr>
              <a:t>-gaz kaynağı)</a:t>
            </a:r>
          </a:p>
          <a:p>
            <a:pPr marL="0" indent="0">
              <a:buNone/>
            </a:pPr>
            <a:endParaRPr lang="tr-TR" sz="2400" dirty="0"/>
          </a:p>
          <a:p>
            <a:pPr marL="0" indent="0">
              <a:buNone/>
            </a:pPr>
            <a:r>
              <a:rPr lang="tr-TR" sz="2400" dirty="0"/>
              <a:t>  Metal parçaların </a:t>
            </a:r>
            <a:r>
              <a:rPr lang="tr-TR" sz="2400" b="1" dirty="0"/>
              <a:t>gaz aleviyle ısıtılarak eritilmesi</a:t>
            </a:r>
            <a:r>
              <a:rPr lang="tr-TR" sz="2400" dirty="0"/>
              <a:t> ve birleştirilmesi esasına dayanan bir kaynak yöntemidir. </a:t>
            </a:r>
          </a:p>
          <a:p>
            <a:pPr marL="0" indent="0">
              <a:buNone/>
            </a:pPr>
            <a:r>
              <a:rPr lang="tr-TR" sz="2400" dirty="0"/>
              <a:t>  En yaygın kullanılan türü </a:t>
            </a:r>
            <a:r>
              <a:rPr lang="tr-TR" sz="2400" b="1" dirty="0" err="1"/>
              <a:t>oksi</a:t>
            </a:r>
            <a:r>
              <a:rPr lang="tr-TR" sz="2400" b="1" dirty="0"/>
              <a:t>-asetilen kaynağıdır</a:t>
            </a:r>
            <a:r>
              <a:rPr lang="tr-TR" sz="2400" dirty="0"/>
              <a:t>. Bu yöntemde </a:t>
            </a:r>
            <a:r>
              <a:rPr lang="tr-TR" sz="2400" b="1" dirty="0"/>
              <a:t>asetilen (C₂H₂)</a:t>
            </a:r>
            <a:r>
              <a:rPr lang="tr-TR" sz="2400" dirty="0"/>
              <a:t> gazı ile </a:t>
            </a:r>
            <a:r>
              <a:rPr lang="tr-TR" sz="2400" b="1" dirty="0"/>
              <a:t>oksijen (O₂)</a:t>
            </a:r>
            <a:r>
              <a:rPr lang="tr-TR" sz="2400" dirty="0"/>
              <a:t> karıştırılarak çok yüksek sıcaklıkta (yaklaşık 3200 °C) bir alev elde edilir. </a:t>
            </a:r>
          </a:p>
          <a:p>
            <a:pPr marL="0" indent="0">
              <a:buNone/>
            </a:pPr>
            <a:r>
              <a:rPr lang="tr-TR" sz="2400" dirty="0"/>
              <a:t>  Alev, elektrik arkından daha az güçlü olduğundan, kaynak soğuması daha yavaş olur ve meydana gelen gerilme ve kaynak çarpılmalarının daha az olabilmesine imkânı tanıyabilir.</a:t>
            </a:r>
          </a:p>
          <a:p>
            <a:pPr>
              <a:buFont typeface="Wingdings" panose="05000000000000000000" pitchFamily="2" charset="2"/>
              <a:buChar char="Ø"/>
            </a:pPr>
            <a:r>
              <a:rPr lang="tr-TR" sz="2400" dirty="0" err="1"/>
              <a:t>Oksi</a:t>
            </a:r>
            <a:r>
              <a:rPr lang="tr-TR" sz="2400" dirty="0"/>
              <a:t>-Asetilen gaz kaynağı.</a:t>
            </a:r>
          </a:p>
          <a:p>
            <a:pPr>
              <a:buFont typeface="Wingdings" panose="05000000000000000000" pitchFamily="2" charset="2"/>
              <a:buChar char="Ø"/>
            </a:pPr>
            <a:r>
              <a:rPr lang="tr-TR" sz="2400" dirty="0" err="1"/>
              <a:t>Oksi</a:t>
            </a:r>
            <a:r>
              <a:rPr lang="tr-TR" sz="2400" dirty="0"/>
              <a:t>-Hidrojen gaz kaynağı.</a:t>
            </a:r>
          </a:p>
          <a:p>
            <a:pPr>
              <a:buFont typeface="Wingdings" panose="05000000000000000000" pitchFamily="2" charset="2"/>
              <a:buChar char="Ø"/>
            </a:pPr>
            <a:r>
              <a:rPr lang="tr-TR" sz="2400" dirty="0" err="1"/>
              <a:t>Oksi</a:t>
            </a:r>
            <a:r>
              <a:rPr lang="tr-TR" sz="2400" dirty="0"/>
              <a:t>-LPG.</a:t>
            </a:r>
          </a:p>
          <a:p>
            <a:pPr>
              <a:buFont typeface="Wingdings" panose="05000000000000000000" pitchFamily="2" charset="2"/>
              <a:buChar char="Ø"/>
            </a:pPr>
            <a:r>
              <a:rPr lang="tr-TR" sz="2400" dirty="0" err="1"/>
              <a:t>Oksi</a:t>
            </a:r>
            <a:r>
              <a:rPr lang="tr-TR" sz="2400" dirty="0"/>
              <a:t>-Doğalgaz.</a:t>
            </a:r>
            <a:endParaRPr lang="tr-TR" sz="2200" dirty="0"/>
          </a:p>
        </p:txBody>
      </p:sp>
    </p:spTree>
    <p:extLst>
      <p:ext uri="{BB962C8B-B14F-4D97-AF65-F5344CB8AC3E}">
        <p14:creationId xmlns:p14="http://schemas.microsoft.com/office/powerpoint/2010/main" val="2513244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a:blip r:embed="rId2"/>
          <a:stretch>
            <a:fillRect/>
          </a:stretch>
        </p:blipFill>
        <p:spPr>
          <a:xfrm>
            <a:off x="6566137" y="643939"/>
            <a:ext cx="5302305" cy="3618571"/>
          </a:xfrm>
          <a:prstGeom prst="rect">
            <a:avLst/>
          </a:prstGeom>
        </p:spPr>
      </p:pic>
      <p:sp>
        <p:nvSpPr>
          <p:cNvPr id="5" name="Metin kutusu 4"/>
          <p:cNvSpPr txBox="1"/>
          <p:nvPr/>
        </p:nvSpPr>
        <p:spPr>
          <a:xfrm>
            <a:off x="798022" y="1473405"/>
            <a:ext cx="10048169" cy="5324535"/>
          </a:xfrm>
          <a:prstGeom prst="rect">
            <a:avLst/>
          </a:prstGeom>
          <a:noFill/>
        </p:spPr>
        <p:txBody>
          <a:bodyPr wrap="square" rtlCol="0">
            <a:spAutoFit/>
          </a:bodyPr>
          <a:lstStyle/>
          <a:p>
            <a:r>
              <a:rPr lang="tr-TR" sz="2000" b="1" dirty="0">
                <a:solidFill>
                  <a:srgbClr val="C00000"/>
                </a:solidFill>
              </a:rPr>
              <a:t>Prensibi;</a:t>
            </a:r>
            <a:r>
              <a:rPr lang="tr-TR" sz="2000" dirty="0">
                <a:solidFill>
                  <a:srgbClr val="C00000"/>
                </a:solidFill>
              </a:rPr>
              <a:t> </a:t>
            </a:r>
          </a:p>
          <a:p>
            <a:endParaRPr lang="tr-TR" sz="2000" dirty="0"/>
          </a:p>
          <a:p>
            <a:pPr marL="285750" indent="-285750">
              <a:buFont typeface="Arial" panose="020B0604020202020204" pitchFamily="34" charset="0"/>
              <a:buChar char="•"/>
            </a:pPr>
            <a:r>
              <a:rPr lang="tr-TR" sz="2000" dirty="0"/>
              <a:t>Oksijen ve asetilen, kaynak üfleci (şaloma)</a:t>
            </a:r>
          </a:p>
          <a:p>
            <a:r>
              <a:rPr lang="tr-TR" sz="2000" dirty="0"/>
              <a:t> içinde karıştırılır.</a:t>
            </a:r>
          </a:p>
          <a:p>
            <a:pPr marL="285750" indent="-285750">
              <a:buFont typeface="Arial" panose="020B0604020202020204" pitchFamily="34" charset="0"/>
              <a:buChar char="•"/>
            </a:pPr>
            <a:r>
              <a:rPr lang="tr-TR" sz="2000" dirty="0"/>
              <a:t>Üflecin ucundan çıkan karışım yakılarak </a:t>
            </a:r>
          </a:p>
          <a:p>
            <a:r>
              <a:rPr lang="tr-TR" sz="2000" dirty="0"/>
              <a:t>alev oluşturulur.</a:t>
            </a:r>
          </a:p>
          <a:p>
            <a:pPr marL="285750" indent="-285750">
              <a:buFont typeface="Arial" panose="020B0604020202020204" pitchFamily="34" charset="0"/>
              <a:buChar char="•"/>
            </a:pPr>
            <a:r>
              <a:rPr lang="tr-TR" sz="2000" dirty="0"/>
              <a:t>Alevin sıcak kısmı, metal yüzeyleri </a:t>
            </a:r>
          </a:p>
          <a:p>
            <a:r>
              <a:rPr lang="tr-TR" sz="2000" dirty="0"/>
              <a:t>eriterek birleştirir.</a:t>
            </a:r>
          </a:p>
          <a:p>
            <a:pPr marL="285750" indent="-285750">
              <a:buFont typeface="Arial" panose="020B0604020202020204" pitchFamily="34" charset="0"/>
              <a:buChar char="•"/>
            </a:pPr>
            <a:r>
              <a:rPr lang="tr-TR" sz="2000" dirty="0"/>
              <a:t>Gerekirse </a:t>
            </a:r>
            <a:r>
              <a:rPr lang="tr-TR" sz="2000" b="1" dirty="0"/>
              <a:t>ilave dolgu teli</a:t>
            </a:r>
            <a:r>
              <a:rPr lang="tr-TR" sz="2000" dirty="0"/>
              <a:t> kullanılarak </a:t>
            </a:r>
          </a:p>
          <a:p>
            <a:r>
              <a:rPr lang="tr-TR" sz="2000" dirty="0"/>
              <a:t>kaynak dikişi güçlendirilir.</a:t>
            </a:r>
          </a:p>
          <a:p>
            <a:endParaRPr lang="tr-TR" sz="2000" dirty="0"/>
          </a:p>
          <a:p>
            <a:r>
              <a:rPr lang="tr-TR" sz="2000" dirty="0"/>
              <a:t>   </a:t>
            </a:r>
          </a:p>
          <a:p>
            <a:endParaRPr lang="tr-TR" sz="2000" b="1" dirty="0"/>
          </a:p>
          <a:p>
            <a:r>
              <a:rPr lang="tr-TR" sz="2000" b="1" dirty="0"/>
              <a:t>Oksijen-asetilen alevleri</a:t>
            </a:r>
            <a:r>
              <a:rPr lang="tr-TR" sz="2000" dirty="0"/>
              <a:t>, yaygın yakıt gazları arasında en sıcak olanıdır ve bu da onları birçok kaynak işlemi için ideal kılar. </a:t>
            </a:r>
            <a:r>
              <a:rPr lang="tr-TR" sz="2000" dirty="0" err="1"/>
              <a:t>Propan</a:t>
            </a:r>
            <a:r>
              <a:rPr lang="tr-TR" sz="2000" dirty="0"/>
              <a:t> veya hidrojen gibi diğer gazlar daha düşük sıcaklıklar üretir ve farklı kaynak işleri için uygundur. Asetilenin çok pahalı olduğu veya temin edilmesinin zor olduğu yerlerde oksijen-benzin kaynağı kullanılır.</a:t>
            </a:r>
          </a:p>
        </p:txBody>
      </p:sp>
    </p:spTree>
    <p:extLst>
      <p:ext uri="{BB962C8B-B14F-4D97-AF65-F5344CB8AC3E}">
        <p14:creationId xmlns:p14="http://schemas.microsoft.com/office/powerpoint/2010/main" val="4139072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85CC46-DB77-A199-CA96-1CA674DA6B3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97FEE5-C9AD-933A-4301-2B7125173C5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54BD09F-4FF2-1C73-E071-4E7526F36FAB}"/>
              </a:ext>
            </a:extLst>
          </p:cNvPr>
          <p:cNvSpPr>
            <a:spLocks noGrp="1"/>
          </p:cNvSpPr>
          <p:nvPr>
            <p:ph type="title"/>
          </p:nvPr>
        </p:nvSpPr>
        <p:spPr>
          <a:xfrm>
            <a:off x="838200" y="365125"/>
            <a:ext cx="10515600" cy="1325563"/>
          </a:xfrm>
        </p:spPr>
        <p:txBody>
          <a:bodyPr>
            <a:normAutofit/>
          </a:bodyPr>
          <a:lstStyle/>
          <a:p>
            <a:r>
              <a:rPr lang="tr-TR" b="1" dirty="0"/>
              <a:t>Tehlikeler</a:t>
            </a:r>
            <a:r>
              <a:rPr lang="tr-TR" dirty="0"/>
              <a:t> </a:t>
            </a:r>
            <a:endParaRPr lang="tr-TR" b="1" dirty="0"/>
          </a:p>
        </p:txBody>
      </p:sp>
      <p:sp>
        <p:nvSpPr>
          <p:cNvPr id="10" name="sketch line">
            <a:extLst>
              <a:ext uri="{FF2B5EF4-FFF2-40B4-BE49-F238E27FC236}">
                <a16:creationId xmlns:a16="http://schemas.microsoft.com/office/drawing/2014/main" id="{E966D943-A50C-7A55-FBEF-2FCCFE8514B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7E3A77F-0B28-3124-0F22-7B3B8C8ECFE8}"/>
              </a:ext>
            </a:extLst>
          </p:cNvPr>
          <p:cNvSpPr>
            <a:spLocks noGrp="1"/>
          </p:cNvSpPr>
          <p:nvPr>
            <p:ph idx="1"/>
          </p:nvPr>
        </p:nvSpPr>
        <p:spPr>
          <a:xfrm>
            <a:off x="479685" y="1929383"/>
            <a:ext cx="11377535" cy="4726249"/>
          </a:xfrm>
        </p:spPr>
        <p:txBody>
          <a:bodyPr>
            <a:normAutofit/>
          </a:bodyPr>
          <a:lstStyle/>
          <a:p>
            <a:pPr marL="0" indent="0">
              <a:buNone/>
            </a:pPr>
            <a:r>
              <a:rPr lang="tr-TR" sz="2200" dirty="0"/>
              <a:t>   </a:t>
            </a:r>
          </a:p>
          <a:p>
            <a:pPr marL="0" indent="0">
              <a:buNone/>
            </a:pPr>
            <a:endParaRPr lang="tr-TR" sz="2200" dirty="0"/>
          </a:p>
        </p:txBody>
      </p:sp>
      <p:sp>
        <p:nvSpPr>
          <p:cNvPr id="4" name="Metin kutusu 3">
            <a:extLst>
              <a:ext uri="{FF2B5EF4-FFF2-40B4-BE49-F238E27FC236}">
                <a16:creationId xmlns:a16="http://schemas.microsoft.com/office/drawing/2014/main" id="{B1034F29-4C86-956A-8EDE-51CA804291BA}"/>
              </a:ext>
            </a:extLst>
          </p:cNvPr>
          <p:cNvSpPr txBox="1"/>
          <p:nvPr/>
        </p:nvSpPr>
        <p:spPr>
          <a:xfrm>
            <a:off x="838199" y="2055813"/>
            <a:ext cx="10874115" cy="400110"/>
          </a:xfrm>
          <a:prstGeom prst="rect">
            <a:avLst/>
          </a:prstGeom>
          <a:noFill/>
        </p:spPr>
        <p:txBody>
          <a:bodyPr wrap="square" rtlCol="0">
            <a:spAutoFit/>
          </a:bodyPr>
          <a:lstStyle/>
          <a:p>
            <a:r>
              <a:rPr lang="tr-TR" sz="2000" dirty="0"/>
              <a:t>ABD’de yapılan bir araştırmada kaynak ve kesme işlerinde meydana gelen kazaların oranı </a:t>
            </a:r>
          </a:p>
        </p:txBody>
      </p:sp>
      <p:pic>
        <p:nvPicPr>
          <p:cNvPr id="5" name="Resim 4">
            <a:extLst>
              <a:ext uri="{FF2B5EF4-FFF2-40B4-BE49-F238E27FC236}">
                <a16:creationId xmlns:a16="http://schemas.microsoft.com/office/drawing/2014/main" id="{289441CF-5D9B-73CC-6D59-CD8C972AFC98}"/>
              </a:ext>
            </a:extLst>
          </p:cNvPr>
          <p:cNvPicPr>
            <a:picLocks noChangeAspect="1"/>
          </p:cNvPicPr>
          <p:nvPr/>
        </p:nvPicPr>
        <p:blipFill>
          <a:blip r:embed="rId3"/>
          <a:stretch>
            <a:fillRect/>
          </a:stretch>
        </p:blipFill>
        <p:spPr>
          <a:xfrm>
            <a:off x="669036" y="2702144"/>
            <a:ext cx="7919390" cy="3657917"/>
          </a:xfrm>
          <a:prstGeom prst="rect">
            <a:avLst/>
          </a:prstGeom>
        </p:spPr>
      </p:pic>
      <p:pic>
        <p:nvPicPr>
          <p:cNvPr id="6" name="Resim 5">
            <a:extLst>
              <a:ext uri="{FF2B5EF4-FFF2-40B4-BE49-F238E27FC236}">
                <a16:creationId xmlns:a16="http://schemas.microsoft.com/office/drawing/2014/main" id="{3A70D5C9-B7A2-C438-EAB8-798F341251E3}"/>
              </a:ext>
            </a:extLst>
          </p:cNvPr>
          <p:cNvPicPr>
            <a:picLocks noChangeAspect="1"/>
          </p:cNvPicPr>
          <p:nvPr/>
        </p:nvPicPr>
        <p:blipFill>
          <a:blip r:embed="rId4"/>
          <a:stretch>
            <a:fillRect/>
          </a:stretch>
        </p:blipFill>
        <p:spPr>
          <a:xfrm>
            <a:off x="9054469" y="3176149"/>
            <a:ext cx="3090940" cy="3170195"/>
          </a:xfrm>
          <a:prstGeom prst="rect">
            <a:avLst/>
          </a:prstGeom>
        </p:spPr>
      </p:pic>
    </p:spTree>
    <p:extLst>
      <p:ext uri="{BB962C8B-B14F-4D97-AF65-F5344CB8AC3E}">
        <p14:creationId xmlns:p14="http://schemas.microsoft.com/office/powerpoint/2010/main" val="2484141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5B9FC0-BE1B-BFEC-A637-262F8877354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A7E0A8-02A0-2931-1AB6-60A95DBB16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276D166-CB27-5257-68DF-53E55EC9AE08}"/>
              </a:ext>
            </a:extLst>
          </p:cNvPr>
          <p:cNvSpPr>
            <a:spLocks noGrp="1"/>
          </p:cNvSpPr>
          <p:nvPr>
            <p:ph type="title"/>
          </p:nvPr>
        </p:nvSpPr>
        <p:spPr>
          <a:xfrm>
            <a:off x="838200" y="365125"/>
            <a:ext cx="10515600" cy="1325563"/>
          </a:xfrm>
        </p:spPr>
        <p:txBody>
          <a:bodyPr>
            <a:normAutofit/>
          </a:bodyPr>
          <a:lstStyle/>
          <a:p>
            <a:r>
              <a:rPr lang="tr-TR" b="1" dirty="0"/>
              <a:t>Tehlikeler</a:t>
            </a:r>
            <a:r>
              <a:rPr lang="tr-TR" dirty="0"/>
              <a:t> </a:t>
            </a:r>
            <a:endParaRPr lang="tr-TR" b="1" dirty="0"/>
          </a:p>
        </p:txBody>
      </p:sp>
      <p:sp>
        <p:nvSpPr>
          <p:cNvPr id="10" name="sketch line">
            <a:extLst>
              <a:ext uri="{FF2B5EF4-FFF2-40B4-BE49-F238E27FC236}">
                <a16:creationId xmlns:a16="http://schemas.microsoft.com/office/drawing/2014/main" id="{07430A38-7D9B-5EC1-CB28-13F344B4516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06C5245D-6C6F-87A4-B0B0-3F23231B59C9}"/>
              </a:ext>
            </a:extLst>
          </p:cNvPr>
          <p:cNvSpPr>
            <a:spLocks noGrp="1"/>
          </p:cNvSpPr>
          <p:nvPr>
            <p:ph idx="1"/>
          </p:nvPr>
        </p:nvSpPr>
        <p:spPr>
          <a:xfrm>
            <a:off x="479685" y="1929383"/>
            <a:ext cx="11377535" cy="4726249"/>
          </a:xfrm>
        </p:spPr>
        <p:txBody>
          <a:bodyPr>
            <a:normAutofit/>
          </a:bodyPr>
          <a:lstStyle/>
          <a:p>
            <a:pPr marL="0" indent="0">
              <a:buNone/>
            </a:pPr>
            <a:r>
              <a:rPr lang="tr-TR" sz="2200" dirty="0"/>
              <a:t>   </a:t>
            </a:r>
          </a:p>
          <a:p>
            <a:pPr marL="0" indent="0">
              <a:buNone/>
            </a:pPr>
            <a:endParaRPr lang="tr-TR" sz="2200" dirty="0"/>
          </a:p>
        </p:txBody>
      </p:sp>
      <p:sp>
        <p:nvSpPr>
          <p:cNvPr id="4" name="Metin kutusu 3">
            <a:extLst>
              <a:ext uri="{FF2B5EF4-FFF2-40B4-BE49-F238E27FC236}">
                <a16:creationId xmlns:a16="http://schemas.microsoft.com/office/drawing/2014/main" id="{3C50BAEE-B5FF-7AAD-BE56-F37F5CB57308}"/>
              </a:ext>
            </a:extLst>
          </p:cNvPr>
          <p:cNvSpPr txBox="1"/>
          <p:nvPr/>
        </p:nvSpPr>
        <p:spPr>
          <a:xfrm>
            <a:off x="669037" y="2055813"/>
            <a:ext cx="11043278" cy="707886"/>
          </a:xfrm>
          <a:prstGeom prst="rect">
            <a:avLst/>
          </a:prstGeom>
          <a:noFill/>
        </p:spPr>
        <p:txBody>
          <a:bodyPr wrap="square" rtlCol="0">
            <a:spAutoFit/>
          </a:bodyPr>
          <a:lstStyle/>
          <a:p>
            <a:r>
              <a:rPr lang="tr-TR" sz="2000" dirty="0"/>
              <a:t>   Kaynak sırasında meydana gelen enerjinin %85’i ısı olurken, %15’i </a:t>
            </a:r>
            <a:r>
              <a:rPr lang="tr-TR" sz="2000" b="1" dirty="0">
                <a:solidFill>
                  <a:srgbClr val="C00000"/>
                </a:solidFill>
              </a:rPr>
              <a:t>ışık</a:t>
            </a:r>
            <a:r>
              <a:rPr lang="tr-TR" sz="2000" dirty="0"/>
              <a:t> olarak ortaya yayılmaktadır. Yayılan ışık enerjisinin;</a:t>
            </a:r>
          </a:p>
        </p:txBody>
      </p:sp>
      <p:pic>
        <p:nvPicPr>
          <p:cNvPr id="7" name="Resim 6">
            <a:extLst>
              <a:ext uri="{FF2B5EF4-FFF2-40B4-BE49-F238E27FC236}">
                <a16:creationId xmlns:a16="http://schemas.microsoft.com/office/drawing/2014/main" id="{4EE6E4AE-2FF1-7786-B95A-739F2298BDF0}"/>
              </a:ext>
            </a:extLst>
          </p:cNvPr>
          <p:cNvPicPr>
            <a:picLocks noChangeAspect="1"/>
          </p:cNvPicPr>
          <p:nvPr/>
        </p:nvPicPr>
        <p:blipFill>
          <a:blip r:embed="rId3"/>
          <a:stretch>
            <a:fillRect/>
          </a:stretch>
        </p:blipFill>
        <p:spPr>
          <a:xfrm>
            <a:off x="838200" y="3328701"/>
            <a:ext cx="10418967" cy="2420322"/>
          </a:xfrm>
          <a:prstGeom prst="rect">
            <a:avLst/>
          </a:prstGeom>
        </p:spPr>
      </p:pic>
    </p:spTree>
    <p:extLst>
      <p:ext uri="{BB962C8B-B14F-4D97-AF65-F5344CB8AC3E}">
        <p14:creationId xmlns:p14="http://schemas.microsoft.com/office/powerpoint/2010/main" val="3812891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373C36-5065-0AE5-5D0A-F729D0626FB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465B802-4467-87A1-CA7F-E47A96566DB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3892119-75D9-3B22-3460-767DAC79C323}"/>
              </a:ext>
            </a:extLst>
          </p:cNvPr>
          <p:cNvSpPr>
            <a:spLocks noGrp="1"/>
          </p:cNvSpPr>
          <p:nvPr>
            <p:ph type="title"/>
          </p:nvPr>
        </p:nvSpPr>
        <p:spPr>
          <a:xfrm>
            <a:off x="838200" y="365125"/>
            <a:ext cx="10515600" cy="1325563"/>
          </a:xfrm>
        </p:spPr>
        <p:txBody>
          <a:bodyPr>
            <a:normAutofit/>
          </a:bodyPr>
          <a:lstStyle/>
          <a:p>
            <a:r>
              <a:rPr lang="tr-TR" b="1" dirty="0"/>
              <a:t>Tehlikeler</a:t>
            </a:r>
            <a:r>
              <a:rPr lang="tr-TR" dirty="0"/>
              <a:t> </a:t>
            </a:r>
            <a:endParaRPr lang="tr-TR" b="1" dirty="0"/>
          </a:p>
        </p:txBody>
      </p:sp>
      <p:sp>
        <p:nvSpPr>
          <p:cNvPr id="10" name="sketch line">
            <a:extLst>
              <a:ext uri="{FF2B5EF4-FFF2-40B4-BE49-F238E27FC236}">
                <a16:creationId xmlns:a16="http://schemas.microsoft.com/office/drawing/2014/main" id="{9D732C09-A8AC-FDD6-382D-2FCCEAA11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88B3F831-C18E-1497-5473-AA99799D99D0}"/>
              </a:ext>
            </a:extLst>
          </p:cNvPr>
          <p:cNvSpPr>
            <a:spLocks noGrp="1"/>
          </p:cNvSpPr>
          <p:nvPr>
            <p:ph idx="1"/>
          </p:nvPr>
        </p:nvSpPr>
        <p:spPr>
          <a:xfrm>
            <a:off x="479685" y="1929383"/>
            <a:ext cx="11377535" cy="4726249"/>
          </a:xfrm>
        </p:spPr>
        <p:txBody>
          <a:bodyPr>
            <a:normAutofit/>
          </a:bodyPr>
          <a:lstStyle/>
          <a:p>
            <a:pPr marL="0" indent="0">
              <a:buNone/>
            </a:pPr>
            <a:r>
              <a:rPr lang="tr-TR" sz="2200" dirty="0"/>
              <a:t>   </a:t>
            </a:r>
          </a:p>
          <a:p>
            <a:pPr marL="0" indent="0">
              <a:buNone/>
            </a:pPr>
            <a:endParaRPr lang="tr-TR" sz="2200" dirty="0"/>
          </a:p>
        </p:txBody>
      </p:sp>
      <p:sp>
        <p:nvSpPr>
          <p:cNvPr id="4" name="Metin kutusu 3">
            <a:extLst>
              <a:ext uri="{FF2B5EF4-FFF2-40B4-BE49-F238E27FC236}">
                <a16:creationId xmlns:a16="http://schemas.microsoft.com/office/drawing/2014/main" id="{44782319-FA35-389B-9C39-E377906CEF0B}"/>
              </a:ext>
            </a:extLst>
          </p:cNvPr>
          <p:cNvSpPr txBox="1"/>
          <p:nvPr/>
        </p:nvSpPr>
        <p:spPr>
          <a:xfrm>
            <a:off x="669037" y="2055813"/>
            <a:ext cx="11043278" cy="3785652"/>
          </a:xfrm>
          <a:prstGeom prst="rect">
            <a:avLst/>
          </a:prstGeom>
          <a:noFill/>
        </p:spPr>
        <p:txBody>
          <a:bodyPr wrap="square" rtlCol="0">
            <a:spAutoFit/>
          </a:bodyPr>
          <a:lstStyle/>
          <a:p>
            <a:r>
              <a:rPr lang="tr-TR" sz="2000" dirty="0"/>
              <a:t>   </a:t>
            </a:r>
            <a:r>
              <a:rPr lang="tr-TR" sz="2000" b="1" dirty="0">
                <a:solidFill>
                  <a:srgbClr val="C00000"/>
                </a:solidFill>
              </a:rPr>
              <a:t>Elektrik</a:t>
            </a:r>
            <a:r>
              <a:rPr lang="tr-TR" sz="2000" dirty="0"/>
              <a:t> kullanılan kaynak işlerinde;</a:t>
            </a:r>
          </a:p>
          <a:p>
            <a:endParaRPr lang="tr-TR" sz="2000" dirty="0"/>
          </a:p>
          <a:p>
            <a:pPr marL="342900" indent="-342900">
              <a:lnSpc>
                <a:spcPct val="150000"/>
              </a:lnSpc>
              <a:buFont typeface="Wingdings" panose="05000000000000000000" pitchFamily="2" charset="2"/>
              <a:buChar char="Ø"/>
            </a:pPr>
            <a:r>
              <a:rPr lang="tr-TR" sz="2000" dirty="0"/>
              <a:t>Elektrik çarpmaları daha çok kaynak makinesi boşta iken olmaktadır. Kaynak yaparken voltaj 20-     30 V iken kaynak makinesi boşta çalışırken bu voltaj 65 ila 100 V arasına çıkması ,</a:t>
            </a:r>
          </a:p>
          <a:p>
            <a:pPr marL="342900" indent="-342900">
              <a:lnSpc>
                <a:spcPct val="150000"/>
              </a:lnSpc>
              <a:buFont typeface="Wingdings" panose="05000000000000000000" pitchFamily="2" charset="2"/>
              <a:buChar char="Ø"/>
            </a:pPr>
            <a:r>
              <a:rPr lang="tr-TR" sz="2000" dirty="0"/>
              <a:t>Şebeke geriliminin yanlışlıkla veya bilgi eksikliği nedeniyle iş parçasına bağlanması,</a:t>
            </a:r>
          </a:p>
          <a:p>
            <a:pPr marL="342900" indent="-342900">
              <a:lnSpc>
                <a:spcPct val="150000"/>
              </a:lnSpc>
              <a:buFont typeface="Wingdings" panose="05000000000000000000" pitchFamily="2" charset="2"/>
              <a:buChar char="Ø"/>
            </a:pPr>
            <a:r>
              <a:rPr lang="tr-TR" sz="2000" dirty="0"/>
              <a:t>Topraklama hattının olmaması, bağlantısının yapılmaması veya uygun topraklama yapılmaması,</a:t>
            </a:r>
          </a:p>
          <a:p>
            <a:pPr marL="342900" indent="-342900">
              <a:lnSpc>
                <a:spcPct val="150000"/>
              </a:lnSpc>
              <a:buFont typeface="Wingdings" panose="05000000000000000000" pitchFamily="2" charset="2"/>
              <a:buChar char="Ø"/>
            </a:pPr>
            <a:r>
              <a:rPr lang="tr-TR" sz="2000" dirty="0"/>
              <a:t>Kaynak ekipmanlarındaki (kablo, kaynak pensleri vb.), izolasyon bozuklukları</a:t>
            </a:r>
          </a:p>
          <a:p>
            <a:pPr marL="342900" indent="-342900">
              <a:lnSpc>
                <a:spcPct val="150000"/>
              </a:lnSpc>
              <a:buFont typeface="Wingdings" panose="05000000000000000000" pitchFamily="2" charset="2"/>
              <a:buChar char="Ø"/>
            </a:pPr>
            <a:r>
              <a:rPr lang="tr-TR" sz="2000" dirty="0"/>
              <a:t>Çalışılan ortamın özellikleri (Islak, metalik, rutubetli ortamlar.) </a:t>
            </a:r>
          </a:p>
          <a:p>
            <a:endParaRPr lang="tr-TR" sz="2000" dirty="0"/>
          </a:p>
        </p:txBody>
      </p:sp>
    </p:spTree>
    <p:extLst>
      <p:ext uri="{BB962C8B-B14F-4D97-AF65-F5344CB8AC3E}">
        <p14:creationId xmlns:p14="http://schemas.microsoft.com/office/powerpoint/2010/main" val="4218856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9A7F3BF-8763-4074-AD77-92790AF314D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1188061" y="893218"/>
            <a:ext cx="9356106" cy="1200329"/>
          </a:xfrm>
        </p:spPr>
        <p:txBody>
          <a:bodyPr anchor="t">
            <a:normAutofit/>
          </a:bodyPr>
          <a:lstStyle/>
          <a:p>
            <a:r>
              <a:rPr lang="tr-TR" b="1" dirty="0"/>
              <a:t>Tehlikeler</a:t>
            </a:r>
            <a:r>
              <a:rPr lang="tr-TR" dirty="0"/>
              <a:t> </a:t>
            </a:r>
          </a:p>
        </p:txBody>
      </p:sp>
      <p:grpSp>
        <p:nvGrpSpPr>
          <p:cNvPr id="11" name="Group 10">
            <a:extLst>
              <a:ext uri="{FF2B5EF4-FFF2-40B4-BE49-F238E27FC236}">
                <a16:creationId xmlns:a16="http://schemas.microsoft.com/office/drawing/2014/main" id="{7A9648D6-B41B-42D0-A817-AE2607B0B5B8}"/>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4200" y="554152"/>
            <a:ext cx="574177" cy="1075866"/>
            <a:chOff x="10994200" y="554152"/>
            <a:chExt cx="574177" cy="1075866"/>
          </a:xfrm>
        </p:grpSpPr>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3"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İçerik Yer Tutucusu 3"/>
          <p:cNvGraphicFramePr>
            <a:graphicFrameLocks noGrp="1"/>
          </p:cNvGraphicFramePr>
          <p:nvPr>
            <p:ph idx="1"/>
            <p:extLst>
              <p:ext uri="{D42A27DB-BD31-4B8C-83A1-F6EECF244321}">
                <p14:modId xmlns:p14="http://schemas.microsoft.com/office/powerpoint/2010/main" val="473964228"/>
              </p:ext>
            </p:extLst>
          </p:nvPr>
        </p:nvGraphicFramePr>
        <p:xfrm>
          <a:off x="792352" y="2144149"/>
          <a:ext cx="11230919" cy="4881620"/>
        </p:xfrm>
        <a:graphic>
          <a:graphicData uri="http://schemas.openxmlformats.org/drawingml/2006/table">
            <a:tbl>
              <a:tblPr firstRow="1" bandRow="1">
                <a:tableStyleId>{5940675A-B579-460E-94D1-54222C63F5DA}</a:tableStyleId>
              </a:tblPr>
              <a:tblGrid>
                <a:gridCol w="1941510">
                  <a:extLst>
                    <a:ext uri="{9D8B030D-6E8A-4147-A177-3AD203B41FA5}">
                      <a16:colId xmlns:a16="http://schemas.microsoft.com/office/drawing/2014/main" val="1404752239"/>
                    </a:ext>
                  </a:extLst>
                </a:gridCol>
                <a:gridCol w="1554150">
                  <a:extLst>
                    <a:ext uri="{9D8B030D-6E8A-4147-A177-3AD203B41FA5}">
                      <a16:colId xmlns:a16="http://schemas.microsoft.com/office/drawing/2014/main" val="950440001"/>
                    </a:ext>
                  </a:extLst>
                </a:gridCol>
                <a:gridCol w="1839686">
                  <a:extLst>
                    <a:ext uri="{9D8B030D-6E8A-4147-A177-3AD203B41FA5}">
                      <a16:colId xmlns:a16="http://schemas.microsoft.com/office/drawing/2014/main" val="2341513386"/>
                    </a:ext>
                  </a:extLst>
                </a:gridCol>
                <a:gridCol w="1346048">
                  <a:extLst>
                    <a:ext uri="{9D8B030D-6E8A-4147-A177-3AD203B41FA5}">
                      <a16:colId xmlns:a16="http://schemas.microsoft.com/office/drawing/2014/main" val="1496507601"/>
                    </a:ext>
                  </a:extLst>
                </a:gridCol>
                <a:gridCol w="1447679">
                  <a:extLst>
                    <a:ext uri="{9D8B030D-6E8A-4147-A177-3AD203B41FA5}">
                      <a16:colId xmlns:a16="http://schemas.microsoft.com/office/drawing/2014/main" val="1236723661"/>
                    </a:ext>
                  </a:extLst>
                </a:gridCol>
                <a:gridCol w="1220218">
                  <a:extLst>
                    <a:ext uri="{9D8B030D-6E8A-4147-A177-3AD203B41FA5}">
                      <a16:colId xmlns:a16="http://schemas.microsoft.com/office/drawing/2014/main" val="2890492653"/>
                    </a:ext>
                  </a:extLst>
                </a:gridCol>
                <a:gridCol w="1881628">
                  <a:extLst>
                    <a:ext uri="{9D8B030D-6E8A-4147-A177-3AD203B41FA5}">
                      <a16:colId xmlns:a16="http://schemas.microsoft.com/office/drawing/2014/main" val="1967487176"/>
                    </a:ext>
                  </a:extLst>
                </a:gridCol>
              </a:tblGrid>
              <a:tr h="718584">
                <a:tc gridSpan="3">
                  <a:txBody>
                    <a:bodyPr/>
                    <a:lstStyle/>
                    <a:p>
                      <a:pPr algn="ctr"/>
                      <a:r>
                        <a:rPr lang="tr-TR" sz="1600" b="1" dirty="0"/>
                        <a:t>Yanıcı gazlar</a:t>
                      </a:r>
                    </a:p>
                  </a:txBody>
                  <a:tcPr marL="80317" marR="80317" marT="40159" marB="40159">
                    <a:solidFill>
                      <a:schemeClr val="bg2">
                        <a:lumMod val="90000"/>
                      </a:schemeClr>
                    </a:solidFill>
                  </a:tcPr>
                </a:tc>
                <a:tc hMerge="1">
                  <a:txBody>
                    <a:bodyPr/>
                    <a:lstStyle/>
                    <a:p>
                      <a:endParaRPr lang="tr-TR"/>
                    </a:p>
                  </a:txBody>
                  <a:tcPr/>
                </a:tc>
                <a:tc hMerge="1">
                  <a:txBody>
                    <a:bodyPr/>
                    <a:lstStyle/>
                    <a:p>
                      <a:endParaRPr lang="tr-TR"/>
                    </a:p>
                  </a:txBody>
                  <a:tcPr/>
                </a:tc>
                <a:tc>
                  <a:txBody>
                    <a:bodyPr/>
                    <a:lstStyle/>
                    <a:p>
                      <a:pPr algn="ctr"/>
                      <a:r>
                        <a:rPr lang="tr-TR" sz="1600" b="1"/>
                        <a:t>Yakıcı gazlar</a:t>
                      </a:r>
                    </a:p>
                  </a:txBody>
                  <a:tcPr marL="80317" marR="80317" marT="40159" marB="40159">
                    <a:solidFill>
                      <a:schemeClr val="bg2">
                        <a:lumMod val="90000"/>
                      </a:schemeClr>
                    </a:solidFill>
                  </a:tcPr>
                </a:tc>
                <a:tc gridSpan="3">
                  <a:txBody>
                    <a:bodyPr/>
                    <a:lstStyle/>
                    <a:p>
                      <a:pPr algn="ctr"/>
                      <a:r>
                        <a:rPr lang="tr-TR" sz="1600" b="1"/>
                        <a:t>Koruyucu gazlar</a:t>
                      </a:r>
                    </a:p>
                  </a:txBody>
                  <a:tcPr marL="80317" marR="80317" marT="40159" marB="40159">
                    <a:solidFill>
                      <a:schemeClr val="bg2">
                        <a:lumMod val="90000"/>
                      </a:schemeClr>
                    </a:solidFill>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2196762233"/>
                  </a:ext>
                </a:extLst>
              </a:tr>
              <a:tr h="427267">
                <a:tc>
                  <a:txBody>
                    <a:bodyPr/>
                    <a:lstStyle/>
                    <a:p>
                      <a:pPr algn="ctr"/>
                      <a:r>
                        <a:rPr lang="tr-TR" sz="1600" b="1" dirty="0">
                          <a:solidFill>
                            <a:schemeClr val="tx1"/>
                          </a:solidFill>
                        </a:rPr>
                        <a:t>Asetilen</a:t>
                      </a:r>
                    </a:p>
                  </a:txBody>
                  <a:tcPr marL="80317" marR="80317" marT="40159" marB="40159">
                    <a:solidFill>
                      <a:schemeClr val="bg2">
                        <a:lumMod val="90000"/>
                      </a:schemeClr>
                    </a:solidFill>
                  </a:tcPr>
                </a:tc>
                <a:tc>
                  <a:txBody>
                    <a:bodyPr/>
                    <a:lstStyle/>
                    <a:p>
                      <a:pPr algn="ctr"/>
                      <a:r>
                        <a:rPr lang="tr-TR" sz="1600" b="1"/>
                        <a:t>Hidrojen</a:t>
                      </a:r>
                    </a:p>
                  </a:txBody>
                  <a:tcPr marL="80317" marR="80317" marT="40159" marB="40159">
                    <a:solidFill>
                      <a:schemeClr val="bg2">
                        <a:lumMod val="90000"/>
                      </a:schemeClr>
                    </a:solidFill>
                  </a:tcPr>
                </a:tc>
                <a:tc>
                  <a:txBody>
                    <a:bodyPr/>
                    <a:lstStyle/>
                    <a:p>
                      <a:pPr algn="ctr"/>
                      <a:r>
                        <a:rPr lang="tr-TR" sz="1600" b="1" dirty="0"/>
                        <a:t>LPG</a:t>
                      </a:r>
                    </a:p>
                  </a:txBody>
                  <a:tcPr marL="80317" marR="80317" marT="40159" marB="40159">
                    <a:solidFill>
                      <a:schemeClr val="bg2">
                        <a:lumMod val="90000"/>
                      </a:schemeClr>
                    </a:solidFill>
                  </a:tcPr>
                </a:tc>
                <a:tc>
                  <a:txBody>
                    <a:bodyPr/>
                    <a:lstStyle/>
                    <a:p>
                      <a:pPr algn="ctr"/>
                      <a:r>
                        <a:rPr lang="tr-TR" sz="1600" b="1"/>
                        <a:t>Oksijen</a:t>
                      </a:r>
                    </a:p>
                  </a:txBody>
                  <a:tcPr marL="80317" marR="80317" marT="40159" marB="40159">
                    <a:solidFill>
                      <a:schemeClr val="bg2">
                        <a:lumMod val="90000"/>
                      </a:schemeClr>
                    </a:solidFill>
                  </a:tcPr>
                </a:tc>
                <a:tc>
                  <a:txBody>
                    <a:bodyPr/>
                    <a:lstStyle/>
                    <a:p>
                      <a:pPr algn="ctr"/>
                      <a:r>
                        <a:rPr lang="tr-TR" sz="1600" b="1"/>
                        <a:t>Argon</a:t>
                      </a:r>
                    </a:p>
                  </a:txBody>
                  <a:tcPr marL="80317" marR="80317" marT="40159" marB="40159">
                    <a:solidFill>
                      <a:schemeClr val="bg2">
                        <a:lumMod val="90000"/>
                      </a:schemeClr>
                    </a:solidFill>
                  </a:tcPr>
                </a:tc>
                <a:tc>
                  <a:txBody>
                    <a:bodyPr/>
                    <a:lstStyle/>
                    <a:p>
                      <a:pPr algn="ctr"/>
                      <a:r>
                        <a:rPr lang="tr-TR" sz="1600" b="1"/>
                        <a:t>Helyum</a:t>
                      </a:r>
                    </a:p>
                  </a:txBody>
                  <a:tcPr marL="80317" marR="80317" marT="40159" marB="40159">
                    <a:solidFill>
                      <a:schemeClr val="bg2">
                        <a:lumMod val="90000"/>
                      </a:schemeClr>
                    </a:solidFill>
                  </a:tcPr>
                </a:tc>
                <a:tc>
                  <a:txBody>
                    <a:bodyPr/>
                    <a:lstStyle/>
                    <a:p>
                      <a:pPr algn="ctr"/>
                      <a:r>
                        <a:rPr lang="tr-TR" sz="1600" b="1"/>
                        <a:t>Karbondioksit</a:t>
                      </a:r>
                    </a:p>
                  </a:txBody>
                  <a:tcPr marL="80317" marR="80317" marT="40159" marB="40159">
                    <a:solidFill>
                      <a:schemeClr val="bg2">
                        <a:lumMod val="90000"/>
                      </a:schemeClr>
                    </a:solidFill>
                  </a:tcPr>
                </a:tc>
                <a:extLst>
                  <a:ext uri="{0D108BD9-81ED-4DB2-BD59-A6C34878D82A}">
                    <a16:rowId xmlns:a16="http://schemas.microsoft.com/office/drawing/2014/main" val="999899501"/>
                  </a:ext>
                </a:extLst>
              </a:tr>
              <a:tr h="2466493">
                <a:tc>
                  <a:txBody>
                    <a:bodyPr/>
                    <a:lstStyle/>
                    <a:p>
                      <a:r>
                        <a:rPr lang="tr-TR" sz="1600" dirty="0"/>
                        <a:t>Renksiz, havadan hafif,</a:t>
                      </a:r>
                    </a:p>
                    <a:p>
                      <a:r>
                        <a:rPr lang="tr-TR" sz="1600" dirty="0"/>
                        <a:t>zehirli olmayan bir gazdır.</a:t>
                      </a:r>
                    </a:p>
                    <a:p>
                      <a:r>
                        <a:rPr lang="tr-TR" sz="1600" dirty="0"/>
                        <a:t>Hava ile parlama sınırı % 2,2 – 85’dır.</a:t>
                      </a:r>
                    </a:p>
                  </a:txBody>
                  <a:tcPr marL="80317" marR="80317" marT="40159" marB="40159"/>
                </a:tc>
                <a:tc>
                  <a:txBody>
                    <a:bodyPr/>
                    <a:lstStyle/>
                    <a:p>
                      <a:r>
                        <a:rPr lang="tr-TR" sz="1600"/>
                        <a:t>Hidrojen gazı zehirli değildir, fakat atmosferdeki </a:t>
                      </a:r>
                    </a:p>
                    <a:p>
                      <a:r>
                        <a:rPr lang="tr-TR" sz="1600"/>
                        <a:t>oksijen seviyesini düşürerek </a:t>
                      </a:r>
                      <a:r>
                        <a:rPr lang="tr-TR" sz="1600" b="1"/>
                        <a:t>boğucu</a:t>
                      </a:r>
                      <a:r>
                        <a:rPr lang="tr-TR" sz="1600"/>
                        <a:t> gaz </a:t>
                      </a:r>
                    </a:p>
                    <a:p>
                      <a:r>
                        <a:rPr lang="tr-TR" sz="1600"/>
                        <a:t>vazifesi görür.</a:t>
                      </a:r>
                    </a:p>
                  </a:txBody>
                  <a:tcPr marL="80317" marR="80317" marT="40159" marB="40159"/>
                </a:tc>
                <a:tc>
                  <a:txBody>
                    <a:bodyPr/>
                    <a:lstStyle/>
                    <a:p>
                      <a:r>
                        <a:rPr lang="tr-TR" sz="1600" dirty="0"/>
                        <a:t>Havadan ağır bir gazdır. Zehirli </a:t>
                      </a:r>
                    </a:p>
                    <a:p>
                      <a:r>
                        <a:rPr lang="tr-TR" sz="1600" dirty="0"/>
                        <a:t>olmasa da </a:t>
                      </a:r>
                      <a:r>
                        <a:rPr lang="tr-TR" sz="1600" b="1" dirty="0"/>
                        <a:t>boğucu </a:t>
                      </a:r>
                      <a:r>
                        <a:rPr lang="tr-TR" sz="1600" dirty="0"/>
                        <a:t>gazdır. Hava ile %2-9 oranında </a:t>
                      </a:r>
                    </a:p>
                    <a:p>
                      <a:r>
                        <a:rPr lang="tr-TR" sz="1600" dirty="0"/>
                        <a:t>karıştırıldığında patlayıcı özellik kazanır.</a:t>
                      </a:r>
                    </a:p>
                  </a:txBody>
                  <a:tcPr marL="80317" marR="80317" marT="40159" marB="40159"/>
                </a:tc>
                <a:tc>
                  <a:txBody>
                    <a:bodyPr/>
                    <a:lstStyle/>
                    <a:p>
                      <a:r>
                        <a:rPr lang="tr-TR" sz="1600" dirty="0"/>
                        <a:t>Havadan biraz ağır, renksiz, </a:t>
                      </a:r>
                    </a:p>
                    <a:p>
                      <a:r>
                        <a:rPr lang="tr-TR" sz="1600" dirty="0"/>
                        <a:t>kokusuz ve tatsız bir gazdır. </a:t>
                      </a:r>
                    </a:p>
                    <a:p>
                      <a:r>
                        <a:rPr lang="tr-TR" sz="1600" dirty="0"/>
                        <a:t> </a:t>
                      </a:r>
                    </a:p>
                  </a:txBody>
                  <a:tcPr marL="80317" marR="80317" marT="40159" marB="40159"/>
                </a:tc>
                <a:tc>
                  <a:txBody>
                    <a:bodyPr/>
                    <a:lstStyle/>
                    <a:p>
                      <a:r>
                        <a:rPr lang="tr-TR" sz="1600" dirty="0"/>
                        <a:t>Yüksek oranda </a:t>
                      </a:r>
                      <a:r>
                        <a:rPr lang="tr-TR" sz="1600" b="1" dirty="0"/>
                        <a:t>boğucudur</a:t>
                      </a:r>
                      <a:r>
                        <a:rPr lang="tr-TR" sz="1600" dirty="0"/>
                        <a:t>. Havadan 1,38 kat </a:t>
                      </a:r>
                    </a:p>
                    <a:p>
                      <a:r>
                        <a:rPr lang="tr-TR" sz="1600" dirty="0"/>
                        <a:t>ağırdır.</a:t>
                      </a:r>
                    </a:p>
                  </a:txBody>
                  <a:tcPr marL="80317" marR="80317" marT="40159" marB="40159"/>
                </a:tc>
                <a:tc>
                  <a:txBody>
                    <a:bodyPr/>
                    <a:lstStyle/>
                    <a:p>
                      <a:r>
                        <a:rPr lang="tr-TR" sz="1600" b="1" dirty="0"/>
                        <a:t>Boğucu</a:t>
                      </a:r>
                      <a:r>
                        <a:rPr lang="tr-TR" sz="1600" dirty="0"/>
                        <a:t> bir gazdır , havadan yaklaşık % 13,8 </a:t>
                      </a:r>
                    </a:p>
                    <a:p>
                      <a:r>
                        <a:rPr lang="tr-TR" sz="1600" dirty="0"/>
                        <a:t>daha hafiftir. </a:t>
                      </a:r>
                    </a:p>
                  </a:txBody>
                  <a:tcPr marL="80317" marR="80317" marT="40159" marB="40159"/>
                </a:tc>
                <a:tc>
                  <a:txBody>
                    <a:bodyPr/>
                    <a:lstStyle/>
                    <a:p>
                      <a:r>
                        <a:rPr lang="tr-TR" sz="1600" dirty="0"/>
                        <a:t>Karbondioksit gazı </a:t>
                      </a:r>
                      <a:r>
                        <a:rPr lang="tr-TR" sz="1600" b="1" dirty="0"/>
                        <a:t>boğucu</a:t>
                      </a:r>
                      <a:r>
                        <a:rPr lang="tr-TR" sz="1600" dirty="0"/>
                        <a:t> buhara </a:t>
                      </a:r>
                    </a:p>
                    <a:p>
                      <a:r>
                        <a:rPr lang="tr-TR" sz="1600" dirty="0"/>
                        <a:t>sahiptir. Havadan 1,53 kat ağırdır, . </a:t>
                      </a:r>
                    </a:p>
                  </a:txBody>
                  <a:tcPr marL="80317" marR="80317" marT="40159" marB="40159"/>
                </a:tc>
                <a:extLst>
                  <a:ext uri="{0D108BD9-81ED-4DB2-BD59-A6C34878D82A}">
                    <a16:rowId xmlns:a16="http://schemas.microsoft.com/office/drawing/2014/main" val="1781965662"/>
                  </a:ext>
                </a:extLst>
              </a:tr>
              <a:tr h="485531">
                <a:tc>
                  <a:txBody>
                    <a:bodyPr/>
                    <a:lstStyle/>
                    <a:p>
                      <a:endParaRPr lang="tr-TR" sz="1600">
                        <a:solidFill>
                          <a:srgbClr val="FFC000"/>
                        </a:solidFill>
                      </a:endParaRPr>
                    </a:p>
                  </a:txBody>
                  <a:tcPr marL="80317" marR="80317" marT="40159" marB="40159">
                    <a:solidFill>
                      <a:srgbClr val="FFC000"/>
                    </a:solidFill>
                  </a:tcPr>
                </a:tc>
                <a:tc>
                  <a:txBody>
                    <a:bodyPr/>
                    <a:lstStyle/>
                    <a:p>
                      <a:endParaRPr lang="tr-TR" sz="1600"/>
                    </a:p>
                  </a:txBody>
                  <a:tcPr marL="80317" marR="80317" marT="40159" marB="40159">
                    <a:solidFill>
                      <a:srgbClr val="FF0000"/>
                    </a:solidFill>
                  </a:tcPr>
                </a:tc>
                <a:tc>
                  <a:txBody>
                    <a:bodyPr/>
                    <a:lstStyle/>
                    <a:p>
                      <a:endParaRPr lang="tr-TR" sz="1600"/>
                    </a:p>
                  </a:txBody>
                  <a:tcPr marL="80317" marR="80317" marT="40159" marB="40159">
                    <a:solidFill>
                      <a:srgbClr val="FF0000"/>
                    </a:solidFill>
                  </a:tcPr>
                </a:tc>
                <a:tc>
                  <a:txBody>
                    <a:bodyPr/>
                    <a:lstStyle/>
                    <a:p>
                      <a:endParaRPr lang="tr-TR" sz="1600"/>
                    </a:p>
                  </a:txBody>
                  <a:tcPr marL="80317" marR="80317" marT="40159" marB="40159">
                    <a:solidFill>
                      <a:schemeClr val="tx2">
                        <a:lumMod val="50000"/>
                        <a:lumOff val="50000"/>
                      </a:schemeClr>
                    </a:solidFill>
                  </a:tcPr>
                </a:tc>
                <a:tc>
                  <a:txBody>
                    <a:bodyPr/>
                    <a:lstStyle/>
                    <a:p>
                      <a:endParaRPr lang="tr-TR" sz="1600"/>
                    </a:p>
                  </a:txBody>
                  <a:tcPr marL="80317" marR="80317" marT="40159" marB="40159">
                    <a:solidFill>
                      <a:schemeClr val="accent1">
                        <a:lumMod val="20000"/>
                        <a:lumOff val="80000"/>
                      </a:schemeClr>
                    </a:solidFill>
                  </a:tcPr>
                </a:tc>
                <a:tc>
                  <a:txBody>
                    <a:bodyPr/>
                    <a:lstStyle/>
                    <a:p>
                      <a:endParaRPr lang="tr-TR" sz="1600"/>
                    </a:p>
                  </a:txBody>
                  <a:tcPr marL="80317" marR="80317" marT="40159" marB="40159">
                    <a:solidFill>
                      <a:schemeClr val="accent2">
                        <a:lumMod val="50000"/>
                      </a:schemeClr>
                    </a:solidFill>
                  </a:tcPr>
                </a:tc>
                <a:tc>
                  <a:txBody>
                    <a:bodyPr/>
                    <a:lstStyle/>
                    <a:p>
                      <a:endParaRPr lang="tr-TR" sz="1600" dirty="0"/>
                    </a:p>
                  </a:txBody>
                  <a:tcPr marL="80317" marR="80317" marT="40159" marB="40159">
                    <a:solidFill>
                      <a:schemeClr val="bg2">
                        <a:lumMod val="50000"/>
                      </a:schemeClr>
                    </a:solidFill>
                  </a:tcPr>
                </a:tc>
                <a:extLst>
                  <a:ext uri="{0D108BD9-81ED-4DB2-BD59-A6C34878D82A}">
                    <a16:rowId xmlns:a16="http://schemas.microsoft.com/office/drawing/2014/main" val="4241752264"/>
                  </a:ext>
                </a:extLst>
              </a:tr>
            </a:tbl>
          </a:graphicData>
        </a:graphic>
      </p:graphicFrame>
    </p:spTree>
    <p:extLst>
      <p:ext uri="{BB962C8B-B14F-4D97-AF65-F5344CB8AC3E}">
        <p14:creationId xmlns:p14="http://schemas.microsoft.com/office/powerpoint/2010/main" val="2206430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686834" y="1153572"/>
            <a:ext cx="3200400" cy="4461163"/>
          </a:xfrm>
        </p:spPr>
        <p:txBody>
          <a:bodyPr>
            <a:normAutofit/>
          </a:bodyPr>
          <a:lstStyle/>
          <a:p>
            <a:r>
              <a:rPr lang="tr-TR" b="1" dirty="0">
                <a:solidFill>
                  <a:srgbClr val="FFFFFF"/>
                </a:solidFill>
              </a:rPr>
              <a:t>Tehlikeler</a:t>
            </a:r>
            <a:r>
              <a:rPr lang="tr-TR" dirty="0">
                <a:solidFill>
                  <a:srgbClr val="FFFFFF"/>
                </a:solidFill>
              </a:rPr>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p:cNvSpPr>
            <a:spLocks noGrp="1"/>
          </p:cNvSpPr>
          <p:nvPr>
            <p:ph idx="1"/>
          </p:nvPr>
        </p:nvSpPr>
        <p:spPr>
          <a:xfrm>
            <a:off x="4447308" y="890603"/>
            <a:ext cx="7057858" cy="6266656"/>
          </a:xfrm>
        </p:spPr>
        <p:txBody>
          <a:bodyPr anchor="ctr">
            <a:normAutofit lnSpcReduction="10000"/>
          </a:bodyPr>
          <a:lstStyle/>
          <a:p>
            <a:pPr marL="0" indent="0">
              <a:buNone/>
            </a:pPr>
            <a:r>
              <a:rPr lang="tr-TR" sz="2000" dirty="0"/>
              <a:t>   Kaynak sırasında kullanılan </a:t>
            </a:r>
            <a:r>
              <a:rPr lang="tr-TR" sz="2000" b="1" dirty="0"/>
              <a:t>gazlar</a:t>
            </a:r>
            <a:r>
              <a:rPr lang="tr-TR" sz="2000" dirty="0"/>
              <a:t>, özellikle </a:t>
            </a:r>
            <a:r>
              <a:rPr lang="tr-TR" sz="2000" dirty="0" err="1"/>
              <a:t>gazaltı</a:t>
            </a:r>
            <a:r>
              <a:rPr lang="tr-TR" sz="2000" dirty="0"/>
              <a:t> (MIG/MAG), TIG ve </a:t>
            </a:r>
            <a:r>
              <a:rPr lang="tr-TR" sz="2000" dirty="0" err="1"/>
              <a:t>oksi</a:t>
            </a:r>
            <a:r>
              <a:rPr lang="tr-TR" sz="2000" dirty="0"/>
              <a:t>-gaz kaynağında, iş sağlığı ve güvenliği (İSG) açısından ciddi tehlikeler oluşturabilir.</a:t>
            </a:r>
          </a:p>
          <a:p>
            <a:pPr marL="0" indent="0">
              <a:buNone/>
            </a:pPr>
            <a:endParaRPr lang="tr-TR" sz="2000" dirty="0"/>
          </a:p>
          <a:p>
            <a:pPr>
              <a:buFont typeface="Wingdings" panose="05000000000000000000" pitchFamily="2" charset="2"/>
              <a:buChar char="Ø"/>
            </a:pPr>
            <a:r>
              <a:rPr lang="tr-TR" sz="2000" dirty="0"/>
              <a:t>Gaz tüpleri </a:t>
            </a:r>
            <a:r>
              <a:rPr lang="tr-TR" sz="2000" b="1" dirty="0"/>
              <a:t>dikey konumda</a:t>
            </a:r>
            <a:r>
              <a:rPr lang="tr-TR" sz="2000" dirty="0"/>
              <a:t> ve </a:t>
            </a:r>
            <a:r>
              <a:rPr lang="tr-TR" sz="2000" b="1" dirty="0"/>
              <a:t>zincir veya kelepçe ile sabitlenmemiş</a:t>
            </a:r>
            <a:r>
              <a:rPr lang="tr-TR" sz="2000" dirty="0"/>
              <a:t> olması,</a:t>
            </a:r>
          </a:p>
          <a:p>
            <a:pPr>
              <a:buFont typeface="Wingdings" panose="05000000000000000000" pitchFamily="2" charset="2"/>
              <a:buChar char="Ø"/>
            </a:pPr>
            <a:r>
              <a:rPr lang="tr-TR" sz="2000" dirty="0"/>
              <a:t>Tüplerin </a:t>
            </a:r>
            <a:r>
              <a:rPr lang="tr-TR" sz="2000" b="1" dirty="0"/>
              <a:t>ısı kaynaklarına (kaynak arkı, soba, güneş ışığı)</a:t>
            </a:r>
            <a:r>
              <a:rPr lang="tr-TR" sz="2000" dirty="0"/>
              <a:t> olan mesafesi,</a:t>
            </a:r>
          </a:p>
          <a:p>
            <a:pPr>
              <a:buFont typeface="Wingdings" panose="05000000000000000000" pitchFamily="2" charset="2"/>
              <a:buChar char="Ø"/>
            </a:pPr>
            <a:r>
              <a:rPr lang="tr-TR" sz="2000" dirty="0"/>
              <a:t>Tüplerin </a:t>
            </a:r>
            <a:r>
              <a:rPr lang="tr-TR" sz="2000" b="1" dirty="0"/>
              <a:t>vanalarının kapalı</a:t>
            </a:r>
            <a:r>
              <a:rPr lang="tr-TR" sz="2000" dirty="0"/>
              <a:t> olmaması ve </a:t>
            </a:r>
            <a:r>
              <a:rPr lang="tr-TR" sz="2000" b="1" dirty="0"/>
              <a:t>koruyucu başlıkları</a:t>
            </a:r>
            <a:r>
              <a:rPr lang="tr-TR" sz="2000" dirty="0"/>
              <a:t> takılı bulunmaması,</a:t>
            </a:r>
          </a:p>
          <a:p>
            <a:pPr>
              <a:buFont typeface="Wingdings" panose="05000000000000000000" pitchFamily="2" charset="2"/>
              <a:buChar char="Ø"/>
            </a:pPr>
            <a:r>
              <a:rPr lang="tr-TR" sz="2000" b="1" dirty="0"/>
              <a:t>Oksijenin</a:t>
            </a:r>
            <a:r>
              <a:rPr lang="tr-TR" sz="2000" dirty="0"/>
              <a:t>, yanıcı gazlarla (örneğin asetilen, </a:t>
            </a:r>
            <a:r>
              <a:rPr lang="tr-TR" sz="2000" dirty="0" err="1"/>
              <a:t>propan</a:t>
            </a:r>
            <a:r>
              <a:rPr lang="tr-TR" sz="2000" dirty="0"/>
              <a:t>, hidrojen) teması,</a:t>
            </a:r>
          </a:p>
          <a:p>
            <a:pPr>
              <a:buFont typeface="Wingdings" panose="05000000000000000000" pitchFamily="2" charset="2"/>
              <a:buChar char="Ø"/>
            </a:pPr>
            <a:r>
              <a:rPr lang="tr-TR" sz="2000" b="1" dirty="0"/>
              <a:t>Asetilen gazı </a:t>
            </a:r>
            <a:r>
              <a:rPr lang="tr-TR" sz="2000" dirty="0"/>
              <a:t>iletim hatlarında bakır boru ve </a:t>
            </a:r>
            <a:r>
              <a:rPr lang="tr-TR" sz="2000" dirty="0" err="1"/>
              <a:t>bakır’dan</a:t>
            </a:r>
            <a:r>
              <a:rPr lang="tr-TR" sz="2000" dirty="0"/>
              <a:t> yapılmış parça ve aksam kullanılması,</a:t>
            </a:r>
          </a:p>
          <a:p>
            <a:pPr>
              <a:buFont typeface="Wingdings" panose="05000000000000000000" pitchFamily="2" charset="2"/>
              <a:buChar char="Ø"/>
            </a:pPr>
            <a:r>
              <a:rPr lang="fi-FI" sz="2000" dirty="0"/>
              <a:t>Asetilen–oksijen sistemlerinde geri tepme ventili</a:t>
            </a:r>
            <a:r>
              <a:rPr lang="tr-TR" sz="2000" dirty="0" err="1"/>
              <a:t>nin</a:t>
            </a:r>
            <a:r>
              <a:rPr lang="fi-FI" sz="2000" dirty="0"/>
              <a:t> olma</a:t>
            </a:r>
            <a:r>
              <a:rPr lang="tr-TR" sz="2000" dirty="0" err="1"/>
              <a:t>ma</a:t>
            </a:r>
            <a:r>
              <a:rPr lang="fi-FI" sz="2000" dirty="0"/>
              <a:t>sı</a:t>
            </a:r>
            <a:r>
              <a:rPr lang="tr-TR" sz="2000" dirty="0"/>
              <a:t>,</a:t>
            </a:r>
          </a:p>
          <a:p>
            <a:pPr>
              <a:buFont typeface="Wingdings" panose="05000000000000000000" pitchFamily="2" charset="2"/>
              <a:buChar char="Ø"/>
            </a:pPr>
            <a:r>
              <a:rPr lang="tr-TR" sz="2000" dirty="0"/>
              <a:t>Argon, CO₂ gibi gazların </a:t>
            </a:r>
            <a:r>
              <a:rPr lang="tr-TR" sz="2000" b="1" dirty="0"/>
              <a:t>tabanda birikmesinin </a:t>
            </a:r>
            <a:r>
              <a:rPr lang="tr-TR" sz="2000" dirty="0"/>
              <a:t>engellenmemesi,</a:t>
            </a:r>
          </a:p>
          <a:p>
            <a:pPr marL="0" indent="0">
              <a:buNone/>
            </a:pPr>
            <a:endParaRPr lang="tr-TR" sz="2000" dirty="0"/>
          </a:p>
          <a:p>
            <a:pPr marL="0" indent="0">
              <a:buNone/>
            </a:pPr>
            <a:endParaRPr lang="tr-TR" sz="1800" dirty="0"/>
          </a:p>
          <a:p>
            <a:pPr marL="0" indent="0">
              <a:buNone/>
            </a:pPr>
            <a:endParaRPr lang="tr-TR" sz="1800" dirty="0"/>
          </a:p>
        </p:txBody>
      </p:sp>
    </p:spTree>
    <p:extLst>
      <p:ext uri="{BB962C8B-B14F-4D97-AF65-F5344CB8AC3E}">
        <p14:creationId xmlns:p14="http://schemas.microsoft.com/office/powerpoint/2010/main" val="2330785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BA7E67-3E92-27A8-582A-5696D6BDE4E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FC71D52-3CAD-5085-7EDA-F8A283D7E7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AADDB5F-DC8A-BC3E-5205-52C3C5F2383E}"/>
              </a:ext>
            </a:extLst>
          </p:cNvPr>
          <p:cNvSpPr>
            <a:spLocks noGrp="1"/>
          </p:cNvSpPr>
          <p:nvPr>
            <p:ph type="title"/>
          </p:nvPr>
        </p:nvSpPr>
        <p:spPr>
          <a:xfrm>
            <a:off x="838200" y="365125"/>
            <a:ext cx="10515600" cy="1325563"/>
          </a:xfrm>
        </p:spPr>
        <p:txBody>
          <a:bodyPr>
            <a:normAutofit/>
          </a:bodyPr>
          <a:lstStyle/>
          <a:p>
            <a:r>
              <a:rPr lang="tr-TR" b="1" dirty="0"/>
              <a:t>Tehlikeler</a:t>
            </a:r>
            <a:r>
              <a:rPr lang="tr-TR" dirty="0"/>
              <a:t> </a:t>
            </a:r>
            <a:endParaRPr lang="tr-TR" b="1" dirty="0"/>
          </a:p>
        </p:txBody>
      </p:sp>
      <p:sp>
        <p:nvSpPr>
          <p:cNvPr id="10" name="sketch line">
            <a:extLst>
              <a:ext uri="{FF2B5EF4-FFF2-40B4-BE49-F238E27FC236}">
                <a16:creationId xmlns:a16="http://schemas.microsoft.com/office/drawing/2014/main" id="{383130BC-5CBA-393C-08EE-CDCC59205B5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29C85461-003F-3096-AE12-1AA50586E5EB}"/>
              </a:ext>
            </a:extLst>
          </p:cNvPr>
          <p:cNvSpPr>
            <a:spLocks noGrp="1"/>
          </p:cNvSpPr>
          <p:nvPr>
            <p:ph idx="1"/>
          </p:nvPr>
        </p:nvSpPr>
        <p:spPr>
          <a:xfrm>
            <a:off x="479685" y="1929383"/>
            <a:ext cx="11377535" cy="4726249"/>
          </a:xfrm>
        </p:spPr>
        <p:txBody>
          <a:bodyPr>
            <a:normAutofit/>
          </a:bodyPr>
          <a:lstStyle/>
          <a:p>
            <a:pPr marL="0" indent="0">
              <a:buNone/>
            </a:pPr>
            <a:r>
              <a:rPr lang="tr-TR" sz="2200" dirty="0"/>
              <a:t>   </a:t>
            </a:r>
          </a:p>
          <a:p>
            <a:pPr marL="0" indent="0">
              <a:buNone/>
            </a:pPr>
            <a:endParaRPr lang="tr-TR" sz="2200" dirty="0"/>
          </a:p>
        </p:txBody>
      </p:sp>
      <p:sp>
        <p:nvSpPr>
          <p:cNvPr id="4" name="Metin kutusu 3">
            <a:extLst>
              <a:ext uri="{FF2B5EF4-FFF2-40B4-BE49-F238E27FC236}">
                <a16:creationId xmlns:a16="http://schemas.microsoft.com/office/drawing/2014/main" id="{91B9AC19-2005-6EA9-5F10-F0573D300C97}"/>
              </a:ext>
            </a:extLst>
          </p:cNvPr>
          <p:cNvSpPr txBox="1"/>
          <p:nvPr/>
        </p:nvSpPr>
        <p:spPr>
          <a:xfrm>
            <a:off x="669037" y="2055813"/>
            <a:ext cx="11043278" cy="2067233"/>
          </a:xfrm>
          <a:prstGeom prst="rect">
            <a:avLst/>
          </a:prstGeom>
          <a:noFill/>
        </p:spPr>
        <p:txBody>
          <a:bodyPr wrap="square" rtlCol="0">
            <a:spAutoFit/>
          </a:bodyPr>
          <a:lstStyle/>
          <a:p>
            <a:pPr>
              <a:lnSpc>
                <a:spcPct val="80000"/>
              </a:lnSpc>
              <a:spcBef>
                <a:spcPts val="1000"/>
              </a:spcBef>
              <a:buFont typeface="Wingdings" panose="05000000000000000000" pitchFamily="2" charset="2"/>
              <a:buChar char="Ø"/>
            </a:pPr>
            <a:r>
              <a:rPr lang="tr-TR" sz="2000" dirty="0"/>
              <a:t>Alev geri tepmesi olayı,</a:t>
            </a:r>
          </a:p>
          <a:p>
            <a:pPr>
              <a:lnSpc>
                <a:spcPct val="80000"/>
              </a:lnSpc>
              <a:spcBef>
                <a:spcPts val="1000"/>
              </a:spcBef>
            </a:pPr>
            <a:r>
              <a:rPr lang="tr-TR" sz="2000" dirty="0"/>
              <a:t>  </a:t>
            </a:r>
            <a:r>
              <a:rPr lang="tr-TR" sz="2000" dirty="0" err="1"/>
              <a:t>Şalomada</a:t>
            </a:r>
            <a:r>
              <a:rPr lang="tr-TR" sz="2000" dirty="0"/>
              <a:t> alevin tutuşturulmasıyla birlikte oluşan bir geri yanma durumudur (Geri yanmanın nedeni, yanma hızının gaz çıkış hızını aşmasıdır). Alev geri tepmesi oluştuğu zaman, büyük ihtimalle yanıcı gaz hortumu patlar ve ciddi kazalara sebep olur. Daha da tehlikesi tüp patlaması gerçekleşebilir.</a:t>
            </a:r>
          </a:p>
          <a:p>
            <a:endParaRPr lang="tr-TR" sz="2000" dirty="0"/>
          </a:p>
          <a:p>
            <a:r>
              <a:rPr lang="tr-TR" sz="2000" dirty="0"/>
              <a:t>   </a:t>
            </a:r>
          </a:p>
        </p:txBody>
      </p:sp>
      <p:pic>
        <p:nvPicPr>
          <p:cNvPr id="5" name="Resim 4">
            <a:extLst>
              <a:ext uri="{FF2B5EF4-FFF2-40B4-BE49-F238E27FC236}">
                <a16:creationId xmlns:a16="http://schemas.microsoft.com/office/drawing/2014/main" id="{6CCF8769-F6F3-DB77-F3A4-847608AF8311}"/>
              </a:ext>
            </a:extLst>
          </p:cNvPr>
          <p:cNvPicPr>
            <a:picLocks noChangeAspect="1"/>
          </p:cNvPicPr>
          <p:nvPr/>
        </p:nvPicPr>
        <p:blipFill>
          <a:blip r:embed="rId3"/>
          <a:stretch>
            <a:fillRect/>
          </a:stretch>
        </p:blipFill>
        <p:spPr>
          <a:xfrm>
            <a:off x="6866755" y="3620071"/>
            <a:ext cx="4487045" cy="2456901"/>
          </a:xfrm>
          <a:prstGeom prst="rect">
            <a:avLst/>
          </a:prstGeom>
        </p:spPr>
      </p:pic>
      <p:pic>
        <p:nvPicPr>
          <p:cNvPr id="6" name="Resim 5">
            <a:extLst>
              <a:ext uri="{FF2B5EF4-FFF2-40B4-BE49-F238E27FC236}">
                <a16:creationId xmlns:a16="http://schemas.microsoft.com/office/drawing/2014/main" id="{0CBBB81E-2DE6-4A5E-B18C-A9FBC6D9A971}"/>
              </a:ext>
            </a:extLst>
          </p:cNvPr>
          <p:cNvPicPr>
            <a:picLocks noChangeAspect="1"/>
          </p:cNvPicPr>
          <p:nvPr/>
        </p:nvPicPr>
        <p:blipFill>
          <a:blip r:embed="rId4"/>
          <a:stretch>
            <a:fillRect/>
          </a:stretch>
        </p:blipFill>
        <p:spPr>
          <a:xfrm>
            <a:off x="838200" y="4350402"/>
            <a:ext cx="5655885" cy="996237"/>
          </a:xfrm>
          <a:prstGeom prst="rect">
            <a:avLst/>
          </a:prstGeom>
        </p:spPr>
      </p:pic>
    </p:spTree>
    <p:extLst>
      <p:ext uri="{BB962C8B-B14F-4D97-AF65-F5344CB8AC3E}">
        <p14:creationId xmlns:p14="http://schemas.microsoft.com/office/powerpoint/2010/main" val="3156287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686834" y="1153572"/>
            <a:ext cx="3200400" cy="4461163"/>
          </a:xfrm>
        </p:spPr>
        <p:txBody>
          <a:bodyPr>
            <a:normAutofit/>
          </a:bodyPr>
          <a:lstStyle/>
          <a:p>
            <a:r>
              <a:rPr lang="tr-TR" b="1" dirty="0">
                <a:solidFill>
                  <a:srgbClr val="FFFFFF"/>
                </a:solidFill>
              </a:rPr>
              <a:t>Tehlikeler</a:t>
            </a:r>
            <a:r>
              <a:rPr lang="tr-TR" dirty="0">
                <a:solidFill>
                  <a:srgbClr val="FFFFFF"/>
                </a:solidFill>
              </a:rPr>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p:cNvSpPr>
            <a:spLocks noGrp="1"/>
          </p:cNvSpPr>
          <p:nvPr>
            <p:ph idx="1"/>
          </p:nvPr>
        </p:nvSpPr>
        <p:spPr>
          <a:xfrm>
            <a:off x="4447308" y="591344"/>
            <a:ext cx="6906491" cy="5585619"/>
          </a:xfrm>
        </p:spPr>
        <p:txBody>
          <a:bodyPr anchor="ctr">
            <a:normAutofit/>
          </a:bodyPr>
          <a:lstStyle/>
          <a:p>
            <a:pPr marL="0" indent="0">
              <a:buNone/>
            </a:pPr>
            <a:r>
              <a:rPr lang="tr-TR" dirty="0"/>
              <a:t>  </a:t>
            </a:r>
            <a:r>
              <a:rPr lang="tr-TR" sz="2000" dirty="0"/>
              <a:t>Kaynak sırasında oluşacak </a:t>
            </a:r>
            <a:r>
              <a:rPr lang="tr-TR" sz="2000" b="1" dirty="0"/>
              <a:t>toz ve duman </a:t>
            </a:r>
            <a:r>
              <a:rPr lang="tr-TR" sz="2000" dirty="0"/>
              <a:t>yoluyla bir takım kimyasallarla karşı karşıya kalmaktadırlar;</a:t>
            </a:r>
          </a:p>
          <a:p>
            <a:pPr marL="0" indent="0">
              <a:buNone/>
            </a:pPr>
            <a:endParaRPr lang="tr-TR" sz="2000" dirty="0"/>
          </a:p>
          <a:p>
            <a:pPr>
              <a:buFont typeface="Wingdings" panose="05000000000000000000" pitchFamily="2" charset="2"/>
              <a:buChar char="Ø"/>
            </a:pPr>
            <a:r>
              <a:rPr lang="tr-TR" sz="2000" dirty="0"/>
              <a:t>Ark kaynak uygulamalarında elektrot ve koruyucu toz örtüsünden çıkan dumanın yanında, birleştirilen metallerin de zehirli duman yayabilmesi (metal duman ateşi).</a:t>
            </a:r>
          </a:p>
          <a:p>
            <a:pPr>
              <a:buFont typeface="Wingdings" panose="05000000000000000000" pitchFamily="2" charset="2"/>
              <a:buChar char="Ø"/>
            </a:pPr>
            <a:r>
              <a:rPr lang="tr-TR" sz="2000" dirty="0" err="1"/>
              <a:t>Oksi</a:t>
            </a:r>
            <a:r>
              <a:rPr lang="tr-TR" sz="2000" dirty="0"/>
              <a:t>-asetilen kaynağında alevin kaynak ortamındaki oksijeni yavaş yavaş alması ve zamanla havadaki azot miktarının yükselmesi, </a:t>
            </a:r>
          </a:p>
          <a:p>
            <a:pPr marL="0" indent="0">
              <a:buNone/>
            </a:pPr>
            <a:endParaRPr lang="tr-TR" dirty="0"/>
          </a:p>
          <a:p>
            <a:pPr marL="0" indent="0">
              <a:buNone/>
            </a:pPr>
            <a:endParaRPr lang="tr-TR" dirty="0"/>
          </a:p>
        </p:txBody>
      </p:sp>
    </p:spTree>
    <p:extLst>
      <p:ext uri="{BB962C8B-B14F-4D97-AF65-F5344CB8AC3E}">
        <p14:creationId xmlns:p14="http://schemas.microsoft.com/office/powerpoint/2010/main" val="11917985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Tehlikeler</a:t>
            </a:r>
            <a:endParaRPr lang="tr-TR" dirty="0"/>
          </a:p>
        </p:txBody>
      </p:sp>
      <p:pic>
        <p:nvPicPr>
          <p:cNvPr id="4" name="İçerik Yer Tutucusu 3"/>
          <p:cNvPicPr>
            <a:picLocks noGrp="1" noChangeAspect="1"/>
          </p:cNvPicPr>
          <p:nvPr>
            <p:ph idx="1"/>
          </p:nvPr>
        </p:nvPicPr>
        <p:blipFill>
          <a:blip r:embed="rId2"/>
          <a:stretch>
            <a:fillRect/>
          </a:stretch>
        </p:blipFill>
        <p:spPr>
          <a:xfrm>
            <a:off x="838200" y="541061"/>
            <a:ext cx="9635674" cy="5980762"/>
          </a:xfrm>
          <a:prstGeom prst="rect">
            <a:avLst/>
          </a:prstGeom>
        </p:spPr>
      </p:pic>
    </p:spTree>
    <p:extLst>
      <p:ext uri="{BB962C8B-B14F-4D97-AF65-F5344CB8AC3E}">
        <p14:creationId xmlns:p14="http://schemas.microsoft.com/office/powerpoint/2010/main" val="1513533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686834" y="1153572"/>
            <a:ext cx="3200400" cy="4461163"/>
          </a:xfrm>
        </p:spPr>
        <p:txBody>
          <a:bodyPr>
            <a:normAutofit/>
          </a:bodyPr>
          <a:lstStyle/>
          <a:p>
            <a:r>
              <a:rPr lang="tr-TR" b="1">
                <a:solidFill>
                  <a:srgbClr val="FFFFFF"/>
                </a:solidFill>
              </a:rPr>
              <a:t>Alınabilecek tedbirler</a:t>
            </a:r>
            <a:r>
              <a:rPr lang="tr-TR">
                <a:solidFill>
                  <a:srgbClr val="FFFFFF"/>
                </a:solidFill>
              </a:rPr>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p:cNvSpPr>
            <a:spLocks noGrp="1"/>
          </p:cNvSpPr>
          <p:nvPr>
            <p:ph idx="1"/>
          </p:nvPr>
        </p:nvSpPr>
        <p:spPr>
          <a:xfrm>
            <a:off x="4447308" y="591344"/>
            <a:ext cx="6906491" cy="5585619"/>
          </a:xfrm>
        </p:spPr>
        <p:txBody>
          <a:bodyPr anchor="ctr">
            <a:normAutofit/>
          </a:bodyPr>
          <a:lstStyle/>
          <a:p>
            <a:pPr marL="0" indent="0">
              <a:buNone/>
            </a:pPr>
            <a:r>
              <a:rPr lang="tr-TR" sz="2200" b="1" dirty="0"/>
              <a:t>Elektrik; </a:t>
            </a:r>
          </a:p>
          <a:p>
            <a:pPr marL="0" indent="0">
              <a:buNone/>
            </a:pPr>
            <a:endParaRPr lang="tr-TR" sz="2200" b="1" dirty="0"/>
          </a:p>
          <a:p>
            <a:pPr>
              <a:buFont typeface="Wingdings" panose="05000000000000000000" pitchFamily="2" charset="2"/>
              <a:buChar char="Ø"/>
            </a:pPr>
            <a:r>
              <a:rPr lang="tr-TR" sz="2000" dirty="0"/>
              <a:t>İletken ve dar ortamlarda doğru akım veya düşük gerilim kullanmak, izolasyon yapmak,</a:t>
            </a:r>
          </a:p>
          <a:p>
            <a:pPr>
              <a:buFont typeface="Wingdings" panose="05000000000000000000" pitchFamily="2" charset="2"/>
              <a:buChar char="Ø"/>
            </a:pPr>
            <a:r>
              <a:rPr lang="tr-TR" sz="2000" dirty="0"/>
              <a:t>Uygun topraklama yapmak</a:t>
            </a:r>
          </a:p>
          <a:p>
            <a:pPr>
              <a:buFont typeface="Wingdings" panose="05000000000000000000" pitchFamily="2" charset="2"/>
              <a:buChar char="Ø"/>
            </a:pPr>
            <a:r>
              <a:rPr lang="tr-TR" sz="2000" dirty="0"/>
              <a:t>Sistemin (Kablolar, penseler vs.) izolasyonuna dikkat etmek</a:t>
            </a:r>
          </a:p>
          <a:p>
            <a:pPr>
              <a:buFont typeface="Wingdings" panose="05000000000000000000" pitchFamily="2" charset="2"/>
              <a:buChar char="Ø"/>
            </a:pPr>
            <a:r>
              <a:rPr lang="tr-TR" sz="2000" dirty="0"/>
              <a:t>Islak ve rutubetli şartlarda çalışmamak,</a:t>
            </a:r>
          </a:p>
          <a:p>
            <a:pPr>
              <a:buFont typeface="Wingdings" panose="05000000000000000000" pitchFamily="2" charset="2"/>
              <a:buChar char="Ø"/>
            </a:pPr>
            <a:r>
              <a:rPr lang="tr-TR" sz="2000" dirty="0"/>
              <a:t>Uygun kişisel koruyucu ekipmanları kullanmak,</a:t>
            </a:r>
          </a:p>
          <a:p>
            <a:pPr>
              <a:buFont typeface="Wingdings" panose="05000000000000000000" pitchFamily="2" charset="2"/>
              <a:buChar char="Ø"/>
            </a:pPr>
            <a:r>
              <a:rPr lang="tr-TR" sz="2000" dirty="0"/>
              <a:t>Makina boşta çalışırken, verilen molalarda veya cüruf temizlerken elektrod pensesi elektriği iletmeyen bir levha üzerine konulmalıdır.</a:t>
            </a:r>
          </a:p>
          <a:p>
            <a:pPr>
              <a:buFont typeface="Wingdings" panose="05000000000000000000" pitchFamily="2" charset="2"/>
              <a:buChar char="Ø"/>
            </a:pPr>
            <a:r>
              <a:rPr lang="tr-TR" sz="2000" dirty="0"/>
              <a:t>Kaynak makinesi çalışırken kaportasının açılmaması</a:t>
            </a:r>
          </a:p>
        </p:txBody>
      </p:sp>
    </p:spTree>
    <p:extLst>
      <p:ext uri="{BB962C8B-B14F-4D97-AF65-F5344CB8AC3E}">
        <p14:creationId xmlns:p14="http://schemas.microsoft.com/office/powerpoint/2010/main" val="1506820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686834" y="1153572"/>
            <a:ext cx="3200400" cy="4461163"/>
          </a:xfrm>
        </p:spPr>
        <p:txBody>
          <a:bodyPr>
            <a:normAutofit/>
          </a:bodyPr>
          <a:lstStyle/>
          <a:p>
            <a:r>
              <a:rPr lang="tr-TR" b="1">
                <a:solidFill>
                  <a:srgbClr val="FFFFFF"/>
                </a:solidFill>
              </a:rPr>
              <a:t>Alınabilecek tedbirler</a:t>
            </a:r>
            <a:r>
              <a:rPr lang="tr-TR">
                <a:solidFill>
                  <a:srgbClr val="FFFFFF"/>
                </a:solidFill>
              </a:rPr>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p:cNvSpPr>
            <a:spLocks noGrp="1"/>
          </p:cNvSpPr>
          <p:nvPr>
            <p:ph idx="1"/>
          </p:nvPr>
        </p:nvSpPr>
        <p:spPr>
          <a:xfrm>
            <a:off x="4447308" y="591344"/>
            <a:ext cx="6906491" cy="5585619"/>
          </a:xfrm>
        </p:spPr>
        <p:txBody>
          <a:bodyPr anchor="ctr">
            <a:normAutofit/>
          </a:bodyPr>
          <a:lstStyle/>
          <a:p>
            <a:pPr marL="0" indent="0">
              <a:buNone/>
            </a:pPr>
            <a:r>
              <a:rPr lang="tr-TR" sz="2200" b="1" dirty="0"/>
              <a:t>Zararlı ışınlar;</a:t>
            </a:r>
          </a:p>
          <a:p>
            <a:pPr marL="0" indent="0">
              <a:buNone/>
            </a:pPr>
            <a:endParaRPr lang="tr-TR" sz="2200" b="1" dirty="0"/>
          </a:p>
          <a:p>
            <a:pPr>
              <a:buFont typeface="Wingdings" panose="05000000000000000000" pitchFamily="2" charset="2"/>
              <a:buChar char="Ø"/>
            </a:pPr>
            <a:r>
              <a:rPr lang="tr-TR" sz="2000" dirty="0"/>
              <a:t>Gözlerin korunması için kaynağa renkli koruyucu camlarla bakmak,</a:t>
            </a:r>
          </a:p>
          <a:p>
            <a:pPr>
              <a:buFont typeface="Wingdings" panose="05000000000000000000" pitchFamily="2" charset="2"/>
              <a:buChar char="Ø"/>
            </a:pPr>
            <a:r>
              <a:rPr lang="tr-TR" sz="2000" dirty="0"/>
              <a:t>Kaynak işlerini perdelemek başka kişilere zarar vermemek için paravan vb. kullanımı)</a:t>
            </a:r>
          </a:p>
          <a:p>
            <a:pPr>
              <a:buFont typeface="Wingdings" panose="05000000000000000000" pitchFamily="2" charset="2"/>
              <a:buChar char="Ø"/>
            </a:pPr>
            <a:r>
              <a:rPr lang="tr-TR" sz="2000" dirty="0"/>
              <a:t>Kaynak işlerinde mutlaka iş elbiseleri giyilmesi (vücudu yeterince örtebilmeli ve yanıcı maddelerden arındırılmış olmalıdır),</a:t>
            </a:r>
          </a:p>
          <a:p>
            <a:pPr marL="0" indent="0">
              <a:buNone/>
            </a:pPr>
            <a:endParaRPr lang="tr-TR" sz="2200" dirty="0"/>
          </a:p>
          <a:p>
            <a:pPr marL="0" indent="0">
              <a:buNone/>
            </a:pPr>
            <a:r>
              <a:rPr lang="tr-TR" dirty="0"/>
              <a:t> </a:t>
            </a:r>
          </a:p>
          <a:p>
            <a:pPr marL="0" indent="0">
              <a:buNone/>
            </a:pPr>
            <a:endParaRPr lang="tr-TR" dirty="0"/>
          </a:p>
        </p:txBody>
      </p:sp>
    </p:spTree>
    <p:extLst>
      <p:ext uri="{BB962C8B-B14F-4D97-AF65-F5344CB8AC3E}">
        <p14:creationId xmlns:p14="http://schemas.microsoft.com/office/powerpoint/2010/main" val="447646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686834" y="1153572"/>
            <a:ext cx="3200400" cy="4461163"/>
          </a:xfrm>
        </p:spPr>
        <p:txBody>
          <a:bodyPr>
            <a:normAutofit/>
          </a:bodyPr>
          <a:lstStyle/>
          <a:p>
            <a:r>
              <a:rPr lang="tr-TR" b="1">
                <a:solidFill>
                  <a:srgbClr val="FFFFFF"/>
                </a:solidFill>
              </a:rPr>
              <a:t>Alınabilecek tedbirler</a:t>
            </a:r>
            <a:r>
              <a:rPr lang="tr-TR">
                <a:solidFill>
                  <a:srgbClr val="FFFFFF"/>
                </a:solidFill>
              </a:rPr>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p:cNvSpPr>
            <a:spLocks noGrp="1"/>
          </p:cNvSpPr>
          <p:nvPr>
            <p:ph idx="1"/>
          </p:nvPr>
        </p:nvSpPr>
        <p:spPr>
          <a:xfrm>
            <a:off x="4447308" y="591344"/>
            <a:ext cx="6906491" cy="5585619"/>
          </a:xfrm>
        </p:spPr>
        <p:txBody>
          <a:bodyPr anchor="ctr">
            <a:normAutofit fontScale="92500" lnSpcReduction="20000"/>
          </a:bodyPr>
          <a:lstStyle/>
          <a:p>
            <a:pPr marL="0" indent="0">
              <a:buNone/>
            </a:pPr>
            <a:r>
              <a:rPr lang="tr-TR" sz="2000" b="1" dirty="0"/>
              <a:t>Gazlar;</a:t>
            </a:r>
          </a:p>
          <a:p>
            <a:pPr>
              <a:buFont typeface="Wingdings" panose="05000000000000000000" pitchFamily="2" charset="2"/>
              <a:buChar char="Ø"/>
            </a:pPr>
            <a:r>
              <a:rPr lang="tr-TR" sz="2000" dirty="0"/>
              <a:t>Uygun havalandırma yapmak</a:t>
            </a:r>
          </a:p>
          <a:p>
            <a:pPr marL="0" indent="0">
              <a:buNone/>
            </a:pPr>
            <a:r>
              <a:rPr lang="tr-TR" sz="2000" dirty="0"/>
              <a:t>Kapalı yerlerde yapılan kaynak ve kesme işlemlerinde; gaz, duman ve buharlara karşı  sun'i havalandırma yapılmalıdır. Genel olarak; kaynak atölyelerinin havası, saatte 10-12 defa değiştirilmelidir.</a:t>
            </a:r>
          </a:p>
          <a:p>
            <a:pPr>
              <a:buFont typeface="Wingdings" panose="05000000000000000000" pitchFamily="2" charset="2"/>
              <a:buChar char="Ø"/>
            </a:pPr>
            <a:r>
              <a:rPr lang="tr-TR" sz="2000" dirty="0"/>
              <a:t>Koruyucu maske kullanmak</a:t>
            </a:r>
          </a:p>
          <a:p>
            <a:pPr>
              <a:buFont typeface="Wingdings" panose="05000000000000000000" pitchFamily="2" charset="2"/>
              <a:buChar char="Ø"/>
            </a:pPr>
            <a:r>
              <a:rPr lang="tr-TR" sz="2000" dirty="0"/>
              <a:t>Gaz tüplerinde uygun bek ve gaz basıncının uygulanması</a:t>
            </a:r>
          </a:p>
          <a:p>
            <a:pPr>
              <a:buFont typeface="Wingdings" panose="05000000000000000000" pitchFamily="2" charset="2"/>
              <a:buChar char="Ø"/>
            </a:pPr>
            <a:r>
              <a:rPr lang="tr-TR" sz="2000" dirty="0"/>
              <a:t>Hortum ve bağlantılarda sızdırmazlık kontrolü yapılmalı</a:t>
            </a:r>
          </a:p>
          <a:p>
            <a:pPr>
              <a:buFont typeface="Wingdings" panose="05000000000000000000" pitchFamily="2" charset="2"/>
              <a:buChar char="Ø"/>
            </a:pPr>
            <a:r>
              <a:rPr lang="tr-TR" sz="2000" dirty="0"/>
              <a:t>Gaz kokusu alındığında yanan üfleç ve tüp vanaları kapatılmalıdır</a:t>
            </a:r>
          </a:p>
          <a:p>
            <a:pPr>
              <a:buFont typeface="Wingdings" panose="05000000000000000000" pitchFamily="2" charset="2"/>
              <a:buChar char="Ø"/>
            </a:pPr>
            <a:r>
              <a:rPr lang="tr-TR" sz="2000" dirty="0"/>
              <a:t>Yanan üfleç gaz tüplerine asılmamalıdır</a:t>
            </a:r>
          </a:p>
          <a:p>
            <a:pPr>
              <a:buFont typeface="Wingdings" panose="05000000000000000000" pitchFamily="2" charset="2"/>
              <a:buChar char="Ø"/>
            </a:pPr>
            <a:r>
              <a:rPr lang="tr-TR" sz="2000" dirty="0"/>
              <a:t>Ortama asla saf oksijen verilmemelidir</a:t>
            </a:r>
          </a:p>
          <a:p>
            <a:pPr>
              <a:buFont typeface="Wingdings" panose="05000000000000000000" pitchFamily="2" charset="2"/>
              <a:buChar char="Ø"/>
            </a:pPr>
            <a:r>
              <a:rPr lang="tr-TR" sz="2000" dirty="0"/>
              <a:t>Yağlı eller ile asla tüplerin ventilleri açılıp kapanmamalıdır (özellikle oksijen tüpleri)</a:t>
            </a:r>
          </a:p>
          <a:p>
            <a:pPr>
              <a:buFont typeface="Wingdings" panose="05000000000000000000" pitchFamily="2" charset="2"/>
              <a:buChar char="Ø"/>
            </a:pPr>
            <a:endParaRPr lang="tr-TR" sz="2000" dirty="0"/>
          </a:p>
          <a:p>
            <a:pPr marL="0" indent="0">
              <a:buNone/>
            </a:pPr>
            <a:endParaRPr lang="tr-TR" sz="2000" dirty="0"/>
          </a:p>
        </p:txBody>
      </p:sp>
    </p:spTree>
    <p:extLst>
      <p:ext uri="{BB962C8B-B14F-4D97-AF65-F5344CB8AC3E}">
        <p14:creationId xmlns:p14="http://schemas.microsoft.com/office/powerpoint/2010/main" val="9723611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a:blip r:embed="rId2"/>
          <a:stretch>
            <a:fillRect/>
          </a:stretch>
        </p:blipFill>
        <p:spPr>
          <a:xfrm>
            <a:off x="8368423" y="2151396"/>
            <a:ext cx="3175686" cy="2269801"/>
          </a:xfrm>
          <a:prstGeom prst="rect">
            <a:avLst/>
          </a:prstGeom>
        </p:spPr>
      </p:pic>
      <p:pic>
        <p:nvPicPr>
          <p:cNvPr id="5" name="Resim 4"/>
          <p:cNvPicPr>
            <a:picLocks noChangeAspect="1"/>
          </p:cNvPicPr>
          <p:nvPr/>
        </p:nvPicPr>
        <p:blipFill>
          <a:blip r:embed="rId3"/>
          <a:stretch>
            <a:fillRect/>
          </a:stretch>
        </p:blipFill>
        <p:spPr>
          <a:xfrm>
            <a:off x="703289" y="870910"/>
            <a:ext cx="6327098" cy="4830774"/>
          </a:xfrm>
          <a:prstGeom prst="rect">
            <a:avLst/>
          </a:prstGeom>
        </p:spPr>
      </p:pic>
      <p:sp>
        <p:nvSpPr>
          <p:cNvPr id="6" name="Metin kutusu 5"/>
          <p:cNvSpPr txBox="1"/>
          <p:nvPr/>
        </p:nvSpPr>
        <p:spPr>
          <a:xfrm>
            <a:off x="703289" y="5996066"/>
            <a:ext cx="5202836" cy="646331"/>
          </a:xfrm>
          <a:prstGeom prst="rect">
            <a:avLst/>
          </a:prstGeom>
          <a:noFill/>
        </p:spPr>
        <p:txBody>
          <a:bodyPr wrap="square" rtlCol="0">
            <a:spAutoFit/>
          </a:bodyPr>
          <a:lstStyle/>
          <a:p>
            <a:r>
              <a:rPr lang="tr-TR" dirty="0"/>
              <a:t>Kapalı alanda lokal havalandırma ile yapılan kaynak işlemi</a:t>
            </a:r>
          </a:p>
        </p:txBody>
      </p:sp>
      <p:sp>
        <p:nvSpPr>
          <p:cNvPr id="7" name="Metin kutusu 6"/>
          <p:cNvSpPr txBox="1"/>
          <p:nvPr/>
        </p:nvSpPr>
        <p:spPr>
          <a:xfrm>
            <a:off x="7944787" y="4721902"/>
            <a:ext cx="3599322" cy="923330"/>
          </a:xfrm>
          <a:prstGeom prst="rect">
            <a:avLst/>
          </a:prstGeom>
          <a:noFill/>
        </p:spPr>
        <p:txBody>
          <a:bodyPr wrap="square" rtlCol="0">
            <a:spAutoFit/>
          </a:bodyPr>
          <a:lstStyle/>
          <a:p>
            <a:r>
              <a:rPr lang="tr-TR" dirty="0"/>
              <a:t>Oksijen </a:t>
            </a:r>
            <a:r>
              <a:rPr lang="tr-TR" dirty="0" smtClean="0"/>
              <a:t>kaçağında </a:t>
            </a:r>
            <a:r>
              <a:rPr lang="tr-TR" dirty="0"/>
              <a:t>yağlı elle temas sonucu oluşan iş kazası örneği</a:t>
            </a:r>
          </a:p>
        </p:txBody>
      </p:sp>
    </p:spTree>
    <p:extLst>
      <p:ext uri="{BB962C8B-B14F-4D97-AF65-F5344CB8AC3E}">
        <p14:creationId xmlns:p14="http://schemas.microsoft.com/office/powerpoint/2010/main" val="2226598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1FC282A-A8B5-F206-56FE-EA5AB12215A4}"/>
              </a:ext>
            </a:extLst>
          </p:cNvPr>
          <p:cNvSpPr>
            <a:spLocks noGrp="1"/>
          </p:cNvSpPr>
          <p:nvPr>
            <p:ph type="title"/>
          </p:nvPr>
        </p:nvSpPr>
        <p:spPr>
          <a:xfrm>
            <a:off x="686834" y="1153572"/>
            <a:ext cx="3200400" cy="4461163"/>
          </a:xfrm>
        </p:spPr>
        <p:txBody>
          <a:bodyPr>
            <a:normAutofit/>
          </a:bodyPr>
          <a:lstStyle/>
          <a:p>
            <a:r>
              <a:rPr lang="tr-TR" b="1">
                <a:solidFill>
                  <a:srgbClr val="FFFFFF"/>
                </a:solidFill>
              </a:rPr>
              <a:t>Alınabilecek tedbirler</a:t>
            </a:r>
            <a:r>
              <a:rPr lang="tr-TR">
                <a:solidFill>
                  <a:srgbClr val="FFFFFF"/>
                </a:solidFill>
              </a:rPr>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1EFB4ECD-740C-8278-DA99-38F01F2CC8A3}"/>
              </a:ext>
            </a:extLst>
          </p:cNvPr>
          <p:cNvSpPr>
            <a:spLocks noGrp="1"/>
          </p:cNvSpPr>
          <p:nvPr>
            <p:ph idx="1"/>
          </p:nvPr>
        </p:nvSpPr>
        <p:spPr>
          <a:xfrm>
            <a:off x="4447308" y="591344"/>
            <a:ext cx="6906491" cy="5585619"/>
          </a:xfrm>
        </p:spPr>
        <p:txBody>
          <a:bodyPr anchor="ctr">
            <a:normAutofit fontScale="92500" lnSpcReduction="20000"/>
          </a:bodyPr>
          <a:lstStyle/>
          <a:p>
            <a:pPr marL="0" indent="0">
              <a:buNone/>
            </a:pPr>
            <a:r>
              <a:rPr lang="tr-TR" sz="2000" b="1" dirty="0"/>
              <a:t>Havalandırma; </a:t>
            </a:r>
          </a:p>
          <a:p>
            <a:pPr marL="0" indent="0">
              <a:buNone/>
            </a:pPr>
            <a:endParaRPr lang="tr-TR" sz="2000" b="1" dirty="0"/>
          </a:p>
          <a:p>
            <a:pPr>
              <a:buFont typeface="Wingdings" panose="05000000000000000000" pitchFamily="2" charset="2"/>
              <a:buChar char="Ø"/>
            </a:pPr>
            <a:r>
              <a:rPr lang="tr-TR" sz="2000" dirty="0"/>
              <a:t>Kaynak yapılan yer zeminden 2 m yüksek ve etrafı ışık geçirmeyen paravanla çevrilmelidir.</a:t>
            </a:r>
          </a:p>
          <a:p>
            <a:pPr>
              <a:buFont typeface="Wingdings" panose="05000000000000000000" pitchFamily="2" charset="2"/>
              <a:buChar char="Ø"/>
            </a:pPr>
            <a:r>
              <a:rPr lang="tr-TR" sz="2000" dirty="0"/>
              <a:t>Kaynak atölyelerinin tavan yüksekliği en az 5 m olmalıdır.</a:t>
            </a:r>
          </a:p>
          <a:p>
            <a:pPr>
              <a:buFont typeface="Wingdings" panose="05000000000000000000" pitchFamily="2" charset="2"/>
              <a:buChar char="Ø"/>
            </a:pPr>
            <a:r>
              <a:rPr lang="tr-TR" sz="2000" dirty="0"/>
              <a:t>Kaynak işleri, yer ve iş durumu uygun ise açık havada yapılmalıdır.</a:t>
            </a:r>
          </a:p>
          <a:p>
            <a:pPr>
              <a:buFont typeface="Wingdings" panose="05000000000000000000" pitchFamily="2" charset="2"/>
              <a:buChar char="Ø"/>
            </a:pPr>
            <a:r>
              <a:rPr lang="tr-TR" sz="2000" dirty="0"/>
              <a:t>Boru içinde yapılan kaynaklarda, kaynağın karşısında bir aspiratör sistemi bulundurulmalıdır.</a:t>
            </a:r>
          </a:p>
          <a:p>
            <a:pPr>
              <a:buFont typeface="Wingdings" panose="05000000000000000000" pitchFamily="2" charset="2"/>
              <a:buChar char="Ø"/>
            </a:pPr>
            <a:r>
              <a:rPr lang="tr-TR" sz="2000" dirty="0"/>
              <a:t>Kazan ve nemli yerlerin kaynağında doğru akım kullanılmalıdır.</a:t>
            </a:r>
          </a:p>
          <a:p>
            <a:pPr>
              <a:buFont typeface="Wingdings" panose="05000000000000000000" pitchFamily="2" charset="2"/>
              <a:buChar char="Ø"/>
            </a:pPr>
            <a:r>
              <a:rPr lang="tr-TR" sz="2000" dirty="0"/>
              <a:t>Kaynakçının çalıştığı alanlarda hava akımını kesen yapı elemanı olmamalıdır.</a:t>
            </a:r>
          </a:p>
          <a:p>
            <a:pPr>
              <a:buFont typeface="Wingdings" panose="05000000000000000000" pitchFamily="2" charset="2"/>
              <a:buChar char="Ø"/>
            </a:pPr>
            <a:r>
              <a:rPr lang="tr-TR" sz="2000" dirty="0"/>
              <a:t>Atölyede birkaç kaynak türü var ise bu ünitelerde kirli havayı değiştirmek için lokal havalandırma kullanılması tercih edilmelidir.</a:t>
            </a:r>
          </a:p>
          <a:p>
            <a:pPr>
              <a:buFont typeface="Wingdings" panose="05000000000000000000" pitchFamily="2" charset="2"/>
              <a:buChar char="Ø"/>
            </a:pPr>
            <a:endParaRPr lang="tr-TR" sz="2000" dirty="0"/>
          </a:p>
        </p:txBody>
      </p:sp>
    </p:spTree>
    <p:extLst>
      <p:ext uri="{BB962C8B-B14F-4D97-AF65-F5344CB8AC3E}">
        <p14:creationId xmlns:p14="http://schemas.microsoft.com/office/powerpoint/2010/main" val="3522065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a:blip r:embed="rId2"/>
          <a:stretch>
            <a:fillRect/>
          </a:stretch>
        </p:blipFill>
        <p:spPr>
          <a:xfrm>
            <a:off x="345696" y="793859"/>
            <a:ext cx="5395681" cy="3468652"/>
          </a:xfrm>
          <a:prstGeom prst="rect">
            <a:avLst/>
          </a:prstGeom>
        </p:spPr>
      </p:pic>
      <p:pic>
        <p:nvPicPr>
          <p:cNvPr id="5" name="Resim 4"/>
          <p:cNvPicPr>
            <a:picLocks noChangeAspect="1"/>
          </p:cNvPicPr>
          <p:nvPr/>
        </p:nvPicPr>
        <p:blipFill>
          <a:blip r:embed="rId3"/>
          <a:stretch>
            <a:fillRect/>
          </a:stretch>
        </p:blipFill>
        <p:spPr>
          <a:xfrm>
            <a:off x="6059632" y="1955409"/>
            <a:ext cx="5984743" cy="3812345"/>
          </a:xfrm>
          <a:prstGeom prst="rect">
            <a:avLst/>
          </a:prstGeom>
        </p:spPr>
      </p:pic>
    </p:spTree>
    <p:extLst>
      <p:ext uri="{BB962C8B-B14F-4D97-AF65-F5344CB8AC3E}">
        <p14:creationId xmlns:p14="http://schemas.microsoft.com/office/powerpoint/2010/main" val="8941351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74A007-41A8-8A64-102A-6F0113C994E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69C15CD-A928-A13C-BF74-888CC2A1D8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4CDD554-D255-E011-156F-1816E3C88C18}"/>
              </a:ext>
            </a:extLst>
          </p:cNvPr>
          <p:cNvSpPr>
            <a:spLocks noGrp="1"/>
          </p:cNvSpPr>
          <p:nvPr>
            <p:ph type="title"/>
          </p:nvPr>
        </p:nvSpPr>
        <p:spPr>
          <a:xfrm>
            <a:off x="838200" y="365125"/>
            <a:ext cx="10515600" cy="1325563"/>
          </a:xfrm>
        </p:spPr>
        <p:txBody>
          <a:bodyPr>
            <a:normAutofit/>
          </a:bodyPr>
          <a:lstStyle/>
          <a:p>
            <a:r>
              <a:rPr lang="tr-TR" b="1" dirty="0"/>
              <a:t>Alınabilecek tedbirler</a:t>
            </a:r>
            <a:r>
              <a:rPr lang="tr-TR" dirty="0"/>
              <a:t>  </a:t>
            </a:r>
            <a:endParaRPr lang="tr-TR" b="1" dirty="0"/>
          </a:p>
        </p:txBody>
      </p:sp>
      <p:sp>
        <p:nvSpPr>
          <p:cNvPr id="10" name="sketch line">
            <a:extLst>
              <a:ext uri="{FF2B5EF4-FFF2-40B4-BE49-F238E27FC236}">
                <a16:creationId xmlns:a16="http://schemas.microsoft.com/office/drawing/2014/main" id="{B88F72CE-5CCD-9D56-4BFB-E96E7D9B6E1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0A03AF3E-2346-19CF-AA63-9A9F1BF74E3F}"/>
              </a:ext>
            </a:extLst>
          </p:cNvPr>
          <p:cNvSpPr>
            <a:spLocks noGrp="1"/>
          </p:cNvSpPr>
          <p:nvPr>
            <p:ph idx="1"/>
          </p:nvPr>
        </p:nvSpPr>
        <p:spPr>
          <a:xfrm>
            <a:off x="479685" y="1929383"/>
            <a:ext cx="11377535" cy="4726249"/>
          </a:xfrm>
        </p:spPr>
        <p:txBody>
          <a:bodyPr>
            <a:normAutofit/>
          </a:bodyPr>
          <a:lstStyle/>
          <a:p>
            <a:pPr marL="0" indent="0">
              <a:buNone/>
            </a:pPr>
            <a:r>
              <a:rPr lang="tr-TR" sz="2200" dirty="0"/>
              <a:t>   </a:t>
            </a:r>
          </a:p>
          <a:p>
            <a:pPr marL="0" indent="0">
              <a:buNone/>
            </a:pPr>
            <a:endParaRPr lang="tr-TR" sz="2200" dirty="0"/>
          </a:p>
        </p:txBody>
      </p:sp>
      <p:sp>
        <p:nvSpPr>
          <p:cNvPr id="4" name="Metin kutusu 3">
            <a:extLst>
              <a:ext uri="{FF2B5EF4-FFF2-40B4-BE49-F238E27FC236}">
                <a16:creationId xmlns:a16="http://schemas.microsoft.com/office/drawing/2014/main" id="{96920BB6-04C3-8B74-4B8C-D4B1CCB3EE05}"/>
              </a:ext>
            </a:extLst>
          </p:cNvPr>
          <p:cNvSpPr txBox="1"/>
          <p:nvPr/>
        </p:nvSpPr>
        <p:spPr>
          <a:xfrm>
            <a:off x="669037" y="2055813"/>
            <a:ext cx="11043278" cy="4324261"/>
          </a:xfrm>
          <a:prstGeom prst="rect">
            <a:avLst/>
          </a:prstGeom>
          <a:noFill/>
        </p:spPr>
        <p:txBody>
          <a:bodyPr wrap="square" rtlCol="0">
            <a:spAutoFit/>
          </a:bodyPr>
          <a:lstStyle/>
          <a:p>
            <a:r>
              <a:rPr lang="tr-TR" sz="2000" b="1" dirty="0">
                <a:solidFill>
                  <a:srgbClr val="C00000"/>
                </a:solidFill>
              </a:rPr>
              <a:t>Kaynakçının kullanması gereken kişisel koruyucular;</a:t>
            </a:r>
          </a:p>
          <a:p>
            <a:endParaRPr lang="tr-TR" sz="2000" b="1" dirty="0">
              <a:solidFill>
                <a:srgbClr val="C00000"/>
              </a:solidFill>
            </a:endParaRPr>
          </a:p>
          <a:p>
            <a:pPr>
              <a:spcBef>
                <a:spcPts val="600"/>
              </a:spcBef>
              <a:spcAft>
                <a:spcPts val="600"/>
              </a:spcAft>
              <a:buFont typeface="Wingdings" panose="05000000000000000000" pitchFamily="2" charset="2"/>
              <a:buChar char="Ø"/>
            </a:pPr>
            <a:r>
              <a:rPr lang="tr-TR" sz="2000" dirty="0"/>
              <a:t>Kolay yanmayan kumaştan yapılmış iş elbisesi.</a:t>
            </a:r>
          </a:p>
          <a:p>
            <a:pPr>
              <a:spcBef>
                <a:spcPts val="600"/>
              </a:spcBef>
              <a:spcAft>
                <a:spcPts val="600"/>
              </a:spcAft>
              <a:buFont typeface="Wingdings" panose="05000000000000000000" pitchFamily="2" charset="2"/>
              <a:buChar char="Ø"/>
            </a:pPr>
            <a:r>
              <a:rPr lang="tr-TR" sz="2000" dirty="0"/>
              <a:t>Krom emprenye edilmiş, boyuna kadar uzanan deri önlük.</a:t>
            </a:r>
          </a:p>
          <a:p>
            <a:pPr>
              <a:spcBef>
                <a:spcPts val="600"/>
              </a:spcBef>
              <a:spcAft>
                <a:spcPts val="600"/>
              </a:spcAft>
              <a:buFont typeface="Wingdings" panose="05000000000000000000" pitchFamily="2" charset="2"/>
              <a:buChar char="Ø"/>
            </a:pPr>
            <a:r>
              <a:rPr lang="tr-TR" sz="2000" dirty="0"/>
              <a:t>Uzun manşetli deri eldiven.</a:t>
            </a:r>
          </a:p>
          <a:p>
            <a:pPr>
              <a:spcBef>
                <a:spcPts val="600"/>
              </a:spcBef>
              <a:spcAft>
                <a:spcPts val="600"/>
              </a:spcAft>
              <a:buFont typeface="Wingdings" panose="05000000000000000000" pitchFamily="2" charset="2"/>
              <a:buChar char="Ø"/>
            </a:pPr>
            <a:r>
              <a:rPr lang="tr-TR" sz="2000" dirty="0"/>
              <a:t>Ense kısmı pelerinli baret (itfaiyecilerde olduğu gibi).</a:t>
            </a:r>
          </a:p>
          <a:p>
            <a:pPr>
              <a:spcBef>
                <a:spcPts val="600"/>
              </a:spcBef>
              <a:spcAft>
                <a:spcPts val="600"/>
              </a:spcAft>
              <a:buFont typeface="Wingdings" panose="05000000000000000000" pitchFamily="2" charset="2"/>
              <a:buChar char="Ø"/>
            </a:pPr>
            <a:r>
              <a:rPr lang="tr-TR" sz="2000" dirty="0"/>
              <a:t>Kaynakçı gözlüğü veya siperi.</a:t>
            </a:r>
          </a:p>
          <a:p>
            <a:pPr>
              <a:spcBef>
                <a:spcPts val="600"/>
              </a:spcBef>
              <a:spcAft>
                <a:spcPts val="600"/>
              </a:spcAft>
              <a:buFont typeface="Wingdings" panose="05000000000000000000" pitchFamily="2" charset="2"/>
              <a:buChar char="Ø"/>
            </a:pPr>
            <a:r>
              <a:rPr lang="tr-TR" sz="2000" dirty="0"/>
              <a:t>Deri tozluk.</a:t>
            </a:r>
          </a:p>
          <a:p>
            <a:pPr>
              <a:spcBef>
                <a:spcPts val="600"/>
              </a:spcBef>
              <a:spcAft>
                <a:spcPts val="600"/>
              </a:spcAft>
              <a:buFont typeface="Wingdings" panose="05000000000000000000" pitchFamily="2" charset="2"/>
              <a:buChar char="Ø"/>
            </a:pPr>
            <a:r>
              <a:rPr lang="tr-TR" sz="2000" dirty="0"/>
              <a:t>Çelik </a:t>
            </a:r>
            <a:r>
              <a:rPr lang="tr-TR" sz="2000" dirty="0" err="1"/>
              <a:t>maskaratlı</a:t>
            </a:r>
            <a:r>
              <a:rPr lang="tr-TR" sz="2000" dirty="0"/>
              <a:t> ayakkabı, bot.</a:t>
            </a:r>
          </a:p>
          <a:p>
            <a:pPr>
              <a:spcBef>
                <a:spcPts val="600"/>
              </a:spcBef>
              <a:spcAft>
                <a:spcPts val="600"/>
              </a:spcAft>
              <a:buFont typeface="Wingdings" panose="05000000000000000000" pitchFamily="2" charset="2"/>
              <a:buChar char="Ø"/>
            </a:pPr>
            <a:r>
              <a:rPr lang="tr-TR" sz="2000" dirty="0"/>
              <a:t>Lokal havalandırmanın olmadığı yerlerde P3 kombine maske</a:t>
            </a:r>
          </a:p>
        </p:txBody>
      </p:sp>
      <p:pic>
        <p:nvPicPr>
          <p:cNvPr id="6" name="Resim 5">
            <a:extLst>
              <a:ext uri="{FF2B5EF4-FFF2-40B4-BE49-F238E27FC236}">
                <a16:creationId xmlns:a16="http://schemas.microsoft.com/office/drawing/2014/main" id="{8ADB6E7A-F296-DB91-7E7D-291324F87C5B}"/>
              </a:ext>
            </a:extLst>
          </p:cNvPr>
          <p:cNvPicPr>
            <a:picLocks noChangeAspect="1"/>
          </p:cNvPicPr>
          <p:nvPr/>
        </p:nvPicPr>
        <p:blipFill>
          <a:blip r:embed="rId3"/>
          <a:stretch>
            <a:fillRect/>
          </a:stretch>
        </p:blipFill>
        <p:spPr>
          <a:xfrm>
            <a:off x="8045932" y="1992598"/>
            <a:ext cx="2143125" cy="2143125"/>
          </a:xfrm>
          <a:prstGeom prst="rect">
            <a:avLst/>
          </a:prstGeom>
        </p:spPr>
      </p:pic>
      <p:pic>
        <p:nvPicPr>
          <p:cNvPr id="7" name="Resim 6">
            <a:extLst>
              <a:ext uri="{FF2B5EF4-FFF2-40B4-BE49-F238E27FC236}">
                <a16:creationId xmlns:a16="http://schemas.microsoft.com/office/drawing/2014/main" id="{D910D76D-9E8F-0323-A2A2-92CE21281E79}"/>
              </a:ext>
            </a:extLst>
          </p:cNvPr>
          <p:cNvPicPr>
            <a:picLocks noChangeAspect="1"/>
          </p:cNvPicPr>
          <p:nvPr/>
        </p:nvPicPr>
        <p:blipFill>
          <a:blip r:embed="rId4"/>
          <a:stretch>
            <a:fillRect/>
          </a:stretch>
        </p:blipFill>
        <p:spPr>
          <a:xfrm>
            <a:off x="10113234" y="4233289"/>
            <a:ext cx="1599081" cy="1998851"/>
          </a:xfrm>
          <a:prstGeom prst="rect">
            <a:avLst/>
          </a:prstGeom>
        </p:spPr>
      </p:pic>
      <p:pic>
        <p:nvPicPr>
          <p:cNvPr id="9" name="Resim 8">
            <a:extLst>
              <a:ext uri="{FF2B5EF4-FFF2-40B4-BE49-F238E27FC236}">
                <a16:creationId xmlns:a16="http://schemas.microsoft.com/office/drawing/2014/main" id="{32A30F8D-8ABD-564B-08DA-F04D912A397B}"/>
              </a:ext>
            </a:extLst>
          </p:cNvPr>
          <p:cNvPicPr>
            <a:picLocks noChangeAspect="1"/>
          </p:cNvPicPr>
          <p:nvPr/>
        </p:nvPicPr>
        <p:blipFill>
          <a:blip r:embed="rId5"/>
          <a:srcRect l="16112" t="6791" r="9322" b="9321"/>
          <a:stretch>
            <a:fillRect/>
          </a:stretch>
        </p:blipFill>
        <p:spPr>
          <a:xfrm>
            <a:off x="10045826" y="2026949"/>
            <a:ext cx="1905000" cy="2143125"/>
          </a:xfrm>
          <a:prstGeom prst="rect">
            <a:avLst/>
          </a:prstGeom>
        </p:spPr>
      </p:pic>
    </p:spTree>
    <p:extLst>
      <p:ext uri="{BB962C8B-B14F-4D97-AF65-F5344CB8AC3E}">
        <p14:creationId xmlns:p14="http://schemas.microsoft.com/office/powerpoint/2010/main" val="39140173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rotWithShape="1">
          <a:blip r:embed="rId2"/>
          <a:srcRect l="9312" t="15255" r="6477" b="3180"/>
          <a:stretch/>
        </p:blipFill>
        <p:spPr>
          <a:xfrm>
            <a:off x="3445604" y="77778"/>
            <a:ext cx="7033847" cy="6780222"/>
          </a:xfrm>
          <a:prstGeom prst="rect">
            <a:avLst/>
          </a:prstGeom>
        </p:spPr>
      </p:pic>
      <p:sp>
        <p:nvSpPr>
          <p:cNvPr id="5" name="Metin kutusu 4"/>
          <p:cNvSpPr txBox="1"/>
          <p:nvPr/>
        </p:nvSpPr>
        <p:spPr>
          <a:xfrm>
            <a:off x="130629" y="2721114"/>
            <a:ext cx="3559904" cy="707886"/>
          </a:xfrm>
          <a:prstGeom prst="rect">
            <a:avLst/>
          </a:prstGeom>
          <a:noFill/>
        </p:spPr>
        <p:txBody>
          <a:bodyPr wrap="square" rtlCol="0">
            <a:spAutoFit/>
          </a:bodyPr>
          <a:lstStyle/>
          <a:p>
            <a:r>
              <a:rPr lang="tr-TR" sz="2000" b="1" dirty="0"/>
              <a:t>Doğru ve güvenli </a:t>
            </a:r>
            <a:r>
              <a:rPr lang="tr-TR" sz="2000" b="1" dirty="0" err="1"/>
              <a:t>Oksi</a:t>
            </a:r>
            <a:r>
              <a:rPr lang="tr-TR" sz="2000" b="1" dirty="0"/>
              <a:t>-gaz kaynak istasyonu</a:t>
            </a:r>
          </a:p>
        </p:txBody>
      </p:sp>
    </p:spTree>
    <p:extLst>
      <p:ext uri="{BB962C8B-B14F-4D97-AF65-F5344CB8AC3E}">
        <p14:creationId xmlns:p14="http://schemas.microsoft.com/office/powerpoint/2010/main" val="38998916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1ECC5E-054A-5C46-1C1A-C288C6F58DE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6B26B9-7992-2259-22AE-B66B38B9973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F144891-2D1A-65B2-B9BD-39A007A49C87}"/>
              </a:ext>
            </a:extLst>
          </p:cNvPr>
          <p:cNvSpPr>
            <a:spLocks noGrp="1"/>
          </p:cNvSpPr>
          <p:nvPr>
            <p:ph type="title"/>
          </p:nvPr>
        </p:nvSpPr>
        <p:spPr>
          <a:xfrm>
            <a:off x="838200" y="365125"/>
            <a:ext cx="10515600" cy="1325563"/>
          </a:xfrm>
        </p:spPr>
        <p:txBody>
          <a:bodyPr>
            <a:normAutofit/>
          </a:bodyPr>
          <a:lstStyle/>
          <a:p>
            <a:r>
              <a:rPr lang="tr-TR" b="1" dirty="0"/>
              <a:t>İlgili Yönetmelikler</a:t>
            </a:r>
          </a:p>
        </p:txBody>
      </p:sp>
      <p:sp>
        <p:nvSpPr>
          <p:cNvPr id="10" name="sketch line">
            <a:extLst>
              <a:ext uri="{FF2B5EF4-FFF2-40B4-BE49-F238E27FC236}">
                <a16:creationId xmlns:a16="http://schemas.microsoft.com/office/drawing/2014/main" id="{4C9605B9-EFCD-0766-E66E-39BAC19EEA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0793A072-5889-4D07-C691-2E89F78A49A3}"/>
              </a:ext>
            </a:extLst>
          </p:cNvPr>
          <p:cNvSpPr>
            <a:spLocks noGrp="1"/>
          </p:cNvSpPr>
          <p:nvPr>
            <p:ph idx="1"/>
          </p:nvPr>
        </p:nvSpPr>
        <p:spPr>
          <a:xfrm>
            <a:off x="479685" y="1929383"/>
            <a:ext cx="11377535" cy="4726249"/>
          </a:xfrm>
        </p:spPr>
        <p:txBody>
          <a:bodyPr>
            <a:normAutofit/>
          </a:bodyPr>
          <a:lstStyle/>
          <a:p>
            <a:pPr marL="0" indent="0">
              <a:buNone/>
            </a:pPr>
            <a:r>
              <a:rPr lang="tr-TR" sz="2200" dirty="0"/>
              <a:t>   </a:t>
            </a:r>
          </a:p>
          <a:p>
            <a:pPr marL="0" indent="0">
              <a:buNone/>
            </a:pPr>
            <a:endParaRPr lang="tr-TR" sz="2200" dirty="0"/>
          </a:p>
        </p:txBody>
      </p:sp>
      <p:sp>
        <p:nvSpPr>
          <p:cNvPr id="4" name="Metin kutusu 3">
            <a:extLst>
              <a:ext uri="{FF2B5EF4-FFF2-40B4-BE49-F238E27FC236}">
                <a16:creationId xmlns:a16="http://schemas.microsoft.com/office/drawing/2014/main" id="{7DF2F22B-A872-8146-25C3-A01909E9C0C2}"/>
              </a:ext>
            </a:extLst>
          </p:cNvPr>
          <p:cNvSpPr txBox="1"/>
          <p:nvPr/>
        </p:nvSpPr>
        <p:spPr>
          <a:xfrm>
            <a:off x="669037" y="2055813"/>
            <a:ext cx="11043278" cy="4785926"/>
          </a:xfrm>
          <a:prstGeom prst="rect">
            <a:avLst/>
          </a:prstGeom>
          <a:noFill/>
        </p:spPr>
        <p:txBody>
          <a:bodyPr wrap="square" rtlCol="0">
            <a:spAutoFit/>
          </a:bodyPr>
          <a:lstStyle/>
          <a:p>
            <a:pPr>
              <a:buFont typeface="Wingdings" panose="05000000000000000000" pitchFamily="2" charset="2"/>
              <a:buChar char="Ø"/>
            </a:pPr>
            <a:r>
              <a:rPr lang="tr-TR" sz="2000" dirty="0">
                <a:solidFill>
                  <a:srgbClr val="C00000"/>
                </a:solidFill>
              </a:rPr>
              <a:t>İş Ekipmanlarının Kullanımında Sağlık ve Güvenlik Şartları Yönetmeliği</a:t>
            </a:r>
            <a:r>
              <a:rPr lang="tr-TR" sz="2000" dirty="0"/>
              <a:t>: Kaynak makinelerinin, gaz tüplerinin ve hortumların güvenli kullanımı ve periyodik kontrollerini zorunlu kılar.</a:t>
            </a:r>
          </a:p>
          <a:p>
            <a:pPr>
              <a:buFont typeface="Wingdings" panose="05000000000000000000" pitchFamily="2" charset="2"/>
              <a:buChar char="Ø"/>
            </a:pPr>
            <a:endParaRPr lang="tr-TR" sz="2000" dirty="0"/>
          </a:p>
          <a:p>
            <a:pPr>
              <a:buFont typeface="Wingdings" panose="05000000000000000000" pitchFamily="2" charset="2"/>
              <a:buChar char="Ø"/>
            </a:pPr>
            <a:r>
              <a:rPr lang="tr-TR" sz="2000" dirty="0">
                <a:solidFill>
                  <a:srgbClr val="C00000"/>
                </a:solidFill>
              </a:rPr>
              <a:t>Yapı İşlerinde İş Sağlığı ve Güvenliği Yönetmeliği</a:t>
            </a:r>
            <a:r>
              <a:rPr lang="tr-TR" sz="2000" dirty="0"/>
              <a:t>: Yüksekte veya kapalı alanlarda yapılan kaynak işlerinde güvenlik önlemlerini (iskele, havalandırma) belirler.</a:t>
            </a:r>
          </a:p>
          <a:p>
            <a:pPr>
              <a:buFont typeface="Wingdings" panose="05000000000000000000" pitchFamily="2" charset="2"/>
              <a:buChar char="Ø"/>
            </a:pPr>
            <a:endParaRPr lang="tr-TR" sz="2000" dirty="0"/>
          </a:p>
          <a:p>
            <a:pPr>
              <a:buFont typeface="Wingdings" panose="05000000000000000000" pitchFamily="2" charset="2"/>
              <a:buChar char="Ø"/>
            </a:pPr>
            <a:r>
              <a:rPr lang="tr-TR" sz="2000" dirty="0">
                <a:solidFill>
                  <a:srgbClr val="C00000"/>
                </a:solidFill>
              </a:rPr>
              <a:t>Kişisel Koruyucu Donanım (KKD) Yönetmelikleri</a:t>
            </a:r>
            <a:r>
              <a:rPr lang="tr-TR" sz="2000" dirty="0"/>
              <a:t>: Kaynakçı maskesi, deri eldiven, alev geciktirici iş elbisesi ve uygun ayakkabı kullanımını zorunlu tutar.</a:t>
            </a:r>
          </a:p>
          <a:p>
            <a:pPr>
              <a:buFont typeface="Wingdings" panose="05000000000000000000" pitchFamily="2" charset="2"/>
              <a:buChar char="Ø"/>
            </a:pPr>
            <a:endParaRPr lang="tr-TR" sz="2000" dirty="0"/>
          </a:p>
          <a:p>
            <a:pPr>
              <a:buFont typeface="Wingdings" panose="05000000000000000000" pitchFamily="2" charset="2"/>
              <a:buChar char="Ø"/>
            </a:pPr>
            <a:r>
              <a:rPr lang="tr-TR" sz="2000" dirty="0">
                <a:solidFill>
                  <a:srgbClr val="C00000"/>
                </a:solidFill>
              </a:rPr>
              <a:t>Çalışma Süreleri: </a:t>
            </a:r>
            <a:r>
              <a:rPr lang="tr-TR" sz="2000" dirty="0"/>
              <a:t>Kaynaklı imalat atölyelerinde, özellikle toz altı ve gaz altı kaynak işlerinde günde en fazla 7.5 saat çalışma sınırı uygulanır.</a:t>
            </a:r>
          </a:p>
          <a:p>
            <a:endParaRPr lang="tr-TR" sz="2000" dirty="0"/>
          </a:p>
          <a:p>
            <a:pPr>
              <a:buFont typeface="Wingdings" panose="05000000000000000000" pitchFamily="2" charset="2"/>
              <a:buChar char="Ø"/>
            </a:pPr>
            <a:r>
              <a:rPr lang="tr-TR" sz="2000" dirty="0">
                <a:solidFill>
                  <a:srgbClr val="C00000"/>
                </a:solidFill>
              </a:rPr>
              <a:t>Eğitim ve Sertifikasyon</a:t>
            </a:r>
            <a:r>
              <a:rPr lang="tr-TR" sz="2000" dirty="0"/>
              <a:t>: Çalışanların İSG eğitimlerini alması ve yapılan işe uygun mesleki yeterlilik belgesine (kaynakçı sertifikası) sahip olması zorunludur. </a:t>
            </a:r>
          </a:p>
          <a:p>
            <a:pPr>
              <a:spcBef>
                <a:spcPts val="600"/>
              </a:spcBef>
              <a:spcAft>
                <a:spcPts val="600"/>
              </a:spcAft>
            </a:pPr>
            <a:endParaRPr lang="tr-TR" sz="2000" dirty="0"/>
          </a:p>
        </p:txBody>
      </p:sp>
    </p:spTree>
    <p:extLst>
      <p:ext uri="{BB962C8B-B14F-4D97-AF65-F5344CB8AC3E}">
        <p14:creationId xmlns:p14="http://schemas.microsoft.com/office/powerpoint/2010/main" val="2648725292"/>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9A3BFD3C5F92D049BC69F483FC26D298" ma:contentTypeVersion="3" ma:contentTypeDescription="Yeni belge oluşturun." ma:contentTypeScope="" ma:versionID="69bf62894d89772b1543603c36e4812a">
  <xsd:schema xmlns:xsd="http://www.w3.org/2001/XMLSchema" xmlns:xs="http://www.w3.org/2001/XMLSchema" xmlns:p="http://schemas.microsoft.com/office/2006/metadata/properties" xmlns:ns2="6805b59e-0943-4cfb-8652-1c80d1cf44c1" targetNamespace="http://schemas.microsoft.com/office/2006/metadata/properties" ma:root="true" ma:fieldsID="eaacab69edae4eb2c8da77164ba5f923" ns2:_="">
    <xsd:import namespace="6805b59e-0943-4cfb-8652-1c80d1cf44c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05b59e-0943-4cfb-8652-1c80d1cf44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DAE890-FC99-4702-BBD9-8F6201619DAE}"/>
</file>

<file path=customXml/itemProps2.xml><?xml version="1.0" encoding="utf-8"?>
<ds:datastoreItem xmlns:ds="http://schemas.openxmlformats.org/officeDocument/2006/customXml" ds:itemID="{C3C21367-9DE1-4449-B98E-ADF0987C4542}"/>
</file>

<file path=customXml/itemProps3.xml><?xml version="1.0" encoding="utf-8"?>
<ds:datastoreItem xmlns:ds="http://schemas.openxmlformats.org/officeDocument/2006/customXml" ds:itemID="{0A6780AB-0A50-4B71-9752-842756F52FB3}"/>
</file>

<file path=docProps/app.xml><?xml version="1.0" encoding="utf-8"?>
<Properties xmlns="http://schemas.openxmlformats.org/officeDocument/2006/extended-properties" xmlns:vt="http://schemas.openxmlformats.org/officeDocument/2006/docPropsVTypes">
  <TotalTime>2199</TotalTime>
  <Words>2547</Words>
  <Application>Microsoft Office PowerPoint</Application>
  <PresentationFormat>Geniş ekran</PresentationFormat>
  <Paragraphs>381</Paragraphs>
  <Slides>36</Slides>
  <Notes>13</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36</vt:i4>
      </vt:variant>
    </vt:vector>
  </HeadingPairs>
  <TitlesOfParts>
    <vt:vector size="44" baseType="lpstr">
      <vt:lpstr>Aptos</vt:lpstr>
      <vt:lpstr>Aptos Display</vt:lpstr>
      <vt:lpstr>Arial</vt:lpstr>
      <vt:lpstr>Cambria</vt:lpstr>
      <vt:lpstr>MS Mincho</vt:lpstr>
      <vt:lpstr>Times New Roman</vt:lpstr>
      <vt:lpstr>Wingdings</vt:lpstr>
      <vt:lpstr>Office Teması</vt:lpstr>
      <vt:lpstr>PowerPoint Sunusu</vt:lpstr>
      <vt:lpstr>Dersin içeriği</vt:lpstr>
      <vt:lpstr>Kaynak nedir?</vt:lpstr>
      <vt:lpstr>Kaynak nedir?</vt:lpstr>
      <vt:lpstr>Kaynak İşlerinde İSG</vt:lpstr>
      <vt:lpstr>Kaynak türleri </vt:lpstr>
      <vt:lpstr>Hangi koruyucu gazlar kullanılır?</vt:lpstr>
      <vt:lpstr>Gazların fonksiyonları nelerdir?</vt:lpstr>
      <vt:lpstr>Kaynak türleri </vt:lpstr>
      <vt:lpstr>PowerPoint Sunusu</vt:lpstr>
      <vt:lpstr>PowerPoint Sunusu</vt:lpstr>
      <vt:lpstr>Kaynak türleri </vt:lpstr>
      <vt:lpstr>PowerPoint Sunusu</vt:lpstr>
      <vt:lpstr>PowerPoint Sunusu</vt:lpstr>
      <vt:lpstr>Kaynak türleri </vt:lpstr>
      <vt:lpstr>Kaynak türleri </vt:lpstr>
      <vt:lpstr>PowerPoint Sunusu</vt:lpstr>
      <vt:lpstr>Kaynak türleri </vt:lpstr>
      <vt:lpstr>PowerPoint Sunusu</vt:lpstr>
      <vt:lpstr>Tehlikeler </vt:lpstr>
      <vt:lpstr>Tehlikeler </vt:lpstr>
      <vt:lpstr>Tehlikeler </vt:lpstr>
      <vt:lpstr>Tehlikeler </vt:lpstr>
      <vt:lpstr>Tehlikeler </vt:lpstr>
      <vt:lpstr>Tehlikeler </vt:lpstr>
      <vt:lpstr>Tehlikeler </vt:lpstr>
      <vt:lpstr>Tehlikeler</vt:lpstr>
      <vt:lpstr>Alınabilecek tedbirler </vt:lpstr>
      <vt:lpstr>Alınabilecek tedbirler </vt:lpstr>
      <vt:lpstr>Alınabilecek tedbirler </vt:lpstr>
      <vt:lpstr>PowerPoint Sunusu</vt:lpstr>
      <vt:lpstr>Alınabilecek tedbirler </vt:lpstr>
      <vt:lpstr>PowerPoint Sunusu</vt:lpstr>
      <vt:lpstr>Alınabilecek tedbirler  </vt:lpstr>
      <vt:lpstr>PowerPoint Sunusu</vt:lpstr>
      <vt:lpstr>İlgili Yönetmelikler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Beyza Özgürses</dc:creator>
  <cp:lastModifiedBy>Beyza samuk</cp:lastModifiedBy>
  <cp:revision>67</cp:revision>
  <dcterms:created xsi:type="dcterms:W3CDTF">2026-01-31T15:45:31Z</dcterms:created>
  <dcterms:modified xsi:type="dcterms:W3CDTF">2026-03-09T08:21:36Z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0x0101009A3BFD3C5F92D049BC69F483FC26D298</vt:lpwstr>
  </property>
</Properties>
</file>