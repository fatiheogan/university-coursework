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28.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7.xml" ContentType="application/vnd.openxmlformats-officedocument.presentationml.slide+xml"/>
  <Override PartName="/ppt/slides/slide1.xml" ContentType="application/vnd.openxmlformats-officedocument.presentationml.slide+xml"/>
  <Override PartName="/ppt/slides/slide6.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56" r:id="rId2"/>
    <p:sldId id="257" r:id="rId3"/>
    <p:sldId id="260" r:id="rId4"/>
    <p:sldId id="259" r:id="rId5"/>
    <p:sldId id="258" r:id="rId6"/>
    <p:sldId id="261" r:id="rId7"/>
    <p:sldId id="262" r:id="rId8"/>
    <p:sldId id="263" r:id="rId9"/>
    <p:sldId id="264" r:id="rId10"/>
    <p:sldId id="265" r:id="rId11"/>
    <p:sldId id="298" r:id="rId12"/>
    <p:sldId id="271" r:id="rId13"/>
    <p:sldId id="267" r:id="rId14"/>
    <p:sldId id="268" r:id="rId15"/>
    <p:sldId id="270" r:id="rId16"/>
    <p:sldId id="269" r:id="rId17"/>
    <p:sldId id="272" r:id="rId18"/>
    <p:sldId id="278" r:id="rId19"/>
    <p:sldId id="277" r:id="rId20"/>
    <p:sldId id="276" r:id="rId21"/>
    <p:sldId id="275" r:id="rId22"/>
    <p:sldId id="274" r:id="rId23"/>
    <p:sldId id="273" r:id="rId24"/>
    <p:sldId id="279" r:id="rId25"/>
    <p:sldId id="280" r:id="rId26"/>
    <p:sldId id="281" r:id="rId27"/>
    <p:sldId id="282" r:id="rId28"/>
    <p:sldId id="299" r:id="rId29"/>
    <p:sldId id="300" r:id="rId30"/>
    <p:sldId id="301" r:id="rId31"/>
    <p:sldId id="302" r:id="rId32"/>
    <p:sldId id="288" r:id="rId33"/>
    <p:sldId id="289" r:id="rId34"/>
    <p:sldId id="290" r:id="rId35"/>
    <p:sldId id="291" r:id="rId36"/>
    <p:sldId id="292" r:id="rId37"/>
    <p:sldId id="293" r:id="rId38"/>
    <p:sldId id="294" r:id="rId39"/>
    <p:sldId id="295" r:id="rId40"/>
    <p:sldId id="296" r:id="rId41"/>
    <p:sldId id="297" r:id="rId42"/>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Orta Stil 2 - Vurgu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Orta Stil 2 - Vurgu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4C1A8A3-306A-4EB7-A6B1-4F7E0EB9C5D6}" styleName="Orta Stil 3 - Vurgu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9" d="100"/>
          <a:sy n="89" d="100"/>
        </p:scale>
        <p:origin x="114" y="5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50"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6F4982-B680-46D1-AFB3-479AE2C9EF4D}" type="datetimeFigureOut">
              <a:rPr lang="tr-TR" smtClean="0"/>
              <a:t>2.03.2026</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B7B3CD-5FBF-44E3-9BF1-96F783DBE1CA}" type="slidenum">
              <a:rPr lang="tr-TR" smtClean="0"/>
              <a:t>‹#›</a:t>
            </a:fld>
            <a:endParaRPr lang="tr-TR"/>
          </a:p>
        </p:txBody>
      </p:sp>
    </p:spTree>
    <p:extLst>
      <p:ext uri="{BB962C8B-B14F-4D97-AF65-F5344CB8AC3E}">
        <p14:creationId xmlns:p14="http://schemas.microsoft.com/office/powerpoint/2010/main" val="1740215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FD4EE89-4AE0-4C61-048D-408BAAADEBA3}"/>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F1001C81-F1B3-BCB0-D04A-07C746AF9C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576E3C1F-DADD-BF99-94CB-A84CDADB018C}"/>
              </a:ext>
            </a:extLst>
          </p:cNvPr>
          <p:cNvSpPr>
            <a:spLocks noGrp="1"/>
          </p:cNvSpPr>
          <p:nvPr>
            <p:ph type="dt" sz="half" idx="10"/>
          </p:nvPr>
        </p:nvSpPr>
        <p:spPr/>
        <p:txBody>
          <a:bodyPr/>
          <a:lstStyle/>
          <a:p>
            <a:fld id="{82E50E3E-379D-4AB4-A11D-B6EE431B6D08}" type="datetimeFigureOut">
              <a:rPr lang="tr-TR" smtClean="0"/>
              <a:t>2.03.2026</a:t>
            </a:fld>
            <a:endParaRPr lang="tr-TR"/>
          </a:p>
        </p:txBody>
      </p:sp>
      <p:sp>
        <p:nvSpPr>
          <p:cNvPr id="5" name="Alt Bilgi Yer Tutucusu 4">
            <a:extLst>
              <a:ext uri="{FF2B5EF4-FFF2-40B4-BE49-F238E27FC236}">
                <a16:creationId xmlns:a16="http://schemas.microsoft.com/office/drawing/2014/main" id="{94247C20-E9DA-159B-5826-AABC53457EFA}"/>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069D09E3-F4D7-E93F-E767-53B17AB3A455}"/>
              </a:ext>
            </a:extLst>
          </p:cNvPr>
          <p:cNvSpPr>
            <a:spLocks noGrp="1"/>
          </p:cNvSpPr>
          <p:nvPr>
            <p:ph type="sldNum" sz="quarter" idx="12"/>
          </p:nvPr>
        </p:nvSpPr>
        <p:spPr/>
        <p:txBody>
          <a:bodyPr/>
          <a:lstStyle/>
          <a:p>
            <a:fld id="{C8A89FDF-BC5D-4BFE-945A-5E0B33E539F8}" type="slidenum">
              <a:rPr lang="tr-TR" smtClean="0"/>
              <a:t>‹#›</a:t>
            </a:fld>
            <a:endParaRPr lang="tr-TR"/>
          </a:p>
        </p:txBody>
      </p:sp>
    </p:spTree>
    <p:extLst>
      <p:ext uri="{BB962C8B-B14F-4D97-AF65-F5344CB8AC3E}">
        <p14:creationId xmlns:p14="http://schemas.microsoft.com/office/powerpoint/2010/main" val="4343517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E3B377A-DE38-EA3A-606D-AEBD1F0E4C0A}"/>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27ECD2FF-9A18-77A9-40DF-71EDB685D1D9}"/>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920F8367-19AF-8372-7BD0-92C1EF67E8CB}"/>
              </a:ext>
            </a:extLst>
          </p:cNvPr>
          <p:cNvSpPr>
            <a:spLocks noGrp="1"/>
          </p:cNvSpPr>
          <p:nvPr>
            <p:ph type="dt" sz="half" idx="10"/>
          </p:nvPr>
        </p:nvSpPr>
        <p:spPr/>
        <p:txBody>
          <a:bodyPr/>
          <a:lstStyle/>
          <a:p>
            <a:fld id="{82E50E3E-379D-4AB4-A11D-B6EE431B6D08}" type="datetimeFigureOut">
              <a:rPr lang="tr-TR" smtClean="0"/>
              <a:t>2.03.2026</a:t>
            </a:fld>
            <a:endParaRPr lang="tr-TR"/>
          </a:p>
        </p:txBody>
      </p:sp>
      <p:sp>
        <p:nvSpPr>
          <p:cNvPr id="5" name="Alt Bilgi Yer Tutucusu 4">
            <a:extLst>
              <a:ext uri="{FF2B5EF4-FFF2-40B4-BE49-F238E27FC236}">
                <a16:creationId xmlns:a16="http://schemas.microsoft.com/office/drawing/2014/main" id="{FD64B59F-4F9A-BD45-A887-176A1E1D74CA}"/>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AE4BE0B9-7A28-159A-ECED-24806CBF1B64}"/>
              </a:ext>
            </a:extLst>
          </p:cNvPr>
          <p:cNvSpPr>
            <a:spLocks noGrp="1"/>
          </p:cNvSpPr>
          <p:nvPr>
            <p:ph type="sldNum" sz="quarter" idx="12"/>
          </p:nvPr>
        </p:nvSpPr>
        <p:spPr/>
        <p:txBody>
          <a:bodyPr/>
          <a:lstStyle/>
          <a:p>
            <a:fld id="{C8A89FDF-BC5D-4BFE-945A-5E0B33E539F8}" type="slidenum">
              <a:rPr lang="tr-TR" smtClean="0"/>
              <a:t>‹#›</a:t>
            </a:fld>
            <a:endParaRPr lang="tr-TR"/>
          </a:p>
        </p:txBody>
      </p:sp>
    </p:spTree>
    <p:extLst>
      <p:ext uri="{BB962C8B-B14F-4D97-AF65-F5344CB8AC3E}">
        <p14:creationId xmlns:p14="http://schemas.microsoft.com/office/powerpoint/2010/main" val="538650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F3D2175-6A7B-B0D6-312C-96DDA1262383}"/>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034395DC-D0A4-72FD-0B99-E1E3A5D3639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6039D845-42F4-4AD9-40B3-7D6B2DC0168E}"/>
              </a:ext>
            </a:extLst>
          </p:cNvPr>
          <p:cNvSpPr>
            <a:spLocks noGrp="1"/>
          </p:cNvSpPr>
          <p:nvPr>
            <p:ph type="dt" sz="half" idx="10"/>
          </p:nvPr>
        </p:nvSpPr>
        <p:spPr/>
        <p:txBody>
          <a:bodyPr/>
          <a:lstStyle/>
          <a:p>
            <a:fld id="{82E50E3E-379D-4AB4-A11D-B6EE431B6D08}" type="datetimeFigureOut">
              <a:rPr lang="tr-TR" smtClean="0"/>
              <a:t>2.03.2026</a:t>
            </a:fld>
            <a:endParaRPr lang="tr-TR"/>
          </a:p>
        </p:txBody>
      </p:sp>
      <p:sp>
        <p:nvSpPr>
          <p:cNvPr id="5" name="Alt Bilgi Yer Tutucusu 4">
            <a:extLst>
              <a:ext uri="{FF2B5EF4-FFF2-40B4-BE49-F238E27FC236}">
                <a16:creationId xmlns:a16="http://schemas.microsoft.com/office/drawing/2014/main" id="{F3B4059A-EA0A-2E3B-6734-5C53141E3F83}"/>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AA41DD7B-6F7A-63F7-DCD6-9BFB39498076}"/>
              </a:ext>
            </a:extLst>
          </p:cNvPr>
          <p:cNvSpPr>
            <a:spLocks noGrp="1"/>
          </p:cNvSpPr>
          <p:nvPr>
            <p:ph type="sldNum" sz="quarter" idx="12"/>
          </p:nvPr>
        </p:nvSpPr>
        <p:spPr/>
        <p:txBody>
          <a:bodyPr/>
          <a:lstStyle/>
          <a:p>
            <a:fld id="{C8A89FDF-BC5D-4BFE-945A-5E0B33E539F8}" type="slidenum">
              <a:rPr lang="tr-TR" smtClean="0"/>
              <a:t>‹#›</a:t>
            </a:fld>
            <a:endParaRPr lang="tr-TR"/>
          </a:p>
        </p:txBody>
      </p:sp>
    </p:spTree>
    <p:extLst>
      <p:ext uri="{BB962C8B-B14F-4D97-AF65-F5344CB8AC3E}">
        <p14:creationId xmlns:p14="http://schemas.microsoft.com/office/powerpoint/2010/main" val="16565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A472EE0-C16A-B1E3-0561-6B319C32E454}"/>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8D13642A-20CD-A993-8B1B-DF1D51184461}"/>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47082C94-DE1B-F502-20CF-A7F1C82DFA8A}"/>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E45AF9F4-4A43-F793-AD80-168BF2F3BC8F}"/>
              </a:ext>
            </a:extLst>
          </p:cNvPr>
          <p:cNvSpPr>
            <a:spLocks noGrp="1"/>
          </p:cNvSpPr>
          <p:nvPr>
            <p:ph type="dt" sz="half" idx="10"/>
          </p:nvPr>
        </p:nvSpPr>
        <p:spPr/>
        <p:txBody>
          <a:bodyPr/>
          <a:lstStyle/>
          <a:p>
            <a:fld id="{82E50E3E-379D-4AB4-A11D-B6EE431B6D08}" type="datetimeFigureOut">
              <a:rPr lang="tr-TR" smtClean="0"/>
              <a:t>2.03.2026</a:t>
            </a:fld>
            <a:endParaRPr lang="tr-TR"/>
          </a:p>
        </p:txBody>
      </p:sp>
      <p:sp>
        <p:nvSpPr>
          <p:cNvPr id="6" name="Alt Bilgi Yer Tutucusu 5">
            <a:extLst>
              <a:ext uri="{FF2B5EF4-FFF2-40B4-BE49-F238E27FC236}">
                <a16:creationId xmlns:a16="http://schemas.microsoft.com/office/drawing/2014/main" id="{D366EAF3-3D61-6E45-714F-E3764ABAD72D}"/>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C11A69E1-3CB0-E593-9CE9-8B00D885583A}"/>
              </a:ext>
            </a:extLst>
          </p:cNvPr>
          <p:cNvSpPr>
            <a:spLocks noGrp="1"/>
          </p:cNvSpPr>
          <p:nvPr>
            <p:ph type="sldNum" sz="quarter" idx="12"/>
          </p:nvPr>
        </p:nvSpPr>
        <p:spPr/>
        <p:txBody>
          <a:bodyPr/>
          <a:lstStyle/>
          <a:p>
            <a:fld id="{C8A89FDF-BC5D-4BFE-945A-5E0B33E539F8}" type="slidenum">
              <a:rPr lang="tr-TR" smtClean="0"/>
              <a:t>‹#›</a:t>
            </a:fld>
            <a:endParaRPr lang="tr-TR"/>
          </a:p>
        </p:txBody>
      </p:sp>
    </p:spTree>
    <p:extLst>
      <p:ext uri="{BB962C8B-B14F-4D97-AF65-F5344CB8AC3E}">
        <p14:creationId xmlns:p14="http://schemas.microsoft.com/office/powerpoint/2010/main" val="3344236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40E3C40-A30D-6662-EA31-234629114B4B}"/>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EB8D8372-74AA-D4FB-CDB0-7C02F9CBE6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19F5A292-560A-EB06-5AED-6488379EFE81}"/>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72FBBDFD-D982-9D51-3063-BDC0F89FD3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EE14732F-AC25-CFCF-91C2-80F61C56E171}"/>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38553BD8-4C4B-F055-E972-5C1699E5676F}"/>
              </a:ext>
            </a:extLst>
          </p:cNvPr>
          <p:cNvSpPr>
            <a:spLocks noGrp="1"/>
          </p:cNvSpPr>
          <p:nvPr>
            <p:ph type="dt" sz="half" idx="10"/>
          </p:nvPr>
        </p:nvSpPr>
        <p:spPr/>
        <p:txBody>
          <a:bodyPr/>
          <a:lstStyle/>
          <a:p>
            <a:fld id="{82E50E3E-379D-4AB4-A11D-B6EE431B6D08}" type="datetimeFigureOut">
              <a:rPr lang="tr-TR" smtClean="0"/>
              <a:t>2.03.2026</a:t>
            </a:fld>
            <a:endParaRPr lang="tr-TR"/>
          </a:p>
        </p:txBody>
      </p:sp>
      <p:sp>
        <p:nvSpPr>
          <p:cNvPr id="8" name="Alt Bilgi Yer Tutucusu 7">
            <a:extLst>
              <a:ext uri="{FF2B5EF4-FFF2-40B4-BE49-F238E27FC236}">
                <a16:creationId xmlns:a16="http://schemas.microsoft.com/office/drawing/2014/main" id="{09F73E5C-36B3-D58B-988B-3CEAA94D6DCF}"/>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93E97B1A-AC83-88B5-DCEE-C815842FF86D}"/>
              </a:ext>
            </a:extLst>
          </p:cNvPr>
          <p:cNvSpPr>
            <a:spLocks noGrp="1"/>
          </p:cNvSpPr>
          <p:nvPr>
            <p:ph type="sldNum" sz="quarter" idx="12"/>
          </p:nvPr>
        </p:nvSpPr>
        <p:spPr/>
        <p:txBody>
          <a:bodyPr/>
          <a:lstStyle/>
          <a:p>
            <a:fld id="{C8A89FDF-BC5D-4BFE-945A-5E0B33E539F8}" type="slidenum">
              <a:rPr lang="tr-TR" smtClean="0"/>
              <a:t>‹#›</a:t>
            </a:fld>
            <a:endParaRPr lang="tr-TR"/>
          </a:p>
        </p:txBody>
      </p:sp>
    </p:spTree>
    <p:extLst>
      <p:ext uri="{BB962C8B-B14F-4D97-AF65-F5344CB8AC3E}">
        <p14:creationId xmlns:p14="http://schemas.microsoft.com/office/powerpoint/2010/main" val="84490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FA7BC1F-1720-18B0-7947-479F19340584}"/>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8EE5AAA6-A9CA-8241-D028-E9D448460F12}"/>
              </a:ext>
            </a:extLst>
          </p:cNvPr>
          <p:cNvSpPr>
            <a:spLocks noGrp="1"/>
          </p:cNvSpPr>
          <p:nvPr>
            <p:ph type="dt" sz="half" idx="10"/>
          </p:nvPr>
        </p:nvSpPr>
        <p:spPr/>
        <p:txBody>
          <a:bodyPr/>
          <a:lstStyle/>
          <a:p>
            <a:fld id="{82E50E3E-379D-4AB4-A11D-B6EE431B6D08}" type="datetimeFigureOut">
              <a:rPr lang="tr-TR" smtClean="0"/>
              <a:t>2.03.2026</a:t>
            </a:fld>
            <a:endParaRPr lang="tr-TR"/>
          </a:p>
        </p:txBody>
      </p:sp>
      <p:sp>
        <p:nvSpPr>
          <p:cNvPr id="4" name="Alt Bilgi Yer Tutucusu 3">
            <a:extLst>
              <a:ext uri="{FF2B5EF4-FFF2-40B4-BE49-F238E27FC236}">
                <a16:creationId xmlns:a16="http://schemas.microsoft.com/office/drawing/2014/main" id="{2D9B6F3D-374D-3B99-EAE9-6023AE251FB9}"/>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90F0E3FE-9592-EEE5-8433-3044E9B8FAFB}"/>
              </a:ext>
            </a:extLst>
          </p:cNvPr>
          <p:cNvSpPr>
            <a:spLocks noGrp="1"/>
          </p:cNvSpPr>
          <p:nvPr>
            <p:ph type="sldNum" sz="quarter" idx="12"/>
          </p:nvPr>
        </p:nvSpPr>
        <p:spPr/>
        <p:txBody>
          <a:bodyPr/>
          <a:lstStyle/>
          <a:p>
            <a:fld id="{C8A89FDF-BC5D-4BFE-945A-5E0B33E539F8}" type="slidenum">
              <a:rPr lang="tr-TR" smtClean="0"/>
              <a:t>‹#›</a:t>
            </a:fld>
            <a:endParaRPr lang="tr-TR"/>
          </a:p>
        </p:txBody>
      </p:sp>
    </p:spTree>
    <p:extLst>
      <p:ext uri="{BB962C8B-B14F-4D97-AF65-F5344CB8AC3E}">
        <p14:creationId xmlns:p14="http://schemas.microsoft.com/office/powerpoint/2010/main" val="3508543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3A5B560E-2BA9-5568-D199-0390499DCC5B}"/>
              </a:ext>
            </a:extLst>
          </p:cNvPr>
          <p:cNvSpPr>
            <a:spLocks noGrp="1"/>
          </p:cNvSpPr>
          <p:nvPr>
            <p:ph type="dt" sz="half" idx="10"/>
          </p:nvPr>
        </p:nvSpPr>
        <p:spPr/>
        <p:txBody>
          <a:bodyPr/>
          <a:lstStyle/>
          <a:p>
            <a:fld id="{82E50E3E-379D-4AB4-A11D-B6EE431B6D08}" type="datetimeFigureOut">
              <a:rPr lang="tr-TR" smtClean="0"/>
              <a:t>2.03.2026</a:t>
            </a:fld>
            <a:endParaRPr lang="tr-TR"/>
          </a:p>
        </p:txBody>
      </p:sp>
      <p:sp>
        <p:nvSpPr>
          <p:cNvPr id="3" name="Alt Bilgi Yer Tutucusu 2">
            <a:extLst>
              <a:ext uri="{FF2B5EF4-FFF2-40B4-BE49-F238E27FC236}">
                <a16:creationId xmlns:a16="http://schemas.microsoft.com/office/drawing/2014/main" id="{FCBE2BCC-7C9C-7232-CF1F-94D2033AB797}"/>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3F891268-B2A2-C3FD-CE76-89440930B797}"/>
              </a:ext>
            </a:extLst>
          </p:cNvPr>
          <p:cNvSpPr>
            <a:spLocks noGrp="1"/>
          </p:cNvSpPr>
          <p:nvPr>
            <p:ph type="sldNum" sz="quarter" idx="12"/>
          </p:nvPr>
        </p:nvSpPr>
        <p:spPr/>
        <p:txBody>
          <a:bodyPr/>
          <a:lstStyle/>
          <a:p>
            <a:fld id="{C8A89FDF-BC5D-4BFE-945A-5E0B33E539F8}" type="slidenum">
              <a:rPr lang="tr-TR" smtClean="0"/>
              <a:t>‹#›</a:t>
            </a:fld>
            <a:endParaRPr lang="tr-TR"/>
          </a:p>
        </p:txBody>
      </p:sp>
    </p:spTree>
    <p:extLst>
      <p:ext uri="{BB962C8B-B14F-4D97-AF65-F5344CB8AC3E}">
        <p14:creationId xmlns:p14="http://schemas.microsoft.com/office/powerpoint/2010/main" val="2919778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787B5FA-D5BE-9A0D-E39B-73066FA6E68D}"/>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84A8D46A-A949-621C-AD48-720EC23C9D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DDC910C4-0ECA-A033-F31D-EF65CD8394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CF3EE66D-E5D9-4198-36F6-6A8F58CAD74F}"/>
              </a:ext>
            </a:extLst>
          </p:cNvPr>
          <p:cNvSpPr>
            <a:spLocks noGrp="1"/>
          </p:cNvSpPr>
          <p:nvPr>
            <p:ph type="dt" sz="half" idx="10"/>
          </p:nvPr>
        </p:nvSpPr>
        <p:spPr/>
        <p:txBody>
          <a:bodyPr/>
          <a:lstStyle/>
          <a:p>
            <a:fld id="{82E50E3E-379D-4AB4-A11D-B6EE431B6D08}" type="datetimeFigureOut">
              <a:rPr lang="tr-TR" smtClean="0"/>
              <a:t>2.03.2026</a:t>
            </a:fld>
            <a:endParaRPr lang="tr-TR"/>
          </a:p>
        </p:txBody>
      </p:sp>
      <p:sp>
        <p:nvSpPr>
          <p:cNvPr id="6" name="Alt Bilgi Yer Tutucusu 5">
            <a:extLst>
              <a:ext uri="{FF2B5EF4-FFF2-40B4-BE49-F238E27FC236}">
                <a16:creationId xmlns:a16="http://schemas.microsoft.com/office/drawing/2014/main" id="{356A9637-1C6A-80D8-33CB-380D3BA74C72}"/>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67A1D011-CF10-820B-4A0F-7546D8F35188}"/>
              </a:ext>
            </a:extLst>
          </p:cNvPr>
          <p:cNvSpPr>
            <a:spLocks noGrp="1"/>
          </p:cNvSpPr>
          <p:nvPr>
            <p:ph type="sldNum" sz="quarter" idx="12"/>
          </p:nvPr>
        </p:nvSpPr>
        <p:spPr/>
        <p:txBody>
          <a:bodyPr/>
          <a:lstStyle/>
          <a:p>
            <a:fld id="{C8A89FDF-BC5D-4BFE-945A-5E0B33E539F8}" type="slidenum">
              <a:rPr lang="tr-TR" smtClean="0"/>
              <a:t>‹#›</a:t>
            </a:fld>
            <a:endParaRPr lang="tr-TR"/>
          </a:p>
        </p:txBody>
      </p:sp>
    </p:spTree>
    <p:extLst>
      <p:ext uri="{BB962C8B-B14F-4D97-AF65-F5344CB8AC3E}">
        <p14:creationId xmlns:p14="http://schemas.microsoft.com/office/powerpoint/2010/main" val="40692957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9EE8F0E-3AFC-9308-30A3-BAC5D12F8DB1}"/>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92FF964D-D816-A01F-F824-FA02E3DB02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F44EB30F-4FAF-D3CD-0598-E02B221EEC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DF5F5A39-61B1-66B4-E968-3751D8F3E787}"/>
              </a:ext>
            </a:extLst>
          </p:cNvPr>
          <p:cNvSpPr>
            <a:spLocks noGrp="1"/>
          </p:cNvSpPr>
          <p:nvPr>
            <p:ph type="dt" sz="half" idx="10"/>
          </p:nvPr>
        </p:nvSpPr>
        <p:spPr/>
        <p:txBody>
          <a:bodyPr/>
          <a:lstStyle/>
          <a:p>
            <a:fld id="{82E50E3E-379D-4AB4-A11D-B6EE431B6D08}" type="datetimeFigureOut">
              <a:rPr lang="tr-TR" smtClean="0"/>
              <a:t>2.03.2026</a:t>
            </a:fld>
            <a:endParaRPr lang="tr-TR"/>
          </a:p>
        </p:txBody>
      </p:sp>
      <p:sp>
        <p:nvSpPr>
          <p:cNvPr id="6" name="Alt Bilgi Yer Tutucusu 5">
            <a:extLst>
              <a:ext uri="{FF2B5EF4-FFF2-40B4-BE49-F238E27FC236}">
                <a16:creationId xmlns:a16="http://schemas.microsoft.com/office/drawing/2014/main" id="{984886EC-E6C0-8E14-3DF9-BA19F104190A}"/>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DB8AED64-A2F9-6115-E410-0D34CF77106C}"/>
              </a:ext>
            </a:extLst>
          </p:cNvPr>
          <p:cNvSpPr>
            <a:spLocks noGrp="1"/>
          </p:cNvSpPr>
          <p:nvPr>
            <p:ph type="sldNum" sz="quarter" idx="12"/>
          </p:nvPr>
        </p:nvSpPr>
        <p:spPr/>
        <p:txBody>
          <a:bodyPr/>
          <a:lstStyle/>
          <a:p>
            <a:fld id="{C8A89FDF-BC5D-4BFE-945A-5E0B33E539F8}" type="slidenum">
              <a:rPr lang="tr-TR" smtClean="0"/>
              <a:t>‹#›</a:t>
            </a:fld>
            <a:endParaRPr lang="tr-TR"/>
          </a:p>
        </p:txBody>
      </p:sp>
    </p:spTree>
    <p:extLst>
      <p:ext uri="{BB962C8B-B14F-4D97-AF65-F5344CB8AC3E}">
        <p14:creationId xmlns:p14="http://schemas.microsoft.com/office/powerpoint/2010/main" val="3788673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B8B9552-6A78-7F57-6A29-0D581B0FD607}"/>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F74BC1BE-C21D-0E4C-5718-8C901451FCFC}"/>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82D6B890-EB4A-7E1C-92BA-C7CB70E24EDB}"/>
              </a:ext>
            </a:extLst>
          </p:cNvPr>
          <p:cNvSpPr>
            <a:spLocks noGrp="1"/>
          </p:cNvSpPr>
          <p:nvPr>
            <p:ph type="dt" sz="half" idx="10"/>
          </p:nvPr>
        </p:nvSpPr>
        <p:spPr/>
        <p:txBody>
          <a:bodyPr/>
          <a:lstStyle/>
          <a:p>
            <a:fld id="{82E50E3E-379D-4AB4-A11D-B6EE431B6D08}" type="datetimeFigureOut">
              <a:rPr lang="tr-TR" smtClean="0"/>
              <a:t>2.03.2026</a:t>
            </a:fld>
            <a:endParaRPr lang="tr-TR"/>
          </a:p>
        </p:txBody>
      </p:sp>
      <p:sp>
        <p:nvSpPr>
          <p:cNvPr id="5" name="Alt Bilgi Yer Tutucusu 4">
            <a:extLst>
              <a:ext uri="{FF2B5EF4-FFF2-40B4-BE49-F238E27FC236}">
                <a16:creationId xmlns:a16="http://schemas.microsoft.com/office/drawing/2014/main" id="{5E57F209-0DEE-2E1F-AB9B-069707E9C516}"/>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BC6C8482-0E7A-92AD-E8B5-1DA213B97CEF}"/>
              </a:ext>
            </a:extLst>
          </p:cNvPr>
          <p:cNvSpPr>
            <a:spLocks noGrp="1"/>
          </p:cNvSpPr>
          <p:nvPr>
            <p:ph type="sldNum" sz="quarter" idx="12"/>
          </p:nvPr>
        </p:nvSpPr>
        <p:spPr/>
        <p:txBody>
          <a:bodyPr/>
          <a:lstStyle/>
          <a:p>
            <a:fld id="{C8A89FDF-BC5D-4BFE-945A-5E0B33E539F8}" type="slidenum">
              <a:rPr lang="tr-TR" smtClean="0"/>
              <a:t>‹#›</a:t>
            </a:fld>
            <a:endParaRPr lang="tr-TR"/>
          </a:p>
        </p:txBody>
      </p:sp>
    </p:spTree>
    <p:extLst>
      <p:ext uri="{BB962C8B-B14F-4D97-AF65-F5344CB8AC3E}">
        <p14:creationId xmlns:p14="http://schemas.microsoft.com/office/powerpoint/2010/main" val="2748828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7DA52B5F-C9EE-ADE1-944D-C4699EC7AF97}"/>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4D1D262F-35FD-3664-B51E-C5B6DD756ECD}"/>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DA7A9D5F-2ADB-6D85-463E-47CCA840B11F}"/>
              </a:ext>
            </a:extLst>
          </p:cNvPr>
          <p:cNvSpPr>
            <a:spLocks noGrp="1"/>
          </p:cNvSpPr>
          <p:nvPr>
            <p:ph type="dt" sz="half" idx="10"/>
          </p:nvPr>
        </p:nvSpPr>
        <p:spPr/>
        <p:txBody>
          <a:bodyPr/>
          <a:lstStyle/>
          <a:p>
            <a:fld id="{82E50E3E-379D-4AB4-A11D-B6EE431B6D08}" type="datetimeFigureOut">
              <a:rPr lang="tr-TR" smtClean="0"/>
              <a:t>2.03.2026</a:t>
            </a:fld>
            <a:endParaRPr lang="tr-TR"/>
          </a:p>
        </p:txBody>
      </p:sp>
      <p:sp>
        <p:nvSpPr>
          <p:cNvPr id="5" name="Alt Bilgi Yer Tutucusu 4">
            <a:extLst>
              <a:ext uri="{FF2B5EF4-FFF2-40B4-BE49-F238E27FC236}">
                <a16:creationId xmlns:a16="http://schemas.microsoft.com/office/drawing/2014/main" id="{ABE54482-93EC-E7FD-66E5-C14C9A39F21A}"/>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A7D729CC-A549-34F9-EFFF-B3AD074AB4D6}"/>
              </a:ext>
            </a:extLst>
          </p:cNvPr>
          <p:cNvSpPr>
            <a:spLocks noGrp="1"/>
          </p:cNvSpPr>
          <p:nvPr>
            <p:ph type="sldNum" sz="quarter" idx="12"/>
          </p:nvPr>
        </p:nvSpPr>
        <p:spPr/>
        <p:txBody>
          <a:bodyPr/>
          <a:lstStyle/>
          <a:p>
            <a:fld id="{C8A89FDF-BC5D-4BFE-945A-5E0B33E539F8}" type="slidenum">
              <a:rPr lang="tr-TR" smtClean="0"/>
              <a:t>‹#›</a:t>
            </a:fld>
            <a:endParaRPr lang="tr-TR"/>
          </a:p>
        </p:txBody>
      </p:sp>
    </p:spTree>
    <p:extLst>
      <p:ext uri="{BB962C8B-B14F-4D97-AF65-F5344CB8AC3E}">
        <p14:creationId xmlns:p14="http://schemas.microsoft.com/office/powerpoint/2010/main" val="38315037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D524989A-31D6-0598-2483-9836A7E364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55258CF7-3DA0-1F9B-55D0-262EDF54A6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1329D185-FC82-41B5-981C-0757EF5195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2E50E3E-379D-4AB4-A11D-B6EE431B6D08}" type="datetimeFigureOut">
              <a:rPr lang="tr-TR" smtClean="0"/>
              <a:t>2.03.2026</a:t>
            </a:fld>
            <a:endParaRPr lang="tr-TR"/>
          </a:p>
        </p:txBody>
      </p:sp>
      <p:sp>
        <p:nvSpPr>
          <p:cNvPr id="5" name="Alt Bilgi Yer Tutucusu 4">
            <a:extLst>
              <a:ext uri="{FF2B5EF4-FFF2-40B4-BE49-F238E27FC236}">
                <a16:creationId xmlns:a16="http://schemas.microsoft.com/office/drawing/2014/main" id="{A6606942-9DD7-B62D-0B53-60972728FD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tr-TR"/>
          </a:p>
        </p:txBody>
      </p:sp>
      <p:sp>
        <p:nvSpPr>
          <p:cNvPr id="6" name="Slayt Numarası Yer Tutucusu 5">
            <a:extLst>
              <a:ext uri="{FF2B5EF4-FFF2-40B4-BE49-F238E27FC236}">
                <a16:creationId xmlns:a16="http://schemas.microsoft.com/office/drawing/2014/main" id="{A3A68C34-913A-EA44-8EB5-424135A793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A89FDF-BC5D-4BFE-945A-5E0B33E539F8}" type="slidenum">
              <a:rPr lang="tr-TR" smtClean="0"/>
              <a:t>‹#›</a:t>
            </a:fld>
            <a:endParaRPr lang="tr-TR"/>
          </a:p>
        </p:txBody>
      </p:sp>
    </p:spTree>
    <p:extLst>
      <p:ext uri="{BB962C8B-B14F-4D97-AF65-F5344CB8AC3E}">
        <p14:creationId xmlns:p14="http://schemas.microsoft.com/office/powerpoint/2010/main" val="12190655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Resim 1">
            <a:extLst>
              <a:ext uri="{FF2B5EF4-FFF2-40B4-BE49-F238E27FC236}">
                <a16:creationId xmlns:a16="http://schemas.microsoft.com/office/drawing/2014/main" id="{F426917D-6188-44B6-AD2D-23BD468D2527}"/>
              </a:ext>
            </a:extLst>
          </p:cNvPr>
          <p:cNvPicPr>
            <a:picLocks noChangeAspect="1"/>
          </p:cNvPicPr>
          <p:nvPr/>
        </p:nvPicPr>
        <p:blipFill>
          <a:blip r:embed="rId2"/>
          <a:stretch>
            <a:fillRect/>
          </a:stretch>
        </p:blipFill>
        <p:spPr>
          <a:xfrm>
            <a:off x="0" y="0"/>
            <a:ext cx="12188951" cy="6858000"/>
          </a:xfrm>
          <a:prstGeom prst="rect">
            <a:avLst/>
          </a:prstGeom>
        </p:spPr>
      </p:pic>
    </p:spTree>
    <p:extLst>
      <p:ext uri="{BB962C8B-B14F-4D97-AF65-F5344CB8AC3E}">
        <p14:creationId xmlns:p14="http://schemas.microsoft.com/office/powerpoint/2010/main" val="17931234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B21CFF8F-4045-722C-7B7E-FD652E27FDD9}"/>
              </a:ext>
            </a:extLst>
          </p:cNvPr>
          <p:cNvSpPr>
            <a:spLocks noGrp="1"/>
          </p:cNvSpPr>
          <p:nvPr>
            <p:ph type="title"/>
          </p:nvPr>
        </p:nvSpPr>
        <p:spPr>
          <a:xfrm>
            <a:off x="572493" y="238539"/>
            <a:ext cx="11018520" cy="1434415"/>
          </a:xfrm>
        </p:spPr>
        <p:txBody>
          <a:bodyPr anchor="b">
            <a:normAutofit/>
          </a:bodyPr>
          <a:lstStyle/>
          <a:p>
            <a:r>
              <a:rPr lang="tr-TR" b="1" dirty="0"/>
              <a:t>Tanım</a:t>
            </a:r>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xmln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2B2B0D50-81E2-5470-1304-46CCA8F062A5}"/>
              </a:ext>
            </a:extLst>
          </p:cNvPr>
          <p:cNvSpPr>
            <a:spLocks noGrp="1"/>
          </p:cNvSpPr>
          <p:nvPr>
            <p:ph idx="1"/>
          </p:nvPr>
        </p:nvSpPr>
        <p:spPr>
          <a:xfrm>
            <a:off x="572493" y="2071316"/>
            <a:ext cx="6713552" cy="4768396"/>
          </a:xfrm>
        </p:spPr>
        <p:txBody>
          <a:bodyPr anchor="t">
            <a:normAutofit fontScale="92500"/>
          </a:bodyPr>
          <a:lstStyle/>
          <a:p>
            <a:pPr marL="0" indent="0">
              <a:buNone/>
            </a:pPr>
            <a:r>
              <a:rPr lang="tr-TR" sz="2200" b="1" dirty="0"/>
              <a:t>   Hijyen;</a:t>
            </a:r>
            <a:r>
              <a:rPr lang="tr-TR" sz="2200" dirty="0"/>
              <a:t> Sağlam ve sağlıklı durumu sürdürmek üzere sağlığa zarar verecek ortamlardan korunmak için yapılacak uygulamalar ve alınan temizlik önlemlerinin tümüdür.</a:t>
            </a:r>
          </a:p>
          <a:p>
            <a:pPr marL="0" indent="0">
              <a:buNone/>
            </a:pPr>
            <a:endParaRPr lang="tr-TR" sz="2200" dirty="0"/>
          </a:p>
          <a:p>
            <a:pPr marL="0" indent="0">
              <a:buNone/>
            </a:pPr>
            <a:r>
              <a:rPr lang="tr-TR" sz="2200" b="1" dirty="0"/>
              <a:t>   İş hijyeni;  </a:t>
            </a:r>
            <a:r>
              <a:rPr lang="tr-TR" sz="2200" dirty="0"/>
              <a:t>İşyerinde hastalığa neden olabilecek, sağlık ve iyilik halini bozabilecek, </a:t>
            </a:r>
          </a:p>
          <a:p>
            <a:pPr marL="0" indent="0">
              <a:buNone/>
            </a:pPr>
            <a:r>
              <a:rPr lang="tr-TR" sz="2200" dirty="0"/>
              <a:t>                          İşçiler ve toplumdaki bireyler arasında önemli ölçüde huzursuzluk ve verimsizlik yaratabilecek,</a:t>
            </a:r>
          </a:p>
          <a:p>
            <a:pPr marL="0" indent="0">
              <a:buNone/>
            </a:pPr>
            <a:r>
              <a:rPr lang="tr-TR" sz="2200" b="1" dirty="0"/>
              <a:t>                         </a:t>
            </a:r>
            <a:r>
              <a:rPr lang="tr-TR" sz="2200" b="1" dirty="0">
                <a:solidFill>
                  <a:srgbClr val="FF0000"/>
                </a:solidFill>
              </a:rPr>
              <a:t>çevresel tehlikelerin</a:t>
            </a:r>
            <a:r>
              <a:rPr lang="tr-TR" sz="2200" dirty="0">
                <a:solidFill>
                  <a:srgbClr val="FF0000"/>
                </a:solidFill>
              </a:rPr>
              <a:t> </a:t>
            </a:r>
            <a:r>
              <a:rPr lang="tr-TR" sz="2200" dirty="0"/>
              <a:t>ve </a:t>
            </a:r>
            <a:r>
              <a:rPr lang="tr-TR" sz="2200" b="1" dirty="0">
                <a:solidFill>
                  <a:srgbClr val="FF0000"/>
                </a:solidFill>
              </a:rPr>
              <a:t>streslerin</a:t>
            </a:r>
            <a:r>
              <a:rPr lang="tr-TR" sz="2200" dirty="0"/>
              <a:t> değerlendirilip </a:t>
            </a:r>
            <a:r>
              <a:rPr lang="tr-TR" sz="2200" b="1" dirty="0">
                <a:solidFill>
                  <a:srgbClr val="FF0000"/>
                </a:solidFill>
              </a:rPr>
              <a:t>kontrol</a:t>
            </a:r>
            <a:r>
              <a:rPr lang="tr-TR" sz="2200" dirty="0"/>
              <a:t> altına alınmasıdır.</a:t>
            </a:r>
          </a:p>
        </p:txBody>
      </p:sp>
      <p:pic>
        <p:nvPicPr>
          <p:cNvPr id="5" name="Resim 4">
            <a:extLst>
              <a:ext uri="{FF2B5EF4-FFF2-40B4-BE49-F238E27FC236}">
                <a16:creationId xmlns:a16="http://schemas.microsoft.com/office/drawing/2014/main" id="{5EE0537F-729A-906E-253F-E343AE1D61DA}"/>
              </a:ext>
            </a:extLst>
          </p:cNvPr>
          <p:cNvPicPr>
            <a:picLocks noChangeAspect="1"/>
          </p:cNvPicPr>
          <p:nvPr/>
        </p:nvPicPr>
        <p:blipFill>
          <a:blip r:embed="rId2"/>
          <a:srcRect l="7206" r="12140"/>
          <a:stretch>
            <a:fillRect/>
          </a:stretch>
        </p:blipFill>
        <p:spPr>
          <a:xfrm>
            <a:off x="7487999" y="2344511"/>
            <a:ext cx="4498999" cy="2586248"/>
          </a:xfrm>
          <a:prstGeom prst="rect">
            <a:avLst/>
          </a:prstGeom>
        </p:spPr>
      </p:pic>
    </p:spTree>
    <p:extLst>
      <p:ext uri="{BB962C8B-B14F-4D97-AF65-F5344CB8AC3E}">
        <p14:creationId xmlns:p14="http://schemas.microsoft.com/office/powerpoint/2010/main" val="35578161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9E6688D-1DED-48EA-8368-FCD09C0B764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Unvan 1"/>
          <p:cNvSpPr>
            <a:spLocks noGrp="1"/>
          </p:cNvSpPr>
          <p:nvPr>
            <p:ph type="title"/>
          </p:nvPr>
        </p:nvSpPr>
        <p:spPr>
          <a:xfrm>
            <a:off x="8368528" y="431212"/>
            <a:ext cx="3420305" cy="1906317"/>
          </a:xfrm>
        </p:spPr>
        <p:txBody>
          <a:bodyPr>
            <a:normAutofit/>
          </a:bodyPr>
          <a:lstStyle/>
          <a:p>
            <a:pPr algn="ctr"/>
            <a:r>
              <a:rPr lang="tr-TR" b="1" dirty="0"/>
              <a:t>Kişisel Hijyen</a:t>
            </a:r>
          </a:p>
        </p:txBody>
      </p:sp>
      <p:sp>
        <p:nvSpPr>
          <p:cNvPr id="3" name="İçerik Yer Tutucusu 2"/>
          <p:cNvSpPr>
            <a:spLocks noGrp="1"/>
          </p:cNvSpPr>
          <p:nvPr>
            <p:ph idx="1"/>
          </p:nvPr>
        </p:nvSpPr>
        <p:spPr>
          <a:xfrm>
            <a:off x="579651" y="669751"/>
            <a:ext cx="6754415" cy="6188249"/>
          </a:xfrm>
        </p:spPr>
        <p:txBody>
          <a:bodyPr anchor="ctr">
            <a:normAutofit fontScale="92500" lnSpcReduction="20000"/>
          </a:bodyPr>
          <a:lstStyle/>
          <a:p>
            <a:pPr>
              <a:buClr>
                <a:srgbClr val="C00000"/>
              </a:buClr>
              <a:buFont typeface="Wingdings" panose="05000000000000000000" pitchFamily="2" charset="2"/>
              <a:buChar char="ü"/>
            </a:pPr>
            <a:r>
              <a:rPr lang="tr-TR" sz="2000" dirty="0"/>
              <a:t>Temiz ve içilebilir su içmek.</a:t>
            </a:r>
          </a:p>
          <a:p>
            <a:pPr>
              <a:buClr>
                <a:srgbClr val="C00000"/>
              </a:buClr>
              <a:buFont typeface="Wingdings" panose="05000000000000000000" pitchFamily="2" charset="2"/>
              <a:buChar char="ü"/>
            </a:pPr>
            <a:r>
              <a:rPr lang="tr-TR" sz="2000" dirty="0"/>
              <a:t>Soyunma odasında, tuvaletlerde, veya tehlikeli maddelerin kullanıldığı yerlerde asla bir şey yememek.</a:t>
            </a:r>
          </a:p>
          <a:p>
            <a:pPr>
              <a:buClr>
                <a:srgbClr val="C00000"/>
              </a:buClr>
              <a:buFont typeface="Wingdings" panose="05000000000000000000" pitchFamily="2" charset="2"/>
              <a:buChar char="ü"/>
            </a:pPr>
            <a:r>
              <a:rPr lang="tr-TR" sz="2000" dirty="0"/>
              <a:t>Ellerin ve vücudun kimyasal maddelere maruz kalan bölümlerini düzenli olarak yıkamak ve günlük duş almak.</a:t>
            </a:r>
          </a:p>
          <a:p>
            <a:pPr>
              <a:buClr>
                <a:srgbClr val="C00000"/>
              </a:buClr>
              <a:buFont typeface="Wingdings" panose="05000000000000000000" pitchFamily="2" charset="2"/>
              <a:buChar char="ü"/>
            </a:pPr>
            <a:r>
              <a:rPr lang="tr-TR" sz="2000" dirty="0"/>
              <a:t>Dişleri ve ağzı her gün temizleyip, düzenli</a:t>
            </a:r>
            <a:r>
              <a:rPr lang="tr-TR" sz="2000" i="1" dirty="0"/>
              <a:t> </a:t>
            </a:r>
            <a:r>
              <a:rPr lang="tr-TR" sz="2000" dirty="0"/>
              <a:t>olarak kontrollerini yaptırmak.</a:t>
            </a:r>
          </a:p>
          <a:p>
            <a:pPr>
              <a:buClr>
                <a:srgbClr val="C00000"/>
              </a:buClr>
              <a:buFont typeface="Wingdings" panose="05000000000000000000" pitchFamily="2" charset="2"/>
              <a:buChar char="ü"/>
            </a:pPr>
            <a:r>
              <a:rPr lang="tr-TR" sz="2000" dirty="0"/>
              <a:t>Uygun iş elbisesi ve iş </a:t>
            </a:r>
            <a:r>
              <a:rPr lang="tr-TR" sz="2000" i="1" dirty="0"/>
              <a:t> </a:t>
            </a:r>
            <a:r>
              <a:rPr lang="tr-TR" sz="2000" dirty="0"/>
              <a:t>ayakkabısı giymek.</a:t>
            </a:r>
          </a:p>
          <a:p>
            <a:pPr>
              <a:buClr>
                <a:srgbClr val="C00000"/>
              </a:buClr>
              <a:buFont typeface="Wingdings" panose="05000000000000000000" pitchFamily="2" charset="2"/>
              <a:buChar char="ü"/>
            </a:pPr>
            <a:r>
              <a:rPr lang="tr-TR" sz="2000" dirty="0"/>
              <a:t>İş elbiselerini ile iş dışında giyilen elbiseleri karıştırmamak.</a:t>
            </a:r>
          </a:p>
          <a:p>
            <a:pPr>
              <a:buClr>
                <a:srgbClr val="C00000"/>
              </a:buClr>
              <a:buFont typeface="Wingdings" panose="05000000000000000000" pitchFamily="2" charset="2"/>
              <a:buChar char="ü"/>
            </a:pPr>
            <a:r>
              <a:rPr lang="tr-TR" sz="2000" dirty="0"/>
              <a:t>İş elbiselerini, havluları vb., özellikle zehirli ve/veya zararlı maddelerle kirlenmişse temizliğine dikkat etmek.</a:t>
            </a:r>
          </a:p>
          <a:p>
            <a:pPr>
              <a:buClr>
                <a:srgbClr val="C00000"/>
              </a:buClr>
              <a:buFont typeface="Wingdings" panose="05000000000000000000" pitchFamily="2" charset="2"/>
              <a:buChar char="ü"/>
            </a:pPr>
            <a:r>
              <a:rPr lang="tr-TR" sz="2000" dirty="0"/>
              <a:t>Koruyucu maskeleri, gözlükleri, eldivenleri, kulak koruyucularını, vb., uygun şekilde kullanmak.</a:t>
            </a:r>
          </a:p>
          <a:p>
            <a:pPr>
              <a:buClr>
                <a:srgbClr val="C00000"/>
              </a:buClr>
              <a:buFont typeface="Wingdings" panose="05000000000000000000" pitchFamily="2" charset="2"/>
              <a:buChar char="ü"/>
            </a:pPr>
            <a:r>
              <a:rPr lang="tr-TR" sz="2000" dirty="0"/>
              <a:t>Düzenli egzersizler ile fiziksel sağlığı korumak.</a:t>
            </a:r>
          </a:p>
          <a:p>
            <a:pPr>
              <a:buClr>
                <a:srgbClr val="C00000"/>
              </a:buClr>
              <a:buFont typeface="Wingdings" panose="05000000000000000000" pitchFamily="2" charset="2"/>
              <a:buChar char="ü"/>
            </a:pPr>
            <a:r>
              <a:rPr lang="tr-TR" sz="2000" dirty="0"/>
              <a:t>Çözücüler, tinerler, alkaliler veya makine yağları gibi maddeleri asla cildi temizlemek için kullanmamak.</a:t>
            </a:r>
          </a:p>
          <a:p>
            <a:endParaRPr lang="tr-TR" sz="1600" dirty="0"/>
          </a:p>
          <a:p>
            <a:endParaRPr lang="tr-TR" sz="1600" dirty="0"/>
          </a:p>
        </p:txBody>
      </p:sp>
      <p:pic>
        <p:nvPicPr>
          <p:cNvPr id="4" name="Resim 3">
            <a:extLst>
              <a:ext uri="{FF2B5EF4-FFF2-40B4-BE49-F238E27FC236}">
                <a16:creationId xmlns:a16="http://schemas.microsoft.com/office/drawing/2014/main" id="{78F091B5-2777-E64C-EF44-3F8655A5FEC2}"/>
              </a:ext>
            </a:extLst>
          </p:cNvPr>
          <p:cNvPicPr>
            <a:picLocks noChangeAspect="1"/>
          </p:cNvPicPr>
          <p:nvPr/>
        </p:nvPicPr>
        <p:blipFill>
          <a:blip r:embed="rId2"/>
          <a:srcRect l="10797" r="31158" b="2"/>
          <a:stretch>
            <a:fillRect/>
          </a:stretch>
        </p:blipFill>
        <p:spPr>
          <a:xfrm>
            <a:off x="7913716" y="2768743"/>
            <a:ext cx="4278284" cy="4089258"/>
          </a:xfrm>
          <a:prstGeom prst="rect">
            <a:avLst/>
          </a:prstGeom>
        </p:spPr>
      </p:pic>
      <p:grpSp>
        <p:nvGrpSpPr>
          <p:cNvPr id="11" name="Group 10">
            <a:extLst>
              <a:ext uri="{FF2B5EF4-FFF2-40B4-BE49-F238E27FC236}">
                <a16:creationId xmlns:a16="http://schemas.microsoft.com/office/drawing/2014/main" id="{16BD38F4-5888-4B5B-836C-A316C5223270}"/>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7881712" y="-2"/>
            <a:ext cx="4310288" cy="6858002"/>
            <a:chOff x="0" y="-2"/>
            <a:chExt cx="4310288" cy="6858002"/>
          </a:xfrm>
        </p:grpSpPr>
        <p:sp>
          <p:nvSpPr>
            <p:cNvPr id="12" name="Rectangle 11">
              <a:extLst>
                <a:ext uri="{FF2B5EF4-FFF2-40B4-BE49-F238E27FC236}">
                  <a16:creationId xmlns:a16="http://schemas.microsoft.com/office/drawing/2014/main" id="{BA3D150B-ADB5-401D-8304-C7845A10959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0" y="2768743"/>
              <a:ext cx="4310288"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3" name="Rectangle 12">
              <a:extLst>
                <a:ext uri="{FF2B5EF4-FFF2-40B4-BE49-F238E27FC236}">
                  <a16:creationId xmlns:a16="http://schemas.microsoft.com/office/drawing/2014/main" id="{ACD3AB31-A71C-4414-BA05-CF667CBA34D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rot="5400000">
              <a:off x="849283" y="3396995"/>
              <a:ext cx="6858002"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grpSp>
    </p:spTree>
    <p:extLst>
      <p:ext uri="{BB962C8B-B14F-4D97-AF65-F5344CB8AC3E}">
        <p14:creationId xmlns:p14="http://schemas.microsoft.com/office/powerpoint/2010/main" val="31594621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838200" y="773724"/>
            <a:ext cx="10515600" cy="5795888"/>
          </a:xfrm>
        </p:spPr>
        <p:txBody>
          <a:bodyPr/>
          <a:lstStyle/>
          <a:p>
            <a:pPr marL="0" indent="0">
              <a:buNone/>
            </a:pPr>
            <a:r>
              <a:rPr lang="tr-TR"/>
              <a:t>   </a:t>
            </a:r>
            <a:r>
              <a:rPr lang="tr-TR" sz="2400"/>
              <a:t>İşyeri uygulamalarında çoğu kez "</a:t>
            </a:r>
            <a:r>
              <a:rPr lang="tr-TR" sz="2400" b="1"/>
              <a:t>kişisel hijyen"</a:t>
            </a:r>
            <a:r>
              <a:rPr lang="tr-TR" sz="2400"/>
              <a:t> ile  </a:t>
            </a:r>
            <a:r>
              <a:rPr lang="tr-TR" sz="2400" b="1"/>
              <a:t>"iş hijyeni</a:t>
            </a:r>
            <a:r>
              <a:rPr lang="tr-TR" sz="2400"/>
              <a:t>" nin bire bir örtüştüğü, aynı şeyi ifade ettiği düşünülebilir.</a:t>
            </a:r>
          </a:p>
          <a:p>
            <a:pPr marL="0" indent="0">
              <a:buNone/>
            </a:pPr>
            <a:r>
              <a:rPr lang="tr-TR" sz="2400"/>
              <a:t>   Ancak </a:t>
            </a:r>
            <a:r>
              <a:rPr lang="tr-TR" sz="2400" b="1">
                <a:solidFill>
                  <a:schemeClr val="accent6"/>
                </a:solidFill>
              </a:rPr>
              <a:t>kişisel hijyen</a:t>
            </a:r>
            <a:r>
              <a:rPr lang="tr-TR" sz="2400"/>
              <a:t>, kişinin kendi bakımını ifade ederken (özellikle mikrobiyolojik açıdan korunmak) </a:t>
            </a:r>
          </a:p>
          <a:p>
            <a:pPr marL="0" indent="0">
              <a:buNone/>
            </a:pPr>
            <a:r>
              <a:rPr lang="tr-TR" sz="2400" b="1"/>
              <a:t>   </a:t>
            </a:r>
            <a:r>
              <a:rPr lang="tr-TR" sz="2400" b="1">
                <a:solidFill>
                  <a:schemeClr val="accent6"/>
                </a:solidFill>
              </a:rPr>
              <a:t>İş hijyeni</a:t>
            </a:r>
            <a:r>
              <a:rPr lang="tr-TR" sz="2400"/>
              <a:t>, çalışan sağlığını olumsuz yönde etkileyebilecek fiziksel, kimyasal ve biyolojik faktörlerin kontrol altına alınması anlamına gelmektedir.</a:t>
            </a:r>
          </a:p>
          <a:p>
            <a:pPr marL="0" indent="0">
              <a:buNone/>
            </a:pPr>
            <a:endParaRPr lang="tr-TR" dirty="0"/>
          </a:p>
        </p:txBody>
      </p:sp>
      <p:graphicFrame>
        <p:nvGraphicFramePr>
          <p:cNvPr id="4" name="Tablo 3"/>
          <p:cNvGraphicFramePr>
            <a:graphicFrameLocks noGrp="1"/>
          </p:cNvGraphicFramePr>
          <p:nvPr>
            <p:extLst>
              <p:ext uri="{D42A27DB-BD31-4B8C-83A1-F6EECF244321}">
                <p14:modId xmlns:p14="http://schemas.microsoft.com/office/powerpoint/2010/main" val="778518859"/>
              </p:ext>
            </p:extLst>
          </p:nvPr>
        </p:nvGraphicFramePr>
        <p:xfrm>
          <a:off x="2011680" y="4014737"/>
          <a:ext cx="7441809" cy="2315591"/>
        </p:xfrm>
        <a:graphic>
          <a:graphicData uri="http://schemas.openxmlformats.org/drawingml/2006/table">
            <a:tbl>
              <a:tblPr firstRow="1" firstCol="1" bandRow="1"/>
              <a:tblGrid>
                <a:gridCol w="3573957">
                  <a:extLst>
                    <a:ext uri="{9D8B030D-6E8A-4147-A177-3AD203B41FA5}">
                      <a16:colId xmlns:a16="http://schemas.microsoft.com/office/drawing/2014/main" val="2262956199"/>
                    </a:ext>
                  </a:extLst>
                </a:gridCol>
                <a:gridCol w="3867852">
                  <a:extLst>
                    <a:ext uri="{9D8B030D-6E8A-4147-A177-3AD203B41FA5}">
                      <a16:colId xmlns:a16="http://schemas.microsoft.com/office/drawing/2014/main" val="4287723908"/>
                    </a:ext>
                  </a:extLst>
                </a:gridCol>
              </a:tblGrid>
              <a:tr h="345207">
                <a:tc>
                  <a:txBody>
                    <a:bodyPr/>
                    <a:lstStyle/>
                    <a:p>
                      <a:pPr algn="ctr">
                        <a:lnSpc>
                          <a:spcPct val="107000"/>
                        </a:lnSpc>
                        <a:spcAft>
                          <a:spcPts val="0"/>
                        </a:spcAft>
                      </a:pPr>
                      <a:r>
                        <a:rPr lang="tr-TR" sz="2200" b="1" kern="100" dirty="0">
                          <a:effectLst/>
                          <a:latin typeface="Aptos" panose="02110004020202020204"/>
                          <a:ea typeface="Calibri" panose="020F0502020204030204" pitchFamily="34" charset="0"/>
                          <a:cs typeface="Times New Roman" panose="02020603050405020304" pitchFamily="18" charset="0"/>
                        </a:rPr>
                        <a:t>Kişisel Hijyen</a:t>
                      </a:r>
                      <a:endParaRPr lang="tr-TR" sz="2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tr-TR" sz="2200" b="1" kern="100">
                          <a:effectLst/>
                          <a:latin typeface="Aptos" panose="02110004020202020204"/>
                          <a:ea typeface="Calibri" panose="020F0502020204030204" pitchFamily="34" charset="0"/>
                          <a:cs typeface="Times New Roman" panose="02020603050405020304" pitchFamily="18" charset="0"/>
                        </a:rPr>
                        <a:t>İş Hijyeni</a:t>
                      </a:r>
                      <a:endParaRPr lang="tr-TR" sz="2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93538547"/>
                  </a:ext>
                </a:extLst>
              </a:tr>
              <a:tr h="271269">
                <a:tc>
                  <a:txBody>
                    <a:bodyPr/>
                    <a:lstStyle/>
                    <a:p>
                      <a:pPr algn="ctr">
                        <a:lnSpc>
                          <a:spcPct val="107000"/>
                        </a:lnSpc>
                        <a:spcAft>
                          <a:spcPts val="0"/>
                        </a:spcAft>
                      </a:pPr>
                      <a:r>
                        <a:rPr lang="tr-TR" sz="2000" kern="100" dirty="0">
                          <a:effectLst/>
                          <a:latin typeface="Calibri" panose="020F0502020204030204" pitchFamily="34" charset="0"/>
                          <a:ea typeface="Calibri" panose="020F0502020204030204" pitchFamily="34" charset="0"/>
                          <a:cs typeface="Times New Roman" panose="02020603050405020304" pitchFamily="18" charset="0"/>
                        </a:rPr>
                        <a:t>Kültür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tr-TR" sz="2000" kern="100">
                          <a:effectLst/>
                          <a:latin typeface="Calibri" panose="020F0502020204030204" pitchFamily="34" charset="0"/>
                          <a:ea typeface="Calibri" panose="020F0502020204030204" pitchFamily="34" charset="0"/>
                          <a:cs typeface="Times New Roman" panose="02020603050405020304" pitchFamily="18" charset="0"/>
                        </a:rPr>
                        <a:t>Fiziksel tehlikeler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74797788"/>
                  </a:ext>
                </a:extLst>
              </a:tr>
              <a:tr h="271269">
                <a:tc>
                  <a:txBody>
                    <a:bodyPr/>
                    <a:lstStyle/>
                    <a:p>
                      <a:pPr algn="ctr">
                        <a:lnSpc>
                          <a:spcPct val="107000"/>
                        </a:lnSpc>
                        <a:spcAft>
                          <a:spcPts val="0"/>
                        </a:spcAft>
                      </a:pPr>
                      <a:r>
                        <a:rPr lang="tr-TR" sz="2000" kern="100" dirty="0">
                          <a:effectLst/>
                          <a:latin typeface="Calibri" panose="020F0502020204030204" pitchFamily="34" charset="0"/>
                          <a:ea typeface="Calibri" panose="020F0502020204030204" pitchFamily="34" charset="0"/>
                          <a:cs typeface="Times New Roman" panose="02020603050405020304" pitchFamily="18" charset="0"/>
                        </a:rPr>
                        <a:t>Sosyal durum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tr-TR" sz="2000" kern="100" dirty="0">
                          <a:effectLst/>
                          <a:latin typeface="Calibri" panose="020F0502020204030204" pitchFamily="34" charset="0"/>
                          <a:ea typeface="Calibri" panose="020F0502020204030204" pitchFamily="34" charset="0"/>
                          <a:cs typeface="Times New Roman" panose="02020603050405020304" pitchFamily="18" charset="0"/>
                        </a:rPr>
                        <a:t>Kimyasal tehlikeler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62413150"/>
                  </a:ext>
                </a:extLst>
              </a:tr>
              <a:tr h="271269">
                <a:tc>
                  <a:txBody>
                    <a:bodyPr/>
                    <a:lstStyle/>
                    <a:p>
                      <a:pPr algn="ctr">
                        <a:lnSpc>
                          <a:spcPct val="107000"/>
                        </a:lnSpc>
                        <a:spcAft>
                          <a:spcPts val="0"/>
                        </a:spcAft>
                      </a:pPr>
                      <a:r>
                        <a:rPr lang="tr-TR" sz="2000" kern="100" dirty="0">
                          <a:effectLst/>
                          <a:latin typeface="Calibri" panose="020F0502020204030204" pitchFamily="34" charset="0"/>
                          <a:ea typeface="Calibri" panose="020F0502020204030204" pitchFamily="34" charset="0"/>
                          <a:cs typeface="Times New Roman" panose="02020603050405020304" pitchFamily="18" charset="0"/>
                        </a:rPr>
                        <a:t>Ekonomik durum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tr-TR" sz="2000" kern="100">
                          <a:effectLst/>
                          <a:latin typeface="Calibri" panose="020F0502020204030204" pitchFamily="34" charset="0"/>
                          <a:ea typeface="Calibri" panose="020F0502020204030204" pitchFamily="34" charset="0"/>
                          <a:cs typeface="Times New Roman" panose="02020603050405020304" pitchFamily="18" charset="0"/>
                        </a:rPr>
                        <a:t>Biyolojik tehlikeler</a:t>
                      </a:r>
                      <a:endParaRPr lang="tr-TR"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59205335"/>
                  </a:ext>
                </a:extLst>
              </a:tr>
              <a:tr h="271269">
                <a:tc>
                  <a:txBody>
                    <a:bodyPr/>
                    <a:lstStyle/>
                    <a:p>
                      <a:pPr algn="ctr">
                        <a:lnSpc>
                          <a:spcPct val="107000"/>
                        </a:lnSpc>
                        <a:spcAft>
                          <a:spcPts val="0"/>
                        </a:spcAft>
                      </a:pPr>
                      <a:r>
                        <a:rPr lang="tr-TR" sz="2000" kern="100" dirty="0">
                          <a:effectLst/>
                          <a:latin typeface="Calibri" panose="020F0502020204030204" pitchFamily="34" charset="0"/>
                          <a:ea typeface="Calibri" panose="020F0502020204030204" pitchFamily="34" charset="0"/>
                          <a:cs typeface="Times New Roman" panose="02020603050405020304" pitchFamily="18" charset="0"/>
                        </a:rPr>
                        <a:t>Aile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tr-TR" sz="2000" kern="100">
                          <a:effectLst/>
                          <a:latin typeface="Calibri" panose="020F0502020204030204" pitchFamily="34" charset="0"/>
                          <a:ea typeface="Calibri" panose="020F0502020204030204" pitchFamily="34" charset="0"/>
                          <a:cs typeface="Times New Roman" panose="02020603050405020304" pitchFamily="18" charset="0"/>
                        </a:rPr>
                        <a:t>Ergonomik tehlikeler</a:t>
                      </a:r>
                      <a:endParaRPr lang="tr-TR"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23296150"/>
                  </a:ext>
                </a:extLst>
              </a:tr>
              <a:tr h="271269">
                <a:tc>
                  <a:txBody>
                    <a:bodyPr/>
                    <a:lstStyle/>
                    <a:p>
                      <a:pPr algn="ctr">
                        <a:lnSpc>
                          <a:spcPct val="107000"/>
                        </a:lnSpc>
                        <a:spcAft>
                          <a:spcPts val="0"/>
                        </a:spcAft>
                      </a:pPr>
                      <a:r>
                        <a:rPr lang="tr-TR" sz="2000" kern="100" dirty="0">
                          <a:effectLst/>
                          <a:latin typeface="Calibri" panose="020F0502020204030204" pitchFamily="34" charset="0"/>
                          <a:ea typeface="Calibri" panose="020F0502020204030204" pitchFamily="34" charset="0"/>
                          <a:cs typeface="Times New Roman" panose="02020603050405020304" pitchFamily="18" charset="0"/>
                        </a:rPr>
                        <a:t>Kişilik</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tr-TR" sz="2000" kern="100">
                          <a:effectLst/>
                          <a:latin typeface="Calibri" panose="020F0502020204030204" pitchFamily="34" charset="0"/>
                          <a:ea typeface="Calibri" panose="020F0502020204030204" pitchFamily="34" charset="0"/>
                          <a:cs typeface="Times New Roman" panose="02020603050405020304" pitchFamily="18" charset="0"/>
                        </a:rPr>
                        <a:t> </a:t>
                      </a:r>
                      <a:endParaRPr lang="tr-TR"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1592375"/>
                  </a:ext>
                </a:extLst>
              </a:tr>
              <a:tr h="238913">
                <a:tc>
                  <a:txBody>
                    <a:bodyPr/>
                    <a:lstStyle/>
                    <a:p>
                      <a:pPr algn="ctr">
                        <a:lnSpc>
                          <a:spcPct val="107000"/>
                        </a:lnSpc>
                        <a:spcAft>
                          <a:spcPts val="0"/>
                        </a:spcAft>
                      </a:pPr>
                      <a:r>
                        <a:rPr lang="tr-TR" sz="2000" kern="100" dirty="0">
                          <a:effectLst/>
                          <a:latin typeface="Calibri" panose="020F0502020204030204" pitchFamily="34" charset="0"/>
                          <a:ea typeface="Calibri" panose="020F0502020204030204" pitchFamily="34" charset="0"/>
                          <a:cs typeface="Times New Roman" panose="02020603050405020304" pitchFamily="18" charset="0"/>
                        </a:rPr>
                        <a:t>Hastalık</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tr-TR" sz="2000" kern="100" dirty="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28959254"/>
                  </a:ext>
                </a:extLst>
              </a:tr>
            </a:tbl>
          </a:graphicData>
        </a:graphic>
      </p:graphicFrame>
    </p:spTree>
    <p:extLst>
      <p:ext uri="{BB962C8B-B14F-4D97-AF65-F5344CB8AC3E}">
        <p14:creationId xmlns:p14="http://schemas.microsoft.com/office/powerpoint/2010/main" val="3298807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42EDE4A4-DDDD-98A5-4B80-72055DF8AE9C}"/>
              </a:ext>
            </a:extLst>
          </p:cNvPr>
          <p:cNvSpPr>
            <a:spLocks noGrp="1"/>
          </p:cNvSpPr>
          <p:nvPr>
            <p:ph type="title"/>
          </p:nvPr>
        </p:nvSpPr>
        <p:spPr>
          <a:xfrm>
            <a:off x="838200" y="365125"/>
            <a:ext cx="10515600" cy="1325563"/>
          </a:xfrm>
        </p:spPr>
        <p:txBody>
          <a:bodyPr>
            <a:normAutofit/>
          </a:bodyPr>
          <a:lstStyle/>
          <a:p>
            <a:r>
              <a:rPr lang="tr-TR" b="1" dirty="0"/>
              <a:t>Mevzuatta İş Hijyeni</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5D53BCD4-F7E5-4A5F-205F-3D56E1EA26D3}"/>
              </a:ext>
            </a:extLst>
          </p:cNvPr>
          <p:cNvSpPr>
            <a:spLocks noGrp="1"/>
          </p:cNvSpPr>
          <p:nvPr>
            <p:ph idx="1"/>
          </p:nvPr>
        </p:nvSpPr>
        <p:spPr>
          <a:xfrm>
            <a:off x="838200" y="1929383"/>
            <a:ext cx="10515600" cy="4563491"/>
          </a:xfrm>
        </p:spPr>
        <p:txBody>
          <a:bodyPr>
            <a:normAutofit/>
          </a:bodyPr>
          <a:lstStyle/>
          <a:p>
            <a:pPr marL="0" indent="0">
              <a:buNone/>
            </a:pPr>
            <a:r>
              <a:rPr lang="tr-TR" sz="2200" dirty="0"/>
              <a:t>   </a:t>
            </a:r>
            <a:r>
              <a:rPr lang="tr-TR" sz="2200" u="sng" dirty="0"/>
              <a:t>Kanserojen ve Mutajen Maddelerle Çalışmalarda Sağlık ve Güvenlik Önlemleri Hakkında Yönetmeliğinin</a:t>
            </a:r>
            <a:r>
              <a:rPr lang="tr-TR" sz="2200" dirty="0"/>
              <a:t>;</a:t>
            </a:r>
          </a:p>
          <a:p>
            <a:pPr marL="0" indent="0">
              <a:buNone/>
            </a:pPr>
            <a:endParaRPr lang="tr-TR" sz="2200" dirty="0"/>
          </a:p>
          <a:p>
            <a:pPr>
              <a:buClr>
                <a:schemeClr val="accent6">
                  <a:lumMod val="75000"/>
                </a:schemeClr>
              </a:buClr>
              <a:buFont typeface="Wingdings" panose="05000000000000000000" pitchFamily="2" charset="2"/>
              <a:buChar char="Ø"/>
            </a:pPr>
            <a:r>
              <a:rPr lang="tr-TR" sz="2200" dirty="0"/>
              <a:t> </a:t>
            </a:r>
            <a:r>
              <a:rPr lang="tr-TR" sz="2200" b="1" dirty="0"/>
              <a:t>7. maddesi</a:t>
            </a:r>
            <a:r>
              <a:rPr lang="tr-TR" sz="2200" dirty="0"/>
              <a:t>, "özellikle işyeri tabanı, duvarlar ve diğer yüzeyler düzenli olarak temizlenecek ve hijyen şartları sağlanacaktır"</a:t>
            </a:r>
          </a:p>
          <a:p>
            <a:pPr>
              <a:buClr>
                <a:schemeClr val="accent6">
                  <a:lumMod val="75000"/>
                </a:schemeClr>
              </a:buClr>
              <a:buFont typeface="Wingdings" panose="05000000000000000000" pitchFamily="2" charset="2"/>
              <a:buChar char="Ø"/>
            </a:pPr>
            <a:r>
              <a:rPr lang="tr-TR" sz="2200" dirty="0"/>
              <a:t> </a:t>
            </a:r>
            <a:r>
              <a:rPr lang="tr-TR" sz="2200" b="1" dirty="0"/>
              <a:t>12. maddesi </a:t>
            </a:r>
            <a:r>
              <a:rPr lang="tr-TR" sz="2200" dirty="0"/>
              <a:t>"hijyen ve kişisel korunma" </a:t>
            </a:r>
          </a:p>
          <a:p>
            <a:pPr>
              <a:buClr>
                <a:schemeClr val="accent6">
                  <a:lumMod val="75000"/>
                </a:schemeClr>
              </a:buClr>
              <a:buFont typeface="Wingdings" panose="05000000000000000000" pitchFamily="2" charset="2"/>
              <a:buChar char="Ø"/>
            </a:pPr>
            <a:r>
              <a:rPr lang="tr-TR" sz="2200" dirty="0"/>
              <a:t> </a:t>
            </a:r>
            <a:r>
              <a:rPr lang="tr-TR" sz="2200" b="1" dirty="0"/>
              <a:t>13. maddesi </a:t>
            </a:r>
            <a:r>
              <a:rPr lang="tr-TR" sz="2200" dirty="0"/>
              <a:t>"hijyen kuralları" konusunda çalışanlara eğitim verilmesi,</a:t>
            </a:r>
          </a:p>
          <a:p>
            <a:pPr>
              <a:buClr>
                <a:schemeClr val="accent6">
                  <a:lumMod val="75000"/>
                </a:schemeClr>
              </a:buClr>
              <a:buFont typeface="Wingdings" panose="05000000000000000000" pitchFamily="2" charset="2"/>
              <a:buChar char="Ø"/>
            </a:pPr>
            <a:r>
              <a:rPr lang="tr-TR" sz="2200" dirty="0"/>
              <a:t> </a:t>
            </a:r>
            <a:r>
              <a:rPr lang="tr-TR" sz="2200" b="1" dirty="0"/>
              <a:t>16. maddesi </a:t>
            </a:r>
            <a:r>
              <a:rPr lang="tr-TR" sz="2200" dirty="0"/>
              <a:t>" İşyerinde kişisel ve mesleki hijyen önlemlerinin derhal alınabilmesi mümkün olacak şekilde gerekli düzenleme yapılacaktır denilmektedir "</a:t>
            </a:r>
          </a:p>
          <a:p>
            <a:pPr marL="0" indent="0">
              <a:buNone/>
            </a:pPr>
            <a:endParaRPr lang="tr-TR" sz="2200" dirty="0"/>
          </a:p>
        </p:txBody>
      </p:sp>
    </p:spTree>
    <p:extLst>
      <p:ext uri="{BB962C8B-B14F-4D97-AF65-F5344CB8AC3E}">
        <p14:creationId xmlns:p14="http://schemas.microsoft.com/office/powerpoint/2010/main" val="18036897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838200" y="365125"/>
            <a:ext cx="10515600" cy="1325563"/>
          </a:xfrm>
        </p:spPr>
        <p:txBody>
          <a:bodyPr>
            <a:normAutofit/>
          </a:bodyPr>
          <a:lstStyle/>
          <a:p>
            <a:r>
              <a:rPr lang="tr-TR" b="1" dirty="0"/>
              <a:t>Mevzuatta İş Hijyeni</a:t>
            </a:r>
            <a:endParaRPr lang="tr-TR"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p:cNvSpPr>
            <a:spLocks noGrp="1"/>
          </p:cNvSpPr>
          <p:nvPr>
            <p:ph idx="1"/>
          </p:nvPr>
        </p:nvSpPr>
        <p:spPr>
          <a:xfrm>
            <a:off x="838200" y="1929384"/>
            <a:ext cx="10515600" cy="4251960"/>
          </a:xfrm>
        </p:spPr>
        <p:txBody>
          <a:bodyPr>
            <a:normAutofit/>
          </a:bodyPr>
          <a:lstStyle/>
          <a:p>
            <a:pPr marL="0" indent="0">
              <a:buNone/>
            </a:pPr>
            <a:r>
              <a:rPr lang="tr-TR" sz="2200" dirty="0"/>
              <a:t>   </a:t>
            </a:r>
            <a:r>
              <a:rPr lang="tr-TR" sz="2200" u="sng" dirty="0"/>
              <a:t>İş Sağlığı ve Güvenliği Kurulları Hakkında Yönetmeliğin</a:t>
            </a:r>
            <a:r>
              <a:rPr lang="tr-TR" sz="2200" dirty="0"/>
              <a:t>;</a:t>
            </a:r>
          </a:p>
          <a:p>
            <a:pPr marL="0" indent="0">
              <a:buNone/>
            </a:pPr>
            <a:endParaRPr lang="tr-TR" sz="2200" dirty="0"/>
          </a:p>
          <a:p>
            <a:pPr>
              <a:buClr>
                <a:schemeClr val="accent6">
                  <a:lumMod val="75000"/>
                </a:schemeClr>
              </a:buClr>
              <a:buFont typeface="Wingdings" panose="05000000000000000000" pitchFamily="2" charset="2"/>
              <a:buChar char="Ø"/>
            </a:pPr>
            <a:r>
              <a:rPr lang="tr-TR" sz="2200" dirty="0"/>
              <a:t> </a:t>
            </a:r>
            <a:r>
              <a:rPr lang="tr-TR" sz="2200" b="1" dirty="0"/>
              <a:t>6.maddesi</a:t>
            </a:r>
            <a:r>
              <a:rPr lang="tr-TR" sz="2200" dirty="0"/>
              <a:t> "İşveren tarafından, iş sağlığı ve güvenliği kurulu üyelerine ve yedeklerine "endüstriyel hijyenin temel </a:t>
            </a:r>
            <a:r>
              <a:rPr lang="tr-TR" sz="2200" dirty="0" smtClean="0"/>
              <a:t>ilkeleri konularında </a:t>
            </a:r>
            <a:r>
              <a:rPr lang="tr-TR" sz="2200" dirty="0"/>
              <a:t>eğitim verilmesi sağlanır" ifadesi yer almaktadır.</a:t>
            </a:r>
          </a:p>
          <a:p>
            <a:endParaRPr lang="tr-TR" sz="2200" dirty="0"/>
          </a:p>
        </p:txBody>
      </p:sp>
    </p:spTree>
    <p:extLst>
      <p:ext uri="{BB962C8B-B14F-4D97-AF65-F5344CB8AC3E}">
        <p14:creationId xmlns:p14="http://schemas.microsoft.com/office/powerpoint/2010/main" val="26215185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572493" y="238539"/>
            <a:ext cx="11018520" cy="1434415"/>
          </a:xfrm>
        </p:spPr>
        <p:txBody>
          <a:bodyPr anchor="b">
            <a:normAutofit/>
          </a:bodyPr>
          <a:lstStyle/>
          <a:p>
            <a:r>
              <a:rPr lang="tr-TR" b="1" dirty="0"/>
              <a:t>İş Hijyeni</a:t>
            </a:r>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xmln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p:cNvSpPr>
            <a:spLocks noGrp="1"/>
          </p:cNvSpPr>
          <p:nvPr>
            <p:ph idx="1"/>
          </p:nvPr>
        </p:nvSpPr>
        <p:spPr>
          <a:xfrm>
            <a:off x="572492" y="2071315"/>
            <a:ext cx="7537837" cy="4548145"/>
          </a:xfrm>
        </p:spPr>
        <p:txBody>
          <a:bodyPr anchor="t">
            <a:normAutofit fontScale="92500" lnSpcReduction="10000"/>
          </a:bodyPr>
          <a:lstStyle/>
          <a:p>
            <a:pPr marL="0" indent="0">
              <a:buNone/>
            </a:pPr>
            <a:r>
              <a:rPr lang="tr-TR" sz="2000" dirty="0"/>
              <a:t>   </a:t>
            </a:r>
            <a:r>
              <a:rPr lang="tr-TR" sz="2200" dirty="0"/>
              <a:t>Öncelikli olarak, iş sağlığını tehdit edebilecek tehlikeler, bunların çalışanların vücuduna olası giriş yolları , bunların değerlendirme yöntemleri ve tehlikeyi önleyici kontrol yöntemlerini gözden geçirmek gerekir.</a:t>
            </a:r>
          </a:p>
          <a:p>
            <a:pPr marL="0" indent="0">
              <a:buNone/>
            </a:pPr>
            <a:endParaRPr lang="tr-TR" sz="2200" dirty="0"/>
          </a:p>
          <a:p>
            <a:pPr marL="514350" indent="-514350">
              <a:buFont typeface="+mj-lt"/>
              <a:buAutoNum type="arabicPeriod"/>
            </a:pPr>
            <a:r>
              <a:rPr lang="tr-TR" sz="2200" dirty="0"/>
              <a:t>Sağlığı tehdit eden tehlikelerin sınıflandırılması</a:t>
            </a:r>
          </a:p>
          <a:p>
            <a:pPr marL="514350" indent="-514350">
              <a:buFont typeface="+mj-lt"/>
              <a:buAutoNum type="arabicPeriod"/>
            </a:pPr>
            <a:r>
              <a:rPr lang="tr-TR" sz="2200" dirty="0"/>
              <a:t>Vücuda Giriş Yolları</a:t>
            </a:r>
          </a:p>
          <a:p>
            <a:pPr marL="514350" indent="-514350">
              <a:buFont typeface="+mj-lt"/>
              <a:buAutoNum type="arabicPeriod"/>
            </a:pPr>
            <a:r>
              <a:rPr lang="tr-TR" sz="2200" dirty="0"/>
              <a:t>Fiziksel Etkenlere (Çevresel Zararlara) Maruz Kalma</a:t>
            </a:r>
          </a:p>
          <a:p>
            <a:pPr marL="514350" indent="-514350">
              <a:buFont typeface="+mj-lt"/>
              <a:buAutoNum type="arabicPeriod"/>
            </a:pPr>
            <a:r>
              <a:rPr lang="tr-TR" sz="2200" dirty="0"/>
              <a:t>Sağlık Riski Oluşturan Tehlikelerin Değerlendirilmesi</a:t>
            </a:r>
          </a:p>
          <a:p>
            <a:pPr marL="514350" indent="-514350">
              <a:buFont typeface="+mj-lt"/>
              <a:buAutoNum type="arabicPeriod"/>
            </a:pPr>
            <a:r>
              <a:rPr lang="tr-TR" sz="2200" dirty="0"/>
              <a:t>Tehlikeleri Önleyici Kontrol Yöntemleri</a:t>
            </a:r>
          </a:p>
          <a:p>
            <a:pPr marL="0" indent="0">
              <a:buNone/>
            </a:pPr>
            <a:endParaRPr lang="tr-TR" sz="2000" dirty="0"/>
          </a:p>
        </p:txBody>
      </p:sp>
      <p:pic>
        <p:nvPicPr>
          <p:cNvPr id="5" name="Resim 4">
            <a:extLst>
              <a:ext uri="{FF2B5EF4-FFF2-40B4-BE49-F238E27FC236}">
                <a16:creationId xmlns:a16="http://schemas.microsoft.com/office/drawing/2014/main" id="{B90775CE-235F-2CC5-62C9-4AB33B3E5E2A}"/>
              </a:ext>
            </a:extLst>
          </p:cNvPr>
          <p:cNvPicPr>
            <a:picLocks noChangeAspect="1"/>
          </p:cNvPicPr>
          <p:nvPr/>
        </p:nvPicPr>
        <p:blipFill>
          <a:blip r:embed="rId2"/>
          <a:srcRect r="14728" b="1"/>
          <a:stretch>
            <a:fillRect/>
          </a:stretch>
        </p:blipFill>
        <p:spPr>
          <a:xfrm>
            <a:off x="8254348" y="2093976"/>
            <a:ext cx="3362373" cy="3494996"/>
          </a:xfrm>
          <a:prstGeom prst="rect">
            <a:avLst/>
          </a:prstGeom>
        </p:spPr>
      </p:pic>
    </p:spTree>
    <p:extLst>
      <p:ext uri="{BB962C8B-B14F-4D97-AF65-F5344CB8AC3E}">
        <p14:creationId xmlns:p14="http://schemas.microsoft.com/office/powerpoint/2010/main" val="14546786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5" name="Slide Background">
            <a:extLst>
              <a:ext uri="{FF2B5EF4-FFF2-40B4-BE49-F238E27FC236}">
                <a16:creationId xmlns:a16="http://schemas.microsoft.com/office/drawing/2014/main" id="{AA857166-A416-4C5E-8AA9-5D5D1E13D15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057" name="Rectangle 2056">
            <a:extLst>
              <a:ext uri="{FF2B5EF4-FFF2-40B4-BE49-F238E27FC236}">
                <a16:creationId xmlns:a16="http://schemas.microsoft.com/office/drawing/2014/main" id="{13A48C6C-3CC4-4EE5-A773-EC1EB7F59CD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0" y="0"/>
            <a:ext cx="4617491" cy="6858000"/>
          </a:xfrm>
          <a:prstGeom prst="rect">
            <a:avLst/>
          </a:prstGeom>
          <a:ln>
            <a:noFill/>
          </a:ln>
          <a:effectLst>
            <a:outerShdw blurRad="203200" dist="88900" dir="21540000" sx="94000" sy="94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59" name="Rectangle 2058">
            <a:extLst>
              <a:ext uri="{FF2B5EF4-FFF2-40B4-BE49-F238E27FC236}">
                <a16:creationId xmlns:a16="http://schemas.microsoft.com/office/drawing/2014/main" id="{F489C2E0-4895-4B72-85EA-7EE9FAFFDC7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0" y="-1"/>
            <a:ext cx="4617491" cy="5136739"/>
          </a:xfrm>
          <a:prstGeom prst="rect">
            <a:avLst/>
          </a:prstGeom>
          <a:ln>
            <a:noFill/>
          </a:ln>
          <a:effectLst>
            <a:outerShdw blurRad="177800" dist="101600" dir="5400000" sx="97000" sy="97000" algn="t"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Unvan 1"/>
          <p:cNvSpPr>
            <a:spLocks noGrp="1"/>
          </p:cNvSpPr>
          <p:nvPr>
            <p:ph type="title"/>
          </p:nvPr>
        </p:nvSpPr>
        <p:spPr>
          <a:xfrm>
            <a:off x="419725" y="617921"/>
            <a:ext cx="3715203" cy="3988585"/>
          </a:xfrm>
        </p:spPr>
        <p:txBody>
          <a:bodyPr vert="horz" lIns="91440" tIns="45720" rIns="91440" bIns="45720" rtlCol="0" anchor="ctr">
            <a:normAutofit fontScale="90000"/>
          </a:bodyPr>
          <a:lstStyle/>
          <a:p>
            <a:r>
              <a:rPr lang="en-US" sz="3700" b="1" kern="1200" dirty="0">
                <a:solidFill>
                  <a:schemeClr val="tx1"/>
                </a:solidFill>
                <a:latin typeface="+mj-lt"/>
                <a:ea typeface="+mj-ea"/>
                <a:cs typeface="+mj-cs"/>
              </a:rPr>
              <a:t/>
            </a:r>
            <a:br>
              <a:rPr lang="en-US" sz="3700" b="1" kern="1200" dirty="0">
                <a:solidFill>
                  <a:schemeClr val="tx1"/>
                </a:solidFill>
                <a:latin typeface="+mj-lt"/>
                <a:ea typeface="+mj-ea"/>
                <a:cs typeface="+mj-cs"/>
              </a:rPr>
            </a:br>
            <a:r>
              <a:rPr lang="en-US" sz="4000" b="1" dirty="0" err="1">
                <a:solidFill>
                  <a:schemeClr val="accent6">
                    <a:lumMod val="75000"/>
                  </a:schemeClr>
                </a:solidFill>
              </a:rPr>
              <a:t>Sağlığı</a:t>
            </a:r>
            <a:r>
              <a:rPr lang="en-US" sz="4000" b="1" dirty="0">
                <a:solidFill>
                  <a:schemeClr val="accent6">
                    <a:lumMod val="75000"/>
                  </a:schemeClr>
                </a:solidFill>
              </a:rPr>
              <a:t> </a:t>
            </a:r>
            <a:r>
              <a:rPr lang="en-US" sz="4000" b="1" dirty="0" err="1">
                <a:solidFill>
                  <a:schemeClr val="accent6">
                    <a:lumMod val="75000"/>
                  </a:schemeClr>
                </a:solidFill>
              </a:rPr>
              <a:t>tehdit</a:t>
            </a:r>
            <a:r>
              <a:rPr lang="en-US" sz="4000" b="1" dirty="0">
                <a:solidFill>
                  <a:schemeClr val="accent6">
                    <a:lumMod val="75000"/>
                  </a:schemeClr>
                </a:solidFill>
              </a:rPr>
              <a:t> </a:t>
            </a:r>
            <a:r>
              <a:rPr lang="en-US" sz="4000" b="1" dirty="0" err="1">
                <a:solidFill>
                  <a:schemeClr val="accent6">
                    <a:lumMod val="75000"/>
                  </a:schemeClr>
                </a:solidFill>
              </a:rPr>
              <a:t>eden</a:t>
            </a:r>
            <a:r>
              <a:rPr lang="en-US" sz="4000" b="1" dirty="0">
                <a:solidFill>
                  <a:schemeClr val="accent6">
                    <a:lumMod val="75000"/>
                  </a:schemeClr>
                </a:solidFill>
              </a:rPr>
              <a:t> </a:t>
            </a:r>
            <a:r>
              <a:rPr lang="en-US" sz="4000" b="1" dirty="0" err="1">
                <a:solidFill>
                  <a:schemeClr val="accent6">
                    <a:lumMod val="75000"/>
                  </a:schemeClr>
                </a:solidFill>
              </a:rPr>
              <a:t>tehlikelerin</a:t>
            </a:r>
            <a:r>
              <a:rPr lang="en-US" sz="4000" b="1" dirty="0">
                <a:solidFill>
                  <a:schemeClr val="accent6">
                    <a:lumMod val="75000"/>
                  </a:schemeClr>
                </a:solidFill>
              </a:rPr>
              <a:t> </a:t>
            </a:r>
            <a:r>
              <a:rPr lang="en-US" sz="4000" b="1" dirty="0" err="1">
                <a:solidFill>
                  <a:schemeClr val="accent6">
                    <a:lumMod val="75000"/>
                  </a:schemeClr>
                </a:solidFill>
              </a:rPr>
              <a:t>sınıflandırılması</a:t>
            </a:r>
            <a:r>
              <a:rPr lang="en-US" sz="3700" b="1" kern="1200" dirty="0">
                <a:solidFill>
                  <a:schemeClr val="tx1"/>
                </a:solidFill>
                <a:latin typeface="+mj-lt"/>
                <a:ea typeface="+mj-ea"/>
                <a:cs typeface="+mj-cs"/>
              </a:rPr>
              <a:t/>
            </a:r>
            <a:br>
              <a:rPr lang="en-US" sz="3700" b="1" kern="1200" dirty="0">
                <a:solidFill>
                  <a:schemeClr val="tx1"/>
                </a:solidFill>
                <a:latin typeface="+mj-lt"/>
                <a:ea typeface="+mj-ea"/>
                <a:cs typeface="+mj-cs"/>
              </a:rPr>
            </a:br>
            <a:endParaRPr lang="en-US" sz="3700" b="1" kern="1200" dirty="0">
              <a:solidFill>
                <a:schemeClr val="tx1"/>
              </a:solidFill>
              <a:latin typeface="+mj-lt"/>
              <a:ea typeface="+mj-ea"/>
              <a:cs typeface="+mj-cs"/>
            </a:endParaRPr>
          </a:p>
        </p:txBody>
      </p:sp>
      <p:pic>
        <p:nvPicPr>
          <p:cNvPr id="2050" name="Picture 2" descr="https://www.isguvenligi.net/wp-content/uploads/m4922935e.jpg"/>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5199145" y="917369"/>
            <a:ext cx="6409958" cy="51127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52996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7BF42CA-AD55-48B4-8949-C4DCA60A6AE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6AE1D3D-3106-4CB2-AA7C-0C1642AC0F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A31B6AF-B711-4CDB-8C2B-16E963DDC4C5}"/>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37" y="0"/>
            <a:ext cx="5646974" cy="6483075"/>
            <a:chOff x="-19221" y="0"/>
            <a:chExt cx="5646974" cy="6483075"/>
          </a:xfrm>
        </p:grpSpPr>
        <p:sp>
          <p:nvSpPr>
            <p:cNvPr id="13" name="Freeform: Shape 12">
              <a:extLst>
                <a:ext uri="{FF2B5EF4-FFF2-40B4-BE49-F238E27FC236}">
                  <a16:creationId xmlns:a16="http://schemas.microsoft.com/office/drawing/2014/main" id="{CA818331-E13C-49C6-B98D-A60AD0E85AE0}"/>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9220" y="116610"/>
              <a:ext cx="5535001" cy="6250127"/>
            </a:xfrm>
            <a:custGeom>
              <a:avLst/>
              <a:gdLst>
                <a:gd name="connsiteX0" fmla="*/ 2510242 w 5535001"/>
                <a:gd name="connsiteY0" fmla="*/ 174 h 6250127"/>
                <a:gd name="connsiteX1" fmla="*/ 2550551 w 5535001"/>
                <a:gd name="connsiteY1" fmla="*/ 510 h 6250127"/>
                <a:gd name="connsiteX2" fmla="*/ 2629490 w 5535001"/>
                <a:gd name="connsiteY2" fmla="*/ 3757 h 6250127"/>
                <a:gd name="connsiteX3" fmla="*/ 2708317 w 5535001"/>
                <a:gd name="connsiteY3" fmla="*/ 7229 h 6250127"/>
                <a:gd name="connsiteX4" fmla="*/ 2787256 w 5535001"/>
                <a:gd name="connsiteY4" fmla="*/ 14619 h 6250127"/>
                <a:gd name="connsiteX5" fmla="*/ 3408467 w 5535001"/>
                <a:gd name="connsiteY5" fmla="*/ 145064 h 6250127"/>
                <a:gd name="connsiteX6" fmla="*/ 3557723 w 5535001"/>
                <a:gd name="connsiteY6" fmla="*/ 199593 h 6250127"/>
                <a:gd name="connsiteX7" fmla="*/ 3594337 w 5535001"/>
                <a:gd name="connsiteY7" fmla="*/ 214597 h 6250127"/>
                <a:gd name="connsiteX8" fmla="*/ 3630616 w 5535001"/>
                <a:gd name="connsiteY8" fmla="*/ 230385 h 6250127"/>
                <a:gd name="connsiteX9" fmla="*/ 3703172 w 5535001"/>
                <a:gd name="connsiteY9" fmla="*/ 262073 h 6250127"/>
                <a:gd name="connsiteX10" fmla="*/ 3739003 w 5535001"/>
                <a:gd name="connsiteY10" fmla="*/ 278756 h 6250127"/>
                <a:gd name="connsiteX11" fmla="*/ 3756806 w 5535001"/>
                <a:gd name="connsiteY11" fmla="*/ 287266 h 6250127"/>
                <a:gd name="connsiteX12" fmla="*/ 3773714 w 5535001"/>
                <a:gd name="connsiteY12" fmla="*/ 297567 h 6250127"/>
                <a:gd name="connsiteX13" fmla="*/ 3840784 w 5535001"/>
                <a:gd name="connsiteY13" fmla="*/ 339332 h 6250127"/>
                <a:gd name="connsiteX14" fmla="*/ 3873927 w 5535001"/>
                <a:gd name="connsiteY14" fmla="*/ 360495 h 6250127"/>
                <a:gd name="connsiteX15" fmla="*/ 3906062 w 5535001"/>
                <a:gd name="connsiteY15" fmla="*/ 383001 h 6250127"/>
                <a:gd name="connsiteX16" fmla="*/ 3969662 w 5535001"/>
                <a:gd name="connsiteY16" fmla="*/ 428572 h 6250127"/>
                <a:gd name="connsiteX17" fmla="*/ 4423029 w 5535001"/>
                <a:gd name="connsiteY17" fmla="*/ 837600 h 6250127"/>
                <a:gd name="connsiteX18" fmla="*/ 4474647 w 5535001"/>
                <a:gd name="connsiteY18" fmla="*/ 891569 h 6250127"/>
                <a:gd name="connsiteX19" fmla="*/ 4524250 w 5535001"/>
                <a:gd name="connsiteY19" fmla="*/ 946883 h 6250127"/>
                <a:gd name="connsiteX20" fmla="*/ 4573965 w 5535001"/>
                <a:gd name="connsiteY20" fmla="*/ 1001748 h 6250127"/>
                <a:gd name="connsiteX21" fmla="*/ 4622224 w 5535001"/>
                <a:gd name="connsiteY21" fmla="*/ 1057509 h 6250127"/>
                <a:gd name="connsiteX22" fmla="*/ 4717510 w 5535001"/>
                <a:gd name="connsiteY22" fmla="*/ 1169143 h 6250127"/>
                <a:gd name="connsiteX23" fmla="*/ 4764986 w 5535001"/>
                <a:gd name="connsiteY23" fmla="*/ 1224681 h 6250127"/>
                <a:gd name="connsiteX24" fmla="*/ 4813021 w 5535001"/>
                <a:gd name="connsiteY24" fmla="*/ 1279994 h 6250127"/>
                <a:gd name="connsiteX25" fmla="*/ 5001915 w 5535001"/>
                <a:gd name="connsiteY25" fmla="*/ 1506846 h 6250127"/>
                <a:gd name="connsiteX26" fmla="*/ 5170542 w 5535001"/>
                <a:gd name="connsiteY26" fmla="*/ 1751165 h 6250127"/>
                <a:gd name="connsiteX27" fmla="*/ 5428969 w 5535001"/>
                <a:gd name="connsiteY27" fmla="*/ 2293660 h 6250127"/>
                <a:gd name="connsiteX28" fmla="*/ 5534893 w 5535001"/>
                <a:gd name="connsiteY28" fmla="*/ 2899307 h 6250127"/>
                <a:gd name="connsiteX29" fmla="*/ 5508804 w 5535001"/>
                <a:gd name="connsiteY29" fmla="*/ 3211144 h 6250127"/>
                <a:gd name="connsiteX30" fmla="*/ 5426282 w 5535001"/>
                <a:gd name="connsiteY30" fmla="*/ 3513352 h 6250127"/>
                <a:gd name="connsiteX31" fmla="*/ 5248250 w 5535001"/>
                <a:gd name="connsiteY31" fmla="*/ 4030542 h 6250127"/>
                <a:gd name="connsiteX32" fmla="*/ 5208612 w 5535001"/>
                <a:gd name="connsiteY32" fmla="*/ 4161771 h 6250127"/>
                <a:gd name="connsiteX33" fmla="*/ 5170318 w 5535001"/>
                <a:gd name="connsiteY33" fmla="*/ 4294680 h 6250127"/>
                <a:gd name="connsiteX34" fmla="*/ 5132248 w 5535001"/>
                <a:gd name="connsiteY34" fmla="*/ 4430164 h 6250127"/>
                <a:gd name="connsiteX35" fmla="*/ 5112765 w 5535001"/>
                <a:gd name="connsiteY35" fmla="*/ 4498914 h 6250127"/>
                <a:gd name="connsiteX36" fmla="*/ 5091715 w 5535001"/>
                <a:gd name="connsiteY36" fmla="*/ 4569119 h 6250127"/>
                <a:gd name="connsiteX37" fmla="*/ 5068985 w 5535001"/>
                <a:gd name="connsiteY37" fmla="*/ 4640220 h 6250127"/>
                <a:gd name="connsiteX38" fmla="*/ 5043904 w 5535001"/>
                <a:gd name="connsiteY38" fmla="*/ 4712105 h 6250127"/>
                <a:gd name="connsiteX39" fmla="*/ 5015799 w 5535001"/>
                <a:gd name="connsiteY39" fmla="*/ 4784438 h 6250127"/>
                <a:gd name="connsiteX40" fmla="*/ 4982880 w 5535001"/>
                <a:gd name="connsiteY40" fmla="*/ 4856435 h 6250127"/>
                <a:gd name="connsiteX41" fmla="*/ 4817276 w 5535001"/>
                <a:gd name="connsiteY41" fmla="*/ 5125275 h 6250127"/>
                <a:gd name="connsiteX42" fmla="*/ 4618753 w 5535001"/>
                <a:gd name="connsiteY42" fmla="*/ 5355374 h 6250127"/>
                <a:gd name="connsiteX43" fmla="*/ 4566575 w 5535001"/>
                <a:gd name="connsiteY43" fmla="*/ 5408560 h 6250127"/>
                <a:gd name="connsiteX44" fmla="*/ 4513837 w 5535001"/>
                <a:gd name="connsiteY44" fmla="*/ 5461186 h 6250127"/>
                <a:gd name="connsiteX45" fmla="*/ 4459531 w 5535001"/>
                <a:gd name="connsiteY45" fmla="*/ 5512580 h 6250127"/>
                <a:gd name="connsiteX46" fmla="*/ 4404554 w 5535001"/>
                <a:gd name="connsiteY46" fmla="*/ 5563526 h 6250127"/>
                <a:gd name="connsiteX47" fmla="*/ 4348009 w 5535001"/>
                <a:gd name="connsiteY47" fmla="*/ 5613017 h 6250127"/>
                <a:gd name="connsiteX48" fmla="*/ 4290568 w 5535001"/>
                <a:gd name="connsiteY48" fmla="*/ 5661948 h 6250127"/>
                <a:gd name="connsiteX49" fmla="*/ 4276124 w 5535001"/>
                <a:gd name="connsiteY49" fmla="*/ 5674153 h 6250127"/>
                <a:gd name="connsiteX50" fmla="*/ 4261120 w 5535001"/>
                <a:gd name="connsiteY50" fmla="*/ 5685798 h 6250127"/>
                <a:gd name="connsiteX51" fmla="*/ 4231112 w 5535001"/>
                <a:gd name="connsiteY51" fmla="*/ 5708976 h 6250127"/>
                <a:gd name="connsiteX52" fmla="*/ 4170984 w 5535001"/>
                <a:gd name="connsiteY52" fmla="*/ 5755443 h 6250127"/>
                <a:gd name="connsiteX53" fmla="*/ 4046025 w 5535001"/>
                <a:gd name="connsiteY53" fmla="*/ 5843228 h 6250127"/>
                <a:gd name="connsiteX54" fmla="*/ 3915356 w 5535001"/>
                <a:gd name="connsiteY54" fmla="*/ 5923735 h 6250127"/>
                <a:gd name="connsiteX55" fmla="*/ 3346323 w 5535001"/>
                <a:gd name="connsiteY55" fmla="*/ 6158872 h 6250127"/>
                <a:gd name="connsiteX56" fmla="*/ 2743476 w 5535001"/>
                <a:gd name="connsiteY56" fmla="*/ 6247328 h 6250127"/>
                <a:gd name="connsiteX57" fmla="*/ 2668120 w 5535001"/>
                <a:gd name="connsiteY57" fmla="*/ 6249344 h 6250127"/>
                <a:gd name="connsiteX58" fmla="*/ 2630498 w 5535001"/>
                <a:gd name="connsiteY58" fmla="*/ 6250127 h 6250127"/>
                <a:gd name="connsiteX59" fmla="*/ 2592988 w 5535001"/>
                <a:gd name="connsiteY59" fmla="*/ 6249568 h 6250127"/>
                <a:gd name="connsiteX60" fmla="*/ 2518080 w 5535001"/>
                <a:gd name="connsiteY60" fmla="*/ 6247777 h 6250127"/>
                <a:gd name="connsiteX61" fmla="*/ 2442948 w 5535001"/>
                <a:gd name="connsiteY61" fmla="*/ 6244529 h 6250127"/>
                <a:gd name="connsiteX62" fmla="*/ 2291676 w 5535001"/>
                <a:gd name="connsiteY62" fmla="*/ 6232213 h 6250127"/>
                <a:gd name="connsiteX63" fmla="*/ 2141412 w 5535001"/>
                <a:gd name="connsiteY63" fmla="*/ 6212394 h 6250127"/>
                <a:gd name="connsiteX64" fmla="*/ 1992715 w 5535001"/>
                <a:gd name="connsiteY64" fmla="*/ 6184961 h 6250127"/>
                <a:gd name="connsiteX65" fmla="*/ 1845811 w 5535001"/>
                <a:gd name="connsiteY65" fmla="*/ 6151034 h 6250127"/>
                <a:gd name="connsiteX66" fmla="*/ 1701033 w 5535001"/>
                <a:gd name="connsiteY66" fmla="*/ 6110724 h 6250127"/>
                <a:gd name="connsiteX67" fmla="*/ 1629484 w 5535001"/>
                <a:gd name="connsiteY67" fmla="*/ 6088219 h 6250127"/>
                <a:gd name="connsiteX68" fmla="*/ 1558383 w 5535001"/>
                <a:gd name="connsiteY68" fmla="*/ 6064929 h 6250127"/>
                <a:gd name="connsiteX69" fmla="*/ 1011968 w 5535001"/>
                <a:gd name="connsiteY69" fmla="*/ 5828896 h 6250127"/>
                <a:gd name="connsiteX70" fmla="*/ 511237 w 5535001"/>
                <a:gd name="connsiteY70" fmla="*/ 5512356 h 6250127"/>
                <a:gd name="connsiteX71" fmla="*/ 395572 w 5535001"/>
                <a:gd name="connsiteY71" fmla="*/ 5419757 h 6250127"/>
                <a:gd name="connsiteX72" fmla="*/ 284722 w 5535001"/>
                <a:gd name="connsiteY72" fmla="*/ 5321559 h 6250127"/>
                <a:gd name="connsiteX73" fmla="*/ 257513 w 5535001"/>
                <a:gd name="connsiteY73" fmla="*/ 5296477 h 6250127"/>
                <a:gd name="connsiteX74" fmla="*/ 243853 w 5535001"/>
                <a:gd name="connsiteY74" fmla="*/ 5283937 h 6250127"/>
                <a:gd name="connsiteX75" fmla="*/ 230752 w 5535001"/>
                <a:gd name="connsiteY75" fmla="*/ 5270836 h 6250127"/>
                <a:gd name="connsiteX76" fmla="*/ 178574 w 5535001"/>
                <a:gd name="connsiteY76" fmla="*/ 5218322 h 6250127"/>
                <a:gd name="connsiteX77" fmla="*/ 126508 w 5535001"/>
                <a:gd name="connsiteY77" fmla="*/ 5165584 h 6250127"/>
                <a:gd name="connsiteX78" fmla="*/ 76345 w 5535001"/>
                <a:gd name="connsiteY78" fmla="*/ 5111167 h 6250127"/>
                <a:gd name="connsiteX79" fmla="*/ 26407 w 5535001"/>
                <a:gd name="connsiteY79" fmla="*/ 5056413 h 6250127"/>
                <a:gd name="connsiteX80" fmla="*/ 0 w 5535001"/>
                <a:gd name="connsiteY80" fmla="*/ 5024776 h 6250127"/>
                <a:gd name="connsiteX81" fmla="*/ 0 w 5535001"/>
                <a:gd name="connsiteY81" fmla="*/ 4492798 h 6250127"/>
                <a:gd name="connsiteX82" fmla="*/ 28534 w 5535001"/>
                <a:gd name="connsiteY82" fmla="*/ 4537879 h 6250127"/>
                <a:gd name="connsiteX83" fmla="*/ 66604 w 5535001"/>
                <a:gd name="connsiteY83" fmla="*/ 4592745 h 6250127"/>
                <a:gd name="connsiteX84" fmla="*/ 104114 w 5535001"/>
                <a:gd name="connsiteY84" fmla="*/ 4647834 h 6250127"/>
                <a:gd name="connsiteX85" fmla="*/ 143751 w 5535001"/>
                <a:gd name="connsiteY85" fmla="*/ 4701580 h 6250127"/>
                <a:gd name="connsiteX86" fmla="*/ 182717 w 5535001"/>
                <a:gd name="connsiteY86" fmla="*/ 4755773 h 6250127"/>
                <a:gd name="connsiteX87" fmla="*/ 223810 w 5535001"/>
                <a:gd name="connsiteY87" fmla="*/ 4808399 h 6250127"/>
                <a:gd name="connsiteX88" fmla="*/ 264679 w 5535001"/>
                <a:gd name="connsiteY88" fmla="*/ 4861249 h 6250127"/>
                <a:gd name="connsiteX89" fmla="*/ 307788 w 5535001"/>
                <a:gd name="connsiteY89" fmla="*/ 4912420 h 6250127"/>
                <a:gd name="connsiteX90" fmla="*/ 351232 w 5535001"/>
                <a:gd name="connsiteY90" fmla="*/ 4963254 h 6250127"/>
                <a:gd name="connsiteX91" fmla="*/ 397028 w 5535001"/>
                <a:gd name="connsiteY91" fmla="*/ 5012185 h 6250127"/>
                <a:gd name="connsiteX92" fmla="*/ 443496 w 5535001"/>
                <a:gd name="connsiteY92" fmla="*/ 5060444 h 6250127"/>
                <a:gd name="connsiteX93" fmla="*/ 455140 w 5535001"/>
                <a:gd name="connsiteY93" fmla="*/ 5072537 h 6250127"/>
                <a:gd name="connsiteX94" fmla="*/ 467345 w 5535001"/>
                <a:gd name="connsiteY94" fmla="*/ 5083958 h 6250127"/>
                <a:gd name="connsiteX95" fmla="*/ 491755 w 5535001"/>
                <a:gd name="connsiteY95" fmla="*/ 5106912 h 6250127"/>
                <a:gd name="connsiteX96" fmla="*/ 540686 w 5535001"/>
                <a:gd name="connsiteY96" fmla="*/ 5152819 h 6250127"/>
                <a:gd name="connsiteX97" fmla="*/ 552890 w 5535001"/>
                <a:gd name="connsiteY97" fmla="*/ 5164353 h 6250127"/>
                <a:gd name="connsiteX98" fmla="*/ 565655 w 5535001"/>
                <a:gd name="connsiteY98" fmla="*/ 5175214 h 6250127"/>
                <a:gd name="connsiteX99" fmla="*/ 591072 w 5535001"/>
                <a:gd name="connsiteY99" fmla="*/ 5197048 h 6250127"/>
                <a:gd name="connsiteX100" fmla="*/ 694197 w 5535001"/>
                <a:gd name="connsiteY100" fmla="*/ 5283041 h 6250127"/>
                <a:gd name="connsiteX101" fmla="*/ 1146221 w 5535001"/>
                <a:gd name="connsiteY101" fmla="*/ 5573716 h 6250127"/>
                <a:gd name="connsiteX102" fmla="*/ 1650982 w 5535001"/>
                <a:gd name="connsiteY102" fmla="*/ 5758130 h 6250127"/>
                <a:gd name="connsiteX103" fmla="*/ 1716485 w 5535001"/>
                <a:gd name="connsiteY103" fmla="*/ 5772798 h 6250127"/>
                <a:gd name="connsiteX104" fmla="*/ 1782211 w 5535001"/>
                <a:gd name="connsiteY104" fmla="*/ 5786235 h 6250127"/>
                <a:gd name="connsiteX105" fmla="*/ 1848386 w 5535001"/>
                <a:gd name="connsiteY105" fmla="*/ 5796984 h 6250127"/>
                <a:gd name="connsiteX106" fmla="*/ 1881417 w 5535001"/>
                <a:gd name="connsiteY106" fmla="*/ 5802359 h 6250127"/>
                <a:gd name="connsiteX107" fmla="*/ 1914560 w 5535001"/>
                <a:gd name="connsiteY107" fmla="*/ 5807061 h 6250127"/>
                <a:gd name="connsiteX108" fmla="*/ 2047469 w 5535001"/>
                <a:gd name="connsiteY108" fmla="*/ 5821282 h 6250127"/>
                <a:gd name="connsiteX109" fmla="*/ 2180601 w 5535001"/>
                <a:gd name="connsiteY109" fmla="*/ 5828896 h 6250127"/>
                <a:gd name="connsiteX110" fmla="*/ 2313622 w 5535001"/>
                <a:gd name="connsiteY110" fmla="*/ 5830463 h 6250127"/>
                <a:gd name="connsiteX111" fmla="*/ 2380021 w 5535001"/>
                <a:gd name="connsiteY111" fmla="*/ 5828448 h 6250127"/>
                <a:gd name="connsiteX112" fmla="*/ 2446195 w 5535001"/>
                <a:gd name="connsiteY112" fmla="*/ 5826433 h 6250127"/>
                <a:gd name="connsiteX113" fmla="*/ 2513041 w 5535001"/>
                <a:gd name="connsiteY113" fmla="*/ 5822737 h 6250127"/>
                <a:gd name="connsiteX114" fmla="*/ 2580111 w 5535001"/>
                <a:gd name="connsiteY114" fmla="*/ 5818258 h 6250127"/>
                <a:gd name="connsiteX115" fmla="*/ 2613590 w 5535001"/>
                <a:gd name="connsiteY115" fmla="*/ 5816355 h 6250127"/>
                <a:gd name="connsiteX116" fmla="*/ 2646845 w 5535001"/>
                <a:gd name="connsiteY116" fmla="*/ 5813108 h 6250127"/>
                <a:gd name="connsiteX117" fmla="*/ 2713244 w 5535001"/>
                <a:gd name="connsiteY117" fmla="*/ 5806838 h 6250127"/>
                <a:gd name="connsiteX118" fmla="*/ 3230882 w 5535001"/>
                <a:gd name="connsiteY118" fmla="*/ 5721292 h 6250127"/>
                <a:gd name="connsiteX119" fmla="*/ 3720416 w 5535001"/>
                <a:gd name="connsiteY119" fmla="*/ 5556472 h 6250127"/>
                <a:gd name="connsiteX120" fmla="*/ 3837425 w 5535001"/>
                <a:gd name="connsiteY120" fmla="*/ 5499927 h 6250127"/>
                <a:gd name="connsiteX121" fmla="*/ 3951634 w 5535001"/>
                <a:gd name="connsiteY121" fmla="*/ 5436552 h 6250127"/>
                <a:gd name="connsiteX122" fmla="*/ 4007284 w 5535001"/>
                <a:gd name="connsiteY122" fmla="*/ 5401841 h 6250127"/>
                <a:gd name="connsiteX123" fmla="*/ 4035164 w 5535001"/>
                <a:gd name="connsiteY123" fmla="*/ 5384374 h 6250127"/>
                <a:gd name="connsiteX124" fmla="*/ 4049049 w 5535001"/>
                <a:gd name="connsiteY124" fmla="*/ 5375640 h 6250127"/>
                <a:gd name="connsiteX125" fmla="*/ 4062485 w 5535001"/>
                <a:gd name="connsiteY125" fmla="*/ 5366123 h 6250127"/>
                <a:gd name="connsiteX126" fmla="*/ 4116567 w 5535001"/>
                <a:gd name="connsiteY126" fmla="*/ 5328277 h 6250127"/>
                <a:gd name="connsiteX127" fmla="*/ 4169976 w 5535001"/>
                <a:gd name="connsiteY127" fmla="*/ 5289199 h 6250127"/>
                <a:gd name="connsiteX128" fmla="*/ 4222042 w 5535001"/>
                <a:gd name="connsiteY128" fmla="*/ 5247994 h 6250127"/>
                <a:gd name="connsiteX129" fmla="*/ 4273213 w 5535001"/>
                <a:gd name="connsiteY129" fmla="*/ 5205558 h 6250127"/>
                <a:gd name="connsiteX130" fmla="*/ 4323151 w 5535001"/>
                <a:gd name="connsiteY130" fmla="*/ 5161329 h 6250127"/>
                <a:gd name="connsiteX131" fmla="*/ 4371971 w 5535001"/>
                <a:gd name="connsiteY131" fmla="*/ 5116093 h 6250127"/>
                <a:gd name="connsiteX132" fmla="*/ 4546868 w 5535001"/>
                <a:gd name="connsiteY132" fmla="*/ 4924400 h 6250127"/>
                <a:gd name="connsiteX133" fmla="*/ 4675634 w 5535001"/>
                <a:gd name="connsiteY133" fmla="*/ 4715352 h 6250127"/>
                <a:gd name="connsiteX134" fmla="*/ 4700155 w 5535001"/>
                <a:gd name="connsiteY134" fmla="*/ 4659255 h 6250127"/>
                <a:gd name="connsiteX135" fmla="*/ 4721206 w 5535001"/>
                <a:gd name="connsiteY135" fmla="*/ 4600135 h 6250127"/>
                <a:gd name="connsiteX136" fmla="*/ 4740465 w 5535001"/>
                <a:gd name="connsiteY136" fmla="*/ 4538887 h 6250127"/>
                <a:gd name="connsiteX137" fmla="*/ 4758492 w 5535001"/>
                <a:gd name="connsiteY137" fmla="*/ 4475848 h 6250127"/>
                <a:gd name="connsiteX138" fmla="*/ 4891288 w 5535001"/>
                <a:gd name="connsiteY138" fmla="*/ 3930329 h 6250127"/>
                <a:gd name="connsiteX139" fmla="*/ 5066298 w 5535001"/>
                <a:gd name="connsiteY139" fmla="*/ 3382235 h 6250127"/>
                <a:gd name="connsiteX140" fmla="*/ 5156994 w 5535001"/>
                <a:gd name="connsiteY140" fmla="*/ 2898635 h 6250127"/>
                <a:gd name="connsiteX141" fmla="*/ 5083317 w 5535001"/>
                <a:gd name="connsiteY141" fmla="*/ 2402047 h 6250127"/>
                <a:gd name="connsiteX142" fmla="*/ 4871022 w 5535001"/>
                <a:gd name="connsiteY142" fmla="*/ 1926958 h 6250127"/>
                <a:gd name="connsiteX143" fmla="*/ 4727028 w 5535001"/>
                <a:gd name="connsiteY143" fmla="*/ 1703577 h 6250127"/>
                <a:gd name="connsiteX144" fmla="*/ 4563776 w 5535001"/>
                <a:gd name="connsiteY144" fmla="*/ 1490834 h 6250127"/>
                <a:gd name="connsiteX145" fmla="*/ 4370291 w 5535001"/>
                <a:gd name="connsiteY145" fmla="*/ 1300596 h 6250127"/>
                <a:gd name="connsiteX146" fmla="*/ 4266046 w 5535001"/>
                <a:gd name="connsiteY146" fmla="*/ 1214491 h 6250127"/>
                <a:gd name="connsiteX147" fmla="*/ 4212973 w 5535001"/>
                <a:gd name="connsiteY147" fmla="*/ 1173062 h 6250127"/>
                <a:gd name="connsiteX148" fmla="*/ 4157995 w 5535001"/>
                <a:gd name="connsiteY148" fmla="*/ 1134545 h 6250127"/>
                <a:gd name="connsiteX149" fmla="*/ 3697126 w 5535001"/>
                <a:gd name="connsiteY149" fmla="*/ 881044 h 6250127"/>
                <a:gd name="connsiteX150" fmla="*/ 3637670 w 5535001"/>
                <a:gd name="connsiteY150" fmla="*/ 856747 h 6250127"/>
                <a:gd name="connsiteX151" fmla="*/ 3608222 w 5535001"/>
                <a:gd name="connsiteY151" fmla="*/ 844318 h 6250127"/>
                <a:gd name="connsiteX152" fmla="*/ 3578214 w 5535001"/>
                <a:gd name="connsiteY152" fmla="*/ 833457 h 6250127"/>
                <a:gd name="connsiteX153" fmla="*/ 3518309 w 5535001"/>
                <a:gd name="connsiteY153" fmla="*/ 812294 h 6250127"/>
                <a:gd name="connsiteX154" fmla="*/ 3503417 w 5535001"/>
                <a:gd name="connsiteY154" fmla="*/ 806920 h 6250127"/>
                <a:gd name="connsiteX155" fmla="*/ 3489533 w 5535001"/>
                <a:gd name="connsiteY155" fmla="*/ 799642 h 6250127"/>
                <a:gd name="connsiteX156" fmla="*/ 3460869 w 5535001"/>
                <a:gd name="connsiteY156" fmla="*/ 787101 h 6250127"/>
                <a:gd name="connsiteX157" fmla="*/ 3402980 w 5535001"/>
                <a:gd name="connsiteY157" fmla="*/ 763475 h 6250127"/>
                <a:gd name="connsiteX158" fmla="*/ 3374092 w 5535001"/>
                <a:gd name="connsiteY158" fmla="*/ 751606 h 6250127"/>
                <a:gd name="connsiteX159" fmla="*/ 3344980 w 5535001"/>
                <a:gd name="connsiteY159" fmla="*/ 740409 h 6250127"/>
                <a:gd name="connsiteX160" fmla="*/ 3226627 w 5535001"/>
                <a:gd name="connsiteY160" fmla="*/ 700772 h 6250127"/>
                <a:gd name="connsiteX161" fmla="*/ 2735750 w 5535001"/>
                <a:gd name="connsiteY161" fmla="*/ 614667 h 6250127"/>
                <a:gd name="connsiteX162" fmla="*/ 2673158 w 5535001"/>
                <a:gd name="connsiteY162" fmla="*/ 610412 h 6250127"/>
                <a:gd name="connsiteX163" fmla="*/ 2610119 w 5535001"/>
                <a:gd name="connsiteY163" fmla="*/ 609628 h 6250127"/>
                <a:gd name="connsiteX164" fmla="*/ 2547080 w 5535001"/>
                <a:gd name="connsiteY164" fmla="*/ 608620 h 6250127"/>
                <a:gd name="connsiteX165" fmla="*/ 2516400 w 5535001"/>
                <a:gd name="connsiteY165" fmla="*/ 608844 h 6250127"/>
                <a:gd name="connsiteX166" fmla="*/ 2486280 w 5535001"/>
                <a:gd name="connsiteY166" fmla="*/ 609740 h 6250127"/>
                <a:gd name="connsiteX167" fmla="*/ 2426376 w 5535001"/>
                <a:gd name="connsiteY167" fmla="*/ 613099 h 6250127"/>
                <a:gd name="connsiteX168" fmla="*/ 2366920 w 5535001"/>
                <a:gd name="connsiteY168" fmla="*/ 618474 h 6250127"/>
                <a:gd name="connsiteX169" fmla="*/ 2337248 w 5535001"/>
                <a:gd name="connsiteY169" fmla="*/ 621497 h 6250127"/>
                <a:gd name="connsiteX170" fmla="*/ 2307800 w 5535001"/>
                <a:gd name="connsiteY170" fmla="*/ 625528 h 6250127"/>
                <a:gd name="connsiteX171" fmla="*/ 2278351 w 5535001"/>
                <a:gd name="connsiteY171" fmla="*/ 629559 h 6250127"/>
                <a:gd name="connsiteX172" fmla="*/ 2249127 w 5535001"/>
                <a:gd name="connsiteY172" fmla="*/ 634710 h 6250127"/>
                <a:gd name="connsiteX173" fmla="*/ 1796096 w 5535001"/>
                <a:gd name="connsiteY173" fmla="*/ 781726 h 6250127"/>
                <a:gd name="connsiteX174" fmla="*/ 1370833 w 5535001"/>
                <a:gd name="connsiteY174" fmla="*/ 1048663 h 6250127"/>
                <a:gd name="connsiteX175" fmla="*/ 959790 w 5535001"/>
                <a:gd name="connsiteY175" fmla="*/ 1390844 h 6250127"/>
                <a:gd name="connsiteX176" fmla="*/ 749062 w 5535001"/>
                <a:gd name="connsiteY176" fmla="*/ 1577611 h 6250127"/>
                <a:gd name="connsiteX177" fmla="*/ 524786 w 5535001"/>
                <a:gd name="connsiteY177" fmla="*/ 1763145 h 6250127"/>
                <a:gd name="connsiteX178" fmla="*/ 84071 w 5535001"/>
                <a:gd name="connsiteY178" fmla="*/ 2098496 h 6250127"/>
                <a:gd name="connsiteX179" fmla="*/ 0 w 5535001"/>
                <a:gd name="connsiteY179" fmla="*/ 2168094 h 6250127"/>
                <a:gd name="connsiteX180" fmla="*/ 0 w 5535001"/>
                <a:gd name="connsiteY180" fmla="*/ 1576676 h 6250127"/>
                <a:gd name="connsiteX181" fmla="*/ 174655 w 5535001"/>
                <a:gd name="connsiteY181" fmla="*/ 1387597 h 6250127"/>
                <a:gd name="connsiteX182" fmla="*/ 363661 w 5535001"/>
                <a:gd name="connsiteY182" fmla="*/ 1188626 h 6250127"/>
                <a:gd name="connsiteX183" fmla="*/ 458052 w 5535001"/>
                <a:gd name="connsiteY183" fmla="*/ 1086397 h 6250127"/>
                <a:gd name="connsiteX184" fmla="*/ 557257 w 5535001"/>
                <a:gd name="connsiteY184" fmla="*/ 981593 h 6250127"/>
                <a:gd name="connsiteX185" fmla="*/ 994165 w 5535001"/>
                <a:gd name="connsiteY185" fmla="*/ 578389 h 6250127"/>
                <a:gd name="connsiteX186" fmla="*/ 1520873 w 5535001"/>
                <a:gd name="connsiteY186" fmla="*/ 237215 h 6250127"/>
                <a:gd name="connsiteX187" fmla="*/ 2141748 w 5535001"/>
                <a:gd name="connsiteY187" fmla="*/ 31190 h 6250127"/>
                <a:gd name="connsiteX188" fmla="*/ 2182505 w 5535001"/>
                <a:gd name="connsiteY188" fmla="*/ 24360 h 6250127"/>
                <a:gd name="connsiteX189" fmla="*/ 2223374 w 5535001"/>
                <a:gd name="connsiteY189" fmla="*/ 18873 h 6250127"/>
                <a:gd name="connsiteX190" fmla="*/ 2264355 w 5535001"/>
                <a:gd name="connsiteY190" fmla="*/ 13611 h 6250127"/>
                <a:gd name="connsiteX191" fmla="*/ 2305336 w 5535001"/>
                <a:gd name="connsiteY191" fmla="*/ 9580 h 6250127"/>
                <a:gd name="connsiteX192" fmla="*/ 2387410 w 5535001"/>
                <a:gd name="connsiteY192" fmla="*/ 3645 h 6250127"/>
                <a:gd name="connsiteX193" fmla="*/ 2469373 w 5535001"/>
                <a:gd name="connsiteY193" fmla="*/ 622 h 62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535001" h="6250127">
                  <a:moveTo>
                    <a:pt x="2510242" y="174"/>
                  </a:moveTo>
                  <a:cubicBezTo>
                    <a:pt x="2523902" y="-50"/>
                    <a:pt x="2537562" y="-162"/>
                    <a:pt x="2550551" y="510"/>
                  </a:cubicBezTo>
                  <a:lnTo>
                    <a:pt x="2629490" y="3757"/>
                  </a:lnTo>
                  <a:lnTo>
                    <a:pt x="2708317" y="7229"/>
                  </a:lnTo>
                  <a:cubicBezTo>
                    <a:pt x="2734630" y="8572"/>
                    <a:pt x="2760943" y="12155"/>
                    <a:pt x="2787256" y="14619"/>
                  </a:cubicBezTo>
                  <a:cubicBezTo>
                    <a:pt x="2997536" y="34885"/>
                    <a:pt x="3207144" y="77994"/>
                    <a:pt x="3408467" y="145064"/>
                  </a:cubicBezTo>
                  <a:lnTo>
                    <a:pt x="3557723" y="199593"/>
                  </a:lnTo>
                  <a:cubicBezTo>
                    <a:pt x="3570264" y="203848"/>
                    <a:pt x="3582245" y="209447"/>
                    <a:pt x="3594337" y="214597"/>
                  </a:cubicBezTo>
                  <a:lnTo>
                    <a:pt x="3630616" y="230385"/>
                  </a:lnTo>
                  <a:lnTo>
                    <a:pt x="3703172" y="262073"/>
                  </a:lnTo>
                  <a:cubicBezTo>
                    <a:pt x="3715265" y="267335"/>
                    <a:pt x="3727358" y="272598"/>
                    <a:pt x="3739003" y="278756"/>
                  </a:cubicBezTo>
                  <a:cubicBezTo>
                    <a:pt x="3744937" y="281667"/>
                    <a:pt x="3750984" y="284131"/>
                    <a:pt x="3756806" y="287266"/>
                  </a:cubicBezTo>
                  <a:cubicBezTo>
                    <a:pt x="3762517" y="290513"/>
                    <a:pt x="3768115" y="294208"/>
                    <a:pt x="3773714" y="297567"/>
                  </a:cubicBezTo>
                  <a:lnTo>
                    <a:pt x="3840784" y="339332"/>
                  </a:lnTo>
                  <a:cubicBezTo>
                    <a:pt x="3851869" y="346386"/>
                    <a:pt x="3863290" y="352881"/>
                    <a:pt x="3873927" y="360495"/>
                  </a:cubicBezTo>
                  <a:lnTo>
                    <a:pt x="3906062" y="383001"/>
                  </a:lnTo>
                  <a:lnTo>
                    <a:pt x="3969662" y="428572"/>
                  </a:lnTo>
                  <a:cubicBezTo>
                    <a:pt x="4137281" y="552188"/>
                    <a:pt x="4285417" y="693270"/>
                    <a:pt x="4423029" y="837600"/>
                  </a:cubicBezTo>
                  <a:cubicBezTo>
                    <a:pt x="4440160" y="855739"/>
                    <a:pt x="4457404" y="873766"/>
                    <a:pt x="4474647" y="891569"/>
                  </a:cubicBezTo>
                  <a:lnTo>
                    <a:pt x="4524250" y="946883"/>
                  </a:lnTo>
                  <a:lnTo>
                    <a:pt x="4573965" y="1001748"/>
                  </a:lnTo>
                  <a:cubicBezTo>
                    <a:pt x="4590760" y="1019887"/>
                    <a:pt x="4605988" y="1039146"/>
                    <a:pt x="4622224" y="1057509"/>
                  </a:cubicBezTo>
                  <a:cubicBezTo>
                    <a:pt x="4653911" y="1094907"/>
                    <a:pt x="4686831" y="1131409"/>
                    <a:pt x="4717510" y="1169143"/>
                  </a:cubicBezTo>
                  <a:cubicBezTo>
                    <a:pt x="4733186" y="1187730"/>
                    <a:pt x="4748862" y="1206430"/>
                    <a:pt x="4764986" y="1224681"/>
                  </a:cubicBezTo>
                  <a:cubicBezTo>
                    <a:pt x="4780886" y="1243044"/>
                    <a:pt x="4797233" y="1261071"/>
                    <a:pt x="4813021" y="1279994"/>
                  </a:cubicBezTo>
                  <a:cubicBezTo>
                    <a:pt x="4877292" y="1354230"/>
                    <a:pt x="4941339" y="1428914"/>
                    <a:pt x="5001915" y="1506846"/>
                  </a:cubicBezTo>
                  <a:cubicBezTo>
                    <a:pt x="5062603" y="1584665"/>
                    <a:pt x="5118252" y="1666739"/>
                    <a:pt x="5170542" y="1751165"/>
                  </a:cubicBezTo>
                  <a:cubicBezTo>
                    <a:pt x="5274898" y="1920240"/>
                    <a:pt x="5363579" y="2101295"/>
                    <a:pt x="5428969" y="2293660"/>
                  </a:cubicBezTo>
                  <a:cubicBezTo>
                    <a:pt x="5494136" y="2485801"/>
                    <a:pt x="5533102" y="2690819"/>
                    <a:pt x="5534893" y="2899307"/>
                  </a:cubicBezTo>
                  <a:cubicBezTo>
                    <a:pt x="5536124" y="3003439"/>
                    <a:pt x="5526831" y="3108132"/>
                    <a:pt x="5508804" y="3211144"/>
                  </a:cubicBezTo>
                  <a:cubicBezTo>
                    <a:pt x="5490441" y="3314157"/>
                    <a:pt x="5462336" y="3415490"/>
                    <a:pt x="5426282" y="3513352"/>
                  </a:cubicBezTo>
                  <a:cubicBezTo>
                    <a:pt x="5363355" y="3684890"/>
                    <a:pt x="5302219" y="3856428"/>
                    <a:pt x="5248250" y="4030542"/>
                  </a:cubicBezTo>
                  <a:lnTo>
                    <a:pt x="5208612" y="4161771"/>
                  </a:lnTo>
                  <a:lnTo>
                    <a:pt x="5170318" y="4294680"/>
                  </a:lnTo>
                  <a:lnTo>
                    <a:pt x="5132248" y="4430164"/>
                  </a:lnTo>
                  <a:lnTo>
                    <a:pt x="5112765" y="4498914"/>
                  </a:lnTo>
                  <a:lnTo>
                    <a:pt x="5091715" y="4569119"/>
                  </a:lnTo>
                  <a:cubicBezTo>
                    <a:pt x="5085221" y="4592297"/>
                    <a:pt x="5076823" y="4616482"/>
                    <a:pt x="5068985" y="4640220"/>
                  </a:cubicBezTo>
                  <a:cubicBezTo>
                    <a:pt x="5060699" y="4664182"/>
                    <a:pt x="5053981" y="4687807"/>
                    <a:pt x="5043904" y="4712105"/>
                  </a:cubicBezTo>
                  <a:lnTo>
                    <a:pt x="5015799" y="4784438"/>
                  </a:lnTo>
                  <a:cubicBezTo>
                    <a:pt x="5005274" y="4808511"/>
                    <a:pt x="4993965" y="4832473"/>
                    <a:pt x="4982880" y="4856435"/>
                  </a:cubicBezTo>
                  <a:cubicBezTo>
                    <a:pt x="4936524" y="4951273"/>
                    <a:pt x="4881099" y="5044096"/>
                    <a:pt x="4817276" y="5125275"/>
                  </a:cubicBezTo>
                  <a:cubicBezTo>
                    <a:pt x="4755244" y="5208805"/>
                    <a:pt x="4686943" y="5282817"/>
                    <a:pt x="4618753" y="5355374"/>
                  </a:cubicBezTo>
                  <a:cubicBezTo>
                    <a:pt x="4602069" y="5374073"/>
                    <a:pt x="4584154" y="5391092"/>
                    <a:pt x="4566575" y="5408560"/>
                  </a:cubicBezTo>
                  <a:lnTo>
                    <a:pt x="4513837" y="5461186"/>
                  </a:lnTo>
                  <a:cubicBezTo>
                    <a:pt x="4496593" y="5479101"/>
                    <a:pt x="4477894" y="5495560"/>
                    <a:pt x="4459531" y="5512580"/>
                  </a:cubicBezTo>
                  <a:lnTo>
                    <a:pt x="4404554" y="5563526"/>
                  </a:lnTo>
                  <a:cubicBezTo>
                    <a:pt x="4386527" y="5580770"/>
                    <a:pt x="4366932" y="5596670"/>
                    <a:pt x="4348009" y="5613017"/>
                  </a:cubicBezTo>
                  <a:lnTo>
                    <a:pt x="4290568" y="5661948"/>
                  </a:lnTo>
                  <a:lnTo>
                    <a:pt x="4276124" y="5674153"/>
                  </a:lnTo>
                  <a:lnTo>
                    <a:pt x="4261120" y="5685798"/>
                  </a:lnTo>
                  <a:lnTo>
                    <a:pt x="4231112" y="5708976"/>
                  </a:lnTo>
                  <a:lnTo>
                    <a:pt x="4170984" y="5755443"/>
                  </a:lnTo>
                  <a:cubicBezTo>
                    <a:pt x="4130227" y="5785563"/>
                    <a:pt x="4087790" y="5813892"/>
                    <a:pt x="4046025" y="5843228"/>
                  </a:cubicBezTo>
                  <a:cubicBezTo>
                    <a:pt x="4002917" y="5870437"/>
                    <a:pt x="3959248" y="5897309"/>
                    <a:pt x="3915356" y="5923735"/>
                  </a:cubicBezTo>
                  <a:cubicBezTo>
                    <a:pt x="3737659" y="6026299"/>
                    <a:pt x="3544847" y="6106022"/>
                    <a:pt x="3346323" y="6158872"/>
                  </a:cubicBezTo>
                  <a:cubicBezTo>
                    <a:pt x="3147800" y="6211946"/>
                    <a:pt x="2944462" y="6239714"/>
                    <a:pt x="2743476" y="6247328"/>
                  </a:cubicBezTo>
                  <a:lnTo>
                    <a:pt x="2668120" y="6249344"/>
                  </a:lnTo>
                  <a:lnTo>
                    <a:pt x="2630498" y="6250127"/>
                  </a:lnTo>
                  <a:lnTo>
                    <a:pt x="2592988" y="6249568"/>
                  </a:lnTo>
                  <a:lnTo>
                    <a:pt x="2518080" y="6247777"/>
                  </a:lnTo>
                  <a:cubicBezTo>
                    <a:pt x="2493110" y="6247105"/>
                    <a:pt x="2468365" y="6246881"/>
                    <a:pt x="2442948" y="6244529"/>
                  </a:cubicBezTo>
                  <a:cubicBezTo>
                    <a:pt x="2392337" y="6240722"/>
                    <a:pt x="2341950" y="6237699"/>
                    <a:pt x="2291676" y="6232213"/>
                  </a:cubicBezTo>
                  <a:lnTo>
                    <a:pt x="2141412" y="6212394"/>
                  </a:lnTo>
                  <a:lnTo>
                    <a:pt x="1992715" y="6184961"/>
                  </a:lnTo>
                  <a:cubicBezTo>
                    <a:pt x="1943561" y="6173988"/>
                    <a:pt x="1894630" y="6162231"/>
                    <a:pt x="1845811" y="6151034"/>
                  </a:cubicBezTo>
                  <a:cubicBezTo>
                    <a:pt x="1797215" y="6138829"/>
                    <a:pt x="1749180" y="6123938"/>
                    <a:pt x="1701033" y="6110724"/>
                  </a:cubicBezTo>
                  <a:cubicBezTo>
                    <a:pt x="1676847" y="6104566"/>
                    <a:pt x="1653334" y="6095833"/>
                    <a:pt x="1629484" y="6088219"/>
                  </a:cubicBezTo>
                  <a:lnTo>
                    <a:pt x="1558383" y="6064929"/>
                  </a:lnTo>
                  <a:cubicBezTo>
                    <a:pt x="1369713" y="6000210"/>
                    <a:pt x="1186978" y="5921271"/>
                    <a:pt x="1011968" y="5828896"/>
                  </a:cubicBezTo>
                  <a:cubicBezTo>
                    <a:pt x="837071" y="5736408"/>
                    <a:pt x="668556" y="5631940"/>
                    <a:pt x="511237" y="5512356"/>
                  </a:cubicBezTo>
                  <a:cubicBezTo>
                    <a:pt x="471152" y="5483468"/>
                    <a:pt x="433642" y="5451220"/>
                    <a:pt x="395572" y="5419757"/>
                  </a:cubicBezTo>
                  <a:cubicBezTo>
                    <a:pt x="356831" y="5388965"/>
                    <a:pt x="321112" y="5354926"/>
                    <a:pt x="284722" y="5321559"/>
                  </a:cubicBezTo>
                  <a:lnTo>
                    <a:pt x="257513" y="5296477"/>
                  </a:lnTo>
                  <a:lnTo>
                    <a:pt x="243853" y="5283937"/>
                  </a:lnTo>
                  <a:lnTo>
                    <a:pt x="230752" y="5270836"/>
                  </a:lnTo>
                  <a:lnTo>
                    <a:pt x="178574" y="5218322"/>
                  </a:lnTo>
                  <a:cubicBezTo>
                    <a:pt x="161331" y="5200631"/>
                    <a:pt x="143191" y="5183948"/>
                    <a:pt x="126508" y="5165584"/>
                  </a:cubicBezTo>
                  <a:lnTo>
                    <a:pt x="76345" y="5111167"/>
                  </a:lnTo>
                  <a:cubicBezTo>
                    <a:pt x="59774" y="5092916"/>
                    <a:pt x="42530" y="5075112"/>
                    <a:pt x="26407" y="5056413"/>
                  </a:cubicBezTo>
                  <a:lnTo>
                    <a:pt x="0" y="5024776"/>
                  </a:lnTo>
                  <a:lnTo>
                    <a:pt x="0" y="4492798"/>
                  </a:lnTo>
                  <a:lnTo>
                    <a:pt x="28534" y="4537879"/>
                  </a:lnTo>
                  <a:cubicBezTo>
                    <a:pt x="41299" y="4556130"/>
                    <a:pt x="54175" y="4574382"/>
                    <a:pt x="66604" y="4592745"/>
                  </a:cubicBezTo>
                  <a:lnTo>
                    <a:pt x="104114" y="4647834"/>
                  </a:lnTo>
                  <a:lnTo>
                    <a:pt x="143751" y="4701580"/>
                  </a:lnTo>
                  <a:cubicBezTo>
                    <a:pt x="156964" y="4719495"/>
                    <a:pt x="169728" y="4737746"/>
                    <a:pt x="182717" y="4755773"/>
                  </a:cubicBezTo>
                  <a:lnTo>
                    <a:pt x="223810" y="4808399"/>
                  </a:lnTo>
                  <a:lnTo>
                    <a:pt x="264679" y="4861249"/>
                  </a:lnTo>
                  <a:cubicBezTo>
                    <a:pt x="278563" y="4878717"/>
                    <a:pt x="293455" y="4895288"/>
                    <a:pt x="307788" y="4912420"/>
                  </a:cubicBezTo>
                  <a:lnTo>
                    <a:pt x="351232" y="4963254"/>
                  </a:lnTo>
                  <a:cubicBezTo>
                    <a:pt x="365788" y="4980162"/>
                    <a:pt x="381688" y="4995837"/>
                    <a:pt x="397028" y="5012185"/>
                  </a:cubicBezTo>
                  <a:lnTo>
                    <a:pt x="443496" y="5060444"/>
                  </a:lnTo>
                  <a:lnTo>
                    <a:pt x="455140" y="5072537"/>
                  </a:lnTo>
                  <a:lnTo>
                    <a:pt x="467345" y="5083958"/>
                  </a:lnTo>
                  <a:lnTo>
                    <a:pt x="491755" y="5106912"/>
                  </a:lnTo>
                  <a:lnTo>
                    <a:pt x="540686" y="5152819"/>
                  </a:lnTo>
                  <a:lnTo>
                    <a:pt x="552890" y="5164353"/>
                  </a:lnTo>
                  <a:lnTo>
                    <a:pt x="565655" y="5175214"/>
                  </a:lnTo>
                  <a:lnTo>
                    <a:pt x="591072" y="5197048"/>
                  </a:lnTo>
                  <a:cubicBezTo>
                    <a:pt x="624999" y="5226160"/>
                    <a:pt x="658366" y="5256056"/>
                    <a:pt x="694197" y="5283041"/>
                  </a:cubicBezTo>
                  <a:cubicBezTo>
                    <a:pt x="834272" y="5394675"/>
                    <a:pt x="985207" y="5493881"/>
                    <a:pt x="1146221" y="5573716"/>
                  </a:cubicBezTo>
                  <a:cubicBezTo>
                    <a:pt x="1307122" y="5653774"/>
                    <a:pt x="1476869" y="5715918"/>
                    <a:pt x="1650982" y="5758130"/>
                  </a:cubicBezTo>
                  <a:lnTo>
                    <a:pt x="1716485" y="5772798"/>
                  </a:lnTo>
                  <a:cubicBezTo>
                    <a:pt x="1738431" y="5777390"/>
                    <a:pt x="1759929" y="5783100"/>
                    <a:pt x="1782211" y="5786235"/>
                  </a:cubicBezTo>
                  <a:lnTo>
                    <a:pt x="1848386" y="5796984"/>
                  </a:lnTo>
                  <a:lnTo>
                    <a:pt x="1881417" y="5802359"/>
                  </a:lnTo>
                  <a:cubicBezTo>
                    <a:pt x="1892390" y="5804151"/>
                    <a:pt x="1903363" y="5806054"/>
                    <a:pt x="1914560" y="5807061"/>
                  </a:cubicBezTo>
                  <a:cubicBezTo>
                    <a:pt x="1959012" y="5811765"/>
                    <a:pt x="2003241" y="5817251"/>
                    <a:pt x="2047469" y="5821282"/>
                  </a:cubicBezTo>
                  <a:lnTo>
                    <a:pt x="2180601" y="5828896"/>
                  </a:lnTo>
                  <a:lnTo>
                    <a:pt x="2313622" y="5830463"/>
                  </a:lnTo>
                  <a:cubicBezTo>
                    <a:pt x="2335680" y="5830799"/>
                    <a:pt x="2357962" y="5829008"/>
                    <a:pt x="2380021" y="5828448"/>
                  </a:cubicBezTo>
                  <a:lnTo>
                    <a:pt x="2446195" y="5826433"/>
                  </a:lnTo>
                  <a:cubicBezTo>
                    <a:pt x="2468029" y="5826208"/>
                    <a:pt x="2490647" y="5824193"/>
                    <a:pt x="2513041" y="5822737"/>
                  </a:cubicBezTo>
                  <a:lnTo>
                    <a:pt x="2580111" y="5818258"/>
                  </a:lnTo>
                  <a:lnTo>
                    <a:pt x="2613590" y="5816355"/>
                  </a:lnTo>
                  <a:lnTo>
                    <a:pt x="2646845" y="5813108"/>
                  </a:lnTo>
                  <a:cubicBezTo>
                    <a:pt x="2669016" y="5810869"/>
                    <a:pt x="2691074" y="5808741"/>
                    <a:pt x="2713244" y="5806838"/>
                  </a:cubicBezTo>
                  <a:cubicBezTo>
                    <a:pt x="2889933" y="5789371"/>
                    <a:pt x="3062815" y="5762050"/>
                    <a:pt x="3230882" y="5721292"/>
                  </a:cubicBezTo>
                  <a:cubicBezTo>
                    <a:pt x="3398837" y="5680423"/>
                    <a:pt x="3562426" y="5626902"/>
                    <a:pt x="3720416" y="5556472"/>
                  </a:cubicBezTo>
                  <a:cubicBezTo>
                    <a:pt x="3759381" y="5537997"/>
                    <a:pt x="3798347" y="5518962"/>
                    <a:pt x="3837425" y="5499927"/>
                  </a:cubicBezTo>
                  <a:cubicBezTo>
                    <a:pt x="3875271" y="5478765"/>
                    <a:pt x="3913900" y="5458610"/>
                    <a:pt x="3951634" y="5436552"/>
                  </a:cubicBezTo>
                  <a:lnTo>
                    <a:pt x="4007284" y="5401841"/>
                  </a:lnTo>
                  <a:lnTo>
                    <a:pt x="4035164" y="5384374"/>
                  </a:lnTo>
                  <a:lnTo>
                    <a:pt x="4049049" y="5375640"/>
                  </a:lnTo>
                  <a:lnTo>
                    <a:pt x="4062485" y="5366123"/>
                  </a:lnTo>
                  <a:lnTo>
                    <a:pt x="4116567" y="5328277"/>
                  </a:lnTo>
                  <a:cubicBezTo>
                    <a:pt x="4134594" y="5315624"/>
                    <a:pt x="4152957" y="5303420"/>
                    <a:pt x="4169976" y="5289199"/>
                  </a:cubicBezTo>
                  <a:lnTo>
                    <a:pt x="4222042" y="5247994"/>
                  </a:lnTo>
                  <a:cubicBezTo>
                    <a:pt x="4239398" y="5234222"/>
                    <a:pt x="4256865" y="5220562"/>
                    <a:pt x="4273213" y="5205558"/>
                  </a:cubicBezTo>
                  <a:lnTo>
                    <a:pt x="4323151" y="5161329"/>
                  </a:lnTo>
                  <a:cubicBezTo>
                    <a:pt x="4339611" y="5146437"/>
                    <a:pt x="4356631" y="5131881"/>
                    <a:pt x="4371971" y="5116093"/>
                  </a:cubicBezTo>
                  <a:cubicBezTo>
                    <a:pt x="4435457" y="5054398"/>
                    <a:pt x="4496258" y="4991135"/>
                    <a:pt x="4546868" y="4924400"/>
                  </a:cubicBezTo>
                  <a:cubicBezTo>
                    <a:pt x="4600054" y="4858450"/>
                    <a:pt x="4640699" y="4788916"/>
                    <a:pt x="4675634" y="4715352"/>
                  </a:cubicBezTo>
                  <a:lnTo>
                    <a:pt x="4700155" y="4659255"/>
                  </a:lnTo>
                  <a:lnTo>
                    <a:pt x="4721206" y="4600135"/>
                  </a:lnTo>
                  <a:cubicBezTo>
                    <a:pt x="4728707" y="4580988"/>
                    <a:pt x="4733970" y="4559266"/>
                    <a:pt x="4740465" y="4538887"/>
                  </a:cubicBezTo>
                  <a:cubicBezTo>
                    <a:pt x="4746623" y="4518061"/>
                    <a:pt x="4753005" y="4497906"/>
                    <a:pt x="4758492" y="4475848"/>
                  </a:cubicBezTo>
                  <a:cubicBezTo>
                    <a:pt x="4803168" y="4303637"/>
                    <a:pt x="4840902" y="4115080"/>
                    <a:pt x="4891288" y="3930329"/>
                  </a:cubicBezTo>
                  <a:cubicBezTo>
                    <a:pt x="4940891" y="3744906"/>
                    <a:pt x="5000235" y="3562059"/>
                    <a:pt x="5066298" y="3382235"/>
                  </a:cubicBezTo>
                  <a:cubicBezTo>
                    <a:pt x="5124186" y="3226932"/>
                    <a:pt x="5154530" y="3064015"/>
                    <a:pt x="5156994" y="2898635"/>
                  </a:cubicBezTo>
                  <a:cubicBezTo>
                    <a:pt x="5159681" y="2733255"/>
                    <a:pt x="5132920" y="2565636"/>
                    <a:pt x="5083317" y="2402047"/>
                  </a:cubicBezTo>
                  <a:cubicBezTo>
                    <a:pt x="5033938" y="2238123"/>
                    <a:pt x="4960150" y="2079013"/>
                    <a:pt x="4871022" y="1926958"/>
                  </a:cubicBezTo>
                  <a:cubicBezTo>
                    <a:pt x="4826570" y="1850818"/>
                    <a:pt x="4777415" y="1776918"/>
                    <a:pt x="4727028" y="1703577"/>
                  </a:cubicBezTo>
                  <a:cubicBezTo>
                    <a:pt x="4676418" y="1630349"/>
                    <a:pt x="4622784" y="1558464"/>
                    <a:pt x="4563776" y="1490834"/>
                  </a:cubicBezTo>
                  <a:cubicBezTo>
                    <a:pt x="4503647" y="1423764"/>
                    <a:pt x="4439041" y="1359157"/>
                    <a:pt x="4370291" y="1300596"/>
                  </a:cubicBezTo>
                  <a:cubicBezTo>
                    <a:pt x="4336812" y="1270141"/>
                    <a:pt x="4301541" y="1242148"/>
                    <a:pt x="4266046" y="1214491"/>
                  </a:cubicBezTo>
                  <a:cubicBezTo>
                    <a:pt x="4248355" y="1200607"/>
                    <a:pt x="4230776" y="1186611"/>
                    <a:pt x="4212973" y="1173062"/>
                  </a:cubicBezTo>
                  <a:cubicBezTo>
                    <a:pt x="4194722" y="1160074"/>
                    <a:pt x="4176359" y="1147197"/>
                    <a:pt x="4157995" y="1134545"/>
                  </a:cubicBezTo>
                  <a:cubicBezTo>
                    <a:pt x="4011426" y="1031980"/>
                    <a:pt x="3855004" y="948562"/>
                    <a:pt x="3697126" y="881044"/>
                  </a:cubicBezTo>
                  <a:lnTo>
                    <a:pt x="3637670" y="856747"/>
                  </a:lnTo>
                  <a:lnTo>
                    <a:pt x="3608222" y="844318"/>
                  </a:lnTo>
                  <a:cubicBezTo>
                    <a:pt x="3598480" y="840063"/>
                    <a:pt x="3588179" y="837040"/>
                    <a:pt x="3578214" y="833457"/>
                  </a:cubicBezTo>
                  <a:lnTo>
                    <a:pt x="3518309" y="812294"/>
                  </a:lnTo>
                  <a:cubicBezTo>
                    <a:pt x="3513383" y="810503"/>
                    <a:pt x="3508344" y="808823"/>
                    <a:pt x="3503417" y="806920"/>
                  </a:cubicBezTo>
                  <a:cubicBezTo>
                    <a:pt x="3498603" y="804792"/>
                    <a:pt x="3494236" y="801993"/>
                    <a:pt x="3489533" y="799642"/>
                  </a:cubicBezTo>
                  <a:cubicBezTo>
                    <a:pt x="3480240" y="794827"/>
                    <a:pt x="3470498" y="791020"/>
                    <a:pt x="3460869" y="787101"/>
                  </a:cubicBezTo>
                  <a:lnTo>
                    <a:pt x="3402980" y="763475"/>
                  </a:lnTo>
                  <a:lnTo>
                    <a:pt x="3374092" y="751606"/>
                  </a:lnTo>
                  <a:cubicBezTo>
                    <a:pt x="3364462" y="747688"/>
                    <a:pt x="3354945" y="743433"/>
                    <a:pt x="3344980" y="740409"/>
                  </a:cubicBezTo>
                  <a:lnTo>
                    <a:pt x="3226627" y="700772"/>
                  </a:lnTo>
                  <a:cubicBezTo>
                    <a:pt x="3067405" y="652849"/>
                    <a:pt x="2902697" y="625192"/>
                    <a:pt x="2735750" y="614667"/>
                  </a:cubicBezTo>
                  <a:cubicBezTo>
                    <a:pt x="2714811" y="613435"/>
                    <a:pt x="2694209" y="610860"/>
                    <a:pt x="2673158" y="610412"/>
                  </a:cubicBezTo>
                  <a:lnTo>
                    <a:pt x="2610119" y="609628"/>
                  </a:lnTo>
                  <a:lnTo>
                    <a:pt x="2547080" y="608620"/>
                  </a:lnTo>
                  <a:cubicBezTo>
                    <a:pt x="2536443" y="608173"/>
                    <a:pt x="2526365" y="608397"/>
                    <a:pt x="2516400" y="608844"/>
                  </a:cubicBezTo>
                  <a:lnTo>
                    <a:pt x="2486280" y="609740"/>
                  </a:lnTo>
                  <a:cubicBezTo>
                    <a:pt x="2466125" y="609852"/>
                    <a:pt x="2446307" y="611868"/>
                    <a:pt x="2426376" y="613099"/>
                  </a:cubicBezTo>
                  <a:cubicBezTo>
                    <a:pt x="2406333" y="613995"/>
                    <a:pt x="2386627" y="616458"/>
                    <a:pt x="2366920" y="618474"/>
                  </a:cubicBezTo>
                  <a:cubicBezTo>
                    <a:pt x="2357066" y="619482"/>
                    <a:pt x="2347101" y="620153"/>
                    <a:pt x="2337248" y="621497"/>
                  </a:cubicBezTo>
                  <a:lnTo>
                    <a:pt x="2307800" y="625528"/>
                  </a:lnTo>
                  <a:lnTo>
                    <a:pt x="2278351" y="629559"/>
                  </a:lnTo>
                  <a:lnTo>
                    <a:pt x="2249127" y="634710"/>
                  </a:lnTo>
                  <a:cubicBezTo>
                    <a:pt x="2093377" y="661918"/>
                    <a:pt x="1942329" y="710849"/>
                    <a:pt x="1796096" y="781726"/>
                  </a:cubicBezTo>
                  <a:cubicBezTo>
                    <a:pt x="1649751" y="852268"/>
                    <a:pt x="1508892" y="944307"/>
                    <a:pt x="1370833" y="1048663"/>
                  </a:cubicBezTo>
                  <a:cubicBezTo>
                    <a:pt x="1232774" y="1153244"/>
                    <a:pt x="1097290" y="1269917"/>
                    <a:pt x="959790" y="1390844"/>
                  </a:cubicBezTo>
                  <a:lnTo>
                    <a:pt x="749062" y="1577611"/>
                  </a:lnTo>
                  <a:cubicBezTo>
                    <a:pt x="674602" y="1642329"/>
                    <a:pt x="599806" y="1704137"/>
                    <a:pt x="524786" y="1763145"/>
                  </a:cubicBezTo>
                  <a:cubicBezTo>
                    <a:pt x="374858" y="1881498"/>
                    <a:pt x="223810" y="1987422"/>
                    <a:pt x="84071" y="2098496"/>
                  </a:cubicBezTo>
                  <a:lnTo>
                    <a:pt x="0" y="2168094"/>
                  </a:lnTo>
                  <a:lnTo>
                    <a:pt x="0" y="1576676"/>
                  </a:lnTo>
                  <a:lnTo>
                    <a:pt x="174655" y="1387597"/>
                  </a:lnTo>
                  <a:cubicBezTo>
                    <a:pt x="238926" y="1320079"/>
                    <a:pt x="302749" y="1254577"/>
                    <a:pt x="363661" y="1188626"/>
                  </a:cubicBezTo>
                  <a:lnTo>
                    <a:pt x="458052" y="1086397"/>
                  </a:lnTo>
                  <a:cubicBezTo>
                    <a:pt x="490635" y="1051351"/>
                    <a:pt x="523666" y="1016416"/>
                    <a:pt x="557257" y="981593"/>
                  </a:cubicBezTo>
                  <a:cubicBezTo>
                    <a:pt x="691510" y="842414"/>
                    <a:pt x="835055" y="705699"/>
                    <a:pt x="994165" y="578389"/>
                  </a:cubicBezTo>
                  <a:cubicBezTo>
                    <a:pt x="1152939" y="451190"/>
                    <a:pt x="1328060" y="333398"/>
                    <a:pt x="1520873" y="237215"/>
                  </a:cubicBezTo>
                  <a:cubicBezTo>
                    <a:pt x="1713238" y="141033"/>
                    <a:pt x="1924302" y="68028"/>
                    <a:pt x="2141748" y="31190"/>
                  </a:cubicBezTo>
                  <a:lnTo>
                    <a:pt x="2182505" y="24360"/>
                  </a:lnTo>
                  <a:cubicBezTo>
                    <a:pt x="2196165" y="22344"/>
                    <a:pt x="2209826" y="20665"/>
                    <a:pt x="2223374" y="18873"/>
                  </a:cubicBezTo>
                  <a:lnTo>
                    <a:pt x="2264355" y="13611"/>
                  </a:lnTo>
                  <a:cubicBezTo>
                    <a:pt x="2278015" y="11931"/>
                    <a:pt x="2291676" y="10924"/>
                    <a:pt x="2305336" y="9580"/>
                  </a:cubicBezTo>
                  <a:cubicBezTo>
                    <a:pt x="2332657" y="7229"/>
                    <a:pt x="2360090" y="4653"/>
                    <a:pt x="2387410" y="3645"/>
                  </a:cubicBezTo>
                  <a:cubicBezTo>
                    <a:pt x="2414731" y="2414"/>
                    <a:pt x="2442164" y="510"/>
                    <a:pt x="2469373" y="622"/>
                  </a:cubicBezTo>
                  <a:close/>
                </a:path>
              </a:pathLst>
            </a:custGeom>
            <a:gradFill>
              <a:gsLst>
                <a:gs pos="37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67C4629D-4AB7-48D4-A61B-1AE1837A78E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9221" y="176241"/>
              <a:ext cx="5646908" cy="6130481"/>
            </a:xfrm>
            <a:custGeom>
              <a:avLst/>
              <a:gdLst>
                <a:gd name="connsiteX0" fmla="*/ 2616837 w 5646908"/>
                <a:gd name="connsiteY0" fmla="*/ 0 h 6130481"/>
                <a:gd name="connsiteX1" fmla="*/ 4918721 w 5646908"/>
                <a:gd name="connsiteY1" fmla="*/ 1134258 h 6130481"/>
                <a:gd name="connsiteX2" fmla="*/ 5539036 w 5646908"/>
                <a:gd name="connsiteY2" fmla="*/ 3362353 h 6130481"/>
                <a:gd name="connsiteX3" fmla="*/ 4712024 w 5646908"/>
                <a:gd name="connsiteY3" fmla="*/ 5293280 h 6130481"/>
                <a:gd name="connsiteX4" fmla="*/ 2547864 w 5646908"/>
                <a:gd name="connsiteY4" fmla="*/ 6130481 h 6130481"/>
                <a:gd name="connsiteX5" fmla="*/ 263223 w 5646908"/>
                <a:gd name="connsiteY5" fmla="*/ 5212325 h 6130481"/>
                <a:gd name="connsiteX6" fmla="*/ 49974 w 5646908"/>
                <a:gd name="connsiteY6" fmla="*/ 4985345 h 6130481"/>
                <a:gd name="connsiteX7" fmla="*/ 0 w 5646908"/>
                <a:gd name="connsiteY7" fmla="*/ 4920618 h 6130481"/>
                <a:gd name="connsiteX8" fmla="*/ 0 w 5646908"/>
                <a:gd name="connsiteY8" fmla="*/ 3760303 h 6130481"/>
                <a:gd name="connsiteX9" fmla="*/ 80488 w 5646908"/>
                <a:gd name="connsiteY9" fmla="*/ 3974159 h 6130481"/>
                <a:gd name="connsiteX10" fmla="*/ 664748 w 5646908"/>
                <a:gd name="connsiteY10" fmla="*/ 4813600 h 6130481"/>
                <a:gd name="connsiteX11" fmla="*/ 2548087 w 5646908"/>
                <a:gd name="connsiteY11" fmla="*/ 5570406 h 6130481"/>
                <a:gd name="connsiteX12" fmla="*/ 3536561 w 5646908"/>
                <a:gd name="connsiteY12" fmla="*/ 5407153 h 6130481"/>
                <a:gd name="connsiteX13" fmla="*/ 4308035 w 5646908"/>
                <a:gd name="connsiteY13" fmla="*/ 4897241 h 6130481"/>
                <a:gd name="connsiteX14" fmla="*/ 4569038 w 5646908"/>
                <a:gd name="connsiteY14" fmla="*/ 4564802 h 6130481"/>
                <a:gd name="connsiteX15" fmla="*/ 4699147 w 5646908"/>
                <a:gd name="connsiteY15" fmla="*/ 4149952 h 6130481"/>
                <a:gd name="connsiteX16" fmla="*/ 5003034 w 5646908"/>
                <a:gd name="connsiteY16" fmla="*/ 3168421 h 6130481"/>
                <a:gd name="connsiteX17" fmla="*/ 4994189 w 5646908"/>
                <a:gd name="connsiteY17" fmla="*/ 2321590 h 6130481"/>
                <a:gd name="connsiteX18" fmla="*/ 4487860 w 5646908"/>
                <a:gd name="connsiteY18" fmla="*/ 1501856 h 6130481"/>
                <a:gd name="connsiteX19" fmla="*/ 3640469 w 5646908"/>
                <a:gd name="connsiteY19" fmla="*/ 808425 h 6130481"/>
                <a:gd name="connsiteX20" fmla="*/ 2616837 w 5646908"/>
                <a:gd name="connsiteY20" fmla="*/ 559851 h 6130481"/>
                <a:gd name="connsiteX21" fmla="*/ 1762952 w 5646908"/>
                <a:gd name="connsiteY21" fmla="*/ 812008 h 6130481"/>
                <a:gd name="connsiteX22" fmla="*/ 939635 w 5646908"/>
                <a:gd name="connsiteY22" fmla="*/ 1502976 h 6130481"/>
                <a:gd name="connsiteX23" fmla="*/ 585250 w 5646908"/>
                <a:gd name="connsiteY23" fmla="*/ 1831049 h 6130481"/>
                <a:gd name="connsiteX24" fmla="*/ 40403 w 5646908"/>
                <a:gd name="connsiteY24" fmla="*/ 2389556 h 6130481"/>
                <a:gd name="connsiteX25" fmla="*/ 0 w 5646908"/>
                <a:gd name="connsiteY25" fmla="*/ 2456747 h 6130481"/>
                <a:gd name="connsiteX26" fmla="*/ 0 w 5646908"/>
                <a:gd name="connsiteY26" fmla="*/ 1601114 h 6130481"/>
                <a:gd name="connsiteX27" fmla="*/ 93200 w 5646908"/>
                <a:gd name="connsiteY27" fmla="*/ 1513741 h 6130481"/>
                <a:gd name="connsiteX28" fmla="*/ 535423 w 5646908"/>
                <a:gd name="connsiteY28" fmla="*/ 1107273 h 6130481"/>
                <a:gd name="connsiteX29" fmla="*/ 2616837 w 5646908"/>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6908" h="6130481">
                  <a:moveTo>
                    <a:pt x="2616837" y="0"/>
                  </a:moveTo>
                  <a:cubicBezTo>
                    <a:pt x="3596241" y="0"/>
                    <a:pt x="4322479" y="463445"/>
                    <a:pt x="4918721" y="1134258"/>
                  </a:cubicBezTo>
                  <a:cubicBezTo>
                    <a:pt x="5416317" y="1694109"/>
                    <a:pt x="5857703" y="2516643"/>
                    <a:pt x="5539036" y="3362353"/>
                  </a:cubicBezTo>
                  <a:cubicBezTo>
                    <a:pt x="5111758" y="4496612"/>
                    <a:pt x="5300763" y="4716633"/>
                    <a:pt x="4712024" y="5293280"/>
                  </a:cubicBezTo>
                  <a:cubicBezTo>
                    <a:pt x="4123284" y="5869926"/>
                    <a:pt x="3446201" y="6130481"/>
                    <a:pt x="2547864" y="6130481"/>
                  </a:cubicBezTo>
                  <a:cubicBezTo>
                    <a:pt x="1657476" y="6130481"/>
                    <a:pt x="850619" y="5780127"/>
                    <a:pt x="263223" y="5212325"/>
                  </a:cubicBezTo>
                  <a:cubicBezTo>
                    <a:pt x="188497" y="5140091"/>
                    <a:pt x="117321" y="5064339"/>
                    <a:pt x="49974" y="4985345"/>
                  </a:cubicBezTo>
                  <a:lnTo>
                    <a:pt x="0" y="4920618"/>
                  </a:lnTo>
                  <a:lnTo>
                    <a:pt x="0" y="3760303"/>
                  </a:lnTo>
                  <a:lnTo>
                    <a:pt x="80488" y="3974159"/>
                  </a:lnTo>
                  <a:cubicBezTo>
                    <a:pt x="217875" y="4289243"/>
                    <a:pt x="414383" y="4571632"/>
                    <a:pt x="664748" y="4813600"/>
                  </a:cubicBezTo>
                  <a:cubicBezTo>
                    <a:pt x="1169734" y="5301566"/>
                    <a:pt x="1838644" y="5570406"/>
                    <a:pt x="2548087" y="5570406"/>
                  </a:cubicBezTo>
                  <a:cubicBezTo>
                    <a:pt x="2928786" y="5570406"/>
                    <a:pt x="3252156" y="5516996"/>
                    <a:pt x="3536561" y="5407153"/>
                  </a:cubicBezTo>
                  <a:cubicBezTo>
                    <a:pt x="3815366" y="5299438"/>
                    <a:pt x="4067747" y="5132603"/>
                    <a:pt x="4308035" y="4897241"/>
                  </a:cubicBezTo>
                  <a:cubicBezTo>
                    <a:pt x="4475095" y="4733653"/>
                    <a:pt x="4533767" y="4637358"/>
                    <a:pt x="4569038" y="4564802"/>
                  </a:cubicBezTo>
                  <a:cubicBezTo>
                    <a:pt x="4619313" y="4461453"/>
                    <a:pt x="4652792" y="4330784"/>
                    <a:pt x="4699147" y="4149952"/>
                  </a:cubicBezTo>
                  <a:cubicBezTo>
                    <a:pt x="4758491" y="3918846"/>
                    <a:pt x="4839558" y="3602194"/>
                    <a:pt x="5003034" y="3168421"/>
                  </a:cubicBezTo>
                  <a:cubicBezTo>
                    <a:pt x="5103024" y="2902940"/>
                    <a:pt x="5100112" y="2626037"/>
                    <a:pt x="4994189" y="2321590"/>
                  </a:cubicBezTo>
                  <a:cubicBezTo>
                    <a:pt x="4900470" y="2052526"/>
                    <a:pt x="4725460" y="1769129"/>
                    <a:pt x="4487860" y="1501856"/>
                  </a:cubicBezTo>
                  <a:cubicBezTo>
                    <a:pt x="4210285" y="1189683"/>
                    <a:pt x="3933047" y="962832"/>
                    <a:pt x="3640469" y="808425"/>
                  </a:cubicBezTo>
                  <a:cubicBezTo>
                    <a:pt x="3323369" y="641141"/>
                    <a:pt x="2988578" y="559851"/>
                    <a:pt x="2616837" y="559851"/>
                  </a:cubicBezTo>
                  <a:cubicBezTo>
                    <a:pt x="2315413" y="559851"/>
                    <a:pt x="2044110" y="640134"/>
                    <a:pt x="1762952" y="812008"/>
                  </a:cubicBezTo>
                  <a:cubicBezTo>
                    <a:pt x="1472838" y="989593"/>
                    <a:pt x="1197167" y="1250707"/>
                    <a:pt x="939635" y="1502976"/>
                  </a:cubicBezTo>
                  <a:cubicBezTo>
                    <a:pt x="819379" y="1620769"/>
                    <a:pt x="700355" y="1727700"/>
                    <a:pt x="585250" y="1831049"/>
                  </a:cubicBezTo>
                  <a:cubicBezTo>
                    <a:pt x="362317" y="2031140"/>
                    <a:pt x="169840" y="2204022"/>
                    <a:pt x="40403" y="2389556"/>
                  </a:cubicBezTo>
                  <a:lnTo>
                    <a:pt x="0" y="2456747"/>
                  </a:lnTo>
                  <a:lnTo>
                    <a:pt x="0" y="1601114"/>
                  </a:lnTo>
                  <a:lnTo>
                    <a:pt x="93200" y="1513741"/>
                  </a:lnTo>
                  <a:cubicBezTo>
                    <a:pt x="237107" y="1383294"/>
                    <a:pt x="388238" y="1251435"/>
                    <a:pt x="535423" y="1107273"/>
                  </a:cubicBezTo>
                  <a:cubicBezTo>
                    <a:pt x="1124050" y="530627"/>
                    <a:pt x="1718500" y="0"/>
                    <a:pt x="2616837" y="0"/>
                  </a:cubicBezTo>
                  <a:close/>
                </a:path>
              </a:pathLst>
            </a:custGeom>
            <a:gradFill>
              <a:gsLst>
                <a:gs pos="2000">
                  <a:schemeClr val="bg1">
                    <a:alpha val="10000"/>
                  </a:schemeClr>
                </a:gs>
                <a:gs pos="54000">
                  <a:schemeClr val="accent6">
                    <a:alpha val="10000"/>
                  </a:schemeClr>
                </a:gs>
                <a:gs pos="100000">
                  <a:schemeClr val="bg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D1E30050-9FC4-4CC7-8C0B-BF5EFD10648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9221" y="176241"/>
              <a:ext cx="5517522" cy="6130481"/>
            </a:xfrm>
            <a:custGeom>
              <a:avLst/>
              <a:gdLst>
                <a:gd name="connsiteX0" fmla="*/ 2549095 w 5517522"/>
                <a:gd name="connsiteY0" fmla="*/ 0 h 6130481"/>
                <a:gd name="connsiteX1" fmla="*/ 4804175 w 5517522"/>
                <a:gd name="connsiteY1" fmla="*/ 1134258 h 6130481"/>
                <a:gd name="connsiteX2" fmla="*/ 5411838 w 5517522"/>
                <a:gd name="connsiteY2" fmla="*/ 3362353 h 6130481"/>
                <a:gd name="connsiteX3" fmla="*/ 4601621 w 5517522"/>
                <a:gd name="connsiteY3" fmla="*/ 5293280 h 6130481"/>
                <a:gd name="connsiteX4" fmla="*/ 2481577 w 5517522"/>
                <a:gd name="connsiteY4" fmla="*/ 6130481 h 6130481"/>
                <a:gd name="connsiteX5" fmla="*/ 243517 w 5517522"/>
                <a:gd name="connsiteY5" fmla="*/ 5212325 h 6130481"/>
                <a:gd name="connsiteX6" fmla="*/ 34587 w 5517522"/>
                <a:gd name="connsiteY6" fmla="*/ 4985345 h 6130481"/>
                <a:gd name="connsiteX7" fmla="*/ 0 w 5517522"/>
                <a:gd name="connsiteY7" fmla="*/ 4939620 h 6130481"/>
                <a:gd name="connsiteX8" fmla="*/ 0 w 5517522"/>
                <a:gd name="connsiteY8" fmla="*/ 3335329 h 6130481"/>
                <a:gd name="connsiteX9" fmla="*/ 17141 w 5517522"/>
                <a:gd name="connsiteY9" fmla="*/ 3448738 h 6130481"/>
                <a:gd name="connsiteX10" fmla="*/ 167489 w 5517522"/>
                <a:gd name="connsiteY10" fmla="*/ 3930490 h 6130481"/>
                <a:gd name="connsiteX11" fmla="*/ 715471 w 5517522"/>
                <a:gd name="connsiteY11" fmla="*/ 4734212 h 6130481"/>
                <a:gd name="connsiteX12" fmla="*/ 2481689 w 5517522"/>
                <a:gd name="connsiteY12" fmla="*/ 5458772 h 6130481"/>
                <a:gd name="connsiteX13" fmla="*/ 4126644 w 5517522"/>
                <a:gd name="connsiteY13" fmla="*/ 4818302 h 6130481"/>
                <a:gd name="connsiteX14" fmla="*/ 4360437 w 5517522"/>
                <a:gd name="connsiteY14" fmla="*/ 4516766 h 6130481"/>
                <a:gd name="connsiteX15" fmla="*/ 4480357 w 5517522"/>
                <a:gd name="connsiteY15" fmla="*/ 4122855 h 6130481"/>
                <a:gd name="connsiteX16" fmla="*/ 4781557 w 5517522"/>
                <a:gd name="connsiteY16" fmla="*/ 3129791 h 6130481"/>
                <a:gd name="connsiteX17" fmla="*/ 4771928 w 5517522"/>
                <a:gd name="connsiteY17" fmla="*/ 2357869 h 6130481"/>
                <a:gd name="connsiteX18" fmla="*/ 4297510 w 5517522"/>
                <a:gd name="connsiteY18" fmla="*/ 1575533 h 6130481"/>
                <a:gd name="connsiteX19" fmla="*/ 3498715 w 5517522"/>
                <a:gd name="connsiteY19" fmla="*/ 907071 h 6130481"/>
                <a:gd name="connsiteX20" fmla="*/ 2549095 w 5517522"/>
                <a:gd name="connsiteY20" fmla="*/ 671821 h 6130481"/>
                <a:gd name="connsiteX21" fmla="*/ 985319 w 5517522"/>
                <a:gd name="connsiteY21" fmla="*/ 1582475 h 6130481"/>
                <a:gd name="connsiteX22" fmla="*/ 634628 w 5517522"/>
                <a:gd name="connsiteY22" fmla="*/ 1913907 h 6130481"/>
                <a:gd name="connsiteX23" fmla="*/ 117662 w 5517522"/>
                <a:gd name="connsiteY23" fmla="*/ 2453044 h 6130481"/>
                <a:gd name="connsiteX24" fmla="*/ 2515 w 5517522"/>
                <a:gd name="connsiteY24" fmla="*/ 2685494 h 6130481"/>
                <a:gd name="connsiteX25" fmla="*/ 0 w 5517522"/>
                <a:gd name="connsiteY25" fmla="*/ 2696965 h 6130481"/>
                <a:gd name="connsiteX26" fmla="*/ 0 w 5517522"/>
                <a:gd name="connsiteY26" fmla="*/ 1587383 h 6130481"/>
                <a:gd name="connsiteX27" fmla="*/ 76951 w 5517522"/>
                <a:gd name="connsiteY27" fmla="*/ 1513741 h 6130481"/>
                <a:gd name="connsiteX28" fmla="*/ 510118 w 5517522"/>
                <a:gd name="connsiteY28" fmla="*/ 1107273 h 6130481"/>
                <a:gd name="connsiteX29" fmla="*/ 2549095 w 5517522"/>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522" h="6130481">
                  <a:moveTo>
                    <a:pt x="2549095" y="0"/>
                  </a:moveTo>
                  <a:cubicBezTo>
                    <a:pt x="3508568" y="0"/>
                    <a:pt x="4219915" y="463445"/>
                    <a:pt x="4804175" y="1134258"/>
                  </a:cubicBezTo>
                  <a:cubicBezTo>
                    <a:pt x="5291694" y="1694109"/>
                    <a:pt x="5724011"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335329"/>
                  </a:lnTo>
                  <a:lnTo>
                    <a:pt x="17141" y="3448738"/>
                  </a:lnTo>
                  <a:cubicBezTo>
                    <a:pt x="50676" y="3613558"/>
                    <a:pt x="100867" y="3774516"/>
                    <a:pt x="167489" y="3930490"/>
                  </a:cubicBezTo>
                  <a:cubicBezTo>
                    <a:pt x="296255" y="4232138"/>
                    <a:pt x="480670" y="4502546"/>
                    <a:pt x="715471" y="4734212"/>
                  </a:cubicBezTo>
                  <a:cubicBezTo>
                    <a:pt x="1188993" y="5201464"/>
                    <a:pt x="1816250" y="5458772"/>
                    <a:pt x="2481689" y="5458772"/>
                  </a:cubicBezTo>
                  <a:cubicBezTo>
                    <a:pt x="3185758" y="5458772"/>
                    <a:pt x="3677755" y="5267191"/>
                    <a:pt x="4126644" y="4818302"/>
                  </a:cubicBezTo>
                  <a:cubicBezTo>
                    <a:pt x="4278363" y="4666583"/>
                    <a:pt x="4329982" y="4580701"/>
                    <a:pt x="4360437" y="4516766"/>
                  </a:cubicBezTo>
                  <a:cubicBezTo>
                    <a:pt x="4404890" y="4423495"/>
                    <a:pt x="4436577" y="4297417"/>
                    <a:pt x="4480357" y="4122855"/>
                  </a:cubicBezTo>
                  <a:cubicBezTo>
                    <a:pt x="4539030" y="3889285"/>
                    <a:pt x="4619425" y="3569275"/>
                    <a:pt x="4781557" y="3129791"/>
                  </a:cubicBezTo>
                  <a:cubicBezTo>
                    <a:pt x="4870238" y="2889503"/>
                    <a:pt x="4867103" y="2637010"/>
                    <a:pt x="4771928" y="2357869"/>
                  </a:cubicBezTo>
                  <a:cubicBezTo>
                    <a:pt x="4684815" y="2102465"/>
                    <a:pt x="4520779" y="1831945"/>
                    <a:pt x="4297510" y="1575533"/>
                  </a:cubicBezTo>
                  <a:cubicBezTo>
                    <a:pt x="4034492" y="1273549"/>
                    <a:pt x="3773266" y="1054983"/>
                    <a:pt x="3498715" y="907071"/>
                  </a:cubicBezTo>
                  <a:cubicBezTo>
                    <a:pt x="3204905" y="748745"/>
                    <a:pt x="2894187" y="671821"/>
                    <a:pt x="2549095" y="671821"/>
                  </a:cubicBezTo>
                  <a:cubicBezTo>
                    <a:pt x="1942553" y="671821"/>
                    <a:pt x="1518298" y="1049273"/>
                    <a:pt x="985319" y="1582475"/>
                  </a:cubicBezTo>
                  <a:cubicBezTo>
                    <a:pt x="865735" y="1702059"/>
                    <a:pt x="748278" y="1809774"/>
                    <a:pt x="634628" y="1913907"/>
                  </a:cubicBezTo>
                  <a:cubicBezTo>
                    <a:pt x="421325" y="2109407"/>
                    <a:pt x="237134" y="2278146"/>
                    <a:pt x="117662" y="2453044"/>
                  </a:cubicBezTo>
                  <a:cubicBezTo>
                    <a:pt x="64756" y="2530415"/>
                    <a:pt x="27022" y="2605799"/>
                    <a:pt x="2515" y="2685494"/>
                  </a:cubicBezTo>
                  <a:lnTo>
                    <a:pt x="0" y="2696965"/>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E7E03733-50FD-49A6-B226-40F6A0AD454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9220" y="176241"/>
              <a:ext cx="5517475" cy="6130481"/>
            </a:xfrm>
            <a:custGeom>
              <a:avLst/>
              <a:gdLst>
                <a:gd name="connsiteX0" fmla="*/ 2549095 w 5517475"/>
                <a:gd name="connsiteY0" fmla="*/ 0 h 6130481"/>
                <a:gd name="connsiteX1" fmla="*/ 4804175 w 5517475"/>
                <a:gd name="connsiteY1" fmla="*/ 1134258 h 6130481"/>
                <a:gd name="connsiteX2" fmla="*/ 5411838 w 5517475"/>
                <a:gd name="connsiteY2" fmla="*/ 3362353 h 6130481"/>
                <a:gd name="connsiteX3" fmla="*/ 4601621 w 5517475"/>
                <a:gd name="connsiteY3" fmla="*/ 5293280 h 6130481"/>
                <a:gd name="connsiteX4" fmla="*/ 2481577 w 5517475"/>
                <a:gd name="connsiteY4" fmla="*/ 6130481 h 6130481"/>
                <a:gd name="connsiteX5" fmla="*/ 243517 w 5517475"/>
                <a:gd name="connsiteY5" fmla="*/ 5212325 h 6130481"/>
                <a:gd name="connsiteX6" fmla="*/ 34587 w 5517475"/>
                <a:gd name="connsiteY6" fmla="*/ 4985345 h 6130481"/>
                <a:gd name="connsiteX7" fmla="*/ 0 w 5517475"/>
                <a:gd name="connsiteY7" fmla="*/ 4939620 h 6130481"/>
                <a:gd name="connsiteX8" fmla="*/ 0 w 5517475"/>
                <a:gd name="connsiteY8" fmla="*/ 3799573 h 6130481"/>
                <a:gd name="connsiteX9" fmla="*/ 64364 w 5517475"/>
                <a:gd name="connsiteY9" fmla="*/ 3974159 h 6130481"/>
                <a:gd name="connsiteX10" fmla="*/ 636644 w 5517475"/>
                <a:gd name="connsiteY10" fmla="*/ 4813600 h 6130481"/>
                <a:gd name="connsiteX11" fmla="*/ 2481577 w 5517475"/>
                <a:gd name="connsiteY11" fmla="*/ 5570406 h 6130481"/>
                <a:gd name="connsiteX12" fmla="*/ 3449896 w 5517475"/>
                <a:gd name="connsiteY12" fmla="*/ 5407153 h 6130481"/>
                <a:gd name="connsiteX13" fmla="*/ 4205695 w 5517475"/>
                <a:gd name="connsiteY13" fmla="*/ 4897241 h 6130481"/>
                <a:gd name="connsiteX14" fmla="*/ 4461434 w 5517475"/>
                <a:gd name="connsiteY14" fmla="*/ 4564802 h 6130481"/>
                <a:gd name="connsiteX15" fmla="*/ 4588969 w 5517475"/>
                <a:gd name="connsiteY15" fmla="*/ 4149952 h 6130481"/>
                <a:gd name="connsiteX16" fmla="*/ 4886585 w 5517475"/>
                <a:gd name="connsiteY16" fmla="*/ 3168421 h 6130481"/>
                <a:gd name="connsiteX17" fmla="*/ 4877964 w 5517475"/>
                <a:gd name="connsiteY17" fmla="*/ 2321590 h 6130481"/>
                <a:gd name="connsiteX18" fmla="*/ 4382048 w 5517475"/>
                <a:gd name="connsiteY18" fmla="*/ 1501856 h 6130481"/>
                <a:gd name="connsiteX19" fmla="*/ 3551900 w 5517475"/>
                <a:gd name="connsiteY19" fmla="*/ 808425 h 6130481"/>
                <a:gd name="connsiteX20" fmla="*/ 2549095 w 5517475"/>
                <a:gd name="connsiteY20" fmla="*/ 559851 h 6130481"/>
                <a:gd name="connsiteX21" fmla="*/ 1712566 w 5517475"/>
                <a:gd name="connsiteY21" fmla="*/ 812008 h 6130481"/>
                <a:gd name="connsiteX22" fmla="*/ 906044 w 5517475"/>
                <a:gd name="connsiteY22" fmla="*/ 1502976 h 6130481"/>
                <a:gd name="connsiteX23" fmla="*/ 558825 w 5517475"/>
                <a:gd name="connsiteY23" fmla="*/ 1831049 h 6130481"/>
                <a:gd name="connsiteX24" fmla="*/ 25063 w 5517475"/>
                <a:gd name="connsiteY24" fmla="*/ 2389556 h 6130481"/>
                <a:gd name="connsiteX25" fmla="*/ 0 w 5517475"/>
                <a:gd name="connsiteY25" fmla="*/ 2432109 h 6130481"/>
                <a:gd name="connsiteX26" fmla="*/ 0 w 5517475"/>
                <a:gd name="connsiteY26" fmla="*/ 1587383 h 6130481"/>
                <a:gd name="connsiteX27" fmla="*/ 76951 w 5517475"/>
                <a:gd name="connsiteY27" fmla="*/ 1513741 h 6130481"/>
                <a:gd name="connsiteX28" fmla="*/ 510118 w 5517475"/>
                <a:gd name="connsiteY28" fmla="*/ 1107273 h 6130481"/>
                <a:gd name="connsiteX29" fmla="*/ 2549095 w 5517475"/>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475" h="6130481">
                  <a:moveTo>
                    <a:pt x="2549095" y="0"/>
                  </a:moveTo>
                  <a:cubicBezTo>
                    <a:pt x="3508568" y="0"/>
                    <a:pt x="4219915" y="463445"/>
                    <a:pt x="4804175" y="1134258"/>
                  </a:cubicBezTo>
                  <a:cubicBezTo>
                    <a:pt x="5291694" y="1694109"/>
                    <a:pt x="5723899"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799573"/>
                  </a:lnTo>
                  <a:lnTo>
                    <a:pt x="64364" y="3974159"/>
                  </a:lnTo>
                  <a:cubicBezTo>
                    <a:pt x="198841" y="4289243"/>
                    <a:pt x="391429" y="4571632"/>
                    <a:pt x="636644" y="4813600"/>
                  </a:cubicBezTo>
                  <a:cubicBezTo>
                    <a:pt x="1131328" y="5301566"/>
                    <a:pt x="1786578" y="5570406"/>
                    <a:pt x="2481577" y="5570406"/>
                  </a:cubicBezTo>
                  <a:cubicBezTo>
                    <a:pt x="2854550" y="5570406"/>
                    <a:pt x="3171314" y="5516996"/>
                    <a:pt x="3449896" y="5407153"/>
                  </a:cubicBezTo>
                  <a:cubicBezTo>
                    <a:pt x="3723103" y="5299438"/>
                    <a:pt x="3970333" y="5132603"/>
                    <a:pt x="4205695" y="4897241"/>
                  </a:cubicBezTo>
                  <a:cubicBezTo>
                    <a:pt x="4369395" y="4733653"/>
                    <a:pt x="4426836" y="4637358"/>
                    <a:pt x="4461434" y="4564802"/>
                  </a:cubicBezTo>
                  <a:cubicBezTo>
                    <a:pt x="4510701" y="4461453"/>
                    <a:pt x="4543509" y="4330784"/>
                    <a:pt x="4588969" y="4149952"/>
                  </a:cubicBezTo>
                  <a:cubicBezTo>
                    <a:pt x="4646969" y="3918846"/>
                    <a:pt x="4726468" y="3602194"/>
                    <a:pt x="4886585" y="3168421"/>
                  </a:cubicBezTo>
                  <a:cubicBezTo>
                    <a:pt x="4984560" y="2902940"/>
                    <a:pt x="4981760" y="2626037"/>
                    <a:pt x="4877964" y="2321590"/>
                  </a:cubicBezTo>
                  <a:cubicBezTo>
                    <a:pt x="4786260" y="2052526"/>
                    <a:pt x="4614834" y="1769129"/>
                    <a:pt x="4382048" y="1501856"/>
                  </a:cubicBezTo>
                  <a:cubicBezTo>
                    <a:pt x="4110072" y="1189683"/>
                    <a:pt x="3838544" y="962832"/>
                    <a:pt x="3551900" y="808425"/>
                  </a:cubicBezTo>
                  <a:cubicBezTo>
                    <a:pt x="3241183" y="641141"/>
                    <a:pt x="2913222" y="559851"/>
                    <a:pt x="2549095" y="559851"/>
                  </a:cubicBezTo>
                  <a:cubicBezTo>
                    <a:pt x="2253830" y="559851"/>
                    <a:pt x="1988013" y="640134"/>
                    <a:pt x="1712566" y="812008"/>
                  </a:cubicBezTo>
                  <a:cubicBezTo>
                    <a:pt x="1428385" y="989593"/>
                    <a:pt x="1158313" y="1250707"/>
                    <a:pt x="906044" y="1502976"/>
                  </a:cubicBezTo>
                  <a:cubicBezTo>
                    <a:pt x="788140" y="1620769"/>
                    <a:pt x="671579" y="1727700"/>
                    <a:pt x="558825" y="1831049"/>
                  </a:cubicBezTo>
                  <a:cubicBezTo>
                    <a:pt x="340371" y="2031140"/>
                    <a:pt x="151813" y="2204022"/>
                    <a:pt x="25063" y="2389556"/>
                  </a:cubicBezTo>
                  <a:lnTo>
                    <a:pt x="0" y="2432109"/>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8A614510-A9F4-41B6-B78E-F49E390C7E4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9221" y="0"/>
              <a:ext cx="5646974" cy="6483075"/>
            </a:xfrm>
            <a:custGeom>
              <a:avLst/>
              <a:gdLst>
                <a:gd name="connsiteX0" fmla="*/ 2405773 w 5646974"/>
                <a:gd name="connsiteY0" fmla="*/ 0 h 6483075"/>
                <a:gd name="connsiteX1" fmla="*/ 5646974 w 5646974"/>
                <a:gd name="connsiteY1" fmla="*/ 3241538 h 6483075"/>
                <a:gd name="connsiteX2" fmla="*/ 2405773 w 5646974"/>
                <a:gd name="connsiteY2" fmla="*/ 6483075 h 6483075"/>
                <a:gd name="connsiteX3" fmla="*/ 113897 w 5646974"/>
                <a:gd name="connsiteY3" fmla="*/ 5533666 h 6483075"/>
                <a:gd name="connsiteX4" fmla="*/ 0 w 5646974"/>
                <a:gd name="connsiteY4" fmla="*/ 5408336 h 6483075"/>
                <a:gd name="connsiteX5" fmla="*/ 0 w 5646974"/>
                <a:gd name="connsiteY5" fmla="*/ 4983659 h 6483075"/>
                <a:gd name="connsiteX6" fmla="*/ 155731 w 5646974"/>
                <a:gd name="connsiteY6" fmla="*/ 5176047 h 6483075"/>
                <a:gd name="connsiteX7" fmla="*/ 1093706 w 5646974"/>
                <a:gd name="connsiteY7" fmla="*/ 5866903 h 6483075"/>
                <a:gd name="connsiteX8" fmla="*/ 1639673 w 5646974"/>
                <a:gd name="connsiteY8" fmla="*/ 6059940 h 6483075"/>
                <a:gd name="connsiteX9" fmla="*/ 1709990 w 5646974"/>
                <a:gd name="connsiteY9" fmla="*/ 6076287 h 6483075"/>
                <a:gd name="connsiteX10" fmla="*/ 1780307 w 5646974"/>
                <a:gd name="connsiteY10" fmla="*/ 6091963 h 6483075"/>
                <a:gd name="connsiteX11" fmla="*/ 1851072 w 5646974"/>
                <a:gd name="connsiteY11" fmla="*/ 6105176 h 6483075"/>
                <a:gd name="connsiteX12" fmla="*/ 1886455 w 5646974"/>
                <a:gd name="connsiteY12" fmla="*/ 6111782 h 6483075"/>
                <a:gd name="connsiteX13" fmla="*/ 1921949 w 5646974"/>
                <a:gd name="connsiteY13" fmla="*/ 6117716 h 6483075"/>
                <a:gd name="connsiteX14" fmla="*/ 2064152 w 5646974"/>
                <a:gd name="connsiteY14" fmla="*/ 6137647 h 6483075"/>
                <a:gd name="connsiteX15" fmla="*/ 2206914 w 5646974"/>
                <a:gd name="connsiteY15" fmla="*/ 6151195 h 6483075"/>
                <a:gd name="connsiteX16" fmla="*/ 2350011 w 5646974"/>
                <a:gd name="connsiteY16" fmla="*/ 6158250 h 6483075"/>
                <a:gd name="connsiteX17" fmla="*/ 2493109 w 5646974"/>
                <a:gd name="connsiteY17" fmla="*/ 6159705 h 6483075"/>
                <a:gd name="connsiteX18" fmla="*/ 2781321 w 5646974"/>
                <a:gd name="connsiteY18" fmla="*/ 6147277 h 6483075"/>
                <a:gd name="connsiteX19" fmla="*/ 3345091 w 5646974"/>
                <a:gd name="connsiteY19" fmla="*/ 6060276 h 6483075"/>
                <a:gd name="connsiteX20" fmla="*/ 3878853 w 5646974"/>
                <a:gd name="connsiteY20" fmla="*/ 5871718 h 6483075"/>
                <a:gd name="connsiteX21" fmla="*/ 4367267 w 5646974"/>
                <a:gd name="connsiteY21" fmla="*/ 5573093 h 6483075"/>
                <a:gd name="connsiteX22" fmla="*/ 4424484 w 5646974"/>
                <a:gd name="connsiteY22" fmla="*/ 5528529 h 6483075"/>
                <a:gd name="connsiteX23" fmla="*/ 4481252 w 5646974"/>
                <a:gd name="connsiteY23" fmla="*/ 5483069 h 6483075"/>
                <a:gd name="connsiteX24" fmla="*/ 4536790 w 5646974"/>
                <a:gd name="connsiteY24" fmla="*/ 5435818 h 6483075"/>
                <a:gd name="connsiteX25" fmla="*/ 4591543 w 5646974"/>
                <a:gd name="connsiteY25" fmla="*/ 5387671 h 6483075"/>
                <a:gd name="connsiteX26" fmla="*/ 4794209 w 5646974"/>
                <a:gd name="connsiteY26" fmla="*/ 5181198 h 6483075"/>
                <a:gd name="connsiteX27" fmla="*/ 4956678 w 5646974"/>
                <a:gd name="connsiteY27" fmla="*/ 4945836 h 6483075"/>
                <a:gd name="connsiteX28" fmla="*/ 4989262 w 5646974"/>
                <a:gd name="connsiteY28" fmla="*/ 4881453 h 6483075"/>
                <a:gd name="connsiteX29" fmla="*/ 5017814 w 5646974"/>
                <a:gd name="connsiteY29" fmla="*/ 4814607 h 6483075"/>
                <a:gd name="connsiteX30" fmla="*/ 5044127 w 5646974"/>
                <a:gd name="connsiteY30" fmla="*/ 4746193 h 6483075"/>
                <a:gd name="connsiteX31" fmla="*/ 5068425 w 5646974"/>
                <a:gd name="connsiteY31" fmla="*/ 4676436 h 6483075"/>
                <a:gd name="connsiteX32" fmla="*/ 5154641 w 5646974"/>
                <a:gd name="connsiteY32" fmla="*/ 4390352 h 6483075"/>
                <a:gd name="connsiteX33" fmla="*/ 5196854 w 5646974"/>
                <a:gd name="connsiteY33" fmla="*/ 4246134 h 6483075"/>
                <a:gd name="connsiteX34" fmla="*/ 5240299 w 5646974"/>
                <a:gd name="connsiteY34" fmla="*/ 4102140 h 6483075"/>
                <a:gd name="connsiteX35" fmla="*/ 5432440 w 5646974"/>
                <a:gd name="connsiteY35" fmla="*/ 3532884 h 6483075"/>
                <a:gd name="connsiteX36" fmla="*/ 5528846 w 5646974"/>
                <a:gd name="connsiteY36" fmla="*/ 2951647 h 6483075"/>
                <a:gd name="connsiteX37" fmla="*/ 5495927 w 5646974"/>
                <a:gd name="connsiteY37" fmla="*/ 2658733 h 6483075"/>
                <a:gd name="connsiteX38" fmla="*/ 5480027 w 5646974"/>
                <a:gd name="connsiteY38" fmla="*/ 2586848 h 6483075"/>
                <a:gd name="connsiteX39" fmla="*/ 5461328 w 5646974"/>
                <a:gd name="connsiteY39" fmla="*/ 2515635 h 6483075"/>
                <a:gd name="connsiteX40" fmla="*/ 5439605 w 5646974"/>
                <a:gd name="connsiteY40" fmla="*/ 2445317 h 6483075"/>
                <a:gd name="connsiteX41" fmla="*/ 5415532 w 5646974"/>
                <a:gd name="connsiteY41" fmla="*/ 2375896 h 6483075"/>
                <a:gd name="connsiteX42" fmla="*/ 5144564 w 5646974"/>
                <a:gd name="connsiteY42" fmla="*/ 1857138 h 6483075"/>
                <a:gd name="connsiteX43" fmla="*/ 4774838 w 5646974"/>
                <a:gd name="connsiteY43" fmla="*/ 1405450 h 6483075"/>
                <a:gd name="connsiteX44" fmla="*/ 4345769 w 5646974"/>
                <a:gd name="connsiteY44" fmla="*/ 1012323 h 6483075"/>
                <a:gd name="connsiteX45" fmla="*/ 4115334 w 5646974"/>
                <a:gd name="connsiteY45" fmla="*/ 841344 h 6483075"/>
                <a:gd name="connsiteX46" fmla="*/ 3874038 w 5646974"/>
                <a:gd name="connsiteY46" fmla="*/ 691528 h 6483075"/>
                <a:gd name="connsiteX47" fmla="*/ 3359535 w 5646974"/>
                <a:gd name="connsiteY47" fmla="*/ 468819 h 6483075"/>
                <a:gd name="connsiteX48" fmla="*/ 2811105 w 5646974"/>
                <a:gd name="connsiteY48" fmla="*/ 366031 h 6483075"/>
                <a:gd name="connsiteX49" fmla="*/ 2741124 w 5646974"/>
                <a:gd name="connsiteY49" fmla="*/ 361440 h 6483075"/>
                <a:gd name="connsiteX50" fmla="*/ 2671030 w 5646974"/>
                <a:gd name="connsiteY50" fmla="*/ 358417 h 6483075"/>
                <a:gd name="connsiteX51" fmla="*/ 2600713 w 5646974"/>
                <a:gd name="connsiteY51" fmla="*/ 357521 h 6483075"/>
                <a:gd name="connsiteX52" fmla="*/ 2531739 w 5646974"/>
                <a:gd name="connsiteY52" fmla="*/ 358529 h 6483075"/>
                <a:gd name="connsiteX53" fmla="*/ 2259988 w 5646974"/>
                <a:gd name="connsiteY53" fmla="*/ 385289 h 6483075"/>
                <a:gd name="connsiteX54" fmla="*/ 1740670 w 5646974"/>
                <a:gd name="connsiteY54" fmla="*/ 553917 h 6483075"/>
                <a:gd name="connsiteX55" fmla="*/ 1264124 w 5646974"/>
                <a:gd name="connsiteY55" fmla="*/ 853549 h 6483075"/>
                <a:gd name="connsiteX56" fmla="*/ 823074 w 5646974"/>
                <a:gd name="connsiteY56" fmla="*/ 1234136 h 6483075"/>
                <a:gd name="connsiteX57" fmla="*/ 715694 w 5646974"/>
                <a:gd name="connsiteY57" fmla="*/ 1336252 h 6483075"/>
                <a:gd name="connsiteX58" fmla="*/ 606859 w 5646974"/>
                <a:gd name="connsiteY58" fmla="*/ 1440945 h 6483075"/>
                <a:gd name="connsiteX59" fmla="*/ 382023 w 5646974"/>
                <a:gd name="connsiteY59" fmla="*/ 1646074 h 6483075"/>
                <a:gd name="connsiteX60" fmla="*/ 158531 w 5646974"/>
                <a:gd name="connsiteY60" fmla="*/ 1843813 h 6483075"/>
                <a:gd name="connsiteX61" fmla="*/ 0 w 5646974"/>
                <a:gd name="connsiteY61" fmla="*/ 1991775 h 6483075"/>
                <a:gd name="connsiteX62" fmla="*/ 0 w 5646974"/>
                <a:gd name="connsiteY62" fmla="*/ 1074740 h 6483075"/>
                <a:gd name="connsiteX63" fmla="*/ 113897 w 5646974"/>
                <a:gd name="connsiteY63" fmla="*/ 949410 h 6483075"/>
                <a:gd name="connsiteX64" fmla="*/ 2405773 w 5646974"/>
                <a:gd name="connsiteY64" fmla="*/ 0 h 64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646974" h="6483075">
                  <a:moveTo>
                    <a:pt x="2405773" y="0"/>
                  </a:moveTo>
                  <a:cubicBezTo>
                    <a:pt x="4195841" y="0"/>
                    <a:pt x="5646974" y="1451246"/>
                    <a:pt x="5646974" y="3241538"/>
                  </a:cubicBezTo>
                  <a:cubicBezTo>
                    <a:pt x="5646974" y="5031830"/>
                    <a:pt x="4195841" y="6483075"/>
                    <a:pt x="2405773" y="6483075"/>
                  </a:cubicBezTo>
                  <a:cubicBezTo>
                    <a:pt x="1510739" y="6483075"/>
                    <a:pt x="700439" y="6120264"/>
                    <a:pt x="113897" y="5533666"/>
                  </a:cubicBezTo>
                  <a:lnTo>
                    <a:pt x="0" y="5408336"/>
                  </a:lnTo>
                  <a:lnTo>
                    <a:pt x="0" y="4983659"/>
                  </a:lnTo>
                  <a:lnTo>
                    <a:pt x="155731" y="5176047"/>
                  </a:lnTo>
                  <a:cubicBezTo>
                    <a:pt x="417742" y="5469073"/>
                    <a:pt x="741224" y="5704211"/>
                    <a:pt x="1093706" y="5866903"/>
                  </a:cubicBezTo>
                  <a:cubicBezTo>
                    <a:pt x="1269947" y="5948418"/>
                    <a:pt x="1453018" y="6013137"/>
                    <a:pt x="1639673" y="6059940"/>
                  </a:cubicBezTo>
                  <a:lnTo>
                    <a:pt x="1709990" y="6076287"/>
                  </a:lnTo>
                  <a:cubicBezTo>
                    <a:pt x="1733504" y="6081550"/>
                    <a:pt x="1756570" y="6088156"/>
                    <a:pt x="1780307" y="6091963"/>
                  </a:cubicBezTo>
                  <a:lnTo>
                    <a:pt x="1851072" y="6105176"/>
                  </a:lnTo>
                  <a:lnTo>
                    <a:pt x="1886455" y="6111782"/>
                  </a:lnTo>
                  <a:cubicBezTo>
                    <a:pt x="1898212" y="6114021"/>
                    <a:pt x="1909969" y="6116373"/>
                    <a:pt x="1921949" y="6117716"/>
                  </a:cubicBezTo>
                  <a:cubicBezTo>
                    <a:pt x="1969425" y="6124323"/>
                    <a:pt x="2016676" y="6131489"/>
                    <a:pt x="2064152" y="6137647"/>
                  </a:cubicBezTo>
                  <a:cubicBezTo>
                    <a:pt x="2111851" y="6141790"/>
                    <a:pt x="2159438" y="6146381"/>
                    <a:pt x="2206914" y="6151195"/>
                  </a:cubicBezTo>
                  <a:lnTo>
                    <a:pt x="2350011" y="6158250"/>
                  </a:lnTo>
                  <a:cubicBezTo>
                    <a:pt x="2397711" y="6159593"/>
                    <a:pt x="2445410" y="6159146"/>
                    <a:pt x="2493109" y="6159705"/>
                  </a:cubicBezTo>
                  <a:cubicBezTo>
                    <a:pt x="2589068" y="6158137"/>
                    <a:pt x="2685922" y="6154666"/>
                    <a:pt x="2781321" y="6147277"/>
                  </a:cubicBezTo>
                  <a:cubicBezTo>
                    <a:pt x="2972566" y="6132944"/>
                    <a:pt x="3161348" y="6105288"/>
                    <a:pt x="3345091" y="6060276"/>
                  </a:cubicBezTo>
                  <a:cubicBezTo>
                    <a:pt x="3528834" y="6015375"/>
                    <a:pt x="3707539" y="5952785"/>
                    <a:pt x="3878853" y="5871718"/>
                  </a:cubicBezTo>
                  <a:cubicBezTo>
                    <a:pt x="4050167" y="5790428"/>
                    <a:pt x="4213084" y="5689318"/>
                    <a:pt x="4367267" y="5573093"/>
                  </a:cubicBezTo>
                  <a:lnTo>
                    <a:pt x="4424484" y="5528529"/>
                  </a:lnTo>
                  <a:cubicBezTo>
                    <a:pt x="4443631" y="5513637"/>
                    <a:pt x="4463113" y="5499193"/>
                    <a:pt x="4481252" y="5483069"/>
                  </a:cubicBezTo>
                  <a:lnTo>
                    <a:pt x="4536790" y="5435818"/>
                  </a:lnTo>
                  <a:cubicBezTo>
                    <a:pt x="4555265" y="5419918"/>
                    <a:pt x="4574188" y="5404466"/>
                    <a:pt x="4591543" y="5387671"/>
                  </a:cubicBezTo>
                  <a:cubicBezTo>
                    <a:pt x="4662980" y="5321944"/>
                    <a:pt x="4733074" y="5254650"/>
                    <a:pt x="4794209" y="5181198"/>
                  </a:cubicBezTo>
                  <a:cubicBezTo>
                    <a:pt x="4857808" y="5109089"/>
                    <a:pt x="4910434" y="5029926"/>
                    <a:pt x="4956678" y="4945836"/>
                  </a:cubicBezTo>
                  <a:cubicBezTo>
                    <a:pt x="4967651" y="4924450"/>
                    <a:pt x="4978624" y="4903064"/>
                    <a:pt x="4989262" y="4881453"/>
                  </a:cubicBezTo>
                  <a:lnTo>
                    <a:pt x="5017814" y="4814607"/>
                  </a:lnTo>
                  <a:cubicBezTo>
                    <a:pt x="5027891" y="4792549"/>
                    <a:pt x="5035393" y="4769035"/>
                    <a:pt x="5044127" y="4746193"/>
                  </a:cubicBezTo>
                  <a:cubicBezTo>
                    <a:pt x="5052636" y="4723128"/>
                    <a:pt x="5061146" y="4700174"/>
                    <a:pt x="5068425" y="4676436"/>
                  </a:cubicBezTo>
                  <a:cubicBezTo>
                    <a:pt x="5099552" y="4582717"/>
                    <a:pt x="5126985" y="4486422"/>
                    <a:pt x="5154641" y="4390352"/>
                  </a:cubicBezTo>
                  <a:lnTo>
                    <a:pt x="5196854" y="4246134"/>
                  </a:lnTo>
                  <a:lnTo>
                    <a:pt x="5240299" y="4102140"/>
                  </a:lnTo>
                  <a:cubicBezTo>
                    <a:pt x="5299195" y="3910560"/>
                    <a:pt x="5364697" y="3721330"/>
                    <a:pt x="5432440" y="3532884"/>
                  </a:cubicBezTo>
                  <a:cubicBezTo>
                    <a:pt x="5500294" y="3346902"/>
                    <a:pt x="5533549" y="3148714"/>
                    <a:pt x="5528846" y="2951647"/>
                  </a:cubicBezTo>
                  <a:cubicBezTo>
                    <a:pt x="5526831" y="2853113"/>
                    <a:pt x="5515409" y="2755027"/>
                    <a:pt x="5495927" y="2658733"/>
                  </a:cubicBezTo>
                  <a:cubicBezTo>
                    <a:pt x="5491112" y="2634659"/>
                    <a:pt x="5486297" y="2610585"/>
                    <a:pt x="5480027" y="2586848"/>
                  </a:cubicBezTo>
                  <a:cubicBezTo>
                    <a:pt x="5474205" y="2562998"/>
                    <a:pt x="5468718" y="2539036"/>
                    <a:pt x="5461328" y="2515635"/>
                  </a:cubicBezTo>
                  <a:cubicBezTo>
                    <a:pt x="5454386" y="2492009"/>
                    <a:pt x="5447668" y="2468495"/>
                    <a:pt x="5439605" y="2445317"/>
                  </a:cubicBezTo>
                  <a:cubicBezTo>
                    <a:pt x="5431879" y="2422028"/>
                    <a:pt x="5424378" y="2398738"/>
                    <a:pt x="5415532" y="2375896"/>
                  </a:cubicBezTo>
                  <a:cubicBezTo>
                    <a:pt x="5347790" y="2191817"/>
                    <a:pt x="5254071" y="2018599"/>
                    <a:pt x="5144564" y="1857138"/>
                  </a:cubicBezTo>
                  <a:cubicBezTo>
                    <a:pt x="5034946" y="1695565"/>
                    <a:pt x="4909762" y="1545301"/>
                    <a:pt x="4774838" y="1405450"/>
                  </a:cubicBezTo>
                  <a:cubicBezTo>
                    <a:pt x="4638907" y="1265040"/>
                    <a:pt x="4496145" y="1132131"/>
                    <a:pt x="4345769" y="1012323"/>
                  </a:cubicBezTo>
                  <a:cubicBezTo>
                    <a:pt x="4270749" y="952195"/>
                    <a:pt x="4194273" y="894642"/>
                    <a:pt x="4115334" y="841344"/>
                  </a:cubicBezTo>
                  <a:cubicBezTo>
                    <a:pt x="4037067" y="787263"/>
                    <a:pt x="3956336" y="737548"/>
                    <a:pt x="3874038" y="691528"/>
                  </a:cubicBezTo>
                  <a:cubicBezTo>
                    <a:pt x="3709554" y="599712"/>
                    <a:pt x="3537792" y="523349"/>
                    <a:pt x="3359535" y="468819"/>
                  </a:cubicBezTo>
                  <a:cubicBezTo>
                    <a:pt x="3181278" y="414514"/>
                    <a:pt x="2997311" y="380699"/>
                    <a:pt x="2811105" y="366031"/>
                  </a:cubicBezTo>
                  <a:cubicBezTo>
                    <a:pt x="2787703" y="364575"/>
                    <a:pt x="2764525" y="362448"/>
                    <a:pt x="2741124" y="361440"/>
                  </a:cubicBezTo>
                  <a:lnTo>
                    <a:pt x="2671030" y="358417"/>
                  </a:lnTo>
                  <a:lnTo>
                    <a:pt x="2600713" y="357521"/>
                  </a:lnTo>
                  <a:cubicBezTo>
                    <a:pt x="2577087" y="356961"/>
                    <a:pt x="2554805" y="358305"/>
                    <a:pt x="2531739" y="358529"/>
                  </a:cubicBezTo>
                  <a:cubicBezTo>
                    <a:pt x="2440259" y="360992"/>
                    <a:pt x="2349564" y="370285"/>
                    <a:pt x="2259988" y="385289"/>
                  </a:cubicBezTo>
                  <a:cubicBezTo>
                    <a:pt x="2080723" y="415521"/>
                    <a:pt x="1906945" y="473634"/>
                    <a:pt x="1740670" y="553917"/>
                  </a:cubicBezTo>
                  <a:cubicBezTo>
                    <a:pt x="1574506" y="634647"/>
                    <a:pt x="1415844" y="737100"/>
                    <a:pt x="1264124" y="853549"/>
                  </a:cubicBezTo>
                  <a:cubicBezTo>
                    <a:pt x="1112181" y="969886"/>
                    <a:pt x="966508" y="1099212"/>
                    <a:pt x="823074" y="1234136"/>
                  </a:cubicBezTo>
                  <a:cubicBezTo>
                    <a:pt x="787131" y="1267951"/>
                    <a:pt x="751413" y="1301990"/>
                    <a:pt x="715694" y="1336252"/>
                  </a:cubicBezTo>
                  <a:lnTo>
                    <a:pt x="606859" y="1440945"/>
                  </a:lnTo>
                  <a:cubicBezTo>
                    <a:pt x="532623" y="1511374"/>
                    <a:pt x="457267" y="1579452"/>
                    <a:pt x="382023" y="1646074"/>
                  </a:cubicBezTo>
                  <a:lnTo>
                    <a:pt x="158531" y="1843813"/>
                  </a:lnTo>
                  <a:lnTo>
                    <a:pt x="0" y="1991775"/>
                  </a:lnTo>
                  <a:lnTo>
                    <a:pt x="0" y="1074740"/>
                  </a:lnTo>
                  <a:lnTo>
                    <a:pt x="113897" y="949410"/>
                  </a:lnTo>
                  <a:cubicBezTo>
                    <a:pt x="700439" y="362812"/>
                    <a:pt x="1510739" y="0"/>
                    <a:pt x="2405773" y="0"/>
                  </a:cubicBezTo>
                  <a:close/>
                </a:path>
              </a:pathLst>
            </a:custGeom>
            <a:gradFill>
              <a:gsLst>
                <a:gs pos="2000">
                  <a:schemeClr val="bg1">
                    <a:alpha val="10000"/>
                  </a:schemeClr>
                </a:gs>
                <a:gs pos="16000">
                  <a:schemeClr val="accent6">
                    <a:alpha val="10000"/>
                  </a:schemeClr>
                </a:gs>
                <a:gs pos="100000">
                  <a:schemeClr val="bg1">
                    <a:alpha val="10000"/>
                  </a:schemeClr>
                </a:gs>
                <a:gs pos="74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Unvan 1"/>
          <p:cNvSpPr>
            <a:spLocks noGrp="1"/>
          </p:cNvSpPr>
          <p:nvPr>
            <p:ph type="title"/>
          </p:nvPr>
        </p:nvSpPr>
        <p:spPr>
          <a:xfrm>
            <a:off x="804672" y="2053641"/>
            <a:ext cx="3669161" cy="2760098"/>
          </a:xfrm>
        </p:spPr>
        <p:txBody>
          <a:bodyPr>
            <a:normAutofit fontScale="90000"/>
          </a:bodyPr>
          <a:lstStyle/>
          <a:p>
            <a:r>
              <a:rPr lang="tr-TR" sz="3700" b="1" dirty="0">
                <a:solidFill>
                  <a:schemeClr val="tx2"/>
                </a:solidFill>
              </a:rPr>
              <a:t/>
            </a:r>
            <a:br>
              <a:rPr lang="tr-TR" sz="3700" b="1" dirty="0">
                <a:solidFill>
                  <a:schemeClr val="tx2"/>
                </a:solidFill>
              </a:rPr>
            </a:br>
            <a:r>
              <a:rPr lang="tr-TR" sz="4000" b="1" dirty="0">
                <a:solidFill>
                  <a:schemeClr val="accent6">
                    <a:lumMod val="75000"/>
                  </a:schemeClr>
                </a:solidFill>
              </a:rPr>
              <a:t>Sağlığı tehdit eden tehlikelerin sınıflandırılması</a:t>
            </a:r>
            <a:r>
              <a:rPr lang="tr-TR" sz="3700" b="1" dirty="0">
                <a:solidFill>
                  <a:schemeClr val="tx2"/>
                </a:solidFill>
              </a:rPr>
              <a:t/>
            </a:r>
            <a:br>
              <a:rPr lang="tr-TR" sz="3700" b="1" dirty="0">
                <a:solidFill>
                  <a:schemeClr val="tx2"/>
                </a:solidFill>
              </a:rPr>
            </a:br>
            <a:endParaRPr lang="tr-TR" sz="3700" dirty="0">
              <a:solidFill>
                <a:schemeClr val="tx2"/>
              </a:solidFill>
            </a:endParaRPr>
          </a:p>
        </p:txBody>
      </p:sp>
      <p:sp>
        <p:nvSpPr>
          <p:cNvPr id="3" name="İçerik Yer Tutucusu 2"/>
          <p:cNvSpPr>
            <a:spLocks noGrp="1"/>
          </p:cNvSpPr>
          <p:nvPr>
            <p:ph idx="1"/>
          </p:nvPr>
        </p:nvSpPr>
        <p:spPr>
          <a:xfrm>
            <a:off x="5509339" y="176240"/>
            <a:ext cx="6497131" cy="6522734"/>
          </a:xfrm>
          <a:noFill/>
          <a:ln>
            <a:noFill/>
          </a:ln>
        </p:spPr>
        <p:txBody>
          <a:bodyPr anchor="ctr">
            <a:normAutofit fontScale="77500" lnSpcReduction="20000"/>
          </a:bodyPr>
          <a:lstStyle/>
          <a:p>
            <a:pPr marL="0" indent="0">
              <a:buNone/>
            </a:pPr>
            <a:r>
              <a:rPr lang="tr-TR" sz="1400" b="1" dirty="0">
                <a:solidFill>
                  <a:schemeClr val="tx2"/>
                </a:solidFill>
              </a:rPr>
              <a:t>*</a:t>
            </a:r>
            <a:r>
              <a:rPr lang="tr-TR" sz="2000" b="1" dirty="0"/>
              <a:t>Kimyasal Tehlikeler</a:t>
            </a:r>
            <a:endParaRPr lang="tr-TR" sz="2000" dirty="0"/>
          </a:p>
          <a:p>
            <a:pPr marL="0" indent="0">
              <a:buNone/>
            </a:pPr>
            <a:r>
              <a:rPr lang="tr-TR" sz="2000" dirty="0"/>
              <a:t>  Zehirli veya tahriş edici maddelerdir ve doğrudan vücuda girerler. Gazlar, buharlar, sıvılar, katılar, tozlar veya bunların karışımları vb. </a:t>
            </a:r>
          </a:p>
          <a:p>
            <a:pPr marL="0" indent="0">
              <a:buNone/>
            </a:pPr>
            <a:endParaRPr lang="tr-TR" sz="2000" dirty="0"/>
          </a:p>
          <a:p>
            <a:pPr marL="0" indent="0">
              <a:buNone/>
            </a:pPr>
            <a:r>
              <a:rPr lang="tr-TR" sz="2000" b="1" dirty="0"/>
              <a:t>*Biyolojik Tehlikeler</a:t>
            </a:r>
            <a:endParaRPr lang="tr-TR" sz="2000" dirty="0"/>
          </a:p>
          <a:p>
            <a:pPr marL="0" indent="0">
              <a:buNone/>
            </a:pPr>
            <a:r>
              <a:rPr lang="tr-TR" sz="2000" dirty="0"/>
              <a:t>   Bakteriler, virüsler, mantarlar, küfler ve </a:t>
            </a:r>
            <a:r>
              <a:rPr lang="tr-TR" sz="2000" dirty="0" err="1"/>
              <a:t>protista</a:t>
            </a:r>
            <a:r>
              <a:rPr lang="tr-TR" sz="2000" dirty="0"/>
              <a:t> (bir hücreliler) gibi mikrobiyolojik olanlar ve böcekler, parazitler (asalaklar), bitkiler; ve hayvanlar gibi </a:t>
            </a:r>
            <a:r>
              <a:rPr lang="tr-TR" sz="2000" dirty="0" err="1"/>
              <a:t>makrobiyolojik</a:t>
            </a:r>
            <a:r>
              <a:rPr lang="tr-TR" sz="2000" dirty="0"/>
              <a:t> tehlikeler.</a:t>
            </a:r>
          </a:p>
          <a:p>
            <a:pPr marL="0" indent="0">
              <a:buNone/>
            </a:pPr>
            <a:endParaRPr lang="tr-TR" sz="2000" dirty="0"/>
          </a:p>
          <a:p>
            <a:pPr marL="0" indent="0">
              <a:buNone/>
            </a:pPr>
            <a:r>
              <a:rPr lang="tr-TR" sz="2000" b="1" dirty="0"/>
              <a:t>*Fiziksel Tehlikelerin Meydana Getirdiği Tehlikeler</a:t>
            </a:r>
            <a:endParaRPr lang="tr-TR" sz="2000" dirty="0"/>
          </a:p>
          <a:p>
            <a:pPr marL="0" indent="0">
              <a:buNone/>
            </a:pPr>
            <a:r>
              <a:rPr lang="tr-TR" sz="2000" dirty="0"/>
              <a:t>  Aşırı gürültü, titreşim (sarsıntı), ışın saçan enerji, olağan dışı sıcaklık değişimlerine ( termal konfor koşullarına) maruz kalma durumlarıdır.</a:t>
            </a:r>
          </a:p>
          <a:p>
            <a:pPr marL="0" indent="0">
              <a:buNone/>
            </a:pPr>
            <a:endParaRPr lang="tr-TR" sz="2000" b="1" dirty="0"/>
          </a:p>
          <a:p>
            <a:pPr marL="0" indent="0">
              <a:buNone/>
            </a:pPr>
            <a:r>
              <a:rPr lang="tr-TR" sz="2000" b="1" dirty="0"/>
              <a:t>*Ergonomik Tehlikeler</a:t>
            </a:r>
          </a:p>
          <a:p>
            <a:pPr marL="0" indent="0">
              <a:buNone/>
            </a:pPr>
            <a:r>
              <a:rPr lang="tr-TR" sz="2000" dirty="0"/>
              <a:t>  – Fiziksel Stresörler (tekrarlanan hareketler, ağır kaldırma, uygunsuz veya statik (değişmeyen) duruş, yorgunluk, aşırı güç uygulama, doğrudan/direkt basınç veya aşırı güç uygulama gibi).</a:t>
            </a:r>
          </a:p>
          <a:p>
            <a:pPr marL="0" indent="0">
              <a:buNone/>
            </a:pPr>
            <a:r>
              <a:rPr lang="tr-TR" sz="2000" dirty="0"/>
              <a:t>  – Psikolojik stresörler (monotonluk, aşır iş yükü gibi).</a:t>
            </a:r>
          </a:p>
          <a:p>
            <a:endParaRPr lang="tr-TR" sz="1400" dirty="0">
              <a:solidFill>
                <a:schemeClr val="tx2"/>
              </a:solidFill>
            </a:endParaRPr>
          </a:p>
        </p:txBody>
      </p:sp>
    </p:spTree>
    <p:extLst>
      <p:ext uri="{BB962C8B-B14F-4D97-AF65-F5344CB8AC3E}">
        <p14:creationId xmlns:p14="http://schemas.microsoft.com/office/powerpoint/2010/main" val="1596687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Unvan 1"/>
          <p:cNvSpPr>
            <a:spLocks noGrp="1"/>
          </p:cNvSpPr>
          <p:nvPr>
            <p:ph type="title"/>
          </p:nvPr>
        </p:nvSpPr>
        <p:spPr>
          <a:xfrm>
            <a:off x="479686" y="741391"/>
            <a:ext cx="3946658" cy="1616203"/>
          </a:xfrm>
        </p:spPr>
        <p:txBody>
          <a:bodyPr vert="horz" lIns="91440" tIns="45720" rIns="91440" bIns="45720" rtlCol="0" anchor="b">
            <a:normAutofit/>
          </a:bodyPr>
          <a:lstStyle/>
          <a:p>
            <a:pPr marL="514350" indent="-514350"/>
            <a:r>
              <a:rPr lang="en-US" sz="3600" b="1" dirty="0" err="1">
                <a:solidFill>
                  <a:schemeClr val="accent1"/>
                </a:solidFill>
              </a:rPr>
              <a:t>Vücuda</a:t>
            </a:r>
            <a:r>
              <a:rPr lang="en-US" sz="3600" b="1" dirty="0">
                <a:solidFill>
                  <a:schemeClr val="accent1"/>
                </a:solidFill>
              </a:rPr>
              <a:t> </a:t>
            </a:r>
            <a:r>
              <a:rPr lang="en-US" sz="3600" b="1" dirty="0" err="1">
                <a:solidFill>
                  <a:schemeClr val="accent1"/>
                </a:solidFill>
              </a:rPr>
              <a:t>Giriş</a:t>
            </a:r>
            <a:r>
              <a:rPr lang="en-US" sz="3600" b="1" dirty="0">
                <a:solidFill>
                  <a:schemeClr val="accent1"/>
                </a:solidFill>
              </a:rPr>
              <a:t> </a:t>
            </a:r>
            <a:r>
              <a:rPr lang="en-US" sz="3600" b="1" dirty="0" err="1">
                <a:solidFill>
                  <a:schemeClr val="accent1"/>
                </a:solidFill>
              </a:rPr>
              <a:t>Yolları</a:t>
            </a:r>
            <a:endParaRPr lang="en-US" sz="3600" b="1" dirty="0">
              <a:solidFill>
                <a:schemeClr val="accent1"/>
              </a:solidFill>
            </a:endParaRPr>
          </a:p>
        </p:txBody>
      </p:sp>
      <p:sp>
        <p:nvSpPr>
          <p:cNvPr id="4" name="Metin kutusu 3"/>
          <p:cNvSpPr txBox="1"/>
          <p:nvPr/>
        </p:nvSpPr>
        <p:spPr>
          <a:xfrm>
            <a:off x="876293" y="3070189"/>
            <a:ext cx="3346964" cy="3447832"/>
          </a:xfrm>
          <a:prstGeom prst="rect">
            <a:avLst/>
          </a:prstGeom>
        </p:spPr>
        <p:txBody>
          <a:bodyPr vert="horz" lIns="91440" tIns="45720" rIns="91440" bIns="45720" rtlCol="0" anchor="t">
            <a:normAutofit/>
          </a:bodyPr>
          <a:lstStyle/>
          <a:p>
            <a:pPr marL="457200" indent="-342900">
              <a:lnSpc>
                <a:spcPct val="150000"/>
              </a:lnSpc>
              <a:spcAft>
                <a:spcPts val="600"/>
              </a:spcAft>
              <a:buClr>
                <a:schemeClr val="accent1"/>
              </a:buClr>
              <a:buFont typeface="Wingdings" panose="05000000000000000000" pitchFamily="2" charset="2"/>
              <a:buChar char="Ø"/>
            </a:pPr>
            <a:r>
              <a:rPr lang="en-US" sz="2000" dirty="0" err="1"/>
              <a:t>Solunum</a:t>
            </a:r>
            <a:r>
              <a:rPr lang="en-US" sz="2000" dirty="0"/>
              <a:t> </a:t>
            </a:r>
            <a:r>
              <a:rPr lang="en-US" sz="2000" dirty="0" err="1"/>
              <a:t>yolu</a:t>
            </a:r>
            <a:r>
              <a:rPr lang="en-US" sz="2000" dirty="0"/>
              <a:t> </a:t>
            </a:r>
            <a:r>
              <a:rPr lang="en-US" sz="2000" dirty="0" err="1"/>
              <a:t>ile</a:t>
            </a:r>
            <a:endParaRPr lang="en-US" sz="2000" dirty="0"/>
          </a:p>
          <a:p>
            <a:pPr marL="457200" indent="-342900">
              <a:lnSpc>
                <a:spcPct val="150000"/>
              </a:lnSpc>
              <a:spcAft>
                <a:spcPts val="600"/>
              </a:spcAft>
              <a:buClr>
                <a:schemeClr val="accent1"/>
              </a:buClr>
              <a:buFont typeface="Wingdings" panose="05000000000000000000" pitchFamily="2" charset="2"/>
              <a:buChar char="Ø"/>
            </a:pPr>
            <a:r>
              <a:rPr lang="en-US" sz="2000" dirty="0" err="1"/>
              <a:t>Deriye</a:t>
            </a:r>
            <a:r>
              <a:rPr lang="en-US" sz="2000" dirty="0"/>
              <a:t> </a:t>
            </a:r>
            <a:r>
              <a:rPr lang="en-US" sz="2000" dirty="0" err="1"/>
              <a:t>temas</a:t>
            </a:r>
            <a:r>
              <a:rPr lang="en-US" sz="2000" dirty="0"/>
              <a:t> </a:t>
            </a:r>
            <a:r>
              <a:rPr lang="en-US" sz="2000" dirty="0" err="1"/>
              <a:t>yolu</a:t>
            </a:r>
            <a:r>
              <a:rPr lang="en-US" sz="2000" dirty="0"/>
              <a:t> </a:t>
            </a:r>
            <a:r>
              <a:rPr lang="en-US" sz="2000" dirty="0" err="1"/>
              <a:t>ile</a:t>
            </a:r>
            <a:endParaRPr lang="en-US" sz="2000" dirty="0"/>
          </a:p>
          <a:p>
            <a:pPr marL="457200" indent="-342900">
              <a:lnSpc>
                <a:spcPct val="150000"/>
              </a:lnSpc>
              <a:spcAft>
                <a:spcPts val="600"/>
              </a:spcAft>
              <a:buClr>
                <a:schemeClr val="accent1"/>
              </a:buClr>
              <a:buFont typeface="Wingdings" panose="05000000000000000000" pitchFamily="2" charset="2"/>
              <a:buChar char="Ø"/>
            </a:pPr>
            <a:r>
              <a:rPr lang="en-US" sz="2000" dirty="0" err="1"/>
              <a:t>Sindirim</a:t>
            </a:r>
            <a:r>
              <a:rPr lang="en-US" sz="2000" dirty="0"/>
              <a:t> </a:t>
            </a:r>
            <a:r>
              <a:rPr lang="en-US" sz="2000" dirty="0" err="1"/>
              <a:t>yolu</a:t>
            </a:r>
            <a:r>
              <a:rPr lang="en-US" sz="2000" dirty="0"/>
              <a:t> </a:t>
            </a:r>
            <a:r>
              <a:rPr lang="en-US" sz="2000" dirty="0" err="1"/>
              <a:t>ile</a:t>
            </a:r>
            <a:endParaRPr lang="en-US" sz="2000" dirty="0"/>
          </a:p>
        </p:txBody>
      </p:sp>
      <p:pic>
        <p:nvPicPr>
          <p:cNvPr id="3074" name="Picture 2" descr="https://www.isguvenligi.net/wp-content/uploads/m7af7ff63.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32" r="1" b="1"/>
          <a:stretch>
            <a:fillRect/>
          </a:stretch>
        </p:blipFill>
        <p:spPr bwMode="auto">
          <a:xfrm>
            <a:off x="5089243" y="877413"/>
            <a:ext cx="6222628" cy="5043096"/>
          </a:xfrm>
          <a:prstGeom prst="rect">
            <a:avLst/>
          </a:prstGeom>
          <a:noFill/>
          <a:extLst>
            <a:ext uri="{909E8E84-426E-40DD-AFC4-6F175D3DCCD1}">
              <a14:hiddenFill xmlns:a14="http://schemas.microsoft.com/office/drawing/2010/main">
                <a:solidFill>
                  <a:srgbClr val="FFFFFF"/>
                </a:solidFill>
              </a14:hiddenFill>
            </a:ext>
          </a:extLst>
        </p:spPr>
      </p:pic>
      <p:grpSp>
        <p:nvGrpSpPr>
          <p:cNvPr id="3079" name="Group 3078">
            <a:extLst>
              <a:ext uri="{FF2B5EF4-FFF2-40B4-BE49-F238E27FC236}">
                <a16:creationId xmlns:a16="http://schemas.microsoft.com/office/drawing/2014/main" id="{3AFCAD34-1AFC-BC1A-F6B2-C34C63912EAB}"/>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89243" y="5858828"/>
            <a:ext cx="6226463" cy="123363"/>
            <a:chOff x="7015162" y="5858828"/>
            <a:chExt cx="4300544" cy="123363"/>
          </a:xfrm>
        </p:grpSpPr>
        <p:sp>
          <p:nvSpPr>
            <p:cNvPr id="3076" name="Rectangle 3079">
              <a:extLst>
                <a:ext uri="{FF2B5EF4-FFF2-40B4-BE49-F238E27FC236}">
                  <a16:creationId xmlns:a16="http://schemas.microsoft.com/office/drawing/2014/main" id="{1129F4A2-3705-CF87-3DDA-AF9CE9389B97}"/>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rot="16200000">
              <a:off x="9103753" y="3770237"/>
              <a:ext cx="123362" cy="4300544"/>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7" name="Rectangle 3080">
              <a:extLst>
                <a:ext uri="{FF2B5EF4-FFF2-40B4-BE49-F238E27FC236}">
                  <a16:creationId xmlns:a16="http://schemas.microsoft.com/office/drawing/2014/main" id="{891B1028-FC76-5583-3A1F-5815A7DCF9D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rot="16200000">
              <a:off x="10209789" y="4876274"/>
              <a:ext cx="123362" cy="2088471"/>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121686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4ADF87A-60D4-3B8A-740E-74F6AB876FC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CC5DA9E-8363-20E0-2F3E-26519D6BA0A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a:extLst>
              <a:ext uri="{FF2B5EF4-FFF2-40B4-BE49-F238E27FC236}">
                <a16:creationId xmlns:a16="http://schemas.microsoft.com/office/drawing/2014/main" id="{C13AE834-BEE4-D500-292D-540C42430D0F}"/>
              </a:ext>
            </a:extLst>
          </p:cNvPr>
          <p:cNvSpPr>
            <a:spLocks noGrp="1"/>
          </p:cNvSpPr>
          <p:nvPr>
            <p:ph type="title"/>
          </p:nvPr>
        </p:nvSpPr>
        <p:spPr>
          <a:xfrm>
            <a:off x="838200" y="365125"/>
            <a:ext cx="10515600" cy="1325563"/>
          </a:xfrm>
        </p:spPr>
        <p:txBody>
          <a:bodyPr>
            <a:normAutofit/>
          </a:bodyPr>
          <a:lstStyle/>
          <a:p>
            <a:r>
              <a:rPr lang="tr-TR" b="1" dirty="0">
                <a:solidFill>
                  <a:schemeClr val="tx2">
                    <a:lumMod val="75000"/>
                    <a:lumOff val="25000"/>
                  </a:schemeClr>
                </a:solidFill>
              </a:rPr>
              <a:t>Vücuda Giriş Yolları</a:t>
            </a:r>
            <a:endParaRPr lang="tr-TR" dirty="0"/>
          </a:p>
        </p:txBody>
      </p:sp>
      <p:sp>
        <p:nvSpPr>
          <p:cNvPr id="10" name="sketch line">
            <a:extLst>
              <a:ext uri="{FF2B5EF4-FFF2-40B4-BE49-F238E27FC236}">
                <a16:creationId xmlns:a16="http://schemas.microsoft.com/office/drawing/2014/main" id="{ACE2BBEA-39EF-F65C-C31F-D66012973B3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8D12A9EF-4290-B66C-9338-9B05E10260C6}"/>
              </a:ext>
            </a:extLst>
          </p:cNvPr>
          <p:cNvSpPr>
            <a:spLocks noGrp="1"/>
          </p:cNvSpPr>
          <p:nvPr>
            <p:ph idx="1"/>
          </p:nvPr>
        </p:nvSpPr>
        <p:spPr>
          <a:xfrm>
            <a:off x="669035" y="1929384"/>
            <a:ext cx="10963331" cy="4251960"/>
          </a:xfrm>
        </p:spPr>
        <p:txBody>
          <a:bodyPr>
            <a:normAutofit fontScale="85000" lnSpcReduction="20000"/>
          </a:bodyPr>
          <a:lstStyle/>
          <a:p>
            <a:pPr>
              <a:buClr>
                <a:schemeClr val="accent1"/>
              </a:buClr>
              <a:buFont typeface="Wingdings" panose="05000000000000000000" pitchFamily="2" charset="2"/>
              <a:buChar char="Ø"/>
            </a:pPr>
            <a:r>
              <a:rPr lang="tr-TR" sz="2200" dirty="0"/>
              <a:t>  </a:t>
            </a:r>
            <a:r>
              <a:rPr lang="tr-TR" u="sng" dirty="0"/>
              <a:t>Solunum yolu ile</a:t>
            </a:r>
          </a:p>
          <a:p>
            <a:pPr marL="0" indent="0">
              <a:buNone/>
            </a:pPr>
            <a:endParaRPr lang="tr-TR" sz="2400" dirty="0"/>
          </a:p>
          <a:p>
            <a:r>
              <a:rPr lang="tr-TR" sz="2400" b="1" dirty="0"/>
              <a:t>Gazlar : </a:t>
            </a:r>
            <a:r>
              <a:rPr lang="tr-TR" sz="2400" dirty="0"/>
              <a:t>Mesleki zehirlenmelerin, çoğu solunum yolu ile alınan havanın içinde bulunan klor, karbon monoksit, hidrojen sülfür, amonyak, azot dioksit, fosgen, brom , ozon gibi gazlarıdır. Bu maddeler normal sıcaklıkta ve atmosfer basıncında gaz olarak havada bulunabilir.</a:t>
            </a:r>
          </a:p>
          <a:p>
            <a:pPr marL="0" indent="0">
              <a:buNone/>
            </a:pPr>
            <a:endParaRPr lang="tr-TR" sz="2400" dirty="0"/>
          </a:p>
          <a:p>
            <a:r>
              <a:rPr lang="tr-TR" sz="2400" b="1" dirty="0"/>
              <a:t>Buharlar: </a:t>
            </a:r>
            <a:r>
              <a:rPr lang="tr-TR" sz="2400" dirty="0"/>
              <a:t>Normal sıcaklıkta ve atmosfer basıncında buharlaşabilen , gaz veya sıvı maddelerin havada bulunan buharlarıdır.</a:t>
            </a:r>
          </a:p>
          <a:p>
            <a:pPr marL="0" indent="0">
              <a:buNone/>
            </a:pPr>
            <a:endParaRPr lang="tr-TR" sz="2400" dirty="0"/>
          </a:p>
          <a:p>
            <a:r>
              <a:rPr lang="tr-TR" sz="2400" b="1" dirty="0"/>
              <a:t>Sisler (</a:t>
            </a:r>
            <a:r>
              <a:rPr lang="tr-TR" sz="2400" b="1" dirty="0" err="1"/>
              <a:t>mistler</a:t>
            </a:r>
            <a:r>
              <a:rPr lang="tr-TR" sz="2400" b="1" dirty="0"/>
              <a:t>): </a:t>
            </a:r>
            <a:r>
              <a:rPr lang="tr-TR" sz="2400" dirty="0"/>
              <a:t>Bunlar, çok ince sıvı damlacıklarının havada dağılması  sonucu meydana gelirler, elektro metal kaplama tanklarında ve tabanca ile boya yapılması durumlarında olduğu gibi. </a:t>
            </a:r>
          </a:p>
          <a:p>
            <a:endParaRPr lang="tr-TR" sz="2200" dirty="0"/>
          </a:p>
        </p:txBody>
      </p:sp>
    </p:spTree>
    <p:extLst>
      <p:ext uri="{BB962C8B-B14F-4D97-AF65-F5344CB8AC3E}">
        <p14:creationId xmlns:p14="http://schemas.microsoft.com/office/powerpoint/2010/main" val="29328546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838200" y="365125"/>
            <a:ext cx="10515600" cy="1325563"/>
          </a:xfrm>
        </p:spPr>
        <p:txBody>
          <a:bodyPr>
            <a:normAutofit/>
          </a:bodyPr>
          <a:lstStyle/>
          <a:p>
            <a:r>
              <a:rPr lang="tr-TR" b="1" dirty="0">
                <a:solidFill>
                  <a:schemeClr val="tx2">
                    <a:lumMod val="75000"/>
                    <a:lumOff val="25000"/>
                  </a:schemeClr>
                </a:solidFill>
              </a:rPr>
              <a:t>Vücuda Giriş Yolları</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p:cNvSpPr>
            <a:spLocks noGrp="1"/>
          </p:cNvSpPr>
          <p:nvPr>
            <p:ph idx="1"/>
          </p:nvPr>
        </p:nvSpPr>
        <p:spPr>
          <a:xfrm>
            <a:off x="838200" y="1929384"/>
            <a:ext cx="10515600" cy="4251960"/>
          </a:xfrm>
        </p:spPr>
        <p:txBody>
          <a:bodyPr>
            <a:normAutofit fontScale="92500" lnSpcReduction="20000"/>
          </a:bodyPr>
          <a:lstStyle/>
          <a:p>
            <a:pPr marL="0" indent="0">
              <a:buNone/>
            </a:pPr>
            <a:endParaRPr lang="tr-TR" sz="2200" dirty="0"/>
          </a:p>
          <a:p>
            <a:r>
              <a:rPr lang="tr-TR" sz="2200" b="1" dirty="0"/>
              <a:t>Tozlar: </a:t>
            </a:r>
            <a:r>
              <a:rPr lang="tr-TR" sz="2200" dirty="0"/>
              <a:t>Bunların, çok ince katı madde parçacıklarının havada dağılması ile meydana gelirler. Organik ve inorganik partiküllerden oluşur. Partikül büyüklüğüne göre solunabilir, ya da üst solunum yolları ile atılabilir olmalarına göre sınıflandırılabilir. </a:t>
            </a:r>
            <a:r>
              <a:rPr lang="tr-TR" sz="2200" b="1" dirty="0"/>
              <a:t>Özellikle 0,1 ila 5 mikron </a:t>
            </a:r>
            <a:r>
              <a:rPr lang="tr-TR" sz="2200" dirty="0"/>
              <a:t>arasındaki tozlar son derece tehlikelidir. </a:t>
            </a:r>
          </a:p>
          <a:p>
            <a:pPr marL="0" indent="0">
              <a:buNone/>
            </a:pPr>
            <a:r>
              <a:rPr lang="tr-TR" sz="2200" dirty="0"/>
              <a:t>  Tahriş Edici Tozlar, Zehirli Tozlar (Kurşun, arsenik, </a:t>
            </a:r>
            <a:r>
              <a:rPr lang="tr-TR" sz="2200" dirty="0" err="1"/>
              <a:t>civa</a:t>
            </a:r>
            <a:r>
              <a:rPr lang="tr-TR" sz="2200" dirty="0"/>
              <a:t>, kadmiyum, fosfor), </a:t>
            </a:r>
            <a:r>
              <a:rPr lang="tr-TR" sz="2200" dirty="0" err="1"/>
              <a:t>Fibrosis</a:t>
            </a:r>
            <a:r>
              <a:rPr lang="tr-TR" sz="2200" dirty="0"/>
              <a:t> Yapan Tozlar(</a:t>
            </a:r>
            <a:r>
              <a:rPr lang="tr-TR" sz="2200" b="1" dirty="0"/>
              <a:t>silika</a:t>
            </a:r>
            <a:r>
              <a:rPr lang="tr-TR" sz="2200" dirty="0"/>
              <a:t> ve </a:t>
            </a:r>
            <a:r>
              <a:rPr lang="tr-TR" sz="2200" b="1" dirty="0"/>
              <a:t>asbest </a:t>
            </a:r>
            <a:r>
              <a:rPr lang="tr-TR" sz="2200" dirty="0"/>
              <a:t>tozları), İnert Tozlar, </a:t>
            </a:r>
            <a:r>
              <a:rPr lang="tr-TR" sz="2200" dirty="0" err="1"/>
              <a:t>Allerji</a:t>
            </a:r>
            <a:r>
              <a:rPr lang="tr-TR" sz="2200" dirty="0"/>
              <a:t> Yapan Tozlar</a:t>
            </a:r>
          </a:p>
          <a:p>
            <a:pPr marL="0" indent="0">
              <a:buNone/>
            </a:pPr>
            <a:endParaRPr lang="tr-TR" sz="2200" dirty="0"/>
          </a:p>
          <a:p>
            <a:r>
              <a:rPr lang="tr-TR" sz="2200" b="1" dirty="0"/>
              <a:t>Dumanlar:</a:t>
            </a:r>
            <a:r>
              <a:rPr lang="tr-TR" sz="2200" dirty="0"/>
              <a:t> Bunlar, kimyasal maddelerin meydana getirdikleri katı parçacıkların gaz halindeki dumanlarıdır. Örneğin hidroklorik asit ve amonyak buharları havada beyaz dumanlar halinde amonyum klorür meydana </a:t>
            </a:r>
            <a:r>
              <a:rPr lang="tr-TR" sz="2200" dirty="0" smtClean="0"/>
              <a:t>getirirler.</a:t>
            </a:r>
            <a:endParaRPr lang="tr-TR" sz="2200" dirty="0"/>
          </a:p>
          <a:p>
            <a:pPr marL="0" indent="0">
              <a:buNone/>
            </a:pPr>
            <a:endParaRPr lang="tr-TR" sz="2200" dirty="0"/>
          </a:p>
          <a:p>
            <a:endParaRPr lang="tr-TR" sz="2200" dirty="0"/>
          </a:p>
          <a:p>
            <a:endParaRPr lang="tr-TR" sz="2200" dirty="0"/>
          </a:p>
          <a:p>
            <a:pPr marL="0" indent="0">
              <a:buNone/>
            </a:pPr>
            <a:endParaRPr lang="tr-TR" sz="2200" dirty="0"/>
          </a:p>
          <a:p>
            <a:pPr marL="0" indent="0">
              <a:buNone/>
            </a:pPr>
            <a:endParaRPr lang="tr-TR" sz="2200" dirty="0"/>
          </a:p>
        </p:txBody>
      </p:sp>
    </p:spTree>
    <p:extLst>
      <p:ext uri="{BB962C8B-B14F-4D97-AF65-F5344CB8AC3E}">
        <p14:creationId xmlns:p14="http://schemas.microsoft.com/office/powerpoint/2010/main" val="39122907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solidFill>
                  <a:schemeClr val="tx2">
                    <a:lumMod val="75000"/>
                    <a:lumOff val="25000"/>
                  </a:schemeClr>
                </a:solidFill>
              </a:rPr>
              <a:t>Vücuda Giriş Yolları</a:t>
            </a:r>
            <a:endParaRPr lang="tr-TR" dirty="0"/>
          </a:p>
        </p:txBody>
      </p:sp>
      <p:graphicFrame>
        <p:nvGraphicFramePr>
          <p:cNvPr id="4" name="İçerik Yer Tutucusu 3"/>
          <p:cNvGraphicFramePr>
            <a:graphicFrameLocks noGrp="1"/>
          </p:cNvGraphicFramePr>
          <p:nvPr>
            <p:ph idx="1"/>
            <p:extLst>
              <p:ext uri="{D42A27DB-BD31-4B8C-83A1-F6EECF244321}">
                <p14:modId xmlns:p14="http://schemas.microsoft.com/office/powerpoint/2010/main" val="59241892"/>
              </p:ext>
            </p:extLst>
          </p:nvPr>
        </p:nvGraphicFramePr>
        <p:xfrm>
          <a:off x="1418493" y="1465604"/>
          <a:ext cx="9355014" cy="5316615"/>
        </p:xfrm>
        <a:graphic>
          <a:graphicData uri="http://schemas.openxmlformats.org/drawingml/2006/table">
            <a:tbl>
              <a:tblPr firstRow="1" firstCol="1" bandRow="1">
                <a:tableStyleId>{21E4AEA4-8DFA-4A89-87EB-49C32662AFE0}</a:tableStyleId>
              </a:tblPr>
              <a:tblGrid>
                <a:gridCol w="3118338">
                  <a:extLst>
                    <a:ext uri="{9D8B030D-6E8A-4147-A177-3AD203B41FA5}">
                      <a16:colId xmlns:a16="http://schemas.microsoft.com/office/drawing/2014/main" val="1739390313"/>
                    </a:ext>
                  </a:extLst>
                </a:gridCol>
                <a:gridCol w="3118338">
                  <a:extLst>
                    <a:ext uri="{9D8B030D-6E8A-4147-A177-3AD203B41FA5}">
                      <a16:colId xmlns:a16="http://schemas.microsoft.com/office/drawing/2014/main" val="2146454228"/>
                    </a:ext>
                  </a:extLst>
                </a:gridCol>
                <a:gridCol w="3118338">
                  <a:extLst>
                    <a:ext uri="{9D8B030D-6E8A-4147-A177-3AD203B41FA5}">
                      <a16:colId xmlns:a16="http://schemas.microsoft.com/office/drawing/2014/main" val="772877906"/>
                    </a:ext>
                  </a:extLst>
                </a:gridCol>
              </a:tblGrid>
              <a:tr h="447990">
                <a:tc>
                  <a:txBody>
                    <a:bodyPr/>
                    <a:lstStyle/>
                    <a:p>
                      <a:pPr>
                        <a:lnSpc>
                          <a:spcPct val="115000"/>
                        </a:lnSpc>
                        <a:spcAft>
                          <a:spcPts val="0"/>
                        </a:spcAft>
                      </a:pPr>
                      <a:r>
                        <a:rPr lang="en-US" sz="1800" b="1">
                          <a:effectLst/>
                        </a:rPr>
                        <a:t>Madde Türü</a:t>
                      </a:r>
                      <a:endParaRPr lang="tr-TR" sz="1800" b="1">
                        <a:effectLst/>
                        <a:latin typeface="Cambria" panose="02040503050406030204" pitchFamily="18" charset="0"/>
                        <a:ea typeface="MS Mincho"/>
                        <a:cs typeface="Times New Roman" panose="02020603050405020304" pitchFamily="18" charset="0"/>
                      </a:endParaRPr>
                    </a:p>
                  </a:txBody>
                  <a:tcPr marL="68580" marR="68580" marT="0" marB="0">
                    <a:solidFill>
                      <a:schemeClr val="accent2">
                        <a:lumMod val="75000"/>
                      </a:schemeClr>
                    </a:solidFill>
                  </a:tcPr>
                </a:tc>
                <a:tc>
                  <a:txBody>
                    <a:bodyPr/>
                    <a:lstStyle/>
                    <a:p>
                      <a:pPr>
                        <a:lnSpc>
                          <a:spcPct val="115000"/>
                        </a:lnSpc>
                        <a:spcAft>
                          <a:spcPts val="0"/>
                        </a:spcAft>
                      </a:pPr>
                      <a:r>
                        <a:rPr lang="en-US" sz="1800" b="1">
                          <a:effectLst/>
                        </a:rPr>
                        <a:t>Örnekler</a:t>
                      </a:r>
                      <a:endParaRPr lang="tr-TR" sz="1800" b="1">
                        <a:effectLst/>
                        <a:latin typeface="Cambria" panose="02040503050406030204" pitchFamily="18" charset="0"/>
                        <a:ea typeface="MS Mincho"/>
                        <a:cs typeface="Times New Roman" panose="02020603050405020304" pitchFamily="18" charset="0"/>
                      </a:endParaRPr>
                    </a:p>
                  </a:txBody>
                  <a:tcPr marL="68580" marR="68580" marT="0" marB="0">
                    <a:solidFill>
                      <a:schemeClr val="accent2">
                        <a:lumMod val="75000"/>
                      </a:schemeClr>
                    </a:solidFill>
                  </a:tcPr>
                </a:tc>
                <a:tc>
                  <a:txBody>
                    <a:bodyPr/>
                    <a:lstStyle/>
                    <a:p>
                      <a:pPr>
                        <a:lnSpc>
                          <a:spcPct val="115000"/>
                        </a:lnSpc>
                        <a:spcAft>
                          <a:spcPts val="0"/>
                        </a:spcAft>
                      </a:pPr>
                      <a:r>
                        <a:rPr lang="en-US" sz="1800" b="1">
                          <a:effectLst/>
                        </a:rPr>
                        <a:t>Görüldüğü İş Kolları / Ortamlar</a:t>
                      </a:r>
                      <a:endParaRPr lang="tr-TR" sz="1800" b="1">
                        <a:effectLst/>
                        <a:latin typeface="Cambria" panose="02040503050406030204" pitchFamily="18" charset="0"/>
                        <a:ea typeface="MS Mincho"/>
                        <a:cs typeface="Times New Roman" panose="02020603050405020304" pitchFamily="18" charset="0"/>
                      </a:endParaRPr>
                    </a:p>
                  </a:txBody>
                  <a:tcPr marL="68580" marR="68580" marT="0" marB="0">
                    <a:solidFill>
                      <a:schemeClr val="accent2">
                        <a:lumMod val="75000"/>
                      </a:schemeClr>
                    </a:solidFill>
                  </a:tcPr>
                </a:tc>
                <a:extLst>
                  <a:ext uri="{0D108BD9-81ED-4DB2-BD59-A6C34878D82A}">
                    <a16:rowId xmlns:a16="http://schemas.microsoft.com/office/drawing/2014/main" val="846796621"/>
                  </a:ext>
                </a:extLst>
              </a:tr>
              <a:tr h="904095">
                <a:tc>
                  <a:txBody>
                    <a:bodyPr/>
                    <a:lstStyle/>
                    <a:p>
                      <a:pPr>
                        <a:lnSpc>
                          <a:spcPct val="115000"/>
                        </a:lnSpc>
                        <a:spcAft>
                          <a:spcPts val="0"/>
                        </a:spcAft>
                      </a:pPr>
                      <a:r>
                        <a:rPr lang="en-US" sz="1800" b="1">
                          <a:effectLst/>
                        </a:rPr>
                        <a:t>Tozlar</a:t>
                      </a:r>
                      <a:endParaRPr lang="tr-TR" sz="1800" b="1">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600">
                          <a:effectLst/>
                        </a:rPr>
                        <a:t>Silika (kuvars), kömür tozu, asbest, un tozu</a:t>
                      </a:r>
                      <a:endParaRPr lang="tr-TR"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600">
                          <a:effectLst/>
                        </a:rPr>
                        <a:t>Maden ocakları, taş ocakları, inşaat, seramik, gıda sektörü</a:t>
                      </a:r>
                      <a:endParaRPr lang="tr-TR" sz="16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3349278380"/>
                  </a:ext>
                </a:extLst>
              </a:tr>
              <a:tr h="1132146">
                <a:tc>
                  <a:txBody>
                    <a:bodyPr/>
                    <a:lstStyle/>
                    <a:p>
                      <a:pPr>
                        <a:lnSpc>
                          <a:spcPct val="115000"/>
                        </a:lnSpc>
                        <a:spcAft>
                          <a:spcPts val="0"/>
                        </a:spcAft>
                      </a:pPr>
                      <a:r>
                        <a:rPr lang="en-US" sz="1800" b="1">
                          <a:effectLst/>
                        </a:rPr>
                        <a:t>Gazlar</a:t>
                      </a:r>
                      <a:endParaRPr lang="tr-TR" sz="1800" b="1">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600">
                          <a:effectLst/>
                        </a:rPr>
                        <a:t>Karbon monoksit (CO), kükürt dioksit (SO₂), amonyak (NH₃), hidrojen sülfür (H₂S)</a:t>
                      </a:r>
                      <a:endParaRPr lang="tr-TR"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600">
                          <a:effectLst/>
                        </a:rPr>
                        <a:t>Kazan daireleri, metal sanayi, kimya tesisleri, kanalizasyon</a:t>
                      </a:r>
                      <a:endParaRPr lang="tr-TR" sz="16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462635891"/>
                  </a:ext>
                </a:extLst>
              </a:tr>
              <a:tr h="904095">
                <a:tc>
                  <a:txBody>
                    <a:bodyPr/>
                    <a:lstStyle/>
                    <a:p>
                      <a:pPr>
                        <a:lnSpc>
                          <a:spcPct val="115000"/>
                        </a:lnSpc>
                        <a:spcAft>
                          <a:spcPts val="0"/>
                        </a:spcAft>
                      </a:pPr>
                      <a:r>
                        <a:rPr lang="en-US" sz="1800" b="1">
                          <a:effectLst/>
                        </a:rPr>
                        <a:t>Buharlar</a:t>
                      </a:r>
                      <a:endParaRPr lang="tr-TR" sz="1800" b="1">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600">
                          <a:effectLst/>
                        </a:rPr>
                        <a:t>Benzin buharı, toluen, ksilen, cıva buharı</a:t>
                      </a:r>
                      <a:endParaRPr lang="tr-TR"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600">
                          <a:effectLst/>
                        </a:rPr>
                        <a:t>Akaryakıt istasyonları, boya işleri, laboratuvarlar</a:t>
                      </a:r>
                      <a:endParaRPr lang="tr-TR" sz="16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3886367815"/>
                  </a:ext>
                </a:extLst>
              </a:tr>
              <a:tr h="676043">
                <a:tc>
                  <a:txBody>
                    <a:bodyPr/>
                    <a:lstStyle/>
                    <a:p>
                      <a:pPr>
                        <a:lnSpc>
                          <a:spcPct val="115000"/>
                        </a:lnSpc>
                        <a:spcAft>
                          <a:spcPts val="0"/>
                        </a:spcAft>
                      </a:pPr>
                      <a:r>
                        <a:rPr lang="en-US" sz="1800" b="1">
                          <a:effectLst/>
                        </a:rPr>
                        <a:t>Dumanlar</a:t>
                      </a:r>
                      <a:endParaRPr lang="tr-TR" sz="1800" b="1">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600">
                          <a:effectLst/>
                        </a:rPr>
                        <a:t>Kaynak dumanı, kurşun, çinko, kadmiyum dumanları</a:t>
                      </a:r>
                      <a:endParaRPr lang="tr-TR"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600">
                          <a:effectLst/>
                        </a:rPr>
                        <a:t>Kaynak ve lehimleme işleri, metal imalatı</a:t>
                      </a:r>
                      <a:endParaRPr lang="tr-TR" sz="16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942550092"/>
                  </a:ext>
                </a:extLst>
              </a:tr>
              <a:tr h="904095">
                <a:tc>
                  <a:txBody>
                    <a:bodyPr/>
                    <a:lstStyle/>
                    <a:p>
                      <a:pPr>
                        <a:lnSpc>
                          <a:spcPct val="115000"/>
                        </a:lnSpc>
                        <a:spcAft>
                          <a:spcPts val="0"/>
                        </a:spcAft>
                      </a:pPr>
                      <a:r>
                        <a:rPr lang="en-US" sz="1800" b="1">
                          <a:effectLst/>
                        </a:rPr>
                        <a:t>Aerosoller / Sisler</a:t>
                      </a:r>
                      <a:endParaRPr lang="tr-TR" sz="1800" b="1">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600">
                          <a:effectLst/>
                        </a:rPr>
                        <a:t>Sülfürik asit sisi, pestisit aerosolleri, yağ sisleri</a:t>
                      </a:r>
                      <a:endParaRPr lang="tr-TR"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600">
                          <a:effectLst/>
                        </a:rPr>
                        <a:t>Akü üretimi, tarım ilaçlaması, metal işleme tezgâhları</a:t>
                      </a:r>
                      <a:endParaRPr lang="tr-TR" sz="16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650437591"/>
                  </a:ext>
                </a:extLst>
              </a:tr>
            </a:tbl>
          </a:graphicData>
        </a:graphic>
      </p:graphicFrame>
    </p:spTree>
    <p:extLst>
      <p:ext uri="{BB962C8B-B14F-4D97-AF65-F5344CB8AC3E}">
        <p14:creationId xmlns:p14="http://schemas.microsoft.com/office/powerpoint/2010/main" val="137492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838200" y="365125"/>
            <a:ext cx="10515600" cy="1325563"/>
          </a:xfrm>
        </p:spPr>
        <p:txBody>
          <a:bodyPr>
            <a:normAutofit/>
          </a:bodyPr>
          <a:lstStyle/>
          <a:p>
            <a:r>
              <a:rPr lang="tr-TR" b="1" dirty="0">
                <a:solidFill>
                  <a:schemeClr val="tx2">
                    <a:lumMod val="75000"/>
                    <a:lumOff val="25000"/>
                  </a:schemeClr>
                </a:solidFill>
              </a:rPr>
              <a:t>Vücuda Giriş Yolları</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p:cNvSpPr>
            <a:spLocks noGrp="1"/>
          </p:cNvSpPr>
          <p:nvPr>
            <p:ph idx="1"/>
          </p:nvPr>
        </p:nvSpPr>
        <p:spPr>
          <a:xfrm>
            <a:off x="838199" y="1929383"/>
            <a:ext cx="10959059" cy="4726249"/>
          </a:xfrm>
        </p:spPr>
        <p:txBody>
          <a:bodyPr>
            <a:normAutofit fontScale="77500" lnSpcReduction="20000"/>
          </a:bodyPr>
          <a:lstStyle/>
          <a:p>
            <a:pPr>
              <a:buClr>
                <a:schemeClr val="accent1"/>
              </a:buClr>
              <a:buFont typeface="Wingdings" panose="05000000000000000000" pitchFamily="2" charset="2"/>
              <a:buChar char="Ø"/>
            </a:pPr>
            <a:r>
              <a:rPr lang="tr-TR" sz="1500" u="sng" dirty="0"/>
              <a:t> </a:t>
            </a:r>
            <a:r>
              <a:rPr lang="tr-TR" sz="2600" u="sng" dirty="0"/>
              <a:t>Deriye temas yolu ile</a:t>
            </a:r>
          </a:p>
          <a:p>
            <a:pPr marL="0" indent="0">
              <a:buNone/>
            </a:pPr>
            <a:endParaRPr lang="tr-TR" sz="2000" u="sng" dirty="0"/>
          </a:p>
          <a:p>
            <a:pPr marL="0" indent="0">
              <a:buNone/>
            </a:pPr>
            <a:r>
              <a:rPr lang="tr-TR" sz="2000" dirty="0"/>
              <a:t>  </a:t>
            </a:r>
            <a:r>
              <a:rPr lang="tr-TR" sz="2200" dirty="0"/>
              <a:t>Deri yolu ile </a:t>
            </a:r>
            <a:r>
              <a:rPr lang="tr-TR" sz="2200" dirty="0" err="1"/>
              <a:t>absorbe</a:t>
            </a:r>
            <a:r>
              <a:rPr lang="tr-TR" sz="2200" dirty="0"/>
              <a:t> edilme, doğrudan doğruya deriye temas etme ile meydana gelir. Asitler, alkaliler, solventler, yağlar, formaldehit, krom veya nikel, bazı organik tozlar, epoksi sertleştiriciler, neftyağı cilt için tehlikelidir.</a:t>
            </a:r>
          </a:p>
          <a:p>
            <a:pPr marL="0" indent="0">
              <a:buNone/>
            </a:pPr>
            <a:endParaRPr lang="tr-TR" sz="2200" dirty="0"/>
          </a:p>
          <a:p>
            <a:r>
              <a:rPr lang="tr-TR" sz="2200" b="1" dirty="0"/>
              <a:t>Öldürücü zehirlenmeler:</a:t>
            </a:r>
            <a:r>
              <a:rPr lang="tr-TR" sz="2200" dirty="0"/>
              <a:t> </a:t>
            </a:r>
            <a:r>
              <a:rPr lang="tr-TR" sz="2200" dirty="0" err="1"/>
              <a:t>Nisbeten</a:t>
            </a:r>
            <a:r>
              <a:rPr lang="tr-TR" sz="2200" dirty="0"/>
              <a:t>, çok az miktarlardaki zehirli maddeler </a:t>
            </a:r>
            <a:r>
              <a:rPr lang="tr-TR" sz="2200" dirty="0" err="1"/>
              <a:t>absorbe</a:t>
            </a:r>
            <a:r>
              <a:rPr lang="tr-TR" sz="2200" dirty="0"/>
              <a:t> edilebilir. Fakat, anilin, kurşun tetra etil veya hidrojen siyanür asidinin deriye kısa süre teması çok büyük tehlikeler meydana getirebilir.</a:t>
            </a:r>
          </a:p>
          <a:p>
            <a:pPr marL="0" indent="0">
              <a:buNone/>
            </a:pPr>
            <a:endParaRPr lang="tr-TR" sz="2200" dirty="0"/>
          </a:p>
          <a:p>
            <a:r>
              <a:rPr lang="tr-TR" sz="2200" b="1" dirty="0"/>
              <a:t>Tahriş Edici Maddeler</a:t>
            </a:r>
            <a:r>
              <a:rPr lang="tr-TR" sz="2200" dirty="0"/>
              <a:t>: Bunlar, doğrudan doğruya deriye (cilde) etki ederler. Kuvvetli asitler (sülfürik asit, nitrik asit, </a:t>
            </a:r>
            <a:r>
              <a:rPr lang="tr-TR" sz="2200" dirty="0" err="1"/>
              <a:t>hidro</a:t>
            </a:r>
            <a:r>
              <a:rPr lang="tr-TR" sz="2200" dirty="0"/>
              <a:t> </a:t>
            </a:r>
            <a:r>
              <a:rPr lang="tr-TR" sz="2200" dirty="0" err="1"/>
              <a:t>florik</a:t>
            </a:r>
            <a:r>
              <a:rPr lang="tr-TR" sz="2200" dirty="0"/>
              <a:t> asit vb.). Bazlar (sodyum hidroksit – kostik, potasyum hidroksit, kireç vb.), klor, flor, brom, fenol vb.</a:t>
            </a:r>
          </a:p>
          <a:p>
            <a:pPr marL="0" indent="0">
              <a:buNone/>
            </a:pPr>
            <a:endParaRPr lang="tr-TR" sz="2200" dirty="0"/>
          </a:p>
          <a:p>
            <a:r>
              <a:rPr lang="tr-TR" sz="2200" b="1" dirty="0"/>
              <a:t>Çözücüler</a:t>
            </a:r>
            <a:r>
              <a:rPr lang="tr-TR" sz="2200" dirty="0"/>
              <a:t>: Bunlar, doğrudan doğruya deriyi tahriş etmezler ancak, bakterilere karşı derinin direncini azaltırlar. (</a:t>
            </a:r>
            <a:r>
              <a:rPr lang="tr-TR" sz="2200" b="1" dirty="0" err="1"/>
              <a:t>Dermatosis</a:t>
            </a:r>
            <a:r>
              <a:rPr lang="tr-TR" sz="2200" b="1" dirty="0"/>
              <a:t>)</a:t>
            </a:r>
            <a:r>
              <a:rPr lang="tr-TR" sz="2200" dirty="0"/>
              <a:t> Örneğin: Benzin, Gazyağı ve Alkol vb.)</a:t>
            </a:r>
          </a:p>
          <a:p>
            <a:endParaRPr lang="tr-TR" sz="2000" dirty="0"/>
          </a:p>
          <a:p>
            <a:pPr marL="0" indent="0">
              <a:buNone/>
            </a:pPr>
            <a:endParaRPr lang="tr-TR" sz="1500" dirty="0"/>
          </a:p>
        </p:txBody>
      </p:sp>
    </p:spTree>
    <p:extLst>
      <p:ext uri="{BB962C8B-B14F-4D97-AF65-F5344CB8AC3E}">
        <p14:creationId xmlns:p14="http://schemas.microsoft.com/office/powerpoint/2010/main" val="24143399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İçerik Yer Tutucusu 3"/>
          <p:cNvGraphicFramePr>
            <a:graphicFrameLocks noGrp="1"/>
          </p:cNvGraphicFramePr>
          <p:nvPr>
            <p:ph idx="1"/>
            <p:extLst>
              <p:ext uri="{D42A27DB-BD31-4B8C-83A1-F6EECF244321}">
                <p14:modId xmlns:p14="http://schemas.microsoft.com/office/powerpoint/2010/main" val="2200909551"/>
              </p:ext>
            </p:extLst>
          </p:nvPr>
        </p:nvGraphicFramePr>
        <p:xfrm>
          <a:off x="633047" y="689317"/>
          <a:ext cx="11211951" cy="5866998"/>
        </p:xfrm>
        <a:graphic>
          <a:graphicData uri="http://schemas.openxmlformats.org/drawingml/2006/table">
            <a:tbl>
              <a:tblPr firstRow="1" firstCol="1" bandRow="1">
                <a:tableStyleId>{F5AB1C69-6EDB-4FF4-983F-18BD219EF322}</a:tableStyleId>
              </a:tblPr>
              <a:tblGrid>
                <a:gridCol w="3737317">
                  <a:extLst>
                    <a:ext uri="{9D8B030D-6E8A-4147-A177-3AD203B41FA5}">
                      <a16:colId xmlns:a16="http://schemas.microsoft.com/office/drawing/2014/main" val="3376770802"/>
                    </a:ext>
                  </a:extLst>
                </a:gridCol>
                <a:gridCol w="3737317">
                  <a:extLst>
                    <a:ext uri="{9D8B030D-6E8A-4147-A177-3AD203B41FA5}">
                      <a16:colId xmlns:a16="http://schemas.microsoft.com/office/drawing/2014/main" val="1000069158"/>
                    </a:ext>
                  </a:extLst>
                </a:gridCol>
                <a:gridCol w="3737317">
                  <a:extLst>
                    <a:ext uri="{9D8B030D-6E8A-4147-A177-3AD203B41FA5}">
                      <a16:colId xmlns:a16="http://schemas.microsoft.com/office/drawing/2014/main" val="1408260320"/>
                    </a:ext>
                  </a:extLst>
                </a:gridCol>
              </a:tblGrid>
              <a:tr h="483482">
                <a:tc>
                  <a:txBody>
                    <a:bodyPr/>
                    <a:lstStyle/>
                    <a:p>
                      <a:pPr>
                        <a:lnSpc>
                          <a:spcPct val="115000"/>
                        </a:lnSpc>
                        <a:spcAft>
                          <a:spcPts val="0"/>
                        </a:spcAft>
                      </a:pPr>
                      <a:r>
                        <a:rPr lang="en-US" sz="1800" dirty="0" err="1">
                          <a:effectLst/>
                        </a:rPr>
                        <a:t>Madde</a:t>
                      </a:r>
                      <a:r>
                        <a:rPr lang="en-US" sz="1800" dirty="0">
                          <a:effectLst/>
                        </a:rPr>
                        <a:t> </a:t>
                      </a:r>
                      <a:r>
                        <a:rPr lang="en-US" sz="1800" dirty="0" err="1">
                          <a:effectLst/>
                        </a:rPr>
                        <a:t>Türü</a:t>
                      </a:r>
                      <a:endParaRPr lang="tr-TR" sz="18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800">
                          <a:effectLst/>
                        </a:rPr>
                        <a:t>Örnek Maddeler</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800">
                          <a:effectLst/>
                        </a:rPr>
                        <a:t>Görüldüğü İş Kolları / Ortamlar</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2633638147"/>
                  </a:ext>
                </a:extLst>
              </a:tr>
              <a:tr h="725223">
                <a:tc>
                  <a:txBody>
                    <a:bodyPr/>
                    <a:lstStyle/>
                    <a:p>
                      <a:pPr>
                        <a:lnSpc>
                          <a:spcPct val="115000"/>
                        </a:lnSpc>
                        <a:spcAft>
                          <a:spcPts val="0"/>
                        </a:spcAft>
                      </a:pPr>
                      <a:r>
                        <a:rPr lang="en-US" sz="1800" dirty="0" err="1">
                          <a:effectLst/>
                        </a:rPr>
                        <a:t>Asit</a:t>
                      </a:r>
                      <a:r>
                        <a:rPr lang="en-US" sz="1800" dirty="0">
                          <a:effectLst/>
                        </a:rPr>
                        <a:t> </a:t>
                      </a:r>
                      <a:r>
                        <a:rPr lang="en-US" sz="1800" dirty="0" err="1">
                          <a:effectLst/>
                        </a:rPr>
                        <a:t>ve</a:t>
                      </a:r>
                      <a:r>
                        <a:rPr lang="en-US" sz="1800" dirty="0">
                          <a:effectLst/>
                        </a:rPr>
                        <a:t> </a:t>
                      </a:r>
                      <a:r>
                        <a:rPr lang="en-US" sz="1800" dirty="0" err="1">
                          <a:effectLst/>
                        </a:rPr>
                        <a:t>Bazlar</a:t>
                      </a:r>
                      <a:endParaRPr lang="tr-TR" sz="18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800">
                          <a:effectLst/>
                        </a:rPr>
                        <a:t>Sülfürik asit, hidroklorik asit, sodyum hidroksit</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800">
                          <a:effectLst/>
                        </a:rPr>
                        <a:t>Kimya sanayi, akü üretimi, laboratuvarlar</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1082324943"/>
                  </a:ext>
                </a:extLst>
              </a:tr>
              <a:tr h="725223">
                <a:tc>
                  <a:txBody>
                    <a:bodyPr/>
                    <a:lstStyle/>
                    <a:p>
                      <a:pPr>
                        <a:lnSpc>
                          <a:spcPct val="115000"/>
                        </a:lnSpc>
                        <a:spcAft>
                          <a:spcPts val="0"/>
                        </a:spcAft>
                      </a:pPr>
                      <a:r>
                        <a:rPr lang="en-US" sz="1800" dirty="0" err="1">
                          <a:effectLst/>
                        </a:rPr>
                        <a:t>Organik</a:t>
                      </a:r>
                      <a:r>
                        <a:rPr lang="en-US" sz="1800" dirty="0">
                          <a:effectLst/>
                        </a:rPr>
                        <a:t> </a:t>
                      </a:r>
                      <a:r>
                        <a:rPr lang="en-US" sz="1800" dirty="0" err="1">
                          <a:effectLst/>
                        </a:rPr>
                        <a:t>Solventler</a:t>
                      </a:r>
                      <a:endParaRPr lang="tr-TR" sz="18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800" dirty="0" err="1">
                          <a:effectLst/>
                        </a:rPr>
                        <a:t>Toluen</a:t>
                      </a:r>
                      <a:r>
                        <a:rPr lang="en-US" sz="1800" dirty="0">
                          <a:effectLst/>
                        </a:rPr>
                        <a:t>, </a:t>
                      </a:r>
                      <a:r>
                        <a:rPr lang="en-US" sz="1800" dirty="0" err="1">
                          <a:effectLst/>
                        </a:rPr>
                        <a:t>ksilen</a:t>
                      </a:r>
                      <a:r>
                        <a:rPr lang="en-US" sz="1800" dirty="0">
                          <a:effectLst/>
                        </a:rPr>
                        <a:t>, </a:t>
                      </a:r>
                      <a:r>
                        <a:rPr lang="en-US" sz="1800" dirty="0" err="1">
                          <a:effectLst/>
                        </a:rPr>
                        <a:t>benzen</a:t>
                      </a:r>
                      <a:r>
                        <a:rPr lang="en-US" sz="1800" dirty="0">
                          <a:effectLst/>
                        </a:rPr>
                        <a:t>, </a:t>
                      </a:r>
                      <a:r>
                        <a:rPr lang="en-US" sz="1800" dirty="0" err="1">
                          <a:effectLst/>
                        </a:rPr>
                        <a:t>aseton</a:t>
                      </a:r>
                      <a:endParaRPr lang="tr-TR" sz="18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800">
                          <a:effectLst/>
                        </a:rPr>
                        <a:t>Boya işleri, matbaa, temizlik ve kaplama işleri</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2030845976"/>
                  </a:ext>
                </a:extLst>
              </a:tr>
              <a:tr h="483482">
                <a:tc>
                  <a:txBody>
                    <a:bodyPr/>
                    <a:lstStyle/>
                    <a:p>
                      <a:pPr>
                        <a:lnSpc>
                          <a:spcPct val="115000"/>
                        </a:lnSpc>
                        <a:spcAft>
                          <a:spcPts val="0"/>
                        </a:spcAft>
                      </a:pPr>
                      <a:r>
                        <a:rPr lang="en-US" sz="1800">
                          <a:effectLst/>
                        </a:rPr>
                        <a:t>Yağlar ve Gresler</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800" dirty="0">
                          <a:effectLst/>
                        </a:rPr>
                        <a:t>Mineral </a:t>
                      </a:r>
                      <a:r>
                        <a:rPr lang="en-US" sz="1800" dirty="0" err="1">
                          <a:effectLst/>
                        </a:rPr>
                        <a:t>yağlar</a:t>
                      </a:r>
                      <a:r>
                        <a:rPr lang="en-US" sz="1800" dirty="0">
                          <a:effectLst/>
                        </a:rPr>
                        <a:t>, </a:t>
                      </a:r>
                      <a:r>
                        <a:rPr lang="en-US" sz="1800" dirty="0" err="1">
                          <a:effectLst/>
                        </a:rPr>
                        <a:t>kesme</a:t>
                      </a:r>
                      <a:r>
                        <a:rPr lang="en-US" sz="1800" dirty="0">
                          <a:effectLst/>
                        </a:rPr>
                        <a:t> </a:t>
                      </a:r>
                      <a:r>
                        <a:rPr lang="en-US" sz="1800" dirty="0" err="1">
                          <a:effectLst/>
                        </a:rPr>
                        <a:t>yağları</a:t>
                      </a:r>
                      <a:endParaRPr lang="tr-TR" sz="18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800">
                          <a:effectLst/>
                        </a:rPr>
                        <a:t>Metal işleme, makine bakım-onarım</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3462927814"/>
                  </a:ext>
                </a:extLst>
              </a:tr>
              <a:tr h="483482">
                <a:tc>
                  <a:txBody>
                    <a:bodyPr/>
                    <a:lstStyle/>
                    <a:p>
                      <a:pPr>
                        <a:lnSpc>
                          <a:spcPct val="115000"/>
                        </a:lnSpc>
                        <a:spcAft>
                          <a:spcPts val="0"/>
                        </a:spcAft>
                      </a:pPr>
                      <a:r>
                        <a:rPr lang="en-US" sz="1800">
                          <a:effectLst/>
                        </a:rPr>
                        <a:t>Ağır Metaller</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800" dirty="0" err="1">
                          <a:effectLst/>
                        </a:rPr>
                        <a:t>Cıva</a:t>
                      </a:r>
                      <a:r>
                        <a:rPr lang="en-US" sz="1800" dirty="0">
                          <a:effectLst/>
                        </a:rPr>
                        <a:t>, </a:t>
                      </a:r>
                      <a:r>
                        <a:rPr lang="en-US" sz="1800" dirty="0" err="1">
                          <a:effectLst/>
                        </a:rPr>
                        <a:t>kurşun</a:t>
                      </a:r>
                      <a:r>
                        <a:rPr lang="en-US" sz="1800" dirty="0">
                          <a:effectLst/>
                        </a:rPr>
                        <a:t>, </a:t>
                      </a:r>
                      <a:r>
                        <a:rPr lang="en-US" sz="1800" dirty="0" err="1">
                          <a:effectLst/>
                        </a:rPr>
                        <a:t>nikel</a:t>
                      </a:r>
                      <a:r>
                        <a:rPr lang="en-US" sz="1800" dirty="0">
                          <a:effectLst/>
                        </a:rPr>
                        <a:t>, </a:t>
                      </a:r>
                      <a:r>
                        <a:rPr lang="en-US" sz="1800" dirty="0" err="1">
                          <a:effectLst/>
                        </a:rPr>
                        <a:t>krom</a:t>
                      </a:r>
                      <a:endParaRPr lang="tr-TR" sz="18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800">
                          <a:effectLst/>
                        </a:rPr>
                        <a:t>Kaplama tesisleri, pil-akü üretimi</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3684273659"/>
                  </a:ext>
                </a:extLst>
              </a:tr>
              <a:tr h="483482">
                <a:tc>
                  <a:txBody>
                    <a:bodyPr/>
                    <a:lstStyle/>
                    <a:p>
                      <a:pPr>
                        <a:lnSpc>
                          <a:spcPct val="115000"/>
                        </a:lnSpc>
                        <a:spcAft>
                          <a:spcPts val="0"/>
                        </a:spcAft>
                      </a:pPr>
                      <a:r>
                        <a:rPr lang="en-US" sz="1800">
                          <a:effectLst/>
                        </a:rPr>
                        <a:t>Pestisitler</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800" dirty="0" err="1">
                          <a:effectLst/>
                        </a:rPr>
                        <a:t>Organofosfatlar</a:t>
                      </a:r>
                      <a:r>
                        <a:rPr lang="en-US" sz="1800" dirty="0">
                          <a:effectLst/>
                        </a:rPr>
                        <a:t>, </a:t>
                      </a:r>
                      <a:r>
                        <a:rPr lang="en-US" sz="1800" dirty="0" err="1">
                          <a:effectLst/>
                        </a:rPr>
                        <a:t>karbamatlar</a:t>
                      </a:r>
                      <a:endParaRPr lang="tr-TR" sz="18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800">
                          <a:effectLst/>
                        </a:rPr>
                        <a:t>Tarım ilaçlaması, sera çalışmaları</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3903684072"/>
                  </a:ext>
                </a:extLst>
              </a:tr>
              <a:tr h="483482">
                <a:tc>
                  <a:txBody>
                    <a:bodyPr/>
                    <a:lstStyle/>
                    <a:p>
                      <a:pPr>
                        <a:lnSpc>
                          <a:spcPct val="115000"/>
                        </a:lnSpc>
                        <a:spcAft>
                          <a:spcPts val="0"/>
                        </a:spcAft>
                      </a:pPr>
                      <a:r>
                        <a:rPr lang="en-US" sz="1800">
                          <a:effectLst/>
                        </a:rPr>
                        <a:t>Reçine ve Sertleştiriciler</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800" dirty="0" err="1">
                          <a:effectLst/>
                        </a:rPr>
                        <a:t>Epoksi</a:t>
                      </a:r>
                      <a:r>
                        <a:rPr lang="en-US" sz="1800" dirty="0">
                          <a:effectLst/>
                        </a:rPr>
                        <a:t> </a:t>
                      </a:r>
                      <a:r>
                        <a:rPr lang="en-US" sz="1800" dirty="0" err="1">
                          <a:effectLst/>
                        </a:rPr>
                        <a:t>reçineler</a:t>
                      </a:r>
                      <a:r>
                        <a:rPr lang="en-US" sz="1800" dirty="0">
                          <a:effectLst/>
                        </a:rPr>
                        <a:t>, </a:t>
                      </a:r>
                      <a:r>
                        <a:rPr lang="en-US" sz="1800" dirty="0" err="1">
                          <a:effectLst/>
                        </a:rPr>
                        <a:t>aminler</a:t>
                      </a:r>
                      <a:endParaRPr lang="tr-TR" sz="18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800">
                          <a:effectLst/>
                        </a:rPr>
                        <a:t>Kompozit üretimi, yapı kimyasalları</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485949444"/>
                  </a:ext>
                </a:extLst>
              </a:tr>
              <a:tr h="483482">
                <a:tc>
                  <a:txBody>
                    <a:bodyPr/>
                    <a:lstStyle/>
                    <a:p>
                      <a:pPr>
                        <a:lnSpc>
                          <a:spcPct val="115000"/>
                        </a:lnSpc>
                        <a:spcAft>
                          <a:spcPts val="0"/>
                        </a:spcAft>
                      </a:pPr>
                      <a:r>
                        <a:rPr lang="en-US" sz="1800">
                          <a:effectLst/>
                        </a:rPr>
                        <a:t>Deterjan ve Temizleyiciler</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800" dirty="0" err="1">
                          <a:effectLst/>
                        </a:rPr>
                        <a:t>Güçlü</a:t>
                      </a:r>
                      <a:r>
                        <a:rPr lang="en-US" sz="1800" dirty="0">
                          <a:effectLst/>
                        </a:rPr>
                        <a:t> alkali </a:t>
                      </a:r>
                      <a:r>
                        <a:rPr lang="en-US" sz="1800" dirty="0" err="1">
                          <a:effectLst/>
                        </a:rPr>
                        <a:t>ve</a:t>
                      </a:r>
                      <a:r>
                        <a:rPr lang="en-US" sz="1800" dirty="0">
                          <a:effectLst/>
                        </a:rPr>
                        <a:t> </a:t>
                      </a:r>
                      <a:r>
                        <a:rPr lang="en-US" sz="1800" dirty="0" err="1">
                          <a:effectLst/>
                        </a:rPr>
                        <a:t>asidik</a:t>
                      </a:r>
                      <a:r>
                        <a:rPr lang="en-US" sz="1800" dirty="0">
                          <a:effectLst/>
                        </a:rPr>
                        <a:t> </a:t>
                      </a:r>
                      <a:r>
                        <a:rPr lang="en-US" sz="1800" dirty="0" err="1">
                          <a:effectLst/>
                        </a:rPr>
                        <a:t>temizleyiciler</a:t>
                      </a:r>
                      <a:endParaRPr lang="tr-TR" sz="18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800">
                          <a:effectLst/>
                        </a:rPr>
                        <a:t>Hastaneler, temizlik hizmetleri</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2425689694"/>
                  </a:ext>
                </a:extLst>
              </a:tr>
              <a:tr h="483482">
                <a:tc>
                  <a:txBody>
                    <a:bodyPr/>
                    <a:lstStyle/>
                    <a:p>
                      <a:pPr>
                        <a:lnSpc>
                          <a:spcPct val="115000"/>
                        </a:lnSpc>
                        <a:spcAft>
                          <a:spcPts val="0"/>
                        </a:spcAft>
                      </a:pPr>
                      <a:r>
                        <a:rPr lang="en-US" sz="1800">
                          <a:effectLst/>
                        </a:rPr>
                        <a:t>Katran ve Bitüm</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800" dirty="0" err="1">
                          <a:effectLst/>
                        </a:rPr>
                        <a:t>Katran</a:t>
                      </a:r>
                      <a:r>
                        <a:rPr lang="en-US" sz="1800" dirty="0">
                          <a:effectLst/>
                        </a:rPr>
                        <a:t>, </a:t>
                      </a:r>
                      <a:r>
                        <a:rPr lang="en-US" sz="1800" dirty="0" err="1">
                          <a:effectLst/>
                        </a:rPr>
                        <a:t>asfalt</a:t>
                      </a:r>
                      <a:endParaRPr lang="tr-TR" sz="18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800" dirty="0" err="1">
                          <a:effectLst/>
                        </a:rPr>
                        <a:t>Yol</a:t>
                      </a:r>
                      <a:r>
                        <a:rPr lang="en-US" sz="1800" dirty="0">
                          <a:effectLst/>
                        </a:rPr>
                        <a:t> </a:t>
                      </a:r>
                      <a:r>
                        <a:rPr lang="en-US" sz="1800" dirty="0" err="1">
                          <a:effectLst/>
                        </a:rPr>
                        <a:t>yapım</a:t>
                      </a:r>
                      <a:r>
                        <a:rPr lang="en-US" sz="1800" dirty="0">
                          <a:effectLst/>
                        </a:rPr>
                        <a:t> </a:t>
                      </a:r>
                      <a:r>
                        <a:rPr lang="en-US" sz="1800" dirty="0" err="1">
                          <a:effectLst/>
                        </a:rPr>
                        <a:t>ve</a:t>
                      </a:r>
                      <a:r>
                        <a:rPr lang="en-US" sz="1800" dirty="0">
                          <a:effectLst/>
                        </a:rPr>
                        <a:t> </a:t>
                      </a:r>
                      <a:r>
                        <a:rPr lang="en-US" sz="1800" dirty="0" err="1">
                          <a:effectLst/>
                        </a:rPr>
                        <a:t>bakım</a:t>
                      </a:r>
                      <a:r>
                        <a:rPr lang="en-US" sz="1800" dirty="0">
                          <a:effectLst/>
                        </a:rPr>
                        <a:t> </a:t>
                      </a:r>
                      <a:r>
                        <a:rPr lang="en-US" sz="1800" dirty="0" err="1">
                          <a:effectLst/>
                        </a:rPr>
                        <a:t>çalışmaları</a:t>
                      </a:r>
                      <a:endParaRPr lang="tr-TR" sz="1800" dirty="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3011015402"/>
                  </a:ext>
                </a:extLst>
              </a:tr>
            </a:tbl>
          </a:graphicData>
        </a:graphic>
      </p:graphicFrame>
    </p:spTree>
    <p:extLst>
      <p:ext uri="{BB962C8B-B14F-4D97-AF65-F5344CB8AC3E}">
        <p14:creationId xmlns:p14="http://schemas.microsoft.com/office/powerpoint/2010/main" val="33171586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838200" y="365125"/>
            <a:ext cx="10515600" cy="1325563"/>
          </a:xfrm>
        </p:spPr>
        <p:txBody>
          <a:bodyPr>
            <a:normAutofit/>
          </a:bodyPr>
          <a:lstStyle/>
          <a:p>
            <a:r>
              <a:rPr lang="tr-TR" b="1" dirty="0">
                <a:solidFill>
                  <a:schemeClr val="tx2">
                    <a:lumMod val="75000"/>
                    <a:lumOff val="25000"/>
                  </a:schemeClr>
                </a:solidFill>
              </a:rPr>
              <a:t>Vücuda Giriş Yolları</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p:cNvSpPr>
            <a:spLocks noGrp="1"/>
          </p:cNvSpPr>
          <p:nvPr>
            <p:ph idx="1"/>
          </p:nvPr>
        </p:nvSpPr>
        <p:spPr>
          <a:xfrm>
            <a:off x="838200" y="1929384"/>
            <a:ext cx="10515600" cy="4251960"/>
          </a:xfrm>
        </p:spPr>
        <p:txBody>
          <a:bodyPr>
            <a:normAutofit/>
          </a:bodyPr>
          <a:lstStyle/>
          <a:p>
            <a:pPr>
              <a:buClr>
                <a:schemeClr val="accent1"/>
              </a:buClr>
              <a:buFont typeface="Wingdings" panose="05000000000000000000" pitchFamily="2" charset="2"/>
              <a:buChar char="Ø"/>
            </a:pPr>
            <a:r>
              <a:rPr lang="tr-TR" sz="2200" u="sng" dirty="0"/>
              <a:t> Sindirim yolu ile</a:t>
            </a:r>
          </a:p>
          <a:p>
            <a:pPr marL="0" indent="0">
              <a:buNone/>
            </a:pPr>
            <a:endParaRPr lang="tr-TR" sz="2200" u="sng" dirty="0"/>
          </a:p>
          <a:p>
            <a:r>
              <a:rPr lang="tr-TR" sz="2200" dirty="0"/>
              <a:t>  Atmosferde bulunan ve salya ile karışan zehirli maddeleri yutmak, </a:t>
            </a:r>
          </a:p>
          <a:p>
            <a:r>
              <a:rPr lang="tr-TR" sz="2200" dirty="0"/>
              <a:t>  Kimyasal maddeler bulaşmış gıdaları yemek, içmek, çiğnemek ve tüttürmek</a:t>
            </a:r>
          </a:p>
          <a:p>
            <a:r>
              <a:rPr lang="tr-TR" sz="2200" dirty="0"/>
              <a:t>  Enjeksiyon yolu ile</a:t>
            </a:r>
          </a:p>
          <a:p>
            <a:r>
              <a:rPr lang="tr-TR" sz="2200" dirty="0"/>
              <a:t>  Göz tarafından </a:t>
            </a:r>
            <a:r>
              <a:rPr lang="tr-TR" sz="2200" dirty="0" err="1"/>
              <a:t>absorbe</a:t>
            </a:r>
            <a:r>
              <a:rPr lang="tr-TR" sz="2200" dirty="0"/>
              <a:t> edilerek.</a:t>
            </a:r>
          </a:p>
          <a:p>
            <a:pPr marL="0" indent="0">
              <a:buNone/>
            </a:pPr>
            <a:endParaRPr lang="tr-TR" sz="2200" dirty="0"/>
          </a:p>
        </p:txBody>
      </p:sp>
    </p:spTree>
    <p:extLst>
      <p:ext uri="{BB962C8B-B14F-4D97-AF65-F5344CB8AC3E}">
        <p14:creationId xmlns:p14="http://schemas.microsoft.com/office/powerpoint/2010/main" val="12157578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299802" y="238539"/>
            <a:ext cx="11632367" cy="1434415"/>
          </a:xfrm>
        </p:spPr>
        <p:txBody>
          <a:bodyPr anchor="b">
            <a:normAutofit fontScale="90000"/>
          </a:bodyPr>
          <a:lstStyle/>
          <a:p>
            <a:r>
              <a:rPr lang="tr-TR" sz="3000" dirty="0"/>
              <a:t/>
            </a:r>
            <a:br>
              <a:rPr lang="tr-TR" sz="3000" dirty="0"/>
            </a:br>
            <a:r>
              <a:rPr lang="tr-TR" b="1" dirty="0">
                <a:solidFill>
                  <a:srgbClr val="7030A0"/>
                </a:solidFill>
              </a:rPr>
              <a:t>Fiziksel Etkenlere (Çevresel Zararlara) Maruz Kalma</a:t>
            </a:r>
            <a:r>
              <a:rPr lang="tr-TR" sz="3000" dirty="0"/>
              <a:t/>
            </a:r>
            <a:br>
              <a:rPr lang="tr-TR" sz="3000" dirty="0"/>
            </a:br>
            <a:endParaRPr lang="tr-TR" sz="3000" dirty="0"/>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xmln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p:cNvSpPr>
            <a:spLocks noGrp="1"/>
          </p:cNvSpPr>
          <p:nvPr>
            <p:ph idx="1"/>
          </p:nvPr>
        </p:nvSpPr>
        <p:spPr>
          <a:xfrm>
            <a:off x="572493" y="2071316"/>
            <a:ext cx="6713552" cy="4119172"/>
          </a:xfrm>
        </p:spPr>
        <p:txBody>
          <a:bodyPr anchor="t">
            <a:normAutofit/>
          </a:bodyPr>
          <a:lstStyle/>
          <a:p>
            <a:pPr marL="0" indent="0">
              <a:buNone/>
            </a:pPr>
            <a:endParaRPr lang="tr-TR" sz="2200" dirty="0"/>
          </a:p>
          <a:p>
            <a:pPr>
              <a:buFont typeface="Wingdings" panose="05000000000000000000" pitchFamily="2" charset="2"/>
              <a:buChar char="Ø"/>
            </a:pPr>
            <a:endParaRPr lang="tr-TR" sz="2200" dirty="0"/>
          </a:p>
          <a:p>
            <a:pPr>
              <a:buFont typeface="Wingdings" panose="05000000000000000000" pitchFamily="2" charset="2"/>
              <a:buChar char="Ø"/>
            </a:pPr>
            <a:r>
              <a:rPr lang="tr-TR" sz="2200" dirty="0"/>
              <a:t>Titreşim – Sarsıntı – Vibrasyon</a:t>
            </a:r>
          </a:p>
          <a:p>
            <a:pPr>
              <a:buFont typeface="Wingdings" panose="05000000000000000000" pitchFamily="2" charset="2"/>
              <a:buChar char="Ø"/>
            </a:pPr>
            <a:r>
              <a:rPr lang="tr-TR" sz="2200" dirty="0"/>
              <a:t>Gürültü</a:t>
            </a:r>
          </a:p>
          <a:p>
            <a:pPr>
              <a:buFont typeface="Wingdings" panose="05000000000000000000" pitchFamily="2" charset="2"/>
              <a:buChar char="Ø"/>
            </a:pPr>
            <a:r>
              <a:rPr lang="tr-TR" sz="2200" dirty="0"/>
              <a:t>Aydınlatma</a:t>
            </a:r>
          </a:p>
          <a:p>
            <a:pPr>
              <a:buFont typeface="Wingdings" panose="05000000000000000000" pitchFamily="2" charset="2"/>
              <a:buChar char="Ø"/>
            </a:pPr>
            <a:r>
              <a:rPr lang="tr-TR" sz="2200" dirty="0"/>
              <a:t>Radyasyon – Işın Saçan Enerji</a:t>
            </a:r>
          </a:p>
        </p:txBody>
      </p:sp>
      <p:pic>
        <p:nvPicPr>
          <p:cNvPr id="4" name="Resim 3"/>
          <p:cNvPicPr>
            <a:picLocks noChangeAspect="1"/>
          </p:cNvPicPr>
          <p:nvPr/>
        </p:nvPicPr>
        <p:blipFill>
          <a:blip r:embed="rId2"/>
          <a:srcRect l="15921" r="21546" b="1"/>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28563953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5D37F4E-DDB4-456B-97E0-9937730A039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238539" y="238539"/>
            <a:ext cx="11352474" cy="1434415"/>
          </a:xfrm>
        </p:spPr>
        <p:txBody>
          <a:bodyPr anchor="b">
            <a:normAutofit fontScale="90000"/>
          </a:bodyPr>
          <a:lstStyle/>
          <a:p>
            <a:r>
              <a:rPr lang="tr-TR" sz="3000" dirty="0"/>
              <a:t/>
            </a:r>
            <a:br>
              <a:rPr lang="tr-TR" sz="3000" dirty="0"/>
            </a:br>
            <a:r>
              <a:rPr lang="tr-TR" b="1" dirty="0">
                <a:solidFill>
                  <a:srgbClr val="7030A0"/>
                </a:solidFill>
              </a:rPr>
              <a:t>Fiziksel Etkenlere (Çevresel Zararlara) Maruz Kalma</a:t>
            </a:r>
            <a:r>
              <a:rPr lang="tr-TR" sz="3000" dirty="0"/>
              <a:t/>
            </a:r>
            <a:br>
              <a:rPr lang="tr-TR" sz="3000" dirty="0"/>
            </a:br>
            <a:endParaRPr lang="tr-TR" sz="3000" dirty="0"/>
          </a:p>
        </p:txBody>
      </p:sp>
      <p:sp>
        <p:nvSpPr>
          <p:cNvPr id="17"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xmln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p:cNvSpPr>
            <a:spLocks noGrp="1"/>
          </p:cNvSpPr>
          <p:nvPr>
            <p:ph idx="1"/>
          </p:nvPr>
        </p:nvSpPr>
        <p:spPr>
          <a:xfrm>
            <a:off x="572493" y="2071316"/>
            <a:ext cx="6713552" cy="4119172"/>
          </a:xfrm>
        </p:spPr>
        <p:txBody>
          <a:bodyPr anchor="t">
            <a:normAutofit/>
          </a:bodyPr>
          <a:lstStyle/>
          <a:p>
            <a:pPr marL="0" indent="0">
              <a:buNone/>
            </a:pPr>
            <a:r>
              <a:rPr lang="tr-TR" sz="2200" u="sng" dirty="0"/>
              <a:t>Titreşim – Sarsıntı – Vibrasyon</a:t>
            </a:r>
          </a:p>
          <a:p>
            <a:endParaRPr lang="tr-TR" sz="2200" dirty="0"/>
          </a:p>
          <a:p>
            <a:pPr marL="0" indent="0">
              <a:buNone/>
            </a:pPr>
            <a:r>
              <a:rPr lang="tr-TR" sz="2200" dirty="0"/>
              <a:t>  Çalışanların vücuduna </a:t>
            </a:r>
            <a:r>
              <a:rPr lang="tr-TR" sz="2200" b="1" dirty="0"/>
              <a:t>mekanik enerjinin tekrarlı veya ani hareketler şeklinde aktarılması</a:t>
            </a:r>
            <a:r>
              <a:rPr lang="tr-TR" sz="2200" dirty="0"/>
              <a:t> sonucu ortaya çıkan sağlık risklerini ifade etmektedir.</a:t>
            </a:r>
          </a:p>
          <a:p>
            <a:pPr marL="0" indent="0">
              <a:buNone/>
            </a:pPr>
            <a:r>
              <a:rPr lang="tr-TR" sz="2200" b="1" dirty="0"/>
              <a:t>  Sarsıntı, </a:t>
            </a:r>
            <a:r>
              <a:rPr lang="tr-TR" sz="2200" dirty="0"/>
              <a:t>Genellikle </a:t>
            </a:r>
            <a:r>
              <a:rPr lang="tr-TR" sz="2200" b="1" dirty="0"/>
              <a:t>ani, düzensiz ve kısa süreli</a:t>
            </a:r>
            <a:r>
              <a:rPr lang="tr-TR" sz="2200" dirty="0"/>
              <a:t> titreşimlerdir (çarpma, zıplama, darbe gibi)</a:t>
            </a:r>
          </a:p>
        </p:txBody>
      </p:sp>
      <p:pic>
        <p:nvPicPr>
          <p:cNvPr id="4" name="Resim 3">
            <a:extLst>
              <a:ext uri="{FF2B5EF4-FFF2-40B4-BE49-F238E27FC236}">
                <a16:creationId xmlns:a16="http://schemas.microsoft.com/office/drawing/2014/main" id="{C28D6932-42D4-6A9D-0CB3-A40AB0F192EB}"/>
              </a:ext>
            </a:extLst>
          </p:cNvPr>
          <p:cNvPicPr>
            <a:picLocks noChangeAspect="1"/>
          </p:cNvPicPr>
          <p:nvPr/>
        </p:nvPicPr>
        <p:blipFill>
          <a:blip r:embed="rId2"/>
          <a:srcRect l="18383"/>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3152820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365759" y="365125"/>
            <a:ext cx="11479237" cy="1325563"/>
          </a:xfrm>
        </p:spPr>
        <p:txBody>
          <a:bodyPr>
            <a:normAutofit fontScale="90000"/>
          </a:bodyPr>
          <a:lstStyle/>
          <a:p>
            <a:r>
              <a:rPr lang="tr-TR" dirty="0"/>
              <a:t/>
            </a:r>
            <a:br>
              <a:rPr lang="tr-TR" dirty="0"/>
            </a:br>
            <a:r>
              <a:rPr lang="tr-TR" b="1" dirty="0">
                <a:solidFill>
                  <a:srgbClr val="7030A0"/>
                </a:solidFill>
              </a:rPr>
              <a:t>Fiziksel Etkenlere (Çevresel Zararlara) Maruz Kalma</a:t>
            </a:r>
            <a:r>
              <a:rPr lang="tr-TR" dirty="0"/>
              <a:t/>
            </a:r>
            <a:br>
              <a:rPr lang="tr-TR" dirty="0"/>
            </a:br>
            <a:endParaRPr lang="tr-TR" dirty="0"/>
          </a:p>
        </p:txBody>
      </p:sp>
      <p:graphicFrame>
        <p:nvGraphicFramePr>
          <p:cNvPr id="4" name="İçerik Yer Tutucusu 3"/>
          <p:cNvGraphicFramePr>
            <a:graphicFrameLocks noGrp="1"/>
          </p:cNvGraphicFramePr>
          <p:nvPr>
            <p:ph idx="1"/>
            <p:extLst>
              <p:ext uri="{D42A27DB-BD31-4B8C-83A1-F6EECF244321}">
                <p14:modId xmlns:p14="http://schemas.microsoft.com/office/powerpoint/2010/main" val="661369115"/>
              </p:ext>
            </p:extLst>
          </p:nvPr>
        </p:nvGraphicFramePr>
        <p:xfrm>
          <a:off x="1519310" y="1947326"/>
          <a:ext cx="9566031" cy="3730668"/>
        </p:xfrm>
        <a:graphic>
          <a:graphicData uri="http://schemas.openxmlformats.org/drawingml/2006/table">
            <a:tbl>
              <a:tblPr firstRow="1" firstCol="1" bandRow="1">
                <a:tableStyleId>{74C1A8A3-306A-4EB7-A6B1-4F7E0EB9C5D6}</a:tableStyleId>
              </a:tblPr>
              <a:tblGrid>
                <a:gridCol w="3188677">
                  <a:extLst>
                    <a:ext uri="{9D8B030D-6E8A-4147-A177-3AD203B41FA5}">
                      <a16:colId xmlns:a16="http://schemas.microsoft.com/office/drawing/2014/main" val="3956453200"/>
                    </a:ext>
                  </a:extLst>
                </a:gridCol>
                <a:gridCol w="3188677">
                  <a:extLst>
                    <a:ext uri="{9D8B030D-6E8A-4147-A177-3AD203B41FA5}">
                      <a16:colId xmlns:a16="http://schemas.microsoft.com/office/drawing/2014/main" val="637059657"/>
                    </a:ext>
                  </a:extLst>
                </a:gridCol>
                <a:gridCol w="3188677">
                  <a:extLst>
                    <a:ext uri="{9D8B030D-6E8A-4147-A177-3AD203B41FA5}">
                      <a16:colId xmlns:a16="http://schemas.microsoft.com/office/drawing/2014/main" val="3157264814"/>
                    </a:ext>
                  </a:extLst>
                </a:gridCol>
              </a:tblGrid>
              <a:tr h="0">
                <a:tc>
                  <a:txBody>
                    <a:bodyPr/>
                    <a:lstStyle/>
                    <a:p>
                      <a:pPr>
                        <a:lnSpc>
                          <a:spcPct val="115000"/>
                        </a:lnSpc>
                        <a:spcAft>
                          <a:spcPts val="1000"/>
                        </a:spcAft>
                      </a:pPr>
                      <a:r>
                        <a:rPr lang="en-US" sz="1800" dirty="0" err="1">
                          <a:effectLst/>
                        </a:rPr>
                        <a:t>Başlık</a:t>
                      </a:r>
                      <a:endParaRPr lang="tr-TR" sz="1800" dirty="0">
                        <a:effectLst/>
                        <a:latin typeface="+mn-lt"/>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dirty="0" err="1">
                          <a:effectLst/>
                        </a:rPr>
                        <a:t>Açıklama</a:t>
                      </a:r>
                      <a:endParaRPr lang="tr-TR" sz="1800" dirty="0">
                        <a:effectLst/>
                        <a:latin typeface="+mn-lt"/>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dirty="0" err="1">
                          <a:effectLst/>
                        </a:rPr>
                        <a:t>Örnek</a:t>
                      </a:r>
                      <a:r>
                        <a:rPr lang="en-US" sz="1800" dirty="0">
                          <a:effectLst/>
                        </a:rPr>
                        <a:t> / </a:t>
                      </a:r>
                      <a:r>
                        <a:rPr lang="en-US" sz="1800" dirty="0" err="1">
                          <a:effectLst/>
                        </a:rPr>
                        <a:t>Etki</a:t>
                      </a:r>
                      <a:endParaRPr lang="tr-TR" sz="1800" dirty="0">
                        <a:effectLst/>
                        <a:latin typeface="+mn-lt"/>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128631914"/>
                  </a:ext>
                </a:extLst>
              </a:tr>
              <a:tr h="569200">
                <a:tc>
                  <a:txBody>
                    <a:bodyPr/>
                    <a:lstStyle/>
                    <a:p>
                      <a:pPr>
                        <a:lnSpc>
                          <a:spcPct val="115000"/>
                        </a:lnSpc>
                        <a:spcAft>
                          <a:spcPts val="1000"/>
                        </a:spcAft>
                      </a:pPr>
                      <a:r>
                        <a:rPr lang="en-US" sz="1800" dirty="0" err="1">
                          <a:effectLst/>
                        </a:rPr>
                        <a:t>Tanım</a:t>
                      </a:r>
                      <a:endParaRPr lang="tr-TR" sz="1800" dirty="0">
                        <a:effectLst/>
                        <a:latin typeface="+mn-lt"/>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600" dirty="0" err="1">
                          <a:effectLst/>
                        </a:rPr>
                        <a:t>Mekanik</a:t>
                      </a:r>
                      <a:r>
                        <a:rPr lang="en-US" sz="1600" dirty="0">
                          <a:effectLst/>
                        </a:rPr>
                        <a:t> </a:t>
                      </a:r>
                      <a:r>
                        <a:rPr lang="en-US" sz="1600" dirty="0" err="1">
                          <a:effectLst/>
                        </a:rPr>
                        <a:t>titreşimlerin</a:t>
                      </a:r>
                      <a:r>
                        <a:rPr lang="en-US" sz="1600" dirty="0">
                          <a:effectLst/>
                        </a:rPr>
                        <a:t> </a:t>
                      </a:r>
                      <a:r>
                        <a:rPr lang="en-US" sz="1600" dirty="0" err="1">
                          <a:effectLst/>
                        </a:rPr>
                        <a:t>vücuda</a:t>
                      </a:r>
                      <a:r>
                        <a:rPr lang="en-US" sz="1600" dirty="0">
                          <a:effectLst/>
                        </a:rPr>
                        <a:t> </a:t>
                      </a:r>
                      <a:r>
                        <a:rPr lang="en-US" sz="1600" dirty="0" err="1">
                          <a:effectLst/>
                        </a:rPr>
                        <a:t>iletilmesi</a:t>
                      </a:r>
                      <a:endParaRPr lang="tr-TR" sz="1600" dirty="0">
                        <a:effectLst/>
                        <a:latin typeface="+mn-lt"/>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600">
                          <a:effectLst/>
                        </a:rPr>
                        <a:t>Makine, araç, el aletleri</a:t>
                      </a:r>
                      <a:endParaRPr lang="tr-TR" sz="1600">
                        <a:effectLst/>
                        <a:latin typeface="+mn-lt"/>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751382258"/>
                  </a:ext>
                </a:extLst>
              </a:tr>
              <a:tr h="569200">
                <a:tc>
                  <a:txBody>
                    <a:bodyPr/>
                    <a:lstStyle/>
                    <a:p>
                      <a:pPr>
                        <a:lnSpc>
                          <a:spcPct val="115000"/>
                        </a:lnSpc>
                        <a:spcAft>
                          <a:spcPts val="1000"/>
                        </a:spcAft>
                      </a:pPr>
                      <a:r>
                        <a:rPr lang="en-US" sz="1800" dirty="0">
                          <a:effectLst/>
                        </a:rPr>
                        <a:t>El–</a:t>
                      </a:r>
                      <a:r>
                        <a:rPr lang="en-US" sz="1800" dirty="0" err="1">
                          <a:effectLst/>
                        </a:rPr>
                        <a:t>Kol</a:t>
                      </a:r>
                      <a:r>
                        <a:rPr lang="en-US" sz="1800" dirty="0">
                          <a:effectLst/>
                        </a:rPr>
                        <a:t> </a:t>
                      </a:r>
                      <a:r>
                        <a:rPr lang="en-US" sz="1800" dirty="0" err="1">
                          <a:effectLst/>
                        </a:rPr>
                        <a:t>Titreşimi</a:t>
                      </a:r>
                      <a:endParaRPr lang="tr-TR" sz="1800" dirty="0">
                        <a:effectLst/>
                        <a:latin typeface="+mn-lt"/>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600" dirty="0" err="1">
                          <a:effectLst/>
                        </a:rPr>
                        <a:t>Titreşimin</a:t>
                      </a:r>
                      <a:r>
                        <a:rPr lang="en-US" sz="1600" dirty="0">
                          <a:effectLst/>
                        </a:rPr>
                        <a:t> el </a:t>
                      </a:r>
                      <a:r>
                        <a:rPr lang="en-US" sz="1600" dirty="0" err="1">
                          <a:effectLst/>
                        </a:rPr>
                        <a:t>ve</a:t>
                      </a:r>
                      <a:r>
                        <a:rPr lang="en-US" sz="1600" dirty="0">
                          <a:effectLst/>
                        </a:rPr>
                        <a:t> </a:t>
                      </a:r>
                      <a:r>
                        <a:rPr lang="en-US" sz="1600" dirty="0" err="1">
                          <a:effectLst/>
                        </a:rPr>
                        <a:t>kol</a:t>
                      </a:r>
                      <a:r>
                        <a:rPr lang="en-US" sz="1600" dirty="0">
                          <a:effectLst/>
                        </a:rPr>
                        <a:t> </a:t>
                      </a:r>
                      <a:r>
                        <a:rPr lang="en-US" sz="1600" dirty="0" err="1">
                          <a:effectLst/>
                        </a:rPr>
                        <a:t>yoluyla</a:t>
                      </a:r>
                      <a:r>
                        <a:rPr lang="en-US" sz="1600" dirty="0">
                          <a:effectLst/>
                        </a:rPr>
                        <a:t> </a:t>
                      </a:r>
                      <a:r>
                        <a:rPr lang="en-US" sz="1600" dirty="0" err="1">
                          <a:effectLst/>
                        </a:rPr>
                        <a:t>vücuda</a:t>
                      </a:r>
                      <a:r>
                        <a:rPr lang="en-US" sz="1600" dirty="0">
                          <a:effectLst/>
                        </a:rPr>
                        <a:t> </a:t>
                      </a:r>
                      <a:r>
                        <a:rPr lang="en-US" sz="1600" dirty="0" err="1">
                          <a:effectLst/>
                        </a:rPr>
                        <a:t>girmesi</a:t>
                      </a:r>
                      <a:endParaRPr lang="tr-TR" sz="1600" dirty="0">
                        <a:effectLst/>
                        <a:latin typeface="+mn-lt"/>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600">
                          <a:effectLst/>
                        </a:rPr>
                        <a:t>Matkap, taşlama</a:t>
                      </a:r>
                      <a:endParaRPr lang="tr-TR" sz="1600">
                        <a:effectLst/>
                        <a:latin typeface="+mn-lt"/>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4181089093"/>
                  </a:ext>
                </a:extLst>
              </a:tr>
              <a:tr h="569200">
                <a:tc>
                  <a:txBody>
                    <a:bodyPr/>
                    <a:lstStyle/>
                    <a:p>
                      <a:pPr>
                        <a:lnSpc>
                          <a:spcPct val="115000"/>
                        </a:lnSpc>
                        <a:spcAft>
                          <a:spcPts val="1000"/>
                        </a:spcAft>
                      </a:pPr>
                      <a:r>
                        <a:rPr lang="en-US" sz="1800" dirty="0" err="1">
                          <a:effectLst/>
                        </a:rPr>
                        <a:t>Tüm</a:t>
                      </a:r>
                      <a:r>
                        <a:rPr lang="en-US" sz="1800" dirty="0">
                          <a:effectLst/>
                        </a:rPr>
                        <a:t> </a:t>
                      </a:r>
                      <a:r>
                        <a:rPr lang="en-US" sz="1800" dirty="0" err="1">
                          <a:effectLst/>
                        </a:rPr>
                        <a:t>Vücut</a:t>
                      </a:r>
                      <a:r>
                        <a:rPr lang="en-US" sz="1800" dirty="0">
                          <a:effectLst/>
                        </a:rPr>
                        <a:t> </a:t>
                      </a:r>
                      <a:r>
                        <a:rPr lang="en-US" sz="1800" dirty="0" err="1">
                          <a:effectLst/>
                        </a:rPr>
                        <a:t>Titreşimi</a:t>
                      </a:r>
                      <a:endParaRPr lang="tr-TR" sz="1800" dirty="0">
                        <a:effectLst/>
                        <a:latin typeface="+mn-lt"/>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600" dirty="0" err="1">
                          <a:effectLst/>
                        </a:rPr>
                        <a:t>Titreşimin</a:t>
                      </a:r>
                      <a:r>
                        <a:rPr lang="en-US" sz="1600" dirty="0">
                          <a:effectLst/>
                        </a:rPr>
                        <a:t> </a:t>
                      </a:r>
                      <a:r>
                        <a:rPr lang="en-US" sz="1600" dirty="0" err="1">
                          <a:effectLst/>
                        </a:rPr>
                        <a:t>tüm</a:t>
                      </a:r>
                      <a:r>
                        <a:rPr lang="en-US" sz="1600" dirty="0">
                          <a:effectLst/>
                        </a:rPr>
                        <a:t> </a:t>
                      </a:r>
                      <a:r>
                        <a:rPr lang="en-US" sz="1600" dirty="0" err="1">
                          <a:effectLst/>
                        </a:rPr>
                        <a:t>vücuda</a:t>
                      </a:r>
                      <a:r>
                        <a:rPr lang="en-US" sz="1600" dirty="0">
                          <a:effectLst/>
                        </a:rPr>
                        <a:t> </a:t>
                      </a:r>
                      <a:r>
                        <a:rPr lang="en-US" sz="1600" dirty="0" err="1">
                          <a:effectLst/>
                        </a:rPr>
                        <a:t>iletilmesi</a:t>
                      </a:r>
                      <a:endParaRPr lang="tr-TR" sz="1600" dirty="0">
                        <a:effectLst/>
                        <a:latin typeface="+mn-lt"/>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600">
                          <a:effectLst/>
                        </a:rPr>
                        <a:t>Forklift, kamyon</a:t>
                      </a:r>
                      <a:endParaRPr lang="tr-TR" sz="1600">
                        <a:effectLst/>
                        <a:latin typeface="+mn-lt"/>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837220833"/>
                  </a:ext>
                </a:extLst>
              </a:tr>
              <a:tr h="569200">
                <a:tc>
                  <a:txBody>
                    <a:bodyPr/>
                    <a:lstStyle/>
                    <a:p>
                      <a:pPr>
                        <a:lnSpc>
                          <a:spcPct val="115000"/>
                        </a:lnSpc>
                        <a:spcAft>
                          <a:spcPts val="1000"/>
                        </a:spcAft>
                      </a:pPr>
                      <a:r>
                        <a:rPr lang="en-US" sz="1800" dirty="0" err="1">
                          <a:effectLst/>
                        </a:rPr>
                        <a:t>Sağlık</a:t>
                      </a:r>
                      <a:r>
                        <a:rPr lang="en-US" sz="1800" dirty="0">
                          <a:effectLst/>
                        </a:rPr>
                        <a:t> </a:t>
                      </a:r>
                      <a:r>
                        <a:rPr lang="en-US" sz="1800" dirty="0" err="1">
                          <a:effectLst/>
                        </a:rPr>
                        <a:t>Etkileri</a:t>
                      </a:r>
                      <a:endParaRPr lang="tr-TR" sz="1800" dirty="0">
                        <a:effectLst/>
                        <a:latin typeface="+mn-lt"/>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600" dirty="0" err="1">
                          <a:effectLst/>
                        </a:rPr>
                        <a:t>Kas</a:t>
                      </a:r>
                      <a:r>
                        <a:rPr lang="en-US" sz="1600" dirty="0">
                          <a:effectLst/>
                        </a:rPr>
                        <a:t>–</a:t>
                      </a:r>
                      <a:r>
                        <a:rPr lang="en-US" sz="1600" dirty="0" err="1">
                          <a:effectLst/>
                        </a:rPr>
                        <a:t>iskelet</a:t>
                      </a:r>
                      <a:r>
                        <a:rPr lang="en-US" sz="1600" dirty="0">
                          <a:effectLst/>
                        </a:rPr>
                        <a:t> </a:t>
                      </a:r>
                      <a:r>
                        <a:rPr lang="en-US" sz="1600" dirty="0" err="1">
                          <a:effectLst/>
                        </a:rPr>
                        <a:t>ve</a:t>
                      </a:r>
                      <a:r>
                        <a:rPr lang="en-US" sz="1600" dirty="0">
                          <a:effectLst/>
                        </a:rPr>
                        <a:t> </a:t>
                      </a:r>
                      <a:r>
                        <a:rPr lang="en-US" sz="1600" dirty="0" err="1">
                          <a:effectLst/>
                        </a:rPr>
                        <a:t>dolaşım</a:t>
                      </a:r>
                      <a:r>
                        <a:rPr lang="en-US" sz="1600" dirty="0">
                          <a:effectLst/>
                        </a:rPr>
                        <a:t> </a:t>
                      </a:r>
                      <a:r>
                        <a:rPr lang="en-US" sz="1600" dirty="0" err="1">
                          <a:effectLst/>
                        </a:rPr>
                        <a:t>sorunları</a:t>
                      </a:r>
                      <a:endParaRPr lang="tr-TR" sz="1600" dirty="0">
                        <a:effectLst/>
                        <a:latin typeface="+mn-lt"/>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600" dirty="0">
                          <a:effectLst/>
                        </a:rPr>
                        <a:t>Bel </a:t>
                      </a:r>
                      <a:r>
                        <a:rPr lang="en-US" sz="1600" dirty="0" err="1">
                          <a:effectLst/>
                        </a:rPr>
                        <a:t>ağrısı</a:t>
                      </a:r>
                      <a:r>
                        <a:rPr lang="en-US" sz="1600" dirty="0">
                          <a:effectLst/>
                        </a:rPr>
                        <a:t>, </a:t>
                      </a:r>
                      <a:r>
                        <a:rPr lang="en-US" sz="1600" dirty="0" err="1">
                          <a:effectLst/>
                        </a:rPr>
                        <a:t>beyaz</a:t>
                      </a:r>
                      <a:r>
                        <a:rPr lang="en-US" sz="1600" dirty="0">
                          <a:effectLst/>
                        </a:rPr>
                        <a:t> </a:t>
                      </a:r>
                      <a:r>
                        <a:rPr lang="en-US" sz="1600" dirty="0" err="1">
                          <a:effectLst/>
                        </a:rPr>
                        <a:t>parmak</a:t>
                      </a:r>
                      <a:endParaRPr lang="tr-TR" sz="1600" dirty="0">
                        <a:effectLst/>
                        <a:latin typeface="+mn-lt"/>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646562108"/>
                  </a:ext>
                </a:extLst>
              </a:tr>
              <a:tr h="569200">
                <a:tc>
                  <a:txBody>
                    <a:bodyPr/>
                    <a:lstStyle/>
                    <a:p>
                      <a:pPr>
                        <a:lnSpc>
                          <a:spcPct val="115000"/>
                        </a:lnSpc>
                        <a:spcAft>
                          <a:spcPts val="1000"/>
                        </a:spcAft>
                      </a:pPr>
                      <a:r>
                        <a:rPr lang="en-US" sz="1800" dirty="0">
                          <a:effectLst/>
                        </a:rPr>
                        <a:t>Risk </a:t>
                      </a:r>
                      <a:r>
                        <a:rPr lang="en-US" sz="1800" dirty="0" err="1">
                          <a:effectLst/>
                        </a:rPr>
                        <a:t>Faktörleri</a:t>
                      </a:r>
                      <a:endParaRPr lang="tr-TR" sz="1800" dirty="0">
                        <a:effectLst/>
                        <a:latin typeface="+mn-lt"/>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600">
                          <a:effectLst/>
                        </a:rPr>
                        <a:t>Uzun süre ve yüksek frekans</a:t>
                      </a:r>
                      <a:endParaRPr lang="tr-TR" sz="1600">
                        <a:effectLst/>
                        <a:latin typeface="+mn-lt"/>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600" dirty="0" err="1">
                          <a:effectLst/>
                        </a:rPr>
                        <a:t>Gün</a:t>
                      </a:r>
                      <a:r>
                        <a:rPr lang="en-US" sz="1600" dirty="0">
                          <a:effectLst/>
                        </a:rPr>
                        <a:t> </a:t>
                      </a:r>
                      <a:r>
                        <a:rPr lang="en-US" sz="1600" dirty="0" err="1">
                          <a:effectLst/>
                        </a:rPr>
                        <a:t>boyu</a:t>
                      </a:r>
                      <a:r>
                        <a:rPr lang="en-US" sz="1600" dirty="0">
                          <a:effectLst/>
                        </a:rPr>
                        <a:t> </a:t>
                      </a:r>
                      <a:r>
                        <a:rPr lang="en-US" sz="1600" dirty="0" err="1">
                          <a:effectLst/>
                        </a:rPr>
                        <a:t>titreşimli</a:t>
                      </a:r>
                      <a:r>
                        <a:rPr lang="en-US" sz="1600" dirty="0">
                          <a:effectLst/>
                        </a:rPr>
                        <a:t> </a:t>
                      </a:r>
                      <a:r>
                        <a:rPr lang="en-US" sz="1600" dirty="0" err="1">
                          <a:effectLst/>
                        </a:rPr>
                        <a:t>çalışma</a:t>
                      </a:r>
                      <a:endParaRPr lang="tr-TR" sz="1600" dirty="0">
                        <a:effectLst/>
                        <a:latin typeface="+mn-lt"/>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3600101408"/>
                  </a:ext>
                </a:extLst>
              </a:tr>
              <a:tr h="569200">
                <a:tc>
                  <a:txBody>
                    <a:bodyPr/>
                    <a:lstStyle/>
                    <a:p>
                      <a:pPr>
                        <a:lnSpc>
                          <a:spcPct val="115000"/>
                        </a:lnSpc>
                        <a:spcAft>
                          <a:spcPts val="1000"/>
                        </a:spcAft>
                      </a:pPr>
                      <a:r>
                        <a:rPr lang="en-US" sz="1800" dirty="0" err="1">
                          <a:effectLst/>
                        </a:rPr>
                        <a:t>Korunma</a:t>
                      </a:r>
                      <a:endParaRPr lang="tr-TR" sz="1800" dirty="0">
                        <a:effectLst/>
                        <a:latin typeface="+mn-lt"/>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600">
                          <a:effectLst/>
                        </a:rPr>
                        <a:t>Teknik ve organizasyonel önlemler</a:t>
                      </a:r>
                      <a:endParaRPr lang="tr-TR" sz="1600">
                        <a:effectLst/>
                        <a:latin typeface="+mn-lt"/>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600" dirty="0" err="1">
                          <a:effectLst/>
                        </a:rPr>
                        <a:t>Bakım</a:t>
                      </a:r>
                      <a:r>
                        <a:rPr lang="en-US" sz="1600" dirty="0">
                          <a:effectLst/>
                        </a:rPr>
                        <a:t>, KKD, </a:t>
                      </a:r>
                      <a:r>
                        <a:rPr lang="en-US" sz="1600" dirty="0" err="1">
                          <a:effectLst/>
                        </a:rPr>
                        <a:t>eğitim</a:t>
                      </a:r>
                      <a:endParaRPr lang="tr-TR" sz="1600" dirty="0">
                        <a:effectLst/>
                        <a:latin typeface="+mn-lt"/>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2964488511"/>
                  </a:ext>
                </a:extLst>
              </a:tr>
            </a:tbl>
          </a:graphicData>
        </a:graphic>
      </p:graphicFrame>
    </p:spTree>
    <p:extLst>
      <p:ext uri="{BB962C8B-B14F-4D97-AF65-F5344CB8AC3E}">
        <p14:creationId xmlns:p14="http://schemas.microsoft.com/office/powerpoint/2010/main" val="24229245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269823" y="365125"/>
            <a:ext cx="11587397" cy="1325563"/>
          </a:xfrm>
        </p:spPr>
        <p:txBody>
          <a:bodyPr>
            <a:normAutofit fontScale="90000"/>
          </a:bodyPr>
          <a:lstStyle/>
          <a:p>
            <a:r>
              <a:rPr lang="tr-TR" sz="2600" dirty="0"/>
              <a:t/>
            </a:r>
            <a:br>
              <a:rPr lang="tr-TR" sz="2600" dirty="0"/>
            </a:br>
            <a:r>
              <a:rPr lang="tr-TR" b="1" dirty="0">
                <a:solidFill>
                  <a:srgbClr val="7030A0"/>
                </a:solidFill>
              </a:rPr>
              <a:t>Fiziksel Etkenlere (Çevresel Zararlara) Maruz Kalma</a:t>
            </a:r>
            <a:r>
              <a:rPr lang="tr-TR" sz="2600" dirty="0"/>
              <a:t/>
            </a:r>
            <a:br>
              <a:rPr lang="tr-TR" sz="2600" dirty="0"/>
            </a:br>
            <a:endParaRPr lang="tr-TR" sz="26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p:cNvSpPr>
            <a:spLocks noGrp="1"/>
          </p:cNvSpPr>
          <p:nvPr>
            <p:ph idx="1"/>
          </p:nvPr>
        </p:nvSpPr>
        <p:spPr>
          <a:xfrm>
            <a:off x="838200" y="1929384"/>
            <a:ext cx="10515600" cy="4251960"/>
          </a:xfrm>
        </p:spPr>
        <p:txBody>
          <a:bodyPr>
            <a:normAutofit/>
          </a:bodyPr>
          <a:lstStyle/>
          <a:p>
            <a:pPr marL="0" indent="0">
              <a:buNone/>
            </a:pPr>
            <a:r>
              <a:rPr lang="tr-TR" sz="2200" u="sng" dirty="0"/>
              <a:t>Gürültü</a:t>
            </a:r>
          </a:p>
          <a:p>
            <a:pPr marL="0" indent="0">
              <a:buNone/>
            </a:pPr>
            <a:r>
              <a:rPr lang="tr-TR" sz="2200" b="1" dirty="0"/>
              <a:t>  İstenmeyen, rahatsız edici ve sağlığa zarar verebilen seslerdir.</a:t>
            </a:r>
            <a:r>
              <a:rPr lang="tr-TR" sz="2200" dirty="0"/>
              <a:t/>
            </a:r>
            <a:br>
              <a:rPr lang="tr-TR" sz="2200" dirty="0"/>
            </a:br>
            <a:r>
              <a:rPr lang="tr-TR" sz="2200" dirty="0"/>
              <a:t>  İş hijyeninde en yaygın fiziksel risk etkenlerinden birisidir. Başlıca kaynakları;</a:t>
            </a:r>
          </a:p>
          <a:p>
            <a:pPr marL="0" indent="0">
              <a:buNone/>
            </a:pPr>
            <a:endParaRPr lang="tr-TR" sz="2200" dirty="0"/>
          </a:p>
          <a:p>
            <a:r>
              <a:rPr lang="tr-TR" sz="2200" dirty="0"/>
              <a:t>Makineler (pres, kompresör, jeneratör)</a:t>
            </a:r>
          </a:p>
          <a:p>
            <a:r>
              <a:rPr lang="tr-TR" sz="2200" dirty="0"/>
              <a:t>İnşaat ekipmanları</a:t>
            </a:r>
          </a:p>
          <a:p>
            <a:r>
              <a:rPr lang="tr-TR" sz="2200" dirty="0"/>
              <a:t>Metal, ahşap işleme makineleri</a:t>
            </a:r>
          </a:p>
          <a:p>
            <a:r>
              <a:rPr lang="tr-TR" sz="2200" dirty="0"/>
              <a:t>Taşıtlar ve motorlar</a:t>
            </a:r>
          </a:p>
          <a:p>
            <a:endParaRPr lang="tr-TR" sz="2200" dirty="0"/>
          </a:p>
        </p:txBody>
      </p:sp>
      <p:pic>
        <p:nvPicPr>
          <p:cNvPr id="4" name="Resim 3">
            <a:extLst>
              <a:ext uri="{FF2B5EF4-FFF2-40B4-BE49-F238E27FC236}">
                <a16:creationId xmlns:a16="http://schemas.microsoft.com/office/drawing/2014/main" id="{DB084AA7-AF39-1E18-8E31-9F59996B7229}"/>
              </a:ext>
            </a:extLst>
          </p:cNvPr>
          <p:cNvPicPr>
            <a:picLocks noChangeAspect="1"/>
          </p:cNvPicPr>
          <p:nvPr/>
        </p:nvPicPr>
        <p:blipFill>
          <a:blip r:embed="rId2"/>
          <a:stretch>
            <a:fillRect/>
          </a:stretch>
        </p:blipFill>
        <p:spPr>
          <a:xfrm>
            <a:off x="7505770" y="3309240"/>
            <a:ext cx="4686230" cy="2591392"/>
          </a:xfrm>
          <a:prstGeom prst="rect">
            <a:avLst/>
          </a:prstGeom>
        </p:spPr>
      </p:pic>
    </p:spTree>
    <p:extLst>
      <p:ext uri="{BB962C8B-B14F-4D97-AF65-F5344CB8AC3E}">
        <p14:creationId xmlns:p14="http://schemas.microsoft.com/office/powerpoint/2010/main" val="24314724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499872" y="365125"/>
            <a:ext cx="11387328" cy="1325563"/>
          </a:xfrm>
        </p:spPr>
        <p:txBody>
          <a:bodyPr>
            <a:normAutofit fontScale="90000"/>
          </a:bodyPr>
          <a:lstStyle/>
          <a:p>
            <a:r>
              <a:rPr lang="tr-TR" sz="2600" dirty="0"/>
              <a:t/>
            </a:r>
            <a:br>
              <a:rPr lang="tr-TR" sz="2600" dirty="0"/>
            </a:br>
            <a:r>
              <a:rPr lang="tr-TR" b="1" dirty="0">
                <a:solidFill>
                  <a:srgbClr val="7030A0"/>
                </a:solidFill>
              </a:rPr>
              <a:t>Fiziksel Etkenlere (Çevresel Zararlara) Maruz Kalma</a:t>
            </a:r>
            <a:r>
              <a:rPr lang="tr-TR" sz="2600" dirty="0"/>
              <a:t/>
            </a:r>
            <a:br>
              <a:rPr lang="tr-TR" sz="2600" dirty="0"/>
            </a:br>
            <a:endParaRPr lang="tr-TR" sz="26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p:cNvSpPr>
            <a:spLocks noGrp="1"/>
          </p:cNvSpPr>
          <p:nvPr>
            <p:ph idx="1"/>
          </p:nvPr>
        </p:nvSpPr>
        <p:spPr>
          <a:xfrm>
            <a:off x="838200" y="1929384"/>
            <a:ext cx="5880652" cy="4251960"/>
          </a:xfrm>
        </p:spPr>
        <p:txBody>
          <a:bodyPr>
            <a:normAutofit/>
          </a:bodyPr>
          <a:lstStyle/>
          <a:p>
            <a:pPr marL="0" indent="0">
              <a:buNone/>
            </a:pPr>
            <a:r>
              <a:rPr lang="tr-TR" sz="2200" u="sng" dirty="0"/>
              <a:t>Aydınlatma</a:t>
            </a:r>
          </a:p>
          <a:p>
            <a:pPr marL="0" indent="0">
              <a:buNone/>
            </a:pPr>
            <a:r>
              <a:rPr lang="tr-TR" sz="2200" dirty="0"/>
              <a:t>  Çalışma ortamında </a:t>
            </a:r>
            <a:r>
              <a:rPr lang="tr-TR" sz="2200" b="1" dirty="0"/>
              <a:t>işin güvenli ve verimli yapılabilmesi için yeterli ve uygun ışık sağlanmasıdır.</a:t>
            </a:r>
          </a:p>
          <a:p>
            <a:pPr marL="0" indent="0">
              <a:buNone/>
            </a:pPr>
            <a:r>
              <a:rPr lang="tr-TR" sz="2200" dirty="0"/>
              <a:t>  Yetersiz aydınlatma, farklı , göz kamaştıran titrek ve parlak ışıklar göz yorgunluğuna ve sinir sisteminin bozulmasına neden olmaktadır.</a:t>
            </a:r>
          </a:p>
          <a:p>
            <a:pPr marL="0" indent="0">
              <a:buNone/>
            </a:pPr>
            <a:endParaRPr lang="tr-TR" sz="2200" dirty="0"/>
          </a:p>
        </p:txBody>
      </p:sp>
      <p:pic>
        <p:nvPicPr>
          <p:cNvPr id="4" name="Resim 3">
            <a:extLst>
              <a:ext uri="{FF2B5EF4-FFF2-40B4-BE49-F238E27FC236}">
                <a16:creationId xmlns:a16="http://schemas.microsoft.com/office/drawing/2014/main" id="{D79A6231-2F09-D737-CA9D-4F79E7B3C09B}"/>
              </a:ext>
            </a:extLst>
          </p:cNvPr>
          <p:cNvPicPr>
            <a:picLocks noChangeAspect="1"/>
          </p:cNvPicPr>
          <p:nvPr/>
        </p:nvPicPr>
        <p:blipFill>
          <a:blip r:embed="rId2"/>
          <a:stretch>
            <a:fillRect/>
          </a:stretch>
        </p:blipFill>
        <p:spPr>
          <a:xfrm>
            <a:off x="7043700" y="2449855"/>
            <a:ext cx="4820404" cy="1958289"/>
          </a:xfrm>
          <a:prstGeom prst="rect">
            <a:avLst/>
          </a:prstGeom>
        </p:spPr>
      </p:pic>
    </p:spTree>
    <p:extLst>
      <p:ext uri="{BB962C8B-B14F-4D97-AF65-F5344CB8AC3E}">
        <p14:creationId xmlns:p14="http://schemas.microsoft.com/office/powerpoint/2010/main" val="14774524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499872" y="365125"/>
            <a:ext cx="11357348" cy="1325563"/>
          </a:xfrm>
        </p:spPr>
        <p:txBody>
          <a:bodyPr>
            <a:noAutofit/>
          </a:bodyPr>
          <a:lstStyle/>
          <a:p>
            <a:r>
              <a:rPr lang="tr-TR" sz="4000" dirty="0"/>
              <a:t/>
            </a:r>
            <a:br>
              <a:rPr lang="tr-TR" sz="4000" dirty="0"/>
            </a:br>
            <a:r>
              <a:rPr lang="tr-TR" sz="4000" b="1" dirty="0">
                <a:solidFill>
                  <a:srgbClr val="7030A0"/>
                </a:solidFill>
              </a:rPr>
              <a:t>Fiziksel Etkenlere (Çevresel Zararlara) Maruz Kalma</a:t>
            </a:r>
            <a:r>
              <a:rPr lang="tr-TR" sz="4000" dirty="0"/>
              <a:t/>
            </a:r>
            <a:br>
              <a:rPr lang="tr-TR" sz="4000" dirty="0"/>
            </a:br>
            <a:endParaRPr lang="tr-TR" sz="40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p:cNvSpPr>
            <a:spLocks noGrp="1"/>
          </p:cNvSpPr>
          <p:nvPr>
            <p:ph idx="1"/>
          </p:nvPr>
        </p:nvSpPr>
        <p:spPr>
          <a:xfrm>
            <a:off x="838200" y="1929384"/>
            <a:ext cx="10515600" cy="4251960"/>
          </a:xfrm>
        </p:spPr>
        <p:txBody>
          <a:bodyPr>
            <a:normAutofit/>
          </a:bodyPr>
          <a:lstStyle/>
          <a:p>
            <a:pPr marL="0" indent="0">
              <a:buNone/>
            </a:pPr>
            <a:r>
              <a:rPr lang="tr-TR" sz="2200" u="sng"/>
              <a:t>Radyasyon – Işın Saçan Enerji</a:t>
            </a:r>
          </a:p>
          <a:p>
            <a:pPr marL="0" indent="0">
              <a:buNone/>
            </a:pPr>
            <a:endParaRPr lang="tr-TR" sz="2200" b="1" u="sng"/>
          </a:p>
          <a:p>
            <a:pPr marL="0" indent="0">
              <a:buNone/>
            </a:pPr>
            <a:r>
              <a:rPr lang="tr-TR" sz="2200" b="1"/>
              <a:t>   Radyasyon</a:t>
            </a:r>
            <a:r>
              <a:rPr lang="tr-TR" sz="2200"/>
              <a:t>, enerjinin </a:t>
            </a:r>
            <a:r>
              <a:rPr lang="tr-TR" sz="2200" b="1"/>
              <a:t>dalga</a:t>
            </a:r>
            <a:r>
              <a:rPr lang="tr-TR" sz="2200"/>
              <a:t> veya </a:t>
            </a:r>
            <a:r>
              <a:rPr lang="tr-TR" sz="2200" b="1"/>
              <a:t>parçacık</a:t>
            </a:r>
            <a:r>
              <a:rPr lang="tr-TR" sz="2200"/>
              <a:t> halinde bir kaynaktan çevreye yayılmasıdır.</a:t>
            </a:r>
            <a:br>
              <a:rPr lang="tr-TR" sz="2200"/>
            </a:br>
            <a:r>
              <a:rPr lang="tr-TR" sz="2200"/>
              <a:t>   İş hijyeninde radyasyon; çalışanların </a:t>
            </a:r>
            <a:r>
              <a:rPr lang="tr-TR" sz="2200" b="1"/>
              <a:t>sağlığını olumsuz etkileyebilecek enerji yayılımı</a:t>
            </a:r>
            <a:r>
              <a:rPr lang="tr-TR" sz="2200"/>
              <a:t> olarak ele alınır.</a:t>
            </a:r>
          </a:p>
          <a:p>
            <a:pPr marL="0" indent="0">
              <a:buNone/>
            </a:pPr>
            <a:r>
              <a:rPr lang="tr-TR" sz="2200"/>
              <a:t>   Radyasyon </a:t>
            </a:r>
            <a:r>
              <a:rPr lang="tr-TR" sz="2200" b="1"/>
              <a:t>görünmez</a:t>
            </a:r>
            <a:r>
              <a:rPr lang="tr-TR" sz="2200"/>
              <a:t>, </a:t>
            </a:r>
            <a:r>
              <a:rPr lang="tr-TR" sz="2200" b="1"/>
              <a:t>kokusu yoktur</a:t>
            </a:r>
            <a:r>
              <a:rPr lang="tr-TR" sz="2200"/>
              <a:t> ve </a:t>
            </a:r>
            <a:r>
              <a:rPr lang="tr-TR" sz="2200" b="1"/>
              <a:t>duyularla fark edilmez</a:t>
            </a:r>
            <a:r>
              <a:rPr lang="tr-TR" sz="2200"/>
              <a:t> bu yüzden </a:t>
            </a:r>
            <a:r>
              <a:rPr lang="tr-TR" sz="2200" b="1"/>
              <a:t>ölçüm ve kontrol</a:t>
            </a:r>
            <a:r>
              <a:rPr lang="tr-TR" sz="2200"/>
              <a:t> şarttır.</a:t>
            </a:r>
          </a:p>
          <a:p>
            <a:pPr marL="0" indent="0">
              <a:buNone/>
            </a:pPr>
            <a:endParaRPr lang="tr-TR" sz="2200"/>
          </a:p>
          <a:p>
            <a:pPr marL="0" indent="0">
              <a:buNone/>
            </a:pPr>
            <a:r>
              <a:rPr lang="tr-TR" sz="2200"/>
              <a:t>Etkiler genelde </a:t>
            </a:r>
            <a:r>
              <a:rPr lang="tr-TR" sz="2200" b="1"/>
              <a:t>termal (ısıya bağlı)</a:t>
            </a:r>
            <a:r>
              <a:rPr lang="tr-TR" sz="2200"/>
              <a:t> veya </a:t>
            </a:r>
            <a:r>
              <a:rPr lang="tr-TR" sz="2200" b="1"/>
              <a:t>fotokimyasal</a:t>
            </a:r>
            <a:r>
              <a:rPr lang="tr-TR" sz="2200"/>
              <a:t>dır.</a:t>
            </a:r>
          </a:p>
        </p:txBody>
      </p:sp>
    </p:spTree>
    <p:extLst>
      <p:ext uri="{BB962C8B-B14F-4D97-AF65-F5344CB8AC3E}">
        <p14:creationId xmlns:p14="http://schemas.microsoft.com/office/powerpoint/2010/main" val="40741667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284813" y="365125"/>
            <a:ext cx="11392525" cy="1325563"/>
          </a:xfrm>
        </p:spPr>
        <p:txBody>
          <a:bodyPr>
            <a:normAutofit fontScale="90000"/>
          </a:bodyPr>
          <a:lstStyle/>
          <a:p>
            <a:r>
              <a:rPr lang="tr-TR" sz="2600" dirty="0"/>
              <a:t/>
            </a:r>
            <a:br>
              <a:rPr lang="tr-TR" sz="2600" dirty="0"/>
            </a:br>
            <a:r>
              <a:rPr lang="tr-TR" b="1" dirty="0">
                <a:solidFill>
                  <a:srgbClr val="7030A0"/>
                </a:solidFill>
              </a:rPr>
              <a:t>Fiziksel Etkenlere (Çevresel Zararlara) Maruz Kalma</a:t>
            </a:r>
            <a:r>
              <a:rPr lang="tr-TR" sz="2600" dirty="0"/>
              <a:t/>
            </a:r>
            <a:br>
              <a:rPr lang="tr-TR" sz="2600" dirty="0"/>
            </a:br>
            <a:endParaRPr lang="tr-TR" sz="26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p:cNvSpPr>
            <a:spLocks noGrp="1"/>
          </p:cNvSpPr>
          <p:nvPr>
            <p:ph idx="1"/>
          </p:nvPr>
        </p:nvSpPr>
        <p:spPr>
          <a:xfrm>
            <a:off x="838200" y="1929384"/>
            <a:ext cx="10515600" cy="4251960"/>
          </a:xfrm>
        </p:spPr>
        <p:txBody>
          <a:bodyPr>
            <a:normAutofit/>
          </a:bodyPr>
          <a:lstStyle/>
          <a:p>
            <a:pPr marL="0" indent="0">
              <a:buNone/>
            </a:pPr>
            <a:r>
              <a:rPr lang="tr-TR" sz="2200" b="1" dirty="0"/>
              <a:t>   Radyasyon kaynağı</a:t>
            </a:r>
            <a:r>
              <a:rPr lang="tr-TR" sz="2200" dirty="0"/>
              <a:t>, iyonlaştırıcı veya iyonlaştırıcı olmayan radyasyon yayan </a:t>
            </a:r>
            <a:r>
              <a:rPr lang="tr-TR" sz="2200" b="1" dirty="0"/>
              <a:t>her türlü cihaz, madde veya doğal oluşumdur</a:t>
            </a:r>
            <a:r>
              <a:rPr lang="tr-TR" sz="2200" dirty="0"/>
              <a:t>.</a:t>
            </a:r>
          </a:p>
          <a:p>
            <a:pPr>
              <a:buFont typeface="Wingdings" panose="05000000000000000000" pitchFamily="2" charset="2"/>
              <a:buChar char="Ø"/>
            </a:pPr>
            <a:r>
              <a:rPr lang="tr-TR" sz="2200" dirty="0"/>
              <a:t>Kaynağın </a:t>
            </a:r>
            <a:r>
              <a:rPr lang="tr-TR" sz="2200" b="1" dirty="0">
                <a:solidFill>
                  <a:srgbClr val="C00000"/>
                </a:solidFill>
              </a:rPr>
              <a:t>türü</a:t>
            </a:r>
          </a:p>
          <a:p>
            <a:pPr>
              <a:buFont typeface="Wingdings" panose="05000000000000000000" pitchFamily="2" charset="2"/>
              <a:buChar char="Ø"/>
            </a:pPr>
            <a:r>
              <a:rPr lang="tr-TR" sz="2200" dirty="0"/>
              <a:t>Yaydığı </a:t>
            </a:r>
            <a:r>
              <a:rPr lang="tr-TR" sz="2200" b="1" dirty="0">
                <a:solidFill>
                  <a:srgbClr val="C00000"/>
                </a:solidFill>
              </a:rPr>
              <a:t>radyasyonun enerjisi</a:t>
            </a:r>
          </a:p>
          <a:p>
            <a:pPr>
              <a:buFont typeface="Wingdings" panose="05000000000000000000" pitchFamily="2" charset="2"/>
              <a:buChar char="Ø"/>
            </a:pPr>
            <a:r>
              <a:rPr lang="tr-TR" sz="2200" dirty="0"/>
              <a:t>Maruziyetin</a:t>
            </a:r>
            <a:r>
              <a:rPr lang="tr-TR" sz="2200" b="1" dirty="0"/>
              <a:t> </a:t>
            </a:r>
            <a:r>
              <a:rPr lang="tr-TR" sz="2200" b="1" dirty="0">
                <a:solidFill>
                  <a:srgbClr val="C00000"/>
                </a:solidFill>
              </a:rPr>
              <a:t>süresi</a:t>
            </a:r>
            <a:r>
              <a:rPr lang="tr-TR" sz="2200" b="1" dirty="0"/>
              <a:t> </a:t>
            </a:r>
            <a:r>
              <a:rPr lang="tr-TR" sz="2200" dirty="0"/>
              <a:t>ve </a:t>
            </a:r>
            <a:r>
              <a:rPr lang="tr-TR" sz="2200" b="1" dirty="0">
                <a:solidFill>
                  <a:srgbClr val="C00000"/>
                </a:solidFill>
              </a:rPr>
              <a:t>sıklığı</a:t>
            </a:r>
          </a:p>
          <a:p>
            <a:pPr>
              <a:buFont typeface="Wingdings" panose="05000000000000000000" pitchFamily="2" charset="2"/>
              <a:buChar char="Ø"/>
            </a:pPr>
            <a:r>
              <a:rPr lang="tr-TR" sz="2200" dirty="0"/>
              <a:t>Çalışanın kaynağa </a:t>
            </a:r>
            <a:r>
              <a:rPr lang="tr-TR" sz="2200" b="1" dirty="0">
                <a:solidFill>
                  <a:srgbClr val="C00000"/>
                </a:solidFill>
              </a:rPr>
              <a:t>uzaklığı</a:t>
            </a:r>
          </a:p>
          <a:p>
            <a:pPr marL="0" indent="0">
              <a:buNone/>
            </a:pPr>
            <a:endParaRPr lang="tr-TR" sz="2200" b="1" dirty="0"/>
          </a:p>
          <a:p>
            <a:pPr marL="0" indent="0">
              <a:buNone/>
            </a:pPr>
            <a:r>
              <a:rPr lang="tr-TR" sz="2200" dirty="0"/>
              <a:t>   Radyasyon kaynakları </a:t>
            </a:r>
            <a:r>
              <a:rPr lang="tr-TR" sz="2200" b="1" dirty="0"/>
              <a:t>doğal</a:t>
            </a:r>
            <a:r>
              <a:rPr lang="tr-TR" sz="2200" dirty="0"/>
              <a:t> ve </a:t>
            </a:r>
            <a:r>
              <a:rPr lang="tr-TR" sz="2200" b="1" dirty="0"/>
              <a:t>yapay</a:t>
            </a:r>
            <a:r>
              <a:rPr lang="tr-TR" sz="2200" dirty="0"/>
              <a:t> olmak üzere ikiye ayrılmaktadır.</a:t>
            </a:r>
          </a:p>
        </p:txBody>
      </p:sp>
      <p:pic>
        <p:nvPicPr>
          <p:cNvPr id="4" name="Resim 3">
            <a:extLst>
              <a:ext uri="{FF2B5EF4-FFF2-40B4-BE49-F238E27FC236}">
                <a16:creationId xmlns:a16="http://schemas.microsoft.com/office/drawing/2014/main" id="{AE8A41E7-078D-4C45-D0B8-20DB0388DCE0}"/>
              </a:ext>
            </a:extLst>
          </p:cNvPr>
          <p:cNvPicPr>
            <a:picLocks noChangeAspect="1"/>
          </p:cNvPicPr>
          <p:nvPr/>
        </p:nvPicPr>
        <p:blipFill>
          <a:blip r:embed="rId2"/>
          <a:stretch>
            <a:fillRect/>
          </a:stretch>
        </p:blipFill>
        <p:spPr>
          <a:xfrm>
            <a:off x="7543488" y="3002936"/>
            <a:ext cx="4133850" cy="1104900"/>
          </a:xfrm>
          <a:prstGeom prst="rect">
            <a:avLst/>
          </a:prstGeom>
        </p:spPr>
      </p:pic>
    </p:spTree>
    <p:extLst>
      <p:ext uri="{BB962C8B-B14F-4D97-AF65-F5344CB8AC3E}">
        <p14:creationId xmlns:p14="http://schemas.microsoft.com/office/powerpoint/2010/main" val="33356251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DE8331E-DDE5-BE22-7A98-A4D5FB71305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a:extLst>
              <a:ext uri="{FF2B5EF4-FFF2-40B4-BE49-F238E27FC236}">
                <a16:creationId xmlns:a16="http://schemas.microsoft.com/office/drawing/2014/main" id="{370177DE-8970-DF8A-CD7B-A7ABD9BB2BD1}"/>
              </a:ext>
            </a:extLst>
          </p:cNvPr>
          <p:cNvSpPr>
            <a:spLocks noGrp="1"/>
          </p:cNvSpPr>
          <p:nvPr>
            <p:ph type="title"/>
          </p:nvPr>
        </p:nvSpPr>
        <p:spPr>
          <a:xfrm>
            <a:off x="359764" y="365125"/>
            <a:ext cx="11377534" cy="1325563"/>
          </a:xfrm>
        </p:spPr>
        <p:txBody>
          <a:bodyPr>
            <a:noAutofit/>
          </a:bodyPr>
          <a:lstStyle/>
          <a:p>
            <a:r>
              <a:rPr lang="tr-TR" sz="4000" dirty="0"/>
              <a:t/>
            </a:r>
            <a:br>
              <a:rPr lang="tr-TR" sz="4000" dirty="0"/>
            </a:br>
            <a:r>
              <a:rPr lang="tr-TR" sz="4000" b="1" dirty="0">
                <a:solidFill>
                  <a:srgbClr val="7030A0"/>
                </a:solidFill>
              </a:rPr>
              <a:t>Fiziksel Etkenlere (Çevresel Zararlara) Maruz Kalma</a:t>
            </a:r>
            <a:r>
              <a:rPr lang="tr-TR" sz="4000" dirty="0"/>
              <a:t/>
            </a:r>
            <a:br>
              <a:rPr lang="tr-TR" sz="4000" dirty="0"/>
            </a:br>
            <a:endParaRPr lang="tr-TR" sz="40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3C7F5DDF-27FD-987D-D1AA-5AFE6D2BFB24}"/>
              </a:ext>
            </a:extLst>
          </p:cNvPr>
          <p:cNvSpPr>
            <a:spLocks noGrp="1"/>
          </p:cNvSpPr>
          <p:nvPr>
            <p:ph idx="1"/>
          </p:nvPr>
        </p:nvSpPr>
        <p:spPr>
          <a:xfrm>
            <a:off x="838200" y="1929384"/>
            <a:ext cx="10515600" cy="4251960"/>
          </a:xfrm>
        </p:spPr>
        <p:txBody>
          <a:bodyPr>
            <a:normAutofit fontScale="92500" lnSpcReduction="10000"/>
          </a:bodyPr>
          <a:lstStyle/>
          <a:p>
            <a:pPr marL="0" indent="0">
              <a:buNone/>
            </a:pPr>
            <a:r>
              <a:rPr lang="tr-TR" sz="2000" u="sng" dirty="0"/>
              <a:t>Doğal radyasyon kaynakları</a:t>
            </a:r>
          </a:p>
          <a:p>
            <a:r>
              <a:rPr lang="tr-TR" sz="2000" b="1" dirty="0"/>
              <a:t>Kozmik Radyasyon: </a:t>
            </a:r>
            <a:r>
              <a:rPr lang="tr-TR" sz="2000" dirty="0"/>
              <a:t>Uzaydan gelen yüksek enerjili ışınlardır.</a:t>
            </a:r>
          </a:p>
          <a:p>
            <a:pPr marL="0" indent="0">
              <a:buNone/>
            </a:pPr>
            <a:r>
              <a:rPr lang="tr-TR" sz="2000" dirty="0"/>
              <a:t>   Maruziyetin Yüksek Olduğu Meslekler, Dağlık bölgelerde çalışanlar.</a:t>
            </a:r>
          </a:p>
          <a:p>
            <a:pPr marL="0" indent="0">
              <a:buNone/>
            </a:pPr>
            <a:endParaRPr lang="tr-TR" sz="2000" dirty="0"/>
          </a:p>
          <a:p>
            <a:r>
              <a:rPr lang="tr-TR" sz="2000" b="1" dirty="0"/>
              <a:t>Yer kabuğu Kaynaklı Radyasyon: </a:t>
            </a:r>
            <a:r>
              <a:rPr lang="tr-TR" sz="2000" dirty="0"/>
              <a:t>Toprak, kayaç ve yapı malzemelerinde bulunan, Uranyum, Toryum,Potasyum-40 gibi.</a:t>
            </a:r>
          </a:p>
          <a:p>
            <a:pPr marL="0" indent="0">
              <a:buNone/>
            </a:pPr>
            <a:r>
              <a:rPr lang="tr-TR" sz="2000" dirty="0"/>
              <a:t>   Riskli Alanlar, Maden ocakları, Tüneller, Yer altı yapıları.</a:t>
            </a:r>
          </a:p>
          <a:p>
            <a:pPr marL="0" indent="0">
              <a:buNone/>
            </a:pPr>
            <a:endParaRPr lang="tr-TR" sz="2000" dirty="0"/>
          </a:p>
          <a:p>
            <a:r>
              <a:rPr lang="tr-TR" sz="2000" b="1" dirty="0"/>
              <a:t>Radon gazı: </a:t>
            </a:r>
            <a:r>
              <a:rPr lang="tr-TR" sz="2000" dirty="0"/>
              <a:t>Uranyumun </a:t>
            </a:r>
            <a:r>
              <a:rPr lang="tr-TR" sz="2000" dirty="0" err="1"/>
              <a:t>bozunmasıyla</a:t>
            </a:r>
            <a:r>
              <a:rPr lang="tr-TR" sz="2000" dirty="0"/>
              <a:t> oluşur. Renksiz, kokusuz bir gazdır.</a:t>
            </a:r>
          </a:p>
          <a:p>
            <a:pPr marL="0" indent="0">
              <a:buNone/>
            </a:pPr>
            <a:r>
              <a:rPr lang="tr-TR" sz="2000" dirty="0"/>
              <a:t>    Riskli Alanlar, Bodrum katlar, Yer altı madenleri, Kapalı ve havalandırması zayıf alanlar</a:t>
            </a:r>
          </a:p>
          <a:p>
            <a:pPr marL="0" indent="0">
              <a:buNone/>
            </a:pPr>
            <a:r>
              <a:rPr lang="tr-TR" sz="2000" dirty="0"/>
              <a:t>    </a:t>
            </a:r>
            <a:r>
              <a:rPr lang="tr-TR" sz="2000" u="sng" dirty="0"/>
              <a:t>Akciğer kanserinin </a:t>
            </a:r>
            <a:r>
              <a:rPr lang="tr-TR" sz="2000" b="1" dirty="0">
                <a:solidFill>
                  <a:srgbClr val="C00000"/>
                </a:solidFill>
              </a:rPr>
              <a:t>sigaradan sonra ikinci büyük nedenidir.</a:t>
            </a:r>
            <a:endParaRPr lang="tr-TR" sz="2000" dirty="0">
              <a:solidFill>
                <a:srgbClr val="C00000"/>
              </a:solidFill>
            </a:endParaRPr>
          </a:p>
          <a:p>
            <a:endParaRPr lang="tr-TR" sz="2000" dirty="0"/>
          </a:p>
          <a:p>
            <a:endParaRPr lang="tr-TR" sz="2000" b="1" dirty="0"/>
          </a:p>
          <a:p>
            <a:pPr marL="0" indent="0">
              <a:buNone/>
            </a:pPr>
            <a:endParaRPr lang="tr-TR" sz="2000" dirty="0"/>
          </a:p>
        </p:txBody>
      </p:sp>
    </p:spTree>
    <p:extLst>
      <p:ext uri="{BB962C8B-B14F-4D97-AF65-F5344CB8AC3E}">
        <p14:creationId xmlns:p14="http://schemas.microsoft.com/office/powerpoint/2010/main" val="20223031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99A3AF0-A1BD-1D19-3608-4CA376DACC4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a:extLst>
              <a:ext uri="{FF2B5EF4-FFF2-40B4-BE49-F238E27FC236}">
                <a16:creationId xmlns:a16="http://schemas.microsoft.com/office/drawing/2014/main" id="{B9468B89-381C-76CE-7E97-87BECEF2B93F}"/>
              </a:ext>
            </a:extLst>
          </p:cNvPr>
          <p:cNvSpPr>
            <a:spLocks noGrp="1"/>
          </p:cNvSpPr>
          <p:nvPr>
            <p:ph type="title"/>
          </p:nvPr>
        </p:nvSpPr>
        <p:spPr>
          <a:xfrm>
            <a:off x="329784" y="365125"/>
            <a:ext cx="11407514" cy="1325563"/>
          </a:xfrm>
        </p:spPr>
        <p:txBody>
          <a:bodyPr>
            <a:normAutofit fontScale="90000"/>
          </a:bodyPr>
          <a:lstStyle/>
          <a:p>
            <a:r>
              <a:rPr lang="tr-TR" sz="2600" dirty="0"/>
              <a:t/>
            </a:r>
            <a:br>
              <a:rPr lang="tr-TR" sz="2600" dirty="0"/>
            </a:br>
            <a:r>
              <a:rPr lang="tr-TR" b="1" dirty="0">
                <a:solidFill>
                  <a:srgbClr val="7030A0"/>
                </a:solidFill>
              </a:rPr>
              <a:t>Fiziksel Etkenlere (Çevresel Zararlara) Maruz Kalma</a:t>
            </a:r>
            <a:r>
              <a:rPr lang="tr-TR" sz="2600" dirty="0"/>
              <a:t/>
            </a:r>
            <a:br>
              <a:rPr lang="tr-TR" sz="2600" dirty="0"/>
            </a:br>
            <a:endParaRPr lang="tr-TR" sz="26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F03FCEB4-A1E0-46C7-5C75-F0090D4A71A3}"/>
              </a:ext>
            </a:extLst>
          </p:cNvPr>
          <p:cNvSpPr>
            <a:spLocks noGrp="1"/>
          </p:cNvSpPr>
          <p:nvPr>
            <p:ph idx="1"/>
          </p:nvPr>
        </p:nvSpPr>
        <p:spPr>
          <a:xfrm>
            <a:off x="838200" y="1929384"/>
            <a:ext cx="7649817" cy="4251960"/>
          </a:xfrm>
        </p:spPr>
        <p:txBody>
          <a:bodyPr>
            <a:normAutofit fontScale="92500" lnSpcReduction="20000"/>
          </a:bodyPr>
          <a:lstStyle/>
          <a:p>
            <a:pPr marL="0" indent="0">
              <a:buNone/>
            </a:pPr>
            <a:r>
              <a:rPr lang="tr-TR" sz="1900" u="sng" dirty="0"/>
              <a:t>Yapay radyasyon kaynakları</a:t>
            </a:r>
          </a:p>
          <a:p>
            <a:pPr marL="0" indent="0">
              <a:buNone/>
            </a:pPr>
            <a:r>
              <a:rPr lang="tr-TR" sz="1900" dirty="0"/>
              <a:t>    İnsan eliyle üretilen ve kontrollü ya da endüstriyel amaçlarla kullanılan </a:t>
            </a:r>
            <a:r>
              <a:rPr lang="tr-TR" sz="1900" b="1" dirty="0"/>
              <a:t>iyonlaştırıcı</a:t>
            </a:r>
            <a:r>
              <a:rPr lang="tr-TR" sz="1900" dirty="0"/>
              <a:t> veya </a:t>
            </a:r>
            <a:r>
              <a:rPr lang="tr-TR" sz="1900" b="1" dirty="0"/>
              <a:t>iyonlaştırıcı olmayan</a:t>
            </a:r>
            <a:r>
              <a:rPr lang="tr-TR" sz="1900" dirty="0"/>
              <a:t> radyasyon kaynaklarıdır.</a:t>
            </a:r>
          </a:p>
          <a:p>
            <a:r>
              <a:rPr lang="tr-TR" sz="1900" b="1" dirty="0"/>
              <a:t>İyonlaştırıcı radyasyon: </a:t>
            </a:r>
            <a:r>
              <a:rPr lang="tr-TR" sz="1900" dirty="0"/>
              <a:t>Atomdan </a:t>
            </a:r>
            <a:r>
              <a:rPr lang="tr-TR" sz="1900" b="1" dirty="0"/>
              <a:t>elektron koparabilecek kadar yüksek enerjili</a:t>
            </a:r>
            <a:r>
              <a:rPr lang="tr-TR" sz="1900" dirty="0"/>
              <a:t> radyasyondur. DNA ve hücre yapısını bozar ve kanser riski vardır. Düşük dozda bile uzun vadeli etki yapabilir.</a:t>
            </a:r>
            <a:r>
              <a:rPr lang="tr-TR" sz="1900" b="1" dirty="0"/>
              <a:t> </a:t>
            </a:r>
          </a:p>
          <a:p>
            <a:pPr marL="0" indent="0">
              <a:buNone/>
            </a:pPr>
            <a:r>
              <a:rPr lang="tr-TR" sz="1900" b="1" dirty="0"/>
              <a:t>   </a:t>
            </a:r>
            <a:r>
              <a:rPr lang="tr-TR" sz="1900" dirty="0"/>
              <a:t>Alfa (</a:t>
            </a:r>
            <a:r>
              <a:rPr lang="el-GR" sz="1900" dirty="0"/>
              <a:t>α)</a:t>
            </a:r>
            <a:r>
              <a:rPr lang="tr-TR" sz="1900" dirty="0"/>
              <a:t>, Beta (</a:t>
            </a:r>
            <a:r>
              <a:rPr lang="el-GR" sz="1900" dirty="0"/>
              <a:t>β)</a:t>
            </a:r>
            <a:r>
              <a:rPr lang="tr-TR" sz="1900" dirty="0"/>
              <a:t>, </a:t>
            </a:r>
            <a:r>
              <a:rPr lang="tr-TR" sz="1900" b="1" dirty="0">
                <a:solidFill>
                  <a:srgbClr val="C00000"/>
                </a:solidFill>
              </a:rPr>
              <a:t>Gama (</a:t>
            </a:r>
            <a:r>
              <a:rPr lang="el-GR" sz="1900" b="1" dirty="0">
                <a:solidFill>
                  <a:srgbClr val="C00000"/>
                </a:solidFill>
              </a:rPr>
              <a:t>γ)</a:t>
            </a:r>
            <a:r>
              <a:rPr lang="tr-TR" sz="1900" dirty="0"/>
              <a:t>, X-ışınları ve Nötron örnek olarak verilebilir. Örneğin, gamma ışınlarından korunmak için kurşun malzeme kullanılması gerekir.</a:t>
            </a:r>
          </a:p>
          <a:p>
            <a:pPr marL="0" indent="0">
              <a:buNone/>
            </a:pPr>
            <a:endParaRPr lang="tr-TR" sz="1900" dirty="0"/>
          </a:p>
          <a:p>
            <a:r>
              <a:rPr lang="tr-TR" sz="1900" b="1" dirty="0"/>
              <a:t>İyonlaştırıcı olmayan radyasyon: </a:t>
            </a:r>
            <a:r>
              <a:rPr lang="tr-TR" sz="1900" dirty="0"/>
              <a:t>Elektron koparamaz, ancak </a:t>
            </a:r>
            <a:r>
              <a:rPr lang="tr-TR" sz="1900" b="1" dirty="0"/>
              <a:t>ısı, ışık veya elektromanyetik etki</a:t>
            </a:r>
            <a:r>
              <a:rPr lang="tr-TR" sz="1900" dirty="0"/>
              <a:t> oluşturur.</a:t>
            </a:r>
          </a:p>
          <a:p>
            <a:pPr marL="0" indent="0">
              <a:buNone/>
            </a:pPr>
            <a:r>
              <a:rPr lang="tr-TR" sz="1900" dirty="0"/>
              <a:t>    Ultraviyole (UV), Görünür ışık, Kızılötesi (IR), Mikrodalga, Radyo frekansı (RF) ve Lazer örnek olarak verilebilir.</a:t>
            </a:r>
          </a:p>
          <a:p>
            <a:endParaRPr lang="tr-TR" sz="1900" dirty="0"/>
          </a:p>
          <a:p>
            <a:pPr marL="0" indent="0">
              <a:buNone/>
            </a:pPr>
            <a:endParaRPr lang="tr-TR" sz="1900" b="1" dirty="0"/>
          </a:p>
          <a:p>
            <a:endParaRPr lang="tr-TR" sz="1900" b="1" dirty="0"/>
          </a:p>
        </p:txBody>
      </p:sp>
      <p:pic>
        <p:nvPicPr>
          <p:cNvPr id="4" name="Resim 3">
            <a:extLst>
              <a:ext uri="{FF2B5EF4-FFF2-40B4-BE49-F238E27FC236}">
                <a16:creationId xmlns:a16="http://schemas.microsoft.com/office/drawing/2014/main" id="{FFE4FB92-322A-D634-3B1D-29BC9863C753}"/>
              </a:ext>
            </a:extLst>
          </p:cNvPr>
          <p:cNvPicPr>
            <a:picLocks noChangeAspect="1"/>
          </p:cNvPicPr>
          <p:nvPr/>
        </p:nvPicPr>
        <p:blipFill>
          <a:blip r:embed="rId2"/>
          <a:stretch>
            <a:fillRect/>
          </a:stretch>
        </p:blipFill>
        <p:spPr>
          <a:xfrm>
            <a:off x="9028797" y="2131398"/>
            <a:ext cx="2619375" cy="1743075"/>
          </a:xfrm>
          <a:prstGeom prst="rect">
            <a:avLst/>
          </a:prstGeom>
        </p:spPr>
      </p:pic>
    </p:spTree>
    <p:extLst>
      <p:ext uri="{BB962C8B-B14F-4D97-AF65-F5344CB8AC3E}">
        <p14:creationId xmlns:p14="http://schemas.microsoft.com/office/powerpoint/2010/main" val="1790541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34D16B2-E2EF-3EBB-8D86-0514C714C7E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a:extLst>
              <a:ext uri="{FF2B5EF4-FFF2-40B4-BE49-F238E27FC236}">
                <a16:creationId xmlns:a16="http://schemas.microsoft.com/office/drawing/2014/main" id="{B0A145C6-623C-1084-178F-EB3D44F4B795}"/>
              </a:ext>
            </a:extLst>
          </p:cNvPr>
          <p:cNvSpPr>
            <a:spLocks noGrp="1"/>
          </p:cNvSpPr>
          <p:nvPr>
            <p:ph type="title"/>
          </p:nvPr>
        </p:nvSpPr>
        <p:spPr>
          <a:xfrm>
            <a:off x="318052" y="365125"/>
            <a:ext cx="11035748" cy="1325563"/>
          </a:xfrm>
        </p:spPr>
        <p:txBody>
          <a:bodyPr>
            <a:normAutofit fontScale="90000"/>
          </a:bodyPr>
          <a:lstStyle/>
          <a:p>
            <a:r>
              <a:rPr lang="tr-TR" sz="2600" dirty="0"/>
              <a:t/>
            </a:r>
            <a:br>
              <a:rPr lang="tr-TR" sz="2600" dirty="0"/>
            </a:br>
            <a:r>
              <a:rPr lang="tr-TR" sz="4000" b="1" dirty="0">
                <a:solidFill>
                  <a:srgbClr val="7030A0"/>
                </a:solidFill>
              </a:rPr>
              <a:t>Fiziksel Etkenlere (Çevresel Zararlara) Maruz Kalma</a:t>
            </a:r>
            <a:r>
              <a:rPr lang="tr-TR" sz="4000" dirty="0">
                <a:solidFill>
                  <a:srgbClr val="7030A0"/>
                </a:solidFill>
              </a:rPr>
              <a:t/>
            </a:r>
            <a:br>
              <a:rPr lang="tr-TR" sz="4000" dirty="0">
                <a:solidFill>
                  <a:srgbClr val="7030A0"/>
                </a:solidFill>
              </a:rPr>
            </a:br>
            <a:endParaRPr lang="tr-TR" sz="4000" dirty="0">
              <a:solidFill>
                <a:srgbClr val="7030A0"/>
              </a:solidFill>
            </a:endParaRP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77338BD4-F07A-B9EB-A388-2E67CDC678A2}"/>
              </a:ext>
            </a:extLst>
          </p:cNvPr>
          <p:cNvSpPr>
            <a:spLocks noGrp="1"/>
          </p:cNvSpPr>
          <p:nvPr>
            <p:ph idx="1"/>
          </p:nvPr>
        </p:nvSpPr>
        <p:spPr>
          <a:xfrm>
            <a:off x="164892" y="1929384"/>
            <a:ext cx="6865495" cy="4066682"/>
          </a:xfrm>
        </p:spPr>
        <p:txBody>
          <a:bodyPr>
            <a:normAutofit fontScale="32500" lnSpcReduction="20000"/>
          </a:bodyPr>
          <a:lstStyle/>
          <a:p>
            <a:pPr marL="0" indent="0">
              <a:buNone/>
            </a:pPr>
            <a:r>
              <a:rPr lang="tr-TR" sz="4500" dirty="0"/>
              <a:t>Ultraviyole (UV) lambalar:</a:t>
            </a:r>
          </a:p>
          <a:p>
            <a:pPr lvl="1"/>
            <a:r>
              <a:rPr lang="tr-TR" sz="4500" dirty="0"/>
              <a:t>Sterilizasyon, bronzlaşma cihazları ve bazı endüstriyel işlemlerde kullanılır.</a:t>
            </a:r>
          </a:p>
          <a:p>
            <a:pPr lvl="1"/>
            <a:r>
              <a:rPr lang="tr-TR" sz="4500" dirty="0"/>
              <a:t>Göz ve ciltte yanık, erken yaşlanma ve kanser riski oluşturabilir.</a:t>
            </a:r>
          </a:p>
          <a:p>
            <a:pPr marL="0" indent="0">
              <a:buNone/>
            </a:pPr>
            <a:r>
              <a:rPr lang="tr-TR" sz="4500" dirty="0"/>
              <a:t>Lazer sistemleri:</a:t>
            </a:r>
          </a:p>
          <a:p>
            <a:pPr lvl="1"/>
            <a:r>
              <a:rPr lang="tr-TR" sz="4500" dirty="0"/>
              <a:t>Cerrahi, kesim, ölçüm ve iletişim teknolojilerinde kullanılır.</a:t>
            </a:r>
          </a:p>
          <a:p>
            <a:pPr lvl="1"/>
            <a:r>
              <a:rPr lang="tr-TR" sz="4500" dirty="0"/>
              <a:t>Göz ve deri için tehlikeli olabilir; koruyucu gözlük ve ekranlar gereklidir.</a:t>
            </a:r>
          </a:p>
          <a:p>
            <a:pPr marL="0" indent="0">
              <a:buNone/>
            </a:pPr>
            <a:r>
              <a:rPr lang="tr-TR" sz="4500" dirty="0"/>
              <a:t>Mikrodalga ve radyo frekans kaynakları:</a:t>
            </a:r>
          </a:p>
          <a:p>
            <a:pPr lvl="1"/>
            <a:r>
              <a:rPr lang="tr-TR" sz="4500" dirty="0"/>
              <a:t>Haberleşme sistemleri, radarlar, endüstriyel ısıtma ve mikrodalga fırınlarda bulunur.</a:t>
            </a:r>
          </a:p>
          <a:p>
            <a:pPr lvl="1"/>
            <a:r>
              <a:rPr lang="tr-TR" sz="4500" dirty="0"/>
              <a:t>Aşırı maruziyet, doku ısınması ve termal hasara neden olabilir.</a:t>
            </a:r>
          </a:p>
          <a:p>
            <a:pPr marL="0" indent="0">
              <a:buNone/>
            </a:pPr>
            <a:r>
              <a:rPr lang="tr-TR" sz="3300" dirty="0"/>
              <a:t>.</a:t>
            </a:r>
          </a:p>
          <a:p>
            <a:pPr marL="457200" lvl="1" indent="0">
              <a:buNone/>
            </a:pPr>
            <a:endParaRPr lang="tr-TR" sz="2000" dirty="0"/>
          </a:p>
          <a:p>
            <a:pPr marL="457200" lvl="1" indent="0">
              <a:buNone/>
            </a:pPr>
            <a:r>
              <a:rPr lang="tr-TR" sz="1000" dirty="0"/>
              <a:t/>
            </a:r>
            <a:br>
              <a:rPr lang="tr-TR" sz="1000" dirty="0"/>
            </a:br>
            <a:endParaRPr lang="tr-TR" sz="1000" dirty="0"/>
          </a:p>
        </p:txBody>
      </p:sp>
      <p:pic>
        <p:nvPicPr>
          <p:cNvPr id="4" name="Resim 3">
            <a:extLst>
              <a:ext uri="{FF2B5EF4-FFF2-40B4-BE49-F238E27FC236}">
                <a16:creationId xmlns:a16="http://schemas.microsoft.com/office/drawing/2014/main" id="{86236F4F-21C8-6092-DB2A-C426EAAE395E}"/>
              </a:ext>
            </a:extLst>
          </p:cNvPr>
          <p:cNvPicPr>
            <a:picLocks noChangeAspect="1"/>
          </p:cNvPicPr>
          <p:nvPr/>
        </p:nvPicPr>
        <p:blipFill>
          <a:blip r:embed="rId2"/>
          <a:stretch>
            <a:fillRect/>
          </a:stretch>
        </p:blipFill>
        <p:spPr>
          <a:xfrm>
            <a:off x="6967045" y="2382737"/>
            <a:ext cx="5060063" cy="2174939"/>
          </a:xfrm>
          <a:prstGeom prst="rect">
            <a:avLst/>
          </a:prstGeom>
        </p:spPr>
      </p:pic>
      <p:sp>
        <p:nvSpPr>
          <p:cNvPr id="6" name="Metin kutusu 5">
            <a:extLst>
              <a:ext uri="{FF2B5EF4-FFF2-40B4-BE49-F238E27FC236}">
                <a16:creationId xmlns:a16="http://schemas.microsoft.com/office/drawing/2014/main" id="{885B0D98-7EA0-EFE0-91A9-545E97109254}"/>
              </a:ext>
            </a:extLst>
          </p:cNvPr>
          <p:cNvSpPr txBox="1"/>
          <p:nvPr/>
        </p:nvSpPr>
        <p:spPr>
          <a:xfrm>
            <a:off x="3888665" y="5118903"/>
            <a:ext cx="9142785" cy="1754326"/>
          </a:xfrm>
          <a:prstGeom prst="rect">
            <a:avLst/>
          </a:prstGeom>
          <a:noFill/>
        </p:spPr>
        <p:txBody>
          <a:bodyPr wrap="square" rtlCol="0">
            <a:spAutoFit/>
          </a:bodyPr>
          <a:lstStyle/>
          <a:p>
            <a:r>
              <a:rPr lang="tr-TR" dirty="0"/>
              <a:t>Kızılötesi (</a:t>
            </a:r>
            <a:r>
              <a:rPr lang="tr-TR" dirty="0" err="1"/>
              <a:t>infrared</a:t>
            </a:r>
            <a:r>
              <a:rPr lang="tr-TR" dirty="0"/>
              <a:t>) ısıtıcılar:</a:t>
            </a:r>
          </a:p>
          <a:p>
            <a:pPr marL="800100" lvl="1" indent="-342900">
              <a:buFont typeface="Arial" panose="020B0604020202020204" pitchFamily="34" charset="0"/>
              <a:buChar char="•"/>
            </a:pPr>
            <a:r>
              <a:rPr lang="tr-TR" dirty="0"/>
              <a:t>Uzaktan kumandalar: Televizyon ve klima gibi cihazlarda sinyal iletimi için.</a:t>
            </a:r>
          </a:p>
          <a:p>
            <a:pPr marL="800100" lvl="1" indent="-342900">
              <a:buFont typeface="Arial" panose="020B0604020202020204" pitchFamily="34" charset="0"/>
              <a:buChar char="•"/>
            </a:pPr>
            <a:r>
              <a:rPr lang="tr-TR" dirty="0"/>
              <a:t>Gece görüş sistemleri: Karanlıkta ısı farklarını algılayarak görüntü oluşturur.</a:t>
            </a:r>
          </a:p>
          <a:p>
            <a:pPr marL="800100" lvl="1" indent="-342900">
              <a:buFont typeface="Arial" panose="020B0604020202020204" pitchFamily="34" charset="0"/>
              <a:buChar char="•"/>
            </a:pPr>
            <a:r>
              <a:rPr lang="tr-TR" dirty="0"/>
              <a:t>Tıp: Fizik tedavi ve kas gevşetici uygulamalarda.</a:t>
            </a:r>
          </a:p>
          <a:p>
            <a:pPr marL="800100" lvl="1" indent="-342900">
              <a:buFont typeface="Arial" panose="020B0604020202020204" pitchFamily="34" charset="0"/>
              <a:buChar char="•"/>
            </a:pPr>
            <a:r>
              <a:rPr lang="tr-TR" dirty="0"/>
              <a:t>Sanayi: Isıtma, kurutma ve kalite kontrol sistemlerinde.</a:t>
            </a:r>
          </a:p>
          <a:p>
            <a:pPr marL="800100" lvl="1" indent="-342900">
              <a:buFont typeface="Arial" panose="020B0604020202020204" pitchFamily="34" charset="0"/>
              <a:buChar char="•"/>
            </a:pPr>
            <a:r>
              <a:rPr lang="tr-TR" dirty="0"/>
              <a:t>Uzun süreli yakın temas, ciltte yanık ve göz hasarına yol açabilir</a:t>
            </a:r>
          </a:p>
        </p:txBody>
      </p:sp>
    </p:spTree>
    <p:extLst>
      <p:ext uri="{BB962C8B-B14F-4D97-AF65-F5344CB8AC3E}">
        <p14:creationId xmlns:p14="http://schemas.microsoft.com/office/powerpoint/2010/main" val="35313920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372D8-7A3D-2ED1-9F2E-64D264332C05}"/>
            </a:ext>
          </a:extLst>
        </p:cNvPr>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03B4411B-E8E8-CE60-91E7-4FAD08B087F7}"/>
              </a:ext>
            </a:extLst>
          </p:cNvPr>
          <p:cNvSpPr>
            <a:spLocks noGrp="1"/>
          </p:cNvSpPr>
          <p:nvPr>
            <p:ph idx="1"/>
          </p:nvPr>
        </p:nvSpPr>
        <p:spPr>
          <a:xfrm>
            <a:off x="838199" y="1825624"/>
            <a:ext cx="10794167" cy="5032376"/>
          </a:xfrm>
        </p:spPr>
        <p:txBody>
          <a:bodyPr>
            <a:normAutofit/>
          </a:bodyPr>
          <a:lstStyle/>
          <a:p>
            <a:pPr marL="457200" lvl="1" indent="0">
              <a:buNone/>
            </a:pPr>
            <a:endParaRPr lang="tr-TR" sz="3800" dirty="0"/>
          </a:p>
          <a:p>
            <a:pPr marL="457200" lvl="1" indent="0">
              <a:buNone/>
            </a:pPr>
            <a:r>
              <a:rPr lang="tr-TR" dirty="0"/>
              <a:t/>
            </a:r>
            <a:br>
              <a:rPr lang="tr-TR" dirty="0"/>
            </a:br>
            <a:endParaRPr lang="tr-TR" dirty="0"/>
          </a:p>
        </p:txBody>
      </p:sp>
      <p:graphicFrame>
        <p:nvGraphicFramePr>
          <p:cNvPr id="2" name="Tablo 1">
            <a:extLst>
              <a:ext uri="{FF2B5EF4-FFF2-40B4-BE49-F238E27FC236}">
                <a16:creationId xmlns:a16="http://schemas.microsoft.com/office/drawing/2014/main" id="{84B6E926-24B9-5F8D-FC27-3F97CB799813}"/>
              </a:ext>
            </a:extLst>
          </p:cNvPr>
          <p:cNvGraphicFramePr>
            <a:graphicFrameLocks noGrp="1"/>
          </p:cNvGraphicFramePr>
          <p:nvPr>
            <p:extLst>
              <p:ext uri="{D42A27DB-BD31-4B8C-83A1-F6EECF244321}">
                <p14:modId xmlns:p14="http://schemas.microsoft.com/office/powerpoint/2010/main" val="3539492875"/>
              </p:ext>
            </p:extLst>
          </p:nvPr>
        </p:nvGraphicFramePr>
        <p:xfrm>
          <a:off x="139908" y="612509"/>
          <a:ext cx="12052092" cy="7412318"/>
        </p:xfrm>
        <a:graphic>
          <a:graphicData uri="http://schemas.openxmlformats.org/drawingml/2006/table">
            <a:tbl>
              <a:tblPr firstRow="1" firstCol="1" bandRow="1">
                <a:tableStyleId>{5C22544A-7EE6-4342-B048-85BDC9FD1C3A}</a:tableStyleId>
              </a:tblPr>
              <a:tblGrid>
                <a:gridCol w="1680149">
                  <a:extLst>
                    <a:ext uri="{9D8B030D-6E8A-4147-A177-3AD203B41FA5}">
                      <a16:colId xmlns:a16="http://schemas.microsoft.com/office/drawing/2014/main" val="2033763963"/>
                    </a:ext>
                  </a:extLst>
                </a:gridCol>
                <a:gridCol w="2596999">
                  <a:extLst>
                    <a:ext uri="{9D8B030D-6E8A-4147-A177-3AD203B41FA5}">
                      <a16:colId xmlns:a16="http://schemas.microsoft.com/office/drawing/2014/main" val="3995789253"/>
                    </a:ext>
                  </a:extLst>
                </a:gridCol>
                <a:gridCol w="2591648">
                  <a:extLst>
                    <a:ext uri="{9D8B030D-6E8A-4147-A177-3AD203B41FA5}">
                      <a16:colId xmlns:a16="http://schemas.microsoft.com/office/drawing/2014/main" val="2921400161"/>
                    </a:ext>
                  </a:extLst>
                </a:gridCol>
                <a:gridCol w="2591648">
                  <a:extLst>
                    <a:ext uri="{9D8B030D-6E8A-4147-A177-3AD203B41FA5}">
                      <a16:colId xmlns:a16="http://schemas.microsoft.com/office/drawing/2014/main" val="1974784550"/>
                    </a:ext>
                  </a:extLst>
                </a:gridCol>
                <a:gridCol w="2591648">
                  <a:extLst>
                    <a:ext uri="{9D8B030D-6E8A-4147-A177-3AD203B41FA5}">
                      <a16:colId xmlns:a16="http://schemas.microsoft.com/office/drawing/2014/main" val="233832877"/>
                    </a:ext>
                  </a:extLst>
                </a:gridCol>
              </a:tblGrid>
              <a:tr h="393745">
                <a:tc>
                  <a:txBody>
                    <a:bodyPr/>
                    <a:lstStyle/>
                    <a:p>
                      <a:pPr>
                        <a:lnSpc>
                          <a:spcPct val="115000"/>
                        </a:lnSpc>
                        <a:spcAft>
                          <a:spcPts val="1000"/>
                        </a:spcAft>
                        <a:buNone/>
                      </a:pPr>
                      <a:r>
                        <a:rPr lang="en-US" sz="1800" cap="all">
                          <a:effectLst/>
                        </a:rPr>
                        <a:t>Radyasyon Türü</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cap="all">
                          <a:effectLst/>
                        </a:rPr>
                        <a:t>Alt Türler / Örnekler</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cap="all">
                          <a:effectLst/>
                        </a:rPr>
                        <a:t>İşyerindeki Kaynaklar</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cap="all">
                          <a:effectLst/>
                        </a:rPr>
                        <a:t>Başlıca Etkiler</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cap="all">
                          <a:effectLst/>
                        </a:rPr>
                        <a:t>Sağlık Riski Düzeyi</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extLst>
                  <a:ext uri="{0D108BD9-81ED-4DB2-BD59-A6C34878D82A}">
                    <a16:rowId xmlns:a16="http://schemas.microsoft.com/office/drawing/2014/main" val="2263674057"/>
                  </a:ext>
                </a:extLst>
              </a:tr>
              <a:tr h="599354">
                <a:tc>
                  <a:txBody>
                    <a:bodyPr/>
                    <a:lstStyle/>
                    <a:p>
                      <a:pPr>
                        <a:lnSpc>
                          <a:spcPct val="115000"/>
                        </a:lnSpc>
                        <a:spcAft>
                          <a:spcPts val="1000"/>
                        </a:spcAft>
                        <a:buNone/>
                      </a:pPr>
                      <a:r>
                        <a:rPr lang="en-US" sz="1800" cap="all" dirty="0" err="1">
                          <a:effectLst/>
                        </a:rPr>
                        <a:t>İyonlaştırıcı</a:t>
                      </a:r>
                      <a:endParaRPr lang="tr-TR" sz="1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dirty="0">
                          <a:effectLst/>
                        </a:rPr>
                        <a:t>Alfa (α)</a:t>
                      </a:r>
                      <a:endParaRPr lang="tr-TR" sz="1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Radyoaktif maddeler, madenler</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İç organ hasarı (solunumla)</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Yüksek</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extLst>
                  <a:ext uri="{0D108BD9-81ED-4DB2-BD59-A6C34878D82A}">
                    <a16:rowId xmlns:a16="http://schemas.microsoft.com/office/drawing/2014/main" val="3543003635"/>
                  </a:ext>
                </a:extLst>
              </a:tr>
              <a:tr h="393745">
                <a:tc>
                  <a:txBody>
                    <a:bodyPr/>
                    <a:lstStyle/>
                    <a:p>
                      <a:pPr>
                        <a:lnSpc>
                          <a:spcPct val="115000"/>
                        </a:lnSpc>
                        <a:spcAft>
                          <a:spcPts val="1000"/>
                        </a:spcAft>
                        <a:buNone/>
                      </a:pPr>
                      <a:r>
                        <a:rPr lang="en-US" sz="1800" cap="all" dirty="0">
                          <a:effectLst/>
                        </a:rPr>
                        <a:t> </a:t>
                      </a:r>
                      <a:endParaRPr lang="tr-TR" sz="1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Beta (β)</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Endüstriyel ölçüm cihazları</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Deri ve göz hasarı</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Yüksek</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extLst>
                  <a:ext uri="{0D108BD9-81ED-4DB2-BD59-A6C34878D82A}">
                    <a16:rowId xmlns:a16="http://schemas.microsoft.com/office/drawing/2014/main" val="601820361"/>
                  </a:ext>
                </a:extLst>
              </a:tr>
              <a:tr h="599354">
                <a:tc>
                  <a:txBody>
                    <a:bodyPr/>
                    <a:lstStyle/>
                    <a:p>
                      <a:pPr>
                        <a:lnSpc>
                          <a:spcPct val="115000"/>
                        </a:lnSpc>
                        <a:spcAft>
                          <a:spcPts val="1000"/>
                        </a:spcAft>
                        <a:buNone/>
                      </a:pPr>
                      <a:r>
                        <a:rPr lang="en-US" sz="1800" cap="all">
                          <a:effectLst/>
                        </a:rPr>
                        <a:t> </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Gama (γ)</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Endüstriyel radyografi, nükleer tesisler</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DNA hasarı, kanser</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Çok yüksek</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extLst>
                  <a:ext uri="{0D108BD9-81ED-4DB2-BD59-A6C34878D82A}">
                    <a16:rowId xmlns:a16="http://schemas.microsoft.com/office/drawing/2014/main" val="4217021742"/>
                  </a:ext>
                </a:extLst>
              </a:tr>
              <a:tr h="393745">
                <a:tc>
                  <a:txBody>
                    <a:bodyPr/>
                    <a:lstStyle/>
                    <a:p>
                      <a:pPr>
                        <a:lnSpc>
                          <a:spcPct val="115000"/>
                        </a:lnSpc>
                        <a:spcAft>
                          <a:spcPts val="1000"/>
                        </a:spcAft>
                        <a:buNone/>
                      </a:pPr>
                      <a:r>
                        <a:rPr lang="en-US" sz="1800" cap="all">
                          <a:effectLst/>
                        </a:rPr>
                        <a:t> </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X-ışınları</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Röntgen, BT, floroskopi</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Kanser, katarakt</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Çok yüksek</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extLst>
                  <a:ext uri="{0D108BD9-81ED-4DB2-BD59-A6C34878D82A}">
                    <a16:rowId xmlns:a16="http://schemas.microsoft.com/office/drawing/2014/main" val="3891455654"/>
                  </a:ext>
                </a:extLst>
              </a:tr>
              <a:tr h="393745">
                <a:tc>
                  <a:txBody>
                    <a:bodyPr/>
                    <a:lstStyle/>
                    <a:p>
                      <a:pPr>
                        <a:lnSpc>
                          <a:spcPct val="115000"/>
                        </a:lnSpc>
                        <a:spcAft>
                          <a:spcPts val="1000"/>
                        </a:spcAft>
                        <a:buNone/>
                      </a:pPr>
                      <a:r>
                        <a:rPr lang="en-US" sz="1800" cap="all">
                          <a:effectLst/>
                        </a:rPr>
                        <a:t> </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Nötron</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Nükleer reaktörler</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Derin doku hasarı</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Çok yüksek</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extLst>
                  <a:ext uri="{0D108BD9-81ED-4DB2-BD59-A6C34878D82A}">
                    <a16:rowId xmlns:a16="http://schemas.microsoft.com/office/drawing/2014/main" val="1059750507"/>
                  </a:ext>
                </a:extLst>
              </a:tr>
              <a:tr h="599354">
                <a:tc>
                  <a:txBody>
                    <a:bodyPr/>
                    <a:lstStyle/>
                    <a:p>
                      <a:pPr>
                        <a:lnSpc>
                          <a:spcPct val="115000"/>
                        </a:lnSpc>
                        <a:spcAft>
                          <a:spcPts val="1000"/>
                        </a:spcAft>
                        <a:buNone/>
                      </a:pPr>
                      <a:r>
                        <a:rPr lang="en-US" sz="1800" cap="all">
                          <a:effectLst/>
                        </a:rPr>
                        <a:t>İyonlaştırıcı olmayan</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Ultraviyole (UV)</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Kaynak makineleri, güneş</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Cilt kanseri, göz yanıkları</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Orta</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extLst>
                  <a:ext uri="{0D108BD9-81ED-4DB2-BD59-A6C34878D82A}">
                    <a16:rowId xmlns:a16="http://schemas.microsoft.com/office/drawing/2014/main" val="1612949716"/>
                  </a:ext>
                </a:extLst>
              </a:tr>
              <a:tr h="393745">
                <a:tc>
                  <a:txBody>
                    <a:bodyPr/>
                    <a:lstStyle/>
                    <a:p>
                      <a:pPr>
                        <a:lnSpc>
                          <a:spcPct val="115000"/>
                        </a:lnSpc>
                        <a:spcAft>
                          <a:spcPts val="1000"/>
                        </a:spcAft>
                        <a:buNone/>
                      </a:pPr>
                      <a:r>
                        <a:rPr lang="en-US" sz="1800" cap="all">
                          <a:effectLst/>
                        </a:rPr>
                        <a:t> </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Görünür ışık</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Yoğun aydınlatma</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Göz yorgunluğu</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Düşük-Orta</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extLst>
                  <a:ext uri="{0D108BD9-81ED-4DB2-BD59-A6C34878D82A}">
                    <a16:rowId xmlns:a16="http://schemas.microsoft.com/office/drawing/2014/main" val="1893606520"/>
                  </a:ext>
                </a:extLst>
              </a:tr>
              <a:tr h="393745">
                <a:tc>
                  <a:txBody>
                    <a:bodyPr/>
                    <a:lstStyle/>
                    <a:p>
                      <a:pPr>
                        <a:lnSpc>
                          <a:spcPct val="115000"/>
                        </a:lnSpc>
                        <a:spcAft>
                          <a:spcPts val="1000"/>
                        </a:spcAft>
                        <a:buNone/>
                      </a:pPr>
                      <a:r>
                        <a:rPr lang="en-US" sz="1800" cap="all">
                          <a:effectLst/>
                        </a:rPr>
                        <a:t> </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Kızılötesi (IR)</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Fırınlar, dökümhaneler</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Isı stresi, yanık</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Orta</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extLst>
                  <a:ext uri="{0D108BD9-81ED-4DB2-BD59-A6C34878D82A}">
                    <a16:rowId xmlns:a16="http://schemas.microsoft.com/office/drawing/2014/main" val="2466652679"/>
                  </a:ext>
                </a:extLst>
              </a:tr>
              <a:tr h="393745">
                <a:tc>
                  <a:txBody>
                    <a:bodyPr/>
                    <a:lstStyle/>
                    <a:p>
                      <a:pPr>
                        <a:lnSpc>
                          <a:spcPct val="115000"/>
                        </a:lnSpc>
                        <a:spcAft>
                          <a:spcPts val="1000"/>
                        </a:spcAft>
                        <a:buNone/>
                      </a:pPr>
                      <a:r>
                        <a:rPr lang="en-US" sz="1800" cap="all">
                          <a:effectLst/>
                        </a:rPr>
                        <a:t> </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Mikrodalga</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Endüstriyel mikrodalgalar</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Doku ısınması</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Orta</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extLst>
                  <a:ext uri="{0D108BD9-81ED-4DB2-BD59-A6C34878D82A}">
                    <a16:rowId xmlns:a16="http://schemas.microsoft.com/office/drawing/2014/main" val="1465865729"/>
                  </a:ext>
                </a:extLst>
              </a:tr>
              <a:tr h="599354">
                <a:tc>
                  <a:txBody>
                    <a:bodyPr/>
                    <a:lstStyle/>
                    <a:p>
                      <a:pPr>
                        <a:lnSpc>
                          <a:spcPct val="115000"/>
                        </a:lnSpc>
                        <a:spcAft>
                          <a:spcPts val="1000"/>
                        </a:spcAft>
                        <a:buNone/>
                      </a:pPr>
                      <a:r>
                        <a:rPr lang="en-US" sz="1800" cap="all">
                          <a:effectLst/>
                        </a:rPr>
                        <a:t> </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Radyo Frekansı (RF)</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Baz istasyonları, radar</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Sinir sistemi etkileri</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Düşük-Orta</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extLst>
                  <a:ext uri="{0D108BD9-81ED-4DB2-BD59-A6C34878D82A}">
                    <a16:rowId xmlns:a16="http://schemas.microsoft.com/office/drawing/2014/main" val="222464440"/>
                  </a:ext>
                </a:extLst>
              </a:tr>
              <a:tr h="393745">
                <a:tc>
                  <a:txBody>
                    <a:bodyPr/>
                    <a:lstStyle/>
                    <a:p>
                      <a:pPr>
                        <a:lnSpc>
                          <a:spcPct val="115000"/>
                        </a:lnSpc>
                        <a:spcAft>
                          <a:spcPts val="1000"/>
                        </a:spcAft>
                        <a:buNone/>
                      </a:pPr>
                      <a:r>
                        <a:rPr lang="en-US" sz="1800" cap="all">
                          <a:effectLst/>
                        </a:rPr>
                        <a:t> </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Lazer</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Lazer kesim, tıbbi lazer</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Göz ve cilt hasarı</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dirty="0">
                          <a:effectLst/>
                        </a:rPr>
                        <a:t>Yüksek (</a:t>
                      </a:r>
                      <a:r>
                        <a:rPr lang="en-US" sz="1800" dirty="0" err="1">
                          <a:effectLst/>
                        </a:rPr>
                        <a:t>lokal</a:t>
                      </a:r>
                      <a:r>
                        <a:rPr lang="en-US" sz="1800" dirty="0">
                          <a:effectLst/>
                        </a:rPr>
                        <a:t>)</a:t>
                      </a:r>
                      <a:endParaRPr lang="tr-TR" sz="1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extLst>
                  <a:ext uri="{0D108BD9-81ED-4DB2-BD59-A6C34878D82A}">
                    <a16:rowId xmlns:a16="http://schemas.microsoft.com/office/drawing/2014/main" val="359576457"/>
                  </a:ext>
                </a:extLst>
              </a:tr>
            </a:tbl>
          </a:graphicData>
        </a:graphic>
      </p:graphicFrame>
    </p:spTree>
    <p:extLst>
      <p:ext uri="{BB962C8B-B14F-4D97-AF65-F5344CB8AC3E}">
        <p14:creationId xmlns:p14="http://schemas.microsoft.com/office/powerpoint/2010/main" val="9373794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90B0333-6634-9847-65B4-52DD8105B7D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9781A0-2342-0AB7-4C95-8B41A348109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a:extLst>
              <a:ext uri="{FF2B5EF4-FFF2-40B4-BE49-F238E27FC236}">
                <a16:creationId xmlns:a16="http://schemas.microsoft.com/office/drawing/2014/main" id="{8DFF8941-AA07-A8EE-2972-E9585601ED61}"/>
              </a:ext>
            </a:extLst>
          </p:cNvPr>
          <p:cNvSpPr>
            <a:spLocks noGrp="1"/>
          </p:cNvSpPr>
          <p:nvPr>
            <p:ph type="title"/>
          </p:nvPr>
        </p:nvSpPr>
        <p:spPr>
          <a:xfrm>
            <a:off x="329784" y="365125"/>
            <a:ext cx="11407514" cy="1325563"/>
          </a:xfrm>
        </p:spPr>
        <p:txBody>
          <a:bodyPr>
            <a:normAutofit fontScale="90000"/>
          </a:bodyPr>
          <a:lstStyle/>
          <a:p>
            <a:r>
              <a:rPr lang="tr-TR" sz="2600" dirty="0"/>
              <a:t/>
            </a:r>
            <a:br>
              <a:rPr lang="tr-TR" sz="2600" dirty="0"/>
            </a:br>
            <a:r>
              <a:rPr lang="tr-TR" b="1" dirty="0">
                <a:solidFill>
                  <a:srgbClr val="7030A0"/>
                </a:solidFill>
              </a:rPr>
              <a:t>Fiziksel Etkenlere (Çevresel Zararlara) Maruz Kalma</a:t>
            </a:r>
            <a:r>
              <a:rPr lang="tr-TR" sz="2600" dirty="0"/>
              <a:t/>
            </a:r>
            <a:br>
              <a:rPr lang="tr-TR" sz="2600" dirty="0"/>
            </a:br>
            <a:endParaRPr lang="tr-TR" sz="2600" dirty="0"/>
          </a:p>
        </p:txBody>
      </p:sp>
      <p:sp>
        <p:nvSpPr>
          <p:cNvPr id="10" name="sketch line">
            <a:extLst>
              <a:ext uri="{FF2B5EF4-FFF2-40B4-BE49-F238E27FC236}">
                <a16:creationId xmlns:a16="http://schemas.microsoft.com/office/drawing/2014/main" id="{7621200E-7F27-A4D2-CC12-83F5D11AE3E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E8FB4E75-F3EA-A6E0-ED08-63A2D4E3E15D}"/>
              </a:ext>
            </a:extLst>
          </p:cNvPr>
          <p:cNvSpPr>
            <a:spLocks noGrp="1"/>
          </p:cNvSpPr>
          <p:nvPr>
            <p:ph idx="1"/>
          </p:nvPr>
        </p:nvSpPr>
        <p:spPr>
          <a:xfrm>
            <a:off x="669036" y="1929384"/>
            <a:ext cx="10853928" cy="4251960"/>
          </a:xfrm>
        </p:spPr>
        <p:txBody>
          <a:bodyPr>
            <a:normAutofit lnSpcReduction="10000"/>
          </a:bodyPr>
          <a:lstStyle/>
          <a:p>
            <a:pPr marL="457200" lvl="1" indent="0" algn="just">
              <a:buNone/>
            </a:pPr>
            <a:r>
              <a:rPr lang="tr-TR" sz="2000" u="sng" dirty="0"/>
              <a:t>Isı-sıcaklık </a:t>
            </a:r>
          </a:p>
          <a:p>
            <a:pPr marL="457200" lvl="1" indent="0" algn="just">
              <a:buNone/>
            </a:pPr>
            <a:r>
              <a:rPr lang="tr-TR" sz="2000" dirty="0"/>
              <a:t>   Isı ve sıcaklık, iş hijyeninde yalnızca konfor değil, </a:t>
            </a:r>
            <a:r>
              <a:rPr lang="tr-TR" sz="2000" b="1" dirty="0"/>
              <a:t>sağlık ve güvenlik</a:t>
            </a:r>
            <a:r>
              <a:rPr lang="tr-TR" sz="2000" dirty="0"/>
              <a:t> açısından da kritik bir faktördür. Uygun kontrol önlemleri alınmadığında, hem kısa vadeli rahatsızlıklar hem de uzun vadeli sağlık sorunları ortaya çıkabilir.</a:t>
            </a:r>
          </a:p>
          <a:p>
            <a:pPr marL="457200" lvl="1" indent="0" algn="just">
              <a:buNone/>
            </a:pPr>
            <a:endParaRPr lang="tr-TR" sz="2000" b="1" dirty="0">
              <a:solidFill>
                <a:srgbClr val="0F1015"/>
              </a:solidFill>
            </a:endParaRPr>
          </a:p>
          <a:p>
            <a:pPr marL="457200" lvl="1" indent="0" algn="just">
              <a:buNone/>
            </a:pPr>
            <a:r>
              <a:rPr lang="tr-TR" sz="2000" b="1" dirty="0">
                <a:solidFill>
                  <a:srgbClr val="0F1015"/>
                </a:solidFill>
              </a:rPr>
              <a:t>İş Hijyeni Açısından Önlemler:</a:t>
            </a:r>
          </a:p>
          <a:p>
            <a:pPr>
              <a:lnSpc>
                <a:spcPts val="1650"/>
              </a:lnSpc>
              <a:buNone/>
            </a:pPr>
            <a:endParaRPr lang="tr-TR" sz="2000" dirty="0">
              <a:solidFill>
                <a:srgbClr val="0F1015"/>
              </a:solidFill>
            </a:endParaRPr>
          </a:p>
          <a:p>
            <a:pPr>
              <a:lnSpc>
                <a:spcPts val="1650"/>
              </a:lnSpc>
            </a:pPr>
            <a:r>
              <a:rPr lang="tr-TR" sz="2000" dirty="0">
                <a:solidFill>
                  <a:srgbClr val="0F1015"/>
                </a:solidFill>
              </a:rPr>
              <a:t>Radyasyon kaynaklarının </a:t>
            </a:r>
            <a:r>
              <a:rPr lang="tr-TR" sz="2000" b="1" dirty="0">
                <a:solidFill>
                  <a:srgbClr val="0F1015"/>
                </a:solidFill>
              </a:rPr>
              <a:t>düzenli kalibrasyonu ve bakımı</a:t>
            </a:r>
            <a:endParaRPr lang="tr-TR" sz="2000" dirty="0">
              <a:solidFill>
                <a:srgbClr val="0F1015"/>
              </a:solidFill>
            </a:endParaRPr>
          </a:p>
          <a:p>
            <a:pPr>
              <a:lnSpc>
                <a:spcPts val="1650"/>
              </a:lnSpc>
            </a:pPr>
            <a:r>
              <a:rPr lang="tr-TR" sz="2000" b="1" dirty="0">
                <a:solidFill>
                  <a:srgbClr val="0F1015"/>
                </a:solidFill>
              </a:rPr>
              <a:t>Koruyucu bariyerler</a:t>
            </a:r>
            <a:r>
              <a:rPr lang="tr-TR" sz="2000" dirty="0">
                <a:solidFill>
                  <a:srgbClr val="0F1015"/>
                </a:solidFill>
              </a:rPr>
              <a:t> (kurşun, beton, özel camlar)</a:t>
            </a:r>
          </a:p>
          <a:p>
            <a:pPr>
              <a:lnSpc>
                <a:spcPts val="1650"/>
              </a:lnSpc>
            </a:pPr>
            <a:r>
              <a:rPr lang="tr-TR" sz="2000" b="1" dirty="0">
                <a:solidFill>
                  <a:srgbClr val="0F1015"/>
                </a:solidFill>
              </a:rPr>
              <a:t>Kişisel dozimetre kullanımı</a:t>
            </a:r>
            <a:endParaRPr lang="tr-TR" sz="2000" dirty="0">
              <a:solidFill>
                <a:srgbClr val="0F1015"/>
              </a:solidFill>
            </a:endParaRPr>
          </a:p>
          <a:p>
            <a:pPr>
              <a:lnSpc>
                <a:spcPts val="1650"/>
              </a:lnSpc>
            </a:pPr>
            <a:r>
              <a:rPr lang="tr-TR" sz="2000" b="1" dirty="0">
                <a:solidFill>
                  <a:srgbClr val="0F1015"/>
                </a:solidFill>
              </a:rPr>
              <a:t>Eğitim ve farkındalık programları</a:t>
            </a:r>
            <a:endParaRPr lang="tr-TR" sz="2000" dirty="0">
              <a:solidFill>
                <a:srgbClr val="0F1015"/>
              </a:solidFill>
            </a:endParaRPr>
          </a:p>
          <a:p>
            <a:pPr>
              <a:lnSpc>
                <a:spcPts val="1650"/>
              </a:lnSpc>
            </a:pPr>
            <a:r>
              <a:rPr lang="tr-TR" sz="2000" b="1" dirty="0">
                <a:solidFill>
                  <a:srgbClr val="0F1015"/>
                </a:solidFill>
              </a:rPr>
              <a:t>Yasal sınır değerlerin</a:t>
            </a:r>
            <a:r>
              <a:rPr lang="tr-TR" sz="2000" dirty="0">
                <a:solidFill>
                  <a:srgbClr val="0F1015"/>
                </a:solidFill>
              </a:rPr>
              <a:t> izlenmesi ve raporlanması</a:t>
            </a:r>
          </a:p>
          <a:p>
            <a:pPr marL="0" indent="0">
              <a:buNone/>
            </a:pPr>
            <a:endParaRPr lang="tr-TR" sz="2000" b="1" dirty="0"/>
          </a:p>
          <a:p>
            <a:endParaRPr lang="tr-TR" sz="1900" b="1" dirty="0"/>
          </a:p>
        </p:txBody>
      </p:sp>
    </p:spTree>
    <p:extLst>
      <p:ext uri="{BB962C8B-B14F-4D97-AF65-F5344CB8AC3E}">
        <p14:creationId xmlns:p14="http://schemas.microsoft.com/office/powerpoint/2010/main" val="13149289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89C6712-E1FA-FDC1-71B1-0CDCFAA7AD8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F8B66D3-A708-0391-2468-789FE2AF8F2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a:extLst>
              <a:ext uri="{FF2B5EF4-FFF2-40B4-BE49-F238E27FC236}">
                <a16:creationId xmlns:a16="http://schemas.microsoft.com/office/drawing/2014/main" id="{BCE28FB1-E426-F8B9-EDB6-D60AEF03A3FD}"/>
              </a:ext>
            </a:extLst>
          </p:cNvPr>
          <p:cNvSpPr>
            <a:spLocks noGrp="1"/>
          </p:cNvSpPr>
          <p:nvPr>
            <p:ph type="title"/>
          </p:nvPr>
        </p:nvSpPr>
        <p:spPr>
          <a:xfrm>
            <a:off x="329783" y="365125"/>
            <a:ext cx="11647357" cy="1325563"/>
          </a:xfrm>
        </p:spPr>
        <p:txBody>
          <a:bodyPr>
            <a:normAutofit fontScale="90000"/>
          </a:bodyPr>
          <a:lstStyle/>
          <a:p>
            <a:r>
              <a:rPr lang="tr-TR" sz="2600" dirty="0"/>
              <a:t/>
            </a:r>
            <a:br>
              <a:rPr lang="tr-TR" sz="2600" dirty="0"/>
            </a:br>
            <a:r>
              <a:rPr lang="tr-TR" b="1" dirty="0">
                <a:solidFill>
                  <a:schemeClr val="accent2"/>
                </a:solidFill>
              </a:rPr>
              <a:t>Sağlık Riski Oluşturan Tehlikelerin Değerlendirilmesi</a:t>
            </a:r>
            <a:r>
              <a:rPr lang="tr-TR" sz="2600" dirty="0"/>
              <a:t/>
            </a:r>
            <a:br>
              <a:rPr lang="tr-TR" sz="2600" dirty="0"/>
            </a:br>
            <a:endParaRPr lang="tr-TR" sz="2600" dirty="0"/>
          </a:p>
        </p:txBody>
      </p:sp>
      <p:sp>
        <p:nvSpPr>
          <p:cNvPr id="10" name="sketch line">
            <a:extLst>
              <a:ext uri="{FF2B5EF4-FFF2-40B4-BE49-F238E27FC236}">
                <a16:creationId xmlns:a16="http://schemas.microsoft.com/office/drawing/2014/main" id="{578C1209-46CF-7A90-AB8C-BF429DAD21A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53C5A828-EC19-03CB-0492-B256BC4C2E9C}"/>
              </a:ext>
            </a:extLst>
          </p:cNvPr>
          <p:cNvSpPr>
            <a:spLocks noGrp="1"/>
          </p:cNvSpPr>
          <p:nvPr>
            <p:ph idx="1"/>
          </p:nvPr>
        </p:nvSpPr>
        <p:spPr>
          <a:xfrm>
            <a:off x="669036" y="1929384"/>
            <a:ext cx="11308104" cy="4696268"/>
          </a:xfrm>
        </p:spPr>
        <p:txBody>
          <a:bodyPr>
            <a:normAutofit fontScale="70000" lnSpcReduction="20000"/>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tr-TR" sz="2200" b="1" i="0" u="none" strike="noStrike" kern="1200" cap="none" spc="0" normalizeH="0" baseline="0" noProof="0" dirty="0">
                <a:ln>
                  <a:noFill/>
                </a:ln>
                <a:solidFill>
                  <a:prstClr val="black"/>
                </a:solidFill>
                <a:effectLst/>
                <a:uLnTx/>
                <a:uFillTx/>
                <a:latin typeface="Aptos" panose="02110004020202020204"/>
                <a:ea typeface="+mn-ea"/>
                <a:cs typeface="+mn-cs"/>
              </a:rPr>
              <a:t>1. Tehlikelerin Tanımlanması (Belirleme Aşaması)</a:t>
            </a:r>
            <a:endParaRPr kumimoji="0" lang="tr-TR" sz="22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tr-TR" sz="2200" b="0" i="0" u="none" strike="noStrike" kern="1200" cap="none" spc="0" normalizeH="0" baseline="0" noProof="0" dirty="0">
                <a:ln>
                  <a:noFill/>
                </a:ln>
                <a:solidFill>
                  <a:prstClr val="black"/>
                </a:solidFill>
                <a:effectLst/>
                <a:uLnTx/>
                <a:uFillTx/>
                <a:latin typeface="Aptos" panose="02110004020202020204"/>
                <a:ea typeface="+mn-ea"/>
                <a:cs typeface="+mn-cs"/>
              </a:rPr>
              <a:t>Çalışma ortamında bulunan </a:t>
            </a:r>
            <a:r>
              <a:rPr kumimoji="0" lang="tr-TR" sz="2200" b="1" i="0" u="none" strike="noStrike" kern="1200" cap="none" spc="0" normalizeH="0" baseline="0" noProof="0" dirty="0">
                <a:ln>
                  <a:noFill/>
                </a:ln>
                <a:solidFill>
                  <a:prstClr val="black"/>
                </a:solidFill>
                <a:effectLst/>
                <a:uLnTx/>
                <a:uFillTx/>
                <a:latin typeface="Aptos" panose="02110004020202020204"/>
                <a:ea typeface="+mn-ea"/>
                <a:cs typeface="+mn-cs"/>
              </a:rPr>
              <a:t>tüm potansiyel zararlı etkenler</a:t>
            </a:r>
            <a:r>
              <a:rPr kumimoji="0" lang="tr-TR" sz="2200" b="0" i="0" u="none" strike="noStrike" kern="1200" cap="none" spc="0" normalizeH="0" baseline="0" noProof="0" dirty="0">
                <a:ln>
                  <a:noFill/>
                </a:ln>
                <a:solidFill>
                  <a:prstClr val="black"/>
                </a:solidFill>
                <a:effectLst/>
                <a:uLnTx/>
                <a:uFillTx/>
                <a:latin typeface="Aptos" panose="02110004020202020204"/>
                <a:ea typeface="+mn-ea"/>
                <a:cs typeface="+mn-cs"/>
              </a:rPr>
              <a:t> belirlenir:</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tr-TR" sz="2200" b="1" i="0" u="none" strike="noStrike" kern="1200" cap="none" spc="0" normalizeH="0" baseline="0" noProof="0" dirty="0">
                <a:ln>
                  <a:noFill/>
                </a:ln>
                <a:solidFill>
                  <a:prstClr val="black"/>
                </a:solidFill>
                <a:effectLst/>
                <a:uLnTx/>
                <a:uFillTx/>
                <a:latin typeface="Aptos" panose="02110004020202020204"/>
                <a:ea typeface="+mn-ea"/>
                <a:cs typeface="+mn-cs"/>
              </a:rPr>
              <a:t>Kimyasal:</a:t>
            </a:r>
            <a:r>
              <a:rPr kumimoji="0" lang="tr-TR" sz="2200" b="0" i="0" u="none" strike="noStrike" kern="1200" cap="none" spc="0" normalizeH="0" baseline="0" noProof="0" dirty="0">
                <a:ln>
                  <a:noFill/>
                </a:ln>
                <a:solidFill>
                  <a:prstClr val="black"/>
                </a:solidFill>
                <a:effectLst/>
                <a:uLnTx/>
                <a:uFillTx/>
                <a:latin typeface="Aptos" panose="02110004020202020204"/>
                <a:ea typeface="+mn-ea"/>
                <a:cs typeface="+mn-cs"/>
              </a:rPr>
              <a:t> Gazlar, buharlar, tozlar, çözücüler</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tr-TR" sz="2200" b="1" i="0" u="none" strike="noStrike" kern="1200" cap="none" spc="0" normalizeH="0" baseline="0" noProof="0" dirty="0">
                <a:ln>
                  <a:noFill/>
                </a:ln>
                <a:solidFill>
                  <a:prstClr val="black"/>
                </a:solidFill>
                <a:effectLst/>
                <a:uLnTx/>
                <a:uFillTx/>
                <a:latin typeface="Aptos" panose="02110004020202020204"/>
                <a:ea typeface="+mn-ea"/>
                <a:cs typeface="+mn-cs"/>
              </a:rPr>
              <a:t>Fiziksel:</a:t>
            </a:r>
            <a:r>
              <a:rPr kumimoji="0" lang="tr-TR" sz="2200" b="0" i="0" u="none" strike="noStrike" kern="1200" cap="none" spc="0" normalizeH="0" baseline="0" noProof="0" dirty="0">
                <a:ln>
                  <a:noFill/>
                </a:ln>
                <a:solidFill>
                  <a:prstClr val="black"/>
                </a:solidFill>
                <a:effectLst/>
                <a:uLnTx/>
                <a:uFillTx/>
                <a:latin typeface="Aptos" panose="02110004020202020204"/>
                <a:ea typeface="+mn-ea"/>
                <a:cs typeface="+mn-cs"/>
              </a:rPr>
              <a:t> Gürültü, titreşim, radyasyon, sıcaklık</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tr-TR" sz="2200" b="1" i="0" u="none" strike="noStrike" kern="1200" cap="none" spc="0" normalizeH="0" baseline="0" noProof="0" dirty="0">
                <a:ln>
                  <a:noFill/>
                </a:ln>
                <a:solidFill>
                  <a:prstClr val="black"/>
                </a:solidFill>
                <a:effectLst/>
                <a:uLnTx/>
                <a:uFillTx/>
                <a:latin typeface="Aptos" panose="02110004020202020204"/>
                <a:ea typeface="+mn-ea"/>
                <a:cs typeface="+mn-cs"/>
              </a:rPr>
              <a:t>Biyolojik:</a:t>
            </a:r>
            <a:r>
              <a:rPr kumimoji="0" lang="tr-TR" sz="2200" b="0" i="0" u="none" strike="noStrike" kern="1200" cap="none" spc="0" normalizeH="0" baseline="0" noProof="0" dirty="0">
                <a:ln>
                  <a:noFill/>
                </a:ln>
                <a:solidFill>
                  <a:prstClr val="black"/>
                </a:solidFill>
                <a:effectLst/>
                <a:uLnTx/>
                <a:uFillTx/>
                <a:latin typeface="Aptos" panose="02110004020202020204"/>
                <a:ea typeface="+mn-ea"/>
                <a:cs typeface="+mn-cs"/>
              </a:rPr>
              <a:t> Mikroorganizmalar, mantarlar, virüsler</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tr-TR" sz="2200" b="1" i="0" u="none" strike="noStrike" kern="1200" cap="none" spc="0" normalizeH="0" baseline="0" noProof="0" dirty="0">
                <a:ln>
                  <a:noFill/>
                </a:ln>
                <a:solidFill>
                  <a:prstClr val="black"/>
                </a:solidFill>
                <a:effectLst/>
                <a:uLnTx/>
                <a:uFillTx/>
                <a:latin typeface="Aptos" panose="02110004020202020204"/>
                <a:ea typeface="+mn-ea"/>
                <a:cs typeface="+mn-cs"/>
              </a:rPr>
              <a:t>Ergonomik ve psikososyal:</a:t>
            </a:r>
            <a:r>
              <a:rPr kumimoji="0" lang="tr-TR" sz="2200" b="0" i="0" u="none" strike="noStrike" kern="1200" cap="none" spc="0" normalizeH="0" baseline="0" noProof="0" dirty="0">
                <a:ln>
                  <a:noFill/>
                </a:ln>
                <a:solidFill>
                  <a:prstClr val="black"/>
                </a:solidFill>
                <a:effectLst/>
                <a:uLnTx/>
                <a:uFillTx/>
                <a:latin typeface="Aptos" panose="02110004020202020204"/>
                <a:ea typeface="+mn-ea"/>
                <a:cs typeface="+mn-cs"/>
              </a:rPr>
              <a:t> Uygun olmayan duruş, stres, vardiya düzeni</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tr-TR" sz="2200" b="0" i="0" u="none" strike="noStrike" kern="1200" cap="none" spc="0" normalizeH="0" baseline="0" noProof="0" dirty="0">
                <a:ln>
                  <a:noFill/>
                </a:ln>
                <a:solidFill>
                  <a:prstClr val="black"/>
                </a:solidFill>
                <a:effectLst/>
                <a:uLnTx/>
                <a:uFillTx/>
                <a:latin typeface="Aptos" panose="02110004020202020204"/>
                <a:ea typeface="+mn-ea"/>
                <a:cs typeface="+mn-cs"/>
              </a:rPr>
              <a:t>Bu aşamada </a:t>
            </a:r>
            <a:r>
              <a:rPr kumimoji="0" lang="tr-TR" sz="2200" b="1" i="0" u="none" strike="noStrike" kern="1200" cap="none" spc="0" normalizeH="0" baseline="0" noProof="0" dirty="0">
                <a:ln>
                  <a:noFill/>
                </a:ln>
                <a:solidFill>
                  <a:prstClr val="black"/>
                </a:solidFill>
                <a:effectLst/>
                <a:uLnTx/>
                <a:uFillTx/>
                <a:latin typeface="Aptos" panose="02110004020202020204"/>
                <a:ea typeface="+mn-ea"/>
                <a:cs typeface="+mn-cs"/>
              </a:rPr>
              <a:t>iş akışları, kullanılan maddeler, ekipmanlar ve çalışma koşulları</a:t>
            </a:r>
            <a:r>
              <a:rPr kumimoji="0" lang="tr-TR" sz="2200" b="0" i="0" u="none" strike="noStrike" kern="1200" cap="none" spc="0" normalizeH="0" baseline="0" noProof="0" dirty="0">
                <a:ln>
                  <a:noFill/>
                </a:ln>
                <a:solidFill>
                  <a:prstClr val="black"/>
                </a:solidFill>
                <a:effectLst/>
                <a:uLnTx/>
                <a:uFillTx/>
                <a:latin typeface="Aptos" panose="02110004020202020204"/>
                <a:ea typeface="+mn-ea"/>
                <a:cs typeface="+mn-cs"/>
              </a:rPr>
              <a:t> incelenir.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tr-TR" sz="22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tr-TR" sz="2200" b="1" i="0" u="none" strike="noStrike" kern="1200" cap="none" spc="0" normalizeH="0" baseline="0" noProof="0" dirty="0">
                <a:ln>
                  <a:noFill/>
                </a:ln>
                <a:solidFill>
                  <a:prstClr val="black"/>
                </a:solidFill>
                <a:effectLst/>
                <a:uLnTx/>
                <a:uFillTx/>
                <a:latin typeface="Aptos" panose="02110004020202020204"/>
                <a:ea typeface="+mn-ea"/>
                <a:cs typeface="+mn-cs"/>
              </a:rPr>
              <a:t>2. Maruziyetin Değerlendirilmesi</a:t>
            </a:r>
            <a:endParaRPr kumimoji="0" lang="tr-TR" sz="22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tr-TR" sz="2200" b="0" i="0" u="none" strike="noStrike" kern="1200" cap="none" spc="0" normalizeH="0" baseline="0" noProof="0" dirty="0">
                <a:ln>
                  <a:noFill/>
                </a:ln>
                <a:solidFill>
                  <a:prstClr val="black"/>
                </a:solidFill>
                <a:effectLst/>
                <a:uLnTx/>
                <a:uFillTx/>
                <a:latin typeface="Aptos" panose="02110004020202020204"/>
                <a:ea typeface="+mn-ea"/>
                <a:cs typeface="+mn-cs"/>
              </a:rPr>
              <a:t>Çalışanların bu tehlikelere </a:t>
            </a:r>
            <a:r>
              <a:rPr kumimoji="0" lang="tr-TR" sz="2200" b="1" i="0" u="none" strike="noStrike" kern="1200" cap="none" spc="0" normalizeH="0" baseline="0" noProof="0" dirty="0">
                <a:ln>
                  <a:noFill/>
                </a:ln>
                <a:solidFill>
                  <a:prstClr val="black"/>
                </a:solidFill>
                <a:effectLst/>
                <a:uLnTx/>
                <a:uFillTx/>
                <a:latin typeface="Aptos" panose="02110004020202020204"/>
                <a:ea typeface="+mn-ea"/>
                <a:cs typeface="+mn-cs"/>
              </a:rPr>
              <a:t>ne kadar, ne sıklıkta ve ne süreyle</a:t>
            </a:r>
            <a:r>
              <a:rPr kumimoji="0" lang="tr-TR" sz="2200" b="0" i="0" u="none" strike="noStrike" kern="1200" cap="none" spc="0" normalizeH="0" baseline="0" noProof="0" dirty="0">
                <a:ln>
                  <a:noFill/>
                </a:ln>
                <a:solidFill>
                  <a:prstClr val="black"/>
                </a:solidFill>
                <a:effectLst/>
                <a:uLnTx/>
                <a:uFillTx/>
                <a:latin typeface="Aptos" panose="02110004020202020204"/>
                <a:ea typeface="+mn-ea"/>
                <a:cs typeface="+mn-cs"/>
              </a:rPr>
              <a:t> maruz kaldığı belirlenir.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tr-TR" sz="2200" b="0" i="0" u="none" strike="noStrike" kern="1200" cap="none" spc="0" normalizeH="0" baseline="0" noProof="0" dirty="0">
                <a:ln>
                  <a:noFill/>
                </a:ln>
                <a:solidFill>
                  <a:prstClr val="black"/>
                </a:solidFill>
                <a:effectLst/>
                <a:uLnTx/>
                <a:uFillTx/>
                <a:latin typeface="Aptos" panose="02110004020202020204"/>
                <a:ea typeface="+mn-ea"/>
                <a:cs typeface="+mn-cs"/>
              </a:rPr>
              <a:t>Ölçüm ve izleme yöntemleri kullanılır:</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tr-TR" sz="2200" b="0" i="0" u="none" strike="noStrike" kern="1200" cap="none" spc="0" normalizeH="0" baseline="0" noProof="0" dirty="0">
                <a:ln>
                  <a:noFill/>
                </a:ln>
                <a:solidFill>
                  <a:prstClr val="black"/>
                </a:solidFill>
                <a:effectLst/>
                <a:uLnTx/>
                <a:uFillTx/>
                <a:latin typeface="Aptos" panose="02110004020202020204"/>
                <a:ea typeface="+mn-ea"/>
                <a:cs typeface="+mn-cs"/>
              </a:rPr>
              <a:t>Hava örneklemesi (toz, gaz, buhar ölçümü)</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tr-TR" sz="2200" b="0" i="0" u="none" strike="noStrike" kern="1200" cap="none" spc="0" normalizeH="0" baseline="0" noProof="0" dirty="0">
                <a:ln>
                  <a:noFill/>
                </a:ln>
                <a:solidFill>
                  <a:prstClr val="black"/>
                </a:solidFill>
                <a:effectLst/>
                <a:uLnTx/>
                <a:uFillTx/>
                <a:latin typeface="Aptos" panose="02110004020202020204"/>
                <a:ea typeface="+mn-ea"/>
                <a:cs typeface="+mn-cs"/>
              </a:rPr>
              <a:t>Gürültü ve titreşim ölçümleri</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tr-TR" sz="2200" b="0" i="0" u="none" strike="noStrike" kern="1200" cap="none" spc="0" normalizeH="0" baseline="0" noProof="0" dirty="0">
                <a:ln>
                  <a:noFill/>
                </a:ln>
                <a:solidFill>
                  <a:prstClr val="black"/>
                </a:solidFill>
                <a:effectLst/>
                <a:uLnTx/>
                <a:uFillTx/>
                <a:latin typeface="Aptos" panose="02110004020202020204"/>
                <a:ea typeface="+mn-ea"/>
                <a:cs typeface="+mn-cs"/>
              </a:rPr>
              <a:t>Aydınlatma, sıcaklık, nem analizleri</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tr-TR" sz="2200" b="0" i="0" u="none" strike="noStrike" kern="1200" cap="none" spc="0" normalizeH="0" baseline="0" noProof="0" dirty="0">
                <a:ln>
                  <a:noFill/>
                </a:ln>
                <a:solidFill>
                  <a:prstClr val="black"/>
                </a:solidFill>
                <a:effectLst/>
                <a:uLnTx/>
                <a:uFillTx/>
                <a:latin typeface="Aptos" panose="02110004020202020204"/>
                <a:ea typeface="+mn-ea"/>
                <a:cs typeface="+mn-cs"/>
              </a:rPr>
              <a:t>Biyolojik izleme (kan, idrar testleri)</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tr-TR" sz="2200" b="0" i="0" u="none" strike="noStrike" kern="1200" cap="none" spc="0" normalizeH="0" baseline="0" noProof="0" dirty="0">
                <a:ln>
                  <a:noFill/>
                </a:ln>
                <a:solidFill>
                  <a:prstClr val="black"/>
                </a:solidFill>
                <a:effectLst/>
                <a:uLnTx/>
                <a:uFillTx/>
                <a:latin typeface="Aptos" panose="02110004020202020204"/>
                <a:ea typeface="+mn-ea"/>
                <a:cs typeface="+mn-cs"/>
              </a:rPr>
              <a:t>Maruziyet değerleri, </a:t>
            </a:r>
            <a:r>
              <a:rPr kumimoji="0" lang="tr-TR" sz="2200" b="1" i="0" u="none" strike="noStrike" kern="1200" cap="none" spc="0" normalizeH="0" baseline="0" noProof="0" dirty="0">
                <a:ln>
                  <a:noFill/>
                </a:ln>
                <a:solidFill>
                  <a:prstClr val="black"/>
                </a:solidFill>
                <a:effectLst/>
                <a:uLnTx/>
                <a:uFillTx/>
                <a:latin typeface="Aptos" panose="02110004020202020204"/>
                <a:ea typeface="+mn-ea"/>
                <a:cs typeface="+mn-cs"/>
              </a:rPr>
              <a:t>yasal sınır değerlerle</a:t>
            </a:r>
            <a:r>
              <a:rPr kumimoji="0" lang="tr-TR" sz="2200" b="0" i="0" u="none" strike="noStrike" kern="1200" cap="none" spc="0" normalizeH="0" baseline="0" noProof="0" dirty="0">
                <a:ln>
                  <a:noFill/>
                </a:ln>
                <a:solidFill>
                  <a:prstClr val="black"/>
                </a:solidFill>
                <a:effectLst/>
                <a:uLnTx/>
                <a:uFillTx/>
                <a:latin typeface="Aptos" panose="02110004020202020204"/>
                <a:ea typeface="+mn-ea"/>
                <a:cs typeface="+mn-cs"/>
              </a:rPr>
              <a:t> (örneğin MAK, TLV, OEL) karşılaştırılır.</a:t>
            </a:r>
          </a:p>
          <a:p>
            <a:pPr marL="0" indent="0">
              <a:buNone/>
            </a:pPr>
            <a:endParaRPr lang="tr-TR" sz="2000" b="1" dirty="0"/>
          </a:p>
          <a:p>
            <a:endParaRPr lang="tr-TR" sz="1900" b="1" dirty="0"/>
          </a:p>
        </p:txBody>
      </p:sp>
    </p:spTree>
    <p:extLst>
      <p:ext uri="{BB962C8B-B14F-4D97-AF65-F5344CB8AC3E}">
        <p14:creationId xmlns:p14="http://schemas.microsoft.com/office/powerpoint/2010/main" val="3192059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898793-C30B-9C96-D501-1F11F79D2BB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FA8C885-9BFD-7367-996D-DB8EB1E8AC8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a:extLst>
              <a:ext uri="{FF2B5EF4-FFF2-40B4-BE49-F238E27FC236}">
                <a16:creationId xmlns:a16="http://schemas.microsoft.com/office/drawing/2014/main" id="{9A36CB64-3CD7-CE21-4080-D8AEF0A45399}"/>
              </a:ext>
            </a:extLst>
          </p:cNvPr>
          <p:cNvSpPr>
            <a:spLocks noGrp="1"/>
          </p:cNvSpPr>
          <p:nvPr>
            <p:ph type="title"/>
          </p:nvPr>
        </p:nvSpPr>
        <p:spPr>
          <a:xfrm>
            <a:off x="329783" y="365125"/>
            <a:ext cx="11647357" cy="1325563"/>
          </a:xfrm>
        </p:spPr>
        <p:txBody>
          <a:bodyPr>
            <a:normAutofit fontScale="90000"/>
          </a:bodyPr>
          <a:lstStyle/>
          <a:p>
            <a:r>
              <a:rPr lang="tr-TR" sz="2600" dirty="0"/>
              <a:t/>
            </a:r>
            <a:br>
              <a:rPr lang="tr-TR" sz="2600" dirty="0"/>
            </a:br>
            <a:r>
              <a:rPr lang="tr-TR" b="1" dirty="0">
                <a:solidFill>
                  <a:schemeClr val="accent2"/>
                </a:solidFill>
              </a:rPr>
              <a:t>Sağlık Riski Oluşturan Tehlikelerin Değerlendirilmesi</a:t>
            </a:r>
            <a:r>
              <a:rPr lang="tr-TR" sz="2600" dirty="0"/>
              <a:t/>
            </a:r>
            <a:br>
              <a:rPr lang="tr-TR" sz="2600" dirty="0"/>
            </a:br>
            <a:endParaRPr lang="tr-TR" sz="2600" dirty="0"/>
          </a:p>
        </p:txBody>
      </p:sp>
      <p:sp>
        <p:nvSpPr>
          <p:cNvPr id="10" name="sketch line">
            <a:extLst>
              <a:ext uri="{FF2B5EF4-FFF2-40B4-BE49-F238E27FC236}">
                <a16:creationId xmlns:a16="http://schemas.microsoft.com/office/drawing/2014/main" id="{C397B4DB-670B-0877-5A6E-70A08F52236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E4970DC7-BFAF-ED3E-447E-9E06A4B44534}"/>
              </a:ext>
            </a:extLst>
          </p:cNvPr>
          <p:cNvSpPr>
            <a:spLocks noGrp="1"/>
          </p:cNvSpPr>
          <p:nvPr>
            <p:ph idx="1"/>
          </p:nvPr>
        </p:nvSpPr>
        <p:spPr>
          <a:xfrm>
            <a:off x="669036" y="1929384"/>
            <a:ext cx="11308104" cy="4696268"/>
          </a:xfrm>
        </p:spPr>
        <p:txBody>
          <a:bodyPr>
            <a:normAutofit lnSpcReduction="10000"/>
          </a:bodyPr>
          <a:lstStyle/>
          <a:p>
            <a:pPr marL="0" indent="0">
              <a:buNone/>
            </a:pPr>
            <a:r>
              <a:rPr lang="tr-TR" sz="2000" b="1" dirty="0"/>
              <a:t>3. Riskin Analizi ve Değerlendirilmesi</a:t>
            </a:r>
            <a:endParaRPr lang="tr-TR" sz="2000" dirty="0"/>
          </a:p>
          <a:p>
            <a:r>
              <a:rPr lang="tr-TR" sz="2000" dirty="0"/>
              <a:t>Her tehlike için </a:t>
            </a:r>
            <a:r>
              <a:rPr lang="tr-TR" sz="2000" b="1" dirty="0"/>
              <a:t>olasılık × şiddet</a:t>
            </a:r>
            <a:r>
              <a:rPr lang="tr-TR" sz="2000" dirty="0"/>
              <a:t> formülüyle risk düzeyi hesaplanır.</a:t>
            </a:r>
          </a:p>
          <a:p>
            <a:r>
              <a:rPr lang="tr-TR" sz="2000" dirty="0"/>
              <a:t>Riskler </a:t>
            </a:r>
            <a:r>
              <a:rPr lang="tr-TR" sz="2000" b="1" dirty="0"/>
              <a:t>yüksek, orta, düşük</a:t>
            </a:r>
            <a:r>
              <a:rPr lang="tr-TR" sz="2000" dirty="0"/>
              <a:t> olarak sınıflandırılır.</a:t>
            </a:r>
          </a:p>
          <a:p>
            <a:r>
              <a:rPr lang="tr-TR" sz="2000" dirty="0"/>
              <a:t>Öncelik, </a:t>
            </a:r>
            <a:r>
              <a:rPr lang="tr-TR" sz="2000" b="1" dirty="0"/>
              <a:t>yüksek riskli</a:t>
            </a:r>
            <a:r>
              <a:rPr lang="tr-TR" sz="2000" dirty="0"/>
              <a:t> tehlikelerin kontrol altına alınmasına verilir.</a:t>
            </a:r>
          </a:p>
          <a:p>
            <a:pPr marL="0" indent="0">
              <a:buNone/>
            </a:pPr>
            <a:endParaRPr lang="tr-TR" sz="2000" dirty="0"/>
          </a:p>
          <a:p>
            <a:pPr marL="0" indent="0">
              <a:buNone/>
            </a:pPr>
            <a:r>
              <a:rPr lang="tr-TR" sz="2000" b="1" dirty="0"/>
              <a:t>4. Kontrol Önlemlerinin Planlanması</a:t>
            </a:r>
            <a:r>
              <a:rPr lang="tr-TR" sz="2000" dirty="0"/>
              <a:t/>
            </a:r>
            <a:br>
              <a:rPr lang="tr-TR" sz="2000" dirty="0"/>
            </a:br>
            <a:r>
              <a:rPr lang="tr-TR" sz="2000" dirty="0"/>
              <a:t>     Risk değerlendirmesi sonucunda, </a:t>
            </a:r>
            <a:r>
              <a:rPr lang="tr-TR" sz="2000" b="1" dirty="0"/>
              <a:t>önleme hiyerarşisine</a:t>
            </a:r>
            <a:r>
              <a:rPr lang="tr-TR" sz="2000" dirty="0"/>
              <a:t> göre kontrol önlemleri belirlenir:</a:t>
            </a:r>
          </a:p>
          <a:p>
            <a:r>
              <a:rPr lang="tr-TR" sz="2000" b="1" dirty="0"/>
              <a:t>Ortadan kaldırma:</a:t>
            </a:r>
            <a:r>
              <a:rPr lang="tr-TR" sz="2000" dirty="0"/>
              <a:t> Tehlikeli madde veya işlemi tamamen kaldırmak</a:t>
            </a:r>
          </a:p>
          <a:p>
            <a:r>
              <a:rPr lang="tr-TR" sz="2000" b="1" dirty="0"/>
              <a:t>İkame:</a:t>
            </a:r>
            <a:r>
              <a:rPr lang="tr-TR" sz="2000" dirty="0"/>
              <a:t> Daha az zararlı madde veya yöntemle değiştirmek</a:t>
            </a:r>
          </a:p>
          <a:p>
            <a:r>
              <a:rPr lang="tr-TR" sz="2000" b="1" dirty="0"/>
              <a:t>Mühendislik önlemleri:</a:t>
            </a:r>
            <a:r>
              <a:rPr lang="tr-TR" sz="2000" dirty="0"/>
              <a:t> Havalandırma, izolasyon, otomasyon</a:t>
            </a:r>
          </a:p>
          <a:p>
            <a:r>
              <a:rPr lang="tr-TR" sz="2000" b="1" dirty="0"/>
              <a:t>İdari önlemler:</a:t>
            </a:r>
            <a:r>
              <a:rPr lang="tr-TR" sz="2000" dirty="0"/>
              <a:t> Çalışma süresi, vardiya düzeni, eğitim</a:t>
            </a:r>
          </a:p>
          <a:p>
            <a:r>
              <a:rPr lang="tr-TR" sz="2000" b="1" dirty="0"/>
              <a:t>Kişisel koruyucu donanım (KKD):</a:t>
            </a:r>
            <a:r>
              <a:rPr lang="tr-TR" sz="2000" dirty="0"/>
              <a:t> Maske, eldiven, gözlük, kulaklık</a:t>
            </a:r>
          </a:p>
          <a:p>
            <a:pPr marL="0" indent="0">
              <a:buNone/>
            </a:pPr>
            <a:endParaRPr lang="tr-TR" sz="1900" b="1" dirty="0"/>
          </a:p>
        </p:txBody>
      </p:sp>
    </p:spTree>
    <p:extLst>
      <p:ext uri="{BB962C8B-B14F-4D97-AF65-F5344CB8AC3E}">
        <p14:creationId xmlns:p14="http://schemas.microsoft.com/office/powerpoint/2010/main" val="30431953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1572E1C-74CB-F482-2BDF-10545C116E6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CC08559-9297-C9F1-5498-E34CD49F4AC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a:extLst>
              <a:ext uri="{FF2B5EF4-FFF2-40B4-BE49-F238E27FC236}">
                <a16:creationId xmlns:a16="http://schemas.microsoft.com/office/drawing/2014/main" id="{9D13994E-DA00-CAF2-B9E4-8E3B257CC96B}"/>
              </a:ext>
            </a:extLst>
          </p:cNvPr>
          <p:cNvSpPr>
            <a:spLocks noGrp="1"/>
          </p:cNvSpPr>
          <p:nvPr>
            <p:ph type="title"/>
          </p:nvPr>
        </p:nvSpPr>
        <p:spPr>
          <a:xfrm>
            <a:off x="329783" y="365125"/>
            <a:ext cx="11647357" cy="1325563"/>
          </a:xfrm>
        </p:spPr>
        <p:txBody>
          <a:bodyPr>
            <a:normAutofit fontScale="90000"/>
          </a:bodyPr>
          <a:lstStyle/>
          <a:p>
            <a:r>
              <a:rPr lang="tr-TR" sz="2600" dirty="0"/>
              <a:t/>
            </a:r>
            <a:br>
              <a:rPr lang="tr-TR" sz="2600" dirty="0"/>
            </a:br>
            <a:r>
              <a:rPr lang="tr-TR" b="1" dirty="0">
                <a:solidFill>
                  <a:schemeClr val="accent2"/>
                </a:solidFill>
              </a:rPr>
              <a:t>Sağlık Riski Oluşturan Tehlikelerin Değerlendirilmesi</a:t>
            </a:r>
            <a:r>
              <a:rPr lang="tr-TR" sz="2600" dirty="0"/>
              <a:t/>
            </a:r>
            <a:br>
              <a:rPr lang="tr-TR" sz="2600" dirty="0"/>
            </a:br>
            <a:endParaRPr lang="tr-TR" sz="2600" dirty="0"/>
          </a:p>
        </p:txBody>
      </p:sp>
      <p:sp>
        <p:nvSpPr>
          <p:cNvPr id="10" name="sketch line">
            <a:extLst>
              <a:ext uri="{FF2B5EF4-FFF2-40B4-BE49-F238E27FC236}">
                <a16:creationId xmlns:a16="http://schemas.microsoft.com/office/drawing/2014/main" id="{331B9411-866B-C986-24D6-633C62D8724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F4720FE2-95C9-9863-B935-3857C0FAB472}"/>
              </a:ext>
            </a:extLst>
          </p:cNvPr>
          <p:cNvSpPr>
            <a:spLocks noGrp="1"/>
          </p:cNvSpPr>
          <p:nvPr>
            <p:ph idx="1"/>
          </p:nvPr>
        </p:nvSpPr>
        <p:spPr>
          <a:xfrm>
            <a:off x="669036" y="1929384"/>
            <a:ext cx="11308104" cy="4696268"/>
          </a:xfrm>
        </p:spPr>
        <p:txBody>
          <a:bodyPr>
            <a:normAutofit fontScale="85000" lnSpcReduction="20000"/>
          </a:bodyPr>
          <a:lstStyle/>
          <a:p>
            <a:pPr marL="0" indent="0">
              <a:buNone/>
            </a:pPr>
            <a:r>
              <a:rPr lang="tr-TR" sz="2400" b="1" dirty="0"/>
              <a:t>5. İzleme, Gözden Geçirme ve Sürekli İyileştirme</a:t>
            </a:r>
            <a:endParaRPr lang="tr-TR" sz="2400" dirty="0"/>
          </a:p>
          <a:p>
            <a:r>
              <a:rPr lang="tr-TR" sz="2400" dirty="0"/>
              <a:t>Risk değerlendirmesi </a:t>
            </a:r>
            <a:r>
              <a:rPr lang="tr-TR" sz="2400" b="1" dirty="0"/>
              <a:t>düzenli aralıklarla</a:t>
            </a:r>
            <a:r>
              <a:rPr lang="tr-TR" sz="2400" dirty="0"/>
              <a:t> veya çalışma koşulları değiştiğinde yenilenmelidir.</a:t>
            </a:r>
          </a:p>
          <a:p>
            <a:r>
              <a:rPr lang="tr-TR" sz="2400" dirty="0"/>
              <a:t>Ölçüm sonuçları, sağlık gözetimi verileri ve çalışan geri bildirimleri dikkate alınarak süreç sürekli iyileştirilir.</a:t>
            </a:r>
          </a:p>
          <a:p>
            <a:endParaRPr lang="tr-TR" sz="2400" dirty="0"/>
          </a:p>
          <a:p>
            <a:pPr marL="0" indent="0">
              <a:buNone/>
            </a:pPr>
            <a:r>
              <a:rPr lang="tr-TR" sz="2400" b="1" dirty="0"/>
              <a:t>6. Belgelendirme ve Raporlama</a:t>
            </a:r>
            <a:endParaRPr lang="tr-TR" sz="2400" dirty="0"/>
          </a:p>
          <a:p>
            <a:r>
              <a:rPr lang="tr-TR" sz="2400" dirty="0"/>
              <a:t>Tüm değerlendirme sonuçları, ölçüm raporları ve alınan önlemler </a:t>
            </a:r>
            <a:r>
              <a:rPr lang="tr-TR" sz="2400" b="1" dirty="0"/>
              <a:t>dokümante edilmelidir.</a:t>
            </a:r>
            <a:endParaRPr lang="tr-TR" sz="2400" dirty="0"/>
          </a:p>
          <a:p>
            <a:r>
              <a:rPr lang="tr-TR" sz="2400" dirty="0"/>
              <a:t>Bu belgeler, hem yasal gerekliliklerin takibi hem de iş hijyeni yönetim sisteminin sürdürülebilirliği için gereklidir.</a:t>
            </a:r>
          </a:p>
          <a:p>
            <a:endParaRPr lang="tr-TR" sz="2400" dirty="0"/>
          </a:p>
          <a:p>
            <a:pPr marL="0" indent="0">
              <a:buNone/>
            </a:pPr>
            <a:r>
              <a:rPr lang="tr-TR" sz="2400" dirty="0"/>
              <a:t>    Kısacası, iş hijyeninde sağlık riski değerlendirmesi </a:t>
            </a:r>
            <a:r>
              <a:rPr lang="tr-TR" sz="2400" b="1" dirty="0"/>
              <a:t>tanımlama, ölçüm, analiz, kontrol ve izleme</a:t>
            </a:r>
            <a:r>
              <a:rPr lang="tr-TR" sz="2400" dirty="0"/>
              <a:t> aşamalarından oluşan döngüsel bir süreçtir. Bu yaklaşım, çalışan sağlığını korumanın ve güvenli bir çalışma ortamı oluşturmanın temelini oluşturur.</a:t>
            </a:r>
          </a:p>
          <a:p>
            <a:endParaRPr lang="tr-TR" sz="1900" b="1" dirty="0"/>
          </a:p>
        </p:txBody>
      </p:sp>
    </p:spTree>
    <p:extLst>
      <p:ext uri="{BB962C8B-B14F-4D97-AF65-F5344CB8AC3E}">
        <p14:creationId xmlns:p14="http://schemas.microsoft.com/office/powerpoint/2010/main" val="26869534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0437D90D-A88B-B6EC-89E9-CD5DBC484DA2}"/>
              </a:ext>
            </a:extLst>
          </p:cNvPr>
          <p:cNvSpPr>
            <a:spLocks noGrp="1"/>
          </p:cNvSpPr>
          <p:nvPr>
            <p:ph type="title"/>
          </p:nvPr>
        </p:nvSpPr>
        <p:spPr>
          <a:xfrm>
            <a:off x="640080" y="1243013"/>
            <a:ext cx="3855720" cy="4371974"/>
          </a:xfrm>
        </p:spPr>
        <p:txBody>
          <a:bodyPr>
            <a:normAutofit/>
          </a:bodyPr>
          <a:lstStyle/>
          <a:p>
            <a:r>
              <a:rPr lang="tr-TR" sz="3600" b="1" dirty="0">
                <a:solidFill>
                  <a:srgbClr val="C00000"/>
                </a:solidFill>
              </a:rPr>
              <a:t>Tehlikeleri Önleyici Kontrol Yöntemleri</a:t>
            </a:r>
            <a:endParaRPr lang="tr-TR" sz="3600" dirty="0">
              <a:solidFill>
                <a:srgbClr val="C00000"/>
              </a:solidFill>
            </a:endParaRPr>
          </a:p>
        </p:txBody>
      </p:sp>
      <p:sp>
        <p:nvSpPr>
          <p:cNvPr id="3" name="İçerik Yer Tutucusu 2">
            <a:extLst>
              <a:ext uri="{FF2B5EF4-FFF2-40B4-BE49-F238E27FC236}">
                <a16:creationId xmlns:a16="http://schemas.microsoft.com/office/drawing/2014/main" id="{1A6B7DBC-AE5E-07E4-9387-BE381D710AF4}"/>
              </a:ext>
            </a:extLst>
          </p:cNvPr>
          <p:cNvSpPr>
            <a:spLocks noGrp="1"/>
          </p:cNvSpPr>
          <p:nvPr>
            <p:ph idx="1"/>
          </p:nvPr>
        </p:nvSpPr>
        <p:spPr>
          <a:xfrm>
            <a:off x="6172200" y="804672"/>
            <a:ext cx="5221224" cy="5230368"/>
          </a:xfrm>
        </p:spPr>
        <p:txBody>
          <a:bodyPr anchor="ctr">
            <a:normAutofit/>
          </a:bodyPr>
          <a:lstStyle/>
          <a:p>
            <a:pPr marL="0" indent="0">
              <a:buNone/>
            </a:pPr>
            <a:r>
              <a:rPr lang="tr-TR" sz="1800" dirty="0">
                <a:solidFill>
                  <a:schemeClr val="tx2"/>
                </a:solidFill>
              </a:rPr>
              <a:t>    </a:t>
            </a:r>
            <a:r>
              <a:rPr lang="tr-TR" sz="2000" dirty="0"/>
              <a:t>Çalışanların zararlı etkenlere maruziyetini azaltmak veya tamamen ortadan kaldırmak için uygulanan sistematik önlemlerdir. Bu yöntemler, </a:t>
            </a:r>
            <a:r>
              <a:rPr lang="tr-TR" sz="2000" b="1" dirty="0"/>
              <a:t>önleme hiyerarşisi</a:t>
            </a:r>
            <a:r>
              <a:rPr lang="tr-TR" sz="2000" dirty="0"/>
              <a:t> çerçevesinde değerlendirilir ve en etkili olandan en az etkili olana doğru sıralanır.</a:t>
            </a:r>
          </a:p>
          <a:p>
            <a:pPr marL="0" indent="0">
              <a:buNone/>
            </a:pPr>
            <a:endParaRPr lang="tr-TR" sz="2000" dirty="0"/>
          </a:p>
          <a:p>
            <a:pPr marL="514350" indent="-514350">
              <a:buFont typeface="+mj-lt"/>
              <a:buAutoNum type="arabicPeriod"/>
            </a:pPr>
            <a:r>
              <a:rPr lang="tr-TR" sz="2000" dirty="0"/>
              <a:t>Tehlike Kaynaklarını Giderme</a:t>
            </a:r>
          </a:p>
          <a:p>
            <a:pPr marL="514350" indent="-514350">
              <a:buFont typeface="+mj-lt"/>
              <a:buAutoNum type="arabicPeriod"/>
            </a:pPr>
            <a:r>
              <a:rPr lang="tr-TR" sz="2000" dirty="0"/>
              <a:t>Kirli Havanın Dağılmasını Önleme</a:t>
            </a:r>
          </a:p>
          <a:p>
            <a:pPr marL="514350" indent="-514350">
              <a:buFont typeface="+mj-lt"/>
              <a:buAutoNum type="arabicPeriod"/>
            </a:pPr>
            <a:r>
              <a:rPr lang="tr-TR" sz="2000" dirty="0"/>
              <a:t>İşçileri Tehlikelerden Korumak</a:t>
            </a:r>
          </a:p>
          <a:p>
            <a:pPr marL="0" indent="0">
              <a:buNone/>
            </a:pPr>
            <a:endParaRPr lang="tr-TR" sz="1800" dirty="0">
              <a:solidFill>
                <a:schemeClr val="tx2"/>
              </a:solidFill>
            </a:endParaRPr>
          </a:p>
        </p:txBody>
      </p:sp>
    </p:spTree>
    <p:extLst>
      <p:ext uri="{BB962C8B-B14F-4D97-AF65-F5344CB8AC3E}">
        <p14:creationId xmlns:p14="http://schemas.microsoft.com/office/powerpoint/2010/main" val="24837718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CA512-B4D0-7AD1-396C-57084703B8F9}"/>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01729F32-E381-27BB-FD8F-9E0EFFBE13C9}"/>
              </a:ext>
            </a:extLst>
          </p:cNvPr>
          <p:cNvSpPr>
            <a:spLocks noGrp="1"/>
          </p:cNvSpPr>
          <p:nvPr>
            <p:ph type="title"/>
          </p:nvPr>
        </p:nvSpPr>
        <p:spPr/>
        <p:txBody>
          <a:bodyPr>
            <a:normAutofit/>
          </a:bodyPr>
          <a:lstStyle/>
          <a:p>
            <a:r>
              <a:rPr lang="tr-TR" sz="4000" b="1" dirty="0">
                <a:solidFill>
                  <a:srgbClr val="C00000"/>
                </a:solidFill>
              </a:rPr>
              <a:t>Tehlikeleri Önleyici Kontrol Yöntemleri</a:t>
            </a:r>
            <a:endParaRPr lang="tr-TR" sz="4000" dirty="0">
              <a:solidFill>
                <a:srgbClr val="C00000"/>
              </a:solidFill>
            </a:endParaRPr>
          </a:p>
        </p:txBody>
      </p:sp>
      <p:sp>
        <p:nvSpPr>
          <p:cNvPr id="3" name="İçerik Yer Tutucusu 2">
            <a:extLst>
              <a:ext uri="{FF2B5EF4-FFF2-40B4-BE49-F238E27FC236}">
                <a16:creationId xmlns:a16="http://schemas.microsoft.com/office/drawing/2014/main" id="{A25C9FB6-B690-4D5F-4F6C-648D924F7506}"/>
              </a:ext>
            </a:extLst>
          </p:cNvPr>
          <p:cNvSpPr>
            <a:spLocks noGrp="1"/>
          </p:cNvSpPr>
          <p:nvPr>
            <p:ph idx="1"/>
          </p:nvPr>
        </p:nvSpPr>
        <p:spPr/>
        <p:txBody>
          <a:bodyPr>
            <a:normAutofit fontScale="92500" lnSpcReduction="20000"/>
          </a:bodyPr>
          <a:lstStyle/>
          <a:p>
            <a:pPr marL="514350" indent="-514350">
              <a:buFont typeface="+mj-lt"/>
              <a:buAutoNum type="arabicPeriod"/>
            </a:pPr>
            <a:r>
              <a:rPr lang="tr-TR" u="sng" dirty="0"/>
              <a:t>Tehlike Kaynaklarını Giderme</a:t>
            </a:r>
          </a:p>
          <a:p>
            <a:pPr marL="0" indent="0">
              <a:buNone/>
            </a:pPr>
            <a:endParaRPr lang="tr-TR" u="sng" dirty="0"/>
          </a:p>
          <a:p>
            <a:r>
              <a:rPr lang="tr-TR" sz="2400" b="1" dirty="0"/>
              <a:t>Tesisat ve teçhizat değişikliği</a:t>
            </a:r>
            <a:endParaRPr lang="tr-TR" sz="2400" dirty="0"/>
          </a:p>
          <a:p>
            <a:pPr marL="0" indent="0">
              <a:buNone/>
            </a:pPr>
            <a:r>
              <a:rPr lang="tr-TR" sz="2400" dirty="0"/>
              <a:t>    İş yerinde makinelerin, ekipmanların, üretim hatlarının, havalandırma, elektrik, gaz, buhar gibi sistemlerin </a:t>
            </a:r>
            <a:r>
              <a:rPr lang="tr-TR" sz="2400" b="1" dirty="0"/>
              <a:t>yenilenmesi, değiştirilmesi veya modernize edilmesi</a:t>
            </a:r>
            <a:r>
              <a:rPr lang="tr-TR" sz="2400" dirty="0"/>
              <a:t> anlamına gelir.  Bu değişiklikler, </a:t>
            </a:r>
            <a:r>
              <a:rPr lang="tr-TR" sz="2400" b="1" dirty="0"/>
              <a:t>çalışanın maruziyetini azaltmaya yönelik mühendislik önlemleri</a:t>
            </a:r>
            <a:r>
              <a:rPr lang="tr-TR" sz="2400" dirty="0"/>
              <a:t> olarak değerlendirilir.</a:t>
            </a:r>
          </a:p>
          <a:p>
            <a:pPr marL="0" indent="0">
              <a:buNone/>
            </a:pPr>
            <a:endParaRPr lang="tr-TR" sz="2400" dirty="0"/>
          </a:p>
          <a:p>
            <a:r>
              <a:rPr lang="tr-TR" sz="2400" b="1" dirty="0"/>
              <a:t>Zehirli Olmayan veya Daha Az Zehirli Olan Maddelerin Kullanılması</a:t>
            </a:r>
            <a:endParaRPr lang="tr-TR" sz="2400" dirty="0"/>
          </a:p>
          <a:p>
            <a:pPr marL="0" indent="0">
              <a:buNone/>
            </a:pPr>
            <a:r>
              <a:rPr lang="tr-TR" sz="2400" dirty="0" smtClean="0"/>
              <a:t>   Çoğu </a:t>
            </a:r>
            <a:r>
              <a:rPr lang="tr-TR" sz="2400" dirty="0"/>
              <a:t>zaman, üretimin niteliği ve niceliği bakımından bunu başarmak zor olmaktadır. Bu durum, değişiklik yapılmadan önce dikkatle göz önünde bulundurulmalıdır.</a:t>
            </a:r>
          </a:p>
          <a:p>
            <a:pPr marL="0" indent="0">
              <a:buNone/>
            </a:pPr>
            <a:endParaRPr lang="tr-TR" dirty="0"/>
          </a:p>
          <a:p>
            <a:pPr marL="0" indent="0">
              <a:buNone/>
            </a:pPr>
            <a:endParaRPr lang="tr-TR" dirty="0"/>
          </a:p>
          <a:p>
            <a:pPr marL="0" indent="0">
              <a:buNone/>
            </a:pPr>
            <a:endParaRPr lang="tr-TR" dirty="0"/>
          </a:p>
        </p:txBody>
      </p:sp>
    </p:spTree>
    <p:extLst>
      <p:ext uri="{BB962C8B-B14F-4D97-AF65-F5344CB8AC3E}">
        <p14:creationId xmlns:p14="http://schemas.microsoft.com/office/powerpoint/2010/main" val="38329748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2E38F-4B99-9FC5-8D5B-C0239AB0EC39}"/>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7A298C50-7341-1974-F113-B78A6FACF0BD}"/>
              </a:ext>
            </a:extLst>
          </p:cNvPr>
          <p:cNvSpPr>
            <a:spLocks noGrp="1"/>
          </p:cNvSpPr>
          <p:nvPr>
            <p:ph type="title"/>
          </p:nvPr>
        </p:nvSpPr>
        <p:spPr/>
        <p:txBody>
          <a:bodyPr>
            <a:normAutofit/>
          </a:bodyPr>
          <a:lstStyle/>
          <a:p>
            <a:r>
              <a:rPr lang="tr-TR" sz="4000" b="1" dirty="0">
                <a:solidFill>
                  <a:srgbClr val="C00000"/>
                </a:solidFill>
              </a:rPr>
              <a:t>Tehlikeleri Önleyici Kontrol Yöntemleri</a:t>
            </a:r>
            <a:endParaRPr lang="tr-TR" sz="4000" dirty="0">
              <a:solidFill>
                <a:srgbClr val="C00000"/>
              </a:solidFill>
            </a:endParaRPr>
          </a:p>
        </p:txBody>
      </p:sp>
      <p:pic>
        <p:nvPicPr>
          <p:cNvPr id="5" name="İçerik Yer Tutucusu 4" descr="metin, ekran görüntüsü, yazı tipi, sayı, numara içeren bir resim&#10;&#10;Yapay zeka tarafından oluşturulmuş içerik yanlış olabilir.">
            <a:extLst>
              <a:ext uri="{FF2B5EF4-FFF2-40B4-BE49-F238E27FC236}">
                <a16:creationId xmlns:a16="http://schemas.microsoft.com/office/drawing/2014/main" id="{F55972EE-8265-A4B8-0305-C33454BDC9F5}"/>
              </a:ext>
            </a:extLst>
          </p:cNvPr>
          <p:cNvPicPr>
            <a:picLocks noGrp="1" noChangeAspect="1"/>
          </p:cNvPicPr>
          <p:nvPr>
            <p:ph idx="1"/>
          </p:nvPr>
        </p:nvPicPr>
        <p:blipFill>
          <a:blip r:embed="rId2"/>
          <a:stretch>
            <a:fillRect/>
          </a:stretch>
        </p:blipFill>
        <p:spPr>
          <a:xfrm>
            <a:off x="556706" y="2414484"/>
            <a:ext cx="11081907" cy="2713218"/>
          </a:xfrm>
          <a:prstGeom prst="rect">
            <a:avLst/>
          </a:prstGeom>
        </p:spPr>
      </p:pic>
    </p:spTree>
    <p:extLst>
      <p:ext uri="{BB962C8B-B14F-4D97-AF65-F5344CB8AC3E}">
        <p14:creationId xmlns:p14="http://schemas.microsoft.com/office/powerpoint/2010/main" val="41699525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2F961-9AB0-7C65-16D6-BBC0692CD749}"/>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7010D518-1C7B-A98D-EC59-9A31FD5E9969}"/>
              </a:ext>
            </a:extLst>
          </p:cNvPr>
          <p:cNvSpPr>
            <a:spLocks noGrp="1"/>
          </p:cNvSpPr>
          <p:nvPr>
            <p:ph type="title"/>
          </p:nvPr>
        </p:nvSpPr>
        <p:spPr/>
        <p:txBody>
          <a:bodyPr>
            <a:normAutofit/>
          </a:bodyPr>
          <a:lstStyle/>
          <a:p>
            <a:r>
              <a:rPr lang="tr-TR" sz="4000" b="1" dirty="0">
                <a:solidFill>
                  <a:srgbClr val="C00000"/>
                </a:solidFill>
              </a:rPr>
              <a:t>Tehlikeleri Önleyici Kontrol Yöntemleri</a:t>
            </a:r>
            <a:endParaRPr lang="tr-TR" sz="4000" dirty="0">
              <a:solidFill>
                <a:srgbClr val="C00000"/>
              </a:solidFill>
            </a:endParaRPr>
          </a:p>
        </p:txBody>
      </p:sp>
      <p:sp>
        <p:nvSpPr>
          <p:cNvPr id="3" name="İçerik Yer Tutucusu 2">
            <a:extLst>
              <a:ext uri="{FF2B5EF4-FFF2-40B4-BE49-F238E27FC236}">
                <a16:creationId xmlns:a16="http://schemas.microsoft.com/office/drawing/2014/main" id="{0FC251AD-215B-2C17-4632-D8DCFEA84EA5}"/>
              </a:ext>
            </a:extLst>
          </p:cNvPr>
          <p:cNvSpPr>
            <a:spLocks noGrp="1"/>
          </p:cNvSpPr>
          <p:nvPr>
            <p:ph idx="1"/>
          </p:nvPr>
        </p:nvSpPr>
        <p:spPr>
          <a:xfrm>
            <a:off x="614597" y="1825624"/>
            <a:ext cx="10739203" cy="4904959"/>
          </a:xfrm>
        </p:spPr>
        <p:txBody>
          <a:bodyPr>
            <a:normAutofit fontScale="62500" lnSpcReduction="20000"/>
          </a:bodyPr>
          <a:lstStyle/>
          <a:p>
            <a:r>
              <a:rPr lang="tr-TR" b="1" dirty="0"/>
              <a:t>Üretim Yöntemini Değiştirme</a:t>
            </a:r>
            <a:endParaRPr lang="tr-TR" dirty="0"/>
          </a:p>
          <a:p>
            <a:pPr marL="0" indent="0">
              <a:buNone/>
            </a:pPr>
            <a:r>
              <a:rPr lang="tr-TR" dirty="0"/>
              <a:t>   Üretim yöntemlerinin sık sık değiştirilmesi, meslek hastalıklarını meydana getiren tehlikeleri kısmen veya tamamen ortadan kaldırabilir. Genellikle, işyerindeki büyük değişikliklerde Maliyet Artışları dikkatle göz önünde bulundurulmalıdır.</a:t>
            </a:r>
          </a:p>
          <a:p>
            <a:pPr marL="0" indent="0">
              <a:buNone/>
            </a:pPr>
            <a:r>
              <a:rPr lang="tr-TR" dirty="0"/>
              <a:t>   Bu konuda bazı örnekler:</a:t>
            </a:r>
          </a:p>
          <a:p>
            <a:pPr>
              <a:buFont typeface="Wingdings" panose="05000000000000000000" pitchFamily="2" charset="2"/>
              <a:buChar char="Ø"/>
            </a:pPr>
            <a:r>
              <a:rPr lang="tr-TR" dirty="0"/>
              <a:t>Sis, buhar ve gazların meydana geldiği kimyasal reaksiyonlarda sıcaklık, basınç ve reaksiyon hızının kontrolü.</a:t>
            </a:r>
          </a:p>
          <a:p>
            <a:pPr>
              <a:buFont typeface="Wingdings" panose="05000000000000000000" pitchFamily="2" charset="2"/>
              <a:buChar char="Ø"/>
            </a:pPr>
            <a:r>
              <a:rPr lang="tr-TR" dirty="0"/>
              <a:t>Kaynak ve lehim işleri yerine saç kesme ve perçinleme işlerinin yapılması.</a:t>
            </a:r>
          </a:p>
          <a:p>
            <a:pPr>
              <a:buFont typeface="Wingdings" panose="05000000000000000000" pitchFamily="2" charset="2"/>
              <a:buChar char="Ø"/>
            </a:pPr>
            <a:r>
              <a:rPr lang="tr-TR" dirty="0"/>
              <a:t>El ile yapılan işlerin, yükleme makineleri, araç gereçleri ile yapılması.</a:t>
            </a:r>
          </a:p>
          <a:p>
            <a:pPr marL="0" indent="0">
              <a:buNone/>
            </a:pPr>
            <a:endParaRPr lang="tr-TR" dirty="0"/>
          </a:p>
          <a:p>
            <a:r>
              <a:rPr lang="tr-TR" b="1" dirty="0"/>
              <a:t>İşyeri Düzeni</a:t>
            </a:r>
            <a:endParaRPr lang="tr-TR" dirty="0"/>
          </a:p>
          <a:p>
            <a:pPr marL="0" indent="0">
              <a:buNone/>
            </a:pPr>
            <a:r>
              <a:rPr lang="tr-TR" dirty="0"/>
              <a:t>    İşyerinin düzenli olması, havanın toz veya dumanlarla kirlenmesini önleme bakımından hayati önem taşır. Tozların, yeniden yayılmasını önleyecek şekilde etkili vakumlu temizleyicilerin bulunması ve herhangi bir temizleme işinin, işyerinde çok az işçi bulunduğu sürelerde yapılması gerekir.</a:t>
            </a:r>
          </a:p>
          <a:p>
            <a:pPr>
              <a:buFont typeface="Wingdings" panose="05000000000000000000" pitchFamily="2" charset="2"/>
              <a:buChar char="Ø"/>
            </a:pPr>
            <a:endParaRPr lang="tr-TR" dirty="0"/>
          </a:p>
          <a:p>
            <a:pPr marL="0" indent="0">
              <a:buNone/>
            </a:pPr>
            <a:endParaRPr lang="tr-TR" dirty="0"/>
          </a:p>
          <a:p>
            <a:pPr marL="0" indent="0">
              <a:buNone/>
            </a:pPr>
            <a:endParaRPr lang="tr-TR" dirty="0"/>
          </a:p>
        </p:txBody>
      </p:sp>
    </p:spTree>
    <p:extLst>
      <p:ext uri="{BB962C8B-B14F-4D97-AF65-F5344CB8AC3E}">
        <p14:creationId xmlns:p14="http://schemas.microsoft.com/office/powerpoint/2010/main" val="24594380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2A5338D-02D7-50B0-A0AE-2586DC6FE0A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718681-A12E-49D6-9925-DD7C68176D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BD77573-9EF2-4C35-8285-A1CF6FBB0EA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5511704"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Başlık 1">
            <a:extLst>
              <a:ext uri="{FF2B5EF4-FFF2-40B4-BE49-F238E27FC236}">
                <a16:creationId xmlns:a16="http://schemas.microsoft.com/office/drawing/2014/main" id="{14F9CEE4-64B8-1AC3-C848-E231311132E0}"/>
              </a:ext>
            </a:extLst>
          </p:cNvPr>
          <p:cNvSpPr>
            <a:spLocks noGrp="1"/>
          </p:cNvSpPr>
          <p:nvPr>
            <p:ph type="title"/>
          </p:nvPr>
        </p:nvSpPr>
        <p:spPr>
          <a:xfrm>
            <a:off x="838200" y="713312"/>
            <a:ext cx="4038600" cy="5431376"/>
          </a:xfrm>
        </p:spPr>
        <p:txBody>
          <a:bodyPr>
            <a:normAutofit/>
          </a:bodyPr>
          <a:lstStyle/>
          <a:p>
            <a:r>
              <a:rPr lang="tr-TR" b="1" dirty="0">
                <a:solidFill>
                  <a:srgbClr val="C00000"/>
                </a:solidFill>
              </a:rPr>
              <a:t>Tehlikeleri Önleyici Kontrol Yöntemleri</a:t>
            </a:r>
            <a:endParaRPr lang="tr-TR" dirty="0">
              <a:solidFill>
                <a:srgbClr val="C00000"/>
              </a:solidFill>
            </a:endParaRPr>
          </a:p>
        </p:txBody>
      </p:sp>
      <p:sp>
        <p:nvSpPr>
          <p:cNvPr id="3" name="İçerik Yer Tutucusu 2">
            <a:extLst>
              <a:ext uri="{FF2B5EF4-FFF2-40B4-BE49-F238E27FC236}">
                <a16:creationId xmlns:a16="http://schemas.microsoft.com/office/drawing/2014/main" id="{BB1AB6F2-BA47-B283-3675-81DEEC845DB4}"/>
              </a:ext>
            </a:extLst>
          </p:cNvPr>
          <p:cNvSpPr>
            <a:spLocks noGrp="1"/>
          </p:cNvSpPr>
          <p:nvPr>
            <p:ph idx="1"/>
          </p:nvPr>
        </p:nvSpPr>
        <p:spPr>
          <a:xfrm>
            <a:off x="6095999" y="713312"/>
            <a:ext cx="5511704" cy="6017272"/>
          </a:xfrm>
        </p:spPr>
        <p:txBody>
          <a:bodyPr anchor="ctr">
            <a:normAutofit lnSpcReduction="10000"/>
          </a:bodyPr>
          <a:lstStyle/>
          <a:p>
            <a:pPr marL="514350" indent="-514350">
              <a:buAutoNum type="arabicPeriod" startAt="2"/>
            </a:pPr>
            <a:r>
              <a:rPr lang="tr-TR" sz="1900" u="sng" dirty="0"/>
              <a:t>Kirli Havanın Dağılmasını Önleme</a:t>
            </a:r>
          </a:p>
          <a:p>
            <a:pPr marL="0" indent="0">
              <a:buNone/>
            </a:pPr>
            <a:endParaRPr lang="tr-TR" sz="1900" u="sng" dirty="0"/>
          </a:p>
          <a:p>
            <a:pPr marL="0" indent="0">
              <a:buNone/>
            </a:pPr>
            <a:r>
              <a:rPr lang="tr-TR" sz="1900" dirty="0"/>
              <a:t>     Hava kirlenmesinin meydana gelmesini önlemenin, olası veya pratik olmadığı durumlarda, meydana gelen toz, gaz, buhar </a:t>
            </a:r>
            <a:r>
              <a:rPr lang="tr-TR" sz="1900" dirty="0" err="1"/>
              <a:t>vb</a:t>
            </a:r>
            <a:r>
              <a:rPr lang="tr-TR" sz="1900" dirty="0"/>
              <a:t>.'</a:t>
            </a:r>
            <a:r>
              <a:rPr lang="tr-TR" sz="1900" dirty="0" err="1"/>
              <a:t>nin</a:t>
            </a:r>
            <a:r>
              <a:rPr lang="tr-TR" sz="1900" dirty="0"/>
              <a:t> işyerine yayılmasını (dağılmasını) önlemek </a:t>
            </a:r>
            <a:r>
              <a:rPr lang="tr-TR" sz="1900" dirty="0" smtClean="0"/>
              <a:t>gerekir. Bu </a:t>
            </a:r>
            <a:r>
              <a:rPr lang="tr-TR" sz="1900" dirty="0"/>
              <a:t>durumu başarmak için denenmiş 5 yol vardır.</a:t>
            </a:r>
          </a:p>
          <a:p>
            <a:r>
              <a:rPr lang="tr-TR" sz="1900" dirty="0"/>
              <a:t>Tehlikeli üretim yapılan işyerini – işi diğerlerinden ayırmak (tecrit etmek).</a:t>
            </a:r>
          </a:p>
          <a:p>
            <a:r>
              <a:rPr lang="tr-TR" sz="1900" dirty="0"/>
              <a:t>Tehlikeli üretim yapılan makine ve tesisatı tamamen kapalı duruma getirmek.</a:t>
            </a:r>
          </a:p>
          <a:p>
            <a:r>
              <a:rPr lang="tr-TR" sz="1900" dirty="0"/>
              <a:t>Islak (yaş) yöntem uygulamak.</a:t>
            </a:r>
          </a:p>
          <a:p>
            <a:r>
              <a:rPr lang="tr-TR" sz="1900" dirty="0"/>
              <a:t>Yerel (lokal, mevzii) olarak kirli havanın emilerek çalışma ortamından uzaklaştırılması.</a:t>
            </a:r>
          </a:p>
          <a:p>
            <a:r>
              <a:rPr lang="tr-TR" sz="1900" dirty="0"/>
              <a:t>İşçi eğitimi</a:t>
            </a:r>
          </a:p>
          <a:p>
            <a:pPr marL="0" indent="0">
              <a:buNone/>
            </a:pPr>
            <a:endParaRPr lang="tr-TR" sz="1900" u="sng" dirty="0"/>
          </a:p>
          <a:p>
            <a:pPr marL="0" indent="0">
              <a:buNone/>
            </a:pPr>
            <a:endParaRPr lang="tr-TR" sz="1900" dirty="0"/>
          </a:p>
        </p:txBody>
      </p:sp>
    </p:spTree>
    <p:extLst>
      <p:ext uri="{BB962C8B-B14F-4D97-AF65-F5344CB8AC3E}">
        <p14:creationId xmlns:p14="http://schemas.microsoft.com/office/powerpoint/2010/main" val="35696605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D5BF9-B1C7-654F-8EA3-C86D81989C73}"/>
            </a:ext>
          </a:extLst>
        </p:cNvPr>
        <p:cNvGrpSpPr/>
        <p:nvPr/>
      </p:nvGrpSpPr>
      <p:grpSpPr>
        <a:xfrm>
          <a:off x="0" y="0"/>
          <a:ext cx="0" cy="0"/>
          <a:chOff x="0" y="0"/>
          <a:chExt cx="0" cy="0"/>
        </a:xfrm>
      </p:grpSpPr>
      <p:graphicFrame>
        <p:nvGraphicFramePr>
          <p:cNvPr id="7" name="İçerik Yer Tutucusu 6">
            <a:extLst>
              <a:ext uri="{FF2B5EF4-FFF2-40B4-BE49-F238E27FC236}">
                <a16:creationId xmlns:a16="http://schemas.microsoft.com/office/drawing/2014/main" id="{DD66C152-A56A-E442-915F-4A6788978121}"/>
              </a:ext>
            </a:extLst>
          </p:cNvPr>
          <p:cNvGraphicFramePr>
            <a:graphicFrameLocks noGrp="1"/>
          </p:cNvGraphicFramePr>
          <p:nvPr>
            <p:ph idx="1"/>
            <p:extLst>
              <p:ext uri="{D42A27DB-BD31-4B8C-83A1-F6EECF244321}">
                <p14:modId xmlns:p14="http://schemas.microsoft.com/office/powerpoint/2010/main" val="990161391"/>
              </p:ext>
            </p:extLst>
          </p:nvPr>
        </p:nvGraphicFramePr>
        <p:xfrm>
          <a:off x="749509" y="644577"/>
          <a:ext cx="10283250" cy="9008364"/>
        </p:xfrm>
        <a:graphic>
          <a:graphicData uri="http://schemas.openxmlformats.org/drawingml/2006/table">
            <a:tbl>
              <a:tblPr firstRow="1" firstCol="1" bandRow="1"/>
              <a:tblGrid>
                <a:gridCol w="2056650">
                  <a:extLst>
                    <a:ext uri="{9D8B030D-6E8A-4147-A177-3AD203B41FA5}">
                      <a16:colId xmlns:a16="http://schemas.microsoft.com/office/drawing/2014/main" val="1452692729"/>
                    </a:ext>
                  </a:extLst>
                </a:gridCol>
                <a:gridCol w="2056650">
                  <a:extLst>
                    <a:ext uri="{9D8B030D-6E8A-4147-A177-3AD203B41FA5}">
                      <a16:colId xmlns:a16="http://schemas.microsoft.com/office/drawing/2014/main" val="2040475032"/>
                    </a:ext>
                  </a:extLst>
                </a:gridCol>
                <a:gridCol w="2056650">
                  <a:extLst>
                    <a:ext uri="{9D8B030D-6E8A-4147-A177-3AD203B41FA5}">
                      <a16:colId xmlns:a16="http://schemas.microsoft.com/office/drawing/2014/main" val="1230635850"/>
                    </a:ext>
                  </a:extLst>
                </a:gridCol>
                <a:gridCol w="2056650">
                  <a:extLst>
                    <a:ext uri="{9D8B030D-6E8A-4147-A177-3AD203B41FA5}">
                      <a16:colId xmlns:a16="http://schemas.microsoft.com/office/drawing/2014/main" val="682306056"/>
                    </a:ext>
                  </a:extLst>
                </a:gridCol>
                <a:gridCol w="2056650">
                  <a:extLst>
                    <a:ext uri="{9D8B030D-6E8A-4147-A177-3AD203B41FA5}">
                      <a16:colId xmlns:a16="http://schemas.microsoft.com/office/drawing/2014/main" val="664698717"/>
                    </a:ext>
                  </a:extLst>
                </a:gridCol>
              </a:tblGrid>
              <a:tr h="300614">
                <a:tc>
                  <a:txBody>
                    <a:bodyPr/>
                    <a:lstStyle/>
                    <a:p>
                      <a:pPr>
                        <a:lnSpc>
                          <a:spcPct val="115000"/>
                        </a:lnSpc>
                        <a:spcAft>
                          <a:spcPts val="1000"/>
                        </a:spcAft>
                        <a:buNone/>
                      </a:pPr>
                      <a:r>
                        <a:rPr lang="en-US" sz="1800" b="1" cap="all" dirty="0">
                          <a:effectLst/>
                          <a:latin typeface="+mn-lt"/>
                          <a:ea typeface="MS Mincho" panose="02020609040205080304" pitchFamily="49" charset="-128"/>
                          <a:cs typeface="Times New Roman" panose="02020603050405020304" pitchFamily="18" charset="0"/>
                        </a:rPr>
                        <a:t>No</a:t>
                      </a:r>
                      <a:endParaRPr lang="tr-TR" sz="1800" dirty="0">
                        <a:effectLst/>
                        <a:latin typeface="+mn-lt"/>
                        <a:ea typeface="MS Mincho" panose="02020609040205080304" pitchFamily="49" charset="-128"/>
                        <a:cs typeface="Times New Roman" panose="02020603050405020304" pitchFamily="18" charset="0"/>
                      </a:endParaRPr>
                    </a:p>
                  </a:txBody>
                  <a:tcPr marL="47642" marR="47642" marT="0" marB="0">
                    <a:lnL>
                      <a:noFill/>
                    </a:lnL>
                    <a:lnR>
                      <a:noFill/>
                    </a:lnR>
                    <a:lnT>
                      <a:noFill/>
                    </a:lnT>
                    <a:lnB w="12700" cap="flat" cmpd="sng" algn="ctr">
                      <a:solidFill>
                        <a:srgbClr val="7F7F7F"/>
                      </a:solidFill>
                      <a:prstDash val="solid"/>
                      <a:round/>
                      <a:headEnd type="none" w="med" len="med"/>
                      <a:tailEnd type="none" w="med" len="med"/>
                    </a:lnB>
                    <a:noFill/>
                  </a:tcPr>
                </a:tc>
                <a:tc>
                  <a:txBody>
                    <a:bodyPr/>
                    <a:lstStyle/>
                    <a:p>
                      <a:pPr>
                        <a:lnSpc>
                          <a:spcPct val="115000"/>
                        </a:lnSpc>
                        <a:spcAft>
                          <a:spcPts val="1000"/>
                        </a:spcAft>
                        <a:buNone/>
                      </a:pPr>
                      <a:r>
                        <a:rPr lang="en-US" sz="1600" b="1" cap="all" dirty="0" err="1">
                          <a:effectLst/>
                          <a:latin typeface="+mn-lt"/>
                          <a:ea typeface="MS Mincho" panose="02020609040205080304" pitchFamily="49" charset="-128"/>
                          <a:cs typeface="Times New Roman" panose="02020603050405020304" pitchFamily="18" charset="0"/>
                        </a:rPr>
                        <a:t>Kontrol</a:t>
                      </a:r>
                      <a:r>
                        <a:rPr lang="en-US" sz="1600" b="1" cap="all" dirty="0">
                          <a:effectLst/>
                          <a:latin typeface="+mn-lt"/>
                          <a:ea typeface="MS Mincho" panose="02020609040205080304" pitchFamily="49" charset="-128"/>
                          <a:cs typeface="Times New Roman" panose="02020603050405020304" pitchFamily="18" charset="0"/>
                        </a:rPr>
                        <a:t> </a:t>
                      </a:r>
                      <a:r>
                        <a:rPr lang="en-US" sz="1600" b="1" cap="all" dirty="0" err="1">
                          <a:effectLst/>
                          <a:latin typeface="+mn-lt"/>
                          <a:ea typeface="MS Mincho" panose="02020609040205080304" pitchFamily="49" charset="-128"/>
                          <a:cs typeface="Times New Roman" panose="02020603050405020304" pitchFamily="18" charset="0"/>
                        </a:rPr>
                        <a:t>Yöntemi</a:t>
                      </a:r>
                      <a:endParaRPr lang="tr-TR" sz="1600" dirty="0">
                        <a:effectLst/>
                        <a:latin typeface="+mn-lt"/>
                        <a:ea typeface="MS Mincho" panose="02020609040205080304" pitchFamily="49" charset="-128"/>
                        <a:cs typeface="Times New Roman" panose="02020603050405020304" pitchFamily="18" charset="0"/>
                      </a:endParaRPr>
                    </a:p>
                  </a:txBody>
                  <a:tcPr marL="47642" marR="47642" marT="0" marB="0">
                    <a:lnL>
                      <a:noFill/>
                    </a:lnL>
                    <a:lnR>
                      <a:noFill/>
                    </a:lnR>
                    <a:lnT>
                      <a:noFill/>
                    </a:lnT>
                    <a:lnB w="12700" cap="flat" cmpd="sng" algn="ctr">
                      <a:solidFill>
                        <a:srgbClr val="7F7F7F"/>
                      </a:solidFill>
                      <a:prstDash val="solid"/>
                      <a:round/>
                      <a:headEnd type="none" w="med" len="med"/>
                      <a:tailEnd type="none" w="med" len="med"/>
                    </a:lnB>
                    <a:noFill/>
                  </a:tcPr>
                </a:tc>
                <a:tc>
                  <a:txBody>
                    <a:bodyPr/>
                    <a:lstStyle/>
                    <a:p>
                      <a:pPr>
                        <a:lnSpc>
                          <a:spcPct val="115000"/>
                        </a:lnSpc>
                        <a:spcAft>
                          <a:spcPts val="1000"/>
                        </a:spcAft>
                        <a:buNone/>
                      </a:pPr>
                      <a:r>
                        <a:rPr lang="en-US" sz="1600" b="1" cap="all">
                          <a:effectLst/>
                          <a:latin typeface="+mn-lt"/>
                          <a:ea typeface="MS Mincho" panose="02020609040205080304" pitchFamily="49" charset="-128"/>
                          <a:cs typeface="Times New Roman" panose="02020603050405020304" pitchFamily="18" charset="0"/>
                        </a:rPr>
                        <a:t>Açıklama</a:t>
                      </a:r>
                      <a:endParaRPr lang="tr-TR" sz="1600">
                        <a:effectLst/>
                        <a:latin typeface="+mn-lt"/>
                        <a:ea typeface="MS Mincho" panose="02020609040205080304" pitchFamily="49" charset="-128"/>
                        <a:cs typeface="Times New Roman" panose="02020603050405020304" pitchFamily="18" charset="0"/>
                      </a:endParaRPr>
                    </a:p>
                  </a:txBody>
                  <a:tcPr marL="47642" marR="47642" marT="0" marB="0">
                    <a:lnL>
                      <a:noFill/>
                    </a:lnL>
                    <a:lnR>
                      <a:noFill/>
                    </a:lnR>
                    <a:lnT>
                      <a:noFill/>
                    </a:lnT>
                    <a:lnB w="12700" cap="flat" cmpd="sng" algn="ctr">
                      <a:solidFill>
                        <a:srgbClr val="7F7F7F"/>
                      </a:solidFill>
                      <a:prstDash val="solid"/>
                      <a:round/>
                      <a:headEnd type="none" w="med" len="med"/>
                      <a:tailEnd type="none" w="med" len="med"/>
                    </a:lnB>
                    <a:noFill/>
                  </a:tcPr>
                </a:tc>
                <a:tc>
                  <a:txBody>
                    <a:bodyPr/>
                    <a:lstStyle/>
                    <a:p>
                      <a:pPr>
                        <a:lnSpc>
                          <a:spcPct val="115000"/>
                        </a:lnSpc>
                        <a:spcAft>
                          <a:spcPts val="1000"/>
                        </a:spcAft>
                        <a:buNone/>
                      </a:pPr>
                      <a:r>
                        <a:rPr lang="en-US" sz="1600" b="1" cap="all">
                          <a:effectLst/>
                          <a:latin typeface="+mn-lt"/>
                          <a:ea typeface="MS Mincho" panose="02020609040205080304" pitchFamily="49" charset="-128"/>
                          <a:cs typeface="Times New Roman" panose="02020603050405020304" pitchFamily="18" charset="0"/>
                        </a:rPr>
                        <a:t>Amaç / Etki</a:t>
                      </a:r>
                      <a:endParaRPr lang="tr-TR" sz="1600">
                        <a:effectLst/>
                        <a:latin typeface="+mn-lt"/>
                        <a:ea typeface="MS Mincho" panose="02020609040205080304" pitchFamily="49" charset="-128"/>
                        <a:cs typeface="Times New Roman" panose="02020603050405020304" pitchFamily="18" charset="0"/>
                      </a:endParaRPr>
                    </a:p>
                  </a:txBody>
                  <a:tcPr marL="47642" marR="47642" marT="0" marB="0">
                    <a:lnL>
                      <a:noFill/>
                    </a:lnL>
                    <a:lnR>
                      <a:noFill/>
                    </a:lnR>
                    <a:lnT>
                      <a:noFill/>
                    </a:lnT>
                    <a:lnB w="12700" cap="flat" cmpd="sng" algn="ctr">
                      <a:solidFill>
                        <a:srgbClr val="7F7F7F"/>
                      </a:solidFill>
                      <a:prstDash val="solid"/>
                      <a:round/>
                      <a:headEnd type="none" w="med" len="med"/>
                      <a:tailEnd type="none" w="med" len="med"/>
                    </a:lnB>
                    <a:noFill/>
                  </a:tcPr>
                </a:tc>
                <a:tc>
                  <a:txBody>
                    <a:bodyPr/>
                    <a:lstStyle/>
                    <a:p>
                      <a:pPr>
                        <a:lnSpc>
                          <a:spcPct val="115000"/>
                        </a:lnSpc>
                        <a:spcAft>
                          <a:spcPts val="1000"/>
                        </a:spcAft>
                        <a:buNone/>
                      </a:pPr>
                      <a:r>
                        <a:rPr lang="en-US" sz="1600" b="1" cap="all">
                          <a:effectLst/>
                          <a:latin typeface="+mn-lt"/>
                          <a:ea typeface="MS Mincho" panose="02020609040205080304" pitchFamily="49" charset="-128"/>
                          <a:cs typeface="Times New Roman" panose="02020603050405020304" pitchFamily="18" charset="0"/>
                        </a:rPr>
                        <a:t>Örnekler</a:t>
                      </a:r>
                      <a:endParaRPr lang="tr-TR" sz="1600">
                        <a:effectLst/>
                        <a:latin typeface="+mn-lt"/>
                        <a:ea typeface="MS Mincho" panose="02020609040205080304" pitchFamily="49" charset="-128"/>
                        <a:cs typeface="Times New Roman" panose="02020603050405020304" pitchFamily="18" charset="0"/>
                      </a:endParaRPr>
                    </a:p>
                  </a:txBody>
                  <a:tcPr marL="47642" marR="47642" marT="0" marB="0">
                    <a:lnL>
                      <a:noFill/>
                    </a:lnL>
                    <a:lnR>
                      <a:noFill/>
                    </a:lnR>
                    <a:lnT>
                      <a:noFill/>
                    </a:lnT>
                    <a:lnB w="12700" cap="flat" cmpd="sng" algn="ctr">
                      <a:solidFill>
                        <a:srgbClr val="7F7F7F"/>
                      </a:solidFill>
                      <a:prstDash val="solid"/>
                      <a:round/>
                      <a:headEnd type="none" w="med" len="med"/>
                      <a:tailEnd type="none" w="med" len="med"/>
                    </a:lnB>
                    <a:noFill/>
                  </a:tcPr>
                </a:tc>
                <a:extLst>
                  <a:ext uri="{0D108BD9-81ED-4DB2-BD59-A6C34878D82A}">
                    <a16:rowId xmlns:a16="http://schemas.microsoft.com/office/drawing/2014/main" val="3556455343"/>
                  </a:ext>
                </a:extLst>
              </a:tr>
              <a:tr h="1242477">
                <a:tc>
                  <a:txBody>
                    <a:bodyPr/>
                    <a:lstStyle/>
                    <a:p>
                      <a:pPr>
                        <a:lnSpc>
                          <a:spcPct val="115000"/>
                        </a:lnSpc>
                        <a:spcAft>
                          <a:spcPts val="1000"/>
                        </a:spcAft>
                        <a:buNone/>
                      </a:pPr>
                      <a:r>
                        <a:rPr lang="en-US" sz="1800" b="1" cap="all" dirty="0">
                          <a:solidFill>
                            <a:srgbClr val="000000"/>
                          </a:solidFill>
                          <a:effectLst/>
                          <a:latin typeface="+mn-lt"/>
                          <a:ea typeface="MS Mincho" panose="02020609040205080304" pitchFamily="49" charset="-128"/>
                          <a:cs typeface="Times New Roman" panose="02020603050405020304" pitchFamily="18" charset="0"/>
                        </a:rPr>
                        <a:t>1</a:t>
                      </a:r>
                      <a:endParaRPr lang="tr-TR" sz="1800" dirty="0">
                        <a:effectLst/>
                        <a:latin typeface="+mn-lt"/>
                        <a:ea typeface="MS Mincho" panose="02020609040205080304" pitchFamily="49" charset="-128"/>
                        <a:cs typeface="Times New Roman" panose="02020603050405020304" pitchFamily="18" charset="0"/>
                      </a:endParaRPr>
                    </a:p>
                  </a:txBody>
                  <a:tcPr marL="47642" marR="47642" marT="0" marB="0">
                    <a:lnL>
                      <a:noFill/>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a:noFill/>
                    </a:lnB>
                    <a:solidFill>
                      <a:srgbClr val="F2F2F2"/>
                    </a:solidFill>
                  </a:tcPr>
                </a:tc>
                <a:tc>
                  <a:txBody>
                    <a:bodyPr/>
                    <a:lstStyle/>
                    <a:p>
                      <a:pPr>
                        <a:lnSpc>
                          <a:spcPct val="115000"/>
                        </a:lnSpc>
                        <a:spcAft>
                          <a:spcPts val="1000"/>
                        </a:spcAft>
                        <a:buNone/>
                      </a:pPr>
                      <a:r>
                        <a:rPr lang="en-US" sz="1600" dirty="0" err="1">
                          <a:solidFill>
                            <a:srgbClr val="000000"/>
                          </a:solidFill>
                          <a:effectLst/>
                          <a:latin typeface="+mn-lt"/>
                          <a:ea typeface="MS Mincho" panose="02020609040205080304" pitchFamily="49" charset="-128"/>
                          <a:cs typeface="Times New Roman" panose="02020603050405020304" pitchFamily="18" charset="0"/>
                        </a:rPr>
                        <a:t>Ayırmak</a:t>
                      </a:r>
                      <a:r>
                        <a:rPr lang="en-US" sz="1600" dirty="0">
                          <a:solidFill>
                            <a:srgbClr val="000000"/>
                          </a:solidFill>
                          <a:effectLst/>
                          <a:latin typeface="+mn-lt"/>
                          <a:ea typeface="MS Mincho" panose="02020609040205080304" pitchFamily="49" charset="-128"/>
                          <a:cs typeface="Times New Roman" panose="02020603050405020304" pitchFamily="18" charset="0"/>
                        </a:rPr>
                        <a:t> (</a:t>
                      </a:r>
                      <a:r>
                        <a:rPr lang="en-US" sz="1600" dirty="0" err="1">
                          <a:solidFill>
                            <a:srgbClr val="000000"/>
                          </a:solidFill>
                          <a:effectLst/>
                          <a:latin typeface="+mn-lt"/>
                          <a:ea typeface="MS Mincho" panose="02020609040205080304" pitchFamily="49" charset="-128"/>
                          <a:cs typeface="Times New Roman" panose="02020603050405020304" pitchFamily="18" charset="0"/>
                        </a:rPr>
                        <a:t>Tecrit</a:t>
                      </a:r>
                      <a:r>
                        <a:rPr lang="en-US" sz="1600" dirty="0">
                          <a:solidFill>
                            <a:srgbClr val="000000"/>
                          </a:solidFill>
                          <a:effectLst/>
                          <a:latin typeface="+mn-lt"/>
                          <a:ea typeface="MS Mincho" panose="02020609040205080304" pitchFamily="49" charset="-128"/>
                          <a:cs typeface="Times New Roman" panose="02020603050405020304" pitchFamily="18" charset="0"/>
                        </a:rPr>
                        <a:t> </a:t>
                      </a:r>
                      <a:r>
                        <a:rPr lang="en-US" sz="1600" dirty="0" err="1">
                          <a:solidFill>
                            <a:srgbClr val="000000"/>
                          </a:solidFill>
                          <a:effectLst/>
                          <a:latin typeface="+mn-lt"/>
                          <a:ea typeface="MS Mincho" panose="02020609040205080304" pitchFamily="49" charset="-128"/>
                          <a:cs typeface="Times New Roman" panose="02020603050405020304" pitchFamily="18" charset="0"/>
                        </a:rPr>
                        <a:t>Etmek</a:t>
                      </a:r>
                      <a:r>
                        <a:rPr lang="en-US" sz="1600" dirty="0">
                          <a:solidFill>
                            <a:srgbClr val="000000"/>
                          </a:solidFill>
                          <a:effectLst/>
                          <a:latin typeface="+mn-lt"/>
                          <a:ea typeface="MS Mincho" panose="02020609040205080304" pitchFamily="49" charset="-128"/>
                          <a:cs typeface="Times New Roman" panose="02020603050405020304" pitchFamily="18" charset="0"/>
                        </a:rPr>
                        <a:t>)</a:t>
                      </a:r>
                      <a:endParaRPr lang="tr-TR" sz="1600" dirty="0">
                        <a:effectLst/>
                        <a:latin typeface="+mn-lt"/>
                        <a:ea typeface="MS Mincho" panose="02020609040205080304" pitchFamily="49" charset="-128"/>
                        <a:cs typeface="Times New Roman" panose="02020603050405020304" pitchFamily="18" charset="0"/>
                      </a:endParaRPr>
                    </a:p>
                  </a:txBody>
                  <a:tcPr marL="47642" marR="47642" marT="0" marB="0">
                    <a:lnL w="12700" cap="flat" cmpd="sng" algn="ctr">
                      <a:solidFill>
                        <a:srgbClr val="7F7F7F"/>
                      </a:solidFill>
                      <a:prstDash val="solid"/>
                      <a:round/>
                      <a:headEnd type="none" w="med" len="med"/>
                      <a:tailEnd type="none" w="med" len="med"/>
                    </a:lnL>
                    <a:lnR>
                      <a:noFill/>
                    </a:lnR>
                    <a:lnT w="12700" cap="flat" cmpd="sng" algn="ctr">
                      <a:solidFill>
                        <a:srgbClr val="7F7F7F"/>
                      </a:solidFill>
                      <a:prstDash val="solid"/>
                      <a:round/>
                      <a:headEnd type="none" w="med" len="med"/>
                      <a:tailEnd type="none" w="med" len="med"/>
                    </a:lnT>
                    <a:lnB>
                      <a:noFill/>
                    </a:lnB>
                    <a:solidFill>
                      <a:srgbClr val="F2F2F2"/>
                    </a:solidFill>
                  </a:tcPr>
                </a:tc>
                <a:tc>
                  <a:txBody>
                    <a:bodyPr/>
                    <a:lstStyle/>
                    <a:p>
                      <a:pPr>
                        <a:lnSpc>
                          <a:spcPct val="115000"/>
                        </a:lnSpc>
                        <a:spcAft>
                          <a:spcPts val="1000"/>
                        </a:spcAft>
                        <a:buNone/>
                      </a:pPr>
                      <a:r>
                        <a:rPr lang="en-US" sz="1600" dirty="0" err="1">
                          <a:solidFill>
                            <a:srgbClr val="000000"/>
                          </a:solidFill>
                          <a:effectLst/>
                          <a:latin typeface="+mn-lt"/>
                          <a:ea typeface="MS Mincho" panose="02020609040205080304" pitchFamily="49" charset="-128"/>
                          <a:cs typeface="Times New Roman" panose="02020603050405020304" pitchFamily="18" charset="0"/>
                        </a:rPr>
                        <a:t>Tehlikeli</a:t>
                      </a:r>
                      <a:r>
                        <a:rPr lang="en-US" sz="1600" dirty="0">
                          <a:solidFill>
                            <a:srgbClr val="000000"/>
                          </a:solidFill>
                          <a:effectLst/>
                          <a:latin typeface="+mn-lt"/>
                          <a:ea typeface="MS Mincho" panose="02020609040205080304" pitchFamily="49" charset="-128"/>
                          <a:cs typeface="Times New Roman" panose="02020603050405020304" pitchFamily="18" charset="0"/>
                        </a:rPr>
                        <a:t> </a:t>
                      </a:r>
                      <a:r>
                        <a:rPr lang="en-US" sz="1600" dirty="0" err="1">
                          <a:solidFill>
                            <a:srgbClr val="000000"/>
                          </a:solidFill>
                          <a:effectLst/>
                          <a:latin typeface="+mn-lt"/>
                          <a:ea typeface="MS Mincho" panose="02020609040205080304" pitchFamily="49" charset="-128"/>
                          <a:cs typeface="Times New Roman" panose="02020603050405020304" pitchFamily="18" charset="0"/>
                        </a:rPr>
                        <a:t>işlemlerin</a:t>
                      </a:r>
                      <a:r>
                        <a:rPr lang="en-US" sz="1600" dirty="0">
                          <a:solidFill>
                            <a:srgbClr val="000000"/>
                          </a:solidFill>
                          <a:effectLst/>
                          <a:latin typeface="+mn-lt"/>
                          <a:ea typeface="MS Mincho" panose="02020609040205080304" pitchFamily="49" charset="-128"/>
                          <a:cs typeface="Times New Roman" panose="02020603050405020304" pitchFamily="18" charset="0"/>
                        </a:rPr>
                        <a:t> </a:t>
                      </a:r>
                      <a:r>
                        <a:rPr lang="en-US" sz="1600" dirty="0" err="1">
                          <a:solidFill>
                            <a:srgbClr val="000000"/>
                          </a:solidFill>
                          <a:effectLst/>
                          <a:latin typeface="+mn-lt"/>
                          <a:ea typeface="MS Mincho" panose="02020609040205080304" pitchFamily="49" charset="-128"/>
                          <a:cs typeface="Times New Roman" panose="02020603050405020304" pitchFamily="18" charset="0"/>
                        </a:rPr>
                        <a:t>diğer</a:t>
                      </a:r>
                      <a:r>
                        <a:rPr lang="en-US" sz="1600" dirty="0">
                          <a:solidFill>
                            <a:srgbClr val="000000"/>
                          </a:solidFill>
                          <a:effectLst/>
                          <a:latin typeface="+mn-lt"/>
                          <a:ea typeface="MS Mincho" panose="02020609040205080304" pitchFamily="49" charset="-128"/>
                          <a:cs typeface="Times New Roman" panose="02020603050405020304" pitchFamily="18" charset="0"/>
                        </a:rPr>
                        <a:t> </a:t>
                      </a:r>
                      <a:r>
                        <a:rPr lang="en-US" sz="1600" dirty="0" err="1">
                          <a:solidFill>
                            <a:srgbClr val="000000"/>
                          </a:solidFill>
                          <a:effectLst/>
                          <a:latin typeface="+mn-lt"/>
                          <a:ea typeface="MS Mincho" panose="02020609040205080304" pitchFamily="49" charset="-128"/>
                          <a:cs typeface="Times New Roman" panose="02020603050405020304" pitchFamily="18" charset="0"/>
                        </a:rPr>
                        <a:t>işlerden</a:t>
                      </a:r>
                      <a:r>
                        <a:rPr lang="en-US" sz="1600" dirty="0">
                          <a:solidFill>
                            <a:srgbClr val="000000"/>
                          </a:solidFill>
                          <a:effectLst/>
                          <a:latin typeface="+mn-lt"/>
                          <a:ea typeface="MS Mincho" panose="02020609040205080304" pitchFamily="49" charset="-128"/>
                          <a:cs typeface="Times New Roman" panose="02020603050405020304" pitchFamily="18" charset="0"/>
                        </a:rPr>
                        <a:t> </a:t>
                      </a:r>
                      <a:r>
                        <a:rPr lang="en-US" sz="1600" dirty="0" err="1">
                          <a:solidFill>
                            <a:srgbClr val="000000"/>
                          </a:solidFill>
                          <a:effectLst/>
                          <a:latin typeface="+mn-lt"/>
                          <a:ea typeface="MS Mincho" panose="02020609040205080304" pitchFamily="49" charset="-128"/>
                          <a:cs typeface="Times New Roman" panose="02020603050405020304" pitchFamily="18" charset="0"/>
                        </a:rPr>
                        <a:t>fiziksel</a:t>
                      </a:r>
                      <a:r>
                        <a:rPr lang="en-US" sz="1600" dirty="0">
                          <a:solidFill>
                            <a:srgbClr val="000000"/>
                          </a:solidFill>
                          <a:effectLst/>
                          <a:latin typeface="+mn-lt"/>
                          <a:ea typeface="MS Mincho" panose="02020609040205080304" pitchFamily="49" charset="-128"/>
                          <a:cs typeface="Times New Roman" panose="02020603050405020304" pitchFamily="18" charset="0"/>
                        </a:rPr>
                        <a:t> </a:t>
                      </a:r>
                      <a:r>
                        <a:rPr lang="en-US" sz="1600" dirty="0" err="1">
                          <a:solidFill>
                            <a:srgbClr val="000000"/>
                          </a:solidFill>
                          <a:effectLst/>
                          <a:latin typeface="+mn-lt"/>
                          <a:ea typeface="MS Mincho" panose="02020609040205080304" pitchFamily="49" charset="-128"/>
                          <a:cs typeface="Times New Roman" panose="02020603050405020304" pitchFamily="18" charset="0"/>
                        </a:rPr>
                        <a:t>olarak</a:t>
                      </a:r>
                      <a:r>
                        <a:rPr lang="en-US" sz="1600" dirty="0">
                          <a:solidFill>
                            <a:srgbClr val="000000"/>
                          </a:solidFill>
                          <a:effectLst/>
                          <a:latin typeface="+mn-lt"/>
                          <a:ea typeface="MS Mincho" panose="02020609040205080304" pitchFamily="49" charset="-128"/>
                          <a:cs typeface="Times New Roman" panose="02020603050405020304" pitchFamily="18" charset="0"/>
                        </a:rPr>
                        <a:t> </a:t>
                      </a:r>
                      <a:r>
                        <a:rPr lang="en-US" sz="1600" dirty="0" err="1">
                          <a:solidFill>
                            <a:srgbClr val="000000"/>
                          </a:solidFill>
                          <a:effectLst/>
                          <a:latin typeface="+mn-lt"/>
                          <a:ea typeface="MS Mincho" panose="02020609040205080304" pitchFamily="49" charset="-128"/>
                          <a:cs typeface="Times New Roman" panose="02020603050405020304" pitchFamily="18" charset="0"/>
                        </a:rPr>
                        <a:t>ayrılmasıdır</a:t>
                      </a:r>
                      <a:r>
                        <a:rPr lang="en-US" sz="1600" dirty="0">
                          <a:solidFill>
                            <a:srgbClr val="000000"/>
                          </a:solidFill>
                          <a:effectLst/>
                          <a:latin typeface="+mn-lt"/>
                          <a:ea typeface="MS Mincho" panose="02020609040205080304" pitchFamily="49" charset="-128"/>
                          <a:cs typeface="Times New Roman" panose="02020603050405020304" pitchFamily="18" charset="0"/>
                        </a:rPr>
                        <a:t>. </a:t>
                      </a:r>
                      <a:r>
                        <a:rPr lang="en-US" sz="1600" dirty="0" err="1">
                          <a:solidFill>
                            <a:srgbClr val="000000"/>
                          </a:solidFill>
                          <a:effectLst/>
                          <a:latin typeface="+mn-lt"/>
                          <a:ea typeface="MS Mincho" panose="02020609040205080304" pitchFamily="49" charset="-128"/>
                          <a:cs typeface="Times New Roman" panose="02020603050405020304" pitchFamily="18" charset="0"/>
                        </a:rPr>
                        <a:t>Sadece</a:t>
                      </a:r>
                      <a:r>
                        <a:rPr lang="en-US" sz="1600" dirty="0">
                          <a:solidFill>
                            <a:srgbClr val="000000"/>
                          </a:solidFill>
                          <a:effectLst/>
                          <a:latin typeface="+mn-lt"/>
                          <a:ea typeface="MS Mincho" panose="02020609040205080304" pitchFamily="49" charset="-128"/>
                          <a:cs typeface="Times New Roman" panose="02020603050405020304" pitchFamily="18" charset="0"/>
                        </a:rPr>
                        <a:t> </a:t>
                      </a:r>
                      <a:r>
                        <a:rPr lang="en-US" sz="1600" dirty="0" err="1">
                          <a:solidFill>
                            <a:srgbClr val="000000"/>
                          </a:solidFill>
                          <a:effectLst/>
                          <a:latin typeface="+mn-lt"/>
                          <a:ea typeface="MS Mincho" panose="02020609040205080304" pitchFamily="49" charset="-128"/>
                          <a:cs typeface="Times New Roman" panose="02020603050405020304" pitchFamily="18" charset="0"/>
                        </a:rPr>
                        <a:t>ilgili</a:t>
                      </a:r>
                      <a:r>
                        <a:rPr lang="en-US" sz="1600" dirty="0">
                          <a:solidFill>
                            <a:srgbClr val="000000"/>
                          </a:solidFill>
                          <a:effectLst/>
                          <a:latin typeface="+mn-lt"/>
                          <a:ea typeface="MS Mincho" panose="02020609040205080304" pitchFamily="49" charset="-128"/>
                          <a:cs typeface="Times New Roman" panose="02020603050405020304" pitchFamily="18" charset="0"/>
                        </a:rPr>
                        <a:t> </a:t>
                      </a:r>
                      <a:r>
                        <a:rPr lang="en-US" sz="1600" dirty="0" err="1">
                          <a:solidFill>
                            <a:srgbClr val="000000"/>
                          </a:solidFill>
                          <a:effectLst/>
                          <a:latin typeface="+mn-lt"/>
                          <a:ea typeface="MS Mincho" panose="02020609040205080304" pitchFamily="49" charset="-128"/>
                          <a:cs typeface="Times New Roman" panose="02020603050405020304" pitchFamily="18" charset="0"/>
                        </a:rPr>
                        <a:t>çalışanlar</a:t>
                      </a:r>
                      <a:r>
                        <a:rPr lang="en-US" sz="1600" dirty="0">
                          <a:solidFill>
                            <a:srgbClr val="000000"/>
                          </a:solidFill>
                          <a:effectLst/>
                          <a:latin typeface="+mn-lt"/>
                          <a:ea typeface="MS Mincho" panose="02020609040205080304" pitchFamily="49" charset="-128"/>
                          <a:cs typeface="Times New Roman" panose="02020603050405020304" pitchFamily="18" charset="0"/>
                        </a:rPr>
                        <a:t> </a:t>
                      </a:r>
                      <a:r>
                        <a:rPr lang="en-US" sz="1600" dirty="0" err="1">
                          <a:solidFill>
                            <a:srgbClr val="000000"/>
                          </a:solidFill>
                          <a:effectLst/>
                          <a:latin typeface="+mn-lt"/>
                          <a:ea typeface="MS Mincho" panose="02020609040205080304" pitchFamily="49" charset="-128"/>
                          <a:cs typeface="Times New Roman" panose="02020603050405020304" pitchFamily="18" charset="0"/>
                        </a:rPr>
                        <a:t>maruz</a:t>
                      </a:r>
                      <a:r>
                        <a:rPr lang="en-US" sz="1600" dirty="0">
                          <a:solidFill>
                            <a:srgbClr val="000000"/>
                          </a:solidFill>
                          <a:effectLst/>
                          <a:latin typeface="+mn-lt"/>
                          <a:ea typeface="MS Mincho" panose="02020609040205080304" pitchFamily="49" charset="-128"/>
                          <a:cs typeface="Times New Roman" panose="02020603050405020304" pitchFamily="18" charset="0"/>
                        </a:rPr>
                        <a:t> </a:t>
                      </a:r>
                      <a:r>
                        <a:rPr lang="en-US" sz="1600" dirty="0" err="1">
                          <a:solidFill>
                            <a:srgbClr val="000000"/>
                          </a:solidFill>
                          <a:effectLst/>
                          <a:latin typeface="+mn-lt"/>
                          <a:ea typeface="MS Mincho" panose="02020609040205080304" pitchFamily="49" charset="-128"/>
                          <a:cs typeface="Times New Roman" panose="02020603050405020304" pitchFamily="18" charset="0"/>
                        </a:rPr>
                        <a:t>kalır</a:t>
                      </a:r>
                      <a:r>
                        <a:rPr lang="en-US" sz="1600" dirty="0">
                          <a:solidFill>
                            <a:srgbClr val="000000"/>
                          </a:solidFill>
                          <a:effectLst/>
                          <a:latin typeface="+mn-lt"/>
                          <a:ea typeface="MS Mincho" panose="02020609040205080304" pitchFamily="49" charset="-128"/>
                          <a:cs typeface="Times New Roman" panose="02020603050405020304" pitchFamily="18" charset="0"/>
                        </a:rPr>
                        <a:t>.</a:t>
                      </a:r>
                      <a:endParaRPr lang="tr-TR" sz="1600" dirty="0">
                        <a:effectLst/>
                        <a:latin typeface="+mn-lt"/>
                        <a:ea typeface="MS Mincho" panose="02020609040205080304" pitchFamily="49" charset="-128"/>
                        <a:cs typeface="Times New Roman" panose="02020603050405020304" pitchFamily="18" charset="0"/>
                      </a:endParaRPr>
                    </a:p>
                  </a:txBody>
                  <a:tcPr marL="47642" marR="47642" marT="0" marB="0">
                    <a:lnL>
                      <a:noFill/>
                    </a:lnL>
                    <a:lnR>
                      <a:noFill/>
                    </a:lnR>
                    <a:lnT w="12700" cap="flat" cmpd="sng" algn="ctr">
                      <a:solidFill>
                        <a:srgbClr val="7F7F7F"/>
                      </a:solidFill>
                      <a:prstDash val="solid"/>
                      <a:round/>
                      <a:headEnd type="none" w="med" len="med"/>
                      <a:tailEnd type="none" w="med" len="med"/>
                    </a:lnT>
                    <a:lnB>
                      <a:noFill/>
                    </a:lnB>
                    <a:solidFill>
                      <a:srgbClr val="F2F2F2"/>
                    </a:solidFill>
                  </a:tcPr>
                </a:tc>
                <a:tc>
                  <a:txBody>
                    <a:bodyPr/>
                    <a:lstStyle/>
                    <a:p>
                      <a:pPr>
                        <a:lnSpc>
                          <a:spcPct val="115000"/>
                        </a:lnSpc>
                        <a:spcAft>
                          <a:spcPts val="1000"/>
                        </a:spcAft>
                        <a:buNone/>
                      </a:pPr>
                      <a:r>
                        <a:rPr lang="en-US" sz="1600">
                          <a:solidFill>
                            <a:srgbClr val="000000"/>
                          </a:solidFill>
                          <a:effectLst/>
                          <a:latin typeface="+mn-lt"/>
                          <a:ea typeface="MS Mincho" panose="02020609040205080304" pitchFamily="49" charset="-128"/>
                          <a:cs typeface="Times New Roman" panose="02020603050405020304" pitchFamily="18" charset="0"/>
                        </a:rPr>
                        <a:t>Maruziyetin yayılmasını önlemek</a:t>
                      </a:r>
                      <a:endParaRPr lang="tr-TR" sz="1600">
                        <a:effectLst/>
                        <a:latin typeface="+mn-lt"/>
                        <a:ea typeface="MS Mincho" panose="02020609040205080304" pitchFamily="49" charset="-128"/>
                        <a:cs typeface="Times New Roman" panose="02020603050405020304" pitchFamily="18" charset="0"/>
                      </a:endParaRPr>
                    </a:p>
                  </a:txBody>
                  <a:tcPr marL="47642" marR="47642" marT="0" marB="0">
                    <a:lnL>
                      <a:noFill/>
                    </a:lnL>
                    <a:lnR>
                      <a:noFill/>
                    </a:lnR>
                    <a:lnT w="12700" cap="flat" cmpd="sng" algn="ctr">
                      <a:solidFill>
                        <a:srgbClr val="7F7F7F"/>
                      </a:solidFill>
                      <a:prstDash val="solid"/>
                      <a:round/>
                      <a:headEnd type="none" w="med" len="med"/>
                      <a:tailEnd type="none" w="med" len="med"/>
                    </a:lnT>
                    <a:lnB>
                      <a:noFill/>
                    </a:lnB>
                    <a:solidFill>
                      <a:srgbClr val="F2F2F2"/>
                    </a:solidFill>
                  </a:tcPr>
                </a:tc>
                <a:tc>
                  <a:txBody>
                    <a:bodyPr/>
                    <a:lstStyle/>
                    <a:p>
                      <a:pPr>
                        <a:lnSpc>
                          <a:spcPct val="115000"/>
                        </a:lnSpc>
                        <a:spcAft>
                          <a:spcPts val="1000"/>
                        </a:spcAft>
                        <a:buNone/>
                      </a:pPr>
                      <a:r>
                        <a:rPr lang="en-US" sz="1600">
                          <a:solidFill>
                            <a:srgbClr val="000000"/>
                          </a:solidFill>
                          <a:effectLst/>
                          <a:latin typeface="+mn-lt"/>
                          <a:ea typeface="MS Mincho" panose="02020609040205080304" pitchFamily="49" charset="-128"/>
                          <a:cs typeface="Times New Roman" panose="02020603050405020304" pitchFamily="18" charset="0"/>
                        </a:rPr>
                        <a:t>Dökümhanelerde temizleme işlemleri, asit banyolarının ayrı alanlarda bulunması</a:t>
                      </a:r>
                      <a:endParaRPr lang="tr-TR" sz="1600">
                        <a:effectLst/>
                        <a:latin typeface="+mn-lt"/>
                        <a:ea typeface="MS Mincho" panose="02020609040205080304" pitchFamily="49" charset="-128"/>
                        <a:cs typeface="Times New Roman" panose="02020603050405020304" pitchFamily="18" charset="0"/>
                      </a:endParaRPr>
                    </a:p>
                  </a:txBody>
                  <a:tcPr marL="47642" marR="47642" marT="0" marB="0">
                    <a:lnL>
                      <a:noFill/>
                    </a:lnL>
                    <a:lnR>
                      <a:noFill/>
                    </a:lnR>
                    <a:lnT w="12700" cap="flat" cmpd="sng" algn="ctr">
                      <a:solidFill>
                        <a:srgbClr val="7F7F7F"/>
                      </a:solidFill>
                      <a:prstDash val="solid"/>
                      <a:round/>
                      <a:headEnd type="none" w="med" len="med"/>
                      <a:tailEnd type="none" w="med" len="med"/>
                    </a:lnT>
                    <a:lnB>
                      <a:noFill/>
                    </a:lnB>
                    <a:solidFill>
                      <a:srgbClr val="F2F2F2"/>
                    </a:solidFill>
                  </a:tcPr>
                </a:tc>
                <a:extLst>
                  <a:ext uri="{0D108BD9-81ED-4DB2-BD59-A6C34878D82A}">
                    <a16:rowId xmlns:a16="http://schemas.microsoft.com/office/drawing/2014/main" val="674411649"/>
                  </a:ext>
                </a:extLst>
              </a:tr>
              <a:tr h="928523">
                <a:tc>
                  <a:txBody>
                    <a:bodyPr/>
                    <a:lstStyle/>
                    <a:p>
                      <a:pPr>
                        <a:lnSpc>
                          <a:spcPct val="115000"/>
                        </a:lnSpc>
                        <a:spcAft>
                          <a:spcPts val="1000"/>
                        </a:spcAft>
                        <a:buNone/>
                      </a:pPr>
                      <a:r>
                        <a:rPr lang="en-US" sz="1800" b="1" cap="all" dirty="0">
                          <a:effectLst/>
                          <a:latin typeface="+mn-lt"/>
                          <a:ea typeface="MS Mincho" panose="02020609040205080304" pitchFamily="49" charset="-128"/>
                          <a:cs typeface="Times New Roman" panose="02020603050405020304" pitchFamily="18" charset="0"/>
                        </a:rPr>
                        <a:t>2</a:t>
                      </a:r>
                      <a:endParaRPr lang="tr-TR" sz="1800" dirty="0">
                        <a:effectLst/>
                        <a:latin typeface="+mn-lt"/>
                        <a:ea typeface="MS Mincho" panose="02020609040205080304" pitchFamily="49" charset="-128"/>
                        <a:cs typeface="Times New Roman" panose="02020603050405020304" pitchFamily="18" charset="0"/>
                      </a:endParaRPr>
                    </a:p>
                  </a:txBody>
                  <a:tcPr marL="47642" marR="47642" marT="0" marB="0">
                    <a:lnL>
                      <a:noFill/>
                    </a:lnL>
                    <a:lnR w="12700" cap="flat" cmpd="sng" algn="ctr">
                      <a:solidFill>
                        <a:srgbClr val="7F7F7F"/>
                      </a:solidFill>
                      <a:prstDash val="solid"/>
                      <a:round/>
                      <a:headEnd type="none" w="med" len="med"/>
                      <a:tailEnd type="none" w="med" len="med"/>
                    </a:lnR>
                    <a:lnT>
                      <a:noFill/>
                    </a:lnT>
                    <a:lnB>
                      <a:noFill/>
                    </a:lnB>
                    <a:noFill/>
                  </a:tcPr>
                </a:tc>
                <a:tc>
                  <a:txBody>
                    <a:bodyPr/>
                    <a:lstStyle/>
                    <a:p>
                      <a:pPr>
                        <a:lnSpc>
                          <a:spcPct val="115000"/>
                        </a:lnSpc>
                        <a:spcAft>
                          <a:spcPts val="1000"/>
                        </a:spcAft>
                        <a:buNone/>
                      </a:pPr>
                      <a:r>
                        <a:rPr lang="en-US" sz="1600">
                          <a:effectLst/>
                          <a:latin typeface="+mn-lt"/>
                          <a:ea typeface="MS Mincho" panose="02020609040205080304" pitchFamily="49" charset="-128"/>
                          <a:cs typeface="Times New Roman" panose="02020603050405020304" pitchFamily="18" charset="0"/>
                        </a:rPr>
                        <a:t>Kapalı Duruma Getirme</a:t>
                      </a:r>
                      <a:endParaRPr lang="tr-TR" sz="1600">
                        <a:effectLst/>
                        <a:latin typeface="+mn-lt"/>
                        <a:ea typeface="MS Mincho" panose="02020609040205080304" pitchFamily="49" charset="-128"/>
                        <a:cs typeface="Times New Roman" panose="02020603050405020304" pitchFamily="18" charset="0"/>
                      </a:endParaRPr>
                    </a:p>
                  </a:txBody>
                  <a:tcPr marL="47642" marR="47642" marT="0" marB="0">
                    <a:lnL w="12700" cap="flat" cmpd="sng" algn="ctr">
                      <a:solidFill>
                        <a:srgbClr val="7F7F7F"/>
                      </a:solidFill>
                      <a:prstDash val="solid"/>
                      <a:round/>
                      <a:headEnd type="none" w="med" len="med"/>
                      <a:tailEnd type="none" w="med" len="med"/>
                    </a:lnL>
                    <a:lnR>
                      <a:noFill/>
                    </a:lnR>
                    <a:lnT>
                      <a:noFill/>
                    </a:lnT>
                    <a:lnB>
                      <a:noFill/>
                    </a:lnB>
                    <a:noFill/>
                  </a:tcPr>
                </a:tc>
                <a:tc>
                  <a:txBody>
                    <a:bodyPr/>
                    <a:lstStyle/>
                    <a:p>
                      <a:pPr>
                        <a:lnSpc>
                          <a:spcPct val="115000"/>
                        </a:lnSpc>
                        <a:spcAft>
                          <a:spcPts val="1000"/>
                        </a:spcAft>
                        <a:buNone/>
                      </a:pPr>
                      <a:r>
                        <a:rPr lang="en-US" sz="1600" dirty="0" err="1">
                          <a:effectLst/>
                          <a:latin typeface="+mn-lt"/>
                          <a:ea typeface="MS Mincho" panose="02020609040205080304" pitchFamily="49" charset="-128"/>
                          <a:cs typeface="Times New Roman" panose="02020603050405020304" pitchFamily="18" charset="0"/>
                        </a:rPr>
                        <a:t>Tehlikeli</a:t>
                      </a:r>
                      <a:r>
                        <a:rPr lang="en-US" sz="1600" dirty="0">
                          <a:effectLst/>
                          <a:latin typeface="+mn-lt"/>
                          <a:ea typeface="MS Mincho" panose="02020609040205080304" pitchFamily="49" charset="-128"/>
                          <a:cs typeface="Times New Roman" panose="02020603050405020304" pitchFamily="18" charset="0"/>
                        </a:rPr>
                        <a:t> </a:t>
                      </a:r>
                      <a:r>
                        <a:rPr lang="en-US" sz="1600" dirty="0" err="1">
                          <a:effectLst/>
                          <a:latin typeface="+mn-lt"/>
                          <a:ea typeface="MS Mincho" panose="02020609040205080304" pitchFamily="49" charset="-128"/>
                          <a:cs typeface="Times New Roman" panose="02020603050405020304" pitchFamily="18" charset="0"/>
                        </a:rPr>
                        <a:t>işlemin</a:t>
                      </a:r>
                      <a:r>
                        <a:rPr lang="en-US" sz="1600" dirty="0">
                          <a:effectLst/>
                          <a:latin typeface="+mn-lt"/>
                          <a:ea typeface="MS Mincho" panose="02020609040205080304" pitchFamily="49" charset="-128"/>
                          <a:cs typeface="Times New Roman" panose="02020603050405020304" pitchFamily="18" charset="0"/>
                        </a:rPr>
                        <a:t> </a:t>
                      </a:r>
                      <a:r>
                        <a:rPr lang="en-US" sz="1600" dirty="0" err="1">
                          <a:effectLst/>
                          <a:latin typeface="+mn-lt"/>
                          <a:ea typeface="MS Mincho" panose="02020609040205080304" pitchFamily="49" charset="-128"/>
                          <a:cs typeface="Times New Roman" panose="02020603050405020304" pitchFamily="18" charset="0"/>
                        </a:rPr>
                        <a:t>tamamen</a:t>
                      </a:r>
                      <a:r>
                        <a:rPr lang="en-US" sz="1600" dirty="0">
                          <a:effectLst/>
                          <a:latin typeface="+mn-lt"/>
                          <a:ea typeface="MS Mincho" panose="02020609040205080304" pitchFamily="49" charset="-128"/>
                          <a:cs typeface="Times New Roman" panose="02020603050405020304" pitchFamily="18" charset="0"/>
                        </a:rPr>
                        <a:t> </a:t>
                      </a:r>
                      <a:r>
                        <a:rPr lang="en-US" sz="1600" dirty="0" err="1">
                          <a:effectLst/>
                          <a:latin typeface="+mn-lt"/>
                          <a:ea typeface="MS Mincho" panose="02020609040205080304" pitchFamily="49" charset="-128"/>
                          <a:cs typeface="Times New Roman" panose="02020603050405020304" pitchFamily="18" charset="0"/>
                        </a:rPr>
                        <a:t>kapalı</a:t>
                      </a:r>
                      <a:r>
                        <a:rPr lang="en-US" sz="1600" dirty="0">
                          <a:effectLst/>
                          <a:latin typeface="+mn-lt"/>
                          <a:ea typeface="MS Mincho" panose="02020609040205080304" pitchFamily="49" charset="-128"/>
                          <a:cs typeface="Times New Roman" panose="02020603050405020304" pitchFamily="18" charset="0"/>
                        </a:rPr>
                        <a:t> </a:t>
                      </a:r>
                      <a:r>
                        <a:rPr lang="en-US" sz="1600" dirty="0" err="1">
                          <a:effectLst/>
                          <a:latin typeface="+mn-lt"/>
                          <a:ea typeface="MS Mincho" panose="02020609040205080304" pitchFamily="49" charset="-128"/>
                          <a:cs typeface="Times New Roman" panose="02020603050405020304" pitchFamily="18" charset="0"/>
                        </a:rPr>
                        <a:t>sistemler</a:t>
                      </a:r>
                      <a:r>
                        <a:rPr lang="en-US" sz="1600" dirty="0">
                          <a:effectLst/>
                          <a:latin typeface="+mn-lt"/>
                          <a:ea typeface="MS Mincho" panose="02020609040205080304" pitchFamily="49" charset="-128"/>
                          <a:cs typeface="Times New Roman" panose="02020603050405020304" pitchFamily="18" charset="0"/>
                        </a:rPr>
                        <a:t> </a:t>
                      </a:r>
                      <a:r>
                        <a:rPr lang="en-US" sz="1600" dirty="0" err="1">
                          <a:effectLst/>
                          <a:latin typeface="+mn-lt"/>
                          <a:ea typeface="MS Mincho" panose="02020609040205080304" pitchFamily="49" charset="-128"/>
                          <a:cs typeface="Times New Roman" panose="02020603050405020304" pitchFamily="18" charset="0"/>
                        </a:rPr>
                        <a:t>içinde</a:t>
                      </a:r>
                      <a:r>
                        <a:rPr lang="en-US" sz="1600" dirty="0">
                          <a:effectLst/>
                          <a:latin typeface="+mn-lt"/>
                          <a:ea typeface="MS Mincho" panose="02020609040205080304" pitchFamily="49" charset="-128"/>
                          <a:cs typeface="Times New Roman" panose="02020603050405020304" pitchFamily="18" charset="0"/>
                        </a:rPr>
                        <a:t> </a:t>
                      </a:r>
                      <a:r>
                        <a:rPr lang="en-US" sz="1600" dirty="0" err="1">
                          <a:effectLst/>
                          <a:latin typeface="+mn-lt"/>
                          <a:ea typeface="MS Mincho" panose="02020609040205080304" pitchFamily="49" charset="-128"/>
                          <a:cs typeface="Times New Roman" panose="02020603050405020304" pitchFamily="18" charset="0"/>
                        </a:rPr>
                        <a:t>yapılmasıdır</a:t>
                      </a:r>
                      <a:r>
                        <a:rPr lang="en-US" sz="1600" dirty="0">
                          <a:effectLst/>
                          <a:latin typeface="+mn-lt"/>
                          <a:ea typeface="MS Mincho" panose="02020609040205080304" pitchFamily="49" charset="-128"/>
                          <a:cs typeface="Times New Roman" panose="02020603050405020304" pitchFamily="18" charset="0"/>
                        </a:rPr>
                        <a:t>.</a:t>
                      </a:r>
                      <a:endParaRPr lang="tr-TR" sz="1600" dirty="0">
                        <a:effectLst/>
                        <a:latin typeface="+mn-lt"/>
                        <a:ea typeface="MS Mincho" panose="02020609040205080304" pitchFamily="49" charset="-128"/>
                        <a:cs typeface="Times New Roman" panose="02020603050405020304" pitchFamily="18" charset="0"/>
                      </a:endParaRPr>
                    </a:p>
                  </a:txBody>
                  <a:tcPr marL="47642" marR="47642" marT="0" marB="0">
                    <a:lnL>
                      <a:noFill/>
                    </a:lnL>
                    <a:lnR>
                      <a:noFill/>
                    </a:lnR>
                    <a:lnT>
                      <a:noFill/>
                    </a:lnT>
                    <a:lnB>
                      <a:noFill/>
                    </a:lnB>
                    <a:noFill/>
                  </a:tcPr>
                </a:tc>
                <a:tc>
                  <a:txBody>
                    <a:bodyPr/>
                    <a:lstStyle/>
                    <a:p>
                      <a:pPr>
                        <a:lnSpc>
                          <a:spcPct val="115000"/>
                        </a:lnSpc>
                        <a:spcAft>
                          <a:spcPts val="1000"/>
                        </a:spcAft>
                        <a:buNone/>
                      </a:pPr>
                      <a:r>
                        <a:rPr lang="en-US" sz="1600" dirty="0" err="1">
                          <a:effectLst/>
                          <a:latin typeface="+mn-lt"/>
                          <a:ea typeface="MS Mincho" panose="02020609040205080304" pitchFamily="49" charset="-128"/>
                          <a:cs typeface="Times New Roman" panose="02020603050405020304" pitchFamily="18" charset="0"/>
                        </a:rPr>
                        <a:t>Tehlikenin</a:t>
                      </a:r>
                      <a:r>
                        <a:rPr lang="en-US" sz="1600" dirty="0">
                          <a:effectLst/>
                          <a:latin typeface="+mn-lt"/>
                          <a:ea typeface="MS Mincho" panose="02020609040205080304" pitchFamily="49" charset="-128"/>
                          <a:cs typeface="Times New Roman" panose="02020603050405020304" pitchFamily="18" charset="0"/>
                        </a:rPr>
                        <a:t> </a:t>
                      </a:r>
                      <a:r>
                        <a:rPr lang="en-US" sz="1600" dirty="0" err="1">
                          <a:effectLst/>
                          <a:latin typeface="+mn-lt"/>
                          <a:ea typeface="MS Mincho" panose="02020609040205080304" pitchFamily="49" charset="-128"/>
                          <a:cs typeface="Times New Roman" panose="02020603050405020304" pitchFamily="18" charset="0"/>
                        </a:rPr>
                        <a:t>ortama</a:t>
                      </a:r>
                      <a:r>
                        <a:rPr lang="en-US" sz="1600" dirty="0">
                          <a:effectLst/>
                          <a:latin typeface="+mn-lt"/>
                          <a:ea typeface="MS Mincho" panose="02020609040205080304" pitchFamily="49" charset="-128"/>
                          <a:cs typeface="Times New Roman" panose="02020603050405020304" pitchFamily="18" charset="0"/>
                        </a:rPr>
                        <a:t> </a:t>
                      </a:r>
                      <a:r>
                        <a:rPr lang="en-US" sz="1600" dirty="0" err="1">
                          <a:effectLst/>
                          <a:latin typeface="+mn-lt"/>
                          <a:ea typeface="MS Mincho" panose="02020609040205080304" pitchFamily="49" charset="-128"/>
                          <a:cs typeface="Times New Roman" panose="02020603050405020304" pitchFamily="18" charset="0"/>
                        </a:rPr>
                        <a:t>yayılmasını</a:t>
                      </a:r>
                      <a:r>
                        <a:rPr lang="en-US" sz="1600" dirty="0">
                          <a:effectLst/>
                          <a:latin typeface="+mn-lt"/>
                          <a:ea typeface="MS Mincho" panose="02020609040205080304" pitchFamily="49" charset="-128"/>
                          <a:cs typeface="Times New Roman" panose="02020603050405020304" pitchFamily="18" charset="0"/>
                        </a:rPr>
                        <a:t> </a:t>
                      </a:r>
                      <a:r>
                        <a:rPr lang="en-US" sz="1600" dirty="0" err="1">
                          <a:effectLst/>
                          <a:latin typeface="+mn-lt"/>
                          <a:ea typeface="MS Mincho" panose="02020609040205080304" pitchFamily="49" charset="-128"/>
                          <a:cs typeface="Times New Roman" panose="02020603050405020304" pitchFamily="18" charset="0"/>
                        </a:rPr>
                        <a:t>engellemek</a:t>
                      </a:r>
                      <a:endParaRPr lang="tr-TR" sz="1600" dirty="0">
                        <a:effectLst/>
                        <a:latin typeface="+mn-lt"/>
                        <a:ea typeface="MS Mincho" panose="02020609040205080304" pitchFamily="49" charset="-128"/>
                        <a:cs typeface="Times New Roman" panose="02020603050405020304" pitchFamily="18" charset="0"/>
                      </a:endParaRPr>
                    </a:p>
                  </a:txBody>
                  <a:tcPr marL="47642" marR="47642" marT="0" marB="0">
                    <a:lnL>
                      <a:noFill/>
                    </a:lnL>
                    <a:lnR>
                      <a:noFill/>
                    </a:lnR>
                    <a:lnT>
                      <a:noFill/>
                    </a:lnT>
                    <a:lnB>
                      <a:noFill/>
                    </a:lnB>
                    <a:noFill/>
                  </a:tcPr>
                </a:tc>
                <a:tc>
                  <a:txBody>
                    <a:bodyPr/>
                    <a:lstStyle/>
                    <a:p>
                      <a:pPr>
                        <a:lnSpc>
                          <a:spcPct val="115000"/>
                        </a:lnSpc>
                        <a:spcAft>
                          <a:spcPts val="1000"/>
                        </a:spcAft>
                        <a:buNone/>
                      </a:pPr>
                      <a:r>
                        <a:rPr lang="en-US" sz="1600">
                          <a:effectLst/>
                          <a:latin typeface="+mn-lt"/>
                          <a:ea typeface="MS Mincho" panose="02020609040205080304" pitchFamily="49" charset="-128"/>
                          <a:cs typeface="Times New Roman" panose="02020603050405020304" pitchFamily="18" charset="0"/>
                        </a:rPr>
                        <a:t>Kapalı taşlama ve parlatma sistemleri, patlayıcı maddelerle kapalı çalışma</a:t>
                      </a:r>
                      <a:endParaRPr lang="tr-TR" sz="1600">
                        <a:effectLst/>
                        <a:latin typeface="+mn-lt"/>
                        <a:ea typeface="MS Mincho" panose="02020609040205080304" pitchFamily="49" charset="-128"/>
                        <a:cs typeface="Times New Roman" panose="02020603050405020304" pitchFamily="18" charset="0"/>
                      </a:endParaRPr>
                    </a:p>
                  </a:txBody>
                  <a:tcPr marL="47642" marR="47642" marT="0" marB="0">
                    <a:lnL>
                      <a:noFill/>
                    </a:lnL>
                    <a:lnR>
                      <a:noFill/>
                    </a:lnR>
                    <a:lnT>
                      <a:noFill/>
                    </a:lnT>
                    <a:lnB>
                      <a:noFill/>
                    </a:lnB>
                    <a:noFill/>
                  </a:tcPr>
                </a:tc>
                <a:extLst>
                  <a:ext uri="{0D108BD9-81ED-4DB2-BD59-A6C34878D82A}">
                    <a16:rowId xmlns:a16="http://schemas.microsoft.com/office/drawing/2014/main" val="1121274167"/>
                  </a:ext>
                </a:extLst>
              </a:tr>
              <a:tr h="614568">
                <a:tc>
                  <a:txBody>
                    <a:bodyPr/>
                    <a:lstStyle/>
                    <a:p>
                      <a:pPr>
                        <a:lnSpc>
                          <a:spcPct val="115000"/>
                        </a:lnSpc>
                        <a:spcAft>
                          <a:spcPts val="1000"/>
                        </a:spcAft>
                        <a:buNone/>
                      </a:pPr>
                      <a:r>
                        <a:rPr lang="en-US" sz="1800" b="1" cap="all" dirty="0">
                          <a:solidFill>
                            <a:srgbClr val="000000"/>
                          </a:solidFill>
                          <a:effectLst/>
                          <a:latin typeface="+mn-lt"/>
                          <a:ea typeface="MS Mincho" panose="02020609040205080304" pitchFamily="49" charset="-128"/>
                          <a:cs typeface="Times New Roman" panose="02020603050405020304" pitchFamily="18" charset="0"/>
                        </a:rPr>
                        <a:t>3</a:t>
                      </a:r>
                      <a:endParaRPr lang="tr-TR" sz="1800" dirty="0">
                        <a:effectLst/>
                        <a:latin typeface="+mn-lt"/>
                        <a:ea typeface="MS Mincho" panose="02020609040205080304" pitchFamily="49" charset="-128"/>
                        <a:cs typeface="Times New Roman" panose="02020603050405020304" pitchFamily="18" charset="0"/>
                      </a:endParaRPr>
                    </a:p>
                  </a:txBody>
                  <a:tcPr marL="47642" marR="47642" marT="0" marB="0">
                    <a:lnL>
                      <a:noFill/>
                    </a:lnL>
                    <a:lnR w="12700" cap="flat" cmpd="sng" algn="ctr">
                      <a:solidFill>
                        <a:srgbClr val="7F7F7F"/>
                      </a:solidFill>
                      <a:prstDash val="solid"/>
                      <a:round/>
                      <a:headEnd type="none" w="med" len="med"/>
                      <a:tailEnd type="none" w="med" len="med"/>
                    </a:lnR>
                    <a:lnT>
                      <a:noFill/>
                    </a:lnT>
                    <a:lnB>
                      <a:noFill/>
                    </a:lnB>
                    <a:solidFill>
                      <a:srgbClr val="F2F2F2"/>
                    </a:solidFill>
                  </a:tcPr>
                </a:tc>
                <a:tc>
                  <a:txBody>
                    <a:bodyPr/>
                    <a:lstStyle/>
                    <a:p>
                      <a:pPr>
                        <a:lnSpc>
                          <a:spcPct val="115000"/>
                        </a:lnSpc>
                        <a:spcAft>
                          <a:spcPts val="1000"/>
                        </a:spcAft>
                        <a:buNone/>
                      </a:pPr>
                      <a:r>
                        <a:rPr lang="en-US" sz="1600">
                          <a:solidFill>
                            <a:srgbClr val="000000"/>
                          </a:solidFill>
                          <a:effectLst/>
                          <a:latin typeface="+mn-lt"/>
                          <a:ea typeface="MS Mincho" panose="02020609040205080304" pitchFamily="49" charset="-128"/>
                          <a:cs typeface="Times New Roman" panose="02020603050405020304" pitchFamily="18" charset="0"/>
                        </a:rPr>
                        <a:t>Islak (Yaş) Yöntem</a:t>
                      </a:r>
                      <a:endParaRPr lang="tr-TR" sz="1600">
                        <a:effectLst/>
                        <a:latin typeface="+mn-lt"/>
                        <a:ea typeface="MS Mincho" panose="02020609040205080304" pitchFamily="49" charset="-128"/>
                        <a:cs typeface="Times New Roman" panose="02020603050405020304" pitchFamily="18" charset="0"/>
                      </a:endParaRPr>
                    </a:p>
                  </a:txBody>
                  <a:tcPr marL="47642" marR="47642" marT="0" marB="0">
                    <a:lnL w="12700" cap="flat" cmpd="sng" algn="ctr">
                      <a:solidFill>
                        <a:srgbClr val="7F7F7F"/>
                      </a:solidFill>
                      <a:prstDash val="solid"/>
                      <a:round/>
                      <a:headEnd type="none" w="med" len="med"/>
                      <a:tailEnd type="none" w="med" len="med"/>
                    </a:lnL>
                    <a:lnR>
                      <a:noFill/>
                    </a:lnR>
                    <a:lnT>
                      <a:noFill/>
                    </a:lnT>
                    <a:lnB>
                      <a:noFill/>
                    </a:lnB>
                    <a:solidFill>
                      <a:srgbClr val="F2F2F2"/>
                    </a:solidFill>
                  </a:tcPr>
                </a:tc>
                <a:tc>
                  <a:txBody>
                    <a:bodyPr/>
                    <a:lstStyle/>
                    <a:p>
                      <a:pPr>
                        <a:lnSpc>
                          <a:spcPct val="115000"/>
                        </a:lnSpc>
                        <a:spcAft>
                          <a:spcPts val="1000"/>
                        </a:spcAft>
                        <a:buNone/>
                      </a:pPr>
                      <a:r>
                        <a:rPr lang="en-US" sz="1600">
                          <a:solidFill>
                            <a:srgbClr val="000000"/>
                          </a:solidFill>
                          <a:effectLst/>
                          <a:latin typeface="+mn-lt"/>
                          <a:ea typeface="MS Mincho" panose="02020609040205080304" pitchFamily="49" charset="-128"/>
                          <a:cs typeface="Times New Roman" panose="02020603050405020304" pitchFamily="18" charset="0"/>
                        </a:rPr>
                        <a:t>Toz oluşumunu bastırmak için su veya sıvı kullanılmasıdır.</a:t>
                      </a:r>
                      <a:endParaRPr lang="tr-TR" sz="1600">
                        <a:effectLst/>
                        <a:latin typeface="+mn-lt"/>
                        <a:ea typeface="MS Mincho" panose="02020609040205080304" pitchFamily="49" charset="-128"/>
                        <a:cs typeface="Times New Roman" panose="02020603050405020304" pitchFamily="18" charset="0"/>
                      </a:endParaRPr>
                    </a:p>
                  </a:txBody>
                  <a:tcPr marL="47642" marR="47642" marT="0" marB="0">
                    <a:lnL>
                      <a:noFill/>
                    </a:lnL>
                    <a:lnR>
                      <a:noFill/>
                    </a:lnR>
                    <a:lnT>
                      <a:noFill/>
                    </a:lnT>
                    <a:lnB>
                      <a:noFill/>
                    </a:lnB>
                    <a:solidFill>
                      <a:srgbClr val="F2F2F2"/>
                    </a:solidFill>
                  </a:tcPr>
                </a:tc>
                <a:tc>
                  <a:txBody>
                    <a:bodyPr/>
                    <a:lstStyle/>
                    <a:p>
                      <a:pPr>
                        <a:lnSpc>
                          <a:spcPct val="115000"/>
                        </a:lnSpc>
                        <a:spcAft>
                          <a:spcPts val="1000"/>
                        </a:spcAft>
                        <a:buNone/>
                      </a:pPr>
                      <a:r>
                        <a:rPr lang="en-US" sz="1600" dirty="0" err="1">
                          <a:solidFill>
                            <a:srgbClr val="000000"/>
                          </a:solidFill>
                          <a:effectLst/>
                          <a:latin typeface="+mn-lt"/>
                          <a:ea typeface="MS Mincho" panose="02020609040205080304" pitchFamily="49" charset="-128"/>
                          <a:cs typeface="Times New Roman" panose="02020603050405020304" pitchFamily="18" charset="0"/>
                        </a:rPr>
                        <a:t>Toz</a:t>
                      </a:r>
                      <a:r>
                        <a:rPr lang="en-US" sz="1600" dirty="0">
                          <a:solidFill>
                            <a:srgbClr val="000000"/>
                          </a:solidFill>
                          <a:effectLst/>
                          <a:latin typeface="+mn-lt"/>
                          <a:ea typeface="MS Mincho" panose="02020609040205080304" pitchFamily="49" charset="-128"/>
                          <a:cs typeface="Times New Roman" panose="02020603050405020304" pitchFamily="18" charset="0"/>
                        </a:rPr>
                        <a:t> </a:t>
                      </a:r>
                      <a:r>
                        <a:rPr lang="en-US" sz="1600" dirty="0" err="1">
                          <a:solidFill>
                            <a:srgbClr val="000000"/>
                          </a:solidFill>
                          <a:effectLst/>
                          <a:latin typeface="+mn-lt"/>
                          <a:ea typeface="MS Mincho" panose="02020609040205080304" pitchFamily="49" charset="-128"/>
                          <a:cs typeface="Times New Roman" panose="02020603050405020304" pitchFamily="18" charset="0"/>
                        </a:rPr>
                        <a:t>oluşumunu</a:t>
                      </a:r>
                      <a:r>
                        <a:rPr lang="en-US" sz="1600" dirty="0">
                          <a:solidFill>
                            <a:srgbClr val="000000"/>
                          </a:solidFill>
                          <a:effectLst/>
                          <a:latin typeface="+mn-lt"/>
                          <a:ea typeface="MS Mincho" panose="02020609040205080304" pitchFamily="49" charset="-128"/>
                          <a:cs typeface="Times New Roman" panose="02020603050405020304" pitchFamily="18" charset="0"/>
                        </a:rPr>
                        <a:t> </a:t>
                      </a:r>
                      <a:r>
                        <a:rPr lang="en-US" sz="1600" dirty="0" err="1">
                          <a:solidFill>
                            <a:srgbClr val="000000"/>
                          </a:solidFill>
                          <a:effectLst/>
                          <a:latin typeface="+mn-lt"/>
                          <a:ea typeface="MS Mincho" panose="02020609040205080304" pitchFamily="49" charset="-128"/>
                          <a:cs typeface="Times New Roman" panose="02020603050405020304" pitchFamily="18" charset="0"/>
                        </a:rPr>
                        <a:t>ve</a:t>
                      </a:r>
                      <a:r>
                        <a:rPr lang="en-US" sz="1600" dirty="0">
                          <a:solidFill>
                            <a:srgbClr val="000000"/>
                          </a:solidFill>
                          <a:effectLst/>
                          <a:latin typeface="+mn-lt"/>
                          <a:ea typeface="MS Mincho" panose="02020609040205080304" pitchFamily="49" charset="-128"/>
                          <a:cs typeface="Times New Roman" panose="02020603050405020304" pitchFamily="18" charset="0"/>
                        </a:rPr>
                        <a:t> </a:t>
                      </a:r>
                      <a:r>
                        <a:rPr lang="en-US" sz="1600" dirty="0" err="1">
                          <a:solidFill>
                            <a:srgbClr val="000000"/>
                          </a:solidFill>
                          <a:effectLst/>
                          <a:latin typeface="+mn-lt"/>
                          <a:ea typeface="MS Mincho" panose="02020609040205080304" pitchFamily="49" charset="-128"/>
                          <a:cs typeface="Times New Roman" panose="02020603050405020304" pitchFamily="18" charset="0"/>
                        </a:rPr>
                        <a:t>yayılmasını</a:t>
                      </a:r>
                      <a:r>
                        <a:rPr lang="en-US" sz="1600" dirty="0">
                          <a:solidFill>
                            <a:srgbClr val="000000"/>
                          </a:solidFill>
                          <a:effectLst/>
                          <a:latin typeface="+mn-lt"/>
                          <a:ea typeface="MS Mincho" panose="02020609040205080304" pitchFamily="49" charset="-128"/>
                          <a:cs typeface="Times New Roman" panose="02020603050405020304" pitchFamily="18" charset="0"/>
                        </a:rPr>
                        <a:t> </a:t>
                      </a:r>
                      <a:r>
                        <a:rPr lang="en-US" sz="1600" dirty="0" err="1">
                          <a:solidFill>
                            <a:srgbClr val="000000"/>
                          </a:solidFill>
                          <a:effectLst/>
                          <a:latin typeface="+mn-lt"/>
                          <a:ea typeface="MS Mincho" panose="02020609040205080304" pitchFamily="49" charset="-128"/>
                          <a:cs typeface="Times New Roman" panose="02020603050405020304" pitchFamily="18" charset="0"/>
                        </a:rPr>
                        <a:t>azaltmak</a:t>
                      </a:r>
                      <a:endParaRPr lang="tr-TR" sz="1600" dirty="0">
                        <a:effectLst/>
                        <a:latin typeface="+mn-lt"/>
                        <a:ea typeface="MS Mincho" panose="02020609040205080304" pitchFamily="49" charset="-128"/>
                        <a:cs typeface="Times New Roman" panose="02020603050405020304" pitchFamily="18" charset="0"/>
                      </a:endParaRPr>
                    </a:p>
                  </a:txBody>
                  <a:tcPr marL="47642" marR="47642" marT="0" marB="0">
                    <a:lnL>
                      <a:noFill/>
                    </a:lnL>
                    <a:lnR>
                      <a:noFill/>
                    </a:lnR>
                    <a:lnT>
                      <a:noFill/>
                    </a:lnT>
                    <a:lnB>
                      <a:noFill/>
                    </a:lnB>
                    <a:solidFill>
                      <a:srgbClr val="F2F2F2"/>
                    </a:solidFill>
                  </a:tcPr>
                </a:tc>
                <a:tc>
                  <a:txBody>
                    <a:bodyPr/>
                    <a:lstStyle/>
                    <a:p>
                      <a:pPr>
                        <a:lnSpc>
                          <a:spcPct val="115000"/>
                        </a:lnSpc>
                        <a:spcAft>
                          <a:spcPts val="1000"/>
                        </a:spcAft>
                        <a:buNone/>
                      </a:pPr>
                      <a:r>
                        <a:rPr lang="en-US" sz="1600">
                          <a:solidFill>
                            <a:srgbClr val="000000"/>
                          </a:solidFill>
                          <a:effectLst/>
                          <a:latin typeface="+mn-lt"/>
                          <a:ea typeface="MS Mincho" panose="02020609040205080304" pitchFamily="49" charset="-128"/>
                          <a:cs typeface="Times New Roman" panose="02020603050405020304" pitchFamily="18" charset="0"/>
                        </a:rPr>
                        <a:t>Delme ve taşlama işlemlerinde su kullanılması</a:t>
                      </a:r>
                      <a:endParaRPr lang="tr-TR" sz="1600">
                        <a:effectLst/>
                        <a:latin typeface="+mn-lt"/>
                        <a:ea typeface="MS Mincho" panose="02020609040205080304" pitchFamily="49" charset="-128"/>
                        <a:cs typeface="Times New Roman" panose="02020603050405020304" pitchFamily="18" charset="0"/>
                      </a:endParaRPr>
                    </a:p>
                  </a:txBody>
                  <a:tcPr marL="47642" marR="47642" marT="0" marB="0">
                    <a:lnL>
                      <a:noFill/>
                    </a:lnL>
                    <a:lnR>
                      <a:noFill/>
                    </a:lnR>
                    <a:lnT>
                      <a:noFill/>
                    </a:lnT>
                    <a:lnB>
                      <a:noFill/>
                    </a:lnB>
                    <a:solidFill>
                      <a:srgbClr val="F2F2F2"/>
                    </a:solidFill>
                  </a:tcPr>
                </a:tc>
                <a:extLst>
                  <a:ext uri="{0D108BD9-81ED-4DB2-BD59-A6C34878D82A}">
                    <a16:rowId xmlns:a16="http://schemas.microsoft.com/office/drawing/2014/main" val="3851039159"/>
                  </a:ext>
                </a:extLst>
              </a:tr>
              <a:tr h="928523">
                <a:tc>
                  <a:txBody>
                    <a:bodyPr/>
                    <a:lstStyle/>
                    <a:p>
                      <a:pPr>
                        <a:lnSpc>
                          <a:spcPct val="115000"/>
                        </a:lnSpc>
                        <a:spcAft>
                          <a:spcPts val="1000"/>
                        </a:spcAft>
                        <a:buNone/>
                      </a:pPr>
                      <a:r>
                        <a:rPr lang="en-US" sz="1800" b="1" cap="all" dirty="0">
                          <a:effectLst/>
                          <a:latin typeface="+mn-lt"/>
                          <a:ea typeface="MS Mincho" panose="02020609040205080304" pitchFamily="49" charset="-128"/>
                          <a:cs typeface="Times New Roman" panose="02020603050405020304" pitchFamily="18" charset="0"/>
                        </a:rPr>
                        <a:t>4</a:t>
                      </a:r>
                      <a:endParaRPr lang="tr-TR" sz="1800" dirty="0">
                        <a:effectLst/>
                        <a:latin typeface="+mn-lt"/>
                        <a:ea typeface="MS Mincho" panose="02020609040205080304" pitchFamily="49" charset="-128"/>
                        <a:cs typeface="Times New Roman" panose="02020603050405020304" pitchFamily="18" charset="0"/>
                      </a:endParaRPr>
                    </a:p>
                  </a:txBody>
                  <a:tcPr marL="47642" marR="47642" marT="0" marB="0">
                    <a:lnL>
                      <a:noFill/>
                    </a:lnL>
                    <a:lnR w="12700" cap="flat" cmpd="sng" algn="ctr">
                      <a:solidFill>
                        <a:srgbClr val="7F7F7F"/>
                      </a:solidFill>
                      <a:prstDash val="solid"/>
                      <a:round/>
                      <a:headEnd type="none" w="med" len="med"/>
                      <a:tailEnd type="none" w="med" len="med"/>
                    </a:lnR>
                    <a:lnT>
                      <a:noFill/>
                    </a:lnT>
                    <a:lnB>
                      <a:noFill/>
                    </a:lnB>
                    <a:noFill/>
                  </a:tcPr>
                </a:tc>
                <a:tc>
                  <a:txBody>
                    <a:bodyPr/>
                    <a:lstStyle/>
                    <a:p>
                      <a:pPr>
                        <a:lnSpc>
                          <a:spcPct val="115000"/>
                        </a:lnSpc>
                        <a:spcAft>
                          <a:spcPts val="1000"/>
                        </a:spcAft>
                        <a:buNone/>
                      </a:pPr>
                      <a:r>
                        <a:rPr lang="en-US" sz="1600">
                          <a:effectLst/>
                          <a:latin typeface="+mn-lt"/>
                          <a:ea typeface="MS Mincho" panose="02020609040205080304" pitchFamily="49" charset="-128"/>
                          <a:cs typeface="Times New Roman" panose="02020603050405020304" pitchFamily="18" charset="0"/>
                        </a:rPr>
                        <a:t>Kirli Havanın Emilerek Uzaklaştırılması</a:t>
                      </a:r>
                      <a:endParaRPr lang="tr-TR" sz="1600">
                        <a:effectLst/>
                        <a:latin typeface="+mn-lt"/>
                        <a:ea typeface="MS Mincho" panose="02020609040205080304" pitchFamily="49" charset="-128"/>
                        <a:cs typeface="Times New Roman" panose="02020603050405020304" pitchFamily="18" charset="0"/>
                      </a:endParaRPr>
                    </a:p>
                  </a:txBody>
                  <a:tcPr marL="47642" marR="47642" marT="0" marB="0">
                    <a:lnL w="12700" cap="flat" cmpd="sng" algn="ctr">
                      <a:solidFill>
                        <a:srgbClr val="7F7F7F"/>
                      </a:solidFill>
                      <a:prstDash val="solid"/>
                      <a:round/>
                      <a:headEnd type="none" w="med" len="med"/>
                      <a:tailEnd type="none" w="med" len="med"/>
                    </a:lnL>
                    <a:lnR>
                      <a:noFill/>
                    </a:lnR>
                    <a:lnT>
                      <a:noFill/>
                    </a:lnT>
                    <a:lnB>
                      <a:noFill/>
                    </a:lnB>
                    <a:noFill/>
                  </a:tcPr>
                </a:tc>
                <a:tc>
                  <a:txBody>
                    <a:bodyPr/>
                    <a:lstStyle/>
                    <a:p>
                      <a:pPr>
                        <a:lnSpc>
                          <a:spcPct val="115000"/>
                        </a:lnSpc>
                        <a:spcAft>
                          <a:spcPts val="1000"/>
                        </a:spcAft>
                        <a:buNone/>
                      </a:pPr>
                      <a:r>
                        <a:rPr lang="en-US" sz="1600">
                          <a:effectLst/>
                          <a:latin typeface="+mn-lt"/>
                          <a:ea typeface="MS Mincho" panose="02020609040205080304" pitchFamily="49" charset="-128"/>
                          <a:cs typeface="Times New Roman" panose="02020603050405020304" pitchFamily="18" charset="0"/>
                        </a:rPr>
                        <a:t>Kirli havanın kaynağında emilerek ortamdan uzaklaştırılmasıdır.</a:t>
                      </a:r>
                      <a:endParaRPr lang="tr-TR" sz="1600">
                        <a:effectLst/>
                        <a:latin typeface="+mn-lt"/>
                        <a:ea typeface="MS Mincho" panose="02020609040205080304" pitchFamily="49" charset="-128"/>
                        <a:cs typeface="Times New Roman" panose="02020603050405020304" pitchFamily="18" charset="0"/>
                      </a:endParaRPr>
                    </a:p>
                  </a:txBody>
                  <a:tcPr marL="47642" marR="47642" marT="0" marB="0">
                    <a:lnL>
                      <a:noFill/>
                    </a:lnL>
                    <a:lnR>
                      <a:noFill/>
                    </a:lnR>
                    <a:lnT>
                      <a:noFill/>
                    </a:lnT>
                    <a:lnB>
                      <a:noFill/>
                    </a:lnB>
                    <a:noFill/>
                  </a:tcPr>
                </a:tc>
                <a:tc>
                  <a:txBody>
                    <a:bodyPr/>
                    <a:lstStyle/>
                    <a:p>
                      <a:pPr>
                        <a:lnSpc>
                          <a:spcPct val="115000"/>
                        </a:lnSpc>
                        <a:spcAft>
                          <a:spcPts val="1000"/>
                        </a:spcAft>
                        <a:buNone/>
                      </a:pPr>
                      <a:r>
                        <a:rPr lang="en-US" sz="1600" dirty="0" err="1">
                          <a:effectLst/>
                          <a:latin typeface="+mn-lt"/>
                          <a:ea typeface="MS Mincho" panose="02020609040205080304" pitchFamily="49" charset="-128"/>
                          <a:cs typeface="Times New Roman" panose="02020603050405020304" pitchFamily="18" charset="0"/>
                        </a:rPr>
                        <a:t>Ortam</a:t>
                      </a:r>
                      <a:r>
                        <a:rPr lang="en-US" sz="1600" dirty="0">
                          <a:effectLst/>
                          <a:latin typeface="+mn-lt"/>
                          <a:ea typeface="MS Mincho" panose="02020609040205080304" pitchFamily="49" charset="-128"/>
                          <a:cs typeface="Times New Roman" panose="02020603050405020304" pitchFamily="18" charset="0"/>
                        </a:rPr>
                        <a:t> </a:t>
                      </a:r>
                      <a:r>
                        <a:rPr lang="en-US" sz="1600" dirty="0" err="1">
                          <a:effectLst/>
                          <a:latin typeface="+mn-lt"/>
                          <a:ea typeface="MS Mincho" panose="02020609040205080304" pitchFamily="49" charset="-128"/>
                          <a:cs typeface="Times New Roman" panose="02020603050405020304" pitchFamily="18" charset="0"/>
                        </a:rPr>
                        <a:t>havasının</a:t>
                      </a:r>
                      <a:r>
                        <a:rPr lang="en-US" sz="1600" dirty="0">
                          <a:effectLst/>
                          <a:latin typeface="+mn-lt"/>
                          <a:ea typeface="MS Mincho" panose="02020609040205080304" pitchFamily="49" charset="-128"/>
                          <a:cs typeface="Times New Roman" panose="02020603050405020304" pitchFamily="18" charset="0"/>
                        </a:rPr>
                        <a:t> </a:t>
                      </a:r>
                      <a:r>
                        <a:rPr lang="en-US" sz="1600" dirty="0" err="1">
                          <a:effectLst/>
                          <a:latin typeface="+mn-lt"/>
                          <a:ea typeface="MS Mincho" panose="02020609040205080304" pitchFamily="49" charset="-128"/>
                          <a:cs typeface="Times New Roman" panose="02020603050405020304" pitchFamily="18" charset="0"/>
                        </a:rPr>
                        <a:t>temiz</a:t>
                      </a:r>
                      <a:r>
                        <a:rPr lang="en-US" sz="1600" dirty="0">
                          <a:effectLst/>
                          <a:latin typeface="+mn-lt"/>
                          <a:ea typeface="MS Mincho" panose="02020609040205080304" pitchFamily="49" charset="-128"/>
                          <a:cs typeface="Times New Roman" panose="02020603050405020304" pitchFamily="18" charset="0"/>
                        </a:rPr>
                        <a:t> </a:t>
                      </a:r>
                      <a:r>
                        <a:rPr lang="en-US" sz="1600" dirty="0" err="1">
                          <a:effectLst/>
                          <a:latin typeface="+mn-lt"/>
                          <a:ea typeface="MS Mincho" panose="02020609040205080304" pitchFamily="49" charset="-128"/>
                          <a:cs typeface="Times New Roman" panose="02020603050405020304" pitchFamily="18" charset="0"/>
                        </a:rPr>
                        <a:t>tutulması</a:t>
                      </a:r>
                      <a:endParaRPr lang="tr-TR" sz="1600" dirty="0">
                        <a:effectLst/>
                        <a:latin typeface="+mn-lt"/>
                        <a:ea typeface="MS Mincho" panose="02020609040205080304" pitchFamily="49" charset="-128"/>
                        <a:cs typeface="Times New Roman" panose="02020603050405020304" pitchFamily="18" charset="0"/>
                      </a:endParaRPr>
                    </a:p>
                  </a:txBody>
                  <a:tcPr marL="47642" marR="47642" marT="0" marB="0">
                    <a:lnL>
                      <a:noFill/>
                    </a:lnL>
                    <a:lnR>
                      <a:noFill/>
                    </a:lnR>
                    <a:lnT>
                      <a:noFill/>
                    </a:lnT>
                    <a:lnB>
                      <a:noFill/>
                    </a:lnB>
                    <a:noFill/>
                  </a:tcPr>
                </a:tc>
                <a:tc>
                  <a:txBody>
                    <a:bodyPr/>
                    <a:lstStyle/>
                    <a:p>
                      <a:pPr>
                        <a:lnSpc>
                          <a:spcPct val="115000"/>
                        </a:lnSpc>
                        <a:spcAft>
                          <a:spcPts val="1000"/>
                        </a:spcAft>
                        <a:buNone/>
                      </a:pPr>
                      <a:r>
                        <a:rPr lang="en-US" sz="1600" dirty="0">
                          <a:effectLst/>
                          <a:latin typeface="+mn-lt"/>
                          <a:ea typeface="MS Mincho" panose="02020609040205080304" pitchFamily="49" charset="-128"/>
                          <a:cs typeface="Times New Roman" panose="02020603050405020304" pitchFamily="18" charset="0"/>
                        </a:rPr>
                        <a:t>Lokal (</a:t>
                      </a:r>
                      <a:r>
                        <a:rPr lang="en-US" sz="1600" dirty="0" err="1">
                          <a:effectLst/>
                          <a:latin typeface="+mn-lt"/>
                          <a:ea typeface="MS Mincho" panose="02020609040205080304" pitchFamily="49" charset="-128"/>
                          <a:cs typeface="Times New Roman" panose="02020603050405020304" pitchFamily="18" charset="0"/>
                        </a:rPr>
                        <a:t>mevzii</a:t>
                      </a:r>
                      <a:r>
                        <a:rPr lang="en-US" sz="1600" dirty="0">
                          <a:effectLst/>
                          <a:latin typeface="+mn-lt"/>
                          <a:ea typeface="MS Mincho" panose="02020609040205080304" pitchFamily="49" charset="-128"/>
                          <a:cs typeface="Times New Roman" panose="02020603050405020304" pitchFamily="18" charset="0"/>
                        </a:rPr>
                        <a:t>) </a:t>
                      </a:r>
                      <a:r>
                        <a:rPr lang="en-US" sz="1600" dirty="0" err="1">
                          <a:effectLst/>
                          <a:latin typeface="+mn-lt"/>
                          <a:ea typeface="MS Mincho" panose="02020609040205080304" pitchFamily="49" charset="-128"/>
                          <a:cs typeface="Times New Roman" panose="02020603050405020304" pitchFamily="18" charset="0"/>
                        </a:rPr>
                        <a:t>havalandırma</a:t>
                      </a:r>
                      <a:r>
                        <a:rPr lang="en-US" sz="1600" dirty="0">
                          <a:effectLst/>
                          <a:latin typeface="+mn-lt"/>
                          <a:ea typeface="MS Mincho" panose="02020609040205080304" pitchFamily="49" charset="-128"/>
                          <a:cs typeface="Times New Roman" panose="02020603050405020304" pitchFamily="18" charset="0"/>
                        </a:rPr>
                        <a:t>, </a:t>
                      </a:r>
                      <a:r>
                        <a:rPr lang="en-US" sz="1600" dirty="0" err="1">
                          <a:effectLst/>
                          <a:latin typeface="+mn-lt"/>
                          <a:ea typeface="MS Mincho" panose="02020609040205080304" pitchFamily="49" charset="-128"/>
                          <a:cs typeface="Times New Roman" panose="02020603050405020304" pitchFamily="18" charset="0"/>
                        </a:rPr>
                        <a:t>davlumbaz</a:t>
                      </a:r>
                      <a:r>
                        <a:rPr lang="en-US" sz="1600" dirty="0">
                          <a:effectLst/>
                          <a:latin typeface="+mn-lt"/>
                          <a:ea typeface="MS Mincho" panose="02020609040205080304" pitchFamily="49" charset="-128"/>
                          <a:cs typeface="Times New Roman" panose="02020603050405020304" pitchFamily="18" charset="0"/>
                        </a:rPr>
                        <a:t> </a:t>
                      </a:r>
                      <a:r>
                        <a:rPr lang="en-US" sz="1600" dirty="0" err="1">
                          <a:effectLst/>
                          <a:latin typeface="+mn-lt"/>
                          <a:ea typeface="MS Mincho" panose="02020609040205080304" pitchFamily="49" charset="-128"/>
                          <a:cs typeface="Times New Roman" panose="02020603050405020304" pitchFamily="18" charset="0"/>
                        </a:rPr>
                        <a:t>sistemleri</a:t>
                      </a:r>
                      <a:endParaRPr lang="tr-TR" sz="1600" dirty="0">
                        <a:effectLst/>
                        <a:latin typeface="+mn-lt"/>
                        <a:ea typeface="MS Mincho" panose="02020609040205080304" pitchFamily="49" charset="-128"/>
                        <a:cs typeface="Times New Roman" panose="02020603050405020304" pitchFamily="18" charset="0"/>
                      </a:endParaRPr>
                    </a:p>
                  </a:txBody>
                  <a:tcPr marL="47642" marR="47642" marT="0" marB="0">
                    <a:lnL>
                      <a:noFill/>
                    </a:lnL>
                    <a:lnR>
                      <a:noFill/>
                    </a:lnR>
                    <a:lnT>
                      <a:noFill/>
                    </a:lnT>
                    <a:lnB>
                      <a:noFill/>
                    </a:lnB>
                    <a:noFill/>
                  </a:tcPr>
                </a:tc>
                <a:extLst>
                  <a:ext uri="{0D108BD9-81ED-4DB2-BD59-A6C34878D82A}">
                    <a16:rowId xmlns:a16="http://schemas.microsoft.com/office/drawing/2014/main" val="751479589"/>
                  </a:ext>
                </a:extLst>
              </a:tr>
              <a:tr h="1085500">
                <a:tc>
                  <a:txBody>
                    <a:bodyPr/>
                    <a:lstStyle/>
                    <a:p>
                      <a:pPr>
                        <a:lnSpc>
                          <a:spcPct val="115000"/>
                        </a:lnSpc>
                        <a:spcAft>
                          <a:spcPts val="1000"/>
                        </a:spcAft>
                        <a:buNone/>
                      </a:pPr>
                      <a:r>
                        <a:rPr lang="en-US" sz="1800" b="1" cap="all" dirty="0">
                          <a:solidFill>
                            <a:srgbClr val="000000"/>
                          </a:solidFill>
                          <a:effectLst/>
                          <a:latin typeface="+mn-lt"/>
                          <a:ea typeface="MS Mincho" panose="02020609040205080304" pitchFamily="49" charset="-128"/>
                          <a:cs typeface="Times New Roman" panose="02020603050405020304" pitchFamily="18" charset="0"/>
                        </a:rPr>
                        <a:t>5</a:t>
                      </a:r>
                      <a:endParaRPr lang="tr-TR" sz="1800" dirty="0">
                        <a:effectLst/>
                        <a:latin typeface="+mn-lt"/>
                        <a:ea typeface="MS Mincho" panose="02020609040205080304" pitchFamily="49" charset="-128"/>
                        <a:cs typeface="Times New Roman" panose="02020603050405020304" pitchFamily="18" charset="0"/>
                      </a:endParaRPr>
                    </a:p>
                  </a:txBody>
                  <a:tcPr marL="47642" marR="47642" marT="0" marB="0">
                    <a:lnL>
                      <a:noFill/>
                    </a:lnL>
                    <a:lnR w="12700" cap="flat" cmpd="sng" algn="ctr">
                      <a:solidFill>
                        <a:srgbClr val="7F7F7F"/>
                      </a:solidFill>
                      <a:prstDash val="solid"/>
                      <a:round/>
                      <a:headEnd type="none" w="med" len="med"/>
                      <a:tailEnd type="none" w="med" len="med"/>
                    </a:lnR>
                    <a:lnT>
                      <a:noFill/>
                    </a:lnT>
                    <a:lnB>
                      <a:noFill/>
                    </a:lnB>
                    <a:solidFill>
                      <a:srgbClr val="F2F2F2"/>
                    </a:solidFill>
                  </a:tcPr>
                </a:tc>
                <a:tc>
                  <a:txBody>
                    <a:bodyPr/>
                    <a:lstStyle/>
                    <a:p>
                      <a:pPr>
                        <a:lnSpc>
                          <a:spcPct val="115000"/>
                        </a:lnSpc>
                        <a:spcAft>
                          <a:spcPts val="1000"/>
                        </a:spcAft>
                        <a:buNone/>
                      </a:pPr>
                      <a:r>
                        <a:rPr lang="en-US" sz="1600">
                          <a:solidFill>
                            <a:srgbClr val="000000"/>
                          </a:solidFill>
                          <a:effectLst/>
                          <a:latin typeface="+mn-lt"/>
                          <a:ea typeface="MS Mincho" panose="02020609040205080304" pitchFamily="49" charset="-128"/>
                          <a:cs typeface="Times New Roman" panose="02020603050405020304" pitchFamily="18" charset="0"/>
                        </a:rPr>
                        <a:t>İşçi Eğitimi</a:t>
                      </a:r>
                      <a:endParaRPr lang="tr-TR" sz="1600">
                        <a:effectLst/>
                        <a:latin typeface="+mn-lt"/>
                        <a:ea typeface="MS Mincho" panose="02020609040205080304" pitchFamily="49" charset="-128"/>
                        <a:cs typeface="Times New Roman" panose="02020603050405020304" pitchFamily="18" charset="0"/>
                      </a:endParaRPr>
                    </a:p>
                  </a:txBody>
                  <a:tcPr marL="47642" marR="47642" marT="0" marB="0">
                    <a:lnL w="12700" cap="flat" cmpd="sng" algn="ctr">
                      <a:solidFill>
                        <a:srgbClr val="7F7F7F"/>
                      </a:solidFill>
                      <a:prstDash val="solid"/>
                      <a:round/>
                      <a:headEnd type="none" w="med" len="med"/>
                      <a:tailEnd type="none" w="med" len="med"/>
                    </a:lnL>
                    <a:lnR>
                      <a:noFill/>
                    </a:lnR>
                    <a:lnT>
                      <a:noFill/>
                    </a:lnT>
                    <a:lnB>
                      <a:noFill/>
                    </a:lnB>
                    <a:solidFill>
                      <a:srgbClr val="F2F2F2"/>
                    </a:solidFill>
                  </a:tcPr>
                </a:tc>
                <a:tc>
                  <a:txBody>
                    <a:bodyPr/>
                    <a:lstStyle/>
                    <a:p>
                      <a:pPr>
                        <a:lnSpc>
                          <a:spcPct val="115000"/>
                        </a:lnSpc>
                        <a:spcAft>
                          <a:spcPts val="1000"/>
                        </a:spcAft>
                        <a:buNone/>
                      </a:pPr>
                      <a:r>
                        <a:rPr lang="en-US" sz="1600">
                          <a:solidFill>
                            <a:srgbClr val="000000"/>
                          </a:solidFill>
                          <a:effectLst/>
                          <a:latin typeface="+mn-lt"/>
                          <a:ea typeface="MS Mincho" panose="02020609040205080304" pitchFamily="49" charset="-128"/>
                          <a:cs typeface="Times New Roman" panose="02020603050405020304" pitchFamily="18" charset="0"/>
                        </a:rPr>
                        <a:t>Çalışanların riskler ve korunma yöntemleri konusunda bilinçlendirilmesidir.</a:t>
                      </a:r>
                      <a:endParaRPr lang="tr-TR" sz="1600">
                        <a:effectLst/>
                        <a:latin typeface="+mn-lt"/>
                        <a:ea typeface="MS Mincho" panose="02020609040205080304" pitchFamily="49" charset="-128"/>
                        <a:cs typeface="Times New Roman" panose="02020603050405020304" pitchFamily="18" charset="0"/>
                      </a:endParaRPr>
                    </a:p>
                  </a:txBody>
                  <a:tcPr marL="47642" marR="47642" marT="0" marB="0">
                    <a:lnL>
                      <a:noFill/>
                    </a:lnL>
                    <a:lnR>
                      <a:noFill/>
                    </a:lnR>
                    <a:lnT>
                      <a:noFill/>
                    </a:lnT>
                    <a:lnB>
                      <a:noFill/>
                    </a:lnB>
                    <a:solidFill>
                      <a:srgbClr val="F2F2F2"/>
                    </a:solidFill>
                  </a:tcPr>
                </a:tc>
                <a:tc>
                  <a:txBody>
                    <a:bodyPr/>
                    <a:lstStyle/>
                    <a:p>
                      <a:pPr>
                        <a:lnSpc>
                          <a:spcPct val="115000"/>
                        </a:lnSpc>
                        <a:spcAft>
                          <a:spcPts val="1000"/>
                        </a:spcAft>
                        <a:buNone/>
                      </a:pPr>
                      <a:r>
                        <a:rPr lang="en-US" sz="1600">
                          <a:solidFill>
                            <a:srgbClr val="000000"/>
                          </a:solidFill>
                          <a:effectLst/>
                          <a:latin typeface="+mn-lt"/>
                          <a:ea typeface="MS Mincho" panose="02020609040205080304" pitchFamily="49" charset="-128"/>
                          <a:cs typeface="Times New Roman" panose="02020603050405020304" pitchFamily="18" charset="0"/>
                        </a:rPr>
                        <a:t>Kontrol önlemlerinin etkinliğini artırmak</a:t>
                      </a:r>
                      <a:endParaRPr lang="tr-TR" sz="1600">
                        <a:effectLst/>
                        <a:latin typeface="+mn-lt"/>
                        <a:ea typeface="MS Mincho" panose="02020609040205080304" pitchFamily="49" charset="-128"/>
                        <a:cs typeface="Times New Roman" panose="02020603050405020304" pitchFamily="18" charset="0"/>
                      </a:endParaRPr>
                    </a:p>
                  </a:txBody>
                  <a:tcPr marL="47642" marR="47642" marT="0" marB="0">
                    <a:lnL>
                      <a:noFill/>
                    </a:lnL>
                    <a:lnR>
                      <a:noFill/>
                    </a:lnR>
                    <a:lnT>
                      <a:noFill/>
                    </a:lnT>
                    <a:lnB>
                      <a:noFill/>
                    </a:lnB>
                    <a:solidFill>
                      <a:srgbClr val="F2F2F2"/>
                    </a:solidFill>
                  </a:tcPr>
                </a:tc>
                <a:tc>
                  <a:txBody>
                    <a:bodyPr/>
                    <a:lstStyle/>
                    <a:p>
                      <a:pPr>
                        <a:lnSpc>
                          <a:spcPct val="115000"/>
                        </a:lnSpc>
                        <a:spcAft>
                          <a:spcPts val="1000"/>
                        </a:spcAft>
                        <a:buNone/>
                      </a:pPr>
                      <a:r>
                        <a:rPr lang="en-US" sz="1600" dirty="0" err="1">
                          <a:solidFill>
                            <a:srgbClr val="000000"/>
                          </a:solidFill>
                          <a:effectLst/>
                          <a:latin typeface="+mn-lt"/>
                          <a:ea typeface="MS Mincho" panose="02020609040205080304" pitchFamily="49" charset="-128"/>
                          <a:cs typeface="Times New Roman" panose="02020603050405020304" pitchFamily="18" charset="0"/>
                        </a:rPr>
                        <a:t>Eğitim</a:t>
                      </a:r>
                      <a:r>
                        <a:rPr lang="en-US" sz="1600" dirty="0">
                          <a:solidFill>
                            <a:srgbClr val="000000"/>
                          </a:solidFill>
                          <a:effectLst/>
                          <a:latin typeface="+mn-lt"/>
                          <a:ea typeface="MS Mincho" panose="02020609040205080304" pitchFamily="49" charset="-128"/>
                          <a:cs typeface="Times New Roman" panose="02020603050405020304" pitchFamily="18" charset="0"/>
                        </a:rPr>
                        <a:t> </a:t>
                      </a:r>
                      <a:r>
                        <a:rPr lang="en-US" sz="1600" dirty="0" err="1">
                          <a:solidFill>
                            <a:srgbClr val="000000"/>
                          </a:solidFill>
                          <a:effectLst/>
                          <a:latin typeface="+mn-lt"/>
                          <a:ea typeface="MS Mincho" panose="02020609040205080304" pitchFamily="49" charset="-128"/>
                          <a:cs typeface="Times New Roman" panose="02020603050405020304" pitchFamily="18" charset="0"/>
                        </a:rPr>
                        <a:t>programları</a:t>
                      </a:r>
                      <a:r>
                        <a:rPr lang="en-US" sz="1600" dirty="0">
                          <a:solidFill>
                            <a:srgbClr val="000000"/>
                          </a:solidFill>
                          <a:effectLst/>
                          <a:latin typeface="+mn-lt"/>
                          <a:ea typeface="MS Mincho" panose="02020609040205080304" pitchFamily="49" charset="-128"/>
                          <a:cs typeface="Times New Roman" panose="02020603050405020304" pitchFamily="18" charset="0"/>
                        </a:rPr>
                        <a:t>, </a:t>
                      </a:r>
                      <a:r>
                        <a:rPr lang="en-US" sz="1600" dirty="0" err="1">
                          <a:solidFill>
                            <a:srgbClr val="000000"/>
                          </a:solidFill>
                          <a:effectLst/>
                          <a:latin typeface="+mn-lt"/>
                          <a:ea typeface="MS Mincho" panose="02020609040205080304" pitchFamily="49" charset="-128"/>
                          <a:cs typeface="Times New Roman" panose="02020603050405020304" pitchFamily="18" charset="0"/>
                        </a:rPr>
                        <a:t>talimatlar</a:t>
                      </a:r>
                      <a:r>
                        <a:rPr lang="en-US" sz="1600" dirty="0">
                          <a:solidFill>
                            <a:srgbClr val="000000"/>
                          </a:solidFill>
                          <a:effectLst/>
                          <a:latin typeface="+mn-lt"/>
                          <a:ea typeface="MS Mincho" panose="02020609040205080304" pitchFamily="49" charset="-128"/>
                          <a:cs typeface="Times New Roman" panose="02020603050405020304" pitchFamily="18" charset="0"/>
                        </a:rPr>
                        <a:t> </a:t>
                      </a:r>
                      <a:r>
                        <a:rPr lang="en-US" sz="1600" dirty="0" err="1">
                          <a:solidFill>
                            <a:srgbClr val="000000"/>
                          </a:solidFill>
                          <a:effectLst/>
                          <a:latin typeface="+mn-lt"/>
                          <a:ea typeface="MS Mincho" panose="02020609040205080304" pitchFamily="49" charset="-128"/>
                          <a:cs typeface="Times New Roman" panose="02020603050405020304" pitchFamily="18" charset="0"/>
                        </a:rPr>
                        <a:t>ve</a:t>
                      </a:r>
                      <a:r>
                        <a:rPr lang="en-US" sz="1600" dirty="0">
                          <a:solidFill>
                            <a:srgbClr val="000000"/>
                          </a:solidFill>
                          <a:effectLst/>
                          <a:latin typeface="+mn-lt"/>
                          <a:ea typeface="MS Mincho" panose="02020609040205080304" pitchFamily="49" charset="-128"/>
                          <a:cs typeface="Times New Roman" panose="02020603050405020304" pitchFamily="18" charset="0"/>
                        </a:rPr>
                        <a:t> </a:t>
                      </a:r>
                      <a:r>
                        <a:rPr lang="en-US" sz="1600" dirty="0" err="1">
                          <a:solidFill>
                            <a:srgbClr val="000000"/>
                          </a:solidFill>
                          <a:effectLst/>
                          <a:latin typeface="+mn-lt"/>
                          <a:ea typeface="MS Mincho" panose="02020609040205080304" pitchFamily="49" charset="-128"/>
                          <a:cs typeface="Times New Roman" panose="02020603050405020304" pitchFamily="18" charset="0"/>
                        </a:rPr>
                        <a:t>uyarı</a:t>
                      </a:r>
                      <a:r>
                        <a:rPr lang="en-US" sz="1600" dirty="0">
                          <a:solidFill>
                            <a:srgbClr val="000000"/>
                          </a:solidFill>
                          <a:effectLst/>
                          <a:latin typeface="+mn-lt"/>
                          <a:ea typeface="MS Mincho" panose="02020609040205080304" pitchFamily="49" charset="-128"/>
                          <a:cs typeface="Times New Roman" panose="02020603050405020304" pitchFamily="18" charset="0"/>
                        </a:rPr>
                        <a:t> </a:t>
                      </a:r>
                      <a:r>
                        <a:rPr lang="en-US" sz="1600" dirty="0" err="1">
                          <a:solidFill>
                            <a:srgbClr val="000000"/>
                          </a:solidFill>
                          <a:effectLst/>
                          <a:latin typeface="+mn-lt"/>
                          <a:ea typeface="MS Mincho" panose="02020609040205080304" pitchFamily="49" charset="-128"/>
                          <a:cs typeface="Times New Roman" panose="02020603050405020304" pitchFamily="18" charset="0"/>
                        </a:rPr>
                        <a:t>levhaları</a:t>
                      </a:r>
                      <a:endParaRPr lang="tr-TR" sz="1600" dirty="0">
                        <a:effectLst/>
                        <a:latin typeface="+mn-lt"/>
                        <a:ea typeface="MS Mincho" panose="02020609040205080304" pitchFamily="49" charset="-128"/>
                        <a:cs typeface="Times New Roman" panose="02020603050405020304" pitchFamily="18" charset="0"/>
                      </a:endParaRPr>
                    </a:p>
                  </a:txBody>
                  <a:tcPr marL="47642" marR="47642" marT="0" marB="0">
                    <a:lnL>
                      <a:noFill/>
                    </a:lnL>
                    <a:lnR>
                      <a:noFill/>
                    </a:lnR>
                    <a:lnT>
                      <a:noFill/>
                    </a:lnT>
                    <a:lnB>
                      <a:noFill/>
                    </a:lnB>
                    <a:solidFill>
                      <a:srgbClr val="F2F2F2"/>
                    </a:solidFill>
                  </a:tcPr>
                </a:tc>
                <a:extLst>
                  <a:ext uri="{0D108BD9-81ED-4DB2-BD59-A6C34878D82A}">
                    <a16:rowId xmlns:a16="http://schemas.microsoft.com/office/drawing/2014/main" val="1894414271"/>
                  </a:ext>
                </a:extLst>
              </a:tr>
            </a:tbl>
          </a:graphicData>
        </a:graphic>
      </p:graphicFrame>
    </p:spTree>
    <p:extLst>
      <p:ext uri="{BB962C8B-B14F-4D97-AF65-F5344CB8AC3E}">
        <p14:creationId xmlns:p14="http://schemas.microsoft.com/office/powerpoint/2010/main" val="40621225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8A096-EAFF-9AD3-F495-38E7FC3AC022}"/>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8EED0234-F0CA-AA6A-E987-9FC4A429FD3B}"/>
              </a:ext>
            </a:extLst>
          </p:cNvPr>
          <p:cNvSpPr>
            <a:spLocks noGrp="1"/>
          </p:cNvSpPr>
          <p:nvPr>
            <p:ph type="title"/>
          </p:nvPr>
        </p:nvSpPr>
        <p:spPr/>
        <p:txBody>
          <a:bodyPr>
            <a:normAutofit/>
          </a:bodyPr>
          <a:lstStyle/>
          <a:p>
            <a:r>
              <a:rPr lang="tr-TR" sz="4000" b="1" dirty="0">
                <a:solidFill>
                  <a:srgbClr val="C00000"/>
                </a:solidFill>
              </a:rPr>
              <a:t>Tehlikeleri Önleyici Kontrol Yöntemleri</a:t>
            </a:r>
            <a:endParaRPr lang="tr-TR" sz="4000" dirty="0">
              <a:solidFill>
                <a:srgbClr val="C00000"/>
              </a:solidFill>
            </a:endParaRPr>
          </a:p>
        </p:txBody>
      </p:sp>
      <p:sp>
        <p:nvSpPr>
          <p:cNvPr id="3" name="İçerik Yer Tutucusu 2">
            <a:extLst>
              <a:ext uri="{FF2B5EF4-FFF2-40B4-BE49-F238E27FC236}">
                <a16:creationId xmlns:a16="http://schemas.microsoft.com/office/drawing/2014/main" id="{9FF41A79-AF13-8AA1-3C89-3C91C977DE70}"/>
              </a:ext>
            </a:extLst>
          </p:cNvPr>
          <p:cNvSpPr>
            <a:spLocks noGrp="1"/>
          </p:cNvSpPr>
          <p:nvPr>
            <p:ph idx="1"/>
          </p:nvPr>
        </p:nvSpPr>
        <p:spPr/>
        <p:txBody>
          <a:bodyPr/>
          <a:lstStyle/>
          <a:p>
            <a:pPr marL="514350" indent="-514350">
              <a:buAutoNum type="arabicPeriod" startAt="3"/>
            </a:pPr>
            <a:r>
              <a:rPr lang="tr-TR" sz="2600" u="sng" dirty="0"/>
              <a:t>İşçileri Tehlikelerden Korumak</a:t>
            </a:r>
          </a:p>
          <a:p>
            <a:pPr marL="0" indent="0">
              <a:buNone/>
            </a:pPr>
            <a:endParaRPr lang="tr-TR" u="sng" dirty="0"/>
          </a:p>
          <a:p>
            <a:pPr marL="0" indent="0">
              <a:buNone/>
            </a:pPr>
            <a:r>
              <a:rPr lang="tr-TR" dirty="0"/>
              <a:t>   </a:t>
            </a:r>
            <a:r>
              <a:rPr lang="tr-TR" sz="2200" dirty="0"/>
              <a:t>Bir çok durumda işçilerin maruziyetini azaltma, sağlık riski oluşturan tehlikeleri ortadan kaldırmak için yeterli değildir. Bu gibi durumlarda kontrol ve geliştirme için (kabul görmüş) iki genel yöntem vardır.</a:t>
            </a:r>
          </a:p>
          <a:p>
            <a:r>
              <a:rPr lang="tr-TR" sz="2200" dirty="0"/>
              <a:t>Genel Havalandırma</a:t>
            </a:r>
          </a:p>
          <a:p>
            <a:r>
              <a:rPr lang="tr-TR" sz="2200" dirty="0"/>
              <a:t>Solunum yolları koruyucu donanımlarını kullanma.</a:t>
            </a:r>
          </a:p>
          <a:p>
            <a:pPr marL="0" indent="0">
              <a:buNone/>
            </a:pPr>
            <a:endParaRPr lang="tr-TR" u="sng" dirty="0"/>
          </a:p>
          <a:p>
            <a:pPr marL="0" indent="0">
              <a:buNone/>
            </a:pPr>
            <a:endParaRPr lang="tr-TR" dirty="0"/>
          </a:p>
        </p:txBody>
      </p:sp>
    </p:spTree>
    <p:extLst>
      <p:ext uri="{BB962C8B-B14F-4D97-AF65-F5344CB8AC3E}">
        <p14:creationId xmlns:p14="http://schemas.microsoft.com/office/powerpoint/2010/main" val="39107200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1775CE9-BEA3-2F4B-FCBB-FCE4D7B80E62}"/>
            </a:ext>
          </a:extLst>
        </p:cNvPr>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8D1AA55E-40D5-461B-A5A8-4AE8AAB71B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Başlık 1">
            <a:extLst>
              <a:ext uri="{FF2B5EF4-FFF2-40B4-BE49-F238E27FC236}">
                <a16:creationId xmlns:a16="http://schemas.microsoft.com/office/drawing/2014/main" id="{39FDBB1C-99B8-3D7E-AA94-B4C52C8742F4}"/>
              </a:ext>
            </a:extLst>
          </p:cNvPr>
          <p:cNvSpPr>
            <a:spLocks noGrp="1"/>
          </p:cNvSpPr>
          <p:nvPr>
            <p:ph type="title"/>
          </p:nvPr>
        </p:nvSpPr>
        <p:spPr>
          <a:xfrm>
            <a:off x="873867" y="1098139"/>
            <a:ext cx="6155988" cy="1182927"/>
          </a:xfrm>
        </p:spPr>
        <p:txBody>
          <a:bodyPr anchor="b">
            <a:normAutofit/>
          </a:bodyPr>
          <a:lstStyle/>
          <a:p>
            <a:r>
              <a:rPr lang="tr-TR" sz="3900" b="1" dirty="0">
                <a:solidFill>
                  <a:srgbClr val="C00000"/>
                </a:solidFill>
              </a:rPr>
              <a:t>Tehlikeleri Önleyici Kontrol Yöntemleri</a:t>
            </a:r>
            <a:endParaRPr lang="tr-TR" sz="3900" dirty="0">
              <a:solidFill>
                <a:srgbClr val="C00000"/>
              </a:solidFill>
            </a:endParaRPr>
          </a:p>
        </p:txBody>
      </p:sp>
      <p:cxnSp>
        <p:nvCxnSpPr>
          <p:cNvPr id="27" name="Straight Connector 26">
            <a:extLst>
              <a:ext uri="{FF2B5EF4-FFF2-40B4-BE49-F238E27FC236}">
                <a16:creationId xmlns:a16="http://schemas.microsoft.com/office/drawing/2014/main" id="{7EB498BD-8089-4626-91EA-4978EBEF535E}"/>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806470"/>
            <a:ext cx="7903723" cy="0"/>
          </a:xfrm>
          <a:prstGeom prst="line">
            <a:avLst/>
          </a:prstGeom>
          <a:ln w="25400" cap="sq">
            <a:gradFill flip="none" rotWithShape="1">
              <a:gsLst>
                <a:gs pos="0">
                  <a:schemeClr val="accent1"/>
                </a:gs>
                <a:gs pos="100000">
                  <a:schemeClr val="accent2"/>
                </a:gs>
              </a:gsLst>
              <a:lin ang="10800000" scaled="0"/>
              <a:tileRect/>
            </a:gradFill>
            <a:bevel/>
          </a:ln>
        </p:spPr>
        <p:style>
          <a:lnRef idx="1">
            <a:schemeClr val="accent1"/>
          </a:lnRef>
          <a:fillRef idx="0">
            <a:schemeClr val="accent1"/>
          </a:fillRef>
          <a:effectRef idx="0">
            <a:schemeClr val="accent1"/>
          </a:effectRef>
          <a:fontRef idx="minor">
            <a:schemeClr val="tx1"/>
          </a:fontRef>
        </p:style>
      </p:cxnSp>
      <p:sp>
        <p:nvSpPr>
          <p:cNvPr id="3" name="İçerik Yer Tutucusu 2">
            <a:extLst>
              <a:ext uri="{FF2B5EF4-FFF2-40B4-BE49-F238E27FC236}">
                <a16:creationId xmlns:a16="http://schemas.microsoft.com/office/drawing/2014/main" id="{7CF8141C-D7D4-F8F8-EAF3-C75B7FC70FF3}"/>
              </a:ext>
            </a:extLst>
          </p:cNvPr>
          <p:cNvSpPr>
            <a:spLocks noGrp="1"/>
          </p:cNvSpPr>
          <p:nvPr>
            <p:ph idx="1"/>
          </p:nvPr>
        </p:nvSpPr>
        <p:spPr>
          <a:xfrm>
            <a:off x="496957" y="2425150"/>
            <a:ext cx="11080443" cy="4432848"/>
          </a:xfrm>
        </p:spPr>
        <p:txBody>
          <a:bodyPr anchor="t">
            <a:normAutofit fontScale="77500" lnSpcReduction="20000"/>
          </a:bodyPr>
          <a:lstStyle/>
          <a:p>
            <a:r>
              <a:rPr lang="tr-TR" sz="2000" b="1" dirty="0">
                <a:solidFill>
                  <a:schemeClr val="tx1">
                    <a:alpha val="80000"/>
                  </a:schemeClr>
                </a:solidFill>
              </a:rPr>
              <a:t>Genel Havalandırma</a:t>
            </a:r>
          </a:p>
          <a:p>
            <a:pPr marL="0" indent="0">
              <a:buNone/>
            </a:pPr>
            <a:endParaRPr lang="tr-TR" sz="2000" dirty="0">
              <a:solidFill>
                <a:schemeClr val="tx1">
                  <a:alpha val="80000"/>
                </a:schemeClr>
              </a:solidFill>
            </a:endParaRPr>
          </a:p>
          <a:p>
            <a:pPr marL="0" indent="0">
              <a:buNone/>
            </a:pPr>
            <a:r>
              <a:rPr lang="tr-TR" sz="2000" dirty="0">
                <a:solidFill>
                  <a:schemeClr val="tx1">
                    <a:alpha val="80000"/>
                  </a:schemeClr>
                </a:solidFill>
              </a:rPr>
              <a:t>   Yerel (lokal) olarak yapılan, kirli havanın vakum yolu ile dışarı atılmasında, bu durum ikinci derecede önemlidir.</a:t>
            </a:r>
          </a:p>
          <a:p>
            <a:pPr marL="0" indent="0">
              <a:buNone/>
            </a:pPr>
            <a:r>
              <a:rPr lang="tr-TR" sz="2000" dirty="0">
                <a:solidFill>
                  <a:schemeClr val="tx1">
                    <a:alpha val="80000"/>
                  </a:schemeClr>
                </a:solidFill>
              </a:rPr>
              <a:t>   Çoğu zaman genel havalandırmada meydana gelen bir hata sonucu, bunun yerine yerel olarak havanın vakum yolu ile çalışma ortam atmosferinden uzaklaştırılması (atılması) uygulanır.</a:t>
            </a:r>
          </a:p>
          <a:p>
            <a:pPr marL="0" indent="0">
              <a:buNone/>
            </a:pPr>
            <a:r>
              <a:rPr lang="tr-TR" sz="2000" dirty="0">
                <a:solidFill>
                  <a:schemeClr val="tx1">
                    <a:alpha val="80000"/>
                  </a:schemeClr>
                </a:solidFill>
              </a:rPr>
              <a:t>   Genel havalandırmanın , </a:t>
            </a:r>
            <a:r>
              <a:rPr lang="tr-TR" sz="2000" b="1" dirty="0">
                <a:solidFill>
                  <a:schemeClr val="tx1">
                    <a:alpha val="80000"/>
                  </a:schemeClr>
                </a:solidFill>
              </a:rPr>
              <a:t>etkili olmasını sınırlayan bir çok faktör vardır</a:t>
            </a:r>
            <a:r>
              <a:rPr lang="tr-TR" sz="2000" dirty="0">
                <a:solidFill>
                  <a:schemeClr val="tx1">
                    <a:alpha val="80000"/>
                  </a:schemeClr>
                </a:solidFill>
              </a:rPr>
              <a:t>.</a:t>
            </a:r>
          </a:p>
          <a:p>
            <a:pPr>
              <a:buFont typeface="Wingdings" panose="05000000000000000000" pitchFamily="2" charset="2"/>
              <a:buChar char="ü"/>
            </a:pPr>
            <a:r>
              <a:rPr lang="tr-TR" sz="2000" dirty="0">
                <a:solidFill>
                  <a:schemeClr val="tx1">
                    <a:alpha val="80000"/>
                  </a:schemeClr>
                </a:solidFill>
              </a:rPr>
              <a:t>Kirli havanın toplam miktarı.</a:t>
            </a:r>
          </a:p>
          <a:p>
            <a:pPr>
              <a:buFont typeface="Wingdings" panose="05000000000000000000" pitchFamily="2" charset="2"/>
              <a:buChar char="ü"/>
            </a:pPr>
            <a:r>
              <a:rPr lang="tr-TR" sz="2000" dirty="0">
                <a:solidFill>
                  <a:schemeClr val="tx1">
                    <a:alpha val="80000"/>
                  </a:schemeClr>
                </a:solidFill>
              </a:rPr>
              <a:t>İşçilerin yakınında bulunan havayı kirleten kaynaklardaki kirlilik konsantrasyon derecesi.</a:t>
            </a:r>
          </a:p>
          <a:p>
            <a:pPr marL="0" indent="0">
              <a:buNone/>
            </a:pPr>
            <a:endParaRPr lang="tr-TR" sz="2000" dirty="0">
              <a:solidFill>
                <a:schemeClr val="tx1">
                  <a:alpha val="80000"/>
                </a:schemeClr>
              </a:solidFill>
            </a:endParaRPr>
          </a:p>
          <a:p>
            <a:pPr marL="0" indent="0">
              <a:buNone/>
            </a:pPr>
            <a:r>
              <a:rPr lang="tr-TR" sz="2000" dirty="0">
                <a:solidFill>
                  <a:schemeClr val="tx1">
                    <a:alpha val="80000"/>
                  </a:schemeClr>
                </a:solidFill>
              </a:rPr>
              <a:t>Genel havalandırma, aşağıdaki durumlarda </a:t>
            </a:r>
            <a:r>
              <a:rPr lang="tr-TR" sz="2000" b="1" dirty="0">
                <a:solidFill>
                  <a:schemeClr val="tx1">
                    <a:alpha val="80000"/>
                  </a:schemeClr>
                </a:solidFill>
              </a:rPr>
              <a:t>başarılı olarak kullanılabilir</a:t>
            </a:r>
            <a:r>
              <a:rPr lang="tr-TR" sz="2000" dirty="0">
                <a:solidFill>
                  <a:schemeClr val="tx1">
                    <a:alpha val="80000"/>
                  </a:schemeClr>
                </a:solidFill>
              </a:rPr>
              <a:t>.</a:t>
            </a:r>
          </a:p>
          <a:p>
            <a:pPr>
              <a:buFont typeface="Wingdings" panose="05000000000000000000" pitchFamily="2" charset="2"/>
              <a:buChar char="ü"/>
            </a:pPr>
            <a:r>
              <a:rPr lang="tr-TR" sz="2000" dirty="0">
                <a:solidFill>
                  <a:schemeClr val="tx1">
                    <a:alpha val="80000"/>
                  </a:schemeClr>
                </a:solidFill>
              </a:rPr>
              <a:t>Üretimden dolayı hava kirlilik oranının düşük olduğu ve konsantrasyonunun (miktarının), çalışma ortam atmosferi güvenlik sınırı içinde olduğu durumlarda.</a:t>
            </a:r>
          </a:p>
          <a:p>
            <a:pPr>
              <a:buFont typeface="Wingdings" panose="05000000000000000000" pitchFamily="2" charset="2"/>
              <a:buChar char="ü"/>
            </a:pPr>
            <a:r>
              <a:rPr lang="tr-TR" sz="2000" dirty="0">
                <a:solidFill>
                  <a:schemeClr val="tx1">
                    <a:alpha val="80000"/>
                  </a:schemeClr>
                </a:solidFill>
              </a:rPr>
              <a:t>Üretimden dolayı, hava kirlenmelerinin diğer bölgelere yayılmasının istenmediği veya bunun önemsiz olduğu durumlarda.</a:t>
            </a:r>
          </a:p>
          <a:p>
            <a:pPr marL="0" indent="0">
              <a:buNone/>
            </a:pPr>
            <a:endParaRPr lang="tr-TR" sz="800" dirty="0">
              <a:solidFill>
                <a:schemeClr val="tx1">
                  <a:alpha val="80000"/>
                </a:schemeClr>
              </a:solidFill>
            </a:endParaRPr>
          </a:p>
        </p:txBody>
      </p:sp>
      <p:pic>
        <p:nvPicPr>
          <p:cNvPr id="4" name="Resim 3">
            <a:extLst>
              <a:ext uri="{FF2B5EF4-FFF2-40B4-BE49-F238E27FC236}">
                <a16:creationId xmlns:a16="http://schemas.microsoft.com/office/drawing/2014/main" id="{C2700F80-19B6-F40D-09E7-30602333C4E0}"/>
              </a:ext>
            </a:extLst>
          </p:cNvPr>
          <p:cNvPicPr>
            <a:picLocks noChangeAspect="1"/>
          </p:cNvPicPr>
          <p:nvPr/>
        </p:nvPicPr>
        <p:blipFill>
          <a:blip r:embed="rId2"/>
          <a:srcRect b="13170"/>
          <a:stretch>
            <a:fillRect/>
          </a:stretch>
        </p:blipFill>
        <p:spPr>
          <a:xfrm>
            <a:off x="7301394" y="1098140"/>
            <a:ext cx="3548404" cy="1802522"/>
          </a:xfrm>
          <a:prstGeom prst="rect">
            <a:avLst/>
          </a:prstGeom>
        </p:spPr>
      </p:pic>
      <p:sp>
        <p:nvSpPr>
          <p:cNvPr id="29"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4552" y="1899284"/>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1"/>
          </a:solidFill>
          <a:ln w="603" cap="flat">
            <a:noFill/>
            <a:prstDash val="solid"/>
            <a:miter/>
          </a:ln>
        </p:spPr>
        <p:txBody>
          <a:bodyPr rtlCol="0" anchor="ctr"/>
          <a:lstStyle/>
          <a:p>
            <a:endParaRPr lang="en-US"/>
          </a:p>
        </p:txBody>
      </p:sp>
      <p:sp>
        <p:nvSpPr>
          <p:cNvPr id="31"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6862" y="218992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1"/>
          </a:solidFill>
          <a:ln w="422" cap="flat">
            <a:noFill/>
            <a:prstDash val="solid"/>
            <a:miter/>
          </a:ln>
        </p:spPr>
        <p:txBody>
          <a:bodyPr rtlCol="0" anchor="ctr"/>
          <a:lstStyle/>
          <a:p>
            <a:endParaRPr lang="en-US"/>
          </a:p>
        </p:txBody>
      </p:sp>
    </p:spTree>
    <p:extLst>
      <p:ext uri="{BB962C8B-B14F-4D97-AF65-F5344CB8AC3E}">
        <p14:creationId xmlns:p14="http://schemas.microsoft.com/office/powerpoint/2010/main" val="8153337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21C9456-0A06-933D-0418-23150E5D0A3F}"/>
            </a:ext>
          </a:extLst>
        </p:cNvPr>
        <p:cNvGrpSpPr/>
        <p:nvPr/>
      </p:nvGrpSpPr>
      <p:grpSpPr>
        <a:xfrm>
          <a:off x="0" y="0"/>
          <a:ext cx="0" cy="0"/>
          <a:chOff x="0" y="0"/>
          <a:chExt cx="0" cy="0"/>
        </a:xfrm>
      </p:grpSpPr>
      <p:sp useBgFill="1">
        <p:nvSpPr>
          <p:cNvPr id="18" name="Rectangle 8">
            <a:extLst>
              <a:ext uri="{FF2B5EF4-FFF2-40B4-BE49-F238E27FC236}">
                <a16:creationId xmlns:a16="http://schemas.microsoft.com/office/drawing/2014/main" id="{687AFE0E-B37D-4531-AFE8-231C8348EAF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39085A4D-974E-4A24-33A3-8FBE05839A50}"/>
              </a:ext>
            </a:extLst>
          </p:cNvPr>
          <p:cNvSpPr>
            <a:spLocks noGrp="1"/>
          </p:cNvSpPr>
          <p:nvPr>
            <p:ph type="title"/>
          </p:nvPr>
        </p:nvSpPr>
        <p:spPr>
          <a:xfrm>
            <a:off x="838200" y="365125"/>
            <a:ext cx="10515600" cy="1325563"/>
          </a:xfrm>
        </p:spPr>
        <p:txBody>
          <a:bodyPr>
            <a:normAutofit/>
          </a:bodyPr>
          <a:lstStyle/>
          <a:p>
            <a:r>
              <a:rPr lang="tr-TR" b="1" dirty="0">
                <a:solidFill>
                  <a:srgbClr val="C00000"/>
                </a:solidFill>
              </a:rPr>
              <a:t>Tehlikeleri Önleyici Kontrol Yöntemleri</a:t>
            </a:r>
            <a:endParaRPr lang="tr-TR" dirty="0">
              <a:solidFill>
                <a:srgbClr val="C00000"/>
              </a:solidFill>
            </a:endParaRPr>
          </a:p>
        </p:txBody>
      </p:sp>
      <p:sp>
        <p:nvSpPr>
          <p:cNvPr id="3" name="İçerik Yer Tutucusu 2">
            <a:extLst>
              <a:ext uri="{FF2B5EF4-FFF2-40B4-BE49-F238E27FC236}">
                <a16:creationId xmlns:a16="http://schemas.microsoft.com/office/drawing/2014/main" id="{AE907822-742B-2D68-1745-4B4E8A2E3F7E}"/>
              </a:ext>
            </a:extLst>
          </p:cNvPr>
          <p:cNvSpPr>
            <a:spLocks noGrp="1"/>
          </p:cNvSpPr>
          <p:nvPr>
            <p:ph idx="1"/>
          </p:nvPr>
        </p:nvSpPr>
        <p:spPr>
          <a:xfrm>
            <a:off x="496957" y="1590262"/>
            <a:ext cx="7417850" cy="4902614"/>
          </a:xfrm>
        </p:spPr>
        <p:txBody>
          <a:bodyPr>
            <a:normAutofit lnSpcReduction="10000"/>
          </a:bodyPr>
          <a:lstStyle/>
          <a:p>
            <a:r>
              <a:rPr lang="tr-TR" sz="2000" b="1" dirty="0"/>
              <a:t> Solunum yolları koruyucu donanımlarını (teçhizatlarını) kullanma.</a:t>
            </a:r>
          </a:p>
          <a:p>
            <a:pPr marL="0" indent="0">
              <a:buNone/>
            </a:pPr>
            <a:r>
              <a:rPr lang="tr-TR" sz="2000" dirty="0"/>
              <a:t>    Çalışanların zararlı </a:t>
            </a:r>
            <a:r>
              <a:rPr lang="tr-TR" sz="2000" b="1" dirty="0"/>
              <a:t>toz, duman, gaz, buhar, sis, aerosol ve biyolojik etkenleri</a:t>
            </a:r>
            <a:r>
              <a:rPr lang="tr-TR" sz="2000" dirty="0"/>
              <a:t> solumasını önlemek amacıyla kullanılan kişisel koruyucu ekipmanlardır.</a:t>
            </a:r>
          </a:p>
          <a:p>
            <a:pPr marL="0" indent="0">
              <a:buNone/>
            </a:pPr>
            <a:r>
              <a:rPr lang="tr-TR" sz="2000" dirty="0"/>
              <a:t>   Koruyucu solunum donanımlarını </a:t>
            </a:r>
            <a:r>
              <a:rPr lang="tr-TR" sz="2000" b="1" dirty="0"/>
              <a:t>özel kullanım koşulları</a:t>
            </a:r>
            <a:r>
              <a:rPr lang="tr-TR" sz="2000" dirty="0"/>
              <a:t>:</a:t>
            </a:r>
          </a:p>
          <a:p>
            <a:pPr>
              <a:buFont typeface="Wingdings" panose="05000000000000000000" pitchFamily="2" charset="2"/>
              <a:buChar char="ü"/>
            </a:pPr>
            <a:r>
              <a:rPr lang="tr-TR" sz="2000" dirty="0"/>
              <a:t>Koruyucu solunum donanımı, </a:t>
            </a:r>
            <a:r>
              <a:rPr lang="tr-TR" sz="2000" b="1" dirty="0"/>
              <a:t>ortam riskine uygun seçilmeli, doğru takılmalı, düzenli kontrol edilmeli ve bilinçli kullanılmalıdır</a:t>
            </a:r>
            <a:r>
              <a:rPr lang="tr-TR" sz="2000" dirty="0"/>
              <a:t>. Yanlış ekipman, hiç kullanmamaktan daha tehlikeli olabilir. </a:t>
            </a:r>
          </a:p>
          <a:p>
            <a:pPr>
              <a:buFont typeface="Wingdings" panose="05000000000000000000" pitchFamily="2" charset="2"/>
              <a:buChar char="ü"/>
            </a:pPr>
            <a:r>
              <a:rPr lang="tr-TR" sz="2000" dirty="0"/>
              <a:t>Donanımın – teçhizatın temizliği ve bakımı için gerekli malzeme temini.</a:t>
            </a:r>
          </a:p>
          <a:p>
            <a:pPr>
              <a:buFont typeface="Wingdings" panose="05000000000000000000" pitchFamily="2" charset="2"/>
              <a:buChar char="ü"/>
            </a:pPr>
            <a:r>
              <a:rPr lang="tr-TR" sz="2000" dirty="0"/>
              <a:t>Çalışanlar ekipmanın doğru takılması ve çıkarılması konusunda eğitimi.</a:t>
            </a:r>
          </a:p>
          <a:p>
            <a:pPr marL="0" indent="0">
              <a:buNone/>
            </a:pPr>
            <a:endParaRPr lang="tr-TR" sz="1700" dirty="0"/>
          </a:p>
        </p:txBody>
      </p:sp>
      <p:pic>
        <p:nvPicPr>
          <p:cNvPr id="4" name="Resim 3">
            <a:extLst>
              <a:ext uri="{FF2B5EF4-FFF2-40B4-BE49-F238E27FC236}">
                <a16:creationId xmlns:a16="http://schemas.microsoft.com/office/drawing/2014/main" id="{8D2A0B71-62FF-C0FF-041B-98C0741FD439}"/>
              </a:ext>
            </a:extLst>
          </p:cNvPr>
          <p:cNvPicPr>
            <a:picLocks noChangeAspect="1"/>
          </p:cNvPicPr>
          <p:nvPr/>
        </p:nvPicPr>
        <p:blipFill>
          <a:blip r:embed="rId2"/>
          <a:srcRect l="32755" r="14654" b="2"/>
          <a:stretch>
            <a:fillRect/>
          </a:stretch>
        </p:blipFill>
        <p:spPr>
          <a:xfrm>
            <a:off x="7800369" y="1802714"/>
            <a:ext cx="4081792" cy="3252571"/>
          </a:xfrm>
          <a:custGeom>
            <a:avLst/>
            <a:gdLst/>
            <a:ahLst/>
            <a:cxnLst/>
            <a:rect l="l" t="t" r="r" b="b"/>
            <a:pathLst>
              <a:path w="5283866" h="4210442">
                <a:moveTo>
                  <a:pt x="839883" y="18"/>
                </a:moveTo>
                <a:cubicBezTo>
                  <a:pt x="851945" y="328"/>
                  <a:pt x="864423" y="4671"/>
                  <a:pt x="875727" y="6050"/>
                </a:cubicBezTo>
                <a:cubicBezTo>
                  <a:pt x="1125267" y="36932"/>
                  <a:pt x="1374804" y="70296"/>
                  <a:pt x="1624617" y="99799"/>
                </a:cubicBezTo>
                <a:cubicBezTo>
                  <a:pt x="1858164" y="127373"/>
                  <a:pt x="2093363" y="133714"/>
                  <a:pt x="2328012" y="148051"/>
                </a:cubicBezTo>
                <a:cubicBezTo>
                  <a:pt x="2612016" y="165424"/>
                  <a:pt x="2895470" y="189965"/>
                  <a:pt x="3177820" y="228566"/>
                </a:cubicBezTo>
                <a:cubicBezTo>
                  <a:pt x="3373866" y="255590"/>
                  <a:pt x="3571843" y="274338"/>
                  <a:pt x="3770646" y="252831"/>
                </a:cubicBezTo>
                <a:cubicBezTo>
                  <a:pt x="3780572" y="251727"/>
                  <a:pt x="3791878" y="248144"/>
                  <a:pt x="3800149" y="251727"/>
                </a:cubicBezTo>
                <a:cubicBezTo>
                  <a:pt x="3896658" y="291986"/>
                  <a:pt x="4001986" y="263033"/>
                  <a:pt x="4102076" y="288400"/>
                </a:cubicBezTo>
                <a:cubicBezTo>
                  <a:pt x="4076434" y="386286"/>
                  <a:pt x="3966416" y="378289"/>
                  <a:pt x="3904377" y="446120"/>
                </a:cubicBezTo>
                <a:cubicBezTo>
                  <a:pt x="4005570" y="473141"/>
                  <a:pt x="4096562" y="500439"/>
                  <a:pt x="4188933" y="520843"/>
                </a:cubicBezTo>
                <a:cubicBezTo>
                  <a:pt x="4286818" y="542350"/>
                  <a:pt x="4369813" y="600531"/>
                  <a:pt x="4465492" y="626449"/>
                </a:cubicBezTo>
                <a:cubicBezTo>
                  <a:pt x="4485897" y="631964"/>
                  <a:pt x="4510437" y="651264"/>
                  <a:pt x="4517606" y="670015"/>
                </a:cubicBezTo>
                <a:cubicBezTo>
                  <a:pt x="4540768" y="730677"/>
                  <a:pt x="5003171" y="900804"/>
                  <a:pt x="4948576" y="954847"/>
                </a:cubicBezTo>
                <a:cubicBezTo>
                  <a:pt x="4925966" y="977182"/>
                  <a:pt x="4896738" y="993174"/>
                  <a:pt x="4866132" y="1015233"/>
                </a:cubicBezTo>
                <a:cubicBezTo>
                  <a:pt x="4912180" y="1056869"/>
                  <a:pt x="4964017" y="1075067"/>
                  <a:pt x="5019164" y="1087474"/>
                </a:cubicBezTo>
                <a:cubicBezTo>
                  <a:pt x="5035708" y="1091335"/>
                  <a:pt x="5051977" y="1099055"/>
                  <a:pt x="5053630" y="1117806"/>
                </a:cubicBezTo>
                <a:cubicBezTo>
                  <a:pt x="5055284" y="1137382"/>
                  <a:pt x="5038464" y="1145101"/>
                  <a:pt x="5024404" y="1154202"/>
                </a:cubicBezTo>
                <a:cubicBezTo>
                  <a:pt x="5004826" y="1166885"/>
                  <a:pt x="4985800" y="1177916"/>
                  <a:pt x="4960984" y="1179569"/>
                </a:cubicBezTo>
                <a:cubicBezTo>
                  <a:pt x="4920176" y="1182051"/>
                  <a:pt x="4900600" y="1217344"/>
                  <a:pt x="4876887" y="1243814"/>
                </a:cubicBezTo>
                <a:cubicBezTo>
                  <a:pt x="4863652" y="1258705"/>
                  <a:pt x="4857034" y="1288759"/>
                  <a:pt x="4880195" y="1293998"/>
                </a:cubicBezTo>
                <a:cubicBezTo>
                  <a:pt x="4935892" y="1306682"/>
                  <a:pt x="4931480" y="1343355"/>
                  <a:pt x="4930104" y="1384991"/>
                </a:cubicBezTo>
                <a:cubicBezTo>
                  <a:pt x="4928173" y="1436553"/>
                  <a:pt x="4895360" y="1460265"/>
                  <a:pt x="4855103" y="1480119"/>
                </a:cubicBezTo>
                <a:cubicBezTo>
                  <a:pt x="4841316" y="1487011"/>
                  <a:pt x="4821740" y="1486735"/>
                  <a:pt x="4816500" y="1508242"/>
                </a:cubicBezTo>
                <a:cubicBezTo>
                  <a:pt x="4839110" y="1528648"/>
                  <a:pt x="4866684" y="1512103"/>
                  <a:pt x="4890949" y="1517893"/>
                </a:cubicBezTo>
                <a:cubicBezTo>
                  <a:pt x="4911077" y="1522581"/>
                  <a:pt x="4944441" y="1520100"/>
                  <a:pt x="4916868" y="1557599"/>
                </a:cubicBezTo>
                <a:cubicBezTo>
                  <a:pt x="4908870" y="1568352"/>
                  <a:pt x="4918245" y="1576625"/>
                  <a:pt x="4928448" y="1577453"/>
                </a:cubicBezTo>
                <a:cubicBezTo>
                  <a:pt x="5010066" y="1586000"/>
                  <a:pt x="4972566" y="1661827"/>
                  <a:pt x="4998760" y="1701809"/>
                </a:cubicBezTo>
                <a:cubicBezTo>
                  <a:pt x="5005928" y="1712836"/>
                  <a:pt x="4998208" y="1731862"/>
                  <a:pt x="4986903" y="1736550"/>
                </a:cubicBezTo>
                <a:cubicBezTo>
                  <a:pt x="4914660" y="1767432"/>
                  <a:pt x="4904735" y="1841053"/>
                  <a:pt x="4869716" y="1904472"/>
                </a:cubicBezTo>
                <a:cubicBezTo>
                  <a:pt x="4907768" y="1929562"/>
                  <a:pt x="4953264" y="1935077"/>
                  <a:pt x="4994348" y="1951346"/>
                </a:cubicBezTo>
                <a:cubicBezTo>
                  <a:pt x="5037087" y="1968441"/>
                  <a:pt x="5037087" y="1981125"/>
                  <a:pt x="5001792" y="2030756"/>
                </a:cubicBezTo>
                <a:cubicBezTo>
                  <a:pt x="5093611" y="2041511"/>
                  <a:pt x="5093611" y="2041511"/>
                  <a:pt x="5065212" y="2119543"/>
                </a:cubicBezTo>
                <a:cubicBezTo>
                  <a:pt x="5142142" y="2126712"/>
                  <a:pt x="5192876" y="2163660"/>
                  <a:pt x="5204732" y="2244450"/>
                </a:cubicBezTo>
                <a:cubicBezTo>
                  <a:pt x="5210523" y="2283604"/>
                  <a:pt x="5245265" y="2302077"/>
                  <a:pt x="5283866" y="2328272"/>
                </a:cubicBezTo>
                <a:cubicBezTo>
                  <a:pt x="5235890" y="2353641"/>
                  <a:pt x="5203354" y="2406580"/>
                  <a:pt x="5147380" y="2350606"/>
                </a:cubicBezTo>
                <a:cubicBezTo>
                  <a:pt x="5126976" y="2330203"/>
                  <a:pt x="5128904" y="2356121"/>
                  <a:pt x="5126148" y="2363566"/>
                </a:cubicBezTo>
                <a:cubicBezTo>
                  <a:pt x="5119532" y="2381764"/>
                  <a:pt x="5133316" y="2393897"/>
                  <a:pt x="5142417" y="2407682"/>
                </a:cubicBezTo>
                <a:cubicBezTo>
                  <a:pt x="5151240" y="2421470"/>
                  <a:pt x="5161718" y="2436083"/>
                  <a:pt x="5164200" y="2451526"/>
                </a:cubicBezTo>
                <a:cubicBezTo>
                  <a:pt x="5165852" y="2462279"/>
                  <a:pt x="5157858" y="2477994"/>
                  <a:pt x="5149034" y="2485992"/>
                </a:cubicBezTo>
                <a:cubicBezTo>
                  <a:pt x="5102710" y="2528178"/>
                  <a:pt x="5130284" y="2623031"/>
                  <a:pt x="5042601" y="2635164"/>
                </a:cubicBezTo>
                <a:cubicBezTo>
                  <a:pt x="5003171" y="2640677"/>
                  <a:pt x="4984146" y="2675420"/>
                  <a:pt x="4955194" y="2694445"/>
                </a:cubicBezTo>
                <a:cubicBezTo>
                  <a:pt x="4854552" y="2760897"/>
                  <a:pt x="4787272" y="2846375"/>
                  <a:pt x="4756116" y="2963836"/>
                </a:cubicBezTo>
                <a:cubicBezTo>
                  <a:pt x="4747568" y="2996372"/>
                  <a:pt x="4714754" y="3022569"/>
                  <a:pt x="4693523" y="3051244"/>
                </a:cubicBezTo>
                <a:cubicBezTo>
                  <a:pt x="4703726" y="3072199"/>
                  <a:pt x="4759424" y="3026979"/>
                  <a:pt x="4739848" y="3082125"/>
                </a:cubicBezTo>
                <a:cubicBezTo>
                  <a:pt x="4724958" y="3123486"/>
                  <a:pt x="4686906" y="3149129"/>
                  <a:pt x="4651060" y="3173670"/>
                </a:cubicBezTo>
                <a:cubicBezTo>
                  <a:pt x="4610252" y="3201518"/>
                  <a:pt x="4565032" y="3223852"/>
                  <a:pt x="4546556" y="3275413"/>
                </a:cubicBezTo>
                <a:cubicBezTo>
                  <a:pt x="4542697" y="3286444"/>
                  <a:pt x="4530288" y="3298024"/>
                  <a:pt x="4519261" y="3302437"/>
                </a:cubicBezTo>
                <a:cubicBezTo>
                  <a:pt x="3944081" y="4209875"/>
                  <a:pt x="2528194" y="4215939"/>
                  <a:pt x="2364961" y="4209597"/>
                </a:cubicBezTo>
                <a:cubicBezTo>
                  <a:pt x="2167260" y="4201602"/>
                  <a:pt x="1980313" y="4145627"/>
                  <a:pt x="1796951" y="4075867"/>
                </a:cubicBezTo>
                <a:cubicBezTo>
                  <a:pt x="1719469" y="4046365"/>
                  <a:pt x="1647505" y="4004453"/>
                  <a:pt x="1572227" y="3971917"/>
                </a:cubicBezTo>
                <a:cubicBezTo>
                  <a:pt x="1468277" y="3926971"/>
                  <a:pt x="1388040" y="3841219"/>
                  <a:pt x="1284364" y="3805097"/>
                </a:cubicBezTo>
                <a:cubicBezTo>
                  <a:pt x="1177655" y="3767873"/>
                  <a:pt x="1086388" y="3699767"/>
                  <a:pt x="976645" y="3670815"/>
                </a:cubicBezTo>
                <a:cubicBezTo>
                  <a:pt x="918742" y="3655375"/>
                  <a:pt x="862768" y="3627527"/>
                  <a:pt x="871866" y="3547839"/>
                </a:cubicBezTo>
                <a:cubicBezTo>
                  <a:pt x="874349" y="3525228"/>
                  <a:pt x="859184" y="3506755"/>
                  <a:pt x="835195" y="3513373"/>
                </a:cubicBezTo>
                <a:cubicBezTo>
                  <a:pt x="789424" y="3525780"/>
                  <a:pt x="768744" y="3492967"/>
                  <a:pt x="743375" y="3468427"/>
                </a:cubicBezTo>
                <a:cubicBezTo>
                  <a:pt x="698156" y="3424863"/>
                  <a:pt x="655142" y="3378540"/>
                  <a:pt x="583175" y="3371370"/>
                </a:cubicBezTo>
                <a:cubicBezTo>
                  <a:pt x="596961" y="3337178"/>
                  <a:pt x="620399" y="3342142"/>
                  <a:pt x="641906" y="3349311"/>
                </a:cubicBezTo>
                <a:cubicBezTo>
                  <a:pt x="698432" y="3368062"/>
                  <a:pt x="754405" y="3389293"/>
                  <a:pt x="810930" y="3408042"/>
                </a:cubicBezTo>
                <a:cubicBezTo>
                  <a:pt x="847878" y="3420175"/>
                  <a:pt x="884551" y="3437271"/>
                  <a:pt x="933908" y="3423758"/>
                </a:cubicBezTo>
                <a:cubicBezTo>
                  <a:pt x="891445" y="3354826"/>
                  <a:pt x="819202" y="3342418"/>
                  <a:pt x="760747" y="3321187"/>
                </a:cubicBezTo>
                <a:cubicBezTo>
                  <a:pt x="687678" y="3294441"/>
                  <a:pt x="644664" y="3243980"/>
                  <a:pt x="593101" y="3187731"/>
                </a:cubicBezTo>
                <a:cubicBezTo>
                  <a:pt x="646869" y="3174220"/>
                  <a:pt x="680233" y="3215581"/>
                  <a:pt x="722419" y="3213374"/>
                </a:cubicBezTo>
                <a:cubicBezTo>
                  <a:pt x="724627" y="3206207"/>
                  <a:pt x="728486" y="3195729"/>
                  <a:pt x="727934" y="3195451"/>
                </a:cubicBezTo>
                <a:cubicBezTo>
                  <a:pt x="659002" y="3164570"/>
                  <a:pt x="626741" y="3106666"/>
                  <a:pt x="615987" y="3036630"/>
                </a:cubicBezTo>
                <a:cubicBezTo>
                  <a:pt x="610473" y="3000510"/>
                  <a:pt x="585381" y="2989205"/>
                  <a:pt x="560564" y="2972660"/>
                </a:cubicBezTo>
                <a:cubicBezTo>
                  <a:pt x="473984" y="2913930"/>
                  <a:pt x="382441" y="2860713"/>
                  <a:pt x="311302" y="2779924"/>
                </a:cubicBezTo>
                <a:cubicBezTo>
                  <a:pt x="393471" y="2790677"/>
                  <a:pt x="459371" y="2843341"/>
                  <a:pt x="547882" y="2865952"/>
                </a:cubicBezTo>
                <a:cubicBezTo>
                  <a:pt x="477570" y="2777166"/>
                  <a:pt x="386577" y="2732222"/>
                  <a:pt x="303582" y="2678453"/>
                </a:cubicBezTo>
                <a:cubicBezTo>
                  <a:pt x="265806" y="2653913"/>
                  <a:pt x="230790" y="2622479"/>
                  <a:pt x="185016" y="2609244"/>
                </a:cubicBezTo>
                <a:cubicBezTo>
                  <a:pt x="168748" y="2604556"/>
                  <a:pt x="142002" y="2594630"/>
                  <a:pt x="154963" y="2568435"/>
                </a:cubicBezTo>
                <a:cubicBezTo>
                  <a:pt x="165990" y="2546654"/>
                  <a:pt x="187773" y="2553269"/>
                  <a:pt x="207627" y="2559612"/>
                </a:cubicBezTo>
                <a:cubicBezTo>
                  <a:pt x="255328" y="2575330"/>
                  <a:pt x="304685" y="2575604"/>
                  <a:pt x="369207" y="2575330"/>
                </a:cubicBezTo>
                <a:cubicBezTo>
                  <a:pt x="315163" y="2503363"/>
                  <a:pt x="216174" y="2524871"/>
                  <a:pt x="169852" y="2449319"/>
                </a:cubicBezTo>
                <a:cubicBezTo>
                  <a:pt x="227755" y="2436083"/>
                  <a:pt x="272424" y="2463381"/>
                  <a:pt x="319299" y="2468619"/>
                </a:cubicBezTo>
                <a:cubicBezTo>
                  <a:pt x="361761" y="2473307"/>
                  <a:pt x="372239" y="2460624"/>
                  <a:pt x="362313" y="2418988"/>
                </a:cubicBezTo>
                <a:cubicBezTo>
                  <a:pt x="346873" y="2354190"/>
                  <a:pt x="370034" y="2321102"/>
                  <a:pt x="431798" y="2338750"/>
                </a:cubicBezTo>
                <a:cubicBezTo>
                  <a:pt x="489149" y="2355293"/>
                  <a:pt x="495215" y="2331030"/>
                  <a:pt x="479775" y="2294082"/>
                </a:cubicBezTo>
                <a:cubicBezTo>
                  <a:pt x="457716" y="2240315"/>
                  <a:pt x="482807" y="2198678"/>
                  <a:pt x="499903" y="2153458"/>
                </a:cubicBezTo>
                <a:cubicBezTo>
                  <a:pt x="526099" y="2084525"/>
                  <a:pt x="515069" y="2050885"/>
                  <a:pt x="458544" y="1999599"/>
                </a:cubicBezTo>
                <a:cubicBezTo>
                  <a:pt x="426835" y="1970921"/>
                  <a:pt x="392645" y="1946658"/>
                  <a:pt x="346596" y="1921843"/>
                </a:cubicBezTo>
                <a:cubicBezTo>
                  <a:pt x="452753" y="1908331"/>
                  <a:pt x="341358" y="1862836"/>
                  <a:pt x="378857" y="1834435"/>
                </a:cubicBezTo>
                <a:cubicBezTo>
                  <a:pt x="453856" y="1822854"/>
                  <a:pt x="515069" y="1913294"/>
                  <a:pt x="617091" y="1887376"/>
                </a:cubicBezTo>
                <a:cubicBezTo>
                  <a:pt x="491080" y="1809066"/>
                  <a:pt x="351835" y="1783423"/>
                  <a:pt x="260568" y="1679198"/>
                </a:cubicBezTo>
                <a:cubicBezTo>
                  <a:pt x="281523" y="1655484"/>
                  <a:pt x="302479" y="1677543"/>
                  <a:pt x="320402" y="1668720"/>
                </a:cubicBezTo>
                <a:cubicBezTo>
                  <a:pt x="319850" y="1663205"/>
                  <a:pt x="321230" y="1654932"/>
                  <a:pt x="317920" y="1652452"/>
                </a:cubicBezTo>
                <a:cubicBezTo>
                  <a:pt x="249815" y="1595650"/>
                  <a:pt x="248711" y="1594273"/>
                  <a:pt x="321779" y="1552359"/>
                </a:cubicBezTo>
                <a:cubicBezTo>
                  <a:pt x="347424" y="1537746"/>
                  <a:pt x="345218" y="1524786"/>
                  <a:pt x="331707" y="1506313"/>
                </a:cubicBezTo>
                <a:cubicBezTo>
                  <a:pt x="322055" y="1493353"/>
                  <a:pt x="310475" y="1481772"/>
                  <a:pt x="315990" y="1453371"/>
                </a:cubicBezTo>
                <a:cubicBezTo>
                  <a:pt x="355971" y="1489769"/>
                  <a:pt x="549259" y="1477912"/>
                  <a:pt x="583450" y="1474052"/>
                </a:cubicBezTo>
                <a:cubicBezTo>
                  <a:pt x="621777" y="1469917"/>
                  <a:pt x="659553" y="1452269"/>
                  <a:pt x="699809" y="1461919"/>
                </a:cubicBezTo>
                <a:cubicBezTo>
                  <a:pt x="732070" y="1469641"/>
                  <a:pt x="881516" y="1544364"/>
                  <a:pt x="902750" y="1458612"/>
                </a:cubicBezTo>
                <a:cubicBezTo>
                  <a:pt x="903853" y="1454475"/>
                  <a:pt x="964237" y="1464127"/>
                  <a:pt x="996774" y="1468814"/>
                </a:cubicBezTo>
                <a:cubicBezTo>
                  <a:pt x="1025451" y="1472674"/>
                  <a:pt x="1057712" y="1489769"/>
                  <a:pt x="1077012" y="1455578"/>
                </a:cubicBezTo>
                <a:cubicBezTo>
                  <a:pt x="1088317" y="1435450"/>
                  <a:pt x="1041719" y="1396571"/>
                  <a:pt x="1000083" y="1393262"/>
                </a:cubicBezTo>
                <a:cubicBezTo>
                  <a:pt x="963961" y="1390229"/>
                  <a:pt x="926186" y="1385817"/>
                  <a:pt x="891720" y="1394089"/>
                </a:cubicBezTo>
                <a:cubicBezTo>
                  <a:pt x="849258" y="1404017"/>
                  <a:pt x="826372" y="1388024"/>
                  <a:pt x="814515" y="1353557"/>
                </a:cubicBezTo>
                <a:cubicBezTo>
                  <a:pt x="801280" y="1315506"/>
                  <a:pt x="775911" y="1297858"/>
                  <a:pt x="740895" y="1280211"/>
                </a:cubicBezTo>
                <a:cubicBezTo>
                  <a:pt x="655967" y="1237474"/>
                  <a:pt x="574352" y="1188118"/>
                  <a:pt x="481154" y="1163301"/>
                </a:cubicBezTo>
                <a:cubicBezTo>
                  <a:pt x="462679" y="1158337"/>
                  <a:pt x="442276" y="1151719"/>
                  <a:pt x="433728" y="1118909"/>
                </a:cubicBezTo>
                <a:cubicBezTo>
                  <a:pt x="686023" y="1167987"/>
                  <a:pt x="915984" y="1295929"/>
                  <a:pt x="1176276" y="1288484"/>
                </a:cubicBezTo>
                <a:cubicBezTo>
                  <a:pt x="1105137" y="1247950"/>
                  <a:pt x="1022694" y="1245745"/>
                  <a:pt x="946867" y="1217344"/>
                </a:cubicBezTo>
                <a:cubicBezTo>
                  <a:pt x="1000635" y="1196113"/>
                  <a:pt x="1051094" y="1218172"/>
                  <a:pt x="1102104" y="1230304"/>
                </a:cubicBezTo>
                <a:cubicBezTo>
                  <a:pt x="1144843" y="1240230"/>
                  <a:pt x="1183446" y="1241885"/>
                  <a:pt x="1188133" y="1182603"/>
                </a:cubicBezTo>
                <a:cubicBezTo>
                  <a:pt x="1186478" y="1178742"/>
                  <a:pt x="1186754" y="1173780"/>
                  <a:pt x="1187030" y="1169092"/>
                </a:cubicBezTo>
                <a:cubicBezTo>
                  <a:pt x="1172690" y="1144552"/>
                  <a:pt x="1150358" y="1131868"/>
                  <a:pt x="1123887" y="1124698"/>
                </a:cubicBezTo>
                <a:cubicBezTo>
                  <a:pt x="1107894" y="1120286"/>
                  <a:pt x="1086663" y="1113668"/>
                  <a:pt x="1086938" y="1096023"/>
                </a:cubicBezTo>
                <a:cubicBezTo>
                  <a:pt x="1087765" y="1030674"/>
                  <a:pt x="1036756" y="1011647"/>
                  <a:pt x="985744" y="992622"/>
                </a:cubicBezTo>
                <a:cubicBezTo>
                  <a:pt x="1014145" y="960086"/>
                  <a:pt x="1036479" y="984074"/>
                  <a:pt x="1057987" y="981594"/>
                </a:cubicBezTo>
                <a:cubicBezTo>
                  <a:pt x="1072049" y="979939"/>
                  <a:pt x="1084733" y="976906"/>
                  <a:pt x="1084733" y="960086"/>
                </a:cubicBezTo>
                <a:cubicBezTo>
                  <a:pt x="1085008" y="946023"/>
                  <a:pt x="1078390" y="930030"/>
                  <a:pt x="1064605" y="929756"/>
                </a:cubicBezTo>
                <a:cubicBezTo>
                  <a:pt x="978300" y="927273"/>
                  <a:pt x="930599" y="836833"/>
                  <a:pt x="840985" y="836558"/>
                </a:cubicBezTo>
                <a:cubicBezTo>
                  <a:pt x="787493" y="836558"/>
                  <a:pt x="868834" y="785547"/>
                  <a:pt x="823615" y="764315"/>
                </a:cubicBezTo>
                <a:cubicBezTo>
                  <a:pt x="813687" y="759628"/>
                  <a:pt x="849533" y="752460"/>
                  <a:pt x="865526" y="753562"/>
                </a:cubicBezTo>
                <a:cubicBezTo>
                  <a:pt x="881242" y="754665"/>
                  <a:pt x="895304" y="768175"/>
                  <a:pt x="914331" y="758525"/>
                </a:cubicBezTo>
                <a:cubicBezTo>
                  <a:pt x="924808" y="724059"/>
                  <a:pt x="897787" y="711375"/>
                  <a:pt x="875452" y="701724"/>
                </a:cubicBezTo>
                <a:cubicBezTo>
                  <a:pt x="823889" y="679390"/>
                  <a:pt x="773706" y="652369"/>
                  <a:pt x="717181" y="644371"/>
                </a:cubicBezTo>
                <a:cubicBezTo>
                  <a:pt x="697053" y="641614"/>
                  <a:pt x="746133" y="604666"/>
                  <a:pt x="755783" y="591707"/>
                </a:cubicBezTo>
                <a:cubicBezTo>
                  <a:pt x="528304" y="455496"/>
                  <a:pt x="254778" y="462388"/>
                  <a:pt x="0" y="352370"/>
                </a:cubicBezTo>
                <a:cubicBezTo>
                  <a:pt x="56250" y="330864"/>
                  <a:pt x="97610" y="346580"/>
                  <a:pt x="135937" y="349889"/>
                </a:cubicBezTo>
                <a:cubicBezTo>
                  <a:pt x="231615" y="358160"/>
                  <a:pt x="326193" y="375256"/>
                  <a:pt x="421595" y="385458"/>
                </a:cubicBezTo>
                <a:cubicBezTo>
                  <a:pt x="468469" y="390421"/>
                  <a:pt x="512035" y="409172"/>
                  <a:pt x="564424" y="379393"/>
                </a:cubicBezTo>
                <a:cubicBezTo>
                  <a:pt x="599443" y="359540"/>
                  <a:pt x="655418" y="381046"/>
                  <a:pt x="698432" y="398694"/>
                </a:cubicBezTo>
                <a:cubicBezTo>
                  <a:pt x="734000" y="413307"/>
                  <a:pt x="767916" y="417167"/>
                  <a:pt x="815067" y="398694"/>
                </a:cubicBezTo>
                <a:cubicBezTo>
                  <a:pt x="772328" y="387389"/>
                  <a:pt x="739515" y="377463"/>
                  <a:pt x="705876" y="370568"/>
                </a:cubicBezTo>
                <a:cubicBezTo>
                  <a:pt x="679130" y="365055"/>
                  <a:pt x="742825" y="342719"/>
                  <a:pt x="775360" y="345477"/>
                </a:cubicBezTo>
                <a:cubicBezTo>
                  <a:pt x="820857" y="349337"/>
                  <a:pt x="795214" y="335000"/>
                  <a:pt x="787493" y="315146"/>
                </a:cubicBezTo>
                <a:cubicBezTo>
                  <a:pt x="779221" y="293915"/>
                  <a:pt x="803761" y="287298"/>
                  <a:pt x="819202" y="291709"/>
                </a:cubicBezTo>
                <a:cubicBezTo>
                  <a:pt x="878484" y="309081"/>
                  <a:pt x="937491" y="278474"/>
                  <a:pt x="998705" y="303291"/>
                </a:cubicBezTo>
                <a:cubicBezTo>
                  <a:pt x="983263" y="242077"/>
                  <a:pt x="949899" y="215331"/>
                  <a:pt x="880139" y="206783"/>
                </a:cubicBezTo>
                <a:cubicBezTo>
                  <a:pt x="853944" y="203475"/>
                  <a:pt x="826647" y="208438"/>
                  <a:pt x="804037" y="190790"/>
                </a:cubicBezTo>
                <a:cubicBezTo>
                  <a:pt x="791076" y="180590"/>
                  <a:pt x="776463" y="168457"/>
                  <a:pt x="786666" y="149707"/>
                </a:cubicBezTo>
                <a:cubicBezTo>
                  <a:pt x="793834" y="136471"/>
                  <a:pt x="809276" y="136471"/>
                  <a:pt x="821960" y="140884"/>
                </a:cubicBezTo>
                <a:cubicBezTo>
                  <a:pt x="878761" y="160461"/>
                  <a:pt x="938043" y="167630"/>
                  <a:pt x="997325" y="174800"/>
                </a:cubicBezTo>
                <a:cubicBezTo>
                  <a:pt x="1006426" y="175902"/>
                  <a:pt x="1016626" y="179487"/>
                  <a:pt x="1026829" y="161287"/>
                </a:cubicBezTo>
                <a:cubicBezTo>
                  <a:pt x="915984" y="131783"/>
                  <a:pt x="810655" y="89872"/>
                  <a:pt x="696777" y="73604"/>
                </a:cubicBezTo>
                <a:cubicBezTo>
                  <a:pt x="698432" y="65884"/>
                  <a:pt x="700086" y="58164"/>
                  <a:pt x="701741" y="50444"/>
                </a:cubicBezTo>
                <a:cubicBezTo>
                  <a:pt x="790801" y="61471"/>
                  <a:pt x="879864" y="72501"/>
                  <a:pt x="992362" y="86289"/>
                </a:cubicBezTo>
                <a:cubicBezTo>
                  <a:pt x="923153" y="42446"/>
                  <a:pt x="857805" y="57060"/>
                  <a:pt x="806519" y="18183"/>
                </a:cubicBezTo>
                <a:cubicBezTo>
                  <a:pt x="816170" y="3431"/>
                  <a:pt x="827820" y="-292"/>
                  <a:pt x="839883" y="18"/>
                </a:cubicBezTo>
                <a:close/>
              </a:path>
            </a:pathLst>
          </a:custGeom>
        </p:spPr>
      </p:pic>
    </p:spTree>
    <p:extLst>
      <p:ext uri="{BB962C8B-B14F-4D97-AF65-F5344CB8AC3E}">
        <p14:creationId xmlns:p14="http://schemas.microsoft.com/office/powerpoint/2010/main" val="25582619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EDB0400-B6FB-3E55-31A6-8E3A9B3C7A4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718681-A12E-49D6-9925-DD7C68176D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BD77573-9EF2-4C35-8285-A1CF6FBB0EA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5511704"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Başlık 1">
            <a:extLst>
              <a:ext uri="{FF2B5EF4-FFF2-40B4-BE49-F238E27FC236}">
                <a16:creationId xmlns:a16="http://schemas.microsoft.com/office/drawing/2014/main" id="{73405581-5037-97AC-417F-F7F9CF6CFA30}"/>
              </a:ext>
            </a:extLst>
          </p:cNvPr>
          <p:cNvSpPr>
            <a:spLocks noGrp="1"/>
          </p:cNvSpPr>
          <p:nvPr>
            <p:ph type="title"/>
          </p:nvPr>
        </p:nvSpPr>
        <p:spPr>
          <a:xfrm>
            <a:off x="838200" y="713312"/>
            <a:ext cx="4038600" cy="5431376"/>
          </a:xfrm>
        </p:spPr>
        <p:txBody>
          <a:bodyPr>
            <a:normAutofit/>
          </a:bodyPr>
          <a:lstStyle/>
          <a:p>
            <a:r>
              <a:rPr lang="tr-TR" b="1" dirty="0">
                <a:solidFill>
                  <a:srgbClr val="C00000"/>
                </a:solidFill>
              </a:rPr>
              <a:t>İş Hijyeninden kim sorumludur?</a:t>
            </a:r>
            <a:endParaRPr lang="tr-TR" dirty="0">
              <a:solidFill>
                <a:srgbClr val="C00000"/>
              </a:solidFill>
            </a:endParaRPr>
          </a:p>
        </p:txBody>
      </p:sp>
      <p:sp>
        <p:nvSpPr>
          <p:cNvPr id="3" name="İçerik Yer Tutucusu 2">
            <a:extLst>
              <a:ext uri="{FF2B5EF4-FFF2-40B4-BE49-F238E27FC236}">
                <a16:creationId xmlns:a16="http://schemas.microsoft.com/office/drawing/2014/main" id="{12A5824E-6316-AB5A-1437-D91FD80278C0}"/>
              </a:ext>
            </a:extLst>
          </p:cNvPr>
          <p:cNvSpPr>
            <a:spLocks noGrp="1"/>
          </p:cNvSpPr>
          <p:nvPr>
            <p:ph idx="1"/>
          </p:nvPr>
        </p:nvSpPr>
        <p:spPr>
          <a:xfrm>
            <a:off x="5714999" y="713312"/>
            <a:ext cx="5638801" cy="5672497"/>
          </a:xfrm>
        </p:spPr>
        <p:txBody>
          <a:bodyPr anchor="ctr">
            <a:normAutofit lnSpcReduction="10000"/>
          </a:bodyPr>
          <a:lstStyle/>
          <a:p>
            <a:pPr marL="0" indent="0">
              <a:buNone/>
            </a:pPr>
            <a:r>
              <a:rPr lang="tr-TR" sz="2000" dirty="0"/>
              <a:t>   İş hijyeninde </a:t>
            </a:r>
            <a:r>
              <a:rPr lang="tr-TR" sz="2000" b="1" dirty="0"/>
              <a:t>planlama, uygulama ve süreklilik</a:t>
            </a:r>
            <a:r>
              <a:rPr lang="tr-TR" sz="2000" dirty="0"/>
              <a:t> konusunda asıl sorumluluk </a:t>
            </a:r>
            <a:r>
              <a:rPr lang="tr-TR" sz="2000" b="1" dirty="0"/>
              <a:t>İŞVERENE</a:t>
            </a:r>
            <a:r>
              <a:rPr lang="tr-TR" sz="2000" dirty="0"/>
              <a:t> aittir. Ancak işveren adına iş hijyeni faaliyetlerini </a:t>
            </a:r>
            <a:r>
              <a:rPr lang="tr-TR" sz="2000" b="1" dirty="0"/>
              <a:t>bir ekip</a:t>
            </a:r>
            <a:r>
              <a:rPr lang="tr-TR" sz="2000" dirty="0"/>
              <a:t> yürütür.</a:t>
            </a:r>
          </a:p>
          <a:p>
            <a:pPr marL="0" indent="0">
              <a:buNone/>
            </a:pPr>
            <a:endParaRPr lang="tr-TR" sz="2000" dirty="0"/>
          </a:p>
          <a:p>
            <a:pPr>
              <a:buFont typeface="Wingdings" panose="05000000000000000000" pitchFamily="2" charset="2"/>
              <a:buChar char="Ø"/>
            </a:pPr>
            <a:r>
              <a:rPr lang="tr-TR" sz="2000" dirty="0"/>
              <a:t>İş Güvenliği Uzmanı</a:t>
            </a:r>
          </a:p>
          <a:p>
            <a:pPr>
              <a:buFont typeface="Wingdings" panose="05000000000000000000" pitchFamily="2" charset="2"/>
              <a:buChar char="Ø"/>
            </a:pPr>
            <a:r>
              <a:rPr lang="tr-TR" sz="2000" dirty="0"/>
              <a:t>İşyeri Hekimi</a:t>
            </a:r>
          </a:p>
          <a:p>
            <a:pPr>
              <a:buFont typeface="Wingdings" panose="05000000000000000000" pitchFamily="2" charset="2"/>
              <a:buChar char="Ø"/>
            </a:pPr>
            <a:r>
              <a:rPr lang="tr-TR" sz="2000" b="1" dirty="0"/>
              <a:t>İş Hijyeni Uzmanı</a:t>
            </a:r>
            <a:r>
              <a:rPr lang="tr-TR" sz="2000" dirty="0"/>
              <a:t> </a:t>
            </a:r>
            <a:r>
              <a:rPr lang="tr-TR" sz="2000" i="1" dirty="0"/>
              <a:t>(varsa) </a:t>
            </a:r>
            <a:r>
              <a:rPr lang="tr-TR" sz="2000" dirty="0"/>
              <a:t>(Türkiye’de bu rol çoğu zaman </a:t>
            </a:r>
            <a:r>
              <a:rPr lang="tr-TR" sz="2000" b="1" dirty="0"/>
              <a:t>İSG uzmanı</a:t>
            </a:r>
            <a:r>
              <a:rPr lang="tr-TR" sz="2000" dirty="0"/>
              <a:t> tarafından üstlenilir)</a:t>
            </a:r>
          </a:p>
          <a:p>
            <a:pPr>
              <a:buFont typeface="Wingdings" panose="05000000000000000000" pitchFamily="2" charset="2"/>
              <a:buChar char="Ø"/>
            </a:pPr>
            <a:r>
              <a:rPr lang="tr-TR" sz="2000" dirty="0"/>
              <a:t>Diğer Sağlık Personeli (Hemşire, Sağlık Memuru vb.)</a:t>
            </a:r>
          </a:p>
          <a:p>
            <a:pPr>
              <a:buFont typeface="Wingdings" panose="05000000000000000000" pitchFamily="2" charset="2"/>
              <a:buChar char="Ø"/>
            </a:pPr>
            <a:r>
              <a:rPr lang="tr-TR" sz="2000" dirty="0"/>
              <a:t>Ortak Sağlık ve Güvenlik Birimi (OSGB) </a:t>
            </a:r>
            <a:r>
              <a:rPr lang="tr-TR" sz="2000" b="1" dirty="0"/>
              <a:t>(</a:t>
            </a:r>
            <a:r>
              <a:rPr lang="tr-TR" sz="2000" dirty="0"/>
              <a:t>İşyerinde tam zamanlı uzman bulunmuyorsa, iş hijyeni hizmetleri </a:t>
            </a:r>
            <a:r>
              <a:rPr lang="tr-TR" sz="2000" dirty="0" err="1"/>
              <a:t>OSGB’ler</a:t>
            </a:r>
            <a:r>
              <a:rPr lang="tr-TR" sz="2000" dirty="0"/>
              <a:t> aracılığıyla yürütülür).</a:t>
            </a:r>
          </a:p>
          <a:p>
            <a:pPr marL="0" indent="0">
              <a:buNone/>
            </a:pPr>
            <a:endParaRPr lang="tr-TR" sz="2000" dirty="0"/>
          </a:p>
        </p:txBody>
      </p:sp>
    </p:spTree>
    <p:extLst>
      <p:ext uri="{BB962C8B-B14F-4D97-AF65-F5344CB8AC3E}">
        <p14:creationId xmlns:p14="http://schemas.microsoft.com/office/powerpoint/2010/main" val="528221900"/>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Belge" ma:contentTypeID="0x0101009A3BFD3C5F92D049BC69F483FC26D298" ma:contentTypeVersion="3" ma:contentTypeDescription="Yeni belge oluşturun." ma:contentTypeScope="" ma:versionID="69bf62894d89772b1543603c36e4812a">
  <xsd:schema xmlns:xsd="http://www.w3.org/2001/XMLSchema" xmlns:xs="http://www.w3.org/2001/XMLSchema" xmlns:p="http://schemas.microsoft.com/office/2006/metadata/properties" xmlns:ns2="6805b59e-0943-4cfb-8652-1c80d1cf44c1" targetNamespace="http://schemas.microsoft.com/office/2006/metadata/properties" ma:root="true" ma:fieldsID="eaacab69edae4eb2c8da77164ba5f923" ns2:_="">
    <xsd:import namespace="6805b59e-0943-4cfb-8652-1c80d1cf44c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05b59e-0943-4cfb-8652-1c80d1cf44c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E56BBA5-AD27-4C9E-93D2-A6898C438D43}"/>
</file>

<file path=customXml/itemProps2.xml><?xml version="1.0" encoding="utf-8"?>
<ds:datastoreItem xmlns:ds="http://schemas.openxmlformats.org/officeDocument/2006/customXml" ds:itemID="{8E4FB29B-4E34-4C72-95F8-C64B08CE9E07}"/>
</file>

<file path=customXml/itemProps3.xml><?xml version="1.0" encoding="utf-8"?>
<ds:datastoreItem xmlns:ds="http://schemas.openxmlformats.org/officeDocument/2006/customXml" ds:itemID="{E9373002-FD0E-446B-B757-D307790D120B}"/>
</file>

<file path=docProps/app.xml><?xml version="1.0" encoding="utf-8"?>
<Properties xmlns="http://schemas.openxmlformats.org/officeDocument/2006/extended-properties" xmlns:vt="http://schemas.openxmlformats.org/officeDocument/2006/docPropsVTypes">
  <TotalTime>1222</TotalTime>
  <Words>3507</Words>
  <Application>Microsoft Office PowerPoint</Application>
  <PresentationFormat>Geniş ekran</PresentationFormat>
  <Paragraphs>463</Paragraphs>
  <Slides>41</Slides>
  <Notes>0</Notes>
  <HiddenSlides>0</HiddenSlides>
  <MMClips>0</MMClips>
  <ScaleCrop>false</ScaleCrop>
  <HeadingPairs>
    <vt:vector size="6" baseType="variant">
      <vt:variant>
        <vt:lpstr>Kullanılan Yazı Tipleri</vt:lpstr>
      </vt:variant>
      <vt:variant>
        <vt:i4>8</vt:i4>
      </vt:variant>
      <vt:variant>
        <vt:lpstr>Tema</vt:lpstr>
      </vt:variant>
      <vt:variant>
        <vt:i4>1</vt:i4>
      </vt:variant>
      <vt:variant>
        <vt:lpstr>Slayt Başlıkları</vt:lpstr>
      </vt:variant>
      <vt:variant>
        <vt:i4>41</vt:i4>
      </vt:variant>
    </vt:vector>
  </HeadingPairs>
  <TitlesOfParts>
    <vt:vector size="50" baseType="lpstr">
      <vt:lpstr>Aptos</vt:lpstr>
      <vt:lpstr>Aptos Display</vt:lpstr>
      <vt:lpstr>Arial</vt:lpstr>
      <vt:lpstr>Calibri</vt:lpstr>
      <vt:lpstr>Cambria</vt:lpstr>
      <vt:lpstr>MS Mincho</vt:lpstr>
      <vt:lpstr>Times New Roman</vt:lpstr>
      <vt:lpstr>Wingdings</vt:lpstr>
      <vt:lpstr>Office Teması</vt:lpstr>
      <vt:lpstr>PowerPoint Sunusu</vt:lpstr>
      <vt:lpstr>Tanım</vt:lpstr>
      <vt:lpstr>Kişisel Hijyen</vt:lpstr>
      <vt:lpstr>PowerPoint Sunusu</vt:lpstr>
      <vt:lpstr>Mevzuatta İş Hijyeni</vt:lpstr>
      <vt:lpstr>Mevzuatta İş Hijyeni</vt:lpstr>
      <vt:lpstr>İş Hijyeni</vt:lpstr>
      <vt:lpstr> Sağlığı tehdit eden tehlikelerin sınıflandırılması </vt:lpstr>
      <vt:lpstr> Sağlığı tehdit eden tehlikelerin sınıflandırılması </vt:lpstr>
      <vt:lpstr>Vücuda Giriş Yolları</vt:lpstr>
      <vt:lpstr>Vücuda Giriş Yolları</vt:lpstr>
      <vt:lpstr>Vücuda Giriş Yolları</vt:lpstr>
      <vt:lpstr>Vücuda Giriş Yolları</vt:lpstr>
      <vt:lpstr>Vücuda Giriş Yolları</vt:lpstr>
      <vt:lpstr>PowerPoint Sunusu</vt:lpstr>
      <vt:lpstr>Vücuda Giriş Yolları</vt:lpstr>
      <vt:lpstr> Fiziksel Etkenlere (Çevresel Zararlara) Maruz Kalma </vt:lpstr>
      <vt:lpstr> Fiziksel Etkenlere (Çevresel Zararlara) Maruz Kalma </vt:lpstr>
      <vt:lpstr> Fiziksel Etkenlere (Çevresel Zararlara) Maruz Kalma </vt:lpstr>
      <vt:lpstr> Fiziksel Etkenlere (Çevresel Zararlara) Maruz Kalma </vt:lpstr>
      <vt:lpstr> Fiziksel Etkenlere (Çevresel Zararlara) Maruz Kalma </vt:lpstr>
      <vt:lpstr> Fiziksel Etkenlere (Çevresel Zararlara) Maruz Kalma </vt:lpstr>
      <vt:lpstr> Fiziksel Etkenlere (Çevresel Zararlara) Maruz Kalma </vt:lpstr>
      <vt:lpstr> Fiziksel Etkenlere (Çevresel Zararlara) Maruz Kalma </vt:lpstr>
      <vt:lpstr> Fiziksel Etkenlere (Çevresel Zararlara) Maruz Kalma </vt:lpstr>
      <vt:lpstr> Fiziksel Etkenlere (Çevresel Zararlara) Maruz Kalma </vt:lpstr>
      <vt:lpstr>PowerPoint Sunusu</vt:lpstr>
      <vt:lpstr> Fiziksel Etkenlere (Çevresel Zararlara) Maruz Kalma </vt:lpstr>
      <vt:lpstr> Sağlık Riski Oluşturan Tehlikelerin Değerlendirilmesi </vt:lpstr>
      <vt:lpstr> Sağlık Riski Oluşturan Tehlikelerin Değerlendirilmesi </vt:lpstr>
      <vt:lpstr> Sağlık Riski Oluşturan Tehlikelerin Değerlendirilmesi </vt:lpstr>
      <vt:lpstr>Tehlikeleri Önleyici Kontrol Yöntemleri</vt:lpstr>
      <vt:lpstr>Tehlikeleri Önleyici Kontrol Yöntemleri</vt:lpstr>
      <vt:lpstr>Tehlikeleri Önleyici Kontrol Yöntemleri</vt:lpstr>
      <vt:lpstr>Tehlikeleri Önleyici Kontrol Yöntemleri</vt:lpstr>
      <vt:lpstr>Tehlikeleri Önleyici Kontrol Yöntemleri</vt:lpstr>
      <vt:lpstr>PowerPoint Sunusu</vt:lpstr>
      <vt:lpstr>Tehlikeleri Önleyici Kontrol Yöntemleri</vt:lpstr>
      <vt:lpstr>Tehlikeleri Önleyici Kontrol Yöntemleri</vt:lpstr>
      <vt:lpstr>Tehlikeleri Önleyici Kontrol Yöntemleri</vt:lpstr>
      <vt:lpstr>İş Hijyeninden kim sorumludur?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Beyza Özgürses</dc:creator>
  <cp:lastModifiedBy>Beyza samuk</cp:lastModifiedBy>
  <cp:revision>49</cp:revision>
  <dcterms:created xsi:type="dcterms:W3CDTF">2026-01-13T18:58:05Z</dcterms:created>
  <dcterms:modified xsi:type="dcterms:W3CDTF">2026-03-02T08:30:40Z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0x0101009A3BFD3C5F92D049BC69F483FC26D298</vt:lpwstr>
  </property>
</Properties>
</file>