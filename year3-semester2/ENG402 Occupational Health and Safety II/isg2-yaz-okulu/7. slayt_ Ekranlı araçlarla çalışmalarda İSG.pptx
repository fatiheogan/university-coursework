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9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23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diagrams/drawing1.xml" ContentType="application/vnd.ms-office.drawingml.diagramDrawing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71" r:id="rId9"/>
    <p:sldId id="272" r:id="rId10"/>
    <p:sldId id="276" r:id="rId11"/>
    <p:sldId id="273" r:id="rId12"/>
    <p:sldId id="274" r:id="rId13"/>
    <p:sldId id="264" r:id="rId14"/>
    <p:sldId id="265" r:id="rId15"/>
    <p:sldId id="275" r:id="rId16"/>
    <p:sldId id="277" r:id="rId17"/>
    <p:sldId id="278" r:id="rId18"/>
    <p:sldId id="286" r:id="rId19"/>
    <p:sldId id="287" r:id="rId20"/>
    <p:sldId id="279" r:id="rId21"/>
    <p:sldId id="266" r:id="rId22"/>
    <p:sldId id="267" r:id="rId23"/>
    <p:sldId id="268" r:id="rId24"/>
    <p:sldId id="280" r:id="rId25"/>
    <p:sldId id="281" r:id="rId26"/>
    <p:sldId id="282" r:id="rId27"/>
    <p:sldId id="283" r:id="rId28"/>
    <p:sldId id="284" r:id="rId29"/>
    <p:sldId id="285" r:id="rId30"/>
    <p:sldId id="288" r:id="rId31"/>
    <p:sldId id="269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0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65E7B0-97B5-4F0E-8682-1A552ED4BF3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tr-TR"/>
        </a:p>
      </dgm:t>
    </dgm:pt>
    <dgm:pt modelId="{CC4A12D8-F9C8-4998-BC9C-B5D350B420BB}">
      <dgm:prSet phldrT="[Metin]" custT="1"/>
      <dgm:spPr>
        <a:solidFill>
          <a:schemeClr val="accent6"/>
        </a:solidFill>
      </dgm:spPr>
      <dgm:t>
        <a:bodyPr/>
        <a:lstStyle/>
        <a:p>
          <a:pPr>
            <a:buNone/>
          </a:pPr>
          <a:r>
            <a:rPr lang="tr-TR" sz="1600" dirty="0"/>
            <a:t>EKİPMAN</a:t>
          </a:r>
        </a:p>
      </dgm:t>
    </dgm:pt>
    <dgm:pt modelId="{BDF9EF55-C061-4E9E-BABF-FD7C01154BE2}" type="parTrans" cxnId="{1461AC09-2795-488A-A654-AF2DC84BB7C0}">
      <dgm:prSet/>
      <dgm:spPr/>
      <dgm:t>
        <a:bodyPr/>
        <a:lstStyle/>
        <a:p>
          <a:endParaRPr lang="tr-TR"/>
        </a:p>
      </dgm:t>
    </dgm:pt>
    <dgm:pt modelId="{D1F4ABAC-7BFD-4C2D-9306-CCB80A5303A7}" type="sibTrans" cxnId="{1461AC09-2795-488A-A654-AF2DC84BB7C0}">
      <dgm:prSet/>
      <dgm:spPr/>
      <dgm:t>
        <a:bodyPr/>
        <a:lstStyle/>
        <a:p>
          <a:endParaRPr lang="tr-TR"/>
        </a:p>
      </dgm:t>
    </dgm:pt>
    <dgm:pt modelId="{98145157-1F45-4CF3-90DD-D660937E457A}">
      <dgm:prSet phldrT="[Metin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sz="2400" dirty="0"/>
            <a:t>Monitör • </a:t>
          </a:r>
          <a:r>
            <a:rPr lang="tr-TR" sz="2400" dirty="0" smtClean="0"/>
            <a:t>Klavye • Mouse (fare)</a:t>
          </a:r>
          <a:endParaRPr lang="tr-TR" sz="2400" dirty="0"/>
        </a:p>
      </dgm:t>
    </dgm:pt>
    <dgm:pt modelId="{F60A0585-091C-4754-A48A-2BED4AD9665F}" type="parTrans" cxnId="{E5349AC0-1BCB-4EF1-AEB8-5D696505FB1B}">
      <dgm:prSet/>
      <dgm:spPr/>
      <dgm:t>
        <a:bodyPr/>
        <a:lstStyle/>
        <a:p>
          <a:endParaRPr lang="tr-TR"/>
        </a:p>
      </dgm:t>
    </dgm:pt>
    <dgm:pt modelId="{BF68DC6B-22DF-473F-9697-7C137C17E166}" type="sibTrans" cxnId="{E5349AC0-1BCB-4EF1-AEB8-5D696505FB1B}">
      <dgm:prSet/>
      <dgm:spPr/>
      <dgm:t>
        <a:bodyPr/>
        <a:lstStyle/>
        <a:p>
          <a:endParaRPr lang="tr-TR"/>
        </a:p>
      </dgm:t>
    </dgm:pt>
    <dgm:pt modelId="{B83A6162-CDAB-4953-BD4B-79107BD69ADD}">
      <dgm:prSet phldrT="[Metin]" phldr="0" custT="1"/>
      <dgm:spPr/>
      <dgm:t>
        <a:bodyPr/>
        <a:lstStyle/>
        <a:p>
          <a:r>
            <a:rPr lang="tr-TR" sz="1600" dirty="0"/>
            <a:t>ÇALIŞMA ORTAMI</a:t>
          </a:r>
        </a:p>
      </dgm:t>
    </dgm:pt>
    <dgm:pt modelId="{835923A4-197F-4DBF-83F1-D610B85A69D0}" type="parTrans" cxnId="{1325E98F-D8B9-4D03-B10B-471F9D844199}">
      <dgm:prSet/>
      <dgm:spPr/>
      <dgm:t>
        <a:bodyPr/>
        <a:lstStyle/>
        <a:p>
          <a:endParaRPr lang="tr-TR"/>
        </a:p>
      </dgm:t>
    </dgm:pt>
    <dgm:pt modelId="{D5A52110-7B5C-4BFE-A855-1039D0C83030}" type="sibTrans" cxnId="{1325E98F-D8B9-4D03-B10B-471F9D844199}">
      <dgm:prSet/>
      <dgm:spPr/>
      <dgm:t>
        <a:bodyPr/>
        <a:lstStyle/>
        <a:p>
          <a:endParaRPr lang="tr-TR"/>
        </a:p>
      </dgm:t>
    </dgm:pt>
    <dgm:pt modelId="{294F6D3D-39D6-4453-91AB-23FF55CCCA4E}">
      <dgm:prSet phldrT="[Metin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sz="2400" dirty="0"/>
            <a:t>Gerekli Alan • Aydınlatma • Yansıma ve </a:t>
          </a:r>
          <a:r>
            <a:rPr lang="tr-TR" sz="2400" dirty="0" smtClean="0"/>
            <a:t>Parlama• Gürültü • Ortam Isısı • Nem • Radyasyon</a:t>
          </a:r>
          <a:endParaRPr lang="tr-TR" sz="2400" dirty="0"/>
        </a:p>
      </dgm:t>
    </dgm:pt>
    <dgm:pt modelId="{6D84F07A-BECB-4A4D-9A8C-457354E3F001}" type="parTrans" cxnId="{44FA9838-F232-401A-ABE6-93E82BC63E21}">
      <dgm:prSet/>
      <dgm:spPr/>
      <dgm:t>
        <a:bodyPr/>
        <a:lstStyle/>
        <a:p>
          <a:endParaRPr lang="tr-TR"/>
        </a:p>
      </dgm:t>
    </dgm:pt>
    <dgm:pt modelId="{6D1819C8-9557-4F10-9C62-D38C3ED4F49A}" type="sibTrans" cxnId="{44FA9838-F232-401A-ABE6-93E82BC63E21}">
      <dgm:prSet/>
      <dgm:spPr/>
      <dgm:t>
        <a:bodyPr/>
        <a:lstStyle/>
        <a:p>
          <a:endParaRPr lang="tr-TR"/>
        </a:p>
      </dgm:t>
    </dgm:pt>
    <dgm:pt modelId="{0AEF560A-1950-4F0A-A9F0-40CBB06EA4A4}">
      <dgm:prSet phldrT="[Metin]" phldr="0" custT="1"/>
      <dgm:spPr>
        <a:solidFill>
          <a:srgbClr val="FFC000"/>
        </a:solidFill>
      </dgm:spPr>
      <dgm:t>
        <a:bodyPr/>
        <a:lstStyle/>
        <a:p>
          <a:endParaRPr lang="tr-TR" sz="1600" dirty="0"/>
        </a:p>
        <a:p>
          <a:r>
            <a:rPr lang="tr-TR" sz="1500" dirty="0"/>
            <a:t>BİLGİSAYAR PROGRAMLARI</a:t>
          </a:r>
        </a:p>
      </dgm:t>
    </dgm:pt>
    <dgm:pt modelId="{2DA6C97A-FA5C-4083-80D8-824E13E16498}" type="parTrans" cxnId="{7AFD3467-5D7A-4BDD-92F2-F0486EEAEBFD}">
      <dgm:prSet/>
      <dgm:spPr/>
      <dgm:t>
        <a:bodyPr/>
        <a:lstStyle/>
        <a:p>
          <a:endParaRPr lang="tr-TR"/>
        </a:p>
      </dgm:t>
    </dgm:pt>
    <dgm:pt modelId="{1E466403-494D-4325-BA86-D20F4390D5E1}" type="sibTrans" cxnId="{7AFD3467-5D7A-4BDD-92F2-F0486EEAEBFD}">
      <dgm:prSet/>
      <dgm:spPr/>
      <dgm:t>
        <a:bodyPr/>
        <a:lstStyle/>
        <a:p>
          <a:endParaRPr lang="tr-TR"/>
        </a:p>
      </dgm:t>
    </dgm:pt>
    <dgm:pt modelId="{842E0D98-F631-41AB-9F50-D7CF5F4681F6}">
      <dgm:prSet phldrT="[Metin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tr-TR" sz="2400" dirty="0"/>
            <a:t>Programlar işe uygun </a:t>
          </a:r>
          <a:r>
            <a:rPr lang="tr-TR" sz="2400" dirty="0" smtClean="0"/>
            <a:t>olmalı</a:t>
          </a:r>
          <a:endParaRPr lang="tr-TR" sz="2400" dirty="0"/>
        </a:p>
      </dgm:t>
    </dgm:pt>
    <dgm:pt modelId="{D1BE66ED-06D6-4551-9090-EB4FEAD7AAD6}" type="parTrans" cxnId="{E7724E1E-04B9-4B92-92AE-A6E01C2C170C}">
      <dgm:prSet/>
      <dgm:spPr/>
      <dgm:t>
        <a:bodyPr/>
        <a:lstStyle/>
        <a:p>
          <a:endParaRPr lang="tr-TR"/>
        </a:p>
      </dgm:t>
    </dgm:pt>
    <dgm:pt modelId="{E5583E22-E030-4933-B531-7602B23646C8}" type="sibTrans" cxnId="{E7724E1E-04B9-4B92-92AE-A6E01C2C170C}">
      <dgm:prSet/>
      <dgm:spPr/>
      <dgm:t>
        <a:bodyPr/>
        <a:lstStyle/>
        <a:p>
          <a:endParaRPr lang="tr-TR"/>
        </a:p>
      </dgm:t>
    </dgm:pt>
    <dgm:pt modelId="{F002E9BD-B9A4-4010-9CE3-D1293243CE38}">
      <dgm:prSet phldrT="[Metin]" custT="1"/>
      <dgm:spPr/>
      <dgm:t>
        <a:bodyPr/>
        <a:lstStyle/>
        <a:p>
          <a:pPr>
            <a:buNone/>
          </a:pPr>
          <a:r>
            <a:rPr lang="tr-TR" sz="2400" dirty="0" smtClean="0"/>
            <a:t>Çalışma </a:t>
          </a:r>
          <a:r>
            <a:rPr lang="tr-TR" sz="2400" dirty="0"/>
            <a:t>Masası veya çalışma yüzeyi • Çalışma Sandalyesi </a:t>
          </a:r>
        </a:p>
      </dgm:t>
    </dgm:pt>
    <dgm:pt modelId="{3B6B8DD2-7BCD-42E5-B547-94E7258A9413}" type="parTrans" cxnId="{AB0D7F99-24A6-4BE4-93EE-3674895DE037}">
      <dgm:prSet/>
      <dgm:spPr/>
      <dgm:t>
        <a:bodyPr/>
        <a:lstStyle/>
        <a:p>
          <a:endParaRPr lang="tr-TR"/>
        </a:p>
      </dgm:t>
    </dgm:pt>
    <dgm:pt modelId="{226EC831-30A8-4A00-9C76-359621AFCCDD}" type="sibTrans" cxnId="{AB0D7F99-24A6-4BE4-93EE-3674895DE037}">
      <dgm:prSet/>
      <dgm:spPr/>
      <dgm:t>
        <a:bodyPr/>
        <a:lstStyle/>
        <a:p>
          <a:endParaRPr lang="tr-TR"/>
        </a:p>
      </dgm:t>
    </dgm:pt>
    <dgm:pt modelId="{8DBDE42D-F0E1-4B83-BBEC-407700D7BA4B}">
      <dgm:prSet phldrT="[Metin]"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tr-TR" sz="2400" dirty="0" smtClean="0"/>
            <a:t>Sistemler iş verimini arttırmalı</a:t>
          </a:r>
          <a:endParaRPr lang="tr-TR" sz="2400" dirty="0"/>
        </a:p>
      </dgm:t>
    </dgm:pt>
    <dgm:pt modelId="{67F5D81C-A758-4B22-BFD0-E27B07E4EF22}" type="parTrans" cxnId="{54F7D004-E47C-4CB2-840C-8B0029537873}">
      <dgm:prSet/>
      <dgm:spPr/>
      <dgm:t>
        <a:bodyPr/>
        <a:lstStyle/>
        <a:p>
          <a:endParaRPr lang="tr-TR"/>
        </a:p>
      </dgm:t>
    </dgm:pt>
    <dgm:pt modelId="{91D2BAFE-40D0-4B61-8397-B42CD5861FB4}" type="sibTrans" cxnId="{54F7D004-E47C-4CB2-840C-8B0029537873}">
      <dgm:prSet/>
      <dgm:spPr/>
      <dgm:t>
        <a:bodyPr/>
        <a:lstStyle/>
        <a:p>
          <a:endParaRPr lang="tr-TR"/>
        </a:p>
      </dgm:t>
    </dgm:pt>
    <dgm:pt modelId="{88FF1765-2E80-4DBF-93E4-34F32D2F4152}" type="pres">
      <dgm:prSet presAssocID="{4565E7B0-97B5-4F0E-8682-1A552ED4BF37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tr-TR"/>
        </a:p>
      </dgm:t>
    </dgm:pt>
    <dgm:pt modelId="{2AB6AAF0-B046-41EB-A1D6-3724FA679753}" type="pres">
      <dgm:prSet presAssocID="{CC4A12D8-F9C8-4998-BC9C-B5D350B420BB}" presName="composite" presStyleCnt="0"/>
      <dgm:spPr/>
    </dgm:pt>
    <dgm:pt modelId="{E1B57CB4-358B-47F1-8ADB-BE6E6A0EE880}" type="pres">
      <dgm:prSet presAssocID="{CC4A12D8-F9C8-4998-BC9C-B5D350B420BB}" presName="parentText" presStyleLbl="alignNode1" presStyleIdx="0" presStyleCnt="3" custLinFactNeighborX="0" custLinFactNeighborY="-4880">
        <dgm:presLayoutVars>
          <dgm:chMax val="1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0C372CF2-FEBC-4174-B5AF-5A95A3415A76}" type="pres">
      <dgm:prSet presAssocID="{CC4A12D8-F9C8-4998-BC9C-B5D350B420BB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BA04BFB7-E011-4D29-9C82-1DA5FAC1B545}" type="pres">
      <dgm:prSet presAssocID="{D1F4ABAC-7BFD-4C2D-9306-CCB80A5303A7}" presName="sp" presStyleCnt="0"/>
      <dgm:spPr/>
    </dgm:pt>
    <dgm:pt modelId="{6C727660-F101-48CB-8763-B18A7B51B3E7}" type="pres">
      <dgm:prSet presAssocID="{B83A6162-CDAB-4953-BD4B-79107BD69ADD}" presName="composite" presStyleCnt="0"/>
      <dgm:spPr/>
    </dgm:pt>
    <dgm:pt modelId="{AAF66482-1072-43A2-AEB1-39B36ABF07E1}" type="pres">
      <dgm:prSet presAssocID="{B83A6162-CDAB-4953-BD4B-79107BD69ADD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892AAEB4-49EB-40DC-913A-5DD710E6A0F9}" type="pres">
      <dgm:prSet presAssocID="{B83A6162-CDAB-4953-BD4B-79107BD69ADD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CE5E3A05-6724-4B10-BECF-DDF1405E3FA1}" type="pres">
      <dgm:prSet presAssocID="{D5A52110-7B5C-4BFE-A855-1039D0C83030}" presName="sp" presStyleCnt="0"/>
      <dgm:spPr/>
    </dgm:pt>
    <dgm:pt modelId="{E1877F77-3190-4749-87FB-617510BEF529}" type="pres">
      <dgm:prSet presAssocID="{0AEF560A-1950-4F0A-A9F0-40CBB06EA4A4}" presName="composite" presStyleCnt="0"/>
      <dgm:spPr/>
    </dgm:pt>
    <dgm:pt modelId="{71AD83E4-934B-4CBC-A679-9BC9FF6EAB66}" type="pres">
      <dgm:prSet presAssocID="{0AEF560A-1950-4F0A-A9F0-40CBB06EA4A4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tr-TR"/>
        </a:p>
      </dgm:t>
    </dgm:pt>
    <dgm:pt modelId="{7F1E5B8A-4DCC-4644-B474-AD46CAF6FEE4}" type="pres">
      <dgm:prSet presAssocID="{0AEF560A-1950-4F0A-A9F0-40CBB06EA4A4}" presName="descendantText" presStyleLbl="alignAcc1" presStyleIdx="2" presStyleCnt="3" custScaleX="89327" custLinFactNeighborX="-5551" custLinFactNeighborY="1115">
        <dgm:presLayoutVars>
          <dgm:bulletEnabled val="1"/>
        </dgm:presLayoutVars>
      </dgm:prSet>
      <dgm:spPr/>
      <dgm:t>
        <a:bodyPr/>
        <a:lstStyle/>
        <a:p>
          <a:endParaRPr lang="tr-TR"/>
        </a:p>
      </dgm:t>
    </dgm:pt>
  </dgm:ptLst>
  <dgm:cxnLst>
    <dgm:cxn modelId="{AB0D7F99-24A6-4BE4-93EE-3674895DE037}" srcId="{CC4A12D8-F9C8-4998-BC9C-B5D350B420BB}" destId="{F002E9BD-B9A4-4010-9CE3-D1293243CE38}" srcOrd="1" destOrd="0" parTransId="{3B6B8DD2-7BCD-42E5-B547-94E7258A9413}" sibTransId="{226EC831-30A8-4A00-9C76-359621AFCCDD}"/>
    <dgm:cxn modelId="{E83FDECE-CB3E-4550-BD0A-DDCC32C1CB6D}" type="presOf" srcId="{8DBDE42D-F0E1-4B83-BBEC-407700D7BA4B}" destId="{7F1E5B8A-4DCC-4644-B474-AD46CAF6FEE4}" srcOrd="0" destOrd="1" presId="urn:microsoft.com/office/officeart/2005/8/layout/chevron2"/>
    <dgm:cxn modelId="{4D6CAB11-FC2C-4D75-A03C-9C38AE37235B}" type="presOf" srcId="{B83A6162-CDAB-4953-BD4B-79107BD69ADD}" destId="{AAF66482-1072-43A2-AEB1-39B36ABF07E1}" srcOrd="0" destOrd="0" presId="urn:microsoft.com/office/officeart/2005/8/layout/chevron2"/>
    <dgm:cxn modelId="{3B6DBB26-574C-42D1-9B04-036CF529995D}" type="presOf" srcId="{842E0D98-F631-41AB-9F50-D7CF5F4681F6}" destId="{7F1E5B8A-4DCC-4644-B474-AD46CAF6FEE4}" srcOrd="0" destOrd="0" presId="urn:microsoft.com/office/officeart/2005/8/layout/chevron2"/>
    <dgm:cxn modelId="{1325E98F-D8B9-4D03-B10B-471F9D844199}" srcId="{4565E7B0-97B5-4F0E-8682-1A552ED4BF37}" destId="{B83A6162-CDAB-4953-BD4B-79107BD69ADD}" srcOrd="1" destOrd="0" parTransId="{835923A4-197F-4DBF-83F1-D610B85A69D0}" sibTransId="{D5A52110-7B5C-4BFE-A855-1039D0C83030}"/>
    <dgm:cxn modelId="{1461AC09-2795-488A-A654-AF2DC84BB7C0}" srcId="{4565E7B0-97B5-4F0E-8682-1A552ED4BF37}" destId="{CC4A12D8-F9C8-4998-BC9C-B5D350B420BB}" srcOrd="0" destOrd="0" parTransId="{BDF9EF55-C061-4E9E-BABF-FD7C01154BE2}" sibTransId="{D1F4ABAC-7BFD-4C2D-9306-CCB80A5303A7}"/>
    <dgm:cxn modelId="{E5349AC0-1BCB-4EF1-AEB8-5D696505FB1B}" srcId="{CC4A12D8-F9C8-4998-BC9C-B5D350B420BB}" destId="{98145157-1F45-4CF3-90DD-D660937E457A}" srcOrd="0" destOrd="0" parTransId="{F60A0585-091C-4754-A48A-2BED4AD9665F}" sibTransId="{BF68DC6B-22DF-473F-9697-7C137C17E166}"/>
    <dgm:cxn modelId="{4B4BE1D8-1691-4759-BD4A-28ED0265911F}" type="presOf" srcId="{0AEF560A-1950-4F0A-A9F0-40CBB06EA4A4}" destId="{71AD83E4-934B-4CBC-A679-9BC9FF6EAB66}" srcOrd="0" destOrd="0" presId="urn:microsoft.com/office/officeart/2005/8/layout/chevron2"/>
    <dgm:cxn modelId="{18462DF4-C5BE-489C-A2E1-72713D9FA92E}" type="presOf" srcId="{98145157-1F45-4CF3-90DD-D660937E457A}" destId="{0C372CF2-FEBC-4174-B5AF-5A95A3415A76}" srcOrd="0" destOrd="0" presId="urn:microsoft.com/office/officeart/2005/8/layout/chevron2"/>
    <dgm:cxn modelId="{BC61BB8D-4FFD-43E4-B8BE-CD986281978A}" type="presOf" srcId="{294F6D3D-39D6-4453-91AB-23FF55CCCA4E}" destId="{892AAEB4-49EB-40DC-913A-5DD710E6A0F9}" srcOrd="0" destOrd="0" presId="urn:microsoft.com/office/officeart/2005/8/layout/chevron2"/>
    <dgm:cxn modelId="{E7724E1E-04B9-4B92-92AE-A6E01C2C170C}" srcId="{0AEF560A-1950-4F0A-A9F0-40CBB06EA4A4}" destId="{842E0D98-F631-41AB-9F50-D7CF5F4681F6}" srcOrd="0" destOrd="0" parTransId="{D1BE66ED-06D6-4551-9090-EB4FEAD7AAD6}" sibTransId="{E5583E22-E030-4933-B531-7602B23646C8}"/>
    <dgm:cxn modelId="{7F3A592E-C06C-45A8-BB43-6DD3653D9B82}" type="presOf" srcId="{F002E9BD-B9A4-4010-9CE3-D1293243CE38}" destId="{0C372CF2-FEBC-4174-B5AF-5A95A3415A76}" srcOrd="0" destOrd="1" presId="urn:microsoft.com/office/officeart/2005/8/layout/chevron2"/>
    <dgm:cxn modelId="{44259173-35DF-45EC-937F-A062DB7292DA}" type="presOf" srcId="{CC4A12D8-F9C8-4998-BC9C-B5D350B420BB}" destId="{E1B57CB4-358B-47F1-8ADB-BE6E6A0EE880}" srcOrd="0" destOrd="0" presId="urn:microsoft.com/office/officeart/2005/8/layout/chevron2"/>
    <dgm:cxn modelId="{54F7D004-E47C-4CB2-840C-8B0029537873}" srcId="{0AEF560A-1950-4F0A-A9F0-40CBB06EA4A4}" destId="{8DBDE42D-F0E1-4B83-BBEC-407700D7BA4B}" srcOrd="1" destOrd="0" parTransId="{67F5D81C-A758-4B22-BFD0-E27B07E4EF22}" sibTransId="{91D2BAFE-40D0-4B61-8397-B42CD5861FB4}"/>
    <dgm:cxn modelId="{7AFD3467-5D7A-4BDD-92F2-F0486EEAEBFD}" srcId="{4565E7B0-97B5-4F0E-8682-1A552ED4BF37}" destId="{0AEF560A-1950-4F0A-A9F0-40CBB06EA4A4}" srcOrd="2" destOrd="0" parTransId="{2DA6C97A-FA5C-4083-80D8-824E13E16498}" sibTransId="{1E466403-494D-4325-BA86-D20F4390D5E1}"/>
    <dgm:cxn modelId="{44FA9838-F232-401A-ABE6-93E82BC63E21}" srcId="{B83A6162-CDAB-4953-BD4B-79107BD69ADD}" destId="{294F6D3D-39D6-4453-91AB-23FF55CCCA4E}" srcOrd="0" destOrd="0" parTransId="{6D84F07A-BECB-4A4D-9A8C-457354E3F001}" sibTransId="{6D1819C8-9557-4F10-9C62-D38C3ED4F49A}"/>
    <dgm:cxn modelId="{657E9DE0-7970-4315-8DA8-14FB838F1894}" type="presOf" srcId="{4565E7B0-97B5-4F0E-8682-1A552ED4BF37}" destId="{88FF1765-2E80-4DBF-93E4-34F32D2F4152}" srcOrd="0" destOrd="0" presId="urn:microsoft.com/office/officeart/2005/8/layout/chevron2"/>
    <dgm:cxn modelId="{8B4784D6-C39F-4616-A430-3CBF92EDCFD1}" type="presParOf" srcId="{88FF1765-2E80-4DBF-93E4-34F32D2F4152}" destId="{2AB6AAF0-B046-41EB-A1D6-3724FA679753}" srcOrd="0" destOrd="0" presId="urn:microsoft.com/office/officeart/2005/8/layout/chevron2"/>
    <dgm:cxn modelId="{8611ADD8-F60D-4AB8-A214-0ED169BC725C}" type="presParOf" srcId="{2AB6AAF0-B046-41EB-A1D6-3724FA679753}" destId="{E1B57CB4-358B-47F1-8ADB-BE6E6A0EE880}" srcOrd="0" destOrd="0" presId="urn:microsoft.com/office/officeart/2005/8/layout/chevron2"/>
    <dgm:cxn modelId="{B3524C8D-2817-4DFF-ACDB-B1A517C7F403}" type="presParOf" srcId="{2AB6AAF0-B046-41EB-A1D6-3724FA679753}" destId="{0C372CF2-FEBC-4174-B5AF-5A95A3415A76}" srcOrd="1" destOrd="0" presId="urn:microsoft.com/office/officeart/2005/8/layout/chevron2"/>
    <dgm:cxn modelId="{56C10FB5-70C3-4E3E-9AAF-586BC5A40537}" type="presParOf" srcId="{88FF1765-2E80-4DBF-93E4-34F32D2F4152}" destId="{BA04BFB7-E011-4D29-9C82-1DA5FAC1B545}" srcOrd="1" destOrd="0" presId="urn:microsoft.com/office/officeart/2005/8/layout/chevron2"/>
    <dgm:cxn modelId="{62EFA798-5E17-46BE-A9A0-FB3F5004B04C}" type="presParOf" srcId="{88FF1765-2E80-4DBF-93E4-34F32D2F4152}" destId="{6C727660-F101-48CB-8763-B18A7B51B3E7}" srcOrd="2" destOrd="0" presId="urn:microsoft.com/office/officeart/2005/8/layout/chevron2"/>
    <dgm:cxn modelId="{DD81081D-8BB6-418E-B3AE-0F230C1A6FDD}" type="presParOf" srcId="{6C727660-F101-48CB-8763-B18A7B51B3E7}" destId="{AAF66482-1072-43A2-AEB1-39B36ABF07E1}" srcOrd="0" destOrd="0" presId="urn:microsoft.com/office/officeart/2005/8/layout/chevron2"/>
    <dgm:cxn modelId="{C2115867-A5EF-43C2-87D6-8EA69231077D}" type="presParOf" srcId="{6C727660-F101-48CB-8763-B18A7B51B3E7}" destId="{892AAEB4-49EB-40DC-913A-5DD710E6A0F9}" srcOrd="1" destOrd="0" presId="urn:microsoft.com/office/officeart/2005/8/layout/chevron2"/>
    <dgm:cxn modelId="{8005B002-493D-435F-8E45-F687B0E62335}" type="presParOf" srcId="{88FF1765-2E80-4DBF-93E4-34F32D2F4152}" destId="{CE5E3A05-6724-4B10-BECF-DDF1405E3FA1}" srcOrd="3" destOrd="0" presId="urn:microsoft.com/office/officeart/2005/8/layout/chevron2"/>
    <dgm:cxn modelId="{151F0FE1-E175-4083-B6D0-E160BD799DEB}" type="presParOf" srcId="{88FF1765-2E80-4DBF-93E4-34F32D2F4152}" destId="{E1877F77-3190-4749-87FB-617510BEF529}" srcOrd="4" destOrd="0" presId="urn:microsoft.com/office/officeart/2005/8/layout/chevron2"/>
    <dgm:cxn modelId="{60D14D41-8F15-4E95-A8F7-70C8692266E2}" type="presParOf" srcId="{E1877F77-3190-4749-87FB-617510BEF529}" destId="{71AD83E4-934B-4CBC-A679-9BC9FF6EAB66}" srcOrd="0" destOrd="0" presId="urn:microsoft.com/office/officeart/2005/8/layout/chevron2"/>
    <dgm:cxn modelId="{1BD83AF4-1505-4323-AF55-183F9B8DAFC1}" type="presParOf" srcId="{E1877F77-3190-4749-87FB-617510BEF529}" destId="{7F1E5B8A-4DCC-4644-B474-AD46CAF6FEE4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B57CB4-358B-47F1-8ADB-BE6E6A0EE880}">
      <dsp:nvSpPr>
        <dsp:cNvPr id="0" name=""/>
        <dsp:cNvSpPr/>
      </dsp:nvSpPr>
      <dsp:spPr>
        <a:xfrm rot="5400000">
          <a:off x="-252372" y="252372"/>
          <a:ext cx="1682485" cy="1177739"/>
        </a:xfrm>
        <a:prstGeom prst="chevron">
          <a:avLst/>
        </a:prstGeom>
        <a:solidFill>
          <a:schemeClr val="accent6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tr-TR" sz="1600" kern="1200" dirty="0"/>
            <a:t>EKİPMAN</a:t>
          </a:r>
        </a:p>
      </dsp:txBody>
      <dsp:txXfrm rot="-5400000">
        <a:off x="2" y="588869"/>
        <a:ext cx="1177739" cy="504746"/>
      </dsp:txXfrm>
    </dsp:sp>
    <dsp:sp modelId="{0C372CF2-FEBC-4174-B5AF-5A95A3415A76}">
      <dsp:nvSpPr>
        <dsp:cNvPr id="0" name=""/>
        <dsp:cNvSpPr/>
      </dsp:nvSpPr>
      <dsp:spPr>
        <a:xfrm rot="5400000">
          <a:off x="5828265" y="-4647522"/>
          <a:ext cx="1093615" cy="103946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tr-TR" sz="2400" kern="1200" dirty="0"/>
            <a:t>Monitör • </a:t>
          </a:r>
          <a:r>
            <a:rPr lang="tr-TR" sz="2400" kern="1200" dirty="0" smtClean="0"/>
            <a:t>Klavye • Mouse (fare)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tr-TR" sz="2400" kern="1200" dirty="0" smtClean="0"/>
            <a:t>Çalışma </a:t>
          </a:r>
          <a:r>
            <a:rPr lang="tr-TR" sz="2400" kern="1200" dirty="0"/>
            <a:t>Masası veya çalışma yüzeyi • Çalışma Sandalyesi </a:t>
          </a:r>
        </a:p>
      </dsp:txBody>
      <dsp:txXfrm rot="-5400000">
        <a:off x="1177739" y="56390"/>
        <a:ext cx="10341281" cy="986843"/>
      </dsp:txXfrm>
    </dsp:sp>
    <dsp:sp modelId="{AAF66482-1072-43A2-AEB1-39B36ABF07E1}">
      <dsp:nvSpPr>
        <dsp:cNvPr id="0" name=""/>
        <dsp:cNvSpPr/>
      </dsp:nvSpPr>
      <dsp:spPr>
        <a:xfrm rot="5400000">
          <a:off x="-252372" y="1744755"/>
          <a:ext cx="1682485" cy="1177739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600" kern="1200" dirty="0"/>
            <a:t>ÇALIŞMA ORTAMI</a:t>
          </a:r>
        </a:p>
      </dsp:txBody>
      <dsp:txXfrm rot="-5400000">
        <a:off x="2" y="2081252"/>
        <a:ext cx="1177739" cy="504746"/>
      </dsp:txXfrm>
    </dsp:sp>
    <dsp:sp modelId="{892AAEB4-49EB-40DC-913A-5DD710E6A0F9}">
      <dsp:nvSpPr>
        <dsp:cNvPr id="0" name=""/>
        <dsp:cNvSpPr/>
      </dsp:nvSpPr>
      <dsp:spPr>
        <a:xfrm rot="5400000">
          <a:off x="5828265" y="-3158143"/>
          <a:ext cx="1093615" cy="1039466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tr-TR" sz="2400" kern="1200" dirty="0"/>
            <a:t>Gerekli Alan • Aydınlatma • Yansıma ve </a:t>
          </a:r>
          <a:r>
            <a:rPr lang="tr-TR" sz="2400" kern="1200" dirty="0" smtClean="0"/>
            <a:t>Parlama• Gürültü • Ortam Isısı • Nem • Radyasyon</a:t>
          </a:r>
          <a:endParaRPr lang="tr-TR" sz="2400" kern="1200" dirty="0"/>
        </a:p>
      </dsp:txBody>
      <dsp:txXfrm rot="-5400000">
        <a:off x="1177739" y="1545769"/>
        <a:ext cx="10341281" cy="986843"/>
      </dsp:txXfrm>
    </dsp:sp>
    <dsp:sp modelId="{71AD83E4-934B-4CBC-A679-9BC9FF6EAB66}">
      <dsp:nvSpPr>
        <dsp:cNvPr id="0" name=""/>
        <dsp:cNvSpPr/>
      </dsp:nvSpPr>
      <dsp:spPr>
        <a:xfrm rot="5400000">
          <a:off x="-252372" y="3234134"/>
          <a:ext cx="1682485" cy="1177739"/>
        </a:xfrm>
        <a:prstGeom prst="chevron">
          <a:avLst/>
        </a:prstGeom>
        <a:solidFill>
          <a:srgbClr val="FFC000"/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tr-TR" sz="1600" kern="1200" dirty="0"/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tr-TR" sz="1500" kern="1200" dirty="0"/>
            <a:t>BİLGİSAYAR PROGRAMLARI</a:t>
          </a:r>
        </a:p>
      </dsp:txBody>
      <dsp:txXfrm rot="-5400000">
        <a:off x="2" y="3570631"/>
        <a:ext cx="1177739" cy="504746"/>
      </dsp:txXfrm>
    </dsp:sp>
    <dsp:sp modelId="{7F1E5B8A-4DCC-4644-B474-AD46CAF6FEE4}">
      <dsp:nvSpPr>
        <dsp:cNvPr id="0" name=""/>
        <dsp:cNvSpPr/>
      </dsp:nvSpPr>
      <dsp:spPr>
        <a:xfrm rot="5400000">
          <a:off x="5225463" y="-1075935"/>
          <a:ext cx="1094190" cy="923398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5240" rIns="15240" bIns="152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tr-TR" sz="2400" kern="1200" dirty="0"/>
            <a:t>Programlar işe uygun </a:t>
          </a:r>
          <a:r>
            <a:rPr lang="tr-TR" sz="2400" kern="1200" dirty="0" smtClean="0"/>
            <a:t>olmalı</a:t>
          </a:r>
          <a:endParaRPr lang="tr-T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•"/>
          </a:pPr>
          <a:r>
            <a:rPr lang="tr-TR" sz="2400" kern="1200" dirty="0" smtClean="0"/>
            <a:t>Sistemler iş verimini arttırmalı</a:t>
          </a:r>
          <a:endParaRPr lang="tr-TR" sz="2400" kern="1200" dirty="0"/>
        </a:p>
      </dsp:txBody>
      <dsp:txXfrm rot="-5400000">
        <a:off x="1155566" y="3047376"/>
        <a:ext cx="9180571" cy="9873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20015B-67EE-4924-B795-61EA8C7C3DBA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1AAC5-3510-4689-B670-1A2AC35B627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74694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1AAC5-3510-4689-B670-1A2AC35B627C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83490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1AAC5-3510-4689-B670-1A2AC35B627C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3361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1AAC5-3510-4689-B670-1A2AC35B627C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6415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1AAC5-3510-4689-B670-1A2AC35B627C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7681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C41AAC5-3510-4689-B670-1A2AC35B627C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54576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71352F5-58B7-4543-3216-4266E2E46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D145780E-9855-AE4D-8000-70DCB576D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1F9A342-83BE-2A09-BCF7-B2960DA04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AB7D33-74E2-5493-14E3-984DEA989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B9DCF6A-E281-3CB8-8C62-D3216595D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4020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6EC4E95-D7B6-E6A7-9385-FED9F7C5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2EBCFC-5866-D8B9-C7D4-FDA65F67C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B986324-520D-11EC-6D4A-900EAD0A9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C92CBF-BE2F-303D-9644-75B6D71AC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3C6CE5B-4007-DF16-A8D1-E5B8BA491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6137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513042-212C-854D-EC77-CADC6D58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7B19E9B-B61E-A233-E472-2A93D936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8846D33-92CE-B828-426C-6305910C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AEE665E-546E-7B55-D523-3DC8DA02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D943B05-ADBB-5198-C460-C2FC9FD9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14476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B823735-3521-4F2F-D921-DE11124F9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FEA16A-DA8A-0B97-D518-734167821F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4E538AE5-E8A5-09FC-D18E-0AF32A4A8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5DECF17-E100-3DA4-9789-3C636B0DB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8A02011-BED1-1706-E994-3929F7D65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148B60B-2747-29B6-25DA-43DB14FB1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8193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FCCE545-B118-5EA2-2B68-715A5A4A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A52B176-597C-0D44-10D0-9A625C7C0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34B2557E-BC25-CCEB-0A58-8FF723781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7FAB4476-B4B6-0F4E-8DA7-0041CB6C4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071C4849-A540-35DA-F769-7CAF969CF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BEE8B189-CD2B-055B-ECC5-0B910965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F71B1F6-74E6-DDEA-803C-2877E8CAF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C918644-DBEB-D127-23E3-00B7B757F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957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17ADFD-A118-B2B8-295F-3D1C88832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AB250A2-1A9B-42B1-B7A5-2FD372345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090095F0-D06D-8B30-67E3-C46A075AF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014A100-C4B9-614F-C2C5-0D99BDF8A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364508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111C866-E03B-D1F7-188F-C4B154D1C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1EC399F7-BA68-A7AB-009D-9D99DBFD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4B9B403F-8749-75AB-4099-CB355BEE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53969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BA31AA-9CC7-6B8D-1B6C-58BE16C9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25D2348-3E75-933E-2B77-4E75350D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BF699D34-FD8D-2A22-51D6-A643ACFF2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D385F2A-D731-162D-1009-2963C236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30D2B0D-5BFE-A4B1-A9C9-1FEA2320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DAB68D1-48BE-26C0-1AFE-F3E6C9752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6856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4D55C05-8B1B-1379-1F6D-DE013B97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99E31F54-24F3-9760-5095-17828DC67F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296CE38-C5E6-F471-DD18-AB6ABAD18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14C1090A-DDE4-6C0D-3188-DD6B736DF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062F212-3880-FE9F-807D-D9E4175AA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01C9C407-97A7-3A68-65A9-9F9744F50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5893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EAC80FC-65B4-DD0D-90A6-2A54B2A2A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A44BF5BE-1B32-3166-4310-B654BD4D9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4F11842-B181-5E40-4C13-1F734E625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F98AF2A-59A5-130A-2DD8-FD7AD331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8CA7397-5735-2CFA-469A-9B537E35D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94363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AD4FC201-628A-3E5F-7D90-214EB19AC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D75BCDD-8E0F-710E-372F-FD2C733FF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0C1C16F-C484-A645-D796-807AD15E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8F1632D-2E6A-D060-5464-AEB833F4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AACA306-3B9D-C241-FE79-0621C150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9046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C08EA92-941C-5299-A97D-E16D9999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DF9E215-D7F0-C81C-9E61-BBEA7A136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8C821EE-E40B-8143-87C0-59A18A726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46AD1-326E-48CE-A7E7-63EDC09CB0A6}" type="datetimeFigureOut">
              <a:rPr lang="tr-TR" smtClean="0"/>
              <a:t>13.04.2026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C6F9E80-6731-32F6-4D5F-DE6F2CA8D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1A86671-A9B4-18A1-9581-FDF4D9AD9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2B2FEC-4464-47F4-9550-5814DC021D3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165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1CD6A5F9-0AE5-FD18-918D-5D8F119D3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07" b="373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21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2091ED32-6F88-A62E-8172-964D0486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tr-TR" sz="5000" b="1" dirty="0"/>
              <a:t>Ekranlı araç nedir?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50D18FE-0824-4A46-B22C-A86B52E578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F6AB48-27CB-9BC4-AE24-B0DC110D7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2"/>
            <a:ext cx="11077361" cy="4197097"/>
          </a:xfrm>
        </p:spPr>
        <p:txBody>
          <a:bodyPr anchor="t">
            <a:normAutofit fontScale="62500" lnSpcReduction="20000"/>
          </a:bodyPr>
          <a:lstStyle/>
          <a:p>
            <a:pPr marL="0" indent="0">
              <a:buNone/>
            </a:pPr>
            <a:r>
              <a:rPr lang="tr-TR" sz="2400" dirty="0"/>
              <a:t> </a:t>
            </a:r>
            <a:r>
              <a:rPr lang="tr-TR" sz="2900" dirty="0"/>
              <a:t>16/04/2013 tarihli ve 28620 sayılı Resmi </a:t>
            </a:r>
            <a:r>
              <a:rPr lang="tr-TR" sz="2900" dirty="0" err="1"/>
              <a:t>Gazete’de</a:t>
            </a:r>
            <a:r>
              <a:rPr lang="tr-TR" sz="2900" dirty="0"/>
              <a:t> yayınlanan “Ekranlı Araçlarla Çalışmalarda Sağlık ve Güvenlik Önlemleri Hakkında Yönetmelik” kapsamında </a:t>
            </a:r>
            <a:r>
              <a:rPr lang="tr-TR" sz="2900" u="sng" dirty="0"/>
              <a:t>Ekranlı Araç</a:t>
            </a:r>
            <a:r>
              <a:rPr lang="tr-TR" sz="2900" dirty="0"/>
              <a:t>, uygulanan işlemin içeriğine bakılmaksızın </a:t>
            </a:r>
            <a:r>
              <a:rPr lang="tr-TR" sz="2900" b="1" dirty="0"/>
              <a:t>ekranında harf, rakam, şekil, grafik ve resim </a:t>
            </a:r>
            <a:r>
              <a:rPr lang="tr-TR" sz="2900" dirty="0"/>
              <a:t>gösteren her türlü aracı ifade etmektedir.</a:t>
            </a:r>
          </a:p>
          <a:p>
            <a:pPr marL="0" indent="0">
              <a:buNone/>
            </a:pPr>
            <a:r>
              <a:rPr lang="tr-TR" sz="2900" dirty="0"/>
              <a:t>    Ekranlı araçlara;</a:t>
            </a:r>
          </a:p>
          <a:p>
            <a:pPr marL="0" indent="0">
              <a:buNone/>
            </a:pPr>
            <a:r>
              <a:rPr lang="tr-TR" sz="2900" dirty="0"/>
              <a:t>        - Ofiste kullanılan bilgisayarlar,</a:t>
            </a:r>
          </a:p>
          <a:p>
            <a:pPr marL="0" indent="0">
              <a:buNone/>
            </a:pPr>
            <a:r>
              <a:rPr lang="tr-TR" sz="2900" dirty="0"/>
              <a:t>        - CNC tezgahlarının monitörleri, </a:t>
            </a:r>
          </a:p>
          <a:p>
            <a:pPr marL="0" indent="0">
              <a:buNone/>
            </a:pPr>
            <a:r>
              <a:rPr lang="tr-TR" sz="2900" dirty="0"/>
              <a:t>        - Tanı amaçlı kullanılan görüntüleme cihazları,</a:t>
            </a:r>
          </a:p>
          <a:p>
            <a:pPr marL="0" indent="0">
              <a:buNone/>
            </a:pPr>
            <a:r>
              <a:rPr lang="tr-TR" sz="2900" dirty="0"/>
              <a:t>        - Operatör kabinli vinç ve ekskavatörler,</a:t>
            </a:r>
          </a:p>
          <a:p>
            <a:pPr marL="0" indent="0">
              <a:buNone/>
            </a:pPr>
            <a:r>
              <a:rPr lang="tr-TR" sz="2900" dirty="0"/>
              <a:t>        - Kontrol panelli üretim makineleri,</a:t>
            </a:r>
          </a:p>
          <a:p>
            <a:pPr marL="0" indent="0">
              <a:buNone/>
            </a:pPr>
            <a:r>
              <a:rPr lang="tr-TR" sz="2900" dirty="0"/>
              <a:t>        - SCADA sistemleri,</a:t>
            </a:r>
          </a:p>
          <a:p>
            <a:pPr marL="0" indent="0">
              <a:buNone/>
            </a:pPr>
            <a:r>
              <a:rPr lang="tr-TR" sz="2900" dirty="0"/>
              <a:t>        - Endüstriyel otomasyon sistemleri,</a:t>
            </a:r>
          </a:p>
          <a:p>
            <a:pPr marL="0" indent="0">
              <a:buNone/>
            </a:pPr>
            <a:r>
              <a:rPr lang="tr-TR" sz="2900" dirty="0"/>
              <a:t>   örnek olarak verilebilir.</a:t>
            </a:r>
          </a:p>
          <a:p>
            <a:pPr marL="0" indent="0">
              <a:buNone/>
            </a:pPr>
            <a:endParaRPr lang="tr-TR" sz="12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89242266-B82C-DDF1-164D-42AA448A03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4" t="7554" r="4583" b="6880"/>
          <a:stretch>
            <a:fillRect/>
          </a:stretch>
        </p:blipFill>
        <p:spPr>
          <a:xfrm>
            <a:off x="8355496" y="3354655"/>
            <a:ext cx="3836504" cy="3503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99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699437C6-D343-A4C3-073F-A842F91D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tr-TR" b="1">
                <a:solidFill>
                  <a:srgbClr val="FFFFFF"/>
                </a:solidFill>
              </a:rPr>
              <a:t>Ekranlı araç kapsamı dışındakiler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FCAD990-68BC-8A57-C2B6-64A2BD855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319088"/>
            <a:ext cx="7057858" cy="6219824"/>
          </a:xfrm>
        </p:spPr>
        <p:txBody>
          <a:bodyPr anchor="ctr">
            <a:normAutofit lnSpcReduction="1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1500" dirty="0"/>
              <a:t>     </a:t>
            </a:r>
            <a:r>
              <a:rPr lang="tr-TR" sz="2000" dirty="0"/>
              <a:t>Ancak bu yönetmelik hükümleri;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a)</a:t>
            </a:r>
            <a:r>
              <a:rPr lang="tr-TR" sz="2000" dirty="0"/>
              <a:t> Hareketli makine ve araçların kumanda kabinlerinde ve sürücü mahallinde,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b)</a:t>
            </a:r>
            <a:r>
              <a:rPr lang="tr-TR" sz="2000" dirty="0"/>
              <a:t> Taşıma araçlarında aracın kumandasındaki bilgisayar sistemlerinde,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c)</a:t>
            </a:r>
            <a:r>
              <a:rPr lang="tr-TR" sz="2000" dirty="0"/>
              <a:t> Toplumun kullanımına açık bilgisayar sistemlerinde,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ç)</a:t>
            </a:r>
            <a:r>
              <a:rPr lang="tr-TR" sz="2000" dirty="0"/>
              <a:t> İşyerinde kullanımı sürekli olmayan taşınabilir sistemlerde,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d)</a:t>
            </a:r>
            <a:r>
              <a:rPr lang="tr-TR" sz="2000" dirty="0"/>
              <a:t> Hesap makineleri, yazar kasa ve benzeri veri veya ölçüm sonuçlarını gösteren küçük ekranlı cihazlarda,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b="1" dirty="0"/>
              <a:t>e)</a:t>
            </a:r>
            <a:r>
              <a:rPr lang="tr-TR" sz="2000" dirty="0"/>
              <a:t> Ekranlı daktilolarda,</a:t>
            </a:r>
          </a:p>
          <a:p>
            <a:pPr marL="0" indent="0">
              <a:spcBef>
                <a:spcPts val="0"/>
              </a:spcBef>
              <a:buNone/>
            </a:pPr>
            <a:endParaRPr lang="tr-TR" sz="2000" dirty="0"/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tr-TR" sz="2000" dirty="0"/>
              <a:t>     uygulanmaz.</a:t>
            </a:r>
          </a:p>
        </p:txBody>
      </p:sp>
    </p:spTree>
    <p:extLst>
      <p:ext uri="{BB962C8B-B14F-4D97-AF65-F5344CB8AC3E}">
        <p14:creationId xmlns:p14="http://schemas.microsoft.com/office/powerpoint/2010/main" val="65235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58F1D08-F7A5-A717-565C-E74B89F50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tr-TR" b="1"/>
              <a:t>Ekranlı araç kullanıcısı kimlerdir?</a:t>
            </a:r>
            <a:endParaRPr lang="tr-TR" b="1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FE3BAB-0342-3132-B12D-33DEDC6F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461" y="2089564"/>
            <a:ext cx="7324621" cy="47684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sz="2000" dirty="0"/>
              <a:t>    </a:t>
            </a:r>
          </a:p>
          <a:p>
            <a:pPr marL="0" indent="0">
              <a:buNone/>
            </a:pPr>
            <a:r>
              <a:rPr lang="tr-TR" sz="2000" dirty="0"/>
              <a:t>    </a:t>
            </a:r>
            <a:r>
              <a:rPr lang="tr-TR" sz="2400" dirty="0"/>
              <a:t>Yönetmelikte, esas işi ekranlı araçlarla çalışmak olan ve normal çalışmasının önemli bir bölümünde ekranlı araç kullanan çalışan “</a:t>
            </a:r>
            <a:r>
              <a:rPr lang="tr-TR" sz="2400" b="1" dirty="0">
                <a:solidFill>
                  <a:srgbClr val="C00000"/>
                </a:solidFill>
              </a:rPr>
              <a:t>operatör</a:t>
            </a:r>
            <a:r>
              <a:rPr lang="tr-TR" sz="2400" dirty="0"/>
              <a:t>” olarak tanımlanmaktadır.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Rutin çalışma düzeninde aralıksız en az bir saat süresince ekranlı araç kullanımı olması,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Çalışma süresinin çoğunda ekranlı araç kullanımı olması,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Yüksek seviyelerde konsantrasyon ve dikkat gerektirmesi,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Yapılan işin mutlaka ekranlı araç kullanımı gerektirmesi,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400" dirty="0"/>
              <a:t>Kullanılacak ekranlı aracın, özel eğitim veya beceri gerektirmesi.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dirty="0"/>
              <a:t>    Operatörün/çalışanın oturduğu sandalye, ekranlı aracın konulduğu masa ya da yüzey, operatör/çalışan-makine ara yüz yazılımı, monitör, klavye, yazıcı, telefon, faks, modem ve benzeri aksesuar ve ekranlı araçla ilgili tüm donanımların tamamının veya bir kısmının bulunduğu yer ise “ </a:t>
            </a:r>
            <a:r>
              <a:rPr lang="tr-TR" sz="2400" b="1" dirty="0">
                <a:solidFill>
                  <a:srgbClr val="C00000"/>
                </a:solidFill>
              </a:rPr>
              <a:t>çalışma alanı</a:t>
            </a:r>
            <a:r>
              <a:rPr lang="tr-TR" sz="2400" dirty="0"/>
              <a:t> ”</a:t>
            </a:r>
            <a:r>
              <a:rPr lang="tr-TR" sz="2400" b="1" dirty="0">
                <a:solidFill>
                  <a:srgbClr val="C00000"/>
                </a:solidFill>
              </a:rPr>
              <a:t> </a:t>
            </a:r>
            <a:r>
              <a:rPr lang="tr-TR" sz="2400" dirty="0"/>
              <a:t>olarak ifade </a:t>
            </a:r>
            <a:r>
              <a:rPr lang="tr-TR" sz="2000" dirty="0"/>
              <a:t>edilir.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4C99475D-DDEA-1200-122C-707690769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1676" y="3036503"/>
            <a:ext cx="4809863" cy="2659759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4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C33E3-9E22-4F01-C75B-B87E409D1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ED82C7B-44B0-5DA3-04EE-8C5C869CADD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BDDB8A07-30DD-CDE9-9FAD-7819943E5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8737916" cy="1481328"/>
          </a:xfrm>
        </p:spPr>
        <p:txBody>
          <a:bodyPr anchor="b">
            <a:normAutofit/>
          </a:bodyPr>
          <a:lstStyle/>
          <a:p>
            <a:r>
              <a:rPr lang="tr-TR" b="1" dirty="0"/>
              <a:t>Ekranlı araç kullanıcısı (operatör)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2288405-F2E4-840B-FC9F-7E5DC03C899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=""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DD28215-F343-1597-0291-252448C69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2"/>
            <a:ext cx="11077361" cy="419709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400" dirty="0"/>
              <a:t> </a:t>
            </a:r>
            <a:endParaRPr lang="tr-TR" sz="1200" dirty="0"/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BBF8F2D-9F93-BC38-8D32-E6BB22DE0637}"/>
              </a:ext>
            </a:extLst>
          </p:cNvPr>
          <p:cNvSpPr txBox="1"/>
          <p:nvPr/>
        </p:nvSpPr>
        <p:spPr>
          <a:xfrm>
            <a:off x="643278" y="2761488"/>
            <a:ext cx="9430112" cy="3741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Hava Trafik Kontrolörü,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Grafik Tasarımcısı,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Sekreter Veri Giriş Operatörü,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Görüntü Montaj Çalışanı,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nn-NO" sz="2000" dirty="0"/>
              <a:t>Kapalı Devre Televizyon Kontrol Odası Çalışan</a:t>
            </a:r>
            <a:r>
              <a:rPr lang="tr-TR" sz="2000" dirty="0"/>
              <a:t>ı,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Havaalanı Yer Hostesi,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Borsa Çalışanı/ Broker,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tr-TR" sz="2000" dirty="0"/>
              <a:t>Çağrı Merkezi Çalışanı örnek olarak verilebilir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043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BFA6E22-C442-50FC-C12F-76091DED4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783" y="365125"/>
            <a:ext cx="11715913" cy="1325563"/>
          </a:xfrm>
        </p:spPr>
        <p:txBody>
          <a:bodyPr>
            <a:normAutofit/>
          </a:bodyPr>
          <a:lstStyle/>
          <a:p>
            <a:r>
              <a:rPr lang="tr-TR" sz="4000" b="1" dirty="0"/>
              <a:t>Ekranlı Araçlarla Çalışmalarda Aranacak Asgari Gerekler</a:t>
            </a:r>
          </a:p>
        </p:txBody>
      </p:sp>
      <p:graphicFrame>
        <p:nvGraphicFramePr>
          <p:cNvPr id="4" name="İçerik Yer Tutucusu 3">
            <a:extLst>
              <a:ext uri="{FF2B5EF4-FFF2-40B4-BE49-F238E27FC236}">
                <a16:creationId xmlns:a16="http://schemas.microsoft.com/office/drawing/2014/main" id="{A0995721-4DC6-5616-918A-2073BC6437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573366"/>
              </p:ext>
            </p:extLst>
          </p:nvPr>
        </p:nvGraphicFramePr>
        <p:xfrm>
          <a:off x="329783" y="1825625"/>
          <a:ext cx="11572407" cy="466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803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6876288" cy="4851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C00000"/>
                </a:solidFill>
              </a:rPr>
              <a:t>Monitör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Ekran, ayrı bir </a:t>
            </a:r>
            <a:r>
              <a:rPr lang="tr-TR" dirty="0" err="1" smtClean="0"/>
              <a:t>stand</a:t>
            </a:r>
            <a:r>
              <a:rPr lang="tr-TR" dirty="0" smtClean="0"/>
              <a:t> veya </a:t>
            </a:r>
            <a:r>
              <a:rPr lang="tr-TR" dirty="0"/>
              <a:t>ayarlanabilir bir masa üzerinde </a:t>
            </a:r>
            <a:r>
              <a:rPr lang="tr-TR" dirty="0" smtClean="0"/>
              <a:t>olmalıdır.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Ekran, operatörün/çalışanın ihtiyacına göre kolaylıkla her yöne döndürülebilmelidir</a:t>
            </a:r>
            <a:r>
              <a:rPr lang="tr-TR" dirty="0" smtClean="0"/>
              <a:t>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Ekran, operatörün/çalışanın çalışma pozisyonuna uygun mesafede ve </a:t>
            </a:r>
            <a:r>
              <a:rPr lang="tr-TR" b="1" dirty="0"/>
              <a:t>göz hizasında </a:t>
            </a:r>
            <a:r>
              <a:rPr lang="tr-TR" dirty="0"/>
              <a:t>olmalıdır</a:t>
            </a:r>
            <a:r>
              <a:rPr lang="tr-TR" dirty="0" smtClean="0"/>
              <a:t>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Gözler uzak mesafelere bakılarak veya kapatılarak vb. gibi hareketlerle ara sıra dinlendirilmelidir.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u="sng" dirty="0">
              <a:solidFill>
                <a:srgbClr val="C00000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/>
          <a:srcRect l="5279" t="6383" r="5934" b="6719"/>
          <a:stretch/>
        </p:blipFill>
        <p:spPr>
          <a:xfrm>
            <a:off x="7363968" y="2328672"/>
            <a:ext cx="4742688" cy="2365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6876288" cy="4851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C00000"/>
                </a:solidFill>
              </a:rPr>
              <a:t>Monitör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Ekranda </a:t>
            </a:r>
            <a:r>
              <a:rPr lang="tr-TR" dirty="0"/>
              <a:t>görünen karakterler, kolayca </a:t>
            </a:r>
            <a:r>
              <a:rPr lang="tr-TR" dirty="0" smtClean="0"/>
              <a:t>seçilebilir formda ve uygun </a:t>
            </a:r>
            <a:r>
              <a:rPr lang="tr-TR" dirty="0"/>
              <a:t>büyüklükte </a:t>
            </a:r>
            <a:r>
              <a:rPr lang="tr-TR" dirty="0" smtClean="0"/>
              <a:t>olmalıdır.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Ekran görüntüsü stabil olmalı, görüntü </a:t>
            </a:r>
            <a:r>
              <a:rPr lang="tr-TR" dirty="0" err="1" smtClean="0"/>
              <a:t>flu</a:t>
            </a:r>
            <a:r>
              <a:rPr lang="tr-TR" dirty="0" smtClean="0"/>
              <a:t> olmamalı ve titrememelidir.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Ekranda kullanıcıyı rahatsız edebilecek yansıma ve parlama olmamalıdır</a:t>
            </a:r>
            <a:r>
              <a:rPr lang="tr-TR" dirty="0" smtClean="0"/>
              <a:t>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dirty="0"/>
              <a:t>Karakterler ile arka plan </a:t>
            </a:r>
            <a:r>
              <a:rPr lang="tr-TR" dirty="0" smtClean="0"/>
              <a:t>arasında maksimum kontrast olmalıdır</a:t>
            </a:r>
            <a:r>
              <a:rPr lang="tr-TR" dirty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 </a:t>
            </a:r>
            <a:endParaRPr lang="tr-TR" u="sng" dirty="0" smtClean="0">
              <a:solidFill>
                <a:srgbClr val="C00000"/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972" y="1325563"/>
            <a:ext cx="4933188" cy="328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46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375136" cy="48514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chemeClr val="accent6">
                    <a:lumMod val="75000"/>
                  </a:schemeClr>
                </a:solidFill>
              </a:rPr>
              <a:t>Klavye </a:t>
            </a:r>
            <a:r>
              <a:rPr lang="tr-TR" u="sng" dirty="0" smtClean="0">
                <a:solidFill>
                  <a:srgbClr val="C00000"/>
                </a:solidFill>
              </a:rPr>
              <a:t>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/>
              <a:t>Klavye, operatörün el ve kollarının yorulmaması ve </a:t>
            </a:r>
            <a:r>
              <a:rPr lang="tr-TR" dirty="0" smtClean="0"/>
              <a:t>rahatça çalışabilmesi </a:t>
            </a:r>
            <a:r>
              <a:rPr lang="tr-TR" dirty="0"/>
              <a:t>için ekrandan ayrı ve hareketli olmalıdır.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Operatörün </a:t>
            </a:r>
            <a:r>
              <a:rPr lang="tr-TR" dirty="0"/>
              <a:t>elleri ve kolları için klavyenin önünde yeterli </a:t>
            </a:r>
            <a:r>
              <a:rPr lang="tr-TR" dirty="0" smtClean="0"/>
              <a:t>boşluk olmalıdır</a:t>
            </a:r>
            <a:r>
              <a:rPr lang="tr-TR" dirty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Klavyenin </a:t>
            </a:r>
            <a:r>
              <a:rPr lang="tr-TR" dirty="0"/>
              <a:t>rengi mat olmalı ve ışığı yansıtmamalıdır. Kullanım </a:t>
            </a:r>
            <a:r>
              <a:rPr lang="tr-TR" dirty="0" smtClean="0"/>
              <a:t>kolaylığı için </a:t>
            </a:r>
            <a:r>
              <a:rPr lang="tr-TR" dirty="0"/>
              <a:t>aydınlatmalı klavye kullanılabilir.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Klavye </a:t>
            </a:r>
            <a:r>
              <a:rPr lang="tr-TR" dirty="0"/>
              <a:t>karakterlerinin yerleri kullanımı kolaylaştıracak </a:t>
            </a:r>
            <a:r>
              <a:rPr lang="tr-TR" dirty="0" smtClean="0"/>
              <a:t>şekilde düzenlenmiş olmalıdır(Örnek</a:t>
            </a:r>
            <a:r>
              <a:rPr lang="tr-TR" dirty="0"/>
              <a:t>: F Klavye</a:t>
            </a:r>
            <a:r>
              <a:rPr lang="tr-TR" dirty="0" smtClean="0"/>
              <a:t>).</a:t>
            </a:r>
            <a:endParaRPr lang="tr-TR" dirty="0"/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Tuşlar </a:t>
            </a:r>
            <a:r>
              <a:rPr lang="tr-TR" dirty="0"/>
              <a:t>üzerindeki semboller kolaylıkla seçilebilecek, düzgün </a:t>
            </a:r>
            <a:r>
              <a:rPr lang="tr-TR" dirty="0" smtClean="0"/>
              <a:t>ve okunaklı </a:t>
            </a:r>
            <a:r>
              <a:rPr lang="tr-TR" dirty="0"/>
              <a:t>olacaktır</a:t>
            </a:r>
            <a:r>
              <a:rPr lang="tr-TR" dirty="0" smtClean="0"/>
              <a:t>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/>
              <a:t>Klavyenin ön tarafına, operatörün bileklerini dayayabileceği özel destek kullanılmalıdır. </a:t>
            </a:r>
            <a:endParaRPr lang="tr-TR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u="sng" dirty="0">
              <a:solidFill>
                <a:srgbClr val="C00000"/>
              </a:solidFill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2"/>
          <a:srcRect t="26146" b="19396"/>
          <a:stretch/>
        </p:blipFill>
        <p:spPr>
          <a:xfrm>
            <a:off x="9857422" y="4998721"/>
            <a:ext cx="1743075" cy="142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428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2"/>
            <a:ext cx="6400800" cy="511181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chemeClr val="accent6">
                    <a:lumMod val="75000"/>
                  </a:schemeClr>
                </a:solidFill>
              </a:rPr>
              <a:t>Mouse (fare) </a:t>
            </a:r>
            <a:r>
              <a:rPr lang="tr-TR" u="sng" dirty="0" smtClean="0">
                <a:solidFill>
                  <a:srgbClr val="C00000"/>
                </a:solidFill>
              </a:rPr>
              <a:t> 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/>
              <a:t>Kolun aşırı kullanılmasını önlemek için fare kullanıcının </a:t>
            </a:r>
            <a:r>
              <a:rPr lang="tr-TR" dirty="0" smtClean="0"/>
              <a:t>vücuduna </a:t>
            </a:r>
            <a:r>
              <a:rPr lang="tr-TR" dirty="0"/>
              <a:t>yakın yerleştirilmelidir.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Farenin </a:t>
            </a:r>
            <a:r>
              <a:rPr lang="tr-TR" dirty="0"/>
              <a:t>rahat hareket edebilmesi için farenin çevresinde yeterli </a:t>
            </a:r>
            <a:r>
              <a:rPr lang="tr-TR" dirty="0" smtClean="0"/>
              <a:t>alan </a:t>
            </a:r>
            <a:r>
              <a:rPr lang="tr-TR" dirty="0"/>
              <a:t>olmalıdır.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Fare </a:t>
            </a:r>
            <a:r>
              <a:rPr lang="tr-TR" dirty="0"/>
              <a:t>klavyenin yanında olmalıdır.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Bilek </a:t>
            </a:r>
            <a:r>
              <a:rPr lang="tr-TR" dirty="0"/>
              <a:t>düz bir çizgide tutulmalıdır.</a:t>
            </a:r>
          </a:p>
          <a:p>
            <a:pPr>
              <a:buClr>
                <a:schemeClr val="accent6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Zamanının </a:t>
            </a:r>
            <a:r>
              <a:rPr lang="tr-TR" dirty="0"/>
              <a:t>büyük çoğunluğunda fare kullanan çalışan için bilek </a:t>
            </a:r>
            <a:r>
              <a:rPr lang="tr-TR" dirty="0" smtClean="0"/>
              <a:t>desteği </a:t>
            </a:r>
            <a:r>
              <a:rPr lang="tr-TR" dirty="0"/>
              <a:t>olan bir fare </a:t>
            </a:r>
            <a:r>
              <a:rPr lang="tr-TR" dirty="0" smtClean="0"/>
              <a:t>altlığı konforu artırabilir. </a:t>
            </a:r>
            <a:endParaRPr lang="tr-TR" u="sng" dirty="0">
              <a:solidFill>
                <a:srgbClr val="C00000"/>
              </a:solidFill>
            </a:endParaRP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719" y="1910020"/>
            <a:ext cx="4758390" cy="22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484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2"/>
            <a:ext cx="7046976" cy="553243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7030A0"/>
                </a:solidFill>
              </a:rPr>
              <a:t>Çalışma masası ve Sandalyesi </a:t>
            </a:r>
          </a:p>
          <a:p>
            <a:pPr marL="0" indent="0">
              <a:buNone/>
            </a:pPr>
            <a:r>
              <a:rPr lang="tr-TR" u="sng" dirty="0" smtClean="0">
                <a:solidFill>
                  <a:srgbClr val="7030A0"/>
                </a:solidFill>
              </a:rPr>
              <a:t> 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/>
              <a:t>Çalışma </a:t>
            </a:r>
            <a:r>
              <a:rPr lang="tr-TR" sz="2400" dirty="0" smtClean="0"/>
              <a:t>masası</a:t>
            </a:r>
            <a:r>
              <a:rPr lang="tr-TR" sz="2400" dirty="0"/>
              <a:t>, yapılan işte kullanılan araç, makine ve cihazların yerleştirilmesine uygun olmalıdır. </a:t>
            </a:r>
            <a:endParaRPr lang="tr-TR" sz="2400" dirty="0" smtClean="0"/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 smtClean="0"/>
              <a:t>Masanın </a:t>
            </a:r>
            <a:r>
              <a:rPr lang="tr-TR" sz="2400" dirty="0"/>
              <a:t>yüzeyi ışığı yansıtmayacak nitelikte olmalıdır</a:t>
            </a:r>
            <a:r>
              <a:rPr lang="tr-TR" sz="2400" dirty="0" smtClean="0"/>
              <a:t>. 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 smtClean="0"/>
              <a:t>Çalışma sandalyesi</a:t>
            </a:r>
            <a:r>
              <a:rPr lang="tr-TR" sz="2400" dirty="0"/>
              <a:t>, masaya ve çalışana uygun ve ergonomik olmalıdır</a:t>
            </a:r>
            <a:r>
              <a:rPr lang="tr-TR" sz="2400" dirty="0" smtClean="0"/>
              <a:t>.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/>
              <a:t>Oturma yerinin yüksekliği ayarlanabilir </a:t>
            </a:r>
            <a:r>
              <a:rPr lang="tr-TR" sz="2400" dirty="0" smtClean="0"/>
              <a:t>olmalıdır.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 smtClean="0"/>
              <a:t>İstendiğinde </a:t>
            </a:r>
            <a:r>
              <a:rPr lang="tr-TR" sz="2400" dirty="0"/>
              <a:t>operatöre uygun bir ayak dayanağı sağlanmalıdır</a:t>
            </a:r>
            <a:r>
              <a:rPr lang="tr-TR" sz="2400" dirty="0" smtClean="0"/>
              <a:t>.</a:t>
            </a:r>
          </a:p>
          <a:p>
            <a:pPr>
              <a:buClr>
                <a:srgbClr val="7030A0"/>
              </a:buClr>
              <a:buFont typeface="Wingdings" panose="05000000000000000000" pitchFamily="2" charset="2"/>
              <a:buChar char="Ø"/>
            </a:pPr>
            <a:r>
              <a:rPr lang="tr-TR" sz="2400" dirty="0"/>
              <a:t>Sırt dayama yeri öne-arkaya ve yukarı-aşağı ayarlanabilir, sırt </a:t>
            </a:r>
            <a:r>
              <a:rPr lang="tr-TR" sz="2400" dirty="0" smtClean="0"/>
              <a:t>desteği </a:t>
            </a:r>
            <a:r>
              <a:rPr lang="tr-TR" sz="2400" dirty="0"/>
              <a:t>bele uygun ve esnek </a:t>
            </a:r>
            <a:r>
              <a:rPr lang="tr-TR" sz="2400" dirty="0" smtClean="0"/>
              <a:t>olmalıdır.</a:t>
            </a:r>
            <a:endParaRPr lang="tr-TR" sz="24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054" y="1325563"/>
            <a:ext cx="4521833" cy="369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2508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Ekipman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021568" cy="485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7030A0"/>
                </a:solidFill>
              </a:rPr>
              <a:t>İdeal oturuş ve duruş pozisyonları</a:t>
            </a:r>
          </a:p>
          <a:p>
            <a:pPr marL="0" indent="0">
              <a:buNone/>
            </a:pPr>
            <a:r>
              <a:rPr lang="tr-TR" u="sng" dirty="0" smtClean="0">
                <a:solidFill>
                  <a:srgbClr val="7030A0"/>
                </a:solidFill>
              </a:rPr>
              <a:t> </a:t>
            </a:r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528" y="1987834"/>
            <a:ext cx="7242048" cy="450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86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29184" y="365125"/>
            <a:ext cx="11594592" cy="1325563"/>
          </a:xfrm>
        </p:spPr>
        <p:txBody>
          <a:bodyPr>
            <a:normAutofit/>
          </a:bodyPr>
          <a:lstStyle/>
          <a:p>
            <a:r>
              <a:rPr lang="tr-TR" sz="4000" b="1" dirty="0"/>
              <a:t>Zorlayıcı Travmalara Karşı Önlem Olarak Yapılması Gerekenler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/>
              <a:t>Maksimum ergonomi </a:t>
            </a:r>
            <a:r>
              <a:rPr lang="tr-TR" dirty="0"/>
              <a:t>için çalışma masasında optimum(en iyi) yerleştirme yapılmalı, </a:t>
            </a:r>
            <a:r>
              <a:rPr lang="tr-TR" dirty="0" smtClean="0"/>
              <a:t> </a:t>
            </a:r>
          </a:p>
          <a:p>
            <a:r>
              <a:rPr lang="tr-TR" b="1" dirty="0" smtClean="0"/>
              <a:t>Doğru </a:t>
            </a:r>
            <a:r>
              <a:rPr lang="tr-TR" b="1" dirty="0"/>
              <a:t>oturuş ve duruş </a:t>
            </a:r>
            <a:r>
              <a:rPr lang="tr-TR" dirty="0"/>
              <a:t>şekillerine riayet edilmeli, </a:t>
            </a:r>
            <a:endParaRPr lang="tr-TR" dirty="0" smtClean="0"/>
          </a:p>
          <a:p>
            <a:r>
              <a:rPr lang="tr-TR" b="1" dirty="0" smtClean="0"/>
              <a:t>Sık </a:t>
            </a:r>
            <a:r>
              <a:rPr lang="tr-TR" b="1" dirty="0"/>
              <a:t>sık mola </a:t>
            </a:r>
            <a:r>
              <a:rPr lang="tr-TR" dirty="0"/>
              <a:t>verilmeli, </a:t>
            </a:r>
            <a:endParaRPr lang="tr-TR" dirty="0" smtClean="0"/>
          </a:p>
          <a:p>
            <a:r>
              <a:rPr lang="tr-TR" dirty="0" smtClean="0"/>
              <a:t>Mola </a:t>
            </a:r>
            <a:r>
              <a:rPr lang="tr-TR" dirty="0"/>
              <a:t>verdiğimizde ya da </a:t>
            </a:r>
            <a:r>
              <a:rPr lang="tr-TR" dirty="0" smtClean="0"/>
              <a:t>mola verilemediği durumlarda </a:t>
            </a:r>
            <a:r>
              <a:rPr lang="tr-TR" dirty="0"/>
              <a:t>baş, bel, kol, el, ayak, bacak ve gözler hareket ettirilerek </a:t>
            </a:r>
            <a:r>
              <a:rPr lang="tr-TR" b="1" dirty="0"/>
              <a:t>egzersizler</a:t>
            </a:r>
            <a:r>
              <a:rPr lang="tr-TR" dirty="0"/>
              <a:t> yapılmalıdır. </a:t>
            </a:r>
          </a:p>
        </p:txBody>
      </p:sp>
    </p:spTree>
    <p:extLst>
      <p:ext uri="{BB962C8B-B14F-4D97-AF65-F5344CB8AC3E}">
        <p14:creationId xmlns:p14="http://schemas.microsoft.com/office/powerpoint/2010/main" val="376301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75488" y="365125"/>
            <a:ext cx="10878312" cy="1325563"/>
          </a:xfrm>
        </p:spPr>
        <p:txBody>
          <a:bodyPr>
            <a:normAutofit/>
          </a:bodyPr>
          <a:lstStyle/>
          <a:p>
            <a:r>
              <a:rPr lang="tr-TR" sz="4000" b="1" dirty="0"/>
              <a:t>Ekranlı araçlarla çalışanlar için ofis egzersizleri</a:t>
            </a:r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2096" y="1766639"/>
            <a:ext cx="7867670" cy="462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52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Çalışma Ortamı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241024" cy="485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7030A0"/>
                </a:solidFill>
              </a:rPr>
              <a:t> 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043197"/>
            <a:ext cx="7827264" cy="5581278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487680" y="2679674"/>
            <a:ext cx="3072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/>
              <a:t>Gerekli Alan </a:t>
            </a:r>
            <a:r>
              <a:rPr lang="tr-TR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Aydınlatma, yansıma </a:t>
            </a:r>
            <a:r>
              <a:rPr lang="tr-TR" dirty="0"/>
              <a:t>ve p</a:t>
            </a:r>
            <a:r>
              <a:rPr lang="tr-TR" dirty="0" smtClean="0"/>
              <a:t>arlama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Gürültü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Ortam </a:t>
            </a:r>
            <a:r>
              <a:rPr lang="tr-TR" dirty="0"/>
              <a:t>Isısı </a:t>
            </a:r>
            <a:r>
              <a:rPr lang="tr-TR" dirty="0" smtClean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Nem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Radyasyon</a:t>
            </a:r>
            <a:endParaRPr lang="tr-TR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87057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Çalışma Ortamı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6024880" cy="48514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chemeClr val="accent2">
                    <a:lumMod val="75000"/>
                  </a:schemeClr>
                </a:solidFill>
              </a:rPr>
              <a:t>Gerekli </a:t>
            </a:r>
            <a:r>
              <a:rPr lang="tr-TR" u="sng" dirty="0">
                <a:solidFill>
                  <a:schemeClr val="accent2">
                    <a:lumMod val="75000"/>
                  </a:schemeClr>
                </a:solidFill>
              </a:rPr>
              <a:t>Alan  Aydınlatma </a:t>
            </a:r>
            <a:endParaRPr lang="tr-TR" u="sng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tr-TR" u="sng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dirty="0"/>
              <a:t>Operatörün/çalışanın oturma </a:t>
            </a:r>
            <a:r>
              <a:rPr lang="tr-TR" dirty="0" smtClean="0"/>
              <a:t>şeklini değiştirebilmesi </a:t>
            </a:r>
            <a:r>
              <a:rPr lang="tr-TR" dirty="0"/>
              <a:t>ve rahatça </a:t>
            </a:r>
            <a:r>
              <a:rPr lang="tr-TR" dirty="0" smtClean="0"/>
              <a:t>hareket </a:t>
            </a:r>
            <a:r>
              <a:rPr lang="tr-TR" dirty="0"/>
              <a:t>edebilmesi için çalışma merkezi yeterli genişlikte olmalı </a:t>
            </a:r>
            <a:r>
              <a:rPr lang="tr-TR" dirty="0" smtClean="0"/>
              <a:t>ve </a:t>
            </a:r>
            <a:r>
              <a:rPr lang="tr-TR" dirty="0"/>
              <a:t>uygun şekilde düzenlenmelidir.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dirty="0"/>
              <a:t>Uygun aydınlatma şartları sağlanmalı ve arka planla ekran </a:t>
            </a:r>
            <a:r>
              <a:rPr lang="tr-TR" dirty="0" smtClean="0"/>
              <a:t>arasında </a:t>
            </a:r>
            <a:r>
              <a:rPr lang="tr-TR" dirty="0"/>
              <a:t>uygun kontrast bulunmalıdır.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Yapay </a:t>
            </a:r>
            <a:r>
              <a:rPr lang="tr-TR" dirty="0"/>
              <a:t>aydınlatma kaynaklarının yeri ile teknik özellikleri </a:t>
            </a:r>
            <a:r>
              <a:rPr lang="tr-TR" dirty="0" smtClean="0"/>
              <a:t>ekrandaki </a:t>
            </a:r>
            <a:r>
              <a:rPr lang="tr-TR" dirty="0"/>
              <a:t>ve diğer ekipman üzerindeki parlama ve yansımaları </a:t>
            </a:r>
            <a:r>
              <a:rPr lang="tr-TR" dirty="0" smtClean="0"/>
              <a:t>önleyecek </a:t>
            </a:r>
            <a:r>
              <a:rPr lang="tr-TR" dirty="0"/>
              <a:t>şekilde olmalıdır.</a:t>
            </a:r>
          </a:p>
          <a:p>
            <a:pPr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Ekrana </a:t>
            </a:r>
            <a:r>
              <a:rPr lang="tr-TR" dirty="0"/>
              <a:t>gelen gün ışığının kontrol edilebilmesi için yatay ve dikey </a:t>
            </a:r>
            <a:r>
              <a:rPr lang="tr-TR" dirty="0" smtClean="0"/>
              <a:t>ayarlanabilir </a:t>
            </a:r>
            <a:r>
              <a:rPr lang="tr-TR" dirty="0"/>
              <a:t>perdeler kullanılmalıdır.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872" y="1325563"/>
            <a:ext cx="4397634" cy="397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4686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Çalışma Ortamı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241024" cy="485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chemeClr val="accent1"/>
                </a:solidFill>
              </a:rPr>
              <a:t>Gürültü, ısı ve nem </a:t>
            </a:r>
          </a:p>
          <a:p>
            <a:pPr marL="0" indent="0">
              <a:buNone/>
            </a:pPr>
            <a:endParaRPr lang="tr-TR" u="sng" dirty="0"/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tr-TR" sz="2400" dirty="0"/>
              <a:t>Çalışma merkezlerinde kullanılan ekipmanın gürültüsü </a:t>
            </a:r>
            <a:r>
              <a:rPr lang="tr-TR" sz="2400" dirty="0" smtClean="0"/>
              <a:t>çalışanların </a:t>
            </a:r>
            <a:r>
              <a:rPr lang="tr-TR" sz="2400" dirty="0"/>
              <a:t>dikkatini dağıtmayacak ve karşılıklı konuşmayı </a:t>
            </a:r>
            <a:r>
              <a:rPr lang="tr-TR" sz="2400" dirty="0" smtClean="0"/>
              <a:t>engellemeyecek </a:t>
            </a:r>
            <a:r>
              <a:rPr lang="tr-TR" sz="2400" dirty="0"/>
              <a:t>düzeyde olmalıdır.</a:t>
            </a:r>
          </a:p>
          <a:p>
            <a:pPr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tr-TR" sz="2400" dirty="0" smtClean="0"/>
              <a:t>Çalışma </a:t>
            </a:r>
            <a:r>
              <a:rPr lang="tr-TR" sz="2400" dirty="0"/>
              <a:t>ortamında ısı ve nem, uygun düzeyde tutulmalı, çalışanı </a:t>
            </a:r>
            <a:r>
              <a:rPr lang="tr-TR" sz="2400" dirty="0" smtClean="0"/>
              <a:t>rahatsız </a:t>
            </a:r>
            <a:r>
              <a:rPr lang="tr-TR" sz="2400" dirty="0"/>
              <a:t>etmemeli ve bu düzey korunmalıdır.</a:t>
            </a:r>
          </a:p>
          <a:p>
            <a:pPr marL="0" indent="0">
              <a:buClr>
                <a:schemeClr val="accent1"/>
              </a:buClr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2849865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Çalışma Ortamı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241024" cy="4851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u="sng" dirty="0" smtClean="0">
                <a:solidFill>
                  <a:srgbClr val="C00000"/>
                </a:solidFill>
              </a:rPr>
              <a:t>Radyasyon</a:t>
            </a:r>
            <a:r>
              <a:rPr lang="tr-TR" u="sng" dirty="0" smtClean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tr-TR" sz="2000" dirty="0" smtClean="0"/>
              <a:t>  Radyasyon </a:t>
            </a:r>
            <a:r>
              <a:rPr lang="tr-TR" sz="2000" dirty="0"/>
              <a:t>ekranlı araçlarla çalışanlar için bir risk faktörüdür. Özellikle 8-10 saat ekranlı </a:t>
            </a:r>
            <a:r>
              <a:rPr lang="tr-TR" sz="2000" dirty="0" smtClean="0"/>
              <a:t>araçlarla çalışmak </a:t>
            </a:r>
            <a:r>
              <a:rPr lang="tr-TR" sz="2000" dirty="0"/>
              <a:t>durumunda kalan kişiler daha fazla risk altındadırlar. </a:t>
            </a:r>
            <a:endParaRPr lang="tr-TR" sz="2000" dirty="0" smtClean="0"/>
          </a:p>
          <a:p>
            <a:pPr marL="0" indent="0">
              <a:buNone/>
            </a:pPr>
            <a:r>
              <a:rPr lang="tr-TR" sz="2000" dirty="0" smtClean="0"/>
              <a:t>  Radyasyona </a:t>
            </a:r>
            <a:r>
              <a:rPr lang="tr-TR" sz="2000" dirty="0"/>
              <a:t>maruz kalan çalışanlarda vücut denge bozuklukları gelişir ve buna bağlı </a:t>
            </a:r>
            <a:r>
              <a:rPr lang="tr-TR" sz="2000" dirty="0" smtClean="0"/>
              <a:t>olarak </a:t>
            </a:r>
            <a:r>
              <a:rPr lang="tr-TR" sz="2000" dirty="0"/>
              <a:t>bir takım rahatsızlıklar görülebilir. </a:t>
            </a:r>
            <a:endParaRPr lang="tr-TR" sz="2000" dirty="0" smtClean="0"/>
          </a:p>
          <a:p>
            <a:pPr marL="0" indent="0">
              <a:buNone/>
            </a:pPr>
            <a:r>
              <a:rPr lang="tr-TR" sz="2000" dirty="0" smtClean="0"/>
              <a:t>hassas </a:t>
            </a:r>
            <a:r>
              <a:rPr lang="tr-TR" sz="2000" dirty="0"/>
              <a:t>kişilerde boğazda kuruluk hissi,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Gözde </a:t>
            </a:r>
            <a:r>
              <a:rPr lang="tr-TR" sz="2000" dirty="0"/>
              <a:t>problemler,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Baş ağrısı</a:t>
            </a:r>
            <a:r>
              <a:rPr lang="tr-TR" sz="2000" dirty="0"/>
              <a:t>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Alerji</a:t>
            </a:r>
            <a:r>
              <a:rPr lang="tr-TR" sz="2000" dirty="0"/>
              <a:t>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Yüzde </a:t>
            </a:r>
            <a:r>
              <a:rPr lang="tr-TR" sz="2000" dirty="0"/>
              <a:t>kızarıklık,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Uykusuzluk</a:t>
            </a:r>
            <a:r>
              <a:rPr lang="tr-TR" sz="2000" dirty="0"/>
              <a:t>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Seslere </a:t>
            </a:r>
            <a:r>
              <a:rPr lang="tr-TR" sz="2000" dirty="0"/>
              <a:t>karşı hassasiyet,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İşitme zorluğu </a:t>
            </a:r>
            <a:r>
              <a:rPr lang="tr-TR" sz="2000" dirty="0"/>
              <a:t>ve yorgunluk gibi rahatsızlıklara sebebiyet vermektedir.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u="sng" dirty="0"/>
          </a:p>
          <a:p>
            <a:pPr marL="0" indent="0">
              <a:buClr>
                <a:schemeClr val="accent1"/>
              </a:buClr>
              <a:buNone/>
            </a:pP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232" y="3370707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729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Çalışma Ortamı</a:t>
            </a:r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241024" cy="4851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600" u="sng" dirty="0" smtClean="0">
                <a:solidFill>
                  <a:srgbClr val="C00000"/>
                </a:solidFill>
              </a:rPr>
              <a:t>Radyasyon</a:t>
            </a:r>
            <a:r>
              <a:rPr lang="tr-TR" sz="2600" u="sng" dirty="0" smtClean="0">
                <a:solidFill>
                  <a:schemeClr val="accent1"/>
                </a:solidFill>
              </a:rPr>
              <a:t> </a:t>
            </a:r>
          </a:p>
          <a:p>
            <a:pPr marL="0" indent="0">
              <a:buNone/>
            </a:pPr>
            <a:r>
              <a:rPr lang="tr-TR" sz="2000" dirty="0"/>
              <a:t>  En önemli radyasyon kaynaklarından birisi </a:t>
            </a:r>
            <a:r>
              <a:rPr lang="tr-TR" sz="2000" dirty="0" smtClean="0"/>
              <a:t>de </a:t>
            </a:r>
            <a:r>
              <a:rPr lang="tr-TR" sz="2000" dirty="0"/>
              <a:t>bilgisayar </a:t>
            </a:r>
            <a:r>
              <a:rPr lang="tr-TR" sz="2000" dirty="0" smtClean="0"/>
              <a:t>monitörleridir.</a:t>
            </a:r>
          </a:p>
          <a:p>
            <a:pPr marL="0" indent="0">
              <a:buNone/>
            </a:pPr>
            <a:r>
              <a:rPr lang="tr-TR" sz="2000" dirty="0" smtClean="0"/>
              <a:t> </a:t>
            </a:r>
            <a:endParaRPr lang="tr-TR" sz="2000" dirty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Monitörün </a:t>
            </a:r>
            <a:r>
              <a:rPr lang="tr-TR" sz="2000" dirty="0"/>
              <a:t>karşısında duran kişiye radyasyonu en az </a:t>
            </a:r>
            <a:r>
              <a:rPr lang="tr-TR" sz="2000" dirty="0" smtClean="0"/>
              <a:t>düzeyde </a:t>
            </a:r>
            <a:r>
              <a:rPr lang="tr-TR" sz="2000" dirty="0"/>
              <a:t>verecek şekilde dizayn edilmektedir. Bu </a:t>
            </a:r>
            <a:r>
              <a:rPr lang="tr-TR" sz="2000" dirty="0" smtClean="0"/>
              <a:t>nedenle; </a:t>
            </a:r>
            <a:endParaRPr lang="tr-TR" sz="2000" dirty="0" smtClean="0"/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Monitörlerin </a:t>
            </a:r>
            <a:r>
              <a:rPr lang="tr-TR" sz="2000" dirty="0"/>
              <a:t>arka </a:t>
            </a:r>
            <a:r>
              <a:rPr lang="tr-TR" sz="2000" dirty="0" smtClean="0"/>
              <a:t>kısımlarındaki </a:t>
            </a:r>
            <a:r>
              <a:rPr lang="tr-TR" sz="2000" dirty="0"/>
              <a:t>radyasyon oranı ön kısımlarındakinden çok daha </a:t>
            </a:r>
            <a:r>
              <a:rPr lang="tr-TR" sz="2000" dirty="0" smtClean="0"/>
              <a:t>fazla olduğu için, çalışma </a:t>
            </a:r>
            <a:r>
              <a:rPr lang="tr-TR" sz="2000" dirty="0"/>
              <a:t>ortamındaki monitörler sırt sırta gelecek şekilde değil, yan yana ya </a:t>
            </a:r>
            <a:r>
              <a:rPr lang="tr-TR" sz="2000" dirty="0" smtClean="0"/>
              <a:t>da </a:t>
            </a:r>
            <a:r>
              <a:rPr lang="tr-TR" sz="2000" dirty="0"/>
              <a:t>birbirine bakacak şekilde </a:t>
            </a:r>
            <a:r>
              <a:rPr lang="tr-TR" sz="2000" dirty="0" smtClean="0"/>
              <a:t>yerleştirilmelidir.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Ekranlı araçlarla </a:t>
            </a:r>
            <a:r>
              <a:rPr lang="tr-TR" sz="2000" dirty="0" smtClean="0"/>
              <a:t>çalışanlarda, </a:t>
            </a:r>
            <a:r>
              <a:rPr lang="tr-TR" sz="2000" dirty="0"/>
              <a:t>ekranla kişi arasında mesafenin en az 42 cm olması </a:t>
            </a:r>
            <a:r>
              <a:rPr lang="tr-TR" sz="2000" dirty="0" smtClean="0"/>
              <a:t>tavsiye edilmektedir.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 smtClean="0"/>
              <a:t>LCD </a:t>
            </a:r>
            <a:r>
              <a:rPr lang="tr-TR" sz="2000" dirty="0"/>
              <a:t>monitörler </a:t>
            </a:r>
            <a:r>
              <a:rPr lang="tr-TR" sz="2000" dirty="0" smtClean="0"/>
              <a:t>tercih edilmelidir.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tr-TR" sz="2000" dirty="0"/>
              <a:t>S</a:t>
            </a:r>
            <a:r>
              <a:rPr lang="tr-TR" sz="2000" dirty="0" smtClean="0"/>
              <a:t>tatik </a:t>
            </a:r>
            <a:r>
              <a:rPr lang="tr-TR" sz="2000" dirty="0"/>
              <a:t>elektriği, göz yorulmalarını ve radyasyon yayılmalarını %99 </a:t>
            </a:r>
            <a:r>
              <a:rPr lang="tr-TR" sz="2000" dirty="0" smtClean="0"/>
              <a:t>azaltmak </a:t>
            </a:r>
            <a:r>
              <a:rPr lang="tr-TR" sz="2000" dirty="0"/>
              <a:t>için cam </a:t>
            </a:r>
            <a:r>
              <a:rPr lang="tr-TR" sz="2000" dirty="0" smtClean="0"/>
              <a:t>filtre </a:t>
            </a:r>
            <a:r>
              <a:rPr lang="tr-TR" sz="2000" dirty="0" smtClean="0"/>
              <a:t>kullanımı da önerilmektedir.  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Ø"/>
            </a:pPr>
            <a:endParaRPr lang="tr-TR" u="sng" dirty="0"/>
          </a:p>
          <a:p>
            <a:pPr marL="0" indent="0">
              <a:buClr>
                <a:schemeClr val="accent1"/>
              </a:buClr>
              <a:buNone/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3163480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1D17DE3-1780-477E-D017-582501C36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704" y="0"/>
            <a:ext cx="10515600" cy="1325563"/>
          </a:xfrm>
        </p:spPr>
        <p:txBody>
          <a:bodyPr/>
          <a:lstStyle/>
          <a:p>
            <a:r>
              <a:rPr lang="tr-TR" b="1" dirty="0" smtClean="0"/>
              <a:t>Bilgisayar Programları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766974-0421-8D21-516A-7DB2C8A9B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325563"/>
            <a:ext cx="11241024" cy="4851400"/>
          </a:xfrm>
        </p:spPr>
        <p:txBody>
          <a:bodyPr>
            <a:normAutofit fontScale="70000" lnSpcReduction="20000"/>
          </a:bodyPr>
          <a:lstStyle/>
          <a:p>
            <a:pPr marL="0" indent="0">
              <a:buClr>
                <a:schemeClr val="accent2"/>
              </a:buClr>
              <a:buNone/>
            </a:pPr>
            <a:endParaRPr lang="tr-TR" u="sng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Programlar </a:t>
            </a:r>
            <a:r>
              <a:rPr lang="tr-TR" dirty="0"/>
              <a:t>işe uygun olmalıdır</a:t>
            </a:r>
            <a:r>
              <a:rPr lang="tr-TR" dirty="0" smtClean="0"/>
              <a:t>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Programların </a:t>
            </a:r>
            <a:r>
              <a:rPr lang="tr-TR" dirty="0"/>
              <a:t>kolay kullanılabilir ve eğer uygunsa operatörün </a:t>
            </a:r>
            <a:r>
              <a:rPr lang="tr-TR" dirty="0" smtClean="0"/>
              <a:t> bilgi </a:t>
            </a:r>
            <a:r>
              <a:rPr lang="tr-TR" dirty="0"/>
              <a:t>düzeyine ve deneyimine göre ayarlanabilir </a:t>
            </a:r>
            <a:r>
              <a:rPr lang="tr-TR" dirty="0" smtClean="0"/>
              <a:t>olması sağlanmalıdır</a:t>
            </a:r>
            <a:r>
              <a:rPr lang="tr-TR" dirty="0"/>
              <a:t>. </a:t>
            </a:r>
            <a:endParaRPr lang="tr-TR" dirty="0" smtClean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Sistemler</a:t>
            </a:r>
            <a:r>
              <a:rPr lang="tr-TR" dirty="0"/>
              <a:t>, çalışanların verimini artıracak ve kolaylık sağlayacak </a:t>
            </a:r>
            <a:r>
              <a:rPr lang="tr-TR" dirty="0" smtClean="0"/>
              <a:t>şekilde </a:t>
            </a:r>
            <a:r>
              <a:rPr lang="tr-TR" dirty="0"/>
              <a:t>geri beslemeli olmalıdır</a:t>
            </a:r>
            <a:r>
              <a:rPr lang="tr-TR" dirty="0" smtClean="0"/>
              <a:t>.</a:t>
            </a:r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endParaRPr lang="tr-TR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Sistemler </a:t>
            </a:r>
            <a:r>
              <a:rPr lang="tr-TR" dirty="0"/>
              <a:t>operatöre uygun hız ve formatta bilgi verecek şekilde </a:t>
            </a:r>
            <a:r>
              <a:rPr lang="tr-TR" dirty="0" smtClean="0"/>
              <a:t>olmalıdır</a:t>
            </a:r>
            <a:r>
              <a:rPr lang="tr-TR" dirty="0" smtClean="0"/>
              <a:t>.</a:t>
            </a:r>
          </a:p>
          <a:p>
            <a:pPr marL="0" indent="0">
              <a:buClr>
                <a:srgbClr val="FF0000"/>
              </a:buClr>
              <a:buNone/>
            </a:pPr>
            <a:endParaRPr lang="tr-TR" dirty="0"/>
          </a:p>
          <a:p>
            <a:pPr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tr-TR" dirty="0" smtClean="0"/>
              <a:t>Programlar</a:t>
            </a:r>
            <a:r>
              <a:rPr lang="tr-TR" dirty="0"/>
              <a:t>, özellikle verilerin algılanması ve kullanılması </a:t>
            </a:r>
            <a:r>
              <a:rPr lang="tr-TR" dirty="0" smtClean="0"/>
              <a:t>konusunda </a:t>
            </a:r>
            <a:r>
              <a:rPr lang="tr-TR" dirty="0"/>
              <a:t>yazılımın kullanıcının çalışma performansını mümkün </a:t>
            </a:r>
            <a:r>
              <a:rPr lang="tr-TR" dirty="0" smtClean="0"/>
              <a:t>olduğu </a:t>
            </a:r>
            <a:r>
              <a:rPr lang="tr-TR" dirty="0"/>
              <a:t>kadar olumlu etkileyecek özelliklere sahip olması </a:t>
            </a:r>
            <a:r>
              <a:rPr lang="tr-TR" dirty="0" smtClean="0"/>
              <a:t>anlamına </a:t>
            </a:r>
            <a:r>
              <a:rPr lang="tr-TR" dirty="0"/>
              <a:t>gelen yazılım ergonomisi prensiplerine uygun olmalıdır.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890239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219456" y="352933"/>
            <a:ext cx="11972544" cy="7199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Aranacak Asgari Gerekler</a:t>
            </a:r>
            <a:endParaRPr lang="tr-TR" sz="32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832"/>
          <a:stretch/>
        </p:blipFill>
        <p:spPr>
          <a:xfrm>
            <a:off x="219456" y="1899966"/>
            <a:ext cx="6060991" cy="4183841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6475519" y="1314230"/>
            <a:ext cx="582620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1. Yeterli </a:t>
            </a:r>
            <a:r>
              <a:rPr lang="tr-TR" dirty="0"/>
              <a:t>aydınlatma,</a:t>
            </a:r>
          </a:p>
          <a:p>
            <a:r>
              <a:rPr lang="tr-TR" dirty="0"/>
              <a:t>2. Parlama veya rahatsız edici yansımaların engellenmesi,</a:t>
            </a:r>
          </a:p>
          <a:p>
            <a:r>
              <a:rPr lang="tr-TR" dirty="0"/>
              <a:t>3. Yazıcı, faks makinesi vb. dikkat dağıtıcı gürültünün en aza indirilmesi,</a:t>
            </a:r>
          </a:p>
          <a:p>
            <a:r>
              <a:rPr lang="tr-TR" dirty="0"/>
              <a:t>4. Bacakları rahat hareket ettirmek için boşluk,</a:t>
            </a:r>
          </a:p>
          <a:p>
            <a:r>
              <a:rPr lang="tr-TR" dirty="0"/>
              <a:t>5. Parlamayı en aza indirmek için </a:t>
            </a:r>
            <a:r>
              <a:rPr lang="tr-TR" dirty="0" smtClean="0"/>
              <a:t>perde</a:t>
            </a:r>
            <a:r>
              <a:rPr lang="tr-TR" dirty="0"/>
              <a:t>,</a:t>
            </a:r>
          </a:p>
          <a:p>
            <a:r>
              <a:rPr lang="tr-TR" dirty="0"/>
              <a:t>6. </a:t>
            </a:r>
            <a:r>
              <a:rPr lang="tr-TR" dirty="0" smtClean="0"/>
              <a:t>Göreve </a:t>
            </a:r>
            <a:r>
              <a:rPr lang="tr-TR" dirty="0"/>
              <a:t>uygun, kullanıcıya uyarlanmış, yazılım,</a:t>
            </a:r>
          </a:p>
          <a:p>
            <a:r>
              <a:rPr lang="tr-TR" dirty="0"/>
              <a:t>7. O</a:t>
            </a:r>
            <a:r>
              <a:rPr lang="tr-TR" dirty="0" smtClean="0"/>
              <a:t>kunabilir</a:t>
            </a:r>
            <a:r>
              <a:rPr lang="tr-TR" dirty="0"/>
              <a:t>, sabit görüntü, uygun kontrast ve </a:t>
            </a:r>
            <a:r>
              <a:rPr lang="tr-TR" dirty="0" smtClean="0"/>
              <a:t>parlaklığı olan ekran </a:t>
            </a:r>
            <a:endParaRPr lang="tr-TR" dirty="0"/>
          </a:p>
          <a:p>
            <a:r>
              <a:rPr lang="tr-TR" dirty="0"/>
              <a:t>8. </a:t>
            </a:r>
            <a:r>
              <a:rPr lang="tr-TR" dirty="0" smtClean="0"/>
              <a:t>Okunaklı ve ayarlanabilir klavye</a:t>
            </a:r>
            <a:endParaRPr lang="tr-TR" dirty="0"/>
          </a:p>
          <a:p>
            <a:r>
              <a:rPr lang="tr-TR" dirty="0"/>
              <a:t>9. Çalışma yüzeyi: ekipman ve araç gereçleri rahat şekilde düzenleyebilecek, ışığı </a:t>
            </a:r>
            <a:r>
              <a:rPr lang="tr-TR" dirty="0" smtClean="0"/>
              <a:t>yansıtmayan </a:t>
            </a:r>
            <a:r>
              <a:rPr lang="tr-TR" dirty="0"/>
              <a:t>yüzey,</a:t>
            </a:r>
          </a:p>
          <a:p>
            <a:r>
              <a:rPr lang="tr-TR" dirty="0"/>
              <a:t>10. Ayarlanabilir sandalye,</a:t>
            </a:r>
          </a:p>
          <a:p>
            <a:r>
              <a:rPr lang="tr-TR" dirty="0"/>
              <a:t>11. Çalışan ihtiyaç duyarsa ayak </a:t>
            </a:r>
            <a:r>
              <a:rPr lang="tr-TR" dirty="0" smtClean="0"/>
              <a:t>dayayabileceği </a:t>
            </a:r>
            <a:r>
              <a:rPr lang="tr-TR" dirty="0"/>
              <a:t>yükseklik</a:t>
            </a:r>
          </a:p>
        </p:txBody>
      </p:sp>
    </p:spTree>
    <p:extLst>
      <p:ext uri="{BB962C8B-B14F-4D97-AF65-F5344CB8AC3E}">
        <p14:creationId xmlns:p14="http://schemas.microsoft.com/office/powerpoint/2010/main" val="331272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46304" y="365125"/>
            <a:ext cx="11875008" cy="1325563"/>
          </a:xfrm>
        </p:spPr>
        <p:txBody>
          <a:bodyPr>
            <a:normAutofit/>
          </a:bodyPr>
          <a:lstStyle/>
          <a:p>
            <a:r>
              <a:rPr lang="tr-TR" sz="3600" b="1" dirty="0" smtClean="0"/>
              <a:t>Ekranlı Araçlarla Ayakta Çalışırken Dikkat Edilecek Hususlar </a:t>
            </a:r>
            <a:endParaRPr lang="tr-TR" sz="3600" b="1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304" y="1934498"/>
            <a:ext cx="6817816" cy="4449522"/>
          </a:xfrm>
          <a:prstGeom prst="rect">
            <a:avLst/>
          </a:prstGeom>
        </p:spPr>
      </p:pic>
      <p:sp>
        <p:nvSpPr>
          <p:cNvPr id="5" name="Metin kutusu 4"/>
          <p:cNvSpPr txBox="1"/>
          <p:nvPr/>
        </p:nvSpPr>
        <p:spPr>
          <a:xfrm>
            <a:off x="7205472" y="1690688"/>
            <a:ext cx="49865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1.</a:t>
            </a:r>
            <a:r>
              <a:rPr lang="tr-TR" b="1" dirty="0"/>
              <a:t> </a:t>
            </a:r>
            <a:r>
              <a:rPr lang="tr-TR" dirty="0"/>
              <a:t>Ayakta durarak çalışırken, omuzların gevşek haldeyken dirsekler 90 dereceye </a:t>
            </a:r>
          </a:p>
          <a:p>
            <a:r>
              <a:rPr lang="tr-TR" dirty="0"/>
              <a:t>bükülerek masanın yüksekliği belirlenir.</a:t>
            </a:r>
          </a:p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2. </a:t>
            </a:r>
            <a:r>
              <a:rPr lang="tr-TR" dirty="0"/>
              <a:t>Masa yüksekliği, kolların hemen altına ayarlanır.</a:t>
            </a:r>
          </a:p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3. </a:t>
            </a:r>
            <a:r>
              <a:rPr lang="tr-TR" dirty="0"/>
              <a:t>Bacak yorgunluğunu en aza indirmek için, vücut ağırlığının sürekli tek bir bacağa </a:t>
            </a:r>
          </a:p>
          <a:p>
            <a:r>
              <a:rPr lang="tr-TR" dirty="0"/>
              <a:t>yüklenmesini önleyecek şekilde çalışılır. </a:t>
            </a:r>
          </a:p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4. </a:t>
            </a:r>
            <a:r>
              <a:rPr lang="tr-TR" dirty="0"/>
              <a:t>Çalışma süresi boyunca duruş düzeltilir. </a:t>
            </a:r>
          </a:p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5. </a:t>
            </a:r>
            <a:r>
              <a:rPr lang="tr-TR" dirty="0"/>
              <a:t>Bilgisayarla çalışmaya sık sık ara verilir. </a:t>
            </a:r>
          </a:p>
          <a:p>
            <a:r>
              <a:rPr lang="tr-T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6. </a:t>
            </a:r>
            <a:r>
              <a:rPr lang="tr-TR" dirty="0"/>
              <a:t>Düzenli aralıklarla esneme egzersizleri yapılır.</a:t>
            </a:r>
          </a:p>
        </p:txBody>
      </p:sp>
    </p:spTree>
    <p:extLst>
      <p:ext uri="{BB962C8B-B14F-4D97-AF65-F5344CB8AC3E}">
        <p14:creationId xmlns:p14="http://schemas.microsoft.com/office/powerpoint/2010/main" val="10270934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pic>
        <p:nvPicPr>
          <p:cNvPr id="5" name="İçerik Yer Tutucus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248" y="1946720"/>
            <a:ext cx="6886966" cy="460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92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552" y="1825625"/>
            <a:ext cx="737920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sz="2200" u="sng" dirty="0"/>
              <a:t>Kas-İskelet Sistemi </a:t>
            </a:r>
            <a:r>
              <a:rPr lang="tr-TR" sz="2200" u="sng" dirty="0" smtClean="0"/>
              <a:t>Rahatsızlıkları</a:t>
            </a:r>
          </a:p>
          <a:p>
            <a:pPr marL="0" indent="0">
              <a:buNone/>
            </a:pPr>
            <a:endParaRPr lang="tr-TR" sz="2200" u="sng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/>
              <a:t>Ekranlı araç </a:t>
            </a:r>
            <a:r>
              <a:rPr lang="tr-TR" sz="2200" dirty="0" smtClean="0"/>
              <a:t>kullananlarda bu </a:t>
            </a:r>
            <a:r>
              <a:rPr lang="tr-TR" sz="2200" dirty="0"/>
              <a:t>rahatsızlık </a:t>
            </a:r>
            <a:r>
              <a:rPr lang="tr-TR" sz="2200" dirty="0" smtClean="0"/>
              <a:t>sıklıkla </a:t>
            </a:r>
            <a:r>
              <a:rPr lang="tr-TR" sz="2200" dirty="0"/>
              <a:t>görülmektedir</a:t>
            </a:r>
            <a:r>
              <a:rPr lang="tr-TR" sz="22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/>
              <a:t>İş faaliyetlerine bağlı olarak el, kol, </a:t>
            </a:r>
            <a:r>
              <a:rPr lang="tr-TR" sz="2200" dirty="0" smtClean="0"/>
              <a:t>omuz </a:t>
            </a:r>
            <a:r>
              <a:rPr lang="tr-TR" sz="2200" dirty="0"/>
              <a:t>ve boyunda meydana gelen </a:t>
            </a:r>
            <a:r>
              <a:rPr lang="tr-TR" sz="2200" dirty="0" smtClean="0"/>
              <a:t>kas-iskelet </a:t>
            </a:r>
            <a:r>
              <a:rPr lang="tr-TR" sz="2200" dirty="0"/>
              <a:t>sistemi rahatsızlıkları, “üst </a:t>
            </a:r>
            <a:r>
              <a:rPr lang="tr-TR" sz="2200" dirty="0" err="1"/>
              <a:t>ekstremite</a:t>
            </a:r>
            <a:r>
              <a:rPr lang="tr-TR" sz="2200" dirty="0"/>
              <a:t> </a:t>
            </a:r>
            <a:r>
              <a:rPr lang="tr-TR" sz="2200" dirty="0" smtClean="0"/>
              <a:t>bozuklukları</a:t>
            </a:r>
            <a:r>
              <a:rPr lang="tr-TR" sz="2200" dirty="0"/>
              <a:t>” </a:t>
            </a:r>
            <a:r>
              <a:rPr lang="tr-TR" sz="2200" dirty="0" smtClean="0"/>
              <a:t>olarak </a:t>
            </a:r>
            <a:r>
              <a:rPr lang="tr-TR" sz="2200" dirty="0"/>
              <a:t>tanımlanmaktadır. </a:t>
            </a:r>
            <a:endParaRPr lang="tr-TR" sz="2200" dirty="0" smtClean="0"/>
          </a:p>
          <a:p>
            <a:pPr marL="0" indent="0">
              <a:buNone/>
            </a:pPr>
            <a:r>
              <a:rPr lang="tr-TR" sz="2200" dirty="0" smtClean="0"/>
              <a:t>    </a:t>
            </a:r>
            <a:r>
              <a:rPr lang="tr-TR" sz="2200" dirty="0" smtClean="0"/>
              <a:t>- Uzuvdaki </a:t>
            </a:r>
            <a:r>
              <a:rPr lang="tr-TR" sz="2200" dirty="0"/>
              <a:t>geçici </a:t>
            </a:r>
            <a:r>
              <a:rPr lang="tr-TR" sz="2200" dirty="0" smtClean="0"/>
              <a:t>yorgunluk</a:t>
            </a:r>
          </a:p>
          <a:p>
            <a:pPr marL="0" indent="0">
              <a:buNone/>
            </a:pPr>
            <a:r>
              <a:rPr lang="tr-TR" sz="2200" dirty="0" smtClean="0"/>
              <a:t>    </a:t>
            </a:r>
            <a:r>
              <a:rPr lang="tr-TR" sz="2200" dirty="0" smtClean="0"/>
              <a:t>- Ağrı</a:t>
            </a:r>
            <a:endParaRPr lang="tr-TR" sz="2200" dirty="0" smtClean="0"/>
          </a:p>
          <a:p>
            <a:pPr marL="0" indent="0">
              <a:buNone/>
            </a:pPr>
            <a:r>
              <a:rPr lang="tr-TR" sz="2200" dirty="0" smtClean="0"/>
              <a:t>    </a:t>
            </a:r>
            <a:r>
              <a:rPr lang="tr-TR" sz="2200" dirty="0" smtClean="0"/>
              <a:t>- Kronik </a:t>
            </a:r>
            <a:r>
              <a:rPr lang="tr-TR" sz="2200" dirty="0"/>
              <a:t>yumuşak doku </a:t>
            </a:r>
            <a:r>
              <a:rPr lang="tr-TR" sz="2200" dirty="0" smtClean="0"/>
              <a:t>bozuklukları</a:t>
            </a:r>
          </a:p>
          <a:p>
            <a:pPr marL="0" indent="0">
              <a:buNone/>
            </a:pPr>
            <a:r>
              <a:rPr lang="tr-TR" sz="2200" dirty="0" smtClean="0"/>
              <a:t>    </a:t>
            </a:r>
            <a:r>
              <a:rPr lang="tr-TR" sz="2200" dirty="0" smtClean="0"/>
              <a:t>- Sırt </a:t>
            </a:r>
            <a:r>
              <a:rPr lang="tr-TR" sz="2200" dirty="0" smtClean="0"/>
              <a:t>ağrıları</a:t>
            </a:r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7859" y="1825624"/>
            <a:ext cx="3543527" cy="1984375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858" y="4001294"/>
            <a:ext cx="3543527" cy="235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3686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552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200" u="sng" dirty="0"/>
              <a:t>Yorgunluk ve </a:t>
            </a:r>
            <a:r>
              <a:rPr lang="tr-TR" sz="2200" u="sng" dirty="0" smtClean="0"/>
              <a:t>Stres</a:t>
            </a:r>
          </a:p>
          <a:p>
            <a:pPr marL="0" indent="0">
              <a:buNone/>
            </a:pPr>
            <a:endParaRPr lang="tr-TR" sz="22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 Stres, </a:t>
            </a:r>
            <a:r>
              <a:rPr lang="tr-TR" sz="2200" dirty="0"/>
              <a:t>fiziksel ve </a:t>
            </a:r>
            <a:r>
              <a:rPr lang="tr-TR" sz="2200" dirty="0" smtClean="0"/>
              <a:t>psikolojik </a:t>
            </a:r>
            <a:r>
              <a:rPr lang="tr-TR" sz="2200" dirty="0"/>
              <a:t>rahatsızlıklara, iş </a:t>
            </a:r>
            <a:r>
              <a:rPr lang="tr-TR" sz="2200" dirty="0" smtClean="0"/>
              <a:t>tatminsizliğine </a:t>
            </a:r>
            <a:r>
              <a:rPr lang="tr-TR" sz="2200" dirty="0"/>
              <a:t>ve performans sorunlarına </a:t>
            </a:r>
            <a:r>
              <a:rPr lang="tr-TR" sz="2200" dirty="0" smtClean="0"/>
              <a:t>neden olabilmektedir.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/>
              <a:t> Yorgunluk ve strese neden olan en önemli faktörler; </a:t>
            </a:r>
          </a:p>
          <a:p>
            <a:pPr marL="0" indent="0">
              <a:buNone/>
            </a:pPr>
            <a:r>
              <a:rPr lang="tr-TR" sz="2200" dirty="0" smtClean="0"/>
              <a:t>  Çalışanın </a:t>
            </a:r>
            <a:r>
              <a:rPr lang="tr-TR" sz="2200" dirty="0"/>
              <a:t>iş üzerindeki kontrolünün az olması/ kararlarda söz sahibi olamaması, </a:t>
            </a:r>
          </a:p>
          <a:p>
            <a:pPr marL="0" indent="0">
              <a:buNone/>
            </a:pPr>
            <a:r>
              <a:rPr lang="tr-TR" sz="2200" dirty="0" smtClean="0"/>
              <a:t>  -İş </a:t>
            </a:r>
            <a:r>
              <a:rPr lang="tr-TR" sz="2200" dirty="0"/>
              <a:t>yükünün neden olduğu baskı, </a:t>
            </a:r>
          </a:p>
          <a:p>
            <a:pPr marL="0" indent="0">
              <a:buNone/>
            </a:pPr>
            <a:r>
              <a:rPr lang="tr-TR" sz="2200" dirty="0" smtClean="0"/>
              <a:t>  -Yüksek </a:t>
            </a:r>
            <a:r>
              <a:rPr lang="tr-TR" sz="2200" dirty="0"/>
              <a:t>tempolu tekrarlayan çalışmalar,</a:t>
            </a:r>
          </a:p>
          <a:p>
            <a:pPr marL="0" indent="0">
              <a:buNone/>
            </a:pPr>
            <a:r>
              <a:rPr lang="tr-TR" sz="2200" dirty="0" smtClean="0"/>
              <a:t>  -Sürekli </a:t>
            </a:r>
            <a:r>
              <a:rPr lang="tr-TR" sz="2200" dirty="0"/>
              <a:t>aynı duruşta çalışmak,</a:t>
            </a:r>
          </a:p>
          <a:p>
            <a:pPr marL="0" indent="0">
              <a:buNone/>
            </a:pPr>
            <a:r>
              <a:rPr lang="tr-TR" sz="2200" dirty="0" smtClean="0"/>
              <a:t>  -Yetersiz </a:t>
            </a:r>
            <a:r>
              <a:rPr lang="tr-TR" sz="2200" dirty="0"/>
              <a:t>molalar,</a:t>
            </a:r>
          </a:p>
          <a:p>
            <a:pPr marL="0" indent="0">
              <a:buNone/>
            </a:pPr>
            <a:r>
              <a:rPr lang="tr-TR" sz="2200" dirty="0" smtClean="0"/>
              <a:t>  -Çalışanın </a:t>
            </a:r>
            <a:r>
              <a:rPr lang="tr-TR" sz="2200" dirty="0"/>
              <a:t>niteliğine uygun iş verilmemesi,</a:t>
            </a:r>
          </a:p>
          <a:p>
            <a:pPr marL="0" indent="0">
              <a:buNone/>
            </a:pPr>
            <a:endParaRPr lang="tr-TR" sz="2200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252" y="4011454"/>
            <a:ext cx="3619584" cy="203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544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552" y="1825625"/>
            <a:ext cx="391464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2200" u="sng" dirty="0"/>
              <a:t>Yorgunluk ve </a:t>
            </a:r>
            <a:r>
              <a:rPr lang="tr-TR" sz="2200" u="sng" dirty="0" smtClean="0"/>
              <a:t>Stres</a:t>
            </a:r>
          </a:p>
          <a:p>
            <a:pPr marL="0" indent="0">
              <a:buNone/>
            </a:pPr>
            <a:endParaRPr lang="tr-TR" sz="2200" u="sng" dirty="0"/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/>
              <a:t>Yorgunluk ve stresi önlemek için basit </a:t>
            </a:r>
            <a:r>
              <a:rPr lang="tr-TR" sz="2200" dirty="0" smtClean="0"/>
              <a:t>adımlar;</a:t>
            </a:r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6228" y="2187757"/>
            <a:ext cx="7897276" cy="398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33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552" y="1825625"/>
            <a:ext cx="6982968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tr-TR" sz="2200" u="sng" dirty="0"/>
              <a:t>Göz </a:t>
            </a:r>
            <a:r>
              <a:rPr lang="tr-TR" sz="2200" u="sng" dirty="0" smtClean="0"/>
              <a:t>Rahatsızlıkları</a:t>
            </a:r>
          </a:p>
          <a:p>
            <a:pPr marL="0" indent="0">
              <a:buNone/>
            </a:pPr>
            <a:endParaRPr lang="tr-TR" sz="2200" u="sng" dirty="0" smtClean="0"/>
          </a:p>
          <a:p>
            <a:pPr marL="0" indent="0">
              <a:buNone/>
            </a:pPr>
            <a:r>
              <a:rPr lang="tr-TR" sz="2200" dirty="0" smtClean="0"/>
              <a:t>  Ekranlı </a:t>
            </a:r>
            <a:r>
              <a:rPr lang="tr-TR" sz="2200" dirty="0"/>
              <a:t>araç kullananlarda sıklıkla görülebilmektedir. Göz rahatsızlıklarına genellikle aşağıda belirtilen durumlar sebep olur;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Uzun </a:t>
            </a:r>
            <a:r>
              <a:rPr lang="tr-TR" sz="2200" dirty="0"/>
              <a:t>süre boyunca ekranlı araç karşısında ara vermeden çalışmak,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Ekranlı </a:t>
            </a:r>
            <a:r>
              <a:rPr lang="tr-TR" sz="2200" dirty="0"/>
              <a:t>aracın yanlış konumlandırılması,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Ekranda </a:t>
            </a:r>
            <a:r>
              <a:rPr lang="tr-TR" sz="2200" dirty="0"/>
              <a:t>ışık yansıması, gözü yoran renkler ve küçük karakterler,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Zayıf </a:t>
            </a:r>
            <a:r>
              <a:rPr lang="tr-TR" sz="2200" dirty="0"/>
              <a:t>aydınlatma, parlama ve yansıma,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tr-TR" sz="2200" dirty="0" smtClean="0"/>
              <a:t>Ekranda </a:t>
            </a:r>
            <a:r>
              <a:rPr lang="tr-TR" sz="2200" dirty="0"/>
              <a:t>titreyen, gidip gelen görüntü vb.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279" y="2629408"/>
            <a:ext cx="4198925" cy="174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088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06552" y="1825624"/>
            <a:ext cx="6284214" cy="460565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sz="3200" u="sng" dirty="0"/>
              <a:t>Göz </a:t>
            </a:r>
            <a:r>
              <a:rPr lang="tr-TR" sz="3200" u="sng" dirty="0" smtClean="0"/>
              <a:t>Rahatsızlıklarından korunma</a:t>
            </a:r>
          </a:p>
          <a:p>
            <a:pPr marL="0" indent="0">
              <a:buNone/>
            </a:pPr>
            <a:r>
              <a:rPr lang="tr-TR" sz="2200" u="sng" dirty="0" smtClean="0"/>
              <a:t> </a:t>
            </a:r>
            <a:endParaRPr lang="tr-TR" sz="2200" u="sng" dirty="0"/>
          </a:p>
          <a:p>
            <a:r>
              <a:rPr lang="tr-TR" sz="2900" dirty="0"/>
              <a:t>Klavyede yazım işlemi dinlenme verilmeksizin 40 </a:t>
            </a:r>
            <a:r>
              <a:rPr lang="tr-TR" sz="2900" dirty="0" smtClean="0"/>
              <a:t>dakikadan fazla </a:t>
            </a:r>
            <a:r>
              <a:rPr lang="tr-TR" sz="2900" dirty="0"/>
              <a:t>olmamalıdır.</a:t>
            </a:r>
          </a:p>
          <a:p>
            <a:r>
              <a:rPr lang="tr-TR" sz="2900" dirty="0"/>
              <a:t>Sık sık göz kırpma işlemi yapılmalıdır.</a:t>
            </a:r>
          </a:p>
          <a:p>
            <a:r>
              <a:rPr lang="tr-TR" sz="2900" dirty="0"/>
              <a:t>20 </a:t>
            </a:r>
            <a:r>
              <a:rPr lang="tr-TR" sz="2900" dirty="0" err="1"/>
              <a:t>dk</a:t>
            </a:r>
            <a:r>
              <a:rPr lang="tr-TR" sz="2900" dirty="0"/>
              <a:t> aralarla gözler ekrandan ayırıp uzakta bir </a:t>
            </a:r>
            <a:r>
              <a:rPr lang="tr-TR" sz="2900" dirty="0" smtClean="0"/>
              <a:t>noktaya odaklanmalı </a:t>
            </a:r>
          </a:p>
          <a:p>
            <a:r>
              <a:rPr lang="tr-TR" sz="2900" dirty="0" smtClean="0"/>
              <a:t>10–15 </a:t>
            </a:r>
            <a:r>
              <a:rPr lang="tr-TR" sz="2900" dirty="0"/>
              <a:t>sn. gözler kapatılıp dinlendirilmelidir</a:t>
            </a:r>
            <a:r>
              <a:rPr lang="tr-TR" sz="2900" dirty="0" smtClean="0"/>
              <a:t>.</a:t>
            </a:r>
          </a:p>
          <a:p>
            <a:r>
              <a:rPr lang="tr-TR" sz="2900" dirty="0"/>
              <a:t>Monitörden gelen kimi zararlı </a:t>
            </a:r>
            <a:r>
              <a:rPr lang="tr-TR" sz="2900" dirty="0" smtClean="0"/>
              <a:t>ışınları önlemek </a:t>
            </a:r>
            <a:r>
              <a:rPr lang="tr-TR" sz="2900" dirty="0"/>
              <a:t>için ekran filtresi kullanılmalıdır.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endParaRPr lang="tr-TR" sz="2200" u="sng" dirty="0" smtClean="0"/>
          </a:p>
          <a:p>
            <a:pPr marL="0" indent="0">
              <a:buNone/>
            </a:pPr>
            <a:r>
              <a:rPr lang="tr-TR" sz="2200" dirty="0" smtClean="0"/>
              <a:t>  </a:t>
            </a:r>
            <a:endParaRPr lang="tr-TR" sz="22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200" y="4193721"/>
            <a:ext cx="3177794" cy="2107016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4"/>
          <a:srcRect l="3408" t="14823" r="4118" b="15539"/>
          <a:stretch/>
        </p:blipFill>
        <p:spPr>
          <a:xfrm>
            <a:off x="8538337" y="1825625"/>
            <a:ext cx="2763520" cy="20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3518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04800" y="365125"/>
            <a:ext cx="11728704" cy="1325563"/>
          </a:xfrm>
        </p:spPr>
        <p:txBody>
          <a:bodyPr>
            <a:noAutofit/>
          </a:bodyPr>
          <a:lstStyle/>
          <a:p>
            <a:r>
              <a:rPr lang="tr-TR" sz="3200" b="1" dirty="0" smtClean="0"/>
              <a:t>Ekranlı Araçlarla Çalışmalarda Meydana Gelebilecek Başlıca Sağlık Sorunları</a:t>
            </a:r>
            <a:endParaRPr lang="tr-TR" sz="32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33984" y="1825624"/>
            <a:ext cx="11070336" cy="50323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tr-TR" sz="2000" u="sng" dirty="0"/>
              <a:t>Göz </a:t>
            </a:r>
            <a:r>
              <a:rPr lang="tr-TR" sz="2000" u="sng" dirty="0" smtClean="0"/>
              <a:t>Rahatsızlıklarından korunma</a:t>
            </a:r>
          </a:p>
          <a:p>
            <a:pPr marL="0" indent="0">
              <a:buNone/>
            </a:pPr>
            <a:r>
              <a:rPr lang="tr-TR" sz="2000" dirty="0"/>
              <a:t> Göz ve ekran uzaklığı monitör boyutlarına göre gözü yormayacak </a:t>
            </a:r>
            <a:r>
              <a:rPr lang="tr-TR" sz="2000" dirty="0" smtClean="0"/>
              <a:t>şekilde ayarlanmalıdır</a:t>
            </a:r>
            <a:r>
              <a:rPr lang="tr-TR" sz="2000" dirty="0"/>
              <a:t>.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u="sng" dirty="0" smtClean="0"/>
          </a:p>
          <a:p>
            <a:pPr marL="0" indent="0">
              <a:buNone/>
            </a:pPr>
            <a:r>
              <a:rPr lang="tr-TR" sz="1800" dirty="0" smtClean="0"/>
              <a:t>  </a:t>
            </a:r>
          </a:p>
          <a:p>
            <a:pPr marL="0" indent="0">
              <a:buNone/>
            </a:pPr>
            <a:endParaRPr lang="tr-TR" sz="1800" dirty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endParaRPr lang="tr-TR" sz="1800" dirty="0" smtClean="0"/>
          </a:p>
          <a:p>
            <a:pPr marL="0" indent="0">
              <a:buNone/>
            </a:pPr>
            <a:r>
              <a:rPr lang="tr-TR" sz="1800" dirty="0" smtClean="0"/>
              <a:t>  </a:t>
            </a:r>
          </a:p>
          <a:p>
            <a:pPr marL="0" indent="0">
              <a:buNone/>
            </a:pPr>
            <a:r>
              <a:rPr lang="tr-TR" sz="1800" dirty="0"/>
              <a:t> </a:t>
            </a:r>
            <a:r>
              <a:rPr lang="tr-TR" sz="1800" dirty="0" smtClean="0"/>
              <a:t> </a:t>
            </a:r>
            <a:r>
              <a:rPr lang="tr-TR" sz="2000" b="1" dirty="0" smtClean="0"/>
              <a:t>Örneğin</a:t>
            </a:r>
            <a:r>
              <a:rPr lang="tr-TR" sz="2000" b="1" dirty="0"/>
              <a:t>;</a:t>
            </a:r>
            <a:r>
              <a:rPr lang="tr-TR" sz="2000" dirty="0"/>
              <a:t> Microsoft </a:t>
            </a:r>
            <a:r>
              <a:rPr lang="tr-TR" sz="2000" dirty="0" err="1"/>
              <a:t>Office’de</a:t>
            </a:r>
            <a:r>
              <a:rPr lang="tr-TR" sz="2000" dirty="0"/>
              <a:t> “Word” programı kullanılırken yazı tipi “Times New Roman”, </a:t>
            </a:r>
            <a:r>
              <a:rPr lang="tr-TR" sz="2000" dirty="0" smtClean="0"/>
              <a:t>yazı </a:t>
            </a:r>
            <a:r>
              <a:rPr lang="tr-TR" sz="2000" dirty="0"/>
              <a:t>tipi boyutu “12” ve sayfa yakınlaştırma düzeyi %100 seçildiğinde, çalışan ile </a:t>
            </a:r>
            <a:r>
              <a:rPr lang="tr-TR" sz="2000" dirty="0" smtClean="0"/>
              <a:t>ekran arasındaki </a:t>
            </a:r>
            <a:r>
              <a:rPr lang="tr-TR" sz="2000" dirty="0"/>
              <a:t>mesafenin yukarıdaki tabloya göre yaklaşık 50 cm olarak ayarlanması uygun </a:t>
            </a:r>
            <a:r>
              <a:rPr lang="tr-TR" sz="2000" dirty="0" smtClean="0"/>
              <a:t>olacaktır.</a:t>
            </a:r>
            <a:endParaRPr lang="tr-TR" sz="2000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204" y="3001562"/>
            <a:ext cx="6495735" cy="227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8582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182880" y="365125"/>
            <a:ext cx="12106656" cy="1325563"/>
          </a:xfrm>
        </p:spPr>
        <p:txBody>
          <a:bodyPr>
            <a:normAutofit/>
          </a:bodyPr>
          <a:lstStyle/>
          <a:p>
            <a:r>
              <a:rPr lang="tr-TR" sz="3600" b="1" dirty="0"/>
              <a:t>Çalışanların Bilgilendirilmesi ve Eğitimi</a:t>
            </a:r>
            <a:br>
              <a:rPr lang="tr-TR" sz="3600" b="1" dirty="0"/>
            </a:br>
            <a:endParaRPr lang="tr-TR" sz="3600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5216" y="1463040"/>
            <a:ext cx="10768584" cy="471392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tr-TR" dirty="0" smtClean="0"/>
              <a:t>  </a:t>
            </a:r>
            <a:endParaRPr lang="tr-TR" dirty="0" smtClean="0"/>
          </a:p>
          <a:p>
            <a:pPr marL="0" indent="0">
              <a:buNone/>
            </a:pPr>
            <a:r>
              <a:rPr lang="tr-TR" b="1" dirty="0"/>
              <a:t> </a:t>
            </a:r>
            <a:r>
              <a:rPr lang="tr-TR" b="1" dirty="0" smtClean="0"/>
              <a:t> </a:t>
            </a:r>
            <a:r>
              <a:rPr lang="tr-TR" b="1" dirty="0" smtClean="0"/>
              <a:t>İşveren</a:t>
            </a:r>
            <a:r>
              <a:rPr lang="tr-TR" b="1" dirty="0"/>
              <a:t>;</a:t>
            </a:r>
            <a:r>
              <a:rPr lang="tr-TR" dirty="0"/>
              <a:t> çalışanların iş sağlığı ve güvenliği eğitimlerine ilişkin mevzuat </a:t>
            </a:r>
            <a:r>
              <a:rPr lang="tr-TR" dirty="0" smtClean="0"/>
              <a:t>hükümlerini </a:t>
            </a:r>
            <a:r>
              <a:rPr lang="tr-TR" dirty="0"/>
              <a:t>de dikkate alarak ekranlı araçlarla çalışanlara, işe başlamadan </a:t>
            </a:r>
            <a:r>
              <a:rPr lang="tr-TR" dirty="0" smtClean="0"/>
              <a:t>önce </a:t>
            </a:r>
            <a:r>
              <a:rPr lang="tr-TR" dirty="0"/>
              <a:t>ve çalışma koşullarında önemli bir değişiklik olduğunda gerekli eğitimi </a:t>
            </a:r>
            <a:r>
              <a:rPr lang="tr-TR" dirty="0" smtClean="0"/>
              <a:t>vermelidir</a:t>
            </a:r>
            <a:r>
              <a:rPr lang="tr-TR" dirty="0" smtClean="0"/>
              <a:t>.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  </a:t>
            </a:r>
            <a:r>
              <a:rPr lang="tr-TR" b="1" dirty="0" smtClean="0"/>
              <a:t>Eğitim</a:t>
            </a:r>
            <a:r>
              <a:rPr lang="tr-TR" dirty="0"/>
              <a:t>, özellikle aşağıdaki konuları </a:t>
            </a:r>
            <a:r>
              <a:rPr lang="tr-TR" dirty="0" smtClean="0"/>
              <a:t>içerir</a:t>
            </a:r>
            <a:r>
              <a:rPr lang="tr-TR" dirty="0" smtClean="0"/>
              <a:t>:</a:t>
            </a:r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r>
              <a:rPr lang="tr-TR" dirty="0"/>
              <a:t>a) Ekranlı araçlarla çalışmalarda riskler ve korunma yolları,</a:t>
            </a:r>
          </a:p>
          <a:p>
            <a:pPr marL="0" indent="0">
              <a:buNone/>
            </a:pPr>
            <a:r>
              <a:rPr lang="tr-TR" dirty="0"/>
              <a:t>b) Doğru oturuş,</a:t>
            </a:r>
          </a:p>
          <a:p>
            <a:pPr marL="0" indent="0">
              <a:buNone/>
            </a:pPr>
            <a:r>
              <a:rPr lang="tr-TR" dirty="0"/>
              <a:t>c) Gözlerin korunması,</a:t>
            </a:r>
          </a:p>
          <a:p>
            <a:pPr marL="0" indent="0">
              <a:buNone/>
            </a:pPr>
            <a:r>
              <a:rPr lang="tr-TR" dirty="0"/>
              <a:t>d) Gözleri en az yoran yazı karakterleri ve renkler,</a:t>
            </a:r>
          </a:p>
          <a:p>
            <a:pPr marL="0" indent="0">
              <a:buNone/>
            </a:pPr>
            <a:r>
              <a:rPr lang="tr-TR" dirty="0"/>
              <a:t>e) Çalışma sırasında gözleri kısa sürelerle dinlendirme alışkanlığı,</a:t>
            </a:r>
          </a:p>
          <a:p>
            <a:pPr marL="0" indent="0">
              <a:buNone/>
            </a:pPr>
            <a:r>
              <a:rPr lang="tr-TR" dirty="0"/>
              <a:t>f) Gözlerin, kas ve iskelet sisteminin dinlendirilmesi,</a:t>
            </a:r>
          </a:p>
          <a:p>
            <a:pPr marL="0" indent="0">
              <a:buNone/>
            </a:pPr>
            <a:r>
              <a:rPr lang="tr-TR" dirty="0"/>
              <a:t>g) Ara dinlenmeleri ve egzersizler.</a:t>
            </a:r>
          </a:p>
        </p:txBody>
      </p:sp>
    </p:spTree>
    <p:extLst>
      <p:ext uri="{BB962C8B-B14F-4D97-AF65-F5344CB8AC3E}">
        <p14:creationId xmlns:p14="http://schemas.microsoft.com/office/powerpoint/2010/main" val="358081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Sağlık kontrolleri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4469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smtClean="0"/>
              <a:t>Ekranlı araçlarla çalışmaya başlamadan önce, çalışanların </a:t>
            </a:r>
            <a:r>
              <a:rPr lang="tr-TR" sz="2200" dirty="0" smtClean="0">
                <a:solidFill>
                  <a:srgbClr val="C00000"/>
                </a:solidFill>
              </a:rPr>
              <a:t>göz muayeneleri </a:t>
            </a:r>
            <a:r>
              <a:rPr lang="tr-TR" sz="2200" dirty="0" smtClean="0"/>
              <a:t>uzman hekim tarafından yapılmalı,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smtClean="0"/>
              <a:t>Muayene sonuçlarına göre gerekiyorsa çalışanlara </a:t>
            </a:r>
            <a:r>
              <a:rPr lang="tr-TR" sz="2200" dirty="0" smtClean="0">
                <a:solidFill>
                  <a:srgbClr val="C00000"/>
                </a:solidFill>
              </a:rPr>
              <a:t>oftalmolojik testlere</a:t>
            </a:r>
            <a:r>
              <a:rPr lang="tr-TR" sz="2200" dirty="0" smtClean="0"/>
              <a:t> tabi tutulmalı,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smtClean="0"/>
              <a:t>Muayene ve test sonuçlarına göre gerekiyorsa çalışanlara yaptıkları işe uygun araç ve gereç verilmelidir.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smtClean="0"/>
              <a:t>Çalışanların sağlık dosyaları hazırlanmalı, mevcut rahatsızlıkları kayıt altına alınmalı,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tr-TR" sz="2200" dirty="0" smtClean="0"/>
              <a:t>Periyodik sağlık kontrolleri belirlenmeli ve İYH tarafından takip edilmelidir.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/>
          </a:p>
          <a:p>
            <a:pPr marL="0" indent="0">
              <a:lnSpc>
                <a:spcPct val="100000"/>
              </a:lnSpc>
              <a:buNone/>
            </a:pPr>
            <a:endParaRPr lang="tr-TR" sz="2200" dirty="0" smtClean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tr-TR" sz="2200" dirty="0" smtClean="0"/>
          </a:p>
        </p:txBody>
      </p:sp>
    </p:spTree>
    <p:extLst>
      <p:ext uri="{BB962C8B-B14F-4D97-AF65-F5344CB8AC3E}">
        <p14:creationId xmlns:p14="http://schemas.microsoft.com/office/powerpoint/2010/main" val="224967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https://www.youtube.com/watch?v=HycEiVvgP3g</a:t>
            </a:r>
          </a:p>
        </p:txBody>
      </p:sp>
    </p:spTree>
    <p:extLst>
      <p:ext uri="{BB962C8B-B14F-4D97-AF65-F5344CB8AC3E}">
        <p14:creationId xmlns:p14="http://schemas.microsoft.com/office/powerpoint/2010/main" val="67171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 smtClean="0"/>
              <a:t>Ders tekrarı</a:t>
            </a:r>
            <a:endParaRPr lang="tr-TR" b="1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smtClean="0"/>
              <a:t>   </a:t>
            </a:r>
            <a:r>
              <a:rPr lang="tr-TR" sz="2400" dirty="0" smtClean="0"/>
              <a:t>Aşağıdakilerden </a:t>
            </a:r>
            <a:r>
              <a:rPr lang="tr-TR" sz="2400" dirty="0"/>
              <a:t>hangisi ekranlı araçlarla çalışmalarda </a:t>
            </a:r>
            <a:r>
              <a:rPr lang="tr-TR" sz="2400" b="1" dirty="0"/>
              <a:t>uygun aydınlatma için doğru bir uygulamadır</a:t>
            </a:r>
            <a:r>
              <a:rPr lang="tr-TR" sz="2400" dirty="0" smtClean="0"/>
              <a:t>?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dirty="0"/>
              <a:t>A) Ekranın tam arkasına güçlü ışık yerleştirmek</a:t>
            </a:r>
            <a:br>
              <a:rPr lang="tr-TR" sz="2400" dirty="0"/>
            </a:br>
            <a:r>
              <a:rPr lang="tr-TR" sz="2400" dirty="0"/>
              <a:t>B) Işığın doğrudan ekrana yansımasını sağlamak</a:t>
            </a:r>
            <a:br>
              <a:rPr lang="tr-TR" sz="2400" dirty="0"/>
            </a:br>
            <a:r>
              <a:rPr lang="tr-TR" sz="2400" dirty="0"/>
              <a:t>C) Ortam ışığını tamamen kapatmak</a:t>
            </a:r>
            <a:br>
              <a:rPr lang="tr-TR" sz="2400" dirty="0"/>
            </a:br>
            <a:r>
              <a:rPr lang="tr-TR" sz="2400" dirty="0"/>
              <a:t>D) Parlama ve yansımayı önleyecek şekilde ışık konumlandırmak</a:t>
            </a:r>
            <a:br>
              <a:rPr lang="tr-TR" sz="2400" dirty="0"/>
            </a:br>
            <a:r>
              <a:rPr lang="tr-TR" sz="2400" dirty="0"/>
              <a:t>E) Sadece doğal ışık kullanmak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err="1" smtClean="0"/>
              <a:t>Cevap:D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3573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Ders tekrarı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smtClean="0"/>
              <a:t>   </a:t>
            </a:r>
            <a:r>
              <a:rPr lang="tr-TR" sz="2400" dirty="0" smtClean="0"/>
              <a:t>Ekranlı </a:t>
            </a:r>
            <a:r>
              <a:rPr lang="tr-TR" sz="2400" dirty="0"/>
              <a:t>araçlarla çalışan bir CNC operatöründe göz yorgunluğunu azaltmak için aşağıdakilerden hangisi </a:t>
            </a:r>
            <a:r>
              <a:rPr lang="tr-TR" sz="2400" b="1" dirty="0"/>
              <a:t>en doğru uygulamadır</a:t>
            </a:r>
            <a:r>
              <a:rPr lang="tr-TR" sz="2400" dirty="0" smtClean="0"/>
              <a:t>?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dirty="0"/>
              <a:t>A) Ekran parlaklığını maksimum seviyeye getirmek</a:t>
            </a:r>
            <a:br>
              <a:rPr lang="tr-TR" sz="2400" dirty="0"/>
            </a:br>
            <a:r>
              <a:rPr lang="tr-TR" sz="2400" dirty="0"/>
              <a:t>B) Ekrana daha yakın oturmak</a:t>
            </a:r>
            <a:br>
              <a:rPr lang="tr-TR" sz="2400" dirty="0"/>
            </a:br>
            <a:r>
              <a:rPr lang="tr-TR" sz="2400" dirty="0"/>
              <a:t>C) 20 dakikada bir 20 saniye uzağa bakmak</a:t>
            </a:r>
            <a:br>
              <a:rPr lang="tr-TR" sz="2400" dirty="0"/>
            </a:br>
            <a:r>
              <a:rPr lang="tr-TR" sz="2400" dirty="0"/>
              <a:t>D) Ekranı göz hizasının üzerine yerleştirmek</a:t>
            </a:r>
            <a:br>
              <a:rPr lang="tr-TR" sz="2400" dirty="0"/>
            </a:br>
            <a:r>
              <a:rPr lang="tr-TR" sz="2400" dirty="0"/>
              <a:t>E) Çalışma süresini kesintisiz sürdürmek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err="1" smtClean="0"/>
              <a:t>Cevap:C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3810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b="1" dirty="0"/>
              <a:t>Ders tekrarı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tr-TR" dirty="0" smtClean="0"/>
              <a:t>   </a:t>
            </a:r>
            <a:r>
              <a:rPr lang="tr-TR" sz="2400" dirty="0" smtClean="0"/>
              <a:t>Aşağıdakilerden </a:t>
            </a:r>
            <a:r>
              <a:rPr lang="tr-TR" sz="2400" dirty="0"/>
              <a:t>hangisi ekranlı araçlarla çalışmalarda </a:t>
            </a:r>
            <a:r>
              <a:rPr lang="tr-TR" sz="2400" b="1" dirty="0"/>
              <a:t>kas-iskelet sistemi rahatsızlıklarını artıran en kritik ergonomik hata</a:t>
            </a:r>
            <a:r>
              <a:rPr lang="tr-TR" sz="2400" dirty="0"/>
              <a:t>dır</a:t>
            </a:r>
            <a:r>
              <a:rPr lang="tr-TR" sz="2400" dirty="0" smtClean="0"/>
              <a:t>?</a:t>
            </a:r>
          </a:p>
          <a:p>
            <a:pPr marL="0" indent="0">
              <a:buNone/>
            </a:pPr>
            <a:endParaRPr lang="tr-TR" sz="2400" dirty="0"/>
          </a:p>
          <a:p>
            <a:pPr marL="0" indent="0">
              <a:buNone/>
            </a:pPr>
            <a:r>
              <a:rPr lang="tr-TR" sz="2400" dirty="0"/>
              <a:t>A) Ekranın göz hizasının biraz altında olması</a:t>
            </a:r>
            <a:br>
              <a:rPr lang="tr-TR" sz="2400" dirty="0"/>
            </a:br>
            <a:r>
              <a:rPr lang="tr-TR" sz="2400" dirty="0"/>
              <a:t>B) Klavyenin masaya sabitlenmiş olması</a:t>
            </a:r>
            <a:br>
              <a:rPr lang="tr-TR" sz="2400" dirty="0"/>
            </a:br>
            <a:r>
              <a:rPr lang="tr-TR" sz="2400" dirty="0"/>
              <a:t>C) Dirsek açısının 90° olması</a:t>
            </a:r>
            <a:br>
              <a:rPr lang="tr-TR" sz="2400" dirty="0"/>
            </a:br>
            <a:r>
              <a:rPr lang="tr-TR" sz="2400" dirty="0"/>
              <a:t>D) Çalışanın uzun süre statik pozisyonda kalması</a:t>
            </a:r>
            <a:br>
              <a:rPr lang="tr-TR" sz="2400" dirty="0"/>
            </a:br>
            <a:r>
              <a:rPr lang="tr-TR" sz="2400" dirty="0"/>
              <a:t>E) Ortam aydınlatmasının yeterli olması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r>
              <a:rPr lang="tr-TR" dirty="0" err="1" smtClean="0"/>
              <a:t>Cevap:D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1349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0818CC8165543A49BD1880865BADD712" ma:contentTypeVersion="7" ma:contentTypeDescription="Yeni belge oluşturun." ma:contentTypeScope="" ma:versionID="448c65ada3b952ea0be358190b5a4f49">
  <xsd:schema xmlns:xsd="http://www.w3.org/2001/XMLSchema" xmlns:xs="http://www.w3.org/2001/XMLSchema" xmlns:p="http://schemas.microsoft.com/office/2006/metadata/properties" xmlns:ns2="90eab9c6-ff60-475d-abbe-26ad8f7ce76f" targetNamespace="http://schemas.microsoft.com/office/2006/metadata/properties" ma:root="true" ma:fieldsID="763dc2b26188336c17a8e338b10ef707" ns2:_="">
    <xsd:import namespace="90eab9c6-ff60-475d-abbe-26ad8f7ce76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eab9c6-ff60-475d-abbe-26ad8f7ce7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F4A6BF1-A815-4EB3-8584-A893C6542D4D}"/>
</file>

<file path=customXml/itemProps2.xml><?xml version="1.0" encoding="utf-8"?>
<ds:datastoreItem xmlns:ds="http://schemas.openxmlformats.org/officeDocument/2006/customXml" ds:itemID="{85F357F5-2FC5-4155-B649-EC6AFC54ACEE}"/>
</file>

<file path=customXml/itemProps3.xml><?xml version="1.0" encoding="utf-8"?>
<ds:datastoreItem xmlns:ds="http://schemas.openxmlformats.org/officeDocument/2006/customXml" ds:itemID="{01BD041E-CA32-4CB6-B030-3E938452D283}"/>
</file>

<file path=docProps/app.xml><?xml version="1.0" encoding="utf-8"?>
<Properties xmlns="http://schemas.openxmlformats.org/officeDocument/2006/extended-properties" xmlns:vt="http://schemas.openxmlformats.org/officeDocument/2006/docPropsVTypes">
  <TotalTime>1351</TotalTime>
  <Words>2063</Words>
  <Application>Microsoft Office PowerPoint</Application>
  <PresentationFormat>Geniş ekran</PresentationFormat>
  <Paragraphs>280</Paragraphs>
  <Slides>35</Slides>
  <Notes>5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35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Wingdings</vt:lpstr>
      <vt:lpstr>Office Teması</vt:lpstr>
      <vt:lpstr>PowerPoint Sunusu</vt:lpstr>
      <vt:lpstr>Ekranlı araç nedir?</vt:lpstr>
      <vt:lpstr>Ekranlı araç kapsamı dışındakiler</vt:lpstr>
      <vt:lpstr>Ekranlı araç kullanıcısı kimlerdir?</vt:lpstr>
      <vt:lpstr>Ekranlı araç kullanıcısı (operatör)</vt:lpstr>
      <vt:lpstr>Ekranlı Araçlarla Çalışmalarda Aranacak Asgari Gerekler</vt:lpstr>
      <vt:lpstr>Ekipman </vt:lpstr>
      <vt:lpstr>Ekipman </vt:lpstr>
      <vt:lpstr>Ekipman </vt:lpstr>
      <vt:lpstr>Ekipman </vt:lpstr>
      <vt:lpstr>Ekipman </vt:lpstr>
      <vt:lpstr>Ekipman </vt:lpstr>
      <vt:lpstr>Zorlayıcı Travmalara Karşı Önlem Olarak Yapılması Gerekenler</vt:lpstr>
      <vt:lpstr>Ekranlı araçlarla çalışanlar için ofis egzersizleri</vt:lpstr>
      <vt:lpstr>Çalışma Ortamı </vt:lpstr>
      <vt:lpstr>Çalışma Ortamı </vt:lpstr>
      <vt:lpstr>Çalışma Ortamı </vt:lpstr>
      <vt:lpstr>Çalışma Ortamı </vt:lpstr>
      <vt:lpstr>Çalışma Ortamı </vt:lpstr>
      <vt:lpstr>Bilgisayar Programları</vt:lpstr>
      <vt:lpstr>Ekranlı Araçlarla Çalışmalarda Aranacak Asgari Gerekler</vt:lpstr>
      <vt:lpstr>Ekranlı Araçlarla Ayakta Çalışırken Dikkat Edilecek Hususlar </vt:lpstr>
      <vt:lpstr>Ekranlı Araçlarla Çalışmalarda Meydana Gelebilecek Başlıca Sağlık Sorunları</vt:lpstr>
      <vt:lpstr>Ekranlı Araçlarla Çalışmalarda Meydana Gelebilecek Başlıca Sağlık Sorunları</vt:lpstr>
      <vt:lpstr>Ekranlı Araçlarla Çalışmalarda Meydana Gelebilecek Başlıca Sağlık Sorunları</vt:lpstr>
      <vt:lpstr>Ekranlı Araçlarla Çalışmalarda Meydana Gelebilecek Başlıca Sağlık Sorunları</vt:lpstr>
      <vt:lpstr>Ekranlı Araçlarla Çalışmalarda Meydana Gelebilecek Başlıca Sağlık Sorunları</vt:lpstr>
      <vt:lpstr>Ekranlı Araçlarla Çalışmalarda Meydana Gelebilecek Başlıca Sağlık Sorunları</vt:lpstr>
      <vt:lpstr>Ekranlı Araçlarla Çalışmalarda Meydana Gelebilecek Başlıca Sağlık Sorunları</vt:lpstr>
      <vt:lpstr>Çalışanların Bilgilendirilmesi ve Eğitimi </vt:lpstr>
      <vt:lpstr>Sağlık kontrolleri</vt:lpstr>
      <vt:lpstr>PowerPoint Sunusu</vt:lpstr>
      <vt:lpstr>Ders tekrarı</vt:lpstr>
      <vt:lpstr>Ders tekrarı</vt:lpstr>
      <vt:lpstr>Ders tekrarı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Beyza Özgürses</dc:creator>
  <cp:lastModifiedBy>Beyza samuk</cp:lastModifiedBy>
  <cp:revision>47</cp:revision>
  <dcterms:created xsi:type="dcterms:W3CDTF">2026-02-20T11:14:58Z</dcterms:created>
  <dcterms:modified xsi:type="dcterms:W3CDTF">2026-04-13T09:05:22Z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0x0101000818CC8165543A49BD1880865BADD712</vt:lpwstr>
  </property>
</Properties>
</file>