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3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31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1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92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91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8" r:id="rId34"/>
    <p:sldId id="287" r:id="rId35"/>
    <p:sldId id="289" r:id="rId36"/>
    <p:sldId id="269" r:id="rId37"/>
    <p:sldId id="290" r:id="rId38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ustomXml" Target="../customXml/item3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F49B74-6492-4020-A7AE-4FFAC54C0579}" type="datetimeFigureOut">
              <a:rPr lang="tr-TR" smtClean="0"/>
              <a:t>6.08.2026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AABF68-91A7-464C-B483-DF1B078306D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99587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ABF68-91A7-464C-B483-DF1B078306D6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75187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F121B-1F52-449C-9329-8297D1DC7F46}" type="datetimeFigureOut">
              <a:rPr lang="tr-TR" smtClean="0"/>
              <a:t>6.08.2026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07F04-FA67-4BA4-A248-0813197DB3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60267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F121B-1F52-449C-9329-8297D1DC7F46}" type="datetimeFigureOut">
              <a:rPr lang="tr-TR" smtClean="0"/>
              <a:t>6.08.2026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07F04-FA67-4BA4-A248-0813197DB3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8156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F121B-1F52-449C-9329-8297D1DC7F46}" type="datetimeFigureOut">
              <a:rPr lang="tr-TR" smtClean="0"/>
              <a:t>6.08.2026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07F04-FA67-4BA4-A248-0813197DB3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74999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F121B-1F52-449C-9329-8297D1DC7F46}" type="datetimeFigureOut">
              <a:rPr lang="tr-TR" smtClean="0"/>
              <a:t>6.08.2026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07F04-FA67-4BA4-A248-0813197DB3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57447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F121B-1F52-449C-9329-8297D1DC7F46}" type="datetimeFigureOut">
              <a:rPr lang="tr-TR" smtClean="0"/>
              <a:t>6.08.2026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07F04-FA67-4BA4-A248-0813197DB3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53260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F121B-1F52-449C-9329-8297D1DC7F46}" type="datetimeFigureOut">
              <a:rPr lang="tr-TR" smtClean="0"/>
              <a:t>6.08.2026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07F04-FA67-4BA4-A248-0813197DB3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27276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F121B-1F52-449C-9329-8297D1DC7F46}" type="datetimeFigureOut">
              <a:rPr lang="tr-TR" smtClean="0"/>
              <a:t>6.08.2026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07F04-FA67-4BA4-A248-0813197DB3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3231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F121B-1F52-449C-9329-8297D1DC7F46}" type="datetimeFigureOut">
              <a:rPr lang="tr-TR" smtClean="0"/>
              <a:t>6.08.2026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07F04-FA67-4BA4-A248-0813197DB3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32576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F121B-1F52-449C-9329-8297D1DC7F46}" type="datetimeFigureOut">
              <a:rPr lang="tr-TR" smtClean="0"/>
              <a:t>6.08.2026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07F04-FA67-4BA4-A248-0813197DB3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09204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F121B-1F52-449C-9329-8297D1DC7F46}" type="datetimeFigureOut">
              <a:rPr lang="tr-TR" smtClean="0"/>
              <a:t>6.08.2026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07F04-FA67-4BA4-A248-0813197DB3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91797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F121B-1F52-449C-9329-8297D1DC7F46}" type="datetimeFigureOut">
              <a:rPr lang="tr-TR" smtClean="0"/>
              <a:t>6.08.2026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07F04-FA67-4BA4-A248-0813197DB3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20337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FF121B-1F52-449C-9329-8297D1DC7F46}" type="datetimeFigureOut">
              <a:rPr lang="tr-TR" smtClean="0"/>
              <a:t>6.08.2026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307F04-FA67-4BA4-A248-0813197DB3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36044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reel/DTAW66gDV0I/" TargetMode="External"/><Relationship Id="rId2" Type="http://schemas.openxmlformats.org/officeDocument/2006/relationships/hyperlink" Target="https://www.youtube.com/watch?v=DmTigDqliEY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994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tr-TR" b="1" dirty="0">
                <a:latin typeface="Aptos (gövde)"/>
              </a:rPr>
              <a:t>Dersin içeriği 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 (gövde)"/>
              </a:rPr>
              <a:t>Motorlu araçlar nelerdir?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 (gövde)"/>
              </a:rPr>
              <a:t>Araç kullanım güvenliği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 (gövde)"/>
              </a:rPr>
              <a:t>Motorlu araçların meydana getirdikleri riskler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 (gövde)"/>
              </a:rPr>
              <a:t>Alınması gerekli tedbirler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 (gövde)"/>
              </a:rPr>
              <a:t>İlgili yönetmelikler 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C5E4F8AA-7A69-14EB-B1D8-A0EC2EED3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812" y="2181415"/>
            <a:ext cx="5085695" cy="258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624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tr-TR" b="1" dirty="0">
                <a:latin typeface="Aptos (gövde)"/>
              </a:rPr>
              <a:t>Motorlu araçlar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64007" y="1814807"/>
            <a:ext cx="7831438" cy="4928218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tr-TR" sz="2000" dirty="0">
                <a:latin typeface="Aptos (gövde)"/>
              </a:rPr>
              <a:t>    İşyerinde veya işin yürütümü sırasında hareket eden, motor gücüyle çalışan </a:t>
            </a:r>
            <a:r>
              <a:rPr lang="tr-TR" sz="2000" b="1" dirty="0">
                <a:latin typeface="Aptos (gövde)"/>
              </a:rPr>
              <a:t>taşıt</a:t>
            </a:r>
            <a:r>
              <a:rPr lang="tr-TR" sz="2000" dirty="0">
                <a:latin typeface="Aptos (gövde)"/>
              </a:rPr>
              <a:t> ve </a:t>
            </a:r>
            <a:r>
              <a:rPr lang="tr-TR" sz="2000" b="1" dirty="0">
                <a:latin typeface="Aptos (gövde)"/>
              </a:rPr>
              <a:t>ekipmanları</a:t>
            </a:r>
            <a:r>
              <a:rPr lang="tr-TR" sz="2000" dirty="0">
                <a:latin typeface="Aptos (gövde)"/>
              </a:rPr>
              <a:t> ifade eder. </a:t>
            </a:r>
          </a:p>
          <a:p>
            <a:pPr marL="0" indent="0">
              <a:buNone/>
            </a:pPr>
            <a:r>
              <a:rPr lang="tr-TR" sz="2000" dirty="0">
                <a:latin typeface="Aptos (gövde)"/>
              </a:rPr>
              <a:t>    Bu araçlar, hem </a:t>
            </a:r>
            <a:r>
              <a:rPr lang="tr-TR" sz="2000" b="1" dirty="0">
                <a:latin typeface="Aptos (gövde)"/>
              </a:rPr>
              <a:t>ulaşım</a:t>
            </a:r>
            <a:r>
              <a:rPr lang="tr-TR" sz="2000" dirty="0">
                <a:latin typeface="Aptos (gövde)"/>
              </a:rPr>
              <a:t> hem de </a:t>
            </a:r>
            <a:r>
              <a:rPr lang="tr-TR" sz="2000" b="1" dirty="0">
                <a:latin typeface="Aptos (gövde)"/>
              </a:rPr>
              <a:t>işin yapılması </a:t>
            </a:r>
            <a:r>
              <a:rPr lang="tr-TR" sz="2000" dirty="0">
                <a:latin typeface="Aptos (gövde)"/>
              </a:rPr>
              <a:t>amacıyla kullanılır ve doğru yönetilmediğinde ciddi iş kazalarına yol açabilir.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1800" dirty="0">
                <a:latin typeface="Aptos (gövde)"/>
              </a:rPr>
              <a:t>Forklift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1800" dirty="0">
                <a:latin typeface="Aptos (gövde)"/>
              </a:rPr>
              <a:t>Ekskavatör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1800" dirty="0">
                <a:latin typeface="Aptos (gövde)"/>
              </a:rPr>
              <a:t>Loader (yükleyici)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1800" dirty="0">
                <a:latin typeface="Aptos (gövde)"/>
              </a:rPr>
              <a:t>Dozer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1800" dirty="0">
                <a:latin typeface="Aptos (gövde)"/>
              </a:rPr>
              <a:t>Greyder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1800" dirty="0">
                <a:latin typeface="Aptos (gövde)"/>
              </a:rPr>
              <a:t>Silindir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1800" dirty="0">
                <a:latin typeface="Aptos (gövde)"/>
              </a:rPr>
              <a:t>Vinçler (mobil vinç vb.)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1800" dirty="0">
                <a:latin typeface="Aptos (gövde)"/>
              </a:rPr>
              <a:t>Transpalet (motorlu)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1800" dirty="0">
                <a:latin typeface="Aptos (gövde)"/>
              </a:rPr>
              <a:t>Tarım makineleri (traktörler)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1800" dirty="0">
                <a:latin typeface="Aptos (gövde)"/>
              </a:rPr>
              <a:t>Asfalt serme </a:t>
            </a:r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rcRect l="23704" r="5795"/>
          <a:stretch>
            <a:fillRect/>
          </a:stretch>
        </p:blipFill>
        <p:spPr>
          <a:xfrm>
            <a:off x="8356404" y="2112264"/>
            <a:ext cx="3571589" cy="371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89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b="1" dirty="0">
                <a:latin typeface="Aptos (gövde)"/>
              </a:rPr>
              <a:t>Araç kullanım güvenliği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 (gövde)"/>
              </a:rPr>
              <a:t>Aracı kullanacak kişinin eğitimli ve yetkili olması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b="1" dirty="0">
                <a:latin typeface="Aptos (gövde)"/>
              </a:rPr>
              <a:t>Operatör Belgesi </a:t>
            </a:r>
            <a:r>
              <a:rPr lang="tr-TR" sz="2200" dirty="0">
                <a:latin typeface="Aptos (gövde)"/>
              </a:rPr>
              <a:t>ve </a:t>
            </a:r>
            <a:r>
              <a:rPr lang="tr-TR" sz="2200" b="1" dirty="0">
                <a:latin typeface="Aptos (gövde)"/>
              </a:rPr>
              <a:t>G sınıfı sürücü belgesi</a:t>
            </a:r>
          </a:p>
          <a:p>
            <a:pPr marL="0" indent="0">
              <a:buNone/>
            </a:pPr>
            <a:endParaRPr lang="tr-TR" sz="2200" b="1" dirty="0">
              <a:latin typeface="Aptos (gövde)"/>
            </a:endParaRPr>
          </a:p>
          <a:p>
            <a:pPr marL="0" indent="0">
              <a:buNone/>
            </a:pPr>
            <a:r>
              <a:rPr lang="tr-TR" sz="2200" dirty="0">
                <a:latin typeface="Aptos (gövde)"/>
              </a:rPr>
              <a:t>    İş makinesi operatörlük belgesi, hangi tip makine kullanılacak ise, o makine türüne göre makinenin kullanılabilmesi için gerekli olan belgedir. İş sahası şantiye, fabrika içinde, araç parkında bu belge ile makine  kullanılabilmektedir.</a:t>
            </a:r>
          </a:p>
          <a:p>
            <a:pPr marL="0" indent="0">
              <a:buNone/>
            </a:pPr>
            <a:r>
              <a:rPr lang="tr-TR" sz="2200" dirty="0">
                <a:latin typeface="Aptos (gövde)"/>
              </a:rPr>
              <a:t>    İş makinesi </a:t>
            </a:r>
            <a:r>
              <a:rPr lang="tr-TR" sz="2200" b="1" dirty="0">
                <a:solidFill>
                  <a:srgbClr val="FF0000"/>
                </a:solidFill>
                <a:latin typeface="Aptos (gövde)"/>
              </a:rPr>
              <a:t>operatörlük belgesi ile </a:t>
            </a:r>
            <a:r>
              <a:rPr lang="tr-TR" sz="2200" dirty="0">
                <a:latin typeface="Aptos (gövde)"/>
              </a:rPr>
              <a:t>taşıt </a:t>
            </a:r>
            <a:r>
              <a:rPr lang="tr-TR" sz="2200" b="1" dirty="0">
                <a:solidFill>
                  <a:srgbClr val="FF0000"/>
                </a:solidFill>
                <a:latin typeface="Aptos (gövde)"/>
              </a:rPr>
              <a:t>trafiğine açık yollarda makine kullanılamaz</a:t>
            </a:r>
            <a:r>
              <a:rPr lang="tr-TR" sz="2200" dirty="0">
                <a:solidFill>
                  <a:srgbClr val="FF0000"/>
                </a:solidFill>
                <a:latin typeface="Aptos (gövde)"/>
              </a:rPr>
              <a:t>. </a:t>
            </a:r>
          </a:p>
          <a:p>
            <a:pPr marL="0" indent="0">
              <a:buNone/>
            </a:pPr>
            <a:r>
              <a:rPr lang="tr-TR" sz="2200" dirty="0">
                <a:latin typeface="Aptos (gövde)"/>
              </a:rPr>
              <a:t>    Taşıt trafiğine açık olan yollarda makineyi kullanmak için </a:t>
            </a:r>
            <a:r>
              <a:rPr lang="tr-TR" sz="2200" b="1" dirty="0">
                <a:solidFill>
                  <a:srgbClr val="FF0000"/>
                </a:solidFill>
                <a:latin typeface="Aptos (gövde)"/>
              </a:rPr>
              <a:t>G sınıfı ehliyet </a:t>
            </a:r>
            <a:r>
              <a:rPr lang="tr-TR" sz="2200" dirty="0">
                <a:latin typeface="Aptos (gövde)"/>
              </a:rPr>
              <a:t>almak gereklidir.</a:t>
            </a:r>
          </a:p>
        </p:txBody>
      </p:sp>
    </p:spTree>
    <p:extLst>
      <p:ext uri="{BB962C8B-B14F-4D97-AF65-F5344CB8AC3E}">
        <p14:creationId xmlns:p14="http://schemas.microsoft.com/office/powerpoint/2010/main" val="1072430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D37EE4-EA1B-46EE-A54B-5233C63C969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572493" y="238539"/>
            <a:ext cx="11047013" cy="1434415"/>
          </a:xfrm>
        </p:spPr>
        <p:txBody>
          <a:bodyPr anchor="b">
            <a:normAutofit/>
          </a:bodyPr>
          <a:lstStyle/>
          <a:p>
            <a:r>
              <a:rPr lang="tr-TR" b="1" dirty="0">
                <a:latin typeface="Aptos (gövde)"/>
              </a:rPr>
              <a:t>Motorlu araçlar</a:t>
            </a:r>
            <a:endParaRPr lang="tr-TR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927D5270-6648-4CC1-8F78-48BE299CAC2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767709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 rotWithShape="1">
          <a:blip r:embed="rId2"/>
          <a:srcRect l="31117" r="17412" b="-1"/>
          <a:stretch>
            <a:fillRect/>
          </a:stretch>
        </p:blipFill>
        <p:spPr>
          <a:xfrm>
            <a:off x="572492" y="2002056"/>
            <a:ext cx="3943849" cy="4184060"/>
          </a:xfrm>
          <a:custGeom>
            <a:avLst/>
            <a:gdLst/>
            <a:ahLst/>
            <a:cxnLst/>
            <a:rect l="l" t="t" r="r" b="b"/>
            <a:pathLst>
              <a:path w="3807743" h="6307845">
                <a:moveTo>
                  <a:pt x="723201" y="386"/>
                </a:moveTo>
                <a:cubicBezTo>
                  <a:pt x="853884" y="-4204"/>
                  <a:pt x="1013493" y="33912"/>
                  <a:pt x="1176100" y="22622"/>
                </a:cubicBezTo>
                <a:cubicBezTo>
                  <a:pt x="1230302" y="18859"/>
                  <a:pt x="1281736" y="20622"/>
                  <a:pt x="1331852" y="24473"/>
                </a:cubicBezTo>
                <a:lnTo>
                  <a:pt x="1439547" y="34944"/>
                </a:lnTo>
                <a:lnTo>
                  <a:pt x="1484197" y="36226"/>
                </a:lnTo>
                <a:cubicBezTo>
                  <a:pt x="1535166" y="35421"/>
                  <a:pt x="1586369" y="31625"/>
                  <a:pt x="1636625" y="22622"/>
                </a:cubicBezTo>
                <a:cubicBezTo>
                  <a:pt x="1686882" y="13619"/>
                  <a:pt x="1729837" y="10653"/>
                  <a:pt x="1768740" y="10885"/>
                </a:cubicBezTo>
                <a:lnTo>
                  <a:pt x="1829538" y="15086"/>
                </a:lnTo>
                <a:lnTo>
                  <a:pt x="1869968" y="7996"/>
                </a:lnTo>
                <a:cubicBezTo>
                  <a:pt x="1953577" y="-31"/>
                  <a:pt x="2036989" y="9808"/>
                  <a:pt x="2112925" y="20118"/>
                </a:cubicBezTo>
                <a:lnTo>
                  <a:pt x="2119331" y="20977"/>
                </a:lnTo>
                <a:lnTo>
                  <a:pt x="2221855" y="13374"/>
                </a:lnTo>
                <a:cubicBezTo>
                  <a:pt x="2261207" y="12845"/>
                  <a:pt x="2298379" y="14359"/>
                  <a:pt x="2333484" y="16393"/>
                </a:cubicBezTo>
                <a:lnTo>
                  <a:pt x="2372613" y="18812"/>
                </a:lnTo>
                <a:lnTo>
                  <a:pt x="2404945" y="9387"/>
                </a:lnTo>
                <a:cubicBezTo>
                  <a:pt x="2452532" y="1754"/>
                  <a:pt x="2506192" y="9333"/>
                  <a:pt x="2561622" y="17814"/>
                </a:cubicBezTo>
                <a:lnTo>
                  <a:pt x="2583950" y="20591"/>
                </a:lnTo>
                <a:lnTo>
                  <a:pt x="2643527" y="20319"/>
                </a:lnTo>
                <a:cubicBezTo>
                  <a:pt x="2669677" y="20426"/>
                  <a:pt x="2697963" y="20717"/>
                  <a:pt x="2727392" y="21103"/>
                </a:cubicBezTo>
                <a:lnTo>
                  <a:pt x="2786908" y="21989"/>
                </a:lnTo>
                <a:lnTo>
                  <a:pt x="2846459" y="13267"/>
                </a:lnTo>
                <a:cubicBezTo>
                  <a:pt x="2896401" y="10176"/>
                  <a:pt x="2960607" y="12733"/>
                  <a:pt x="3036361" y="17072"/>
                </a:cubicBezTo>
                <a:lnTo>
                  <a:pt x="3129100" y="22671"/>
                </a:lnTo>
                <a:lnTo>
                  <a:pt x="3130653" y="22622"/>
                </a:lnTo>
                <a:cubicBezTo>
                  <a:pt x="3178874" y="19804"/>
                  <a:pt x="3260845" y="26231"/>
                  <a:pt x="3352422" y="32691"/>
                </a:cubicBezTo>
                <a:lnTo>
                  <a:pt x="3362608" y="33356"/>
                </a:lnTo>
                <a:lnTo>
                  <a:pt x="3446036" y="35579"/>
                </a:lnTo>
                <a:cubicBezTo>
                  <a:pt x="3550323" y="36566"/>
                  <a:pt x="3662083" y="33535"/>
                  <a:pt x="3778601" y="22622"/>
                </a:cubicBezTo>
                <a:cubicBezTo>
                  <a:pt x="3793981" y="243672"/>
                  <a:pt x="3764152" y="318695"/>
                  <a:pt x="3778601" y="467157"/>
                </a:cubicBezTo>
                <a:cubicBezTo>
                  <a:pt x="3790077" y="557563"/>
                  <a:pt x="3783697" y="684218"/>
                  <a:pt x="3777639" y="811856"/>
                </a:cubicBezTo>
                <a:lnTo>
                  <a:pt x="3773760" y="922625"/>
                </a:lnTo>
                <a:lnTo>
                  <a:pt x="3778601" y="974384"/>
                </a:lnTo>
                <a:cubicBezTo>
                  <a:pt x="3785784" y="1003717"/>
                  <a:pt x="3785160" y="1041120"/>
                  <a:pt x="3781239" y="1085904"/>
                </a:cubicBezTo>
                <a:lnTo>
                  <a:pt x="3776107" y="1132519"/>
                </a:lnTo>
                <a:lnTo>
                  <a:pt x="3778601" y="1162456"/>
                </a:lnTo>
                <a:cubicBezTo>
                  <a:pt x="3791360" y="1256797"/>
                  <a:pt x="3774958" y="1367020"/>
                  <a:pt x="3763568" y="1469787"/>
                </a:cubicBezTo>
                <a:lnTo>
                  <a:pt x="3758806" y="1520515"/>
                </a:lnTo>
                <a:lnTo>
                  <a:pt x="3760417" y="1549437"/>
                </a:lnTo>
                <a:cubicBezTo>
                  <a:pt x="3764298" y="1588133"/>
                  <a:pt x="3770171" y="1628243"/>
                  <a:pt x="3778601" y="1669683"/>
                </a:cubicBezTo>
                <a:cubicBezTo>
                  <a:pt x="3846039" y="2001203"/>
                  <a:pt x="3774784" y="2142285"/>
                  <a:pt x="3778601" y="2364982"/>
                </a:cubicBezTo>
                <a:lnTo>
                  <a:pt x="3776565" y="2406088"/>
                </a:lnTo>
                <a:lnTo>
                  <a:pt x="3778601" y="2427673"/>
                </a:lnTo>
                <a:cubicBezTo>
                  <a:pt x="3821357" y="2695960"/>
                  <a:pt x="3735684" y="2699438"/>
                  <a:pt x="3778601" y="2809517"/>
                </a:cubicBezTo>
                <a:cubicBezTo>
                  <a:pt x="3789330" y="2837037"/>
                  <a:pt x="3791666" y="2872927"/>
                  <a:pt x="3789892" y="2914654"/>
                </a:cubicBezTo>
                <a:lnTo>
                  <a:pt x="3784971" y="2966248"/>
                </a:lnTo>
                <a:lnTo>
                  <a:pt x="3796722" y="3024078"/>
                </a:lnTo>
                <a:cubicBezTo>
                  <a:pt x="3809238" y="3115139"/>
                  <a:pt x="3806232" y="3210898"/>
                  <a:pt x="3799338" y="3302850"/>
                </a:cubicBezTo>
                <a:lnTo>
                  <a:pt x="3787405" y="3438354"/>
                </a:lnTo>
                <a:lnTo>
                  <a:pt x="3790719" y="3460532"/>
                </a:lnTo>
                <a:cubicBezTo>
                  <a:pt x="3797323" y="3541872"/>
                  <a:pt x="3789007" y="3624193"/>
                  <a:pt x="3780361" y="3709762"/>
                </a:cubicBezTo>
                <a:lnTo>
                  <a:pt x="3780169" y="3712283"/>
                </a:lnTo>
                <a:lnTo>
                  <a:pt x="3781239" y="3768266"/>
                </a:lnTo>
                <a:cubicBezTo>
                  <a:pt x="3780994" y="3815588"/>
                  <a:pt x="3779902" y="3863939"/>
                  <a:pt x="3778794" y="3912511"/>
                </a:cubicBezTo>
                <a:lnTo>
                  <a:pt x="3776324" y="4054010"/>
                </a:lnTo>
                <a:lnTo>
                  <a:pt x="3778601" y="4074733"/>
                </a:lnTo>
                <a:cubicBezTo>
                  <a:pt x="3822365" y="4336760"/>
                  <a:pt x="3765189" y="4482586"/>
                  <a:pt x="3778601" y="4644650"/>
                </a:cubicBezTo>
                <a:cubicBezTo>
                  <a:pt x="3781954" y="4685166"/>
                  <a:pt x="3782850" y="4718916"/>
                  <a:pt x="3782504" y="4749344"/>
                </a:cubicBezTo>
                <a:lnTo>
                  <a:pt x="3780512" y="4796832"/>
                </a:lnTo>
                <a:lnTo>
                  <a:pt x="3786260" y="4877451"/>
                </a:lnTo>
                <a:cubicBezTo>
                  <a:pt x="3786165" y="4918212"/>
                  <a:pt x="3784020" y="4964155"/>
                  <a:pt x="3781623" y="5015963"/>
                </a:cubicBezTo>
                <a:lnTo>
                  <a:pt x="3779076" y="5087925"/>
                </a:lnTo>
                <a:lnTo>
                  <a:pt x="3779599" y="5155456"/>
                </a:lnTo>
                <a:lnTo>
                  <a:pt x="3775907" y="5219073"/>
                </a:lnTo>
                <a:lnTo>
                  <a:pt x="3778601" y="5402640"/>
                </a:lnTo>
                <a:cubicBezTo>
                  <a:pt x="3780494" y="5441637"/>
                  <a:pt x="3781680" y="5475146"/>
                  <a:pt x="3782335" y="5504141"/>
                </a:cubicBezTo>
                <a:lnTo>
                  <a:pt x="3782798" y="5566951"/>
                </a:lnTo>
                <a:lnTo>
                  <a:pt x="3786885" y="5599303"/>
                </a:lnTo>
                <a:cubicBezTo>
                  <a:pt x="3799534" y="5776838"/>
                  <a:pt x="3769350" y="6111156"/>
                  <a:pt x="3778601" y="6291711"/>
                </a:cubicBezTo>
                <a:cubicBezTo>
                  <a:pt x="3687392" y="6306733"/>
                  <a:pt x="3632350" y="6304889"/>
                  <a:pt x="3574752" y="6300212"/>
                </a:cubicBezTo>
                <a:lnTo>
                  <a:pt x="3545837" y="6297718"/>
                </a:lnTo>
                <a:lnTo>
                  <a:pt x="3527963" y="6296834"/>
                </a:lnTo>
                <a:cubicBezTo>
                  <a:pt x="3482151" y="6294419"/>
                  <a:pt x="3430025" y="6291672"/>
                  <a:pt x="3355561" y="6291711"/>
                </a:cubicBezTo>
                <a:cubicBezTo>
                  <a:pt x="3304843" y="6293555"/>
                  <a:pt x="3262749" y="6292377"/>
                  <a:pt x="3225711" y="6290098"/>
                </a:cubicBezTo>
                <a:lnTo>
                  <a:pt x="3218247" y="6289525"/>
                </a:lnTo>
                <a:lnTo>
                  <a:pt x="3198550" y="6289212"/>
                </a:lnTo>
                <a:cubicBezTo>
                  <a:pt x="3144315" y="6287803"/>
                  <a:pt x="3088976" y="6286105"/>
                  <a:pt x="3034921" y="6284968"/>
                </a:cubicBezTo>
                <a:lnTo>
                  <a:pt x="2973802" y="6284626"/>
                </a:lnTo>
                <a:lnTo>
                  <a:pt x="2932520" y="6291711"/>
                </a:lnTo>
                <a:cubicBezTo>
                  <a:pt x="2893699" y="6300111"/>
                  <a:pt x="2847670" y="6301992"/>
                  <a:pt x="2797581" y="6300669"/>
                </a:cubicBezTo>
                <a:lnTo>
                  <a:pt x="2672392" y="6292599"/>
                </a:lnTo>
                <a:lnTo>
                  <a:pt x="2629726" y="6293120"/>
                </a:lnTo>
                <a:lnTo>
                  <a:pt x="2540544" y="6284698"/>
                </a:lnTo>
                <a:lnTo>
                  <a:pt x="2473475" y="6280786"/>
                </a:lnTo>
                <a:cubicBezTo>
                  <a:pt x="2419724" y="6279900"/>
                  <a:pt x="2368202" y="6282437"/>
                  <a:pt x="2322057" y="6291711"/>
                </a:cubicBezTo>
                <a:cubicBezTo>
                  <a:pt x="2275912" y="6300985"/>
                  <a:pt x="2236301" y="6305003"/>
                  <a:pt x="2199195" y="6305968"/>
                </a:cubicBezTo>
                <a:lnTo>
                  <a:pt x="2094190" y="6302012"/>
                </a:lnTo>
                <a:lnTo>
                  <a:pt x="2029724" y="6307766"/>
                </a:lnTo>
                <a:cubicBezTo>
                  <a:pt x="1971866" y="6308389"/>
                  <a:pt x="1916420" y="6305265"/>
                  <a:pt x="1864312" y="6301339"/>
                </a:cubicBezTo>
                <a:lnTo>
                  <a:pt x="1761307" y="6293375"/>
                </a:lnTo>
                <a:lnTo>
                  <a:pt x="1745972" y="6293782"/>
                </a:lnTo>
                <a:cubicBezTo>
                  <a:pt x="1699734" y="6294177"/>
                  <a:pt x="1664143" y="6292827"/>
                  <a:pt x="1633352" y="6291083"/>
                </a:cubicBezTo>
                <a:lnTo>
                  <a:pt x="1621369" y="6290324"/>
                </a:lnTo>
                <a:lnTo>
                  <a:pt x="1599140" y="6291711"/>
                </a:lnTo>
                <a:cubicBezTo>
                  <a:pt x="1564093" y="6296354"/>
                  <a:pt x="1527169" y="6296254"/>
                  <a:pt x="1488567" y="6294097"/>
                </a:cubicBezTo>
                <a:lnTo>
                  <a:pt x="1429716" y="6289243"/>
                </a:lnTo>
                <a:lnTo>
                  <a:pt x="1401008" y="6291711"/>
                </a:lnTo>
                <a:cubicBezTo>
                  <a:pt x="1314301" y="6301163"/>
                  <a:pt x="1222976" y="6299856"/>
                  <a:pt x="1127367" y="6296839"/>
                </a:cubicBezTo>
                <a:lnTo>
                  <a:pt x="1062601" y="6295730"/>
                </a:lnTo>
                <a:lnTo>
                  <a:pt x="964991" y="6305909"/>
                </a:lnTo>
                <a:cubicBezTo>
                  <a:pt x="833250" y="6307778"/>
                  <a:pt x="714190" y="6280255"/>
                  <a:pt x="603122" y="6291711"/>
                </a:cubicBezTo>
                <a:cubicBezTo>
                  <a:pt x="455032" y="6306986"/>
                  <a:pt x="261206" y="6260346"/>
                  <a:pt x="30143" y="6291711"/>
                </a:cubicBezTo>
                <a:cubicBezTo>
                  <a:pt x="-1198" y="6167281"/>
                  <a:pt x="7291" y="6044138"/>
                  <a:pt x="19371" y="5934598"/>
                </a:cubicBezTo>
                <a:lnTo>
                  <a:pt x="33559" y="5801663"/>
                </a:lnTo>
                <a:lnTo>
                  <a:pt x="30143" y="5784485"/>
                </a:lnTo>
                <a:cubicBezTo>
                  <a:pt x="7257" y="5691455"/>
                  <a:pt x="7506" y="5585492"/>
                  <a:pt x="13352" y="5476692"/>
                </a:cubicBezTo>
                <a:lnTo>
                  <a:pt x="21882" y="5346809"/>
                </a:lnTo>
                <a:lnTo>
                  <a:pt x="22064" y="5339439"/>
                </a:lnTo>
                <a:lnTo>
                  <a:pt x="29601" y="5166357"/>
                </a:lnTo>
                <a:lnTo>
                  <a:pt x="30143" y="5151877"/>
                </a:lnTo>
                <a:cubicBezTo>
                  <a:pt x="30018" y="5125783"/>
                  <a:pt x="30111" y="5102484"/>
                  <a:pt x="30346" y="5081409"/>
                </a:cubicBezTo>
                <a:lnTo>
                  <a:pt x="30433" y="5076663"/>
                </a:lnTo>
                <a:lnTo>
                  <a:pt x="30143" y="4963804"/>
                </a:lnTo>
                <a:cubicBezTo>
                  <a:pt x="27040" y="4910138"/>
                  <a:pt x="27067" y="4856021"/>
                  <a:pt x="28459" y="4800989"/>
                </a:cubicBezTo>
                <a:lnTo>
                  <a:pt x="30399" y="4750796"/>
                </a:lnTo>
                <a:lnTo>
                  <a:pt x="31514" y="4666872"/>
                </a:lnTo>
                <a:lnTo>
                  <a:pt x="34697" y="4639551"/>
                </a:lnTo>
                <a:lnTo>
                  <a:pt x="34963" y="4632686"/>
                </a:lnTo>
                <a:cubicBezTo>
                  <a:pt x="37318" y="4575362"/>
                  <a:pt x="39271" y="4516661"/>
                  <a:pt x="39056" y="4456118"/>
                </a:cubicBezTo>
                <a:lnTo>
                  <a:pt x="36996" y="4412759"/>
                </a:lnTo>
                <a:lnTo>
                  <a:pt x="30143" y="4388188"/>
                </a:lnTo>
                <a:cubicBezTo>
                  <a:pt x="7389" y="4328002"/>
                  <a:pt x="11492" y="4256950"/>
                  <a:pt x="19232" y="4188739"/>
                </a:cubicBezTo>
                <a:lnTo>
                  <a:pt x="23985" y="4147809"/>
                </a:lnTo>
                <a:lnTo>
                  <a:pt x="23690" y="4087290"/>
                </a:lnTo>
                <a:lnTo>
                  <a:pt x="29097" y="3984687"/>
                </a:lnTo>
                <a:lnTo>
                  <a:pt x="28035" y="3962690"/>
                </a:lnTo>
                <a:cubicBezTo>
                  <a:pt x="28525" y="3945828"/>
                  <a:pt x="30052" y="3926691"/>
                  <a:pt x="32148" y="3905387"/>
                </a:cubicBezTo>
                <a:lnTo>
                  <a:pt x="34754" y="3881032"/>
                </a:lnTo>
                <a:lnTo>
                  <a:pt x="39206" y="3802233"/>
                </a:lnTo>
                <a:cubicBezTo>
                  <a:pt x="39778" y="3763353"/>
                  <a:pt x="37619" y="3728800"/>
                  <a:pt x="30143" y="3698588"/>
                </a:cubicBezTo>
                <a:cubicBezTo>
                  <a:pt x="7714" y="3607954"/>
                  <a:pt x="33117" y="3482508"/>
                  <a:pt x="36579" y="3365983"/>
                </a:cubicBezTo>
                <a:lnTo>
                  <a:pt x="36510" y="3356621"/>
                </a:lnTo>
                <a:lnTo>
                  <a:pt x="30143" y="3311044"/>
                </a:lnTo>
                <a:cubicBezTo>
                  <a:pt x="14271" y="3224157"/>
                  <a:pt x="11445" y="3149243"/>
                  <a:pt x="14856" y="3082749"/>
                </a:cubicBezTo>
                <a:lnTo>
                  <a:pt x="22229" y="3005366"/>
                </a:lnTo>
                <a:lnTo>
                  <a:pt x="27244" y="2895198"/>
                </a:lnTo>
                <a:cubicBezTo>
                  <a:pt x="29143" y="2848776"/>
                  <a:pt x="30527" y="2799531"/>
                  <a:pt x="30143" y="2746826"/>
                </a:cubicBezTo>
                <a:lnTo>
                  <a:pt x="36784" y="2638240"/>
                </a:lnTo>
                <a:lnTo>
                  <a:pt x="30143" y="2615745"/>
                </a:lnTo>
                <a:cubicBezTo>
                  <a:pt x="-20952" y="2495890"/>
                  <a:pt x="17898" y="2340273"/>
                  <a:pt x="37923" y="2201958"/>
                </a:cubicBezTo>
                <a:lnTo>
                  <a:pt x="42734" y="2158379"/>
                </a:lnTo>
                <a:lnTo>
                  <a:pt x="30143" y="2114218"/>
                </a:lnTo>
                <a:cubicBezTo>
                  <a:pt x="2269" y="2040950"/>
                  <a:pt x="-2735" y="1972014"/>
                  <a:pt x="1162" y="1906697"/>
                </a:cubicBezTo>
                <a:lnTo>
                  <a:pt x="6289" y="1854885"/>
                </a:lnTo>
                <a:lnTo>
                  <a:pt x="8053" y="1809168"/>
                </a:lnTo>
                <a:cubicBezTo>
                  <a:pt x="9832" y="1790244"/>
                  <a:pt x="12470" y="1771472"/>
                  <a:pt x="15415" y="1752867"/>
                </a:cubicBezTo>
                <a:lnTo>
                  <a:pt x="30925" y="1652561"/>
                </a:lnTo>
                <a:lnTo>
                  <a:pt x="30143" y="1606992"/>
                </a:lnTo>
                <a:cubicBezTo>
                  <a:pt x="28397" y="1588584"/>
                  <a:pt x="27931" y="1568665"/>
                  <a:pt x="28348" y="1547550"/>
                </a:cubicBezTo>
                <a:lnTo>
                  <a:pt x="29206" y="1531212"/>
                </a:lnTo>
                <a:lnTo>
                  <a:pt x="23637" y="1487282"/>
                </a:lnTo>
                <a:cubicBezTo>
                  <a:pt x="16479" y="1367166"/>
                  <a:pt x="59638" y="1246041"/>
                  <a:pt x="30143" y="1156757"/>
                </a:cubicBezTo>
                <a:cubicBezTo>
                  <a:pt x="21716" y="1131248"/>
                  <a:pt x="18318" y="1090735"/>
                  <a:pt x="17757" y="1041370"/>
                </a:cubicBezTo>
                <a:lnTo>
                  <a:pt x="18463" y="985697"/>
                </a:lnTo>
                <a:lnTo>
                  <a:pt x="16239" y="975915"/>
                </a:lnTo>
                <a:cubicBezTo>
                  <a:pt x="13541" y="957312"/>
                  <a:pt x="12597" y="940330"/>
                  <a:pt x="12862" y="924477"/>
                </a:cubicBezTo>
                <a:lnTo>
                  <a:pt x="23640" y="845857"/>
                </a:lnTo>
                <a:lnTo>
                  <a:pt x="30907" y="688163"/>
                </a:lnTo>
                <a:lnTo>
                  <a:pt x="31375" y="662715"/>
                </a:lnTo>
                <a:lnTo>
                  <a:pt x="30143" y="655230"/>
                </a:lnTo>
                <a:cubicBezTo>
                  <a:pt x="20345" y="615334"/>
                  <a:pt x="17924" y="569960"/>
                  <a:pt x="19185" y="520814"/>
                </a:cubicBezTo>
                <a:lnTo>
                  <a:pt x="26662" y="415314"/>
                </a:lnTo>
                <a:lnTo>
                  <a:pt x="25635" y="383217"/>
                </a:lnTo>
                <a:cubicBezTo>
                  <a:pt x="25461" y="243905"/>
                  <a:pt x="35455" y="113017"/>
                  <a:pt x="30143" y="22622"/>
                </a:cubicBezTo>
                <a:cubicBezTo>
                  <a:pt x="90096" y="13526"/>
                  <a:pt x="146841" y="12585"/>
                  <a:pt x="200495" y="15390"/>
                </a:cubicBezTo>
                <a:lnTo>
                  <a:pt x="324102" y="27794"/>
                </a:lnTo>
                <a:lnTo>
                  <a:pt x="329634" y="27979"/>
                </a:lnTo>
                <a:cubicBezTo>
                  <a:pt x="398332" y="30204"/>
                  <a:pt x="468106" y="31425"/>
                  <a:pt x="551798" y="27886"/>
                </a:cubicBezTo>
                <a:lnTo>
                  <a:pt x="592464" y="25476"/>
                </a:lnTo>
                <a:lnTo>
                  <a:pt x="603122" y="22622"/>
                </a:lnTo>
                <a:cubicBezTo>
                  <a:pt x="639294" y="8191"/>
                  <a:pt x="679641" y="1916"/>
                  <a:pt x="723201" y="386"/>
                </a:cubicBezTo>
                <a:close/>
              </a:path>
            </a:pathLst>
          </a:custGeom>
        </p:spPr>
      </p:pic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905955" y="2071316"/>
            <a:ext cx="6713552" cy="4114800"/>
          </a:xfrm>
        </p:spPr>
        <p:txBody>
          <a:bodyPr anchor="t">
            <a:normAutofit/>
          </a:bodyPr>
          <a:lstStyle/>
          <a:p>
            <a:r>
              <a:rPr lang="tr-TR" sz="2200" dirty="0">
                <a:solidFill>
                  <a:srgbClr val="C00000"/>
                </a:solidFill>
                <a:latin typeface="Aptos (gövde)"/>
              </a:rPr>
              <a:t>Forklift</a:t>
            </a:r>
          </a:p>
          <a:p>
            <a:pPr marL="0" indent="0">
              <a:buNone/>
            </a:pPr>
            <a:endParaRPr lang="tr-TR" sz="2200" dirty="0">
              <a:latin typeface="Aptos (gövde)"/>
            </a:endParaRPr>
          </a:p>
          <a:p>
            <a:pPr marL="0" indent="0">
              <a:buNone/>
            </a:pPr>
            <a:r>
              <a:rPr lang="tr-TR" sz="2200" dirty="0"/>
              <a:t>   </a:t>
            </a:r>
            <a:r>
              <a:rPr lang="tr-TR" sz="2200" dirty="0">
                <a:latin typeface="Aptos (gövde)"/>
              </a:rPr>
              <a:t>Sanayi kesimlerinde; depolama, gümrük, stoklama, ambarlama gibi iş yerlerinde ekonomik olarak iş yapan makinelerdir. </a:t>
            </a:r>
          </a:p>
          <a:p>
            <a:pPr marL="0" indent="0">
              <a:buNone/>
            </a:pPr>
            <a:r>
              <a:rPr lang="tr-TR" sz="2200" dirty="0">
                <a:latin typeface="Aptos (gövde)"/>
              </a:rPr>
              <a:t>  Bu makineler ile malzemelerin yükleme, boşaltma ve taşıma hizmetleri yapılmaktadır.</a:t>
            </a:r>
          </a:p>
          <a:p>
            <a:pPr marL="0" indent="0">
              <a:buNone/>
            </a:pPr>
            <a:endParaRPr lang="tr-TR" sz="2200" dirty="0"/>
          </a:p>
          <a:p>
            <a:pPr marL="0" indent="0">
              <a:buNone/>
            </a:pPr>
            <a:r>
              <a:rPr lang="tr-TR" sz="2200" dirty="0" smtClean="0">
                <a:latin typeface="Aptos (gövde)"/>
              </a:rPr>
              <a:t>En yaygın </a:t>
            </a:r>
            <a:r>
              <a:rPr lang="tr-TR" sz="2200" dirty="0">
                <a:latin typeface="Aptos (gövde)"/>
              </a:rPr>
              <a:t>kullanım alanları</a:t>
            </a:r>
            <a:r>
              <a:rPr lang="tr-TR" sz="2200" dirty="0" smtClean="0">
                <a:latin typeface="Aptos (gövde)"/>
              </a:rPr>
              <a:t>: Depolar</a:t>
            </a:r>
            <a:r>
              <a:rPr lang="tr-TR" sz="2200" dirty="0">
                <a:latin typeface="Aptos (gövde)"/>
              </a:rPr>
              <a:t>, lojistik merkezleri, fabrikalar, limanlar, organize sanayi bölgeleri, market dağıtım merkezleri</a:t>
            </a:r>
            <a:endParaRPr lang="tr-TR" sz="2200" dirty="0">
              <a:latin typeface="Aptos (gövde)"/>
            </a:endParaRPr>
          </a:p>
        </p:txBody>
      </p:sp>
    </p:spTree>
    <p:extLst>
      <p:ext uri="{BB962C8B-B14F-4D97-AF65-F5344CB8AC3E}">
        <p14:creationId xmlns:p14="http://schemas.microsoft.com/office/powerpoint/2010/main" val="2664308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/>
          </a:bodyPr>
          <a:lstStyle/>
          <a:p>
            <a:r>
              <a:rPr lang="tr-TR" b="1" dirty="0">
                <a:latin typeface="Aptos (gövde)"/>
              </a:rPr>
              <a:t>Motorlu araçlar</a:t>
            </a:r>
            <a:endParaRPr lang="tr-TR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635621"/>
            <a:ext cx="5458968" cy="3586758"/>
          </a:xfrm>
          <a:prstGeom prst="rect">
            <a:avLst/>
          </a:prstGeom>
        </p:spPr>
      </p:pic>
      <p:sp>
        <p:nvSpPr>
          <p:cNvPr id="12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442980" y="2664885"/>
            <a:ext cx="5458968" cy="3942391"/>
          </a:xfrm>
        </p:spPr>
        <p:txBody>
          <a:bodyPr anchor="t">
            <a:normAutofit/>
          </a:bodyPr>
          <a:lstStyle/>
          <a:p>
            <a:r>
              <a:rPr lang="tr-TR" sz="1900" dirty="0">
                <a:solidFill>
                  <a:srgbClr val="C00000"/>
                </a:solidFill>
                <a:latin typeface="Aptos (gövde)"/>
              </a:rPr>
              <a:t>Ekskavatör </a:t>
            </a:r>
          </a:p>
          <a:p>
            <a:pPr marL="0" indent="0">
              <a:buNone/>
            </a:pPr>
            <a:r>
              <a:rPr lang="tr-TR" sz="1900" dirty="0">
                <a:latin typeface="Aptos (gövde)"/>
              </a:rPr>
              <a:t>   Ekskavatör, genel olarak yapı temellerinde, hendek kazılarında, hareket sahası kısıtlı olduğundan kazma ve yükleme işlemlerinin bir arada yapılması gereken kazılarda, drenaj ve sulama kanalları kazılarında, kırma işlerinde ve tünellerde kullanılır.</a:t>
            </a:r>
          </a:p>
          <a:p>
            <a:pPr marL="0" indent="0">
              <a:buNone/>
            </a:pPr>
            <a:r>
              <a:rPr lang="tr-TR" sz="1900" dirty="0">
                <a:latin typeface="Aptos (gövde)"/>
              </a:rPr>
              <a:t>   En önemli özelliği, dönerek çalışabilme kabiliyeti sayesinde bu işleri yer değiştirmeden yapabilmesidir. </a:t>
            </a:r>
          </a:p>
          <a:p>
            <a:pPr marL="0" indent="0">
              <a:buNone/>
            </a:pPr>
            <a:r>
              <a:rPr lang="tr-TR" sz="1900" dirty="0">
                <a:latin typeface="Aptos (gövde)"/>
              </a:rPr>
              <a:t>   Hareket kabiliyetinin çok yüksek olması, kazı ve yüklemeyi aynı anda yapabilmesi nedeniyle, ekskavatör en yaygın kullanılan iş makinasıdır. </a:t>
            </a:r>
          </a:p>
          <a:p>
            <a:pPr marL="0" indent="0">
              <a:buNone/>
            </a:pPr>
            <a:endParaRPr lang="tr-TR" sz="1700" dirty="0">
              <a:latin typeface="Aptos (gövde)"/>
            </a:endParaRPr>
          </a:p>
        </p:txBody>
      </p:sp>
    </p:spTree>
    <p:extLst>
      <p:ext uri="{BB962C8B-B14F-4D97-AF65-F5344CB8AC3E}">
        <p14:creationId xmlns:p14="http://schemas.microsoft.com/office/powerpoint/2010/main" val="2652689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tr-TR" b="1" dirty="0">
                <a:latin typeface="Aptos (gövde)"/>
              </a:rPr>
              <a:t>Motorlu araçlar</a:t>
            </a:r>
            <a:endParaRPr lang="tr-TR" dirty="0"/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654295" y="502919"/>
            <a:ext cx="6894576" cy="2685577"/>
          </a:xfrm>
        </p:spPr>
        <p:txBody>
          <a:bodyPr anchor="ctr">
            <a:normAutofit/>
          </a:bodyPr>
          <a:lstStyle/>
          <a:p>
            <a:r>
              <a:rPr lang="tr-TR" sz="2000" dirty="0">
                <a:solidFill>
                  <a:srgbClr val="C00000"/>
                </a:solidFill>
                <a:latin typeface="Aptos Display" panose="020B0004020202020204" pitchFamily="34" charset="0"/>
              </a:rPr>
              <a:t>Kazıcı yükleyici (Loader)</a:t>
            </a:r>
          </a:p>
          <a:p>
            <a:pPr marL="0" indent="0">
              <a:buNone/>
            </a:pPr>
            <a:endParaRPr lang="tr-TR" sz="2000" dirty="0">
              <a:latin typeface="Aptos Display" panose="020B0004020202020204" pitchFamily="34" charset="0"/>
            </a:endParaRPr>
          </a:p>
          <a:p>
            <a:pPr marL="0" indent="0">
              <a:buNone/>
            </a:pPr>
            <a:r>
              <a:rPr lang="tr-TR" sz="2000" dirty="0">
                <a:latin typeface="Aptos Display" panose="020B0004020202020204" pitchFamily="34" charset="0"/>
              </a:rPr>
              <a:t>   İnşaat, madencilik, yol yapımı ve altyapı çalışmalarında kazı ve yükleme işlerinin bir arada yapılabildiği çok yönlü olarak kullanılan bir iş makinesidir. </a:t>
            </a:r>
          </a:p>
          <a:p>
            <a:pPr marL="0" indent="0">
              <a:buNone/>
            </a:pPr>
            <a:r>
              <a:rPr lang="tr-TR" sz="2000" dirty="0">
                <a:latin typeface="Aptos Display" panose="020B0004020202020204" pitchFamily="34" charset="0"/>
              </a:rPr>
              <a:t>  Hem </a:t>
            </a:r>
            <a:r>
              <a:rPr lang="tr-TR" sz="2000" b="1" dirty="0">
                <a:latin typeface="Aptos Display" panose="020B0004020202020204" pitchFamily="34" charset="0"/>
              </a:rPr>
              <a:t>ekskavatörün</a:t>
            </a:r>
            <a:r>
              <a:rPr lang="tr-TR" sz="2000" dirty="0">
                <a:latin typeface="Aptos Display" panose="020B0004020202020204" pitchFamily="34" charset="0"/>
              </a:rPr>
              <a:t> hem de </a:t>
            </a:r>
            <a:r>
              <a:rPr lang="tr-TR" sz="2000" b="1" dirty="0">
                <a:latin typeface="Aptos Display" panose="020B0004020202020204" pitchFamily="34" charset="0"/>
              </a:rPr>
              <a:t>yükleyicinin</a:t>
            </a:r>
            <a:r>
              <a:rPr lang="tr-TR" sz="2000" dirty="0">
                <a:latin typeface="Aptos Display" panose="020B0004020202020204" pitchFamily="34" charset="0"/>
              </a:rPr>
              <a:t> görevlerini tek bir makinede birleştirir; bu da onu küçük ve orta ölçekli projelerde oldukça ekonomik ve verimli hale getirir.</a:t>
            </a:r>
          </a:p>
          <a:p>
            <a:pPr marL="0" indent="0">
              <a:buNone/>
            </a:pPr>
            <a:endParaRPr lang="tr-TR" sz="1200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521" y="3512125"/>
            <a:ext cx="10168958" cy="3022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516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698643"/>
            <a:ext cx="5243394" cy="2225532"/>
          </a:xfrm>
        </p:spPr>
        <p:txBody>
          <a:bodyPr anchor="t">
            <a:normAutofit/>
          </a:bodyPr>
          <a:lstStyle/>
          <a:p>
            <a:r>
              <a:rPr lang="tr-TR" b="1" dirty="0">
                <a:latin typeface="Aptos (gövde)"/>
              </a:rPr>
              <a:t>Motorlu araçlar</a:t>
            </a:r>
            <a:endParaRPr lang="tr-TR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81934"/>
            <a:ext cx="0" cy="647606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4F88D19-C269-4F98-BE6B-CFB6207D366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10408" y="740316"/>
            <a:ext cx="465458" cy="872153"/>
            <a:chOff x="6110408" y="740316"/>
            <a:chExt cx="465458" cy="872153"/>
          </a:xfrm>
        </p:grpSpPr>
        <p:sp>
          <p:nvSpPr>
            <p:cNvPr id="14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5948" y="74031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84728" y="969611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0408" y="14847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50793"/>
            <a:ext cx="5243391" cy="2899491"/>
          </a:xfrm>
          <a:prstGeom prst="rect">
            <a:avLst/>
          </a:prstGeom>
        </p:spPr>
      </p:pic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484728" y="879355"/>
            <a:ext cx="5402472" cy="5120755"/>
          </a:xfrm>
        </p:spPr>
        <p:txBody>
          <a:bodyPr anchor="ctr">
            <a:normAutofit/>
          </a:bodyPr>
          <a:lstStyle/>
          <a:p>
            <a:r>
              <a:rPr lang="tr-TR" sz="2000" dirty="0">
                <a:solidFill>
                  <a:srgbClr val="C00000">
                    <a:alpha val="80000"/>
                  </a:srgbClr>
                </a:solidFill>
                <a:latin typeface="Aptos (gövde)"/>
              </a:rPr>
              <a:t>Greyder </a:t>
            </a:r>
            <a:r>
              <a:rPr lang="tr-TR" sz="2000" dirty="0">
                <a:solidFill>
                  <a:schemeClr val="tx1">
                    <a:alpha val="80000"/>
                  </a:schemeClr>
                </a:solidFill>
                <a:latin typeface="Aptos (gövde)"/>
              </a:rPr>
              <a:t> </a:t>
            </a:r>
          </a:p>
          <a:p>
            <a:pPr marL="0" indent="0">
              <a:buNone/>
            </a:pPr>
            <a:r>
              <a:rPr lang="tr-TR" sz="2000" dirty="0">
                <a:latin typeface="Aptos Display" panose="020B0004020202020204" pitchFamily="34" charset="0"/>
              </a:rPr>
              <a:t>    Genel olarak, tesviye işlerinde, şey oluşturma (eğim verme), hendek kazma ve yol yapımı için kullanılan çok amaçlı uzun bıçaklı iş makineleridir.</a:t>
            </a:r>
          </a:p>
          <a:p>
            <a:pPr marL="0" indent="0">
              <a:buNone/>
            </a:pPr>
            <a:r>
              <a:rPr lang="tr-TR" sz="2000" dirty="0">
                <a:latin typeface="Aptos Display" panose="020B0004020202020204" pitchFamily="34" charset="0"/>
              </a:rPr>
              <a:t>   Ana görevi, zemini istenen eğim ve düzgünlükte şekillendirmektir.</a:t>
            </a:r>
          </a:p>
          <a:p>
            <a:pPr marL="0" indent="0">
              <a:buNone/>
            </a:pPr>
            <a:r>
              <a:rPr lang="tr-TR" sz="2000" dirty="0">
                <a:latin typeface="Aptos Display" panose="020B0004020202020204" pitchFamily="34" charset="0"/>
              </a:rPr>
              <a:t>   Greyderler ağır kazı işleri için (dozer gibi) uygun </a:t>
            </a:r>
            <a:r>
              <a:rPr lang="tr-TR" sz="2000" dirty="0" smtClean="0">
                <a:latin typeface="Aptos Display" panose="020B0004020202020204" pitchFamily="34" charset="0"/>
              </a:rPr>
              <a:t>makineler değildirler.</a:t>
            </a:r>
          </a:p>
          <a:p>
            <a:pPr marL="0" indent="0">
              <a:buNone/>
            </a:pPr>
            <a:endParaRPr lang="tr-TR" sz="2000" dirty="0">
              <a:latin typeface="Aptos Display" panose="020B0004020202020204" pitchFamily="34" charset="0"/>
            </a:endParaRPr>
          </a:p>
          <a:p>
            <a:pPr marL="0" indent="0">
              <a:buNone/>
            </a:pPr>
            <a:r>
              <a:rPr lang="tr-TR" sz="2000" dirty="0">
                <a:latin typeface="Aptos (gövde)"/>
              </a:rPr>
              <a:t>En yaygın kullanım alanları</a:t>
            </a:r>
            <a:r>
              <a:rPr lang="tr-TR" sz="2000" dirty="0" smtClean="0">
                <a:latin typeface="Aptos (gövde)"/>
              </a:rPr>
              <a:t>: Karayolu </a:t>
            </a:r>
            <a:r>
              <a:rPr lang="tr-TR" sz="2000" dirty="0">
                <a:latin typeface="Aptos (gövde)"/>
              </a:rPr>
              <a:t>yapımı ve bakımı, havaalanı pistleri, stabilize yollar, belediye yol çalışmaları</a:t>
            </a:r>
            <a:endParaRPr lang="tr-TR" sz="20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083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anchor="t">
            <a:normAutofit/>
          </a:bodyPr>
          <a:lstStyle/>
          <a:p>
            <a:r>
              <a:rPr lang="tr-TR" b="1" dirty="0">
                <a:latin typeface="Aptos (gövde)"/>
              </a:rPr>
              <a:t>Motorlu araçlar</a:t>
            </a:r>
            <a:endParaRPr lang="tr-TR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rcRect l="4667" r="-1" b="-1"/>
          <a:stretch>
            <a:fillRect/>
          </a:stretch>
        </p:blipFill>
        <p:spPr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957387" y="1412922"/>
            <a:ext cx="4555782" cy="5445076"/>
          </a:xfrm>
        </p:spPr>
        <p:txBody>
          <a:bodyPr anchor="t">
            <a:normAutofit/>
          </a:bodyPr>
          <a:lstStyle/>
          <a:p>
            <a:r>
              <a:rPr lang="tr-TR" sz="2000" dirty="0">
                <a:solidFill>
                  <a:srgbClr val="C00000"/>
                </a:solidFill>
                <a:latin typeface="Aptos (gövde)"/>
              </a:rPr>
              <a:t>Vinç</a:t>
            </a:r>
            <a:r>
              <a:rPr lang="tr-TR" sz="2000" dirty="0">
                <a:latin typeface="Aptos (gövde)"/>
              </a:rPr>
              <a:t> </a:t>
            </a:r>
          </a:p>
          <a:p>
            <a:pPr marL="0" indent="0">
              <a:buNone/>
            </a:pPr>
            <a:r>
              <a:rPr lang="tr-TR" sz="2000" dirty="0">
                <a:latin typeface="Aptos (gövde)"/>
              </a:rPr>
              <a:t>    Malzemeleri ya da yükleri kaldırma, yeni bir yöne dönerek veya hareket ederek aktarma, yerlerini değiştirme, yükleme, boşaltma işlerinde kullanılan makinalara denilmektedir.</a:t>
            </a:r>
          </a:p>
          <a:p>
            <a:pPr marL="0" indent="0">
              <a:buNone/>
            </a:pPr>
            <a:r>
              <a:rPr lang="tr-TR" sz="2000" dirty="0">
                <a:latin typeface="Aptos (gövde)"/>
              </a:rPr>
              <a:t>   Bu makinalar genellikle ön ve arkaya ilave edilen destek ayaklarıyla ağır yüklerin kaldırılmasında ve zemine batmış makinaların kurtarılmasında kullanılırlar. </a:t>
            </a:r>
          </a:p>
        </p:txBody>
      </p:sp>
    </p:spTree>
    <p:extLst>
      <p:ext uri="{BB962C8B-B14F-4D97-AF65-F5344CB8AC3E}">
        <p14:creationId xmlns:p14="http://schemas.microsoft.com/office/powerpoint/2010/main" val="3503784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tr-TR" b="1" dirty="0">
                <a:latin typeface="Aptos (gövde)"/>
              </a:rPr>
              <a:t>Motorlu araçlar</a:t>
            </a:r>
            <a:endParaRPr lang="tr-TR" dirty="0"/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tr-TR" sz="2200" dirty="0">
                <a:solidFill>
                  <a:srgbClr val="C00000"/>
                </a:solidFill>
                <a:latin typeface="Aptos (gövde)"/>
              </a:rPr>
              <a:t>Asfalt serme (finisher) </a:t>
            </a:r>
          </a:p>
          <a:p>
            <a:pPr marL="0" indent="0">
              <a:buNone/>
            </a:pPr>
            <a:r>
              <a:rPr lang="tr-TR" sz="2200" dirty="0">
                <a:latin typeface="Aptos (gövde)"/>
              </a:rPr>
              <a:t>   Yol yapımında kullanılan ve asfalt karışımını düzgün, homojen ve belirli kalınlıkta bir tabaka halinde zemine seren bir iş makinesidir. </a:t>
            </a:r>
          </a:p>
          <a:p>
            <a:pPr marL="0" indent="0">
              <a:buNone/>
            </a:pPr>
            <a:r>
              <a:rPr lang="tr-TR" sz="2200" dirty="0">
                <a:latin typeface="Aptos (gövde)"/>
              </a:rPr>
              <a:t>   Bu makine, asfaltın düzgün bir yüzey oluşturmasını ve yolun dayanıklı olmasını sağlar.</a:t>
            </a:r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rcRect l="18359" r="9580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334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tr-TR" b="1" dirty="0">
                <a:latin typeface="Aptos (gövde)"/>
              </a:rPr>
              <a:t>Motorlu araçlar</a:t>
            </a:r>
            <a:endParaRPr lang="tr-TR" dirty="0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tr-TR" sz="2200" dirty="0">
                <a:solidFill>
                  <a:srgbClr val="C00000"/>
                </a:solidFill>
                <a:latin typeface="Aptos (gövde)"/>
              </a:rPr>
              <a:t>Beton pompası </a:t>
            </a:r>
          </a:p>
          <a:p>
            <a:pPr marL="0" indent="0">
              <a:buNone/>
            </a:pPr>
            <a:r>
              <a:rPr lang="tr-TR" sz="2200" dirty="0">
                <a:latin typeface="Aptos (gövde)"/>
              </a:rPr>
              <a:t>   Taze hazırlanmış betonu, karıştırıcı (transmikser) aracından alarak yüksek katlara, uzak mesafelere veya ulaşılması zor alanlara basınçla ileten bir iş makinesidir. </a:t>
            </a:r>
          </a:p>
          <a:p>
            <a:pPr marL="0" indent="0">
              <a:buNone/>
            </a:pPr>
            <a:r>
              <a:rPr lang="tr-TR" sz="2200" dirty="0">
                <a:latin typeface="Aptos (gövde)"/>
              </a:rPr>
              <a:t>   İnşaatlarda beton dökümünü hızlı, sürekli ve verimli hale getirir.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rcRect l="14058" r="13881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382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tr-TR" b="1" dirty="0">
                <a:latin typeface="Aptos (gövde)"/>
              </a:rPr>
              <a:t>Motorlu araçlar</a:t>
            </a:r>
            <a:endParaRPr lang="tr-TR" dirty="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 lnSpcReduction="10000"/>
          </a:bodyPr>
          <a:lstStyle/>
          <a:p>
            <a:r>
              <a:rPr lang="tr-TR" sz="2200" dirty="0">
                <a:solidFill>
                  <a:srgbClr val="C00000"/>
                </a:solidFill>
                <a:latin typeface="Aptos (gövde)"/>
              </a:rPr>
              <a:t>Dozer </a:t>
            </a:r>
          </a:p>
          <a:p>
            <a:pPr marL="0" indent="0">
              <a:buNone/>
            </a:pPr>
            <a:r>
              <a:rPr lang="tr-TR" sz="2200" dirty="0">
                <a:latin typeface="Aptos (gövde)"/>
              </a:rPr>
              <a:t>   Kazı, dolgu, yarma, çekme ve itme işlemlerinde kullanılan iş makineleridir. Makinanın bıçak takılmamış şekline TRAKTÖR de denir. </a:t>
            </a:r>
          </a:p>
          <a:p>
            <a:pPr marL="0" indent="0">
              <a:buNone/>
            </a:pPr>
            <a:r>
              <a:rPr lang="tr-TR" sz="2200" dirty="0">
                <a:latin typeface="Aptos (gövde)"/>
              </a:rPr>
              <a:t>   Bir inşaat çalışmasında ilk giden dozerdir. </a:t>
            </a:r>
          </a:p>
          <a:p>
            <a:pPr marL="0" indent="0">
              <a:buNone/>
            </a:pPr>
            <a:r>
              <a:rPr lang="tr-TR" sz="2200" dirty="0">
                <a:latin typeface="Aptos (gövde)"/>
              </a:rPr>
              <a:t>   Dozerlerin bıçak boyları değişik olup çeşitli </a:t>
            </a:r>
            <a:r>
              <a:rPr lang="tr-TR" sz="2200" dirty="0" smtClean="0">
                <a:latin typeface="Aptos (gövde)"/>
              </a:rPr>
              <a:t>işlerde kullanılabilme </a:t>
            </a:r>
            <a:r>
              <a:rPr lang="tr-TR" sz="2200" dirty="0">
                <a:latin typeface="Aptos (gövde)"/>
              </a:rPr>
              <a:t>özellikleri vardır. </a:t>
            </a:r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612652"/>
            <a:ext cx="5458968" cy="363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369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tr-TR" b="1" dirty="0">
                <a:latin typeface="Aptos (gövde)"/>
              </a:rPr>
              <a:t>Motorlu araçlar</a:t>
            </a:r>
            <a:endParaRPr lang="tr-TR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tr-TR" sz="2200" dirty="0">
                <a:solidFill>
                  <a:srgbClr val="C00000"/>
                </a:solidFill>
                <a:latin typeface="Aptos (gövde)"/>
              </a:rPr>
              <a:t>Silindir  </a:t>
            </a:r>
          </a:p>
          <a:p>
            <a:pPr marL="0" indent="0">
              <a:buNone/>
            </a:pPr>
            <a:r>
              <a:rPr lang="tr-TR" sz="2200" dirty="0">
                <a:latin typeface="Aptos (gövde)"/>
              </a:rPr>
              <a:t>    Zemin, asfalt veya dolgu malzemelerini sıkıştırmak ve yüzeyi düzgün hale getirmek için kullanılan bir iş makinesidir. </a:t>
            </a:r>
          </a:p>
          <a:p>
            <a:pPr marL="0" indent="0">
              <a:buNone/>
            </a:pPr>
            <a:r>
              <a:rPr lang="tr-TR" sz="2200" dirty="0">
                <a:latin typeface="Aptos (gövde)"/>
              </a:rPr>
              <a:t>   Yol yapımı, altyapı ve inşaat çalışmalarında zeminin dayanıklılığını artırmak amacıyla kullanılır.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572549"/>
            <a:ext cx="5458968" cy="371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5915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tr-TR" b="1" dirty="0">
                <a:latin typeface="Aptos (gövde)"/>
              </a:rPr>
              <a:t>Motorlu araçlar ile yapılan işler</a:t>
            </a:r>
            <a:endParaRPr lang="tr-TR" dirty="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 lnSpcReduction="10000"/>
          </a:bodyPr>
          <a:lstStyle/>
          <a:p>
            <a:pPr marL="0" indent="0">
              <a:buNone/>
            </a:pPr>
            <a:endParaRPr lang="tr-TR" sz="1900" dirty="0">
              <a:latin typeface="Aptos (gövde)"/>
            </a:endParaRPr>
          </a:p>
          <a:p>
            <a:pPr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 (gövde)"/>
              </a:rPr>
              <a:t>Kazı ve toprak işleri,</a:t>
            </a:r>
          </a:p>
          <a:p>
            <a:pPr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 (gövde)"/>
              </a:rPr>
              <a:t>Taşıma ve yükleme,</a:t>
            </a:r>
          </a:p>
          <a:p>
            <a:pPr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 (gövde)"/>
              </a:rPr>
              <a:t>İnşaat ve altyapı çalışmaları,</a:t>
            </a:r>
          </a:p>
          <a:p>
            <a:pPr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 (gövde)"/>
              </a:rPr>
              <a:t>Madencilik faaliyetleri,</a:t>
            </a:r>
          </a:p>
          <a:p>
            <a:pPr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 (gövde)"/>
              </a:rPr>
              <a:t>Düzleştirme ve sıkıştırma,</a:t>
            </a:r>
          </a:p>
          <a:p>
            <a:pPr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 (gövde)"/>
              </a:rPr>
              <a:t>Yıkım ve temizlik işleri</a:t>
            </a:r>
            <a:r>
              <a:rPr lang="tr-TR" sz="1900" dirty="0">
                <a:latin typeface="Aptos (gövde)"/>
              </a:rPr>
              <a:t>,</a:t>
            </a:r>
          </a:p>
          <a:p>
            <a:pPr marL="0" indent="0">
              <a:buNone/>
            </a:pPr>
            <a:endParaRPr lang="tr-TR" sz="1900" dirty="0">
              <a:latin typeface="Aptos (gövde)"/>
            </a:endParaRPr>
          </a:p>
          <a:p>
            <a:pPr marL="0" indent="0">
              <a:buNone/>
            </a:pPr>
            <a:r>
              <a:rPr lang="tr-TR" sz="2200" dirty="0">
                <a:latin typeface="Aptos (gövde)"/>
              </a:rPr>
              <a:t>     olarak özetleyebiliriz.</a:t>
            </a:r>
          </a:p>
        </p:txBody>
      </p:sp>
      <p:pic>
        <p:nvPicPr>
          <p:cNvPr id="7" name="Graphic 6" descr="Ekskavatör">
            <a:extLst>
              <a:ext uri="{FF2B5EF4-FFF2-40B4-BE49-F238E27FC236}">
                <a16:creationId xmlns:a16="http://schemas.microsoft.com/office/drawing/2014/main" id="{1BC3DC37-D3F5-8C4E-E138-ECAC89EA29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p:blipFill>
        <p:spPr>
          <a:xfrm>
            <a:off x="6099048" y="699516"/>
            <a:ext cx="5458968" cy="54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6462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30935" y="640080"/>
            <a:ext cx="6613243" cy="1481328"/>
          </a:xfrm>
        </p:spPr>
        <p:txBody>
          <a:bodyPr anchor="b">
            <a:normAutofit/>
          </a:bodyPr>
          <a:lstStyle/>
          <a:p>
            <a:r>
              <a:rPr lang="tr-TR" b="1" dirty="0">
                <a:latin typeface="Aptos (gövde)"/>
              </a:rPr>
              <a:t>Sektörlere göre genel sınıflandırma</a:t>
            </a:r>
            <a:endParaRPr lang="tr-TR" dirty="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30935" y="2382012"/>
            <a:ext cx="10342562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ptos (gövde)"/>
              </a:rPr>
              <a:t>İnşaat sektörü:</a:t>
            </a: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ptos (gövde)"/>
              </a:rPr>
              <a:t> Ekskavatör, </a:t>
            </a:r>
            <a:r>
              <a:rPr kumimoji="0" lang="tr-TR" altLang="tr-TR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ptos (gövde)"/>
              </a:rPr>
              <a:t>loader</a:t>
            </a: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ptos (gövde)"/>
              </a:rPr>
              <a:t>, dozer, greyder, silindir, mobil vinç, asfalt serme makinesi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tr-TR" altLang="tr-T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ptos (gövde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ptos (gövde)"/>
              </a:rPr>
              <a:t>Lojistik ve depolama:</a:t>
            </a: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ptos (gövde)"/>
              </a:rPr>
              <a:t> </a:t>
            </a:r>
            <a:r>
              <a:rPr kumimoji="0" lang="tr-TR" altLang="tr-TR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ptos (gövde)"/>
              </a:rPr>
              <a:t>Forklift</a:t>
            </a: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ptos (gövde)"/>
              </a:rPr>
              <a:t>, motorlu </a:t>
            </a:r>
            <a:r>
              <a:rPr kumimoji="0" lang="tr-TR" altLang="tr-TR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ptos (gövde)"/>
              </a:rPr>
              <a:t>transpalet</a:t>
            </a: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ptos (göv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tr-TR" altLang="tr-T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ptos (gövde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ptos (gövde)"/>
              </a:rPr>
              <a:t>Madencilik:</a:t>
            </a: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ptos (gövde)"/>
              </a:rPr>
              <a:t> Ekskavatör, </a:t>
            </a:r>
            <a:r>
              <a:rPr kumimoji="0" lang="tr-TR" altLang="tr-TR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ptos (gövde)"/>
              </a:rPr>
              <a:t>loader</a:t>
            </a: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ptos (gövde)"/>
              </a:rPr>
              <a:t>, dozer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ptos (gövde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ptos (gövde)"/>
              </a:rPr>
              <a:t>Tarım ve ormancılık:</a:t>
            </a: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ptos (gövde)"/>
              </a:rPr>
              <a:t> Traktör ve diğer tarım makineleri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tr-TR" altLang="tr-T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ptos (gövde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ptos (gövde)"/>
              </a:rPr>
              <a:t>Üretim ve sanayi:</a:t>
            </a: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ptos (gövde)"/>
              </a:rPr>
              <a:t> </a:t>
            </a:r>
            <a:r>
              <a:rPr kumimoji="0" lang="tr-TR" altLang="tr-TR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ptos (gövde)"/>
              </a:rPr>
              <a:t>Forklift</a:t>
            </a: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ptos (gövde)"/>
              </a:rPr>
              <a:t>, motorlu </a:t>
            </a:r>
            <a:r>
              <a:rPr kumimoji="0" lang="tr-TR" altLang="tr-TR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ptos (gövde)"/>
              </a:rPr>
              <a:t>transpalet</a:t>
            </a: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ptos (gövde)"/>
              </a:rPr>
              <a:t>, mobil vinç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tr-TR" altLang="tr-T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ptos (gövde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ptos (gövde)"/>
              </a:rPr>
              <a:t>Liman ve tersaneler:</a:t>
            </a: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ptos (gövde)"/>
              </a:rPr>
              <a:t> </a:t>
            </a:r>
            <a:r>
              <a:rPr kumimoji="0" lang="tr-TR" altLang="tr-TR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ptos (gövde)"/>
              </a:rPr>
              <a:t>Forklift</a:t>
            </a: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ptos (gövde)"/>
              </a:rPr>
              <a:t>, </a:t>
            </a:r>
            <a:r>
              <a:rPr kumimoji="0" lang="tr-TR" altLang="tr-TR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ptos (gövde)"/>
              </a:rPr>
              <a:t>loader</a:t>
            </a: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ptos (gövde)"/>
              </a:rPr>
              <a:t>, mobil vinç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tr-TR" altLang="tr-T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ptos (gövde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ptos (gövde)"/>
              </a:rPr>
              <a:t>Karayolu ve altyapı projeleri:</a:t>
            </a:r>
            <a:r>
              <a:rPr kumimoji="0" lang="tr-TR" altLang="tr-T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ptos (gövde)"/>
              </a:rPr>
              <a:t> Greyder, silindir, asfalt serme makinesi, ekskavatör </a:t>
            </a:r>
          </a:p>
        </p:txBody>
      </p:sp>
    </p:spTree>
    <p:extLst>
      <p:ext uri="{BB962C8B-B14F-4D97-AF65-F5344CB8AC3E}">
        <p14:creationId xmlns:p14="http://schemas.microsoft.com/office/powerpoint/2010/main" val="6322275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tr-TR" b="1" dirty="0">
                <a:latin typeface="Aptos (gövde)"/>
              </a:rPr>
              <a:t>Motorlu taşıtlarda meydana gelen kaza türleri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solidFill>
                  <a:srgbClr val="FF0000"/>
                </a:solidFill>
                <a:latin typeface="Aptos (gövde)"/>
              </a:rPr>
              <a:t>Trafik kazası niteliğinde meydana gelen kazalar</a:t>
            </a:r>
          </a:p>
          <a:p>
            <a:pPr marL="0" indent="0">
              <a:buNone/>
            </a:pPr>
            <a:endParaRPr lang="tr-TR" sz="2200" dirty="0">
              <a:latin typeface="Aptos (gövde)"/>
            </a:endParaRPr>
          </a:p>
          <a:p>
            <a:pPr marL="0" indent="0">
              <a:buNone/>
            </a:pPr>
            <a:r>
              <a:rPr lang="tr-TR" sz="2200" dirty="0">
                <a:latin typeface="Aptos (gövde)"/>
              </a:rPr>
              <a:t>- Yanında çalışan kişiye çarpma,</a:t>
            </a:r>
          </a:p>
          <a:p>
            <a:pPr marL="0" indent="0">
              <a:buNone/>
            </a:pPr>
            <a:r>
              <a:rPr lang="tr-TR" sz="2200" dirty="0">
                <a:latin typeface="Aptos (gövde)"/>
              </a:rPr>
              <a:t>- İş makinesinin yoldan çıkıp devrilmesi,</a:t>
            </a:r>
          </a:p>
          <a:p>
            <a:pPr marL="0" indent="0">
              <a:buNone/>
            </a:pPr>
            <a:r>
              <a:rPr lang="tr-TR" sz="2200" dirty="0">
                <a:latin typeface="Aptos (gövde)"/>
              </a:rPr>
              <a:t>- Arazinin uygun olmaması sonucu devrilme,</a:t>
            </a:r>
          </a:p>
          <a:p>
            <a:pPr marL="0" indent="0">
              <a:buNone/>
            </a:pPr>
            <a:r>
              <a:rPr lang="tr-TR" sz="2200" dirty="0">
                <a:latin typeface="Aptos (gövde)"/>
              </a:rPr>
              <a:t>- İşaretçiler, iş tarif edenlere ve yol gösterenlere çarpma.</a:t>
            </a:r>
          </a:p>
          <a:p>
            <a:pPr>
              <a:buFontTx/>
              <a:buChar char="-"/>
            </a:pPr>
            <a:endParaRPr lang="tr-TR" sz="2200" dirty="0">
              <a:latin typeface="Aptos (gövde)"/>
            </a:endParaRPr>
          </a:p>
        </p:txBody>
      </p:sp>
    </p:spTree>
    <p:extLst>
      <p:ext uri="{BB962C8B-B14F-4D97-AF65-F5344CB8AC3E}">
        <p14:creationId xmlns:p14="http://schemas.microsoft.com/office/powerpoint/2010/main" val="4986053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415635" y="365125"/>
            <a:ext cx="11459689" cy="1325563"/>
          </a:xfrm>
        </p:spPr>
        <p:txBody>
          <a:bodyPr>
            <a:normAutofit/>
          </a:bodyPr>
          <a:lstStyle/>
          <a:p>
            <a:r>
              <a:rPr lang="tr-TR" sz="4000" b="1" dirty="0">
                <a:latin typeface="Aptos (gövde)"/>
              </a:rPr>
              <a:t>Motorlu taşıtlarda meydana gelen kaza türleri</a:t>
            </a:r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7809" y="1787943"/>
            <a:ext cx="7207624" cy="4141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7017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415635" y="365125"/>
            <a:ext cx="11459689" cy="1325563"/>
          </a:xfrm>
        </p:spPr>
        <p:txBody>
          <a:bodyPr>
            <a:normAutofit/>
          </a:bodyPr>
          <a:lstStyle/>
          <a:p>
            <a:r>
              <a:rPr lang="tr-TR" sz="4000" b="1" dirty="0">
                <a:latin typeface="Aptos (gövde)"/>
              </a:rPr>
              <a:t>Motorlu taşıtlarda meydana gelen kaza türleri</a:t>
            </a:r>
          </a:p>
        </p:txBody>
      </p:sp>
      <p:pic>
        <p:nvPicPr>
          <p:cNvPr id="5" name="İçerik Yer Tutucus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4719" y="2077433"/>
            <a:ext cx="7549975" cy="4394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2065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415635" y="365125"/>
            <a:ext cx="11459689" cy="1325563"/>
          </a:xfrm>
        </p:spPr>
        <p:txBody>
          <a:bodyPr>
            <a:normAutofit/>
          </a:bodyPr>
          <a:lstStyle/>
          <a:p>
            <a:r>
              <a:rPr lang="tr-TR" sz="4000" b="1" dirty="0">
                <a:latin typeface="Aptos (gövde)"/>
              </a:rPr>
              <a:t>Motorlu taşıtlarda meydana gelen kaza türleri</a:t>
            </a:r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4639" y="1825625"/>
            <a:ext cx="678272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9337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tr-TR" b="1" dirty="0">
                <a:latin typeface="Aptos (gövde)"/>
              </a:rPr>
              <a:t>Motorlu taşıtlarda meydana gelen kaza türleri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26418" y="552090"/>
            <a:ext cx="6224335" cy="6010941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solidFill>
                  <a:srgbClr val="FF0000"/>
                </a:solidFill>
                <a:latin typeface="Aptos (gövde)"/>
              </a:rPr>
              <a:t>Yapılan iş esnasında meydana gelen kazalar:</a:t>
            </a:r>
          </a:p>
          <a:p>
            <a:pPr marL="0" indent="0">
              <a:buNone/>
            </a:pPr>
            <a:endParaRPr lang="tr-TR" sz="2000" dirty="0">
              <a:solidFill>
                <a:srgbClr val="FF0000"/>
              </a:solidFill>
              <a:latin typeface="Aptos (gövde)"/>
            </a:endParaRPr>
          </a:p>
          <a:p>
            <a:pPr marL="0" indent="0">
              <a:buNone/>
            </a:pPr>
            <a:r>
              <a:rPr lang="tr-TR" sz="2000" dirty="0">
                <a:latin typeface="Aptos (gövde)"/>
              </a:rPr>
              <a:t>- İş makinesine çıkıp inerken düşme,</a:t>
            </a:r>
          </a:p>
          <a:p>
            <a:pPr marL="0" indent="0">
              <a:buNone/>
            </a:pPr>
            <a:r>
              <a:rPr lang="tr-TR" sz="2000" dirty="0">
                <a:latin typeface="Aptos (gövde)"/>
              </a:rPr>
              <a:t>- Kaldırılan malzemenin devrilmesi,</a:t>
            </a:r>
          </a:p>
          <a:p>
            <a:pPr marL="0" indent="0">
              <a:buNone/>
            </a:pPr>
            <a:r>
              <a:rPr lang="tr-TR" sz="2000" dirty="0">
                <a:latin typeface="Aptos (gövde)"/>
              </a:rPr>
              <a:t>- İstifin yıkılması,</a:t>
            </a:r>
          </a:p>
          <a:p>
            <a:pPr marL="0" indent="0">
              <a:buNone/>
            </a:pPr>
            <a:r>
              <a:rPr lang="tr-TR" sz="2000" dirty="0">
                <a:latin typeface="Aptos (gövde)"/>
              </a:rPr>
              <a:t>- Vinç bomunun, damperin veya makinenin, elektrik hattına teması,</a:t>
            </a:r>
          </a:p>
          <a:p>
            <a:pPr marL="0" indent="0">
              <a:buNone/>
            </a:pPr>
            <a:r>
              <a:rPr lang="tr-TR" sz="2000" dirty="0">
                <a:latin typeface="Aptos (gövde)"/>
              </a:rPr>
              <a:t>- Sert zeminde çalışırken etraftaki kişilere malzeme sıçraması,</a:t>
            </a:r>
          </a:p>
          <a:p>
            <a:pPr marL="0" indent="0">
              <a:buNone/>
            </a:pPr>
            <a:r>
              <a:rPr lang="tr-TR" sz="2000" dirty="0">
                <a:latin typeface="Aptos (gövde)"/>
              </a:rPr>
              <a:t>- Kanalda çalışırken toprak kayması,</a:t>
            </a:r>
          </a:p>
          <a:p>
            <a:pPr marL="0" indent="0">
              <a:buNone/>
            </a:pPr>
            <a:r>
              <a:rPr lang="tr-TR" sz="2000" dirty="0">
                <a:latin typeface="Aptos (gövde)"/>
              </a:rPr>
              <a:t>- Forklifte aşırı yük yükleyip önünü görememe,</a:t>
            </a:r>
          </a:p>
          <a:p>
            <a:pPr marL="0" indent="0">
              <a:buNone/>
            </a:pPr>
            <a:r>
              <a:rPr lang="tr-TR" sz="2000" dirty="0">
                <a:latin typeface="Aptos (gövde)"/>
              </a:rPr>
              <a:t>- İş makinesini (ekskavatörü) başka maksatla (Vinç gibi) kullanılması sonucu devrilmesi,</a:t>
            </a:r>
          </a:p>
          <a:p>
            <a:pPr marL="0" indent="0">
              <a:buNone/>
            </a:pPr>
            <a:r>
              <a:rPr lang="tr-TR" sz="2000" dirty="0">
                <a:latin typeface="Aptos (gövde)"/>
              </a:rPr>
              <a:t>- Makinenin arızalanması(frenin tutmaması, halatın kopması) sonucu kaza,</a:t>
            </a:r>
          </a:p>
        </p:txBody>
      </p:sp>
    </p:spTree>
    <p:extLst>
      <p:ext uri="{BB962C8B-B14F-4D97-AF65-F5344CB8AC3E}">
        <p14:creationId xmlns:p14="http://schemas.microsoft.com/office/powerpoint/2010/main" val="30741068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415635" y="365125"/>
            <a:ext cx="11459689" cy="1325563"/>
          </a:xfrm>
        </p:spPr>
        <p:txBody>
          <a:bodyPr>
            <a:normAutofit/>
          </a:bodyPr>
          <a:lstStyle/>
          <a:p>
            <a:r>
              <a:rPr lang="tr-TR" sz="4000" b="1" dirty="0">
                <a:latin typeface="Aptos (gövde)"/>
              </a:rPr>
              <a:t>Motorlu taşıtlarda meydana gelen kaza türleri</a:t>
            </a:r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4600" y="2029058"/>
            <a:ext cx="7162800" cy="394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4823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415635" y="365125"/>
            <a:ext cx="11459689" cy="1325563"/>
          </a:xfrm>
        </p:spPr>
        <p:txBody>
          <a:bodyPr>
            <a:normAutofit/>
          </a:bodyPr>
          <a:lstStyle/>
          <a:p>
            <a:r>
              <a:rPr lang="tr-TR" sz="4000" b="1" dirty="0">
                <a:latin typeface="Aptos (gövde)"/>
              </a:rPr>
              <a:t>Motorlu taşıtlarda meydana gelen kaza türleri</a:t>
            </a:r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4539" y="1825625"/>
            <a:ext cx="7121393" cy="476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3082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415635" y="365125"/>
            <a:ext cx="11459689" cy="1325563"/>
          </a:xfrm>
        </p:spPr>
        <p:txBody>
          <a:bodyPr>
            <a:normAutofit/>
          </a:bodyPr>
          <a:lstStyle/>
          <a:p>
            <a:r>
              <a:rPr lang="tr-TR" sz="4000" b="1" dirty="0">
                <a:latin typeface="Aptos (gövde)"/>
              </a:rPr>
              <a:t>Motorlu taşıtlarda meydana gelen kaza türleri</a:t>
            </a:r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3174" y="1916999"/>
            <a:ext cx="7772167" cy="466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9772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tr-TR" b="1" dirty="0">
                <a:latin typeface="Aptos (gövde)"/>
              </a:rPr>
              <a:t>Motorlu taşıtlarda meydana gelen kaza türleri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solidFill>
                  <a:srgbClr val="FF0000"/>
                </a:solidFill>
                <a:latin typeface="Aptos (gövde)"/>
              </a:rPr>
              <a:t>Tamir bakım çalışmaları esnasında meydana gelen kazalar:</a:t>
            </a:r>
          </a:p>
          <a:p>
            <a:pPr marL="0" indent="0">
              <a:buNone/>
            </a:pPr>
            <a:endParaRPr lang="tr-TR" sz="2200" dirty="0">
              <a:latin typeface="Aptos (gövde)"/>
            </a:endParaRPr>
          </a:p>
          <a:p>
            <a:pPr marL="0" indent="0">
              <a:buNone/>
            </a:pPr>
            <a:r>
              <a:rPr lang="tr-TR" sz="2200" dirty="0">
                <a:latin typeface="Aptos (gövde)"/>
              </a:rPr>
              <a:t>- Hidrolik boşalması sonucu, kepçenin veya damperin altında kalma,</a:t>
            </a:r>
          </a:p>
          <a:p>
            <a:pPr marL="0" indent="0">
              <a:buNone/>
            </a:pPr>
            <a:r>
              <a:rPr lang="tr-TR" sz="2200" dirty="0">
                <a:latin typeface="Aptos (gövde)"/>
              </a:rPr>
              <a:t>- Radyatör vantilatörüne temas sonucu kaza,</a:t>
            </a:r>
          </a:p>
          <a:p>
            <a:pPr marL="0" indent="0">
              <a:buNone/>
            </a:pPr>
            <a:r>
              <a:rPr lang="tr-TR" sz="2200" dirty="0">
                <a:latin typeface="Aptos (gövde)"/>
              </a:rPr>
              <a:t>- Traktörün şaft miline kapılma sonucu kazalar,</a:t>
            </a:r>
          </a:p>
        </p:txBody>
      </p:sp>
    </p:spTree>
    <p:extLst>
      <p:ext uri="{BB962C8B-B14F-4D97-AF65-F5344CB8AC3E}">
        <p14:creationId xmlns:p14="http://schemas.microsoft.com/office/powerpoint/2010/main" val="12037033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tr-TR" b="1" dirty="0">
                <a:latin typeface="Aptos (gövde)"/>
              </a:rPr>
              <a:t>Motorlu taşıtlarda meydana gelen kaza türleri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tr-TR" sz="2200" b="1" u="sng" dirty="0" smtClean="0">
                <a:solidFill>
                  <a:schemeClr val="accent2">
                    <a:lumMod val="75000"/>
                  </a:schemeClr>
                </a:solidFill>
                <a:latin typeface="Aptos (gövde)"/>
              </a:rPr>
              <a:t>Özetlemek gerekirse;</a:t>
            </a:r>
          </a:p>
          <a:p>
            <a:pPr marL="0" indent="0">
              <a:buNone/>
            </a:pPr>
            <a:endParaRPr lang="tr-TR" sz="2200" b="1" u="sng" dirty="0" smtClean="0">
              <a:solidFill>
                <a:schemeClr val="accent2">
                  <a:lumMod val="75000"/>
                </a:schemeClr>
              </a:solidFill>
              <a:latin typeface="Aptos (gövde)"/>
            </a:endParaRPr>
          </a:p>
          <a:p>
            <a:pPr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 (gövde)"/>
              </a:rPr>
              <a:t>Kör nokta nedeniyle çalışanların </a:t>
            </a:r>
            <a:r>
              <a:rPr lang="tr-TR" sz="2200" dirty="0" smtClean="0">
                <a:latin typeface="Aptos (gövde)"/>
              </a:rPr>
              <a:t>ezilmesi</a:t>
            </a:r>
          </a:p>
          <a:p>
            <a:pPr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tr-TR" sz="2200" dirty="0" smtClean="0">
                <a:latin typeface="Aptos (gövde)"/>
              </a:rPr>
              <a:t>Araçların devrilmesi</a:t>
            </a:r>
          </a:p>
          <a:p>
            <a:pPr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tr-TR" sz="2200" dirty="0" smtClean="0">
                <a:latin typeface="Aptos (gövde)"/>
              </a:rPr>
              <a:t>Yükün </a:t>
            </a:r>
            <a:r>
              <a:rPr lang="tr-TR" sz="2200" dirty="0">
                <a:latin typeface="Aptos (gövde)"/>
              </a:rPr>
              <a:t>düşmesi veya </a:t>
            </a:r>
            <a:r>
              <a:rPr lang="tr-TR" sz="2200" dirty="0" smtClean="0">
                <a:latin typeface="Aptos (gövde)"/>
              </a:rPr>
              <a:t>savrulması</a:t>
            </a:r>
          </a:p>
          <a:p>
            <a:pPr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tr-TR" sz="2200" dirty="0" smtClean="0">
                <a:latin typeface="Aptos (gövde)"/>
              </a:rPr>
              <a:t>Enerji </a:t>
            </a:r>
            <a:r>
              <a:rPr lang="tr-TR" sz="2200" dirty="0">
                <a:latin typeface="Aptos (gövde)"/>
              </a:rPr>
              <a:t>nakil hatlarına </a:t>
            </a:r>
            <a:r>
              <a:rPr lang="tr-TR" sz="2200" dirty="0" smtClean="0">
                <a:latin typeface="Aptos (gövde)"/>
              </a:rPr>
              <a:t>temas</a:t>
            </a:r>
          </a:p>
          <a:p>
            <a:pPr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tr-TR" sz="2200" dirty="0" smtClean="0">
                <a:latin typeface="Aptos (gövde)"/>
              </a:rPr>
              <a:t>Hareketli </a:t>
            </a:r>
            <a:r>
              <a:rPr lang="tr-TR" sz="2200" dirty="0">
                <a:latin typeface="Aptos (gövde)"/>
              </a:rPr>
              <a:t>makine parçalarına </a:t>
            </a:r>
            <a:r>
              <a:rPr lang="tr-TR" sz="2200" dirty="0" smtClean="0">
                <a:latin typeface="Aptos (gövde)"/>
              </a:rPr>
              <a:t>sıkışma</a:t>
            </a:r>
          </a:p>
          <a:p>
            <a:pPr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tr-TR" sz="2200" dirty="0" smtClean="0">
                <a:latin typeface="Aptos (gövde)"/>
              </a:rPr>
              <a:t>Yetkisiz </a:t>
            </a:r>
            <a:r>
              <a:rPr lang="tr-TR" sz="2200" dirty="0">
                <a:latin typeface="Aptos (gövde)"/>
              </a:rPr>
              <a:t>kişilerin araç </a:t>
            </a:r>
            <a:r>
              <a:rPr lang="tr-TR" sz="2200" dirty="0" smtClean="0">
                <a:latin typeface="Aptos (gövde)"/>
              </a:rPr>
              <a:t>kullanması</a:t>
            </a:r>
          </a:p>
          <a:p>
            <a:pPr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tr-TR" sz="2200" dirty="0" smtClean="0">
                <a:latin typeface="Aptos (gövde)"/>
              </a:rPr>
              <a:t>Emniyet </a:t>
            </a:r>
            <a:r>
              <a:rPr lang="tr-TR" sz="2200" dirty="0">
                <a:latin typeface="Aptos (gövde)"/>
              </a:rPr>
              <a:t>kemeri </a:t>
            </a:r>
            <a:r>
              <a:rPr lang="tr-TR" sz="2200" dirty="0" smtClean="0">
                <a:latin typeface="Aptos (gövde)"/>
              </a:rPr>
              <a:t>kullanılmaması</a:t>
            </a:r>
          </a:p>
          <a:p>
            <a:pPr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tr-TR" sz="2200" dirty="0" smtClean="0">
                <a:latin typeface="Aptos (gövde)"/>
              </a:rPr>
              <a:t>Geri </a:t>
            </a:r>
            <a:r>
              <a:rPr lang="tr-TR" sz="2200" dirty="0">
                <a:latin typeface="Aptos (gövde)"/>
              </a:rPr>
              <a:t>manevralarda ikaz sistemlerinin yetersiz olması</a:t>
            </a:r>
            <a:endParaRPr lang="tr-TR" sz="2200" dirty="0">
              <a:latin typeface="Aptos (gövde)"/>
            </a:endParaRPr>
          </a:p>
        </p:txBody>
      </p:sp>
    </p:spTree>
    <p:extLst>
      <p:ext uri="{BB962C8B-B14F-4D97-AF65-F5344CB8AC3E}">
        <p14:creationId xmlns:p14="http://schemas.microsoft.com/office/powerpoint/2010/main" val="17487197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415635" y="365125"/>
            <a:ext cx="11459689" cy="1325563"/>
          </a:xfrm>
        </p:spPr>
        <p:txBody>
          <a:bodyPr>
            <a:normAutofit/>
          </a:bodyPr>
          <a:lstStyle/>
          <a:p>
            <a:r>
              <a:rPr lang="tr-TR" sz="4000" b="1" dirty="0">
                <a:latin typeface="Aptos (gövde)"/>
              </a:rPr>
              <a:t>Motorlu taşıtlarda meydana gelen kaza türleri</a:t>
            </a:r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7558" y="1849764"/>
            <a:ext cx="7477089" cy="4571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5970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tr-TR" b="1" dirty="0">
                <a:latin typeface="Aptos (gövde)"/>
              </a:rPr>
              <a:t>Tehlike kaynakları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>
              <a:buClr>
                <a:srgbClr val="00B050"/>
              </a:buClr>
              <a:buFont typeface="Wingdings" panose="05000000000000000000" pitchFamily="2" charset="2"/>
              <a:buChar char="Ø"/>
            </a:pPr>
            <a:endParaRPr lang="tr-TR" sz="2200">
              <a:latin typeface="Aptos (gövde)"/>
            </a:endParaRP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tr-TR" sz="2200">
                <a:latin typeface="Aptos (gövde)"/>
              </a:rPr>
              <a:t>İş Makinesi 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tr-TR" sz="2200">
                <a:latin typeface="Aptos (gövde)"/>
              </a:rPr>
              <a:t>Operatör, işaretçi, diğerleri (İşverenler, işçiler, bakım elemanları, araç şoförleri, ziyaretçiler)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tr-TR" sz="2200">
                <a:latin typeface="Aptos (gövde)"/>
              </a:rPr>
              <a:t>Çalışma alanı 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tr-TR" sz="2200">
                <a:latin typeface="Aptos (gövde)"/>
              </a:rPr>
              <a:t>Çevre (Ulaşım yolları, enerji hatları, hava şartları)</a:t>
            </a:r>
          </a:p>
        </p:txBody>
      </p:sp>
    </p:spTree>
    <p:extLst>
      <p:ext uri="{BB962C8B-B14F-4D97-AF65-F5344CB8AC3E}">
        <p14:creationId xmlns:p14="http://schemas.microsoft.com/office/powerpoint/2010/main" val="18104035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tr-TR" b="1" dirty="0">
                <a:latin typeface="Aptos (gövde)"/>
              </a:rPr>
              <a:t>Tehlike kaynakları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indent="0">
              <a:buClr>
                <a:srgbClr val="00B050"/>
              </a:buClr>
              <a:buNone/>
            </a:pPr>
            <a:r>
              <a:rPr lang="tr-TR" sz="2200" u="sng" dirty="0">
                <a:solidFill>
                  <a:srgbClr val="00B050"/>
                </a:solidFill>
                <a:latin typeface="Aptos (gövde)"/>
              </a:rPr>
              <a:t>İş makinesi;</a:t>
            </a:r>
          </a:p>
          <a:p>
            <a:pPr marL="0" indent="0">
              <a:buClr>
                <a:srgbClr val="00B050"/>
              </a:buClr>
              <a:buNone/>
            </a:pPr>
            <a:endParaRPr lang="tr-TR" sz="2200" u="sng" dirty="0">
              <a:latin typeface="Aptos (gövde)"/>
            </a:endParaRPr>
          </a:p>
          <a:p>
            <a:pPr>
              <a:buClr>
                <a:srgbClr val="00B050"/>
              </a:buClr>
            </a:pPr>
            <a:r>
              <a:rPr lang="tr-TR" sz="2200" dirty="0">
                <a:latin typeface="Aptos (gövde)"/>
              </a:rPr>
              <a:t>Sesli ve ışıklı uyarı sistemlerinin çalışmaması,  </a:t>
            </a:r>
          </a:p>
          <a:p>
            <a:pPr>
              <a:buClr>
                <a:srgbClr val="00B050"/>
              </a:buClr>
            </a:pPr>
            <a:r>
              <a:rPr lang="tr-TR" sz="2200" dirty="0">
                <a:latin typeface="Aptos (gövde)"/>
              </a:rPr>
              <a:t>Çalışmadan önce günlük kontrol ve bakımların yapılmaması, </a:t>
            </a:r>
          </a:p>
          <a:p>
            <a:pPr>
              <a:buClr>
                <a:srgbClr val="00B050"/>
              </a:buClr>
            </a:pPr>
            <a:r>
              <a:rPr lang="tr-TR" sz="2200" dirty="0">
                <a:latin typeface="Aptos (gövde)"/>
              </a:rPr>
              <a:t>Bakımlarının düzenli olarak yapılmaması,</a:t>
            </a:r>
          </a:p>
          <a:p>
            <a:pPr>
              <a:buClr>
                <a:srgbClr val="00B050"/>
              </a:buClr>
            </a:pPr>
            <a:r>
              <a:rPr lang="tr-TR" sz="2200" dirty="0">
                <a:latin typeface="Aptos (gövde)"/>
              </a:rPr>
              <a:t>Kapasitesi üzerinde iş yüklenmesi, </a:t>
            </a:r>
          </a:p>
          <a:p>
            <a:pPr>
              <a:buClr>
                <a:srgbClr val="00B050"/>
              </a:buClr>
            </a:pPr>
            <a:r>
              <a:rPr lang="tr-TR" sz="2200" dirty="0">
                <a:latin typeface="Aptos (gövde)"/>
              </a:rPr>
              <a:t>Yüke maruz kalan halat ve zincirlerinin yıpranması,  </a:t>
            </a:r>
          </a:p>
          <a:p>
            <a:pPr>
              <a:buClr>
                <a:srgbClr val="00B050"/>
              </a:buClr>
            </a:pPr>
            <a:r>
              <a:rPr lang="tr-TR" sz="2200" dirty="0">
                <a:latin typeface="Aptos (gövde)"/>
              </a:rPr>
              <a:t>Başka maksatla kullanılması, </a:t>
            </a:r>
          </a:p>
        </p:txBody>
      </p:sp>
    </p:spTree>
    <p:extLst>
      <p:ext uri="{BB962C8B-B14F-4D97-AF65-F5344CB8AC3E}">
        <p14:creationId xmlns:p14="http://schemas.microsoft.com/office/powerpoint/2010/main" val="39585016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tr-TR" b="1" dirty="0">
                <a:latin typeface="Aptos (gövde)"/>
              </a:rPr>
              <a:t>Tehlike kaynakları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indent="0">
              <a:buClr>
                <a:srgbClr val="00B050"/>
              </a:buClr>
              <a:buNone/>
            </a:pPr>
            <a:r>
              <a:rPr lang="tr-TR" sz="2200" u="sng" dirty="0">
                <a:solidFill>
                  <a:srgbClr val="00B050"/>
                </a:solidFill>
                <a:latin typeface="Aptos (gövde)"/>
              </a:rPr>
              <a:t>Operatör, işaretçi, diğerleri;</a:t>
            </a:r>
          </a:p>
          <a:p>
            <a:pPr marL="0" indent="0">
              <a:buClr>
                <a:srgbClr val="00B050"/>
              </a:buClr>
              <a:buNone/>
            </a:pPr>
            <a:endParaRPr lang="tr-TR" sz="2200" u="sng" dirty="0">
              <a:latin typeface="Aptos (gövde)"/>
            </a:endParaRPr>
          </a:p>
          <a:p>
            <a:pPr>
              <a:buClr>
                <a:srgbClr val="00B050"/>
              </a:buClr>
            </a:pPr>
            <a:r>
              <a:rPr lang="tr-TR" sz="2200" dirty="0">
                <a:latin typeface="Aptos (gövde)"/>
              </a:rPr>
              <a:t>Operatörün belgesinin olmaması, </a:t>
            </a:r>
          </a:p>
          <a:p>
            <a:pPr>
              <a:buClr>
                <a:srgbClr val="00B050"/>
              </a:buClr>
            </a:pPr>
            <a:r>
              <a:rPr lang="tr-TR" sz="2200" dirty="0">
                <a:latin typeface="Aptos (gövde)"/>
              </a:rPr>
              <a:t>Aşırı hız yapılması, </a:t>
            </a:r>
          </a:p>
          <a:p>
            <a:pPr>
              <a:buClr>
                <a:srgbClr val="00B050"/>
              </a:buClr>
            </a:pPr>
            <a:r>
              <a:rPr lang="tr-TR" sz="2200" dirty="0">
                <a:latin typeface="Aptos (gövde)"/>
              </a:rPr>
              <a:t>Hareket etmeden önce etrafın uyarılmaması, </a:t>
            </a:r>
          </a:p>
          <a:p>
            <a:pPr>
              <a:buClr>
                <a:srgbClr val="00B050"/>
              </a:buClr>
            </a:pPr>
            <a:r>
              <a:rPr lang="tr-TR" sz="2200" dirty="0">
                <a:latin typeface="Aptos (gövde)"/>
              </a:rPr>
              <a:t>Yetkisiz kişilerin makine üzerine bindirilmesi, </a:t>
            </a:r>
          </a:p>
          <a:p>
            <a:pPr>
              <a:buClr>
                <a:srgbClr val="00B050"/>
              </a:buClr>
            </a:pPr>
            <a:r>
              <a:rPr lang="tr-TR" sz="2200" dirty="0">
                <a:latin typeface="Aptos (gövde)"/>
              </a:rPr>
              <a:t>Operatörün sürücü yerine oturmadan kumanda etmesi, </a:t>
            </a:r>
          </a:p>
          <a:p>
            <a:pPr>
              <a:buClr>
                <a:srgbClr val="00B050"/>
              </a:buClr>
            </a:pPr>
            <a:r>
              <a:rPr lang="tr-TR" sz="2200" dirty="0">
                <a:latin typeface="Aptos (gövde)"/>
              </a:rPr>
              <a:t>Operatörün çalışma anında uygunsuz davranışları, </a:t>
            </a:r>
          </a:p>
          <a:p>
            <a:pPr>
              <a:buClr>
                <a:srgbClr val="00B050"/>
              </a:buClr>
            </a:pPr>
            <a:r>
              <a:rPr lang="tr-TR" sz="2200" dirty="0">
                <a:latin typeface="Aptos (gövde)"/>
              </a:rPr>
              <a:t>İş makinesinin altında istirahat etme, </a:t>
            </a:r>
          </a:p>
          <a:p>
            <a:pPr>
              <a:buClr>
                <a:srgbClr val="00B050"/>
              </a:buClr>
            </a:pPr>
            <a:r>
              <a:rPr lang="tr-TR" sz="2200" dirty="0">
                <a:latin typeface="Aptos (gövde)"/>
              </a:rPr>
              <a:t>Kişisel koruyucu kullanılmaması, </a:t>
            </a:r>
          </a:p>
          <a:p>
            <a:pPr>
              <a:buClr>
                <a:srgbClr val="00B050"/>
              </a:buClr>
            </a:pPr>
            <a:r>
              <a:rPr lang="tr-TR" sz="2200" dirty="0">
                <a:latin typeface="Aptos (gövde)"/>
              </a:rPr>
              <a:t>Operatör ve işaretçiler arasında uyumsuzluk</a:t>
            </a:r>
            <a:endParaRPr lang="tr-TR" sz="2200" u="sng" dirty="0">
              <a:latin typeface="Aptos (gövde)"/>
            </a:endParaRPr>
          </a:p>
        </p:txBody>
      </p:sp>
    </p:spTree>
    <p:extLst>
      <p:ext uri="{BB962C8B-B14F-4D97-AF65-F5344CB8AC3E}">
        <p14:creationId xmlns:p14="http://schemas.microsoft.com/office/powerpoint/2010/main" val="10044102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tr-TR" b="1" dirty="0">
                <a:latin typeface="Aptos (gövde)"/>
              </a:rPr>
              <a:t>Tehlike kaynakları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indent="0">
              <a:buClr>
                <a:srgbClr val="00B050"/>
              </a:buClr>
              <a:buNone/>
            </a:pPr>
            <a:r>
              <a:rPr lang="tr-TR" sz="2200" u="sng" dirty="0">
                <a:solidFill>
                  <a:srgbClr val="00B050"/>
                </a:solidFill>
                <a:latin typeface="Aptos (gövde)"/>
              </a:rPr>
              <a:t>Çalışma alanı ;</a:t>
            </a:r>
          </a:p>
          <a:p>
            <a:pPr marL="0" indent="0">
              <a:buClr>
                <a:srgbClr val="00B050"/>
              </a:buClr>
              <a:buNone/>
            </a:pPr>
            <a:endParaRPr lang="tr-TR" sz="2200" u="sng" dirty="0">
              <a:latin typeface="Aptos (gövde)"/>
            </a:endParaRPr>
          </a:p>
          <a:p>
            <a:pPr>
              <a:buClr>
                <a:srgbClr val="00B050"/>
              </a:buClr>
            </a:pPr>
            <a:r>
              <a:rPr lang="tr-TR" sz="2200" dirty="0">
                <a:latin typeface="Aptos (gövde)"/>
              </a:rPr>
              <a:t>Çalışma alanında gerekli trafik işaretlerinin bulunmaması,</a:t>
            </a:r>
          </a:p>
          <a:p>
            <a:pPr>
              <a:buClr>
                <a:srgbClr val="00B050"/>
              </a:buClr>
            </a:pPr>
            <a:r>
              <a:rPr lang="tr-TR" sz="2200" dirty="0">
                <a:latin typeface="Aptos (gövde)"/>
              </a:rPr>
              <a:t>Aşırı toz oluşması,</a:t>
            </a:r>
          </a:p>
          <a:p>
            <a:pPr>
              <a:buClr>
                <a:srgbClr val="00B050"/>
              </a:buClr>
            </a:pPr>
            <a:r>
              <a:rPr lang="tr-TR" sz="2200" dirty="0">
                <a:latin typeface="Aptos (gövde)"/>
              </a:rPr>
              <a:t>Çalışma alanının sınırlarının belirlenmemesi,</a:t>
            </a:r>
          </a:p>
          <a:p>
            <a:pPr>
              <a:buClr>
                <a:srgbClr val="00B050"/>
              </a:buClr>
            </a:pPr>
            <a:r>
              <a:rPr lang="tr-TR" sz="2200" dirty="0">
                <a:latin typeface="Aptos (gövde)"/>
              </a:rPr>
              <a:t>Gece yapılan çalışmalarda iyi aydınlatılma yapılmaması,</a:t>
            </a:r>
          </a:p>
          <a:p>
            <a:pPr>
              <a:buClr>
                <a:srgbClr val="00B050"/>
              </a:buClr>
            </a:pPr>
            <a:r>
              <a:rPr lang="tr-TR" sz="2200" dirty="0">
                <a:latin typeface="Aptos (gövde)"/>
              </a:rPr>
              <a:t>İş makinelerinin hareket yollarının belli olmaması,</a:t>
            </a:r>
          </a:p>
          <a:p>
            <a:pPr>
              <a:buClr>
                <a:srgbClr val="00B050"/>
              </a:buClr>
            </a:pPr>
            <a:r>
              <a:rPr lang="tr-TR" sz="2200" dirty="0">
                <a:latin typeface="Aptos (gövde)"/>
              </a:rPr>
              <a:t>Çalışma alanında aşırı yağış olması,</a:t>
            </a:r>
          </a:p>
          <a:p>
            <a:pPr>
              <a:buClr>
                <a:srgbClr val="00B050"/>
              </a:buClr>
            </a:pPr>
            <a:r>
              <a:rPr lang="tr-TR" sz="2200" dirty="0">
                <a:latin typeface="Aptos (gövde)"/>
              </a:rPr>
              <a:t>Çalışma alanında kasis ve engel bulunması,</a:t>
            </a:r>
          </a:p>
          <a:p>
            <a:pPr>
              <a:buClr>
                <a:srgbClr val="00B050"/>
              </a:buClr>
            </a:pPr>
            <a:r>
              <a:rPr lang="tr-TR" sz="2200" dirty="0">
                <a:latin typeface="Aptos (gövde)"/>
              </a:rPr>
              <a:t>Fazla eğimli arazide çalışma yapılması,</a:t>
            </a:r>
          </a:p>
          <a:p>
            <a:pPr>
              <a:buClr>
                <a:srgbClr val="00B050"/>
              </a:buClr>
            </a:pPr>
            <a:endParaRPr lang="tr-TR" sz="2200" dirty="0">
              <a:latin typeface="Aptos (gövde)"/>
            </a:endParaRPr>
          </a:p>
        </p:txBody>
      </p:sp>
    </p:spTree>
    <p:extLst>
      <p:ext uri="{BB962C8B-B14F-4D97-AF65-F5344CB8AC3E}">
        <p14:creationId xmlns:p14="http://schemas.microsoft.com/office/powerpoint/2010/main" val="17024369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tr-TR" b="1" dirty="0">
                <a:latin typeface="Aptos (gövde)"/>
              </a:rPr>
              <a:t>Tehlike kaynakları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indent="0">
              <a:buClr>
                <a:srgbClr val="00B050"/>
              </a:buClr>
              <a:buNone/>
            </a:pPr>
            <a:r>
              <a:rPr lang="tr-TR" sz="2200" u="sng" dirty="0">
                <a:solidFill>
                  <a:srgbClr val="00B050"/>
                </a:solidFill>
                <a:latin typeface="Aptos (gövde)"/>
              </a:rPr>
              <a:t>Çevre;</a:t>
            </a:r>
          </a:p>
          <a:p>
            <a:pPr marL="0" indent="0">
              <a:buClr>
                <a:srgbClr val="00B050"/>
              </a:buClr>
              <a:buNone/>
            </a:pPr>
            <a:endParaRPr lang="tr-TR" sz="2200" u="sng" dirty="0">
              <a:latin typeface="Aptos (gövde)"/>
            </a:endParaRPr>
          </a:p>
          <a:p>
            <a:pPr>
              <a:buClr>
                <a:srgbClr val="00B050"/>
              </a:buClr>
            </a:pPr>
            <a:r>
              <a:rPr lang="tr-TR" sz="2200" dirty="0">
                <a:latin typeface="Aptos (gövde)"/>
              </a:rPr>
              <a:t>İş makinesinin bir kısmının gerilim hattına teması, </a:t>
            </a:r>
          </a:p>
          <a:p>
            <a:pPr>
              <a:buClr>
                <a:srgbClr val="00B050"/>
              </a:buClr>
            </a:pPr>
            <a:r>
              <a:rPr lang="tr-TR" sz="2200" dirty="0">
                <a:latin typeface="Aptos (gövde)"/>
              </a:rPr>
              <a:t>Kazı yapılan alanda elektrik kabloları, doğalgaz, telefon vb. hatların olması,</a:t>
            </a:r>
            <a:endParaRPr lang="tr-TR" sz="2200" u="sng" dirty="0">
              <a:latin typeface="Aptos (gövde)"/>
            </a:endParaRPr>
          </a:p>
        </p:txBody>
      </p:sp>
    </p:spTree>
    <p:extLst>
      <p:ext uri="{BB962C8B-B14F-4D97-AF65-F5344CB8AC3E}">
        <p14:creationId xmlns:p14="http://schemas.microsoft.com/office/powerpoint/2010/main" val="6386417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sz="4200" b="1" dirty="0">
                <a:latin typeface="Aptos (gövde)"/>
              </a:rPr>
              <a:t>İş Makineleri İle Yapılan İşlerde Emniyet Tedbirleri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200" dirty="0">
                <a:solidFill>
                  <a:srgbClr val="C00000"/>
                </a:solidFill>
                <a:latin typeface="Aptos (gövde)"/>
              </a:rPr>
              <a:t>İşe başlamadan önce yapılması gerekenler;</a:t>
            </a:r>
          </a:p>
          <a:p>
            <a:pPr marL="0" indent="0">
              <a:buNone/>
            </a:pPr>
            <a:endParaRPr lang="tr-TR" sz="2200" dirty="0">
              <a:solidFill>
                <a:srgbClr val="C00000"/>
              </a:solidFill>
              <a:latin typeface="Aptos (gövde)"/>
            </a:endParaRP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 (gövde)"/>
              </a:rPr>
              <a:t>Emniyet kemeri, geri ikazı, ikaz lambası ve korna </a:t>
            </a:r>
            <a:r>
              <a:rPr lang="tr-TR" sz="2200" b="1" dirty="0">
                <a:latin typeface="Aptos (gövde)"/>
              </a:rPr>
              <a:t>her gün </a:t>
            </a:r>
            <a:r>
              <a:rPr lang="tr-TR" sz="2200" dirty="0">
                <a:latin typeface="Aptos (gövde)"/>
              </a:rPr>
              <a:t>kontrol edilmelidir.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 (gövde)"/>
              </a:rPr>
              <a:t>Servis acil durum ve park frenleri kontrol edilmelidir, 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 (gövde)"/>
              </a:rPr>
              <a:t>Vitesler kontrol edilmelidir. 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 (gövde)"/>
              </a:rPr>
              <a:t>Direksiyon kontrol edilmelidir.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 (gövde)"/>
              </a:rPr>
              <a:t>Kova bıçak ve diğer ekipmanlar kontrol edilmelidir. 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2200" dirty="0">
                <a:latin typeface="Aptos (gövde)"/>
              </a:rPr>
              <a:t>Kontrol işlemleri EMİN BİR SAHADA yapılmalıdır.</a:t>
            </a:r>
          </a:p>
          <a:p>
            <a:pPr marL="0" indent="0">
              <a:buNone/>
            </a:pPr>
            <a:endParaRPr lang="tr-TR" sz="2200" dirty="0"/>
          </a:p>
        </p:txBody>
      </p:sp>
    </p:spTree>
    <p:extLst>
      <p:ext uri="{BB962C8B-B14F-4D97-AF65-F5344CB8AC3E}">
        <p14:creationId xmlns:p14="http://schemas.microsoft.com/office/powerpoint/2010/main" val="2623998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sz="4200" b="1" dirty="0">
                <a:latin typeface="Aptos (gövde)"/>
              </a:rPr>
              <a:t>İş Makineleri İle Yapılan İşlerde Emniyet Tedbirleri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6676" y="2240915"/>
            <a:ext cx="10515600" cy="4251960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tr-TR" sz="2200" dirty="0">
                <a:latin typeface="Aptos (gövde)"/>
              </a:rPr>
              <a:t>1. </a:t>
            </a:r>
            <a:r>
              <a:rPr lang="tr-TR" sz="2200" dirty="0">
                <a:latin typeface="Aptos Display" panose="020B0004020202020204" pitchFamily="34" charset="0"/>
              </a:rPr>
              <a:t>İş makinası kullanılan alana giriş ve çıkışlar, kesinlikle sınırlandırılmış olmalıdır.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tr-TR" sz="2200" dirty="0">
                <a:latin typeface="Aptos Display" panose="020B0004020202020204" pitchFamily="34" charset="0"/>
              </a:rPr>
              <a:t>2. Kuralları ilgilendiren uyarı levhaları bulundurulmalıdır.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tr-TR" sz="2200" dirty="0">
                <a:latin typeface="Aptos Display" panose="020B0004020202020204" pitchFamily="34" charset="0"/>
              </a:rPr>
              <a:t>3. Makinelerin koruyucuları tam olmalıdır.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tr-TR" sz="2200" dirty="0">
                <a:latin typeface="Aptos Display" panose="020B0004020202020204" pitchFamily="34" charset="0"/>
              </a:rPr>
              <a:t>4. Park alanı, bakım alanı gibi özel alanlar tanımlanmış ve düzenlenmiş olmalıdır.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tr-TR" sz="2200" dirty="0">
                <a:latin typeface="Aptos Display" panose="020B0004020202020204" pitchFamily="34" charset="0"/>
              </a:rPr>
              <a:t>5. Park halindeyken el freni mutlaka kalkık olmalıdır.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tr-TR" sz="2200" dirty="0">
                <a:latin typeface="Aptos Display" panose="020B0004020202020204" pitchFamily="34" charset="0"/>
              </a:rPr>
              <a:t>6. Kullanılan iş makinesinin gösterge paneli iyice incelenmelidir.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tr-TR" sz="2200" dirty="0">
                <a:latin typeface="Aptos Display" panose="020B0004020202020204" pitchFamily="34" charset="0"/>
              </a:rPr>
              <a:t>7. Bunun için imalatçının hazırladığı kitapçık mutlaka okunmalıdır.</a:t>
            </a:r>
          </a:p>
          <a:p>
            <a:pPr marL="0" indent="0">
              <a:spcAft>
                <a:spcPts val="600"/>
              </a:spcAft>
              <a:buNone/>
            </a:pPr>
            <a:endParaRPr lang="tr-TR" sz="2200" dirty="0">
              <a:latin typeface="Aptos Display" panose="020B0004020202020204" pitchFamily="34" charset="0"/>
            </a:endParaRPr>
          </a:p>
          <a:p>
            <a:pPr marL="0" indent="0">
              <a:buNone/>
            </a:pPr>
            <a:endParaRPr lang="tr-TR" sz="2200" dirty="0"/>
          </a:p>
        </p:txBody>
      </p:sp>
    </p:spTree>
    <p:extLst>
      <p:ext uri="{BB962C8B-B14F-4D97-AF65-F5344CB8AC3E}">
        <p14:creationId xmlns:p14="http://schemas.microsoft.com/office/powerpoint/2010/main" val="23562518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tr-TR" sz="4200" b="1">
                <a:latin typeface="Aptos (gövde)"/>
              </a:rPr>
              <a:t>İş Makineleri İle Yapılan İşlerde Emniyet Tedbirleri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650970"/>
          </a:xfrm>
        </p:spPr>
        <p:txBody>
          <a:bodyPr>
            <a:normAutofit fontScale="92500" lnSpcReduction="20000"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tr-TR" sz="1700" dirty="0">
                <a:latin typeface="Aptos (gövde)"/>
              </a:rPr>
              <a:t> 8. </a:t>
            </a:r>
            <a:r>
              <a:rPr lang="tr-TR" sz="2000" dirty="0">
                <a:latin typeface="Aptos (gövde)"/>
              </a:rPr>
              <a:t>Kapasitenin üzerinde yük taşınmamalıdır.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tr-TR" sz="2000" dirty="0">
                <a:latin typeface="Aptos (gövde)"/>
              </a:rPr>
              <a:t> 9. Yükün ağırlık merkezi iş makinesine göre ayarlanmalıdır.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tr-TR" sz="2000" dirty="0">
                <a:latin typeface="Aptos (gövde)"/>
              </a:rPr>
              <a:t>10. Hız sınırlarına uyulmalı ve iş makinesi yavaş kullanılmalıdır.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tr-TR" sz="2000" dirty="0">
                <a:latin typeface="Aptos (gövde)"/>
              </a:rPr>
              <a:t>11. Forklift ile taşıma yaparken, yük yerden en fazla 20 cm. yukarıda olabilir. 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tr-TR" sz="2000" dirty="0">
                <a:latin typeface="Aptos (gövde)"/>
              </a:rPr>
              <a:t>12. Yük görüntüyü kapatıyorsa, geri geri hareket etmek gereklidir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tr-TR" sz="2000" dirty="0">
                <a:latin typeface="Aptos (gövde)"/>
              </a:rPr>
              <a:t>13.Ağır iş makinelerini işaretçi olmadan asla geri hareket ettirmeyiniz.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tr-TR" sz="2000" dirty="0">
                <a:latin typeface="Aptos (gövde)"/>
              </a:rPr>
              <a:t>14. İş makinesinin bomu yüksekte çalıştığında, yüksekteki engeller ve elektrik kablolarının oluşturacağı tehlikelerden kaçınılmalıdır.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tr-TR" sz="2000" dirty="0">
                <a:latin typeface="Aptos (gövde)"/>
              </a:rPr>
              <a:t>15. Gevşek, bağlanmamış, ağırlık merkezi belli olmayan yükler asla taşınmamalıdır.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tr-TR" sz="2000" dirty="0">
                <a:latin typeface="Aptos (gövde)"/>
              </a:rPr>
              <a:t>16. Boş makine ile rampalara geri viteste çıkılmalıdır.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tr-TR" sz="2000" dirty="0">
                <a:latin typeface="Aptos (gövde)"/>
              </a:rPr>
              <a:t>17. Vitesin boşta olduğundan emin olunuz.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tr-TR" sz="2000" dirty="0">
                <a:latin typeface="Aptos (gövde)"/>
              </a:rPr>
              <a:t>18. Eğimli sahada dikey olarak park ediniz.</a:t>
            </a:r>
          </a:p>
          <a:p>
            <a:pPr marL="0" indent="0">
              <a:buNone/>
            </a:pPr>
            <a:endParaRPr lang="tr-TR" sz="1700" dirty="0">
              <a:latin typeface="Aptos (gövde)"/>
            </a:endParaRPr>
          </a:p>
        </p:txBody>
      </p:sp>
    </p:spTree>
    <p:extLst>
      <p:ext uri="{BB962C8B-B14F-4D97-AF65-F5344CB8AC3E}">
        <p14:creationId xmlns:p14="http://schemas.microsoft.com/office/powerpoint/2010/main" val="29561373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tr-TR" b="1" dirty="0">
                <a:latin typeface="Aptos (gövde)"/>
              </a:rPr>
              <a:t>Operatörün uyması gereken kurallar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 (gövde)"/>
              </a:rPr>
              <a:t>Eğitime önem verilmelidir.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 (gövde)"/>
              </a:rPr>
              <a:t>Operatörlerin bilgileri sık sık yenilenmelidir,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 (gövde)"/>
              </a:rPr>
              <a:t>Emniyet tedbirlerine inanmaları sağlanmalıdır,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 (gövde)"/>
              </a:rPr>
              <a:t>Tedbirlere uyma alışkanlığı kazandırılmalıdır,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 (gövde)"/>
              </a:rPr>
              <a:t>Kişiye kendini kontrol edebilme kabiliyeti kazandırılmalıdır.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i-FI" sz="2000" dirty="0">
                <a:latin typeface="Aptos (gövde)"/>
              </a:rPr>
              <a:t>Makinenin operasyon karakteristiklerini, bakımını, kapasite</a:t>
            </a:r>
            <a:r>
              <a:rPr lang="tr-TR" sz="2000" dirty="0">
                <a:latin typeface="Aptos (gövde)"/>
              </a:rPr>
              <a:t>sini ve </a:t>
            </a:r>
            <a:r>
              <a:rPr lang="fi-FI" sz="2000" dirty="0">
                <a:latin typeface="Aptos (gövde)"/>
              </a:rPr>
              <a:t>limitlerini</a:t>
            </a:r>
            <a:r>
              <a:rPr lang="tr-TR" sz="2000" dirty="0">
                <a:latin typeface="Aptos (gövde)"/>
              </a:rPr>
              <a:t> bilmesi gereklidir.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 (gövde)"/>
              </a:rPr>
              <a:t>İş elbisesi uygun olmalıdır; yırtık, sarkık kısımlar olmamalıdır.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 (gövde)"/>
              </a:rPr>
              <a:t>Yüzük, saat, bilezik gibi takılar takılmamalıdır.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 (gövde)"/>
              </a:rPr>
              <a:t>Ceplere düşecek şeyler konmamalıdır.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000" dirty="0">
                <a:latin typeface="Aptos (gövde)"/>
              </a:rPr>
              <a:t>İşine uygun kişisel koruyucu donanımlarını (</a:t>
            </a:r>
            <a:r>
              <a:rPr lang="tr-TR" sz="2000" b="1" dirty="0">
                <a:latin typeface="Aptos (gövde)"/>
              </a:rPr>
              <a:t>KKD</a:t>
            </a:r>
            <a:r>
              <a:rPr lang="tr-TR" sz="2000" dirty="0">
                <a:latin typeface="Aptos (gövde)"/>
              </a:rPr>
              <a:t>) kullanmalıdır.</a:t>
            </a:r>
          </a:p>
        </p:txBody>
      </p:sp>
    </p:spTree>
    <p:extLst>
      <p:ext uri="{BB962C8B-B14F-4D97-AF65-F5344CB8AC3E}">
        <p14:creationId xmlns:p14="http://schemas.microsoft.com/office/powerpoint/2010/main" val="41518633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tr-TR" b="1" dirty="0">
                <a:latin typeface="Aptos (gövde)"/>
              </a:rPr>
              <a:t>Motorlu Araçlarda Güvenlik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tr-TR" sz="2200">
                <a:hlinkClick r:id="rId2"/>
              </a:rPr>
              <a:t>https://www.youtube.com/watch?v=DmTigDqliEY</a:t>
            </a:r>
            <a:endParaRPr lang="tr-TR" sz="2200"/>
          </a:p>
          <a:p>
            <a:r>
              <a:rPr lang="tr-TR" sz="2200">
                <a:latin typeface="Aptos (gövde)"/>
              </a:rPr>
              <a:t>https://muratosgb.com.tr/bu-kaza-yasandi-is-makinesi-kazasi/</a:t>
            </a:r>
          </a:p>
          <a:p>
            <a:r>
              <a:rPr lang="tr-TR" sz="2200">
                <a:hlinkClick r:id="rId3"/>
              </a:rPr>
              <a:t>https://www.instagram.com/reel/DTAW66gDV0I/</a:t>
            </a:r>
            <a:endParaRPr lang="tr-TR" sz="2200"/>
          </a:p>
          <a:p>
            <a:endParaRPr lang="tr-TR" sz="2200"/>
          </a:p>
        </p:txBody>
      </p:sp>
    </p:spTree>
    <p:extLst>
      <p:ext uri="{BB962C8B-B14F-4D97-AF65-F5344CB8AC3E}">
        <p14:creationId xmlns:p14="http://schemas.microsoft.com/office/powerpoint/2010/main" val="39269334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tr-TR" sz="4200" b="1" dirty="0">
                <a:latin typeface="Aptos (gövde)"/>
              </a:rPr>
              <a:t>İlgili yönetmelikler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tr-TR" sz="2200" dirty="0">
              <a:latin typeface="Aptos (gövde)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 (gövde)"/>
              </a:rPr>
              <a:t>İş Ekipmanları Yönetmeliği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 (gövde)"/>
              </a:rPr>
              <a:t>6331 Sayılı Kanun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 (gövde)"/>
              </a:rPr>
              <a:t>Makine Emniyeti Yönetmeliği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 (gövde)"/>
              </a:rPr>
              <a:t>KKD Yönetmeliği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 (gövde)"/>
              </a:rPr>
              <a:t>Gürültü ve Titreşim Yönetmelikleri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 (gövde)"/>
              </a:rPr>
              <a:t>Risk Değerlendirmesi Yönetmeliği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>
                <a:latin typeface="Aptos (gövde)"/>
              </a:rPr>
              <a:t>İSG İşaretleri Yönetmeliği</a:t>
            </a:r>
          </a:p>
        </p:txBody>
      </p:sp>
    </p:spTree>
    <p:extLst>
      <p:ext uri="{BB962C8B-B14F-4D97-AF65-F5344CB8AC3E}">
        <p14:creationId xmlns:p14="http://schemas.microsoft.com/office/powerpoint/2010/main" val="913213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0818CC8165543A49BD1880865BADD712" ma:contentTypeVersion="7" ma:contentTypeDescription="Yeni belge oluşturun." ma:contentTypeScope="" ma:versionID="448c65ada3b952ea0be358190b5a4f49">
  <xsd:schema xmlns:xsd="http://www.w3.org/2001/XMLSchema" xmlns:xs="http://www.w3.org/2001/XMLSchema" xmlns:p="http://schemas.microsoft.com/office/2006/metadata/properties" xmlns:ns2="90eab9c6-ff60-475d-abbe-26ad8f7ce76f" targetNamespace="http://schemas.microsoft.com/office/2006/metadata/properties" ma:root="true" ma:fieldsID="763dc2b26188336c17a8e338b10ef707" ns2:_="">
    <xsd:import namespace="90eab9c6-ff60-475d-abbe-26ad8f7ce76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eab9c6-ff60-475d-abbe-26ad8f7ce7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CBE2DD8-939C-46F5-9430-32C53D64CFDF}"/>
</file>

<file path=customXml/itemProps2.xml><?xml version="1.0" encoding="utf-8"?>
<ds:datastoreItem xmlns:ds="http://schemas.openxmlformats.org/officeDocument/2006/customXml" ds:itemID="{F342A407-4A57-4851-BB1B-44CE8F080EFE}"/>
</file>

<file path=customXml/itemProps3.xml><?xml version="1.0" encoding="utf-8"?>
<ds:datastoreItem xmlns:ds="http://schemas.openxmlformats.org/officeDocument/2006/customXml" ds:itemID="{84ED8E47-D28F-4E3A-A735-3394B4D05390}"/>
</file>

<file path=docProps/app.xml><?xml version="1.0" encoding="utf-8"?>
<Properties xmlns="http://schemas.openxmlformats.org/officeDocument/2006/extended-properties" xmlns:vt="http://schemas.openxmlformats.org/officeDocument/2006/docPropsVTypes">
  <TotalTime>942</TotalTime>
  <Words>1634</Words>
  <Application>Microsoft Office PowerPoint</Application>
  <PresentationFormat>Geniş ekran</PresentationFormat>
  <Paragraphs>235</Paragraphs>
  <Slides>37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37</vt:i4>
      </vt:variant>
    </vt:vector>
  </HeadingPairs>
  <TitlesOfParts>
    <vt:vector size="44" baseType="lpstr">
      <vt:lpstr>Aptos (gövde)</vt:lpstr>
      <vt:lpstr>Aptos Display</vt:lpstr>
      <vt:lpstr>Arial</vt:lpstr>
      <vt:lpstr>Calibri</vt:lpstr>
      <vt:lpstr>Calibri Light</vt:lpstr>
      <vt:lpstr>Wingdings</vt:lpstr>
      <vt:lpstr>Office Teması</vt:lpstr>
      <vt:lpstr>PowerPoint Sunusu</vt:lpstr>
      <vt:lpstr>Dersin içeriği </vt:lpstr>
      <vt:lpstr>Motorlu araçlar</vt:lpstr>
      <vt:lpstr>Araç kullanım güvenliği</vt:lpstr>
      <vt:lpstr>Motorlu araçlar</vt:lpstr>
      <vt:lpstr>Motorlu araçlar</vt:lpstr>
      <vt:lpstr>Motorlu araçlar</vt:lpstr>
      <vt:lpstr>Motorlu araçlar</vt:lpstr>
      <vt:lpstr>Motorlu araçlar</vt:lpstr>
      <vt:lpstr>Motorlu araçlar</vt:lpstr>
      <vt:lpstr>Motorlu araçlar</vt:lpstr>
      <vt:lpstr>Motorlu araçlar</vt:lpstr>
      <vt:lpstr>Motorlu araçlar</vt:lpstr>
      <vt:lpstr>Motorlu araçlar ile yapılan işler</vt:lpstr>
      <vt:lpstr>Sektörlere göre genel sınıflandırma</vt:lpstr>
      <vt:lpstr>Motorlu taşıtlarda meydana gelen kaza türleri</vt:lpstr>
      <vt:lpstr>Motorlu taşıtlarda meydana gelen kaza türleri</vt:lpstr>
      <vt:lpstr>Motorlu taşıtlarda meydana gelen kaza türleri</vt:lpstr>
      <vt:lpstr>Motorlu taşıtlarda meydana gelen kaza türleri</vt:lpstr>
      <vt:lpstr>Motorlu taşıtlarda meydana gelen kaza türleri</vt:lpstr>
      <vt:lpstr>Motorlu taşıtlarda meydana gelen kaza türleri</vt:lpstr>
      <vt:lpstr>Motorlu taşıtlarda meydana gelen kaza türleri</vt:lpstr>
      <vt:lpstr>Motorlu taşıtlarda meydana gelen kaza türleri</vt:lpstr>
      <vt:lpstr>Motorlu taşıtlarda meydana gelen kaza türleri</vt:lpstr>
      <vt:lpstr>Motorlu taşıtlarda meydana gelen kaza türleri</vt:lpstr>
      <vt:lpstr>Motorlu taşıtlarda meydana gelen kaza türleri</vt:lpstr>
      <vt:lpstr>Tehlike kaynakları</vt:lpstr>
      <vt:lpstr>Tehlike kaynakları</vt:lpstr>
      <vt:lpstr>Tehlike kaynakları</vt:lpstr>
      <vt:lpstr>Tehlike kaynakları</vt:lpstr>
      <vt:lpstr>Tehlike kaynakları</vt:lpstr>
      <vt:lpstr>İş Makineleri İle Yapılan İşlerde Emniyet Tedbirleri</vt:lpstr>
      <vt:lpstr>İş Makineleri İle Yapılan İşlerde Emniyet Tedbirleri</vt:lpstr>
      <vt:lpstr>İş Makineleri İle Yapılan İşlerde Emniyet Tedbirleri</vt:lpstr>
      <vt:lpstr>Operatörün uyması gereken kurallar</vt:lpstr>
      <vt:lpstr>Motorlu Araçlarda Güvenlik</vt:lpstr>
      <vt:lpstr>İlgili yönetmelikler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Beyza samuk</dc:creator>
  <cp:lastModifiedBy>Beyza samuk</cp:lastModifiedBy>
  <cp:revision>39</cp:revision>
  <dcterms:created xsi:type="dcterms:W3CDTF">2026-03-10T13:29:43Z</dcterms:created>
  <dcterms:modified xsi:type="dcterms:W3CDTF">2026-08-06T12:45:45Z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0x0101000818CC8165543A49BD1880865BADD712</vt:lpwstr>
  </property>
</Properties>
</file>