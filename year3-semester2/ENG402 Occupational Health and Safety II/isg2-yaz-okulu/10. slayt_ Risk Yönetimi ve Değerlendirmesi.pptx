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1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62" r:id="rId4"/>
    <p:sldId id="261" r:id="rId5"/>
    <p:sldId id="263" r:id="rId6"/>
    <p:sldId id="259" r:id="rId7"/>
    <p:sldId id="258" r:id="rId8"/>
    <p:sldId id="295" r:id="rId9"/>
    <p:sldId id="260" r:id="rId10"/>
    <p:sldId id="286" r:id="rId11"/>
    <p:sldId id="264" r:id="rId12"/>
    <p:sldId id="265" r:id="rId13"/>
    <p:sldId id="266" r:id="rId14"/>
    <p:sldId id="267" r:id="rId15"/>
    <p:sldId id="268" r:id="rId16"/>
    <p:sldId id="287" r:id="rId17"/>
    <p:sldId id="269" r:id="rId18"/>
    <p:sldId id="288" r:id="rId19"/>
    <p:sldId id="28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90" r:id="rId28"/>
    <p:sldId id="277" r:id="rId29"/>
    <p:sldId id="278" r:id="rId30"/>
    <p:sldId id="294" r:id="rId31"/>
    <p:sldId id="279" r:id="rId32"/>
    <p:sldId id="293" r:id="rId33"/>
    <p:sldId id="280" r:id="rId34"/>
    <p:sldId id="291" r:id="rId35"/>
    <p:sldId id="292" r:id="rId36"/>
    <p:sldId id="281" r:id="rId37"/>
    <p:sldId id="284" r:id="rId38"/>
    <p:sldId id="285" r:id="rId39"/>
    <p:sldId id="282" r:id="rId40"/>
    <p:sldId id="296" r:id="rId41"/>
    <p:sldId id="283" r:id="rId4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Orta Stil 1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Orta Stil 1 - Vurgu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Orta Stil 1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Orta Stil 1 - Vurgu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20" autoAdjust="0"/>
  </p:normalViewPr>
  <p:slideViewPr>
    <p:cSldViewPr snapToGrid="0">
      <p:cViewPr varScale="1">
        <p:scale>
          <a:sx n="103" d="100"/>
          <a:sy n="103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F880A-8D86-418B-9F01-41940741C63B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9BDD0-319A-4221-AEC7-62EF358D3B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4363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9BDD0-319A-4221-AEC7-62EF358D3B41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4105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9BDD0-319A-4221-AEC7-62EF358D3B41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327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9BDD0-319A-4221-AEC7-62EF358D3B41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606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9BDD0-319A-4221-AEC7-62EF358D3B41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589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ABE554-8DCC-1047-2351-216985A5D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1A0C120-AF01-AAC8-E3A1-F102C1F6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EB197AC-BE3D-07E7-7D71-AE457300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EFB952-C3EB-13B8-6F34-92DD1D12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38EEB5F-6538-4E7B-B6B7-EFE7C934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869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199598-65DD-C7FA-C58B-EBD9F2EB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229AFCE-F736-61AC-2D22-894BC390B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EFBD1B-AE42-8E73-330F-AD18A037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BB0875F-7255-6454-BAAF-829BE97C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36B594-916F-95FD-0F12-CADBCABF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592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7303C5-04F9-40BA-4849-8A18F5B3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415111F-5E78-C399-7853-00617E094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6FED0F5-B9B1-677E-8DF7-A07A8C0B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B96D671-B20D-E5AA-3EBD-F0637ACD5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034064-E1B3-DADA-8599-6D8B13C0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32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88D7E8-1097-8ADE-4AB3-AA2DC2F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0FDA31-251D-B019-A86A-CF1B86285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47A6473-3402-7DE4-7B47-86BBB46AB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7369F89-BED0-E833-3BBF-E38586E4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4936BAF-AFD4-0076-F798-713F021F8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B583D6F-7E8F-FDB0-DEBF-6C726D34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756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0726AF-35DF-54CC-5EDC-74FE62D4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9A17830-E6D3-5C28-F2E0-C6532D31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CDD962A-B335-B1F2-52DC-CF2941C0E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07C43A4-14A9-5EBD-9CDC-C4B6A439E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2617BCA-7838-3C1C-AE46-B7C04632C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2DD5D0E-E99A-8260-341B-542A23E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7190ED1-9CA2-1D33-5B9F-2C3ED551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F266F88-1E06-08A4-405D-AF5E045A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5287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730C60-A9FE-82ED-DFCA-115ABF0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7B9AB91-B434-9EA4-4383-CB824532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2B0A53B-090C-6F1F-341B-21C02560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AF9E84B-AA6F-700F-6606-2FA7B1C4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455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430A03D-ABE8-A54F-945B-D2CC3A2A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E0434C6-AA2C-E605-9F6C-0EBCD2EB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583F9CD-1C75-58C0-F363-B5624CE3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370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4CF75C-3BFE-D75A-140E-15030237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667A9A-276A-F33F-2B4C-767C997C3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F5A8D73-A24B-5E3E-3447-13A2C137B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CD1A702-7631-560D-1433-94372388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AB1C81-3565-1E31-9CD7-69A53D96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02BC354-098D-C31E-F740-3CB83B46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2258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DCEE9F-951A-0614-EECB-74FFB178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C8FC4E2-7D4E-A1E1-24A9-248B5EB87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D6A7249-BB6D-D131-DE4E-351349A54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8D2AC4-E7AE-6AA8-6357-EEDE16AC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7AE0356-32E7-F6A1-B283-0028D58E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BE53CA5-A0CB-0027-CD1E-98383249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639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15C83C-7961-0909-6E75-72784773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BACA309-8B38-E747-37AD-BBA3BEF0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9B5E39A-0C29-07F6-5C03-B1C5067F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AE08A21-0452-2B48-11B5-2AAADF60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70034B3-CEB2-DBB3-C898-20EA3895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0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4908E47-7551-61B1-E28B-F48D14883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D585369-C2D0-2F26-95DE-E8DC25ECC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2492243-88B6-1C56-3D8D-0D65F8B9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B0734ED-287E-B465-84D3-87EF949B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0BCFB02-FE4F-CD7A-02C1-C6224DDC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061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76066B7-5861-9C99-C31F-05397D993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D288AEC-CFF8-172A-ACA9-54F77B71D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D21A015-874D-A1E7-58CE-41561C62C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74186-4CF2-4F2F-A40F-73C8C162898D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0AD3556-3BF1-E5B8-29F3-A0A093056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2DBBEC-A942-86D5-65F5-D6ED6CC8C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9911C-2668-4925-B460-7C5A696AD7C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340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gdb.sbu.edu.tr/uploads/63a61b0d-2177-74b6-6ea2-3a0814c8ac90/risk_yonetimi_nedir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A91D129-9D56-3B0A-FC9D-59534404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9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3A622B-5C48-0E5F-FFCC-3F40270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b="1" dirty="0"/>
              <a:t>Dersin içeriği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6F9715-84A4-1E70-8941-1246A16F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tr-TR" sz="2000" dirty="0"/>
              <a:t>Risk yönetimi nedir?</a:t>
            </a:r>
          </a:p>
          <a:p>
            <a:r>
              <a:rPr lang="tr-TR" sz="2000" dirty="0"/>
              <a:t>Kabul edilebilir risk</a:t>
            </a:r>
          </a:p>
          <a:p>
            <a:r>
              <a:rPr lang="tr-TR" sz="2000" dirty="0"/>
              <a:t>Risk yönetimi ve değerlendirmesi nedir?</a:t>
            </a:r>
          </a:p>
          <a:p>
            <a:r>
              <a:rPr lang="tr-TR" sz="2000" dirty="0"/>
              <a:t>Risk değerlendirmesi adımları nelerdir?</a:t>
            </a:r>
          </a:p>
          <a:p>
            <a:r>
              <a:rPr lang="tr-TR" sz="2000" dirty="0"/>
              <a:t>Risk analizi ve teknikleri</a:t>
            </a:r>
          </a:p>
          <a:p>
            <a:endParaRPr lang="tr-TR" sz="2000" dirty="0"/>
          </a:p>
          <a:p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C06C280-41E4-A90D-BD1E-CAA2BD67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53808"/>
            <a:ext cx="5150277" cy="257513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ADB4-DB2C-4F9C-18EE-389B6214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018205-CB14-1A85-5615-D25D6F9D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u="sng" dirty="0"/>
              <a:t>Tehlike ve Risk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16ECA3-B320-9775-010E-8B27EF34E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61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tr-TR" dirty="0"/>
              <a:t>          </a:t>
            </a:r>
            <a:r>
              <a:rPr lang="tr-TR" sz="8000" b="1" dirty="0">
                <a:solidFill>
                  <a:srgbClr val="C00000"/>
                </a:solidFill>
              </a:rPr>
              <a:t>Tehlike</a:t>
            </a:r>
            <a:r>
              <a:rPr lang="tr-TR" sz="8000" dirty="0"/>
              <a:t>, zarar verme potansiyeli olan kaynak veya durumu ifade eder.</a:t>
            </a:r>
          </a:p>
          <a:p>
            <a:pPr marL="0" indent="0">
              <a:buNone/>
            </a:pPr>
            <a:r>
              <a:rPr lang="tr-TR" sz="8000" dirty="0"/>
              <a:t>    </a:t>
            </a:r>
            <a:r>
              <a:rPr lang="tr-TR" sz="8000" b="1" dirty="0">
                <a:solidFill>
                  <a:srgbClr val="C00000"/>
                </a:solidFill>
              </a:rPr>
              <a:t>Risk</a:t>
            </a:r>
            <a:r>
              <a:rPr lang="tr-TR" sz="8000" dirty="0">
                <a:solidFill>
                  <a:srgbClr val="C00000"/>
                </a:solidFill>
              </a:rPr>
              <a:t>,</a:t>
            </a:r>
            <a:r>
              <a:rPr lang="tr-TR" sz="8000" dirty="0"/>
              <a:t> bu tehlikenin gerçekleşme olasılığı ve sonucunun birleşimini ifade eder. </a:t>
            </a:r>
          </a:p>
          <a:p>
            <a:pPr marL="0" indent="0">
              <a:buNone/>
            </a:pPr>
            <a:endParaRPr lang="tr-TR" sz="80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8000" dirty="0"/>
              <a:t>     6331 sayılı İSG kanununa göre </a:t>
            </a:r>
            <a:r>
              <a:rPr lang="tr-TR" sz="8000" b="1" dirty="0">
                <a:solidFill>
                  <a:srgbClr val="C00000"/>
                </a:solidFill>
              </a:rPr>
              <a:t>Tehlike,</a:t>
            </a:r>
            <a:r>
              <a:rPr lang="tr-TR" sz="8000" dirty="0">
                <a:solidFill>
                  <a:srgbClr val="C00000"/>
                </a:solidFill>
              </a:rPr>
              <a:t> </a:t>
            </a:r>
            <a:r>
              <a:rPr lang="tr-TR" sz="8000" dirty="0"/>
              <a:t>işyerinde var olan ya da dışarıdan gelebilecek, çalışanı veya işyerini etkileyebilecek zarar veya hasar verme </a:t>
            </a:r>
            <a:r>
              <a:rPr lang="tr-TR" sz="8000" u="sng" dirty="0"/>
              <a:t>potansiyelini</a:t>
            </a:r>
            <a:r>
              <a:rPr lang="tr-TR" sz="8000" dirty="0"/>
              <a:t>,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8000" dirty="0"/>
              <a:t>     6331 sayılı İSG kanununa göre </a:t>
            </a:r>
            <a:r>
              <a:rPr lang="tr-TR" sz="8000" b="1" dirty="0">
                <a:solidFill>
                  <a:srgbClr val="C00000"/>
                </a:solidFill>
              </a:rPr>
              <a:t>Risk,</a:t>
            </a:r>
            <a:r>
              <a:rPr lang="tr-TR" sz="8000" dirty="0"/>
              <a:t> tehlikeden kaynaklanacak kayıp, yaralanma ya da başka zararlı sonuç meydana gelme </a:t>
            </a:r>
            <a:r>
              <a:rPr lang="tr-TR" sz="8000" u="sng" dirty="0"/>
              <a:t>ihtimali</a:t>
            </a:r>
            <a:r>
              <a:rPr lang="tr-TR" sz="8000" dirty="0"/>
              <a:t> </a:t>
            </a:r>
          </a:p>
          <a:p>
            <a:pPr marL="0" indent="0">
              <a:buNone/>
            </a:pPr>
            <a:endParaRPr lang="tr-TR" sz="8000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                         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B85854-C661-534C-4A39-5266A3707E53}"/>
              </a:ext>
            </a:extLst>
          </p:cNvPr>
          <p:cNvSpPr/>
          <p:nvPr/>
        </p:nvSpPr>
        <p:spPr>
          <a:xfrm>
            <a:off x="2328862" y="4607716"/>
            <a:ext cx="6315075" cy="15565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Tehlike, neden </a:t>
            </a:r>
            <a:r>
              <a:rPr lang="tr-TR" sz="2400" dirty="0" smtClean="0"/>
              <a:t>– </a:t>
            </a:r>
          </a:p>
          <a:p>
            <a:pPr algn="ctr"/>
            <a:r>
              <a:rPr lang="tr-TR" sz="2400" dirty="0" smtClean="0"/>
              <a:t>Risk</a:t>
            </a:r>
            <a:r>
              <a:rPr lang="tr-TR" sz="2400" dirty="0"/>
              <a:t>, sonuçtur </a:t>
            </a:r>
          </a:p>
        </p:txBody>
      </p:sp>
    </p:spTree>
    <p:extLst>
      <p:ext uri="{BB962C8B-B14F-4D97-AF65-F5344CB8AC3E}">
        <p14:creationId xmlns:p14="http://schemas.microsoft.com/office/powerpoint/2010/main" val="418029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43096AD-8E0B-3292-BE8A-055DBE15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Tehlike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Risk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3F4B81-9D9C-B3F4-FA28-BC80CF005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E73ABA20-E915-F5CB-B043-B9CEAB2A7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005047"/>
              </p:ext>
            </p:extLst>
          </p:nvPr>
        </p:nvGraphicFramePr>
        <p:xfrm>
          <a:off x="5137074" y="0"/>
          <a:ext cx="6719775" cy="689317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27683">
                  <a:extLst>
                    <a:ext uri="{9D8B030D-6E8A-4147-A177-3AD203B41FA5}">
                      <a16:colId xmlns:a16="http://schemas.microsoft.com/office/drawing/2014/main" val="3939912127"/>
                    </a:ext>
                  </a:extLst>
                </a:gridCol>
                <a:gridCol w="2309049">
                  <a:extLst>
                    <a:ext uri="{9D8B030D-6E8A-4147-A177-3AD203B41FA5}">
                      <a16:colId xmlns:a16="http://schemas.microsoft.com/office/drawing/2014/main" val="2996726811"/>
                    </a:ext>
                  </a:extLst>
                </a:gridCol>
                <a:gridCol w="2783043">
                  <a:extLst>
                    <a:ext uri="{9D8B030D-6E8A-4147-A177-3AD203B41FA5}">
                      <a16:colId xmlns:a16="http://schemas.microsoft.com/office/drawing/2014/main" val="3645425980"/>
                    </a:ext>
                  </a:extLst>
                </a:gridCol>
              </a:tblGrid>
              <a:tr h="448882">
                <a:tc>
                  <a:txBody>
                    <a:bodyPr/>
                    <a:lstStyle/>
                    <a:p>
                      <a:endParaRPr lang="tr-T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Tehlike </a:t>
                      </a: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Risk </a:t>
                      </a:r>
                    </a:p>
                  </a:txBody>
                  <a:tcPr marL="130618" marR="65309" marT="65309" marB="65309"/>
                </a:tc>
                <a:extLst>
                  <a:ext uri="{0D108BD9-81ED-4DB2-BD59-A6C34878D82A}">
                    <a16:rowId xmlns:a16="http://schemas.microsoft.com/office/drawing/2014/main" val="236087065"/>
                  </a:ext>
                </a:extLst>
              </a:tr>
              <a:tr h="993071">
                <a:tc rowSpan="2">
                  <a:txBody>
                    <a:bodyPr/>
                    <a:lstStyle/>
                    <a:p>
                      <a:endParaRPr lang="tr-T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tr-T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tr-TR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Fiziksel </a:t>
                      </a: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İş yerinde yerde duran kablolar</a:t>
                      </a:r>
                      <a:endParaRPr lang="tr-TR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Çalışanların ayağının takılıp düşmesi, kırık/çıkık yaşanması</a:t>
                      </a:r>
                      <a:endParaRPr lang="tr-TR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extLst>
                  <a:ext uri="{0D108BD9-81ED-4DB2-BD59-A6C34878D82A}">
                    <a16:rowId xmlns:a16="http://schemas.microsoft.com/office/drawing/2014/main" val="3464822382"/>
                  </a:ext>
                </a:extLst>
              </a:tr>
              <a:tr h="72097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Çalışan dönen makine parçaları</a:t>
                      </a:r>
                      <a:endParaRPr lang="tr-TR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Uzuv kaptırma, ciddi yaralanma veya ölüm</a:t>
                      </a:r>
                      <a:endParaRPr lang="tr-TR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extLst>
                  <a:ext uri="{0D108BD9-81ED-4DB2-BD59-A6C34878D82A}">
                    <a16:rowId xmlns:a16="http://schemas.microsoft.com/office/drawing/2014/main" val="3542206227"/>
                  </a:ext>
                </a:extLst>
              </a:tr>
              <a:tr h="993071">
                <a:tc rowSpan="2">
                  <a:txBody>
                    <a:bodyPr/>
                    <a:lstStyle/>
                    <a:p>
                      <a:endParaRPr lang="tr-T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tr-T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tr-TR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Kimyasal </a:t>
                      </a: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Açıkta duran temizlik kimyasalları</a:t>
                      </a:r>
                      <a:endParaRPr lang="tr-TR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Cildin tahriş olması, kimyasal yanıklar veya zehirlenme</a:t>
                      </a:r>
                      <a:endParaRPr lang="tr-TR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extLst>
                  <a:ext uri="{0D108BD9-81ED-4DB2-BD59-A6C34878D82A}">
                    <a16:rowId xmlns:a16="http://schemas.microsoft.com/office/drawing/2014/main" val="508848735"/>
                  </a:ext>
                </a:extLst>
              </a:tr>
              <a:tr h="72097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Asbest tozu</a:t>
                      </a:r>
                      <a:endParaRPr lang="tr-TR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Solunum yolu hastalıkları ve kanser riski</a:t>
                      </a:r>
                      <a:endParaRPr lang="tr-TR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extLst>
                  <a:ext uri="{0D108BD9-81ED-4DB2-BD59-A6C34878D82A}">
                    <a16:rowId xmlns:a16="http://schemas.microsoft.com/office/drawing/2014/main" val="735326189"/>
                  </a:ext>
                </a:extLst>
              </a:tr>
              <a:tr h="720976">
                <a:tc>
                  <a:txBody>
                    <a:bodyPr/>
                    <a:lstStyle/>
                    <a:p>
                      <a:r>
                        <a:rPr lang="tr-TR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Psikososyal </a:t>
                      </a: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Aşırı iş yükü ve yüksek stres</a:t>
                      </a:r>
                      <a:endParaRPr lang="tr-TR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Tükenmişlik sendromu, psikolojik rahatsızlıklar</a:t>
                      </a:r>
                      <a:endParaRPr lang="tr-TR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30618" marR="65309" marT="65309" marB="65309"/>
                </a:tc>
                <a:extLst>
                  <a:ext uri="{0D108BD9-81ED-4DB2-BD59-A6C34878D82A}">
                    <a16:rowId xmlns:a16="http://schemas.microsoft.com/office/drawing/2014/main" val="2973356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638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8270D-C7BA-D07F-37B9-9700D164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3FAB826-DFC4-B712-CB4C-6E2EDD83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/>
              <a:t>Tehlike ve Risk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B1C902-AAA3-4AA1-528B-1120CE37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/>
              <a:t>   </a:t>
            </a:r>
          </a:p>
          <a:p>
            <a:pPr marL="0" indent="0">
              <a:buNone/>
            </a:pPr>
            <a:endParaRPr lang="tr-TR" sz="2200"/>
          </a:p>
          <a:p>
            <a:pPr marL="0" indent="0">
              <a:buNone/>
            </a:pPr>
            <a:endParaRPr lang="tr-TR" sz="2200"/>
          </a:p>
          <a:p>
            <a:pPr marL="0" indent="0">
              <a:buNone/>
            </a:pPr>
            <a:endParaRPr lang="tr-TR" sz="2200"/>
          </a:p>
          <a:p>
            <a:pPr marL="0" indent="0">
              <a:buNone/>
            </a:pPr>
            <a:endParaRPr lang="tr-TR" sz="2200"/>
          </a:p>
          <a:p>
            <a:pPr marL="0" indent="0">
              <a:buNone/>
            </a:pPr>
            <a:endParaRPr lang="tr-TR" sz="2200"/>
          </a:p>
          <a:p>
            <a:pPr marL="0" indent="0">
              <a:buNone/>
            </a:pPr>
            <a:r>
              <a:rPr lang="tr-TR" sz="2200"/>
              <a:t>                           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B655FEA-BEC8-5E22-58D2-3DAEED005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25"/>
          <a:stretch>
            <a:fillRect/>
          </a:stretch>
        </p:blipFill>
        <p:spPr>
          <a:xfrm>
            <a:off x="7189461" y="1985079"/>
            <a:ext cx="4660765" cy="261238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6EF67E8E-4CD2-DC7F-E2FD-EF9C20593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792"/>
          <a:stretch>
            <a:fillRect/>
          </a:stretch>
        </p:blipFill>
        <p:spPr>
          <a:xfrm>
            <a:off x="482066" y="3291269"/>
            <a:ext cx="6253159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4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5E58839-2D4A-CEB4-BFC5-D180CA2C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5198364" cy="1481328"/>
          </a:xfrm>
        </p:spPr>
        <p:txBody>
          <a:bodyPr anchor="b">
            <a:normAutofit fontScale="90000"/>
          </a:bodyPr>
          <a:lstStyle/>
          <a:p>
            <a:r>
              <a:rPr lang="tr-TR" b="1" dirty="0"/>
              <a:t>Kabul Edilebilir Risk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37175F5-B99F-A764-8892-ABBCA8838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6110106" cy="3824956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tr-TR" sz="2000" dirty="0"/>
              <a:t>  </a:t>
            </a:r>
          </a:p>
          <a:p>
            <a:pPr marL="0" indent="0">
              <a:buNone/>
            </a:pPr>
            <a:r>
              <a:rPr lang="tr-TR" sz="2000" dirty="0"/>
              <a:t>  İş sağlığı ve güvenliği (İSG) politikalarına ve yasal zorunluluklara uygun olarak, önlemler alındıktan sonra tahammül edilebilir düzeye indirilmiş, </a:t>
            </a:r>
            <a:r>
              <a:rPr lang="tr-TR" sz="2000" b="1" dirty="0"/>
              <a:t>ciddi kayıp veya yaralanma oluşturmayacak </a:t>
            </a:r>
            <a:r>
              <a:rPr lang="tr-TR" sz="2000" dirty="0"/>
              <a:t>risk seviyesidir.</a:t>
            </a:r>
          </a:p>
          <a:p>
            <a:pPr marL="0" indent="0">
              <a:buNone/>
            </a:pPr>
            <a:r>
              <a:rPr lang="tr-TR" sz="2000" dirty="0"/>
              <a:t>    Bu kavram, işyerlerinde tüm risklerin tamamen yok edilemeyeceği gerçeğinden yola çıkarak, güvenli bir çalışma ortamı sağlamak adına katlanılabilecek </a:t>
            </a:r>
            <a:r>
              <a:rPr lang="tr-TR" sz="2000" b="1" dirty="0"/>
              <a:t>makul seviyeyi</a:t>
            </a:r>
            <a:r>
              <a:rPr lang="tr-TR" sz="2000" dirty="0"/>
              <a:t> tanımlar.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BA325A7-9463-AE3A-6140-AE8AE6492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664" y="711647"/>
            <a:ext cx="4530351" cy="451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7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C68E0CC-E1A8-CB96-F0A2-EB91064F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Yönetimi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56FDD3-A017-607B-786B-BEF54076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sz="2000" dirty="0"/>
              <a:t>    Risk, bir tehlikenin gerçekleşme olasılığı ile bu tehlikenin neden olabileceği zararın şiddeti birleştiğinde ortaya çıkan durumdur.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b="1" dirty="0" smtClean="0"/>
              <a:t>             Risk </a:t>
            </a:r>
            <a:r>
              <a:rPr lang="tr-TR" sz="2000" b="1" dirty="0"/>
              <a:t>Formülü:   </a:t>
            </a:r>
            <a:r>
              <a:rPr lang="tr-TR" sz="2000" dirty="0"/>
              <a:t>Olasılık × Şiddet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Risk yönetimi;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000" dirty="0"/>
              <a:t>İşyerinde çalışanların sağlığına ve güvenliğine zarar verebilecek potansiyel tehlikelerin önceden belirlenmesi, 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000" dirty="0"/>
              <a:t>Analiz </a:t>
            </a:r>
            <a:r>
              <a:rPr lang="tr-TR" sz="2000" dirty="0" smtClean="0"/>
              <a:t>edilmesi,</a:t>
            </a:r>
            <a:endParaRPr lang="tr-TR" sz="2000" dirty="0"/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000" dirty="0"/>
              <a:t>Bu risklerin kabul edilebilir düzeye indirilmesi veya tamamen ortadan kaldırılması,</a:t>
            </a:r>
          </a:p>
          <a:p>
            <a:pPr marL="0" indent="0">
              <a:buClr>
                <a:schemeClr val="accent2"/>
              </a:buClr>
              <a:buNone/>
            </a:pPr>
            <a:r>
              <a:rPr lang="tr-TR" sz="2000" dirty="0"/>
              <a:t> </a:t>
            </a:r>
            <a:r>
              <a:rPr lang="tr-TR" sz="2000" dirty="0" smtClean="0"/>
              <a:t> </a:t>
            </a:r>
            <a:r>
              <a:rPr lang="tr-TR" sz="2000" dirty="0" smtClean="0"/>
              <a:t>için </a:t>
            </a:r>
            <a:r>
              <a:rPr lang="tr-TR" sz="2000" dirty="0"/>
              <a:t>alınan sistematik önlemler bütünüdür.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77707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C68E0CC-E1A8-CB96-F0A2-EB91064F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</a:t>
            </a:r>
            <a:r>
              <a:rPr lang="tr-TR" b="1" dirty="0" smtClean="0"/>
              <a:t>Yönetiminin Faydaları</a:t>
            </a:r>
            <a:endParaRPr lang="tr-TR" b="1" dirty="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56FDD3-A017-607B-786B-BEF54076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33" y="1966707"/>
            <a:ext cx="5206451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dirty="0"/>
              <a:t>  </a:t>
            </a:r>
            <a:r>
              <a:rPr lang="tr-TR" sz="1800" b="1" dirty="0" smtClean="0"/>
              <a:t>Çalışanlar </a:t>
            </a:r>
            <a:r>
              <a:rPr lang="tr-TR" sz="1800" b="1" dirty="0"/>
              <a:t>Açısından Faydaları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Haberdar </a:t>
            </a:r>
            <a:r>
              <a:rPr lang="tr-TR" sz="1800" dirty="0"/>
              <a:t>olma imkanı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Sorumlulukların </a:t>
            </a:r>
            <a:r>
              <a:rPr lang="tr-TR" sz="1800" dirty="0"/>
              <a:t>belirlenmesi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Kayıtlara </a:t>
            </a:r>
            <a:r>
              <a:rPr lang="tr-TR" sz="1800" dirty="0"/>
              <a:t>ulaşabilme imkanı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Bütün </a:t>
            </a:r>
            <a:r>
              <a:rPr lang="tr-TR" sz="1800" dirty="0"/>
              <a:t>çalışanları kapsaması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Kuralların </a:t>
            </a:r>
            <a:r>
              <a:rPr lang="tr-TR" sz="1800" dirty="0"/>
              <a:t>önceden belirlenmesi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Proaktif </a:t>
            </a:r>
            <a:r>
              <a:rPr lang="tr-TR" sz="1800" dirty="0"/>
              <a:t>yaklaşım ve sürekli gelişim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sz="1800" dirty="0" smtClean="0"/>
              <a:t>Acil </a:t>
            </a:r>
            <a:r>
              <a:rPr lang="tr-TR" sz="1800" dirty="0"/>
              <a:t>durum hazırlığı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</p:txBody>
      </p:sp>
      <p:sp>
        <p:nvSpPr>
          <p:cNvPr id="4" name="Metin kutusu 3"/>
          <p:cNvSpPr txBox="1"/>
          <p:nvPr/>
        </p:nvSpPr>
        <p:spPr>
          <a:xfrm>
            <a:off x="5477070" y="1973279"/>
            <a:ext cx="6581254" cy="459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tr-TR" dirty="0" smtClean="0"/>
              <a:t>      </a:t>
            </a:r>
            <a:r>
              <a:rPr lang="tr-TR" b="1" dirty="0" smtClean="0"/>
              <a:t>İşveren </a:t>
            </a:r>
            <a:r>
              <a:rPr lang="tr-TR" b="1" dirty="0"/>
              <a:t>Açısından </a:t>
            </a:r>
            <a:r>
              <a:rPr lang="tr-TR" b="1" dirty="0"/>
              <a:t>Faydaları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Tehlike </a:t>
            </a:r>
            <a:r>
              <a:rPr lang="tr-TR" dirty="0"/>
              <a:t>ve risklerini önceden görebilme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Uluslararası </a:t>
            </a:r>
            <a:r>
              <a:rPr lang="tr-TR" dirty="0"/>
              <a:t>saygınlık, geçerlilik ve olumlu imaj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Proaktif </a:t>
            </a:r>
            <a:r>
              <a:rPr lang="tr-TR" dirty="0"/>
              <a:t>yaklaşımla acil durumlar için her an hazırlık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Alınan </a:t>
            </a:r>
            <a:r>
              <a:rPr lang="tr-TR" dirty="0"/>
              <a:t>önlemlerle kayıpların azaltılması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Sorumlulukların-görevlerin </a:t>
            </a:r>
            <a:r>
              <a:rPr lang="tr-TR" dirty="0"/>
              <a:t>belirlenmesi ve paylaşımı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Güvenli </a:t>
            </a:r>
            <a:r>
              <a:rPr lang="tr-TR" dirty="0"/>
              <a:t>teknoloji seçimi ile güvenli çalışma ortamı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Çalışanların </a:t>
            </a:r>
            <a:r>
              <a:rPr lang="tr-TR" dirty="0"/>
              <a:t>ve toplumun iyileştirilmesini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Kaynakların </a:t>
            </a:r>
            <a:r>
              <a:rPr lang="tr-TR" dirty="0"/>
              <a:t>etkin tahsisi ile katma değer artışı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tr-TR" dirty="0" smtClean="0"/>
              <a:t>Yönetimin </a:t>
            </a:r>
            <a:r>
              <a:rPr lang="tr-TR" dirty="0"/>
              <a:t>bilgi kalitesinin iyileşmesi, yasalarla uyum</a:t>
            </a:r>
          </a:p>
        </p:txBody>
      </p:sp>
    </p:spTree>
    <p:extLst>
      <p:ext uri="{BB962C8B-B14F-4D97-AF65-F5344CB8AC3E}">
        <p14:creationId xmlns:p14="http://schemas.microsoft.com/office/powerpoint/2010/main" val="160413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577E3AE-27C9-4668-4E5E-E89187B0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Yönetimi ve Değerlendirilmesi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641B7A-2BA3-A040-4988-FC105A10D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10515600" cy="46307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sz="1500" b="1" dirty="0"/>
              <a:t>   </a:t>
            </a:r>
            <a:r>
              <a:rPr lang="tr-TR" sz="2000" b="1" dirty="0"/>
              <a:t>Risk yönetimi;</a:t>
            </a:r>
            <a:r>
              <a:rPr lang="tr-TR" sz="2000" dirty="0"/>
              <a:t>   Riski belirleme, </a:t>
            </a:r>
          </a:p>
          <a:p>
            <a:pPr marL="0" indent="0">
              <a:buNone/>
            </a:pPr>
            <a:r>
              <a:rPr lang="tr-TR" sz="2000" dirty="0"/>
              <a:t>                                     Analiz etme, </a:t>
            </a:r>
          </a:p>
          <a:p>
            <a:pPr marL="0" indent="0">
              <a:buNone/>
            </a:pPr>
            <a:r>
              <a:rPr lang="tr-TR" sz="2000" dirty="0"/>
              <a:t>                                     Önlem alma, </a:t>
            </a:r>
          </a:p>
          <a:p>
            <a:pPr marL="0" indent="0">
              <a:buNone/>
            </a:pPr>
            <a:r>
              <a:rPr lang="tr-TR" sz="2000" dirty="0"/>
              <a:t>                                     İzleme sürecinin tamamını kapsayan </a:t>
            </a:r>
            <a:r>
              <a:rPr lang="tr-TR" sz="2000" u="sng" dirty="0"/>
              <a:t>geniş bir strateji</a:t>
            </a:r>
            <a:r>
              <a:rPr lang="tr-TR" sz="2000" dirty="0"/>
              <a:t>, </a:t>
            </a:r>
          </a:p>
          <a:p>
            <a:pPr marL="0" indent="0">
              <a:buNone/>
            </a:pPr>
            <a:r>
              <a:rPr lang="tr-TR" sz="2000" b="1" dirty="0"/>
              <a:t>   Risk değerlendirmesi</a:t>
            </a:r>
            <a:r>
              <a:rPr lang="tr-TR" sz="2000" dirty="0"/>
              <a:t> </a:t>
            </a:r>
            <a:r>
              <a:rPr lang="tr-TR" sz="2000" b="1" dirty="0"/>
              <a:t>ise;</a:t>
            </a:r>
            <a:r>
              <a:rPr lang="tr-TR" sz="2000" dirty="0"/>
              <a:t> bu sürecin içindeki tehditlerin tanımlama ve büyüklüğünün ölçülmesi yani riskin kabul edilebilir olup olmadığı aşamasıdır. 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   </a:t>
            </a:r>
            <a:r>
              <a:rPr lang="tr-TR" sz="2000" dirty="0" smtClean="0"/>
              <a:t>→ Risk </a:t>
            </a:r>
            <a:r>
              <a:rPr lang="tr-TR" sz="2000" dirty="0"/>
              <a:t>değerlendirmesi "ne olabilir?" sorusuna yanıt ararken, </a:t>
            </a:r>
          </a:p>
          <a:p>
            <a:pPr marL="0" indent="0">
              <a:buNone/>
            </a:pPr>
            <a:r>
              <a:rPr lang="tr-TR" sz="2000" dirty="0"/>
              <a:t>   </a:t>
            </a:r>
            <a:r>
              <a:rPr lang="tr-TR" sz="2000" dirty="0" smtClean="0"/>
              <a:t>→ Risk </a:t>
            </a:r>
            <a:r>
              <a:rPr lang="tr-TR" sz="2000" dirty="0"/>
              <a:t>yönetimi "bununla nasıl başa çıkarız?" sorusuna yanıt verir.</a:t>
            </a:r>
          </a:p>
          <a:p>
            <a:pPr marL="0" indent="0">
              <a:buNone/>
            </a:pPr>
            <a:endParaRPr lang="tr-TR" sz="2000" dirty="0"/>
          </a:p>
          <a:p>
            <a:r>
              <a:rPr lang="tr-TR" sz="2000" dirty="0"/>
              <a:t>Risk yönetimi, </a:t>
            </a:r>
            <a:r>
              <a:rPr lang="tr-TR" sz="2000" u="sng" dirty="0">
                <a:hlinkClick r:id="rId2"/>
              </a:rPr>
              <a:t>kurumsal hedeflere ulaşmak için tüm süreci kapsayan stratejik bir yaklaşımken</a:t>
            </a:r>
            <a:r>
              <a:rPr lang="tr-TR" sz="2000" dirty="0"/>
              <a:t>, risk değerlendirmesi bu sürecin içindeki teknik bir analiz ve ölçüm aşamasıdır.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    </a:t>
            </a:r>
            <a:r>
              <a:rPr lang="tr-TR" sz="2000" b="1" dirty="0"/>
              <a:t>Özetle,</a:t>
            </a:r>
            <a:r>
              <a:rPr lang="tr-TR" sz="2000" dirty="0"/>
              <a:t> risk değerlendirmesi olmadan risk yönetimi yapılamaz; </a:t>
            </a:r>
            <a:r>
              <a:rPr lang="tr-TR" sz="2000" b="1" dirty="0" smtClean="0">
                <a:solidFill>
                  <a:srgbClr val="C00000"/>
                </a:solidFill>
              </a:rPr>
              <a:t>değerlendirme, </a:t>
            </a:r>
            <a:r>
              <a:rPr lang="tr-TR" sz="2000" b="1" dirty="0">
                <a:solidFill>
                  <a:srgbClr val="C00000"/>
                </a:solidFill>
              </a:rPr>
              <a:t>yönetimin temelini oluşturur</a:t>
            </a:r>
            <a:r>
              <a:rPr lang="tr-T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799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B93105E-7E93-FCBD-8DF1-C80DABF4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algılaması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596AC75-22D5-0851-7626-B26C0131330E}"/>
              </a:ext>
            </a:extLst>
          </p:cNvPr>
          <p:cNvSpPr txBox="1"/>
          <p:nvPr/>
        </p:nvSpPr>
        <p:spPr>
          <a:xfrm>
            <a:off x="793661" y="2599509"/>
            <a:ext cx="3055325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Günde</a:t>
            </a:r>
            <a:r>
              <a:rPr lang="en-US" sz="2000" dirty="0"/>
              <a:t> 1paket </a:t>
            </a:r>
            <a:r>
              <a:rPr lang="en-US" sz="2000" dirty="0" err="1"/>
              <a:t>sigara</a:t>
            </a:r>
            <a:r>
              <a:rPr lang="en-US" sz="2000" dirty="0"/>
              <a:t> </a:t>
            </a:r>
            <a:r>
              <a:rPr lang="en-US" sz="2000" dirty="0" err="1"/>
              <a:t>içmek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Yoldan</a:t>
            </a:r>
            <a:r>
              <a:rPr lang="en-US" sz="2000" dirty="0"/>
              <a:t> </a:t>
            </a:r>
            <a:r>
              <a:rPr lang="en-US" sz="2000" dirty="0" err="1"/>
              <a:t>karşı</a:t>
            </a:r>
            <a:r>
              <a:rPr lang="en-US" sz="2000" dirty="0"/>
              <a:t> </a:t>
            </a:r>
            <a:r>
              <a:rPr lang="en-US" sz="2000" dirty="0" err="1"/>
              <a:t>karşıya</a:t>
            </a:r>
            <a:r>
              <a:rPr lang="en-US" sz="2000" dirty="0"/>
              <a:t> </a:t>
            </a:r>
            <a:r>
              <a:rPr lang="en-US" sz="2000" dirty="0" err="1"/>
              <a:t>geçerken</a:t>
            </a:r>
            <a:r>
              <a:rPr lang="en-US" sz="2000" dirty="0"/>
              <a:t> </a:t>
            </a:r>
            <a:r>
              <a:rPr lang="en-US" sz="2000" dirty="0" err="1"/>
              <a:t>sağına</a:t>
            </a:r>
            <a:r>
              <a:rPr lang="en-US" sz="2000" dirty="0"/>
              <a:t> </a:t>
            </a:r>
            <a:r>
              <a:rPr lang="en-US" sz="2000" dirty="0" err="1"/>
              <a:t>soluna</a:t>
            </a:r>
            <a:r>
              <a:rPr lang="en-US" sz="2000" dirty="0"/>
              <a:t> </a:t>
            </a:r>
            <a:r>
              <a:rPr lang="en-US" sz="2000" dirty="0" err="1"/>
              <a:t>bakmamak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Kömür </a:t>
            </a:r>
            <a:r>
              <a:rPr lang="en-US" sz="2000" dirty="0" err="1"/>
              <a:t>madeninde</a:t>
            </a:r>
            <a:r>
              <a:rPr lang="en-US" sz="2000" dirty="0"/>
              <a:t> </a:t>
            </a:r>
            <a:r>
              <a:rPr lang="en-US" sz="2000" dirty="0" err="1"/>
              <a:t>çalışmak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51A3D62-ADA9-547B-8ED9-B6343BB3C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619" y="2389218"/>
            <a:ext cx="6419162" cy="417245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18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603BDD-AB67-B15E-2A70-3D89E5F9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15270" y="2572045"/>
            <a:ext cx="5257800" cy="1325563"/>
          </a:xfrm>
        </p:spPr>
        <p:txBody>
          <a:bodyPr/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6E3C01-B9E2-1166-CC25-FB43EDC25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197346"/>
            <a:ext cx="9977437" cy="64633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lt"/>
              </a:rPr>
              <a:t>Senaryo: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lt"/>
              </a:rPr>
              <a:t/>
            </a:r>
            <a:b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lt"/>
              </a:rPr>
            </a:b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  <a:t>Bir öğrenci sabah derse yetişmek için toplu taşımayı kullanıyor.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rgbClr val="0F10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lt"/>
              </a:rPr>
              <a:t>Olası Riskler: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  <a:t>Otobüsün geç kalması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  <a:t>Cüzdanın kaybolması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  <a:t>Hava koşullarının ulaşımı etkilemesi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rgbClr val="0F10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lt"/>
              </a:rPr>
              <a:t>Risk Analizi: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sz="2000" b="1" dirty="0">
              <a:solidFill>
                <a:srgbClr val="0F1015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rgbClr val="0F10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sz="2000" b="1" dirty="0">
              <a:solidFill>
                <a:srgbClr val="0F1015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rgbClr val="0F10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sz="2000" b="1" dirty="0">
              <a:solidFill>
                <a:srgbClr val="0F1015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rgbClr val="0F10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sz="2000" b="1" dirty="0">
              <a:solidFill>
                <a:srgbClr val="0F1015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rgbClr val="0F10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lt"/>
              </a:rPr>
              <a:t>Sonuç: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  <a:t/>
            </a:r>
            <a:b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</a:b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0F1015"/>
                </a:solidFill>
                <a:effectLst/>
                <a:latin typeface="+mn-lt"/>
              </a:rPr>
              <a:t>En yüksek risk “otobüsün geç kalması” olduğundan, öğrenci alternatif ulaşım planı yapabilir (erken çıkmak, farklı rota seçmek).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F159BA37-96BD-9026-C963-C267956B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8" y="3058193"/>
            <a:ext cx="7828140" cy="2421214"/>
          </a:xfrm>
          <a:prstGeom prst="rect">
            <a:avLst/>
          </a:prstGeom>
          <a:ln>
            <a:solidFill>
              <a:schemeClr val="dk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4077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7954DAB-219F-F8C7-DA18-366FF7D1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23A624-A754-EDB4-948F-E1BD33F07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77" y="2485597"/>
            <a:ext cx="7769309" cy="4528502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tr-TR" sz="1800" u="sng" dirty="0"/>
              <a:t>Ne zaman yapılır?</a:t>
            </a:r>
          </a:p>
          <a:p>
            <a:pPr marL="0" indent="0">
              <a:buNone/>
            </a:pPr>
            <a:endParaRPr lang="tr-TR" sz="18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1800" dirty="0"/>
              <a:t>İşe başlama aşamasında,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1800" dirty="0"/>
              <a:t>İşyerinde bir değişiklik olması durumunda,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1800" dirty="0"/>
              <a:t>   </a:t>
            </a:r>
            <a:r>
              <a:rPr lang="tr-TR" sz="1800" dirty="0" smtClean="0"/>
              <a:t>Yeni </a:t>
            </a:r>
            <a:r>
              <a:rPr lang="tr-TR" sz="1800" dirty="0"/>
              <a:t>bir makine veya ekipman alınması,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1800" dirty="0"/>
              <a:t>   </a:t>
            </a:r>
            <a:r>
              <a:rPr lang="tr-TR" sz="1800" dirty="0" smtClean="0"/>
              <a:t>Yeni </a:t>
            </a:r>
            <a:r>
              <a:rPr lang="tr-TR" sz="1800" dirty="0"/>
              <a:t>tekniklerin geliştirilmesi,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1800" dirty="0"/>
              <a:t>   </a:t>
            </a:r>
            <a:r>
              <a:rPr lang="tr-TR" sz="1800" dirty="0" smtClean="0"/>
              <a:t>İş </a:t>
            </a:r>
            <a:r>
              <a:rPr lang="tr-TR" sz="1800" dirty="0"/>
              <a:t>organizasyonunda / iş akışında değişiklikler yapılması,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1800" dirty="0"/>
              <a:t>   </a:t>
            </a:r>
            <a:r>
              <a:rPr lang="tr-TR" sz="1800" dirty="0" smtClean="0"/>
              <a:t>Yeni </a:t>
            </a:r>
            <a:r>
              <a:rPr lang="tr-TR" sz="1800" dirty="0"/>
              <a:t>hammadde ve/veya yarı mamul maddelerin üretim sürecine girmesi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1800" dirty="0"/>
              <a:t>İş Kazası, meslek Hastalığı sonrasında,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1800" dirty="0"/>
              <a:t>Düzenli Aralıklarla; </a:t>
            </a:r>
            <a:r>
              <a:rPr lang="tr-TR" sz="1800" dirty="0">
                <a:solidFill>
                  <a:srgbClr val="FF0000"/>
                </a:solidFill>
              </a:rPr>
              <a:t>Çok tehlikeli </a:t>
            </a:r>
            <a:r>
              <a:rPr lang="tr-TR" sz="1800" dirty="0"/>
              <a:t>sınıfta en geç 2, </a:t>
            </a:r>
          </a:p>
          <a:p>
            <a:pPr marL="0" indent="0">
              <a:buNone/>
            </a:pPr>
            <a:r>
              <a:rPr lang="tr-TR" sz="1800" dirty="0"/>
              <a:t>                      </a:t>
            </a:r>
            <a:r>
              <a:rPr lang="tr-TR" sz="1800" dirty="0" smtClean="0"/>
              <a:t> </a:t>
            </a:r>
            <a:r>
              <a:rPr lang="tr-TR" sz="1800" dirty="0" smtClean="0">
                <a:solidFill>
                  <a:srgbClr val="FF0000"/>
                </a:solidFill>
              </a:rPr>
              <a:t>Tehlikeli </a:t>
            </a:r>
            <a:r>
              <a:rPr lang="tr-TR" sz="1800" dirty="0"/>
              <a:t>sınıfta en geç 4, </a:t>
            </a:r>
          </a:p>
          <a:p>
            <a:pPr marL="0" indent="0">
              <a:buNone/>
            </a:pPr>
            <a:r>
              <a:rPr lang="tr-TR" sz="1800" dirty="0"/>
              <a:t>                       </a:t>
            </a:r>
            <a:r>
              <a:rPr lang="tr-TR" sz="1800" dirty="0" smtClean="0">
                <a:solidFill>
                  <a:srgbClr val="FF0000"/>
                </a:solidFill>
              </a:rPr>
              <a:t>Az </a:t>
            </a:r>
            <a:r>
              <a:rPr lang="tr-TR" sz="1800" dirty="0">
                <a:solidFill>
                  <a:srgbClr val="FF0000"/>
                </a:solidFill>
              </a:rPr>
              <a:t>tehlikeli </a:t>
            </a:r>
            <a:r>
              <a:rPr lang="tr-TR" sz="1800" dirty="0"/>
              <a:t>sınıfta 6 yılda bir</a:t>
            </a:r>
          </a:p>
          <a:p>
            <a:pPr marL="0" indent="0">
              <a:buNone/>
            </a:pPr>
            <a:r>
              <a:rPr lang="tr-TR" sz="1800" dirty="0"/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3183C9F-E80C-A9A8-0E69-06DFD23180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787"/>
          <a:stretch>
            <a:fillRect/>
          </a:stretch>
        </p:blipFill>
        <p:spPr>
          <a:xfrm>
            <a:off x="8157246" y="2849022"/>
            <a:ext cx="3006940" cy="19303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04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32ABD2-88CC-19EA-8FAE-D40C2112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FB6848-82E0-529A-ADE7-6906DC16B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7179356" cy="475010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tr-TR" sz="1800" u="sng" dirty="0"/>
              <a:t>Kimler tarafından yapılır?</a:t>
            </a:r>
          </a:p>
          <a:p>
            <a:pPr marL="0" indent="0">
              <a:buNone/>
            </a:pPr>
            <a:r>
              <a:rPr lang="tr-TR" sz="1800" dirty="0"/>
              <a:t>   Çalışma ortamının ve çalışanların sağlık ve güvenliğini sağlama, sürdürme ve geliştirme amacı ile iş sağlığı ve güvenliği yönünden risk değerlendirmesini </a:t>
            </a:r>
            <a:r>
              <a:rPr lang="tr-TR" sz="1800" b="1" dirty="0"/>
              <a:t>işveren </a:t>
            </a:r>
            <a:r>
              <a:rPr lang="tr-TR" sz="1800" dirty="0"/>
              <a:t> yapar veya yaptırır.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Risk değerlendirmesi ekibi kimlerden oluşur?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İşveren veya işveren vekili.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İşyerinde sağlık ve güvenlik hizmetini yürüten iş güvenliği uzmanları ile işyeri hekimleri.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İşyerindeki çalışan temsilcileri.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İşyerindeki destek elemanları.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İşyerindeki bütün birimleri temsil edecek şekilde belirlenen ve işyerinde yürütülen çalışmalar, mevcut veya muhtemel tehlike kaynakları ile riskler konusunda bilgi sahibi çalışanlar. 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4DF94F3-FB12-B455-7BAD-4BF69785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1" r="7522"/>
          <a:stretch>
            <a:fillRect/>
          </a:stretch>
        </p:blipFill>
        <p:spPr>
          <a:xfrm>
            <a:off x="7751849" y="2237134"/>
            <a:ext cx="4044565" cy="302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16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14429B-2534-5485-5CCD-EFF879D1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41850A-2509-B467-4AE7-67C8712BD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7" y="2598456"/>
            <a:ext cx="6135328" cy="40768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tr-TR" sz="1800" u="sng" dirty="0"/>
              <a:t>Temel adımları nelerdir?</a:t>
            </a:r>
          </a:p>
          <a:p>
            <a:pPr marL="0" indent="0">
              <a:spcBef>
                <a:spcPts val="0"/>
              </a:spcBef>
              <a:buNone/>
            </a:pPr>
            <a:endParaRPr lang="tr-TR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Tehlikenin tanımlanması,</a:t>
            </a:r>
          </a:p>
          <a:p>
            <a:pPr marL="0" indent="0">
              <a:buNone/>
            </a:pPr>
            <a:r>
              <a:rPr lang="tr-TR" sz="1800" dirty="0"/>
              <a:t>    </a:t>
            </a:r>
            <a:r>
              <a:rPr lang="tr-TR" sz="1800" dirty="0" smtClean="0"/>
              <a:t>Fiziksel</a:t>
            </a:r>
            <a:r>
              <a:rPr lang="tr-TR" sz="1800" dirty="0"/>
              <a:t>, kimyasal, biyolojik veya ergonomik tüm potansiyel tehlike kaynaklarının tespiti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 Risk Analizi,</a:t>
            </a:r>
          </a:p>
          <a:p>
            <a:pPr marL="0" indent="0">
              <a:buNone/>
            </a:pPr>
            <a:r>
              <a:rPr lang="tr-TR" sz="1800" dirty="0"/>
              <a:t>   </a:t>
            </a:r>
            <a:r>
              <a:rPr lang="tr-TR" sz="1800" dirty="0" smtClean="0"/>
              <a:t> Kimlerin </a:t>
            </a:r>
            <a:r>
              <a:rPr lang="tr-TR" sz="1800" dirty="0"/>
              <a:t>nasıl zarar görebileceğinin belirlenmesi, riskin gerçekleşme olasılığı ve etkisinin analiz edilmesi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 Risk değerlendirme    </a:t>
            </a:r>
          </a:p>
          <a:p>
            <a:pPr marL="0" indent="0">
              <a:buNone/>
            </a:pPr>
            <a:r>
              <a:rPr lang="tr-TR" sz="1800" dirty="0"/>
              <a:t>    </a:t>
            </a:r>
            <a:r>
              <a:rPr lang="tr-TR" sz="1800" dirty="0" smtClean="0"/>
              <a:t>Riskleri </a:t>
            </a:r>
            <a:r>
              <a:rPr lang="tr-TR" sz="1800" dirty="0"/>
              <a:t>azaltmak veya ortadan kaldırmak için alınacak tedbirlere karar verilmesi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 Uygulama ve önlem alma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1800" dirty="0"/>
              <a:t> Kontrol etme 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1681293-BA26-4FD4-0743-AED685BDF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85" y="2573104"/>
            <a:ext cx="5150277" cy="352793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91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D6D9F-1C24-FB05-04F9-988690B1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6562492-5C96-5F86-E153-4B2177C6EF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CC3F9DA-83CC-52CE-D43C-7A10A97E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FC7F0BE-2A8E-DB19-27A2-DE46EE3B7A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642188-08F2-DAED-11D6-7B1345C64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03" y="2055813"/>
            <a:ext cx="8291052" cy="42354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000" dirty="0"/>
              <a:t>Risk analizinde dikkat edilecek hususlar;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u="sng" dirty="0"/>
              <a:t>Çalışana etki </a:t>
            </a:r>
            <a:r>
              <a:rPr lang="tr-TR" sz="2000" dirty="0"/>
              <a:t>; </a:t>
            </a:r>
            <a:r>
              <a:rPr lang="tr-TR" sz="2000" dirty="0" smtClean="0"/>
              <a:t>Maddelerin </a:t>
            </a:r>
            <a:r>
              <a:rPr lang="tr-TR" sz="2000" dirty="0"/>
              <a:t>vücuda giriş yolları</a:t>
            </a:r>
          </a:p>
          <a:p>
            <a:pPr marL="0" indent="0">
              <a:buNone/>
            </a:pPr>
            <a:r>
              <a:rPr lang="tr-TR" sz="2000" dirty="0"/>
              <a:t>               </a:t>
            </a:r>
            <a:r>
              <a:rPr lang="tr-TR" sz="2000" dirty="0" smtClean="0"/>
              <a:t> Vücuttaki </a:t>
            </a:r>
            <a:r>
              <a:rPr lang="tr-TR" sz="2000" dirty="0"/>
              <a:t>etki tarzı </a:t>
            </a:r>
            <a:r>
              <a:rPr lang="tr-TR" sz="2000" dirty="0" smtClean="0"/>
              <a:t>(</a:t>
            </a:r>
            <a:r>
              <a:rPr lang="tr-TR" sz="2000" dirty="0" err="1" smtClean="0"/>
              <a:t>toksik</a:t>
            </a:r>
            <a:r>
              <a:rPr lang="tr-TR" sz="2000" dirty="0"/>
              <a:t>, alerjen, zehirli vs.)</a:t>
            </a:r>
          </a:p>
          <a:p>
            <a:pPr marL="0" indent="0">
              <a:buNone/>
            </a:pPr>
            <a:r>
              <a:rPr lang="tr-TR" sz="2000" dirty="0"/>
              <a:t>                </a:t>
            </a:r>
            <a:r>
              <a:rPr lang="tr-TR" sz="2000" dirty="0" smtClean="0"/>
              <a:t>Bireysel </a:t>
            </a:r>
            <a:r>
              <a:rPr lang="tr-TR" sz="2000" dirty="0"/>
              <a:t>farklılıklar </a:t>
            </a:r>
            <a:r>
              <a:rPr lang="tr-TR" sz="2000" dirty="0" smtClean="0"/>
              <a:t>(yaş</a:t>
            </a:r>
            <a:r>
              <a:rPr lang="tr-TR" sz="2000" dirty="0"/>
              <a:t>, cinsiyet, özürlülük vs.)</a:t>
            </a:r>
          </a:p>
          <a:p>
            <a:pPr marL="0" indent="0">
              <a:buNone/>
            </a:pPr>
            <a:r>
              <a:rPr lang="tr-TR" sz="2000" u="sng" dirty="0"/>
              <a:t>Çevreye etki tarzı </a:t>
            </a:r>
            <a:r>
              <a:rPr lang="tr-TR" sz="2000" dirty="0"/>
              <a:t>; </a:t>
            </a:r>
            <a:r>
              <a:rPr lang="tr-TR" sz="2000" dirty="0" smtClean="0"/>
              <a:t>Hava </a:t>
            </a:r>
            <a:r>
              <a:rPr lang="tr-TR" sz="2000" dirty="0"/>
              <a:t>kirletici</a:t>
            </a:r>
          </a:p>
          <a:p>
            <a:pPr marL="0" indent="0">
              <a:buNone/>
            </a:pPr>
            <a:r>
              <a:rPr lang="tr-TR" sz="2000" dirty="0"/>
              <a:t>                    </a:t>
            </a:r>
            <a:r>
              <a:rPr lang="tr-TR" sz="2000" dirty="0" smtClean="0"/>
              <a:t> Su </a:t>
            </a:r>
            <a:r>
              <a:rPr lang="tr-TR" sz="2000" dirty="0"/>
              <a:t>kirletici</a:t>
            </a:r>
          </a:p>
          <a:p>
            <a:pPr marL="0" indent="0">
              <a:buNone/>
            </a:pPr>
            <a:r>
              <a:rPr lang="tr-TR" sz="2000" dirty="0"/>
              <a:t>                     </a:t>
            </a:r>
            <a:r>
              <a:rPr lang="tr-TR" sz="2000" dirty="0" smtClean="0"/>
              <a:t>Toprak </a:t>
            </a:r>
            <a:r>
              <a:rPr lang="tr-TR" sz="2000" dirty="0"/>
              <a:t>kirletici </a:t>
            </a:r>
          </a:p>
          <a:p>
            <a:pPr marL="0" indent="0">
              <a:buNone/>
            </a:pPr>
            <a:r>
              <a:rPr lang="tr-TR" sz="2000" u="sng" dirty="0"/>
              <a:t>İşletmeye etkileri </a:t>
            </a:r>
            <a:r>
              <a:rPr lang="tr-TR" sz="2000" dirty="0"/>
              <a:t>; </a:t>
            </a:r>
            <a:r>
              <a:rPr lang="tr-TR" sz="2000" dirty="0" smtClean="0"/>
              <a:t>Binaya </a:t>
            </a:r>
            <a:r>
              <a:rPr lang="tr-TR" sz="2000" dirty="0"/>
              <a:t>veya sisteme ( korozif etkisi, titreşim (vibrasyon) etkisi, yıkıcı </a:t>
            </a:r>
            <a:r>
              <a:rPr lang="tr-TR" sz="2000" dirty="0" smtClean="0"/>
              <a:t>etkisi</a:t>
            </a:r>
            <a:r>
              <a:rPr lang="tr-TR" sz="2000" dirty="0"/>
              <a:t>, yakıcı etkisi )</a:t>
            </a:r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8B8DF21-2956-B441-127F-5BFA99B92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1"/>
          <a:stretch>
            <a:fillRect/>
          </a:stretch>
        </p:blipFill>
        <p:spPr>
          <a:xfrm>
            <a:off x="7914012" y="2228393"/>
            <a:ext cx="4401804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55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7A2BD5D-42AD-735E-D74B-7E93C37E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değerlendirmesi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9F2A086-FC3B-A633-0D51-87D6483D0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605" r="7310"/>
          <a:stretch>
            <a:fillRect/>
          </a:stretch>
        </p:blipFill>
        <p:spPr>
          <a:xfrm>
            <a:off x="4385214" y="754241"/>
            <a:ext cx="7632263" cy="578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9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34B75-B2AC-379A-C66C-9655EAA8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26C458-EF56-A88C-D304-D5B742F51D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8ACDC31-3B1A-455C-66B6-9602BD3E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A040635-2F36-942D-676E-943284A7E5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AAA5DB-39C9-65BA-C630-6C280B1A4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dirty="0"/>
              <a:t>Risk değerlendirmesi hangi sorulara cevap arar?</a:t>
            </a:r>
          </a:p>
          <a:p>
            <a:pPr marL="0" indent="0">
              <a:buNone/>
            </a:pPr>
            <a:endParaRPr lang="tr-T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/>
              <a:t>Ne yanlış gidebilir?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/>
              <a:t>Bunun ihtimali nedir?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/>
              <a:t>Olursa ne tür sonuçlar doğurabilir?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/>
              <a:t>Riski nelerdir?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/>
              <a:t>Bu riskler kabul edilebilir düzeyde midir?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/>
              <a:t>Riskler nasıl azaltılabilir?</a:t>
            </a:r>
          </a:p>
        </p:txBody>
      </p:sp>
    </p:spTree>
    <p:extLst>
      <p:ext uri="{BB962C8B-B14F-4D97-AF65-F5344CB8AC3E}">
        <p14:creationId xmlns:p14="http://schemas.microsoft.com/office/powerpoint/2010/main" val="3652968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D661BCC-0A97-1EE9-A1A7-4A3F22A7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değerlendirmesi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18A456F-3EE7-553E-3554-F89E764E7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575557"/>
            <a:ext cx="7214616" cy="367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73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F26F0-C5EC-4159-35A9-5F02CC70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E8B1CA-1104-6447-CD16-7B8377FF57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A45A75D-C4DC-A399-5216-37229771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değerlendirmesi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12AE6065-714C-ABF3-A5A5-AAFEC7AF8F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697306C1-4296-7BAC-7A73-440E9E4F7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70" r="5170"/>
          <a:stretch>
            <a:fillRect/>
          </a:stretch>
        </p:blipFill>
        <p:spPr>
          <a:xfrm>
            <a:off x="4541651" y="2906324"/>
            <a:ext cx="7460202" cy="3293369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A276B352-FDC2-7709-C663-37F29AF48DF2}"/>
              </a:ext>
            </a:extLst>
          </p:cNvPr>
          <p:cNvSpPr txBox="1"/>
          <p:nvPr/>
        </p:nvSpPr>
        <p:spPr>
          <a:xfrm>
            <a:off x="5191432" y="2102785"/>
            <a:ext cx="5161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Muhtemel bir olayın meydana gelme olasılığının derecelendirilmesi için bu tablo kullanılır.</a:t>
            </a:r>
          </a:p>
        </p:txBody>
      </p:sp>
    </p:spTree>
    <p:extLst>
      <p:ext uri="{BB962C8B-B14F-4D97-AF65-F5344CB8AC3E}">
        <p14:creationId xmlns:p14="http://schemas.microsoft.com/office/powerpoint/2010/main" val="57535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79A57-7932-24D7-B0D4-CCFA9B7C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4B6290-D580-8BA4-3953-E3E7733252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3DFF50B-C44C-57C5-3BB0-B6F57C7B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D2719B3-68EC-7FAB-E4C5-4994C90726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AFBE7B0-6B70-D18D-E7EA-0AE1956A3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8763" y="1767132"/>
            <a:ext cx="8070887" cy="4600406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4F662C80-7821-1CE3-7E16-0A73763AD07C}"/>
              </a:ext>
            </a:extLst>
          </p:cNvPr>
          <p:cNvSpPr txBox="1"/>
          <p:nvPr/>
        </p:nvSpPr>
        <p:spPr>
          <a:xfrm>
            <a:off x="8974182" y="1767608"/>
            <a:ext cx="30905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Bir üniversitenin kimya mühendisliği laboratuvarında öğrenciler deney yaparken çeşitli kimyasallar, cam malzemeler ve ısıtıcı cihazlar kullanılmaktadır.</a:t>
            </a:r>
          </a:p>
          <a:p>
            <a:endParaRPr lang="tr-TR" dirty="0"/>
          </a:p>
          <a:p>
            <a:r>
              <a:rPr lang="tr-TR" dirty="0"/>
              <a:t>    Laboratuvar sorumlusu, olası tehlikeleri belirlemek ve güvenli bir çalışma ortamı sağlamak amacıyla risk değerlendirmesi yapmak istemektedir.</a:t>
            </a:r>
          </a:p>
        </p:txBody>
      </p:sp>
    </p:spTree>
    <p:extLst>
      <p:ext uri="{BB962C8B-B14F-4D97-AF65-F5344CB8AC3E}">
        <p14:creationId xmlns:p14="http://schemas.microsoft.com/office/powerpoint/2010/main" val="2462232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C02D1-1535-8E3D-ACC4-B744CC715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CF54C2-27D4-D5CF-23E9-41A0EEEF6E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CE84D6-180E-2692-9B98-314300B6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A9CA730-D77C-C9E4-7387-20F15BFE23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610E59-D5CF-1D8C-6562-6B6B93F25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69" y="2055813"/>
            <a:ext cx="6236509" cy="4251960"/>
          </a:xfrm>
        </p:spPr>
        <p:txBody>
          <a:bodyPr>
            <a:normAutofit fontScale="62500" lnSpcReduction="20000"/>
          </a:bodyPr>
          <a:lstStyle/>
          <a:p>
            <a:r>
              <a:rPr lang="tr-TR" b="1" dirty="0"/>
              <a:t>Tehlikelerin Belirlenmesi</a:t>
            </a:r>
          </a:p>
          <a:p>
            <a:pPr marL="0" indent="0">
              <a:buNone/>
            </a:pPr>
            <a:r>
              <a:rPr lang="tr-TR" dirty="0"/>
              <a:t>Kimyasal sıçramalar</a:t>
            </a:r>
          </a:p>
          <a:p>
            <a:pPr marL="0" indent="0">
              <a:buNone/>
            </a:pPr>
            <a:r>
              <a:rPr lang="tr-TR" dirty="0"/>
              <a:t>Cam malzeme kırılması</a:t>
            </a:r>
          </a:p>
          <a:p>
            <a:pPr marL="0" indent="0">
              <a:buNone/>
            </a:pPr>
            <a:r>
              <a:rPr lang="tr-TR" dirty="0"/>
              <a:t>Elektrikli ısıtıcıların aşırı ısınması</a:t>
            </a:r>
          </a:p>
          <a:p>
            <a:pPr marL="0" indent="0">
              <a:buNone/>
            </a:pPr>
            <a:r>
              <a:rPr lang="tr-TR" dirty="0"/>
              <a:t>Kaygan zemin</a:t>
            </a:r>
          </a:p>
          <a:p>
            <a:pPr marL="0" indent="0">
              <a:buNone/>
            </a:pPr>
            <a:r>
              <a:rPr lang="tr-TR" dirty="0"/>
              <a:t>Uygun olmayan kişisel koruyucu ekipman (KKE) kullanımı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b="1" dirty="0"/>
              <a:t>Risk Altındaki Kişilerin Belirlenmesi</a:t>
            </a:r>
          </a:p>
          <a:p>
            <a:pPr marL="0" indent="0">
              <a:buNone/>
            </a:pPr>
            <a:r>
              <a:rPr lang="tr-TR" dirty="0"/>
              <a:t>Deney yapan öğrenciler</a:t>
            </a:r>
          </a:p>
          <a:p>
            <a:pPr marL="0" indent="0">
              <a:buNone/>
            </a:pPr>
            <a:r>
              <a:rPr lang="tr-TR" dirty="0"/>
              <a:t>Laboratuvar asistanları</a:t>
            </a:r>
          </a:p>
          <a:p>
            <a:pPr marL="0" indent="0">
              <a:buNone/>
            </a:pPr>
            <a:r>
              <a:rPr lang="tr-TR" dirty="0"/>
              <a:t>Temizlik personeli</a:t>
            </a:r>
          </a:p>
          <a:p>
            <a:pPr marL="0" indent="0">
              <a:buNone/>
            </a:pPr>
            <a:r>
              <a:rPr lang="tr-TR" dirty="0"/>
              <a:t>Ziyaretçiler (gözlemciler)</a:t>
            </a:r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B32935FD-10A2-B7E0-D776-86916AA8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678" y="2050840"/>
            <a:ext cx="5560749" cy="317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91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46502-ECC7-D339-BC94-99584E6B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A0BAD8-EE98-AFD4-36A3-0D3FA3F0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B12C5865-E9F6-D1FC-5EB4-061C42016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120014"/>
              </p:ext>
            </p:extLst>
          </p:nvPr>
        </p:nvGraphicFramePr>
        <p:xfrm>
          <a:off x="1109709" y="1926266"/>
          <a:ext cx="9261293" cy="5361630"/>
        </p:xfrm>
        <a:graphic>
          <a:graphicData uri="http://schemas.openxmlformats.org/drawingml/2006/table">
            <a:tbl>
              <a:tblPr/>
              <a:tblGrid>
                <a:gridCol w="2112807">
                  <a:extLst>
                    <a:ext uri="{9D8B030D-6E8A-4147-A177-3AD203B41FA5}">
                      <a16:colId xmlns:a16="http://schemas.microsoft.com/office/drawing/2014/main" val="265578773"/>
                    </a:ext>
                  </a:extLst>
                </a:gridCol>
                <a:gridCol w="1752866">
                  <a:extLst>
                    <a:ext uri="{9D8B030D-6E8A-4147-A177-3AD203B41FA5}">
                      <a16:colId xmlns:a16="http://schemas.microsoft.com/office/drawing/2014/main" val="2630239918"/>
                    </a:ext>
                  </a:extLst>
                </a:gridCol>
                <a:gridCol w="1752866">
                  <a:extLst>
                    <a:ext uri="{9D8B030D-6E8A-4147-A177-3AD203B41FA5}">
                      <a16:colId xmlns:a16="http://schemas.microsoft.com/office/drawing/2014/main" val="1630141055"/>
                    </a:ext>
                  </a:extLst>
                </a:gridCol>
                <a:gridCol w="1752866">
                  <a:extLst>
                    <a:ext uri="{9D8B030D-6E8A-4147-A177-3AD203B41FA5}">
                      <a16:colId xmlns:a16="http://schemas.microsoft.com/office/drawing/2014/main" val="49542547"/>
                    </a:ext>
                  </a:extLst>
                </a:gridCol>
                <a:gridCol w="1889888">
                  <a:extLst>
                    <a:ext uri="{9D8B030D-6E8A-4147-A177-3AD203B41FA5}">
                      <a16:colId xmlns:a16="http://schemas.microsoft.com/office/drawing/2014/main" val="854868820"/>
                    </a:ext>
                  </a:extLst>
                </a:gridCol>
              </a:tblGrid>
              <a:tr h="59860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1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Tehlike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1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Olasılık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1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Etki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1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Risk Düzeyi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1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Açıklama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747856"/>
                  </a:ext>
                </a:extLst>
              </a:tr>
              <a:tr h="979997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Kimyasal sıçrama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Orta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Göz ve cilt yanıkları riski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324885"/>
                  </a:ext>
                </a:extLst>
              </a:tr>
              <a:tr h="78929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Cam kırılması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Orta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Kesik ve yaralanma riski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771403"/>
                  </a:ext>
                </a:extLst>
              </a:tr>
              <a:tr h="78929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Elektrik kablosu gevşekliği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Düşük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Orta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Elektrik çarpması riski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191075"/>
                  </a:ext>
                </a:extLst>
              </a:tr>
              <a:tr h="59860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Kaygan zemin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Orta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Orta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Orta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Düşme riski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511025"/>
                  </a:ext>
                </a:extLst>
              </a:tr>
              <a:tr h="979997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KKE kullanılmaması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Çok yüksek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sz="2100" b="0" dirty="0">
                          <a:solidFill>
                            <a:srgbClr val="0F1015"/>
                          </a:solidFill>
                          <a:effectLst/>
                          <a:latin typeface="+mj-lt"/>
                        </a:rPr>
                        <a:t>Tüm risklerin etkisini artırır</a:t>
                      </a:r>
                    </a:p>
                  </a:txBody>
                  <a:tcPr marL="105537" marR="105537" marT="109935" marB="109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84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13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3477E-84C0-2A8E-775E-8A1FF37F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325BBC3-3F8D-350A-DB3B-4D33FF9F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tr-TR" b="1" dirty="0"/>
              <a:t>Risk değerlendirmesi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10D4BF8D-0573-1FAA-916F-A9D9629DF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58" y="2447026"/>
            <a:ext cx="5243391" cy="297360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82402B-8186-F584-D2E2-E9BFB84B5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8121" y="473072"/>
            <a:ext cx="5243391" cy="6076583"/>
          </a:xfrm>
        </p:spPr>
        <p:txBody>
          <a:bodyPr anchor="ctr">
            <a:normAutofit fontScale="92500" lnSpcReduction="20000"/>
          </a:bodyPr>
          <a:lstStyle/>
          <a:p>
            <a:r>
              <a:rPr lang="tr-TR" sz="2000" b="1" dirty="0">
                <a:solidFill>
                  <a:schemeClr val="tx1">
                    <a:alpha val="80000"/>
                  </a:schemeClr>
                </a:solidFill>
              </a:rPr>
              <a:t>Önlemlerin Alınması ve </a:t>
            </a:r>
            <a:r>
              <a:rPr lang="tr-TR" sz="2000" b="1" dirty="0" smtClean="0">
                <a:solidFill>
                  <a:schemeClr val="tx1">
                    <a:alpha val="80000"/>
                  </a:schemeClr>
                </a:solidFill>
              </a:rPr>
              <a:t>Uygulanması</a:t>
            </a:r>
          </a:p>
          <a:p>
            <a:endParaRPr lang="tr-TR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Tehlikeli kimyasalların daha az zararlı alternatiflerle değiştirilmesi.</a:t>
            </a:r>
          </a:p>
          <a:p>
            <a:pPr marL="457200" lvl="1" indent="0">
              <a:buNone/>
            </a:pPr>
            <a:endParaRPr lang="tr-TR" sz="2000" dirty="0">
              <a:solidFill>
                <a:schemeClr val="tx1">
                  <a:alpha val="80000"/>
                </a:schemeClr>
              </a:solidFill>
            </a:endParaRP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Çeker ocakların kullanılması.</a:t>
            </a: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Elektrik kablolarının sabitlenmesi.</a:t>
            </a: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Zeminlerin kaymaz malzeme ile kaplanması.</a:t>
            </a:r>
          </a:p>
          <a:p>
            <a:pPr marL="457200" lvl="1" indent="0">
              <a:buNone/>
            </a:pPr>
            <a:endParaRPr lang="tr-TR" sz="2000" dirty="0">
              <a:solidFill>
                <a:schemeClr val="tx1">
                  <a:alpha val="80000"/>
                </a:schemeClr>
              </a:solidFill>
            </a:endParaRP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Laboratuvar güvenlik talimatlarının görünür yerlere asılması.</a:t>
            </a: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Deney öncesi güvenlik eğitimi verilmesi.</a:t>
            </a: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Denetim listeleriyle düzenli kontrol yapılması.</a:t>
            </a:r>
          </a:p>
          <a:p>
            <a:pPr marL="457200" lvl="1" indent="0">
              <a:buNone/>
            </a:pPr>
            <a:endParaRPr lang="tr-TR" sz="2000" dirty="0">
              <a:solidFill>
                <a:schemeClr val="tx1">
                  <a:alpha val="80000"/>
                </a:schemeClr>
              </a:solidFill>
            </a:endParaRPr>
          </a:p>
          <a:p>
            <a:pPr marL="457200" lvl="1" indent="0">
              <a:buNone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</a:rPr>
              <a:t>Gözlük, eldiven, laboratuvar önlüğü, kapalı ayakkabı kullanımı zorunlu hale getirilir.</a:t>
            </a:r>
          </a:p>
          <a:p>
            <a:pPr marL="0" indent="0">
              <a:buNone/>
            </a:pPr>
            <a:endParaRPr lang="tr-TR" sz="16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724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BFAB5B-42D3-B82F-E9E3-5300EAEF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Risk değerlendirmesi</a:t>
            </a:r>
            <a:endParaRPr lang="tr-TR" dirty="0"/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60E49936-9D31-788B-3CFB-18F20199A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24438"/>
              </p:ext>
            </p:extLst>
          </p:nvPr>
        </p:nvGraphicFramePr>
        <p:xfrm>
          <a:off x="668418" y="2005935"/>
          <a:ext cx="5316280" cy="4486940"/>
        </p:xfrm>
        <a:graphic>
          <a:graphicData uri="http://schemas.openxmlformats.org/drawingml/2006/table">
            <a:tbl>
              <a:tblPr/>
              <a:tblGrid>
                <a:gridCol w="2658140">
                  <a:extLst>
                    <a:ext uri="{9D8B030D-6E8A-4147-A177-3AD203B41FA5}">
                      <a16:colId xmlns:a16="http://schemas.microsoft.com/office/drawing/2014/main" val="2384989611"/>
                    </a:ext>
                  </a:extLst>
                </a:gridCol>
                <a:gridCol w="2658140">
                  <a:extLst>
                    <a:ext uri="{9D8B030D-6E8A-4147-A177-3AD203B41FA5}">
                      <a16:colId xmlns:a16="http://schemas.microsoft.com/office/drawing/2014/main" val="365430889"/>
                    </a:ext>
                  </a:extLst>
                </a:gridCol>
              </a:tblGrid>
              <a:tr h="55447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1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Adım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1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Uygulama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622327"/>
                  </a:ext>
                </a:extLst>
              </a:tr>
              <a:tr h="84450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1. Tehlikeleri Belirle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Kimyasal, elektrik, fiziksel tehlikeler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654701"/>
                  </a:ext>
                </a:extLst>
              </a:tr>
              <a:tr h="84450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 dirty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2. Risk Altındakileri Belirle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 dirty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Öğrenciler, asistanlar, temizlik personeli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15401"/>
                  </a:ext>
                </a:extLst>
              </a:tr>
              <a:tr h="55447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3. Riskleri Değerlendir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Olasılık ve etki analizi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25802"/>
                  </a:ext>
                </a:extLst>
              </a:tr>
              <a:tr h="84450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4. Önlemleri Al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nb-NO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KKE, mühendislik ve idari kontroller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7955"/>
                  </a:ext>
                </a:extLst>
              </a:tr>
              <a:tr h="84450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5. İzle ve Gözden Geçir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tr-TR" b="0" dirty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Düzenli kontrol ve güncelleme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96225"/>
                  </a:ext>
                </a:extLst>
              </a:tr>
            </a:tbl>
          </a:graphicData>
        </a:graphic>
      </p:graphicFrame>
      <p:pic>
        <p:nvPicPr>
          <p:cNvPr id="6" name="Resim 5">
            <a:extLst>
              <a:ext uri="{FF2B5EF4-FFF2-40B4-BE49-F238E27FC236}">
                <a16:creationId xmlns:a16="http://schemas.microsoft.com/office/drawing/2014/main" id="{60ACFAE7-C41F-CE91-D0AB-4EEDCE38C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66" y="2238159"/>
            <a:ext cx="5566130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68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FE5D070-8364-7E32-B7C8-301F88E0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Risk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değerlendirmesi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A009A0B-B381-9B0E-BD8D-C51BE1A78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895783"/>
            <a:ext cx="10905066" cy="395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30365E-52CD-8429-CF89-6C66051A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Risk değerlendirmesi</a:t>
            </a:r>
            <a:endParaRPr lang="tr-TR" dirty="0"/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231FF8A1-F20E-091D-4512-CEEEE4B0E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179530"/>
              </p:ext>
            </p:extLst>
          </p:nvPr>
        </p:nvGraphicFramePr>
        <p:xfrm>
          <a:off x="323850" y="1405001"/>
          <a:ext cx="11544300" cy="6783962"/>
        </p:xfrm>
        <a:graphic>
          <a:graphicData uri="http://schemas.openxmlformats.org/drawingml/2006/table">
            <a:tbl>
              <a:tblPr firstRow="1" firstCol="1" bandRow="1"/>
              <a:tblGrid>
                <a:gridCol w="2886075">
                  <a:extLst>
                    <a:ext uri="{9D8B030D-6E8A-4147-A177-3AD203B41FA5}">
                      <a16:colId xmlns:a16="http://schemas.microsoft.com/office/drawing/2014/main" val="1262293014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790890839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321620433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435815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Sektör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Risk Seviyesi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Başlıca Tehlikeler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 Sık Kazalar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422962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Madencilik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Göçük, patlama, zehirli gaz, oksijen yetersizliği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Göçme, patlama, zehirlenme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5615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İnşaat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Yüksekten düşme, ağır ekipman, çökme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Düşme, ezilme, elektrik çarpması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53338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Kimya/Petrokimya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Patlayıcı maddeler, toksik gazlar, yangın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Patlama, sızıntı, yanık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55496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Enerji (Elektrik/Gaz)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Yüksek voltaj, patlama, yüksekte çalışma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Elektrik çarpması, yangın, düşme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807571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Metal İşleme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Ağır makineler, yüksek sıcaklık, gürültü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Sıkışma, yanık, kesik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258926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Sağlık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Enfeksiyon, iğne batması, radyasyon, şiddet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Bulaşıcı hastalık, iğne yaralanması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314341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Balıkçılık/Denizcilik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⚠️⚠️⚠️⚠️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Boğulma, fırtına, ekipman kazaları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Denize düşme, gemi kazası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028388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Tarım/Ormancılık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Makine kazaları, pestisit, hayvan saldırısı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Traktör devrilmesi, zehirlenme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86977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Ulaştırma/Lojistik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Trafik kazası, ağır yük, yorgunluk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Araç kazası, yük düşmesi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409238"/>
                  </a:ext>
                </a:extLst>
              </a:tr>
              <a:tr h="4719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Atık Yönetimi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Segoe UI Emoji" panose="020B0502040204020203" pitchFamily="34" charset="0"/>
                        </a:rPr>
                        <a:t>⚠️⚠️⚠️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Tehlikeli atık, kesici-delici, enfeksiyon</a:t>
                      </a:r>
                      <a:endParaRPr lang="tr-TR" sz="16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Kesik, enfeksiyon, ezilme</a:t>
                      </a:r>
                      <a:endParaRPr lang="tr-TR" sz="16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13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937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245810-093D-15C2-D7D7-299214F2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Risk analiz metotları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43242B-B897-1B6E-CD48-5E9E2516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L tipi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/>
              <a:t>Fine-Kinney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HAZOP (Tehlike ve çalışılabilirlik analizi)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FMEA (Hata modu ve etkileri analizi)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FTA (Hata ağacı analizi)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Neden-sonuç analizi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ETA (Olay ağacı analizi)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Kontrol listeleri metodu (Birincil risk analizi)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5202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0EF2B9D-5CDE-1E6C-F42F-383F2B67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 fontScale="90000"/>
          </a:bodyPr>
          <a:lstStyle/>
          <a:p>
            <a:r>
              <a:rPr lang="tr-TR" b="1" dirty="0"/>
              <a:t>Risk analiz metotları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D7D610-0C28-880F-846E-83A2D71C2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1727" y="657348"/>
            <a:ext cx="7308109" cy="3280170"/>
          </a:xfrm>
        </p:spPr>
        <p:txBody>
          <a:bodyPr anchor="ctr"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pt-BR" sz="2000" b="1" dirty="0"/>
              <a:t>L Tipi </a:t>
            </a:r>
            <a:r>
              <a:rPr lang="tr-TR" sz="2000" b="1" dirty="0"/>
              <a:t>(5×5) </a:t>
            </a:r>
            <a:r>
              <a:rPr lang="pt-BR" sz="2000" b="1" dirty="0"/>
              <a:t>Matris Analiz Metotu</a:t>
            </a:r>
            <a:endParaRPr lang="tr-TR" sz="2000" b="1" dirty="0"/>
          </a:p>
          <a:p>
            <a:pPr marL="0" indent="0">
              <a:buNone/>
            </a:pPr>
            <a:endParaRPr lang="tr-TR" sz="2000" b="1" dirty="0"/>
          </a:p>
          <a:p>
            <a:pPr marL="0" indent="0">
              <a:buNone/>
            </a:pPr>
            <a:r>
              <a:rPr lang="tr-TR" sz="2000" dirty="0"/>
              <a:t>   Sebep-sonuç ilişkilerinin değerlendirilmesinde kullanılır. Bu metot basit, tek başına risk analizi yapmak zorunda olan analistler için idealdir.</a:t>
            </a:r>
            <a:endParaRPr lang="pt-BR" sz="2000" b="1" dirty="0"/>
          </a:p>
          <a:p>
            <a:pPr marL="0" indent="0">
              <a:buNone/>
            </a:pPr>
            <a:r>
              <a:rPr lang="tr-TR" sz="2000" dirty="0"/>
              <a:t>   Bu metot, işletmelerde özellikle aciliyet gerektiren ve biran evvel önlem alınması gerekli olan tehlikelerin tespitinin yapılabilmesi için kullanılmalıdır.</a:t>
            </a:r>
          </a:p>
          <a:p>
            <a:pPr marL="0" indent="0">
              <a:buNone/>
            </a:pPr>
            <a:r>
              <a:rPr lang="tr-TR" sz="2000" b="1" i="1" dirty="0"/>
              <a:t>Risk=Şiddet X İhtimal (1-6: Düşük </a:t>
            </a:r>
            <a:r>
              <a:rPr lang="tr-TR" sz="2000" b="1" i="1" dirty="0" smtClean="0"/>
              <a:t>risk</a:t>
            </a:r>
          </a:p>
          <a:p>
            <a:pPr marL="0" indent="0">
              <a:buNone/>
            </a:pPr>
            <a:r>
              <a:rPr lang="tr-TR" sz="2000" b="1" i="1" dirty="0"/>
              <a:t> </a:t>
            </a:r>
            <a:r>
              <a:rPr lang="tr-TR" sz="2000" b="1" i="1" dirty="0" smtClean="0"/>
              <a:t>                     </a:t>
            </a:r>
            <a:r>
              <a:rPr lang="tr-TR" sz="2000" b="1" i="1" dirty="0"/>
              <a:t> </a:t>
            </a:r>
            <a:r>
              <a:rPr lang="tr-TR" sz="2000" b="1" i="1" dirty="0" smtClean="0"/>
              <a:t>8-12</a:t>
            </a:r>
            <a:r>
              <a:rPr lang="tr-TR" sz="2000" b="1" i="1" dirty="0"/>
              <a:t>: Orta </a:t>
            </a:r>
            <a:r>
              <a:rPr lang="tr-TR" sz="2000" b="1" i="1" dirty="0" smtClean="0"/>
              <a:t>risk</a:t>
            </a:r>
          </a:p>
          <a:p>
            <a:pPr marL="0" indent="0">
              <a:buNone/>
            </a:pPr>
            <a:r>
              <a:rPr lang="tr-TR" sz="2000" b="1" i="1" dirty="0"/>
              <a:t> </a:t>
            </a:r>
            <a:r>
              <a:rPr lang="tr-TR" sz="2000" b="1" i="1" dirty="0" smtClean="0"/>
              <a:t>                     </a:t>
            </a:r>
            <a:r>
              <a:rPr lang="tr-TR" sz="2000" b="1" i="1" dirty="0" smtClean="0"/>
              <a:t>12-25</a:t>
            </a:r>
            <a:r>
              <a:rPr lang="tr-TR" sz="2000" b="1" i="1" dirty="0"/>
              <a:t>: Yüksek risk)</a:t>
            </a:r>
            <a:endParaRPr lang="tr-TR" sz="2000" dirty="0"/>
          </a:p>
          <a:p>
            <a:pPr marL="0" indent="0">
              <a:buNone/>
            </a:pPr>
            <a:endParaRPr lang="tr-TR" sz="7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8D422DA-6E8F-B14A-EEE5-997432CB0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" y="4189918"/>
            <a:ext cx="10917936" cy="221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31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7B918D-96C5-67F0-97B7-98CFAC9B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647700"/>
            <a:ext cx="2835554" cy="5557838"/>
          </a:xfrm>
        </p:spPr>
        <p:txBody>
          <a:bodyPr anchor="ctr">
            <a:normAutofit/>
          </a:bodyPr>
          <a:lstStyle/>
          <a:p>
            <a:r>
              <a:rPr lang="tr-TR" sz="3600" b="1" dirty="0"/>
              <a:t>Risk analiz metotları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6B8B5D-3CF4-151F-CE7B-33B3360B9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951" y="452437"/>
            <a:ext cx="6473987" cy="594836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tr-TR" sz="2000" b="1" dirty="0"/>
              <a:t>2. </a:t>
            </a:r>
            <a:r>
              <a:rPr lang="tr-TR" sz="2000" b="1" dirty="0" err="1"/>
              <a:t>Fine-Kinney</a:t>
            </a:r>
            <a:r>
              <a:rPr lang="tr-TR" sz="2000" b="1" dirty="0"/>
              <a:t> Yöntemi </a:t>
            </a:r>
          </a:p>
          <a:p>
            <a:pPr marL="0" indent="0">
              <a:buNone/>
            </a:pPr>
            <a:endParaRPr lang="tr-TR" sz="2000" b="1" dirty="0"/>
          </a:p>
          <a:p>
            <a:pPr marL="0" indent="0">
              <a:buNone/>
            </a:pPr>
            <a:r>
              <a:rPr lang="tr-TR" sz="2000" dirty="0"/>
              <a:t>    Kullanımı kolay olan ve yaygın olarak kullanılan bir metottur</a:t>
            </a:r>
            <a:r>
              <a:rPr lang="tr-TR" sz="2000" dirty="0" smtClean="0"/>
              <a:t>. Bu </a:t>
            </a:r>
            <a:r>
              <a:rPr lang="tr-TR" sz="2000" dirty="0"/>
              <a:t>yöntemde risk, üç faktörün çarpımıyla hesaplanır: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b="1" dirty="0"/>
              <a:t>    Risk = Olasılık × Frekans × Şiddet</a:t>
            </a:r>
            <a:endParaRPr lang="tr-TR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tr-TR" sz="2000" b="1" dirty="0"/>
              <a:t>Olasılık (P)</a:t>
            </a:r>
            <a:r>
              <a:rPr lang="tr-TR" sz="2000" dirty="0"/>
              <a:t>: Tehlikenin gerçekleşme olasılığı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000" b="1" dirty="0"/>
              <a:t>Frekans (F)</a:t>
            </a:r>
            <a:r>
              <a:rPr lang="tr-TR" sz="2000" dirty="0"/>
              <a:t>: Tehlikeye maruz kalma sıklığı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000" b="1" dirty="0"/>
              <a:t>Şiddet (S)</a:t>
            </a:r>
            <a:r>
              <a:rPr lang="tr-TR" sz="2000" dirty="0"/>
              <a:t>: Olayın sonuçlarının ciddiyeti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   Her faktör için belirli sayısal değerler atanır ve çarpımdan elde edilen risk skoru, riskin önem derecesini belirler.</a:t>
            </a:r>
          </a:p>
          <a:p>
            <a:pPr marL="0" indent="0">
              <a:buNone/>
            </a:pPr>
            <a:endParaRPr lang="tr-TR" sz="1500" dirty="0"/>
          </a:p>
        </p:txBody>
      </p:sp>
    </p:spTree>
    <p:extLst>
      <p:ext uri="{BB962C8B-B14F-4D97-AF65-F5344CB8AC3E}">
        <p14:creationId xmlns:p14="http://schemas.microsoft.com/office/powerpoint/2010/main" val="2032333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7B918D-96C5-67F0-97B7-98CFAC9B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647700"/>
            <a:ext cx="2835554" cy="5557838"/>
          </a:xfrm>
        </p:spPr>
        <p:txBody>
          <a:bodyPr anchor="ctr">
            <a:normAutofit/>
          </a:bodyPr>
          <a:lstStyle/>
          <a:p>
            <a:r>
              <a:rPr lang="tr-TR" sz="3600" b="1" dirty="0"/>
              <a:t>Risk analiz metotları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6B8B5D-3CF4-151F-CE7B-33B3360B9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951" y="452438"/>
            <a:ext cx="6473987" cy="99380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tr-TR" sz="2000" b="1" dirty="0"/>
              <a:t>2. </a:t>
            </a:r>
            <a:r>
              <a:rPr lang="tr-TR" sz="2000" b="1" dirty="0" err="1"/>
              <a:t>Fine-Kinney</a:t>
            </a:r>
            <a:r>
              <a:rPr lang="tr-TR" sz="2000" b="1" dirty="0"/>
              <a:t> Yöntemi </a:t>
            </a:r>
          </a:p>
          <a:p>
            <a:pPr marL="0" indent="0">
              <a:buNone/>
            </a:pPr>
            <a:endParaRPr lang="tr-TR" sz="2000" b="1" dirty="0"/>
          </a:p>
          <a:p>
            <a:pPr marL="0" indent="0">
              <a:buNone/>
            </a:pPr>
            <a:r>
              <a:rPr lang="tr-TR" sz="2000" dirty="0"/>
              <a:t>    </a:t>
            </a:r>
            <a:endParaRPr lang="tr-TR" sz="15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9" y="1010174"/>
            <a:ext cx="7724191" cy="556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78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F86E4C-3138-2AE3-CC1D-46BE75EC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/>
              <a:t>Risk analiz metotları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20617A-3250-F78B-966E-B8B903E52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b="1" dirty="0"/>
              <a:t>3. HAZOP (Tehlike ve Çalışabilirlik Analizi )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sz="2400" dirty="0"/>
              <a:t>   Kimya sektöründeki proseslerde ve kritik sistemlerde uygulanır. </a:t>
            </a:r>
          </a:p>
          <a:p>
            <a:pPr marL="0" indent="0">
              <a:buNone/>
            </a:pPr>
            <a:r>
              <a:rPr lang="tr-TR" sz="2400" dirty="0"/>
              <a:t>   Rehber kelimeler (yok, az, fazla, vb.) kullanılarak sapmaların nedenleri, sonuçları ve mevcut koruma önlemlerinin  tablolaştırıldığı bir beyin fırtınası çalışmasıdır.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sz="2400" b="1" dirty="0"/>
              <a:t>Sapmaların Analizi (Beyin Fırtınası):</a:t>
            </a:r>
            <a:r>
              <a:rPr lang="tr-TR" sz="2400" dirty="0"/>
              <a:t> Her düğüm için şu sorular sorulur:</a:t>
            </a:r>
          </a:p>
          <a:p>
            <a:pPr lvl="1"/>
            <a:r>
              <a:rPr lang="tr-TR" b="1" dirty="0"/>
              <a:t>Sapma:</a:t>
            </a:r>
            <a:r>
              <a:rPr lang="tr-TR" dirty="0"/>
              <a:t> Proses olması gerekenden nasıl farklı? (</a:t>
            </a:r>
            <a:r>
              <a:rPr lang="tr-TR" dirty="0" err="1"/>
              <a:t>Örn</a:t>
            </a:r>
            <a:r>
              <a:rPr lang="tr-TR" dirty="0"/>
              <a:t>: Akış yok)</a:t>
            </a:r>
          </a:p>
          <a:p>
            <a:pPr lvl="1"/>
            <a:r>
              <a:rPr lang="tr-TR" b="1" dirty="0"/>
              <a:t>Neden:</a:t>
            </a:r>
            <a:r>
              <a:rPr lang="tr-TR" dirty="0"/>
              <a:t> Bu sapmaya ne sebep olabilir? (</a:t>
            </a:r>
            <a:r>
              <a:rPr lang="tr-TR" dirty="0" err="1"/>
              <a:t>Örn</a:t>
            </a:r>
            <a:r>
              <a:rPr lang="tr-TR" dirty="0"/>
              <a:t>: Vana kapalı)</a:t>
            </a:r>
          </a:p>
          <a:p>
            <a:pPr lvl="1"/>
            <a:r>
              <a:rPr lang="tr-TR" b="1" dirty="0"/>
              <a:t>Sonuç:</a:t>
            </a:r>
            <a:r>
              <a:rPr lang="tr-TR" dirty="0"/>
              <a:t> Bu durum ne tür tehlikeler yaratır? (</a:t>
            </a:r>
            <a:r>
              <a:rPr lang="tr-TR" dirty="0" err="1"/>
              <a:t>Örn</a:t>
            </a:r>
            <a:r>
              <a:rPr lang="tr-TR" dirty="0"/>
              <a:t>: Pompa arızası, aşırı basınç)</a:t>
            </a:r>
          </a:p>
          <a:p>
            <a:pPr lvl="1"/>
            <a:r>
              <a:rPr lang="tr-TR" b="1" dirty="0"/>
              <a:t>Güvenlik Önlemi:</a:t>
            </a:r>
            <a:r>
              <a:rPr lang="tr-TR" dirty="0"/>
              <a:t> Hangi tedbirler (alarmlar, vanalar) mevcut?</a:t>
            </a:r>
          </a:p>
          <a:p>
            <a:pPr marL="457200" lvl="1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sz="2400" b="1" dirty="0"/>
              <a:t>Kayıt ve Raporlama:</a:t>
            </a:r>
            <a:r>
              <a:rPr lang="tr-TR" sz="2400" dirty="0"/>
              <a:t> Tüm bulgular standart bir HAZOP formuna işlenir.</a:t>
            </a:r>
          </a:p>
          <a:p>
            <a:pPr marL="0" indent="0">
              <a:buNone/>
            </a:pP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600508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2902B-416B-842C-1048-21DA677B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882AD8D-4B1C-D618-3A55-C89E00C1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696F25-EAF6-C18D-EC35-A0A82D095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b="1" dirty="0"/>
              <a:t>HAZOP metodolojisi</a:t>
            </a:r>
          </a:p>
          <a:p>
            <a:pPr marL="0" indent="0">
              <a:buNone/>
            </a:pPr>
            <a:endParaRPr lang="tr-TR" sz="2200" b="1" dirty="0"/>
          </a:p>
          <a:p>
            <a:pPr marL="0" indent="0">
              <a:buNone/>
            </a:pPr>
            <a:r>
              <a:rPr lang="tr-TR" sz="2200" dirty="0"/>
              <a:t>   </a:t>
            </a:r>
            <a:endParaRPr lang="tr-TR" sz="2200" b="1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442F894-24FC-F93A-14D1-D7B2B6FC6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989" y="1470069"/>
            <a:ext cx="8269579" cy="469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344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0E17C0D-FC3B-E9CE-A3B1-03694CBF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C74BE8-29F5-1DA0-A7E0-E78B2557C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90" y="2660904"/>
            <a:ext cx="5021134" cy="3968496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tr-TR" sz="1800" b="1" dirty="0"/>
              <a:t>4. FMEA (Hata Türü ve Etkileri)</a:t>
            </a:r>
          </a:p>
          <a:p>
            <a:pPr marL="0" indent="0">
              <a:buNone/>
            </a:pPr>
            <a:endParaRPr lang="tr-TR" sz="1800" b="1" dirty="0"/>
          </a:p>
          <a:p>
            <a:pPr marL="0" indent="0">
              <a:buNone/>
            </a:pPr>
            <a:r>
              <a:rPr lang="tr-TR" sz="1800" dirty="0"/>
              <a:t>   Özellikle otomotiv sektöründe imalat sırasında ve sonrasında olası hataların tespit edilmesi amacıyla çok fazla kullanılan bir metottur.</a:t>
            </a:r>
          </a:p>
          <a:p>
            <a:pPr marL="0" indent="0">
              <a:buNone/>
            </a:pPr>
            <a:r>
              <a:rPr lang="tr-TR" sz="1800" dirty="0"/>
              <a:t>   Genel manada problem çözme tekniklerinden biri olarak ta çok fazla kullanılmaktadır. </a:t>
            </a:r>
          </a:p>
          <a:p>
            <a:pPr marL="0" indent="0">
              <a:buNone/>
            </a:pPr>
            <a:r>
              <a:rPr lang="tr-TR" sz="1800" dirty="0"/>
              <a:t>    </a:t>
            </a:r>
          </a:p>
          <a:p>
            <a:pPr marL="0" indent="0">
              <a:buNone/>
            </a:pPr>
            <a:r>
              <a:rPr lang="tr-TR" sz="1800" dirty="0"/>
              <a:t>     </a:t>
            </a:r>
            <a:r>
              <a:rPr lang="tr-TR" sz="1800" dirty="0" err="1"/>
              <a:t>FMEA'da</a:t>
            </a:r>
            <a:r>
              <a:rPr lang="tr-TR" sz="1800" dirty="0"/>
              <a:t> risk, </a:t>
            </a:r>
            <a:r>
              <a:rPr lang="tr-TR" sz="1800" b="1" dirty="0"/>
              <a:t>RPN (Risk </a:t>
            </a:r>
            <a:r>
              <a:rPr lang="tr-TR" sz="1800" b="1" dirty="0" err="1"/>
              <a:t>Priority</a:t>
            </a:r>
            <a:r>
              <a:rPr lang="tr-TR" sz="1800" b="1" dirty="0"/>
              <a:t> </a:t>
            </a:r>
            <a:r>
              <a:rPr lang="tr-TR" sz="1800" b="1" dirty="0" err="1"/>
              <a:t>Number</a:t>
            </a:r>
            <a:r>
              <a:rPr lang="tr-TR" sz="1800" b="1" dirty="0"/>
              <a:t> - Risk Öncelik Sayısı)</a:t>
            </a:r>
            <a:r>
              <a:rPr lang="tr-TR" sz="1800" dirty="0"/>
              <a:t> ile hesaplanır:</a:t>
            </a:r>
          </a:p>
          <a:p>
            <a:pPr marL="0" indent="0">
              <a:buNone/>
            </a:pPr>
            <a:r>
              <a:rPr lang="tr-TR" sz="1800" b="1" dirty="0"/>
              <a:t>     RPN = Şiddet (S) × İhtimal (İ) × Tespit (D)   (1-10 arası)</a:t>
            </a:r>
          </a:p>
          <a:p>
            <a:pPr marL="0" indent="0">
              <a:buNone/>
            </a:pPr>
            <a:endParaRPr lang="tr-TR" sz="1500" b="1" dirty="0"/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endParaRPr lang="tr-TR" sz="1500" b="1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08CED33-0057-3547-1C4F-9925CBF68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581" y="1701209"/>
            <a:ext cx="6272961" cy="363831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50FEA93-7ADE-8116-2637-07DB25FA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2" y="6227778"/>
            <a:ext cx="65" cy="5301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7916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909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E5ECF-328B-7B9B-55DE-3A8E8385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E54A36-A33B-AE40-9E19-022669CA07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EDD4B1D-A48E-CD38-BE71-D2DB4FF5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A2C3FAA3-9802-4FA3-C3F5-A29157AE24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E00797-7EF1-7F1C-2DDD-4D4A6B4B3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90" y="2660904"/>
            <a:ext cx="5021134" cy="396849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tr-TR" sz="1500" b="1" dirty="0"/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endParaRPr lang="tr-TR" sz="15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080791-866F-82B6-8D32-F442C45E1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2" y="6227778"/>
            <a:ext cx="65" cy="5301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7916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4F9F8EA-EAE6-7187-8B89-AF5CB688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47544"/>
            <a:ext cx="6110379" cy="3776767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D6BC98C-D9FE-11B0-B8B4-8A669F255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90" y="2547544"/>
            <a:ext cx="5714618" cy="38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74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260E1-4A2D-5D29-69E1-C2C359C3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1E41AB-1DC4-BE8D-63D2-48DAA58DCC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E77436-4E47-8A79-757A-FC9AA7DD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FCAC30-327B-2038-8DF4-F5C05DC944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37AD5F0-4E93-B333-3BB1-FE87E673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90" y="2660904"/>
            <a:ext cx="5021134" cy="396849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tr-TR" sz="1500" b="1" dirty="0"/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endParaRPr lang="tr-TR" sz="15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08FC5A-D371-470D-137C-688310F6E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2" y="6227778"/>
            <a:ext cx="65" cy="5301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7916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48A9318-B7C3-D7F3-CCE7-0891379F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67" y="2761488"/>
            <a:ext cx="9246937" cy="366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34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CF0F8-3DB0-D0D7-7AAB-0A529635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FB63754-E115-B823-0AD2-9E76B0DA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D74233-38C9-8A13-C7B5-E3BDFF21B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20" y="2599509"/>
            <a:ext cx="5286410" cy="371424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tr-TR" sz="1700" b="1" dirty="0"/>
              <a:t>5. FTA (Hata Ağacı)</a:t>
            </a:r>
          </a:p>
          <a:p>
            <a:pPr marL="0" indent="0">
              <a:buNone/>
            </a:pPr>
            <a:r>
              <a:rPr lang="tr-TR" sz="1700" dirty="0"/>
              <a:t>   İstenmeyen bir "tepe olayın" (kaza/arıza) nedenlerini tümdengelim mantığıyla, grafiksel olarak (VE/VEYA kapıları) analiz eden risk değerlendirme yöntemidir. </a:t>
            </a:r>
          </a:p>
          <a:p>
            <a:pPr marL="0" indent="0">
              <a:buNone/>
            </a:pPr>
            <a:r>
              <a:rPr lang="tr-TR" sz="1700" dirty="0"/>
              <a:t>   Hata ağacı analizi (FTA) belki de en iyi bilinen güvenlik analizi yöntemidir. Yöntem, tecrübe gerektirdiğinden zordur ve</a:t>
            </a:r>
          </a:p>
          <a:p>
            <a:pPr marL="0" indent="0">
              <a:buNone/>
            </a:pPr>
            <a:r>
              <a:rPr lang="tr-TR" sz="1700" dirty="0"/>
              <a:t>   Genel olarak uzmanlar tarafından kullanılır.</a:t>
            </a:r>
          </a:p>
          <a:p>
            <a:pPr marL="0" indent="0">
              <a:buNone/>
            </a:pPr>
            <a:r>
              <a:rPr lang="tr-TR" sz="1700" dirty="0"/>
              <a:t>   Yöntem, tecrübe gerektirdiğinden zordur ve genel olarak uzmanlar tarafından kullanılır.</a:t>
            </a:r>
            <a:endParaRPr lang="tr-TR" sz="1700" b="1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3C3911D-32F6-0541-68E1-3DBCD46DB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667" y="2484254"/>
            <a:ext cx="5286410" cy="385907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97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0FF873F-5871-79B3-92B4-F9E4AAF9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4C2498-5B80-00FB-F066-366397559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85000" lnSpcReduction="10000"/>
          </a:bodyPr>
          <a:lstStyle/>
          <a:p>
            <a:pPr marL="0" indent="0">
              <a:buNone/>
            </a:pPr>
            <a:r>
              <a:rPr lang="tr-TR" sz="1900" b="1" dirty="0" smtClean="0"/>
              <a:t>6. </a:t>
            </a:r>
            <a:r>
              <a:rPr lang="tr-TR" sz="1900" b="1" dirty="0"/>
              <a:t>Olay ağacı analizi (ETA)</a:t>
            </a:r>
          </a:p>
          <a:p>
            <a:pPr marL="0" indent="0">
              <a:buNone/>
            </a:pPr>
            <a:r>
              <a:rPr lang="tr-TR" sz="1900" dirty="0"/>
              <a:t>   Her hangi bir tehlikeli olayın yaratabileceği çeşitli senaryolar analiz edilir. </a:t>
            </a:r>
          </a:p>
          <a:p>
            <a:pPr marL="0" indent="0">
              <a:buNone/>
            </a:pPr>
            <a:r>
              <a:rPr lang="tr-TR" sz="1900" dirty="0"/>
              <a:t>   Bu model ideal olarak, birden fazla proses ve koruma sistemlerinin olduğu tesislerde kullanılır. Kazaların sıklığı ve/veya olasılıkları sayısal olarak belirlenebilir. </a:t>
            </a:r>
          </a:p>
          <a:p>
            <a:pPr marL="0" indent="0">
              <a:buNone/>
            </a:pPr>
            <a:r>
              <a:rPr lang="tr-TR" sz="1900" dirty="0"/>
              <a:t>   Karma bir metottur.</a:t>
            </a:r>
            <a:endParaRPr lang="tr-TR" sz="1900" b="1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38B6F54-BF9C-AA02-B151-FF822A70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76661"/>
            <a:ext cx="6903720" cy="450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04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25B9E-FA60-C91A-7FA9-4737CF44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574932-0345-F3F3-E5D5-CBB650941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A62DB3D-5D05-7265-A4EE-957DE40E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tr-TR" b="1" dirty="0"/>
              <a:t>Risk analiz metotları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A90A098-B42C-21E8-1E59-61DF907A15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4154A2-0A28-31E4-BF6F-433B060D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1900" b="1" dirty="0" smtClean="0"/>
              <a:t>6. </a:t>
            </a:r>
            <a:r>
              <a:rPr lang="tr-TR" sz="1900" b="1" dirty="0"/>
              <a:t>Olay ağacı analizi (ETA)</a:t>
            </a:r>
          </a:p>
          <a:p>
            <a:pPr marL="0" indent="0">
              <a:buNone/>
            </a:pPr>
            <a:endParaRPr lang="tr-TR" sz="1900" b="1" dirty="0"/>
          </a:p>
          <a:p>
            <a:pPr marL="0" indent="0">
              <a:buNone/>
            </a:pPr>
            <a:r>
              <a:rPr lang="tr-TR" sz="1900" dirty="0"/>
              <a:t>Yangının başladığı noktada;</a:t>
            </a:r>
          </a:p>
          <a:p>
            <a:pPr marL="0" indent="0">
              <a:buNone/>
            </a:pPr>
            <a:r>
              <a:rPr lang="tr-TR" sz="1900" dirty="0"/>
              <a:t>Duman dedektörü, </a:t>
            </a:r>
            <a:r>
              <a:rPr lang="tr-TR" sz="1900" dirty="0" err="1"/>
              <a:t>springler</a:t>
            </a:r>
            <a:r>
              <a:rPr lang="tr-TR" sz="1900" dirty="0"/>
              <a:t> sistemi ve yangın alarmı bulunmakta.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3BAA57D-9574-58FF-7E81-3127C498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361748"/>
            <a:ext cx="7772400" cy="531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36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BA839-379A-C904-2356-1AEB13BC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3760CDF-628D-35B6-D73F-3F4B61FF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sz="4800" b="1" dirty="0"/>
              <a:t>Risk analiz metotları</a:t>
            </a:r>
            <a:endParaRPr lang="tr-TR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8284E7-9C58-F707-3B4C-A39043FDC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34" y="2203078"/>
            <a:ext cx="5638274" cy="426799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tr-TR" sz="1600" b="1" dirty="0" smtClean="0"/>
              <a:t>7. </a:t>
            </a:r>
            <a:r>
              <a:rPr lang="fr-FR" sz="1800" b="1" dirty="0"/>
              <a:t>Neden – </a:t>
            </a:r>
            <a:r>
              <a:rPr lang="fr-FR" sz="1800" b="1" dirty="0" err="1"/>
              <a:t>Sonuç</a:t>
            </a:r>
            <a:r>
              <a:rPr lang="fr-FR" sz="1800" b="1" dirty="0"/>
              <a:t> </a:t>
            </a:r>
            <a:r>
              <a:rPr lang="fr-FR" sz="1800" b="1" dirty="0" err="1"/>
              <a:t>Analizi</a:t>
            </a:r>
            <a:r>
              <a:rPr lang="fr-FR" sz="1800" b="1" dirty="0"/>
              <a:t> (Cause-</a:t>
            </a:r>
            <a:r>
              <a:rPr lang="fr-FR" sz="1800" b="1" dirty="0" err="1"/>
              <a:t>Consequence</a:t>
            </a:r>
            <a:r>
              <a:rPr lang="fr-FR" sz="1800" b="1" dirty="0"/>
              <a:t> </a:t>
            </a:r>
            <a:r>
              <a:rPr lang="fr-FR" sz="1800" b="1" dirty="0" err="1"/>
              <a:t>Analysis</a:t>
            </a:r>
            <a:r>
              <a:rPr lang="fr-FR" sz="1800" b="1" dirty="0"/>
              <a:t>) </a:t>
            </a:r>
            <a:endParaRPr lang="tr-TR" sz="1800" b="1" dirty="0"/>
          </a:p>
          <a:p>
            <a:pPr marL="0" indent="0">
              <a:buNone/>
            </a:pPr>
            <a:endParaRPr lang="tr-TR" sz="1800" b="1" dirty="0"/>
          </a:p>
          <a:p>
            <a:pPr marL="0" indent="0">
              <a:buNone/>
            </a:pPr>
            <a:r>
              <a:rPr lang="tr-TR" sz="1800" dirty="0"/>
              <a:t>  Hata Ağacı Analizi ile Olay Ağacı Analizinin bir harmanıdır. </a:t>
            </a:r>
          </a:p>
          <a:p>
            <a:pPr marL="0" indent="0">
              <a:buNone/>
            </a:pPr>
            <a:r>
              <a:rPr lang="tr-TR" sz="1800" dirty="0"/>
              <a:t>  Amacı, olaylar arasındaki zinciri tanımlarken istenilmeyen sonuçların nelerden meydana geldiğini belirlemektir. </a:t>
            </a:r>
          </a:p>
          <a:p>
            <a:pPr marL="0" indent="0">
              <a:buNone/>
            </a:pPr>
            <a:r>
              <a:rPr lang="tr-TR" sz="1800" dirty="0"/>
              <a:t>   </a:t>
            </a:r>
            <a:r>
              <a:rPr lang="tr-TR" sz="1800" b="1" dirty="0"/>
              <a:t>Balık kılçığı </a:t>
            </a:r>
            <a:r>
              <a:rPr lang="tr-TR" sz="1800" dirty="0"/>
              <a:t>diyagramı olarak da bilinir. </a:t>
            </a:r>
          </a:p>
          <a:p>
            <a:pPr marL="0" indent="0">
              <a:buNone/>
            </a:pPr>
            <a:r>
              <a:rPr lang="tr-TR" sz="1800" dirty="0"/>
              <a:t>   Karma bir metottur. </a:t>
            </a:r>
          </a:p>
          <a:p>
            <a:pPr marL="0" indent="0">
              <a:buNone/>
            </a:pPr>
            <a:r>
              <a:rPr lang="tr-TR" sz="1800" dirty="0"/>
              <a:t>   En çok nükleer güç reaktörlerinin tasarımı aşamasında kullanılır. </a:t>
            </a:r>
            <a:endParaRPr lang="tr-TR" sz="1800" b="1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085BE8B-73E8-E0BD-20E5-0FABF700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86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BA839-379A-C904-2356-1AEB13BC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3760CDF-628D-35B6-D73F-3F4B61FF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sz="4800" b="1" dirty="0"/>
              <a:t>Risk analiz metotları</a:t>
            </a:r>
            <a:endParaRPr lang="tr-TR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8284E7-9C58-F707-3B4C-A39043FDC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33" y="2203078"/>
            <a:ext cx="5888607" cy="426799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tr-TR" sz="1900" b="1" dirty="0" smtClean="0"/>
              <a:t>8. </a:t>
            </a:r>
            <a:r>
              <a:rPr lang="fr-FR" sz="1900" b="1" dirty="0" err="1"/>
              <a:t>Kontrol</a:t>
            </a:r>
            <a:r>
              <a:rPr lang="fr-FR" sz="1900" b="1" dirty="0"/>
              <a:t> </a:t>
            </a:r>
            <a:r>
              <a:rPr lang="fr-FR" sz="1900" b="1" dirty="0" err="1"/>
              <a:t>listeleri</a:t>
            </a:r>
            <a:r>
              <a:rPr lang="fr-FR" sz="1900" b="1" dirty="0"/>
              <a:t> </a:t>
            </a:r>
            <a:r>
              <a:rPr lang="fr-FR" sz="1900" b="1" dirty="0" err="1"/>
              <a:t>metodu</a:t>
            </a:r>
            <a:r>
              <a:rPr lang="fr-FR" sz="1900" b="1" dirty="0"/>
              <a:t> (</a:t>
            </a:r>
            <a:r>
              <a:rPr lang="fr-FR" sz="1900" b="1" dirty="0" err="1"/>
              <a:t>Birincil</a:t>
            </a:r>
            <a:r>
              <a:rPr lang="fr-FR" sz="1900" b="1" dirty="0"/>
              <a:t> </a:t>
            </a:r>
            <a:r>
              <a:rPr lang="fr-FR" sz="1900" b="1" dirty="0" err="1"/>
              <a:t>risk</a:t>
            </a:r>
            <a:r>
              <a:rPr lang="fr-FR" sz="1900" b="1" dirty="0"/>
              <a:t> </a:t>
            </a:r>
            <a:r>
              <a:rPr lang="fr-FR" sz="1900" b="1" dirty="0" err="1"/>
              <a:t>analizi</a:t>
            </a:r>
            <a:r>
              <a:rPr lang="fr-FR" sz="1900" b="1" dirty="0"/>
              <a:t>)</a:t>
            </a:r>
          </a:p>
          <a:p>
            <a:pPr marL="0" indent="0">
              <a:buNone/>
            </a:pPr>
            <a:r>
              <a:rPr lang="tr-TR" sz="1800" dirty="0" smtClean="0"/>
              <a:t>  </a:t>
            </a:r>
            <a:r>
              <a:rPr lang="tr-TR" sz="1800" dirty="0"/>
              <a:t>Bir tesisin veya prosesin tüm donanımının ve aletlerinin tam olup olmadığını veya kusursuz işleyip işlemediğini saptar.</a:t>
            </a:r>
          </a:p>
          <a:p>
            <a:pPr marL="0" indent="0">
              <a:buNone/>
            </a:pPr>
            <a:r>
              <a:rPr lang="tr-TR" sz="1800" dirty="0"/>
              <a:t>İki adımda gerçekleştirilir;</a:t>
            </a:r>
          </a:p>
          <a:p>
            <a:r>
              <a:rPr lang="tr-TR" sz="1800" dirty="0" err="1" smtClean="0"/>
              <a:t>Check</a:t>
            </a:r>
            <a:r>
              <a:rPr lang="tr-TR" sz="1800" dirty="0" smtClean="0"/>
              <a:t> </a:t>
            </a:r>
            <a:r>
              <a:rPr lang="tr-TR" sz="1800" dirty="0"/>
              <a:t>listelerindeki özel sorularla, analizi yapılan tesisin eksiklikleri saptanır</a:t>
            </a:r>
          </a:p>
          <a:p>
            <a:r>
              <a:rPr lang="tr-TR" sz="1800" dirty="0" smtClean="0"/>
              <a:t>Bir </a:t>
            </a:r>
            <a:r>
              <a:rPr lang="tr-TR" sz="1800" dirty="0"/>
              <a:t>önlemler kataloğu ile, yapılması gereken düzeltmeler önerilir</a:t>
            </a:r>
          </a:p>
          <a:p>
            <a:pPr marL="0" indent="0">
              <a:buNone/>
            </a:pPr>
            <a:r>
              <a:rPr lang="tr-TR" sz="1800" dirty="0"/>
              <a:t>En verimli sonuçlar, imalatçı firmanın uzun deneyimlerine dayalı veya deneyimli uzmanlar tarafından hazırlanmış listelerden alınır (</a:t>
            </a:r>
            <a:r>
              <a:rPr lang="tr-TR" sz="1800" dirty="0" err="1" smtClean="0"/>
              <a:t>örnek:Uçaklarda</a:t>
            </a:r>
            <a:r>
              <a:rPr lang="tr-TR" sz="1800" dirty="0" smtClean="0"/>
              <a:t> </a:t>
            </a:r>
            <a:r>
              <a:rPr lang="tr-TR" sz="1800" dirty="0"/>
              <a:t>pilotların kullandığı </a:t>
            </a:r>
            <a:r>
              <a:rPr lang="tr-TR" sz="1800" dirty="0" err="1"/>
              <a:t>check</a:t>
            </a:r>
            <a:r>
              <a:rPr lang="tr-TR" sz="1800" dirty="0"/>
              <a:t> listeleri) </a:t>
            </a:r>
            <a:endParaRPr lang="tr-TR" sz="1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395" y="2883397"/>
            <a:ext cx="5706577" cy="348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81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FCFD7A1D-E2F0-444B-02C2-B78235623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045903"/>
              </p:ext>
            </p:extLst>
          </p:nvPr>
        </p:nvGraphicFramePr>
        <p:xfrm>
          <a:off x="45099" y="0"/>
          <a:ext cx="12146901" cy="8061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1931">
                  <a:extLst>
                    <a:ext uri="{9D8B030D-6E8A-4147-A177-3AD203B41FA5}">
                      <a16:colId xmlns:a16="http://schemas.microsoft.com/office/drawing/2014/main" val="2117255754"/>
                    </a:ext>
                  </a:extLst>
                </a:gridCol>
                <a:gridCol w="1182100">
                  <a:extLst>
                    <a:ext uri="{9D8B030D-6E8A-4147-A177-3AD203B41FA5}">
                      <a16:colId xmlns:a16="http://schemas.microsoft.com/office/drawing/2014/main" val="2902649971"/>
                    </a:ext>
                  </a:extLst>
                </a:gridCol>
                <a:gridCol w="1675916">
                  <a:extLst>
                    <a:ext uri="{9D8B030D-6E8A-4147-A177-3AD203B41FA5}">
                      <a16:colId xmlns:a16="http://schemas.microsoft.com/office/drawing/2014/main" val="2196480980"/>
                    </a:ext>
                  </a:extLst>
                </a:gridCol>
                <a:gridCol w="1349192">
                  <a:extLst>
                    <a:ext uri="{9D8B030D-6E8A-4147-A177-3AD203B41FA5}">
                      <a16:colId xmlns:a16="http://schemas.microsoft.com/office/drawing/2014/main" val="736056240"/>
                    </a:ext>
                  </a:extLst>
                </a:gridCol>
                <a:gridCol w="1703093">
                  <a:extLst>
                    <a:ext uri="{9D8B030D-6E8A-4147-A177-3AD203B41FA5}">
                      <a16:colId xmlns:a16="http://schemas.microsoft.com/office/drawing/2014/main" val="877262317"/>
                    </a:ext>
                  </a:extLst>
                </a:gridCol>
                <a:gridCol w="1518222">
                  <a:extLst>
                    <a:ext uri="{9D8B030D-6E8A-4147-A177-3AD203B41FA5}">
                      <a16:colId xmlns:a16="http://schemas.microsoft.com/office/drawing/2014/main" val="614415815"/>
                    </a:ext>
                  </a:extLst>
                </a:gridCol>
                <a:gridCol w="1556442">
                  <a:extLst>
                    <a:ext uri="{9D8B030D-6E8A-4147-A177-3AD203B41FA5}">
                      <a16:colId xmlns:a16="http://schemas.microsoft.com/office/drawing/2014/main" val="1610946943"/>
                    </a:ext>
                  </a:extLst>
                </a:gridCol>
                <a:gridCol w="1590005">
                  <a:extLst>
                    <a:ext uri="{9D8B030D-6E8A-4147-A177-3AD203B41FA5}">
                      <a16:colId xmlns:a16="http://schemas.microsoft.com/office/drawing/2014/main" val="3797461056"/>
                    </a:ext>
                  </a:extLst>
                </a:gridCol>
              </a:tblGrid>
              <a:tr h="832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Kriter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L Tipi </a:t>
                      </a:r>
                      <a:r>
                        <a:rPr lang="en-US" sz="1800" dirty="0" err="1">
                          <a:effectLst/>
                        </a:rPr>
                        <a:t>Matris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Fine-Kinney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HAZOP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FMEA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FTA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ETA (Olay Ağacı)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Neden-Sonuç Analizi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1498267129"/>
                  </a:ext>
                </a:extLst>
              </a:tr>
              <a:tr h="832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Tür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Yarı kantitatif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Yarı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kantitatif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Kalitatif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Yarı/kantitatif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Kantitatif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Kantitatif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Kalitatif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3237447849"/>
                  </a:ext>
                </a:extLst>
              </a:tr>
              <a:tr h="832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Temel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Mantık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Olasılık x Şiddet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Olasılık</a:t>
                      </a:r>
                      <a:r>
                        <a:rPr lang="en-US" sz="1800" dirty="0">
                          <a:effectLst/>
                        </a:rPr>
                        <a:t> x </a:t>
                      </a:r>
                      <a:r>
                        <a:rPr lang="en-US" sz="1800" dirty="0" err="1">
                          <a:effectLst/>
                        </a:rPr>
                        <a:t>Şiddet</a:t>
                      </a:r>
                      <a:r>
                        <a:rPr lang="en-US" sz="1800" dirty="0">
                          <a:effectLst/>
                        </a:rPr>
                        <a:t> x </a:t>
                      </a:r>
                      <a:r>
                        <a:rPr lang="en-US" sz="1800" dirty="0" err="1">
                          <a:effectLst/>
                        </a:rPr>
                        <a:t>Maruziyet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Sapma analizi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Hata türü analizi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Neden analizi (geriye)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Sonuç analizi (ileri)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Sebep-sonuç ilişkisi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4000613727"/>
                  </a:ext>
                </a:extLst>
              </a:tr>
              <a:tr h="5552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Detay Seviyesi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Düşük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Orta-Yüksek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Çok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yüksek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Yüksek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Çok yüksek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Yüksek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Orta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2139207582"/>
                  </a:ext>
                </a:extLst>
              </a:tr>
              <a:tr h="100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Kullanım Alanı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Genel İSG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Genel İSG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Proses </a:t>
                      </a:r>
                      <a:r>
                        <a:rPr lang="en-US" sz="1800" dirty="0" err="1">
                          <a:effectLst/>
                        </a:rPr>
                        <a:t>endüstrisi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700" dirty="0" err="1">
                          <a:effectLst/>
                        </a:rPr>
                        <a:t>Makine</a:t>
                      </a:r>
                      <a:r>
                        <a:rPr lang="en-US" sz="1700" dirty="0">
                          <a:effectLst/>
                        </a:rPr>
                        <a:t>/</a:t>
                      </a:r>
                      <a:r>
                        <a:rPr lang="en-US" sz="1700" dirty="0" err="1">
                          <a:effectLst/>
                        </a:rPr>
                        <a:t>sistem</a:t>
                      </a:r>
                      <a:endParaRPr lang="tr-TR" sz="1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Büyük sistemler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Acil durum senaryoları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Genel analiz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2040915850"/>
                  </a:ext>
                </a:extLst>
              </a:tr>
              <a:tr h="832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Avantaj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Basit ve hızlı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Daha hassas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Çok detaylı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Önleyici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yaklaşım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Kök neden analizi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Senaryo analizi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Kolay uygulanabilir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1465350553"/>
                  </a:ext>
                </a:extLst>
              </a:tr>
              <a:tr h="7510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Dezavantaj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Subjektif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Karmaşık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Zaman alıcı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Subjektiflik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olabilir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Zor kurulum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Karmaşık senaryolar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Yüzeysel kalabilir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4106982543"/>
                  </a:ext>
                </a:extLst>
              </a:tr>
              <a:tr h="832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Uzmanlık Gereksinimi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Düşük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Orta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Yüksek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Orta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Yüksek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Orta-Yüksek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Düşük</a:t>
                      </a:r>
                      <a:r>
                        <a:rPr lang="en-US" sz="1800" dirty="0">
                          <a:effectLst/>
                        </a:rPr>
                        <a:t>-Orta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2361084467"/>
                  </a:ext>
                </a:extLst>
              </a:tr>
              <a:tr h="5552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Analiz Yönü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Genel risk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Önceliklendirme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Sapmalar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Arıza türleri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Geriye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doğru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İleriye doğru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Neden-sonuç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2506323022"/>
                  </a:ext>
                </a:extLst>
              </a:tr>
              <a:tr h="2776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Hesaplama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Basit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Orta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Yok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Var</a:t>
                      </a:r>
                      <a:endParaRPr lang="tr-T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Var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Var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Yok</a:t>
                      </a:r>
                      <a:endParaRPr lang="tr-T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4956" marR="74956" marT="0" marB="0"/>
                </a:tc>
                <a:extLst>
                  <a:ext uri="{0D108BD9-81ED-4DB2-BD59-A6C34878D82A}">
                    <a16:rowId xmlns:a16="http://schemas.microsoft.com/office/drawing/2014/main" val="1709970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37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0818CC8165543A49BD1880865BADD712" ma:contentTypeVersion="7" ma:contentTypeDescription="Yeni belge oluşturun." ma:contentTypeScope="" ma:versionID="448c65ada3b952ea0be358190b5a4f49">
  <xsd:schema xmlns:xsd="http://www.w3.org/2001/XMLSchema" xmlns:xs="http://www.w3.org/2001/XMLSchema" xmlns:p="http://schemas.microsoft.com/office/2006/metadata/properties" xmlns:ns2="90eab9c6-ff60-475d-abbe-26ad8f7ce76f" targetNamespace="http://schemas.microsoft.com/office/2006/metadata/properties" ma:root="true" ma:fieldsID="763dc2b26188336c17a8e338b10ef707" ns2:_="">
    <xsd:import namespace="90eab9c6-ff60-475d-abbe-26ad8f7ce7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ab9c6-ff60-475d-abbe-26ad8f7ce7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29FBA4-9C67-4C05-A0FF-D2DB13F1AD73}"/>
</file>

<file path=customXml/itemProps2.xml><?xml version="1.0" encoding="utf-8"?>
<ds:datastoreItem xmlns:ds="http://schemas.openxmlformats.org/officeDocument/2006/customXml" ds:itemID="{ACE25325-F47E-45AF-B974-9A0198AB53DA}"/>
</file>

<file path=customXml/itemProps3.xml><?xml version="1.0" encoding="utf-8"?>
<ds:datastoreItem xmlns:ds="http://schemas.openxmlformats.org/officeDocument/2006/customXml" ds:itemID="{4A6C2A19-123C-4999-B962-714855CBC76B}"/>
</file>

<file path=docProps/app.xml><?xml version="1.0" encoding="utf-8"?>
<Properties xmlns="http://schemas.openxmlformats.org/officeDocument/2006/extended-properties" xmlns:vt="http://schemas.openxmlformats.org/officeDocument/2006/docPropsVTypes">
  <TotalTime>2314</TotalTime>
  <Words>2215</Words>
  <Application>Microsoft Office PowerPoint</Application>
  <PresentationFormat>Geniş ekran</PresentationFormat>
  <Paragraphs>475</Paragraphs>
  <Slides>41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Cambria</vt:lpstr>
      <vt:lpstr>Canva Sans</vt:lpstr>
      <vt:lpstr>MS Mincho</vt:lpstr>
      <vt:lpstr>Segoe UI Emoji</vt:lpstr>
      <vt:lpstr>Times New Roman</vt:lpstr>
      <vt:lpstr>Wingdings</vt:lpstr>
      <vt:lpstr>Office Teması</vt:lpstr>
      <vt:lpstr>PowerPoint Sunusu</vt:lpstr>
      <vt:lpstr>Dersin içeriği</vt:lpstr>
      <vt:lpstr>Tehlike ve Risk</vt:lpstr>
      <vt:lpstr>Tehlike ve Risk</vt:lpstr>
      <vt:lpstr>Tehlike ve Risk</vt:lpstr>
      <vt:lpstr>Kabul Edilebilir Risk</vt:lpstr>
      <vt:lpstr>Risk Yönetimi</vt:lpstr>
      <vt:lpstr>Risk Yönetiminin Faydaları</vt:lpstr>
      <vt:lpstr>Risk Yönetimi ve Değerlendirilmesi</vt:lpstr>
      <vt:lpstr>Risk algılaması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değerlendirmesi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Risk analiz metotları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Özgürses</dc:creator>
  <cp:lastModifiedBy>Beyza samuk</cp:lastModifiedBy>
  <cp:revision>58</cp:revision>
  <dcterms:created xsi:type="dcterms:W3CDTF">2026-04-04T13:58:47Z</dcterms:created>
  <dcterms:modified xsi:type="dcterms:W3CDTF">2026-05-11T09:28:27Z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0x0101000818CC8165543A49BD1880865BADD712</vt:lpwstr>
  </property>
</Properties>
</file>