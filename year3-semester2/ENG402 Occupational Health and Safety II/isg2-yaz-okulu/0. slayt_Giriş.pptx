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1968-CC96-4CE8-A608-55248CF6BF0C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837B-34EE-472F-B257-607A6A3A5A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56673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1968-CC96-4CE8-A608-55248CF6BF0C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837B-34EE-472F-B257-607A6A3A5A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3520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1968-CC96-4CE8-A608-55248CF6BF0C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837B-34EE-472F-B257-607A6A3A5A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5872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1968-CC96-4CE8-A608-55248CF6BF0C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837B-34EE-472F-B257-607A6A3A5A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280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1968-CC96-4CE8-A608-55248CF6BF0C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837B-34EE-472F-B257-607A6A3A5A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7584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1968-CC96-4CE8-A608-55248CF6BF0C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837B-34EE-472F-B257-607A6A3A5A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4072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1968-CC96-4CE8-A608-55248CF6BF0C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837B-34EE-472F-B257-607A6A3A5A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7127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1968-CC96-4CE8-A608-55248CF6BF0C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837B-34EE-472F-B257-607A6A3A5A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62692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1968-CC96-4CE8-A608-55248CF6BF0C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837B-34EE-472F-B257-607A6A3A5A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58760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1968-CC96-4CE8-A608-55248CF6BF0C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837B-34EE-472F-B257-607A6A3A5A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8065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1968-CC96-4CE8-A608-55248CF6BF0C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837B-34EE-472F-B257-607A6A3A5A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97322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01968-CC96-4CE8-A608-55248CF6BF0C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C837B-34EE-472F-B257-607A6A3A5A3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2962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1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044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latin typeface="Aptos"/>
              </a:rPr>
              <a:t>Ders işleme düzeni (güz dönemi)</a:t>
            </a:r>
            <a:endParaRPr lang="tr-TR" b="1" dirty="0">
              <a:latin typeface="Aptos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Türkiye’de ve Dünya’da İSG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Çalışma ortamı gözetimi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Kişisel koruyucu donanımlar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İSG kurulları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Sağlık ve Güvenlik işaretleri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Acil durum organizasyonları ve planları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İş kazaları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Yangın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Kimyasal risk etmenleri</a:t>
            </a:r>
            <a:endParaRPr lang="tr-TR" sz="24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17481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latin typeface="Aptos"/>
              </a:rPr>
              <a:t>Ders işleme düzeni</a:t>
            </a:r>
            <a:endParaRPr lang="tr-TR" b="1" dirty="0">
              <a:latin typeface="Aptos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Ergonomi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İş Hijyeni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Kaynak İşlerinde İSG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Kapalı Alanlarda </a:t>
            </a:r>
            <a:r>
              <a:rPr lang="tr-TR" sz="2400" dirty="0">
                <a:latin typeface="Aptos"/>
              </a:rPr>
              <a:t>Ç</a:t>
            </a:r>
            <a:r>
              <a:rPr lang="tr-TR" sz="2400" dirty="0" smtClean="0">
                <a:latin typeface="Aptos"/>
              </a:rPr>
              <a:t>alışmalarda İSG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Basınçlı Kaplarda İSG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Kaldırma Araçlarında İSG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Ekranlı Araçlarda İSG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Maden İşyerlerinde İSG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Risk Yönetimi ve Değerlendirilmesi</a:t>
            </a:r>
            <a:endParaRPr lang="tr-TR" sz="24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72278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latin typeface="Aptos"/>
              </a:rPr>
              <a:t>Ders işleme düzeni</a:t>
            </a:r>
            <a:endParaRPr lang="tr-TR" b="1" dirty="0">
              <a:latin typeface="Aptos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 </a:t>
            </a:r>
            <a:r>
              <a:rPr lang="tr-TR" sz="2400" b="1" dirty="0" smtClean="0">
                <a:solidFill>
                  <a:srgbClr val="FF0000"/>
                </a:solidFill>
                <a:latin typeface="Aptos"/>
              </a:rPr>
              <a:t>% 30 devamsızlık hakkı </a:t>
            </a:r>
            <a:r>
              <a:rPr lang="tr-TR" sz="2400" dirty="0" smtClean="0">
                <a:latin typeface="Aptos"/>
              </a:rPr>
              <a:t>( 4 ders)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tr-TR" sz="2400" dirty="0">
                <a:latin typeface="Aptos"/>
              </a:rPr>
              <a:t> </a:t>
            </a:r>
            <a:r>
              <a:rPr lang="tr-TR" sz="2400" dirty="0" smtClean="0">
                <a:latin typeface="Aptos"/>
              </a:rPr>
              <a:t>   Yoklama tabibi </a:t>
            </a:r>
            <a:r>
              <a:rPr lang="tr-TR" sz="2400" dirty="0" err="1" smtClean="0">
                <a:latin typeface="Aptos"/>
              </a:rPr>
              <a:t>ÖBS’den</a:t>
            </a:r>
            <a:r>
              <a:rPr lang="tr-TR" sz="2400" dirty="0" smtClean="0">
                <a:latin typeface="Aptos"/>
              </a:rPr>
              <a:t> yapılacaktır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tr-TR" sz="2400" dirty="0">
                <a:latin typeface="Aptos"/>
              </a:rPr>
              <a:t> V</a:t>
            </a:r>
            <a:r>
              <a:rPr lang="tr-TR" sz="2400" dirty="0" smtClean="0">
                <a:latin typeface="Aptos"/>
              </a:rPr>
              <a:t>ize sınavı tarihi </a:t>
            </a:r>
            <a:r>
              <a:rPr lang="tr-TR" sz="2400" u="sng" dirty="0" smtClean="0">
                <a:latin typeface="Aptos"/>
              </a:rPr>
              <a:t>4 Ağustos Salı 2026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tr-TR" sz="2400" dirty="0">
                <a:latin typeface="Aptos"/>
              </a:rPr>
              <a:t> </a:t>
            </a:r>
            <a:r>
              <a:rPr lang="tr-TR" sz="2400" dirty="0" smtClean="0">
                <a:latin typeface="Aptos"/>
              </a:rPr>
              <a:t>   Final sınavı </a:t>
            </a:r>
            <a:r>
              <a:rPr lang="tr-TR" sz="2400" u="sng" dirty="0" smtClean="0">
                <a:latin typeface="Aptos"/>
              </a:rPr>
              <a:t>1 Eylül Salı </a:t>
            </a:r>
            <a:r>
              <a:rPr lang="tr-TR" sz="2400" u="sng" dirty="0" smtClean="0">
                <a:latin typeface="Aptos"/>
              </a:rPr>
              <a:t>2026 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 Vize notu </a:t>
            </a:r>
            <a:r>
              <a:rPr lang="tr-TR" sz="2400" u="sng" dirty="0" smtClean="0">
                <a:latin typeface="Aptos"/>
              </a:rPr>
              <a:t>%40</a:t>
            </a:r>
            <a:r>
              <a:rPr lang="tr-TR" sz="2400" dirty="0" smtClean="0">
                <a:latin typeface="Aptos"/>
              </a:rPr>
              <a:t>, final notu </a:t>
            </a:r>
            <a:r>
              <a:rPr lang="tr-TR" sz="2400" u="sng" dirty="0" smtClean="0">
                <a:latin typeface="Aptos"/>
              </a:rPr>
              <a:t>%60 </a:t>
            </a:r>
            <a:r>
              <a:rPr lang="tr-TR" sz="2400" dirty="0" smtClean="0">
                <a:latin typeface="Aptos"/>
              </a:rPr>
              <a:t>ağırlıklı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 Ders notlarınız sisteme yüklenen slaytlar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 Derse bağlanma linki </a:t>
            </a:r>
            <a:r>
              <a:rPr lang="tr-TR" sz="2400" dirty="0" err="1">
                <a:latin typeface="Aptos"/>
              </a:rPr>
              <a:t>T</a:t>
            </a:r>
            <a:r>
              <a:rPr lang="tr-TR" sz="2400" dirty="0" err="1" smtClean="0">
                <a:latin typeface="Aptos"/>
              </a:rPr>
              <a:t>eams</a:t>
            </a:r>
            <a:r>
              <a:rPr lang="tr-TR" sz="2400" dirty="0" smtClean="0">
                <a:latin typeface="Aptos"/>
              </a:rPr>
              <a:t> ve Outlook takviminde de yer alıyor.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Aptos"/>
              </a:rPr>
              <a:t> Aktif katılım lütfen !</a:t>
            </a:r>
            <a:endParaRPr lang="tr-TR" sz="24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200670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latin typeface="Aptos"/>
              </a:rPr>
              <a:t>Not tablosu</a:t>
            </a:r>
            <a:endParaRPr lang="tr-TR" b="1" dirty="0">
              <a:latin typeface="Aptos"/>
            </a:endParaRPr>
          </a:p>
        </p:txBody>
      </p:sp>
      <p:graphicFrame>
        <p:nvGraphicFramePr>
          <p:cNvPr id="4" name="İçerik Yer Tutucus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3327588"/>
              </p:ext>
            </p:extLst>
          </p:nvPr>
        </p:nvGraphicFramePr>
        <p:xfrm>
          <a:off x="2095019" y="2037145"/>
          <a:ext cx="7095280" cy="421318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4949817">
                  <a:extLst>
                    <a:ext uri="{9D8B030D-6E8A-4147-A177-3AD203B41FA5}">
                      <a16:colId xmlns:a16="http://schemas.microsoft.com/office/drawing/2014/main" val="4285008954"/>
                    </a:ext>
                  </a:extLst>
                </a:gridCol>
                <a:gridCol w="2145463">
                  <a:extLst>
                    <a:ext uri="{9D8B030D-6E8A-4147-A177-3AD203B41FA5}">
                      <a16:colId xmlns:a16="http://schemas.microsoft.com/office/drawing/2014/main" val="2567518355"/>
                    </a:ext>
                  </a:extLst>
                </a:gridCol>
              </a:tblGrid>
              <a:tr h="3830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effectLst/>
                          <a:latin typeface="Aptos"/>
                        </a:rPr>
                        <a:t>Puan</a:t>
                      </a:r>
                      <a:endParaRPr lang="tr-TR" sz="2000" dirty="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effectLst/>
                          <a:latin typeface="Aptos"/>
                        </a:rPr>
                        <a:t>Başarı Notu</a:t>
                      </a:r>
                      <a:endParaRPr lang="tr-TR" sz="2000" dirty="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5514057"/>
                  </a:ext>
                </a:extLst>
              </a:tr>
              <a:tr h="3830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effectLst/>
                          <a:latin typeface="Aptos"/>
                        </a:rPr>
                        <a:t>88-100</a:t>
                      </a:r>
                      <a:endParaRPr lang="tr-TR" sz="2000" dirty="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effectLst/>
                          <a:latin typeface="Aptos"/>
                        </a:rPr>
                        <a:t>AA</a:t>
                      </a:r>
                      <a:endParaRPr lang="tr-TR" sz="200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3756712"/>
                  </a:ext>
                </a:extLst>
              </a:tr>
              <a:tr h="3830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effectLst/>
                          <a:latin typeface="Aptos"/>
                        </a:rPr>
                        <a:t>79-87</a:t>
                      </a:r>
                      <a:endParaRPr lang="tr-TR" sz="2000" dirty="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effectLst/>
                          <a:latin typeface="Aptos"/>
                        </a:rPr>
                        <a:t>BA</a:t>
                      </a:r>
                      <a:endParaRPr lang="tr-TR" sz="200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3028201"/>
                  </a:ext>
                </a:extLst>
              </a:tr>
              <a:tr h="3830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effectLst/>
                          <a:latin typeface="Aptos"/>
                        </a:rPr>
                        <a:t>70-78</a:t>
                      </a:r>
                      <a:endParaRPr lang="tr-TR" sz="2000" dirty="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effectLst/>
                          <a:latin typeface="Aptos"/>
                        </a:rPr>
                        <a:t>BB</a:t>
                      </a:r>
                      <a:endParaRPr lang="tr-TR" sz="200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14972"/>
                  </a:ext>
                </a:extLst>
              </a:tr>
              <a:tr h="3830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effectLst/>
                          <a:latin typeface="Aptos"/>
                        </a:rPr>
                        <a:t>61-69</a:t>
                      </a:r>
                      <a:endParaRPr lang="tr-TR" sz="2000" dirty="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effectLst/>
                          <a:latin typeface="Aptos"/>
                        </a:rPr>
                        <a:t>CB</a:t>
                      </a:r>
                      <a:endParaRPr lang="tr-TR" sz="200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8896692"/>
                  </a:ext>
                </a:extLst>
              </a:tr>
              <a:tr h="3830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effectLst/>
                          <a:latin typeface="Aptos"/>
                        </a:rPr>
                        <a:t>53-60</a:t>
                      </a:r>
                      <a:endParaRPr lang="tr-TR" sz="2000" dirty="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effectLst/>
                          <a:latin typeface="Aptos"/>
                        </a:rPr>
                        <a:t>CC</a:t>
                      </a:r>
                      <a:endParaRPr lang="tr-TR" sz="200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2851674"/>
                  </a:ext>
                </a:extLst>
              </a:tr>
              <a:tr h="3830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effectLst/>
                          <a:latin typeface="Aptos"/>
                        </a:rPr>
                        <a:t>46-52</a:t>
                      </a:r>
                      <a:endParaRPr lang="tr-TR" sz="2000" dirty="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effectLst/>
                          <a:latin typeface="Aptos"/>
                        </a:rPr>
                        <a:t>DC</a:t>
                      </a:r>
                      <a:endParaRPr lang="tr-TR" sz="200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6129766"/>
                  </a:ext>
                </a:extLst>
              </a:tr>
              <a:tr h="3830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effectLst/>
                          <a:latin typeface="Aptos"/>
                        </a:rPr>
                        <a:t>40-45</a:t>
                      </a:r>
                      <a:endParaRPr lang="tr-TR" sz="2000" dirty="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effectLst/>
                          <a:latin typeface="Aptos"/>
                        </a:rPr>
                        <a:t>DD</a:t>
                      </a:r>
                      <a:endParaRPr lang="tr-TR" sz="200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50616501"/>
                  </a:ext>
                </a:extLst>
              </a:tr>
              <a:tr h="3830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effectLst/>
                          <a:latin typeface="Aptos"/>
                        </a:rPr>
                        <a:t>FF notu koşulları aşağıda verilmiştir</a:t>
                      </a:r>
                      <a:endParaRPr lang="tr-TR" sz="2000" dirty="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effectLst/>
                          <a:latin typeface="Aptos"/>
                        </a:rPr>
                        <a:t>FF</a:t>
                      </a:r>
                      <a:endParaRPr lang="tr-TR" sz="2000" dirty="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6251668"/>
                  </a:ext>
                </a:extLst>
              </a:tr>
              <a:tr h="3830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effectLst/>
                          <a:latin typeface="Aptos"/>
                        </a:rPr>
                        <a:t>VF notu koşulları aşağıda verilmiştir</a:t>
                      </a:r>
                      <a:endParaRPr lang="tr-TR" sz="200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effectLst/>
                          <a:latin typeface="Aptos"/>
                        </a:rPr>
                        <a:t>VF</a:t>
                      </a:r>
                      <a:endParaRPr lang="tr-TR" sz="2000" dirty="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59763986"/>
                  </a:ext>
                </a:extLst>
              </a:tr>
              <a:tr h="3830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effectLst/>
                          <a:latin typeface="Aptos"/>
                        </a:rPr>
                        <a:t>NA notu koşulları aşağıda verilmiştir</a:t>
                      </a:r>
                      <a:endParaRPr lang="tr-TR" sz="200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effectLst/>
                          <a:latin typeface="Aptos"/>
                        </a:rPr>
                        <a:t>NA</a:t>
                      </a:r>
                      <a:endParaRPr lang="tr-TR" sz="2000" dirty="0">
                        <a:effectLst/>
                        <a:latin typeface="Aptos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7823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582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9A3BFD3C5F92D049BC69F483FC26D298" ma:contentTypeVersion="3" ma:contentTypeDescription="Yeni belge oluşturun." ma:contentTypeScope="" ma:versionID="69bf62894d89772b1543603c36e4812a">
  <xsd:schema xmlns:xsd="http://www.w3.org/2001/XMLSchema" xmlns:xs="http://www.w3.org/2001/XMLSchema" xmlns:p="http://schemas.microsoft.com/office/2006/metadata/properties" xmlns:ns2="6805b59e-0943-4cfb-8652-1c80d1cf44c1" targetNamespace="http://schemas.microsoft.com/office/2006/metadata/properties" ma:root="true" ma:fieldsID="eaacab69edae4eb2c8da77164ba5f923" ns2:_="">
    <xsd:import namespace="6805b59e-0943-4cfb-8652-1c80d1cf44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05b59e-0943-4cfb-8652-1c80d1cf44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CDF98F1-B5C1-4DBE-A1DB-2353B42CA665}"/>
</file>

<file path=customXml/itemProps2.xml><?xml version="1.0" encoding="utf-8"?>
<ds:datastoreItem xmlns:ds="http://schemas.openxmlformats.org/officeDocument/2006/customXml" ds:itemID="{4EA9D054-5D2D-4A1D-9752-E0FF3DB2ED01}"/>
</file>

<file path=customXml/itemProps3.xml><?xml version="1.0" encoding="utf-8"?>
<ds:datastoreItem xmlns:ds="http://schemas.openxmlformats.org/officeDocument/2006/customXml" ds:itemID="{B6A389FE-10BD-4CC8-A462-0896DEFA915C}"/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166</Words>
  <Application>Microsoft Office PowerPoint</Application>
  <PresentationFormat>Geniş ekran</PresentationFormat>
  <Paragraphs>52</Paragraphs>
  <Slides>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Times New Roman</vt:lpstr>
      <vt:lpstr>Wingdings</vt:lpstr>
      <vt:lpstr>Office Teması</vt:lpstr>
      <vt:lpstr>PowerPoint Sunusu</vt:lpstr>
      <vt:lpstr>Ders işleme düzeni (güz dönemi)</vt:lpstr>
      <vt:lpstr>Ders işleme düzeni</vt:lpstr>
      <vt:lpstr>Ders işleme düzeni</vt:lpstr>
      <vt:lpstr>Not tablosu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Beyza samuk</dc:creator>
  <cp:lastModifiedBy>Beyza samuk</cp:lastModifiedBy>
  <cp:revision>9</cp:revision>
  <dcterms:created xsi:type="dcterms:W3CDTF">2026-02-16T08:18:12Z</dcterms:created>
  <dcterms:modified xsi:type="dcterms:W3CDTF">2026-07-21T09:11:05Z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0x0101009A3BFD3C5F92D049BC69F483FC26D298</vt:lpwstr>
  </property>
</Properties>
</file>