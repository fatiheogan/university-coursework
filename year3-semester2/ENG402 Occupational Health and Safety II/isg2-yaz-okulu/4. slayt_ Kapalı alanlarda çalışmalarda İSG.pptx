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30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18.xml" ContentType="application/vnd.openxmlformats-officedocument.presentationml.slide+xml"/>
  <Override PartName="/ppt/slides/slide17.xml" ContentType="application/vnd.openxmlformats-officedocument.presentationml.slide+xml"/>
  <Override PartName="/ppt/slides/slide16.xml" ContentType="application/vnd.openxmlformats-officedocument.presentationml.slide+xml"/>
  <Override PartName="/ppt/slides/slide15.xml" ContentType="application/vnd.openxmlformats-officedocument.presentationml.slide+xml"/>
  <Override PartName="/ppt/slides/slide14.xml" ContentType="application/vnd.openxmlformats-officedocument.presentationml.slide+xml"/>
  <Override PartName="/ppt/slides/slide13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28.xml" ContentType="application/vnd.openxmlformats-officedocument.presentationml.slide+xml"/>
  <Override PartName="/ppt/slides/slide27.xml" ContentType="application/vnd.openxmlformats-officedocument.presentationml.slide+xml"/>
  <Override PartName="/ppt/slides/slide26.xml" ContentType="application/vnd.openxmlformats-officedocument.presentationml.slide+xml"/>
  <Override PartName="/ppt/slides/slide29.xml" ContentType="application/vnd.openxmlformats-officedocument.presentationml.slide+xml"/>
  <Override PartName="/ppt/slides/slide12.xml" ContentType="application/vnd.openxmlformats-officedocument.presentationml.slide+xml"/>
  <Override PartName="/ppt/slides/slide10.xml" ContentType="application/vnd.openxmlformats-officedocument.presentationml.slid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1.xml" ContentType="application/vnd.openxmlformats-officedocument.presentationml.slide+xml"/>
  <Override PartName="/ppt/slides/slide6.xml" ContentType="application/vnd.openxmlformats-officedocument.presentationml.slide+xml"/>
  <Override PartName="/ppt/slides/slide9.xml" ContentType="application/vnd.openxmlformats-officedocument.presentationml.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Masters/slideMaster1.xml" ContentType="application/vnd.openxmlformats-officedocument.presentationml.slideMaster+xml"/>
  <Override PartName="/ppt/notesSlides/notesSlide1.xml" ContentType="application/vnd.openxmlformats-officedocument.presentationml.notesSlide+xml"/>
  <Override PartName="/ppt/slideLayouts/slideLayout7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8"/>
  </p:notesMasterIdLst>
  <p:sldIdLst>
    <p:sldId id="256" r:id="rId2"/>
    <p:sldId id="257" r:id="rId3"/>
    <p:sldId id="258" r:id="rId4"/>
    <p:sldId id="259" r:id="rId5"/>
    <p:sldId id="267" r:id="rId6"/>
    <p:sldId id="261" r:id="rId7"/>
    <p:sldId id="260" r:id="rId8"/>
    <p:sldId id="262" r:id="rId9"/>
    <p:sldId id="263" r:id="rId10"/>
    <p:sldId id="293" r:id="rId11"/>
    <p:sldId id="264" r:id="rId12"/>
    <p:sldId id="294" r:id="rId13"/>
    <p:sldId id="265" r:id="rId14"/>
    <p:sldId id="266" r:id="rId15"/>
    <p:sldId id="289" r:id="rId16"/>
    <p:sldId id="290" r:id="rId17"/>
    <p:sldId id="291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2" r:id="rId28"/>
    <p:sldId id="280" r:id="rId29"/>
    <p:sldId id="281" r:id="rId30"/>
    <p:sldId id="283" r:id="rId31"/>
    <p:sldId id="284" r:id="rId32"/>
    <p:sldId id="285" r:id="rId33"/>
    <p:sldId id="292" r:id="rId34"/>
    <p:sldId id="286" r:id="rId35"/>
    <p:sldId id="287" r:id="rId36"/>
    <p:sldId id="295" r:id="rId37"/>
  </p:sldIdLst>
  <p:sldSz cx="12192000" cy="6858000"/>
  <p:notesSz cx="6858000" cy="91440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Orta Stil 2 - Vurgu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37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45" Type="http://schemas.openxmlformats.org/officeDocument/2006/relationships/customXml" Target="../customXml/item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customXml" Target="../customXml/item2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customXml" Target="../customXml/item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Üst Bilgi Yer Tutucusu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3" name="Veri Yer Tutucusu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5D706F6-AF9F-435E-A234-88481EF5C56F}" type="datetimeFigureOut">
              <a:rPr lang="tr-TR" smtClean="0"/>
              <a:t>21.07.2026</a:t>
            </a:fld>
            <a:endParaRPr lang="tr-TR"/>
          </a:p>
        </p:txBody>
      </p:sp>
      <p:sp>
        <p:nvSpPr>
          <p:cNvPr id="4" name="Slayt Resmi Yer Tutucus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tr-TR"/>
          </a:p>
        </p:txBody>
      </p:sp>
      <p:sp>
        <p:nvSpPr>
          <p:cNvPr id="5" name="Not Yer Tutucusu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6" name="Alt Bilgi Yer Tutucusu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8B628F0-A58B-42C5-BCD2-288B69098300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6870075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B628F0-A58B-42C5-BCD2-288B69098300}" type="slidenum">
              <a:rPr lang="tr-TR" smtClean="0"/>
              <a:t>6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56793053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B628F0-A58B-42C5-BCD2-288B69098300}" type="slidenum">
              <a:rPr lang="tr-TR" smtClean="0"/>
              <a:t>27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9288477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tr-TR"/>
              <a:t>Asıl başlık stili için tıklatın</a:t>
            </a:r>
          </a:p>
        </p:txBody>
      </p:sp>
      <p:sp>
        <p:nvSpPr>
          <p:cNvPr id="3" name="Alt Başlık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tr-TR"/>
              <a:t>Asıl alt başlık stilini düzenlemek için tıklayın</a:t>
            </a:r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D1D3B1-3B9C-4B5A-B242-66DAAE32F846}" type="datetimeFigureOut">
              <a:rPr lang="tr-TR" smtClean="0"/>
              <a:t>21.07.2026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65CD7-F0C9-475D-B751-D1EA56B4CA43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8987631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 için tıklatın</a:t>
            </a:r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/>
              <a:t>Asıl metin stillerini düzenle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D1D3B1-3B9C-4B5A-B242-66DAAE32F846}" type="datetimeFigureOut">
              <a:rPr lang="tr-TR" smtClean="0"/>
              <a:t>21.07.2026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65CD7-F0C9-475D-B751-D1EA56B4CA43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3224262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tr-TR"/>
              <a:t>Asıl başlık stili için tıklatın</a:t>
            </a:r>
          </a:p>
        </p:txBody>
      </p:sp>
      <p:sp>
        <p:nvSpPr>
          <p:cNvPr id="3" name="Metin Yer Tutucusu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/>
              <a:t>Asıl metin stillerini düzenle</a:t>
            </a:r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D1D3B1-3B9C-4B5A-B242-66DAAE32F846}" type="datetimeFigureOut">
              <a:rPr lang="tr-TR" smtClean="0"/>
              <a:t>21.07.2026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65CD7-F0C9-475D-B751-D1EA56B4CA43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8366069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 için tıklatın</a:t>
            </a:r>
          </a:p>
        </p:txBody>
      </p:sp>
      <p:sp>
        <p:nvSpPr>
          <p:cNvPr id="3" name="İçerik Yer Tutucusu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tr-TR"/>
              <a:t>Asıl metin stillerini düzenle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İçerik Yer Tutucusu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tr-TR"/>
              <a:t>Asıl metin stillerini düzenle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5" name="Veri Yer Tutucusu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D1D3B1-3B9C-4B5A-B242-66DAAE32F846}" type="datetimeFigureOut">
              <a:rPr lang="tr-TR" smtClean="0"/>
              <a:t>21.07.2026</a:t>
            </a:fld>
            <a:endParaRPr lang="tr-TR"/>
          </a:p>
        </p:txBody>
      </p:sp>
      <p:sp>
        <p:nvSpPr>
          <p:cNvPr id="6" name="Altbilgi Yer Tutucusu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65CD7-F0C9-475D-B751-D1EA56B4CA43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6253064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tr-TR"/>
              <a:t>Asıl başlık stili için tıklatın</a:t>
            </a:r>
          </a:p>
        </p:txBody>
      </p:sp>
      <p:sp>
        <p:nvSpPr>
          <p:cNvPr id="3" name="Metin Yer Tutucusu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</a:t>
            </a:r>
          </a:p>
        </p:txBody>
      </p:sp>
      <p:sp>
        <p:nvSpPr>
          <p:cNvPr id="4" name="İçerik Yer Tutucusu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tr-TR"/>
              <a:t>Asıl metin stillerini düzenle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5" name="Metin Yer Tutucusu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</a:t>
            </a:r>
          </a:p>
        </p:txBody>
      </p:sp>
      <p:sp>
        <p:nvSpPr>
          <p:cNvPr id="6" name="İçerik Yer Tutucusu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tr-TR"/>
              <a:t>Asıl metin stillerini düzenle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7" name="Veri Yer Tutucusu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D1D3B1-3B9C-4B5A-B242-66DAAE32F846}" type="datetimeFigureOut">
              <a:rPr lang="tr-TR" smtClean="0"/>
              <a:t>21.07.2026</a:t>
            </a:fld>
            <a:endParaRPr lang="tr-TR"/>
          </a:p>
        </p:txBody>
      </p:sp>
      <p:sp>
        <p:nvSpPr>
          <p:cNvPr id="8" name="Altbilgi Yer Tutucusu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Slayt Numarası Yer Tutucusu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65CD7-F0C9-475D-B751-D1EA56B4CA43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19352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 için tıklatın</a:t>
            </a:r>
          </a:p>
        </p:txBody>
      </p:sp>
      <p:sp>
        <p:nvSpPr>
          <p:cNvPr id="3" name="Veri Yer Tutucusu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D1D3B1-3B9C-4B5A-B242-66DAAE32F846}" type="datetimeFigureOut">
              <a:rPr lang="tr-TR" smtClean="0"/>
              <a:t>21.07.2026</a:t>
            </a:fld>
            <a:endParaRPr lang="tr-TR"/>
          </a:p>
        </p:txBody>
      </p:sp>
      <p:sp>
        <p:nvSpPr>
          <p:cNvPr id="4" name="Altbilgi Yer Tutucusu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Slayt Numarası Yer Tutucus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65CD7-F0C9-475D-B751-D1EA56B4CA43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6827066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i Yer Tutucusu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D1D3B1-3B9C-4B5A-B242-66DAAE32F846}" type="datetimeFigureOut">
              <a:rPr lang="tr-TR" smtClean="0"/>
              <a:t>21.07.2026</a:t>
            </a:fld>
            <a:endParaRPr lang="tr-TR"/>
          </a:p>
        </p:txBody>
      </p:sp>
      <p:sp>
        <p:nvSpPr>
          <p:cNvPr id="3" name="Altbilgi Yer Tutucusu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65CD7-F0C9-475D-B751-D1EA56B4CA43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0343090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/>
              <a:t>Asıl başlık stili için tıklatın</a:t>
            </a:r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r-TR"/>
              <a:t>Asıl metin stillerini düzenle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Metin Yer Tutucusu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</a:t>
            </a:r>
          </a:p>
        </p:txBody>
      </p:sp>
      <p:sp>
        <p:nvSpPr>
          <p:cNvPr id="5" name="Veri Yer Tutucusu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D1D3B1-3B9C-4B5A-B242-66DAAE32F846}" type="datetimeFigureOut">
              <a:rPr lang="tr-TR" smtClean="0"/>
              <a:t>21.07.2026</a:t>
            </a:fld>
            <a:endParaRPr lang="tr-TR"/>
          </a:p>
        </p:txBody>
      </p:sp>
      <p:sp>
        <p:nvSpPr>
          <p:cNvPr id="6" name="Altbilgi Yer Tutucusu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65CD7-F0C9-475D-B751-D1EA56B4CA43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4865609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/>
              <a:t>Asıl başlık stili için tıklatın</a:t>
            </a:r>
          </a:p>
        </p:txBody>
      </p:sp>
      <p:sp>
        <p:nvSpPr>
          <p:cNvPr id="3" name="Resim Yer Tutucusu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r-TR"/>
          </a:p>
        </p:txBody>
      </p:sp>
      <p:sp>
        <p:nvSpPr>
          <p:cNvPr id="4" name="Metin Yer Tutucusu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</a:t>
            </a:r>
          </a:p>
        </p:txBody>
      </p:sp>
      <p:sp>
        <p:nvSpPr>
          <p:cNvPr id="5" name="Veri Yer Tutucusu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D1D3B1-3B9C-4B5A-B242-66DAAE32F846}" type="datetimeFigureOut">
              <a:rPr lang="tr-TR" smtClean="0"/>
              <a:t>21.07.2026</a:t>
            </a:fld>
            <a:endParaRPr lang="tr-TR"/>
          </a:p>
        </p:txBody>
      </p:sp>
      <p:sp>
        <p:nvSpPr>
          <p:cNvPr id="6" name="Altbilgi Yer Tutucusu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65CD7-F0C9-475D-B751-D1EA56B4CA43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4936892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 ve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 için tıklatın</a:t>
            </a:r>
          </a:p>
        </p:txBody>
      </p:sp>
      <p:sp>
        <p:nvSpPr>
          <p:cNvPr id="3" name="Dikey Metin Yer Tutucusu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/>
              <a:t>Asıl metin stillerini düzenle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D1D3B1-3B9C-4B5A-B242-66DAAE32F846}" type="datetimeFigureOut">
              <a:rPr lang="tr-TR" smtClean="0"/>
              <a:t>21.07.2026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65CD7-F0C9-475D-B751-D1EA56B4CA43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0238909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ey Başlık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tr-TR"/>
              <a:t>Asıl başlık stili için tıklatın</a:t>
            </a:r>
          </a:p>
        </p:txBody>
      </p:sp>
      <p:sp>
        <p:nvSpPr>
          <p:cNvPr id="3" name="Dikey Metin Yer Tutucusu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tr-TR"/>
              <a:t>Asıl metin stillerini düzenle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D1D3B1-3B9C-4B5A-B242-66DAAE32F846}" type="datetimeFigureOut">
              <a:rPr lang="tr-TR" smtClean="0"/>
              <a:t>21.07.2026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65CD7-F0C9-475D-B751-D1EA56B4CA43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3504084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Yer Tutucusu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r-TR"/>
              <a:t>Asıl başlık stili için tıklatın</a:t>
            </a:r>
          </a:p>
        </p:txBody>
      </p:sp>
      <p:sp>
        <p:nvSpPr>
          <p:cNvPr id="3" name="Metin Yer Tutucusu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r-TR"/>
              <a:t>Asıl metin stillerini düzenle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6D1D3B1-3B9C-4B5A-B242-66DAAE32F846}" type="datetimeFigureOut">
              <a:rPr lang="tr-TR" smtClean="0"/>
              <a:t>21.07.2026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665CD7-F0C9-475D-B751-D1EA56B4CA43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468187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emf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Resi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81575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AD96FDFD-4E42-4A06-B8B5-768A1DB9C2A9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971368" y="371719"/>
            <a:ext cx="6125964" cy="1906863"/>
          </a:xfrm>
        </p:spPr>
        <p:txBody>
          <a:bodyPr anchor="b">
            <a:normAutofit/>
          </a:bodyPr>
          <a:lstStyle/>
          <a:p>
            <a:r>
              <a:rPr lang="tr-TR" b="1" dirty="0">
                <a:latin typeface="Aptos"/>
              </a:rPr>
              <a:t>Dersin İçeriği</a:t>
            </a:r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971368" y="2711395"/>
            <a:ext cx="4114801" cy="3465568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endParaRPr lang="tr-TR" sz="2000" dirty="0">
              <a:latin typeface="Aptos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tr-TR" sz="2000" dirty="0">
                <a:latin typeface="Aptos"/>
              </a:rPr>
              <a:t>Kapalı alanlar neler?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tr-TR" sz="2000" dirty="0">
                <a:latin typeface="Aptos"/>
              </a:rPr>
              <a:t>Kapalı alanlarda oluşabilecek riskler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tr-TR" sz="2000" dirty="0">
                <a:latin typeface="Aptos"/>
              </a:rPr>
              <a:t>Hangi önlemleri almamız gerekir?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tr-TR" sz="2000" dirty="0">
                <a:latin typeface="Aptos"/>
              </a:rPr>
              <a:t>İlgili yönetmelikler</a:t>
            </a:r>
          </a:p>
        </p:txBody>
      </p:sp>
      <p:pic>
        <p:nvPicPr>
          <p:cNvPr id="4" name="Resim 3"/>
          <p:cNvPicPr>
            <a:picLocks noChangeAspect="1"/>
          </p:cNvPicPr>
          <p:nvPr/>
        </p:nvPicPr>
        <p:blipFill>
          <a:blip r:embed="rId2"/>
          <a:srcRect l="7015" r="14469" b="-1"/>
          <a:stretch>
            <a:fillRect/>
          </a:stretch>
        </p:blipFill>
        <p:spPr>
          <a:xfrm>
            <a:off x="8452968" y="3681465"/>
            <a:ext cx="3747932" cy="3176541"/>
          </a:xfrm>
          <a:custGeom>
            <a:avLst/>
            <a:gdLst/>
            <a:ahLst/>
            <a:cxnLst/>
            <a:rect l="l" t="t" r="r" b="b"/>
            <a:pathLst>
              <a:path w="3747932" h="3176541">
                <a:moveTo>
                  <a:pt x="3239865" y="21"/>
                </a:moveTo>
                <a:cubicBezTo>
                  <a:pt x="3261821" y="112"/>
                  <a:pt x="3278837" y="498"/>
                  <a:pt x="3290337" y="938"/>
                </a:cubicBezTo>
                <a:cubicBezTo>
                  <a:pt x="3401766" y="5376"/>
                  <a:pt x="3510165" y="23128"/>
                  <a:pt x="3616543" y="49449"/>
                </a:cubicBezTo>
                <a:lnTo>
                  <a:pt x="3747932" y="87091"/>
                </a:lnTo>
                <a:lnTo>
                  <a:pt x="3747932" y="3176541"/>
                </a:lnTo>
                <a:lnTo>
                  <a:pt x="401358" y="3176541"/>
                </a:lnTo>
                <a:lnTo>
                  <a:pt x="398780" y="3136258"/>
                </a:lnTo>
                <a:cubicBezTo>
                  <a:pt x="400956" y="3079023"/>
                  <a:pt x="437945" y="3052703"/>
                  <a:pt x="483325" y="3030665"/>
                </a:cubicBezTo>
                <a:cubicBezTo>
                  <a:pt x="498866" y="3023015"/>
                  <a:pt x="520932" y="3023320"/>
                  <a:pt x="526840" y="2999447"/>
                </a:cubicBezTo>
                <a:cubicBezTo>
                  <a:pt x="501352" y="2976798"/>
                  <a:pt x="470270" y="2995161"/>
                  <a:pt x="442916" y="2988735"/>
                </a:cubicBezTo>
                <a:cubicBezTo>
                  <a:pt x="420228" y="2983533"/>
                  <a:pt x="382618" y="2986286"/>
                  <a:pt x="413701" y="2944662"/>
                </a:cubicBezTo>
                <a:cubicBezTo>
                  <a:pt x="422716" y="2932726"/>
                  <a:pt x="412147" y="2923542"/>
                  <a:pt x="400645" y="2922625"/>
                </a:cubicBezTo>
                <a:cubicBezTo>
                  <a:pt x="308644" y="2913137"/>
                  <a:pt x="350915" y="2828968"/>
                  <a:pt x="321386" y="2784590"/>
                </a:cubicBezTo>
                <a:cubicBezTo>
                  <a:pt x="313307" y="2772348"/>
                  <a:pt x="322010" y="2751230"/>
                  <a:pt x="334753" y="2746027"/>
                </a:cubicBezTo>
                <a:cubicBezTo>
                  <a:pt x="416187" y="2711746"/>
                  <a:pt x="427377" y="2630027"/>
                  <a:pt x="466852" y="2559632"/>
                </a:cubicBezTo>
                <a:cubicBezTo>
                  <a:pt x="423957" y="2531782"/>
                  <a:pt x="372673" y="2525661"/>
                  <a:pt x="326361" y="2507602"/>
                </a:cubicBezTo>
                <a:cubicBezTo>
                  <a:pt x="278183" y="2488626"/>
                  <a:pt x="278183" y="2474547"/>
                  <a:pt x="317968" y="2419457"/>
                </a:cubicBezTo>
                <a:cubicBezTo>
                  <a:pt x="214465" y="2407519"/>
                  <a:pt x="214465" y="2407519"/>
                  <a:pt x="246479" y="2320903"/>
                </a:cubicBezTo>
                <a:cubicBezTo>
                  <a:pt x="159758" y="2312945"/>
                  <a:pt x="102570" y="2271933"/>
                  <a:pt x="89205" y="2182255"/>
                </a:cubicBezTo>
                <a:cubicBezTo>
                  <a:pt x="82677" y="2138795"/>
                  <a:pt x="43514" y="2118290"/>
                  <a:pt x="0" y="2089213"/>
                </a:cubicBezTo>
                <a:cubicBezTo>
                  <a:pt x="54081" y="2061053"/>
                  <a:pt x="90759" y="2002290"/>
                  <a:pt x="153855" y="2064423"/>
                </a:cubicBezTo>
                <a:cubicBezTo>
                  <a:pt x="176855" y="2087070"/>
                  <a:pt x="174683" y="2058300"/>
                  <a:pt x="177788" y="2050037"/>
                </a:cubicBezTo>
                <a:cubicBezTo>
                  <a:pt x="185247" y="2029838"/>
                  <a:pt x="169707" y="2016369"/>
                  <a:pt x="159450" y="2001067"/>
                </a:cubicBezTo>
                <a:cubicBezTo>
                  <a:pt x="149504" y="1985763"/>
                  <a:pt x="137691" y="1969543"/>
                  <a:pt x="134895" y="1952400"/>
                </a:cubicBezTo>
                <a:cubicBezTo>
                  <a:pt x="133031" y="1940465"/>
                  <a:pt x="142044" y="1923021"/>
                  <a:pt x="151990" y="1914144"/>
                </a:cubicBezTo>
                <a:cubicBezTo>
                  <a:pt x="204209" y="1867316"/>
                  <a:pt x="173127" y="1762030"/>
                  <a:pt x="271969" y="1748562"/>
                </a:cubicBezTo>
                <a:cubicBezTo>
                  <a:pt x="316415" y="1742443"/>
                  <a:pt x="337860" y="1703878"/>
                  <a:pt x="370497" y="1682760"/>
                </a:cubicBezTo>
                <a:cubicBezTo>
                  <a:pt x="483946" y="1608999"/>
                  <a:pt x="559787" y="1514119"/>
                  <a:pt x="594908" y="1383735"/>
                </a:cubicBezTo>
                <a:cubicBezTo>
                  <a:pt x="604543" y="1347620"/>
                  <a:pt x="641532" y="1318542"/>
                  <a:pt x="665465" y="1286713"/>
                </a:cubicBezTo>
                <a:cubicBezTo>
                  <a:pt x="653963" y="1263452"/>
                  <a:pt x="591178" y="1313647"/>
                  <a:pt x="613246" y="1252435"/>
                </a:cubicBezTo>
                <a:cubicBezTo>
                  <a:pt x="630030" y="1206524"/>
                  <a:pt x="672925" y="1178060"/>
                  <a:pt x="713332" y="1150820"/>
                </a:cubicBezTo>
                <a:cubicBezTo>
                  <a:pt x="759333" y="1119908"/>
                  <a:pt x="810307" y="1095117"/>
                  <a:pt x="831133" y="1037883"/>
                </a:cubicBezTo>
                <a:cubicBezTo>
                  <a:pt x="835485" y="1025640"/>
                  <a:pt x="849470" y="1012785"/>
                  <a:pt x="861903" y="1007887"/>
                </a:cubicBezTo>
                <a:cubicBezTo>
                  <a:pt x="1469751" y="63584"/>
                  <a:pt x="2910527" y="-1353"/>
                  <a:pt x="3239865" y="21"/>
                </a:cubicBezTo>
                <a:close/>
              </a:path>
            </a:pathLst>
          </a:custGeom>
        </p:spPr>
      </p:pic>
      <p:pic>
        <p:nvPicPr>
          <p:cNvPr id="5" name="Resim 4"/>
          <p:cNvPicPr>
            <a:picLocks noChangeAspect="1"/>
          </p:cNvPicPr>
          <p:nvPr/>
        </p:nvPicPr>
        <p:blipFill>
          <a:blip r:embed="rId3"/>
          <a:srcRect l="15702" r="18095"/>
          <a:stretch>
            <a:fillRect/>
          </a:stretch>
        </p:blipFill>
        <p:spPr>
          <a:xfrm>
            <a:off x="5398276" y="2457970"/>
            <a:ext cx="3458367" cy="3476265"/>
          </a:xfrm>
          <a:custGeom>
            <a:avLst/>
            <a:gdLst/>
            <a:ahLst/>
            <a:cxnLst/>
            <a:rect l="l" t="t" r="r" b="b"/>
            <a:pathLst>
              <a:path w="3458367" h="3476265">
                <a:moveTo>
                  <a:pt x="549716" y="15"/>
                </a:moveTo>
                <a:cubicBezTo>
                  <a:pt x="557611" y="271"/>
                  <a:pt x="565778" y="3856"/>
                  <a:pt x="573176" y="4995"/>
                </a:cubicBezTo>
                <a:cubicBezTo>
                  <a:pt x="736504" y="30493"/>
                  <a:pt x="899830" y="58040"/>
                  <a:pt x="1063336" y="82398"/>
                </a:cubicBezTo>
                <a:cubicBezTo>
                  <a:pt x="1216195" y="105163"/>
                  <a:pt x="1370136" y="110398"/>
                  <a:pt x="1523717" y="122237"/>
                </a:cubicBezTo>
                <a:cubicBezTo>
                  <a:pt x="1709602" y="136580"/>
                  <a:pt x="1895127" y="156841"/>
                  <a:pt x="2079929" y="188711"/>
                </a:cubicBezTo>
                <a:cubicBezTo>
                  <a:pt x="2208244" y="211023"/>
                  <a:pt x="2337823" y="226502"/>
                  <a:pt x="2467943" y="208745"/>
                </a:cubicBezTo>
                <a:cubicBezTo>
                  <a:pt x="2474439" y="207834"/>
                  <a:pt x="2481839" y="204876"/>
                  <a:pt x="2487253" y="207834"/>
                </a:cubicBezTo>
                <a:cubicBezTo>
                  <a:pt x="2550419" y="241073"/>
                  <a:pt x="2619357" y="217168"/>
                  <a:pt x="2684869" y="238113"/>
                </a:cubicBezTo>
                <a:cubicBezTo>
                  <a:pt x="2668085" y="318930"/>
                  <a:pt x="2596077" y="312327"/>
                  <a:pt x="2555471" y="368331"/>
                </a:cubicBezTo>
                <a:cubicBezTo>
                  <a:pt x="2621704" y="390639"/>
                  <a:pt x="2681259" y="413178"/>
                  <a:pt x="2741717" y="430023"/>
                </a:cubicBezTo>
                <a:cubicBezTo>
                  <a:pt x="2805785" y="447780"/>
                  <a:pt x="2860106" y="495816"/>
                  <a:pt x="2922728" y="517216"/>
                </a:cubicBezTo>
                <a:cubicBezTo>
                  <a:pt x="2936085" y="521769"/>
                  <a:pt x="2952146" y="537704"/>
                  <a:pt x="2956838" y="553184"/>
                </a:cubicBezTo>
                <a:cubicBezTo>
                  <a:pt x="2971997" y="603269"/>
                  <a:pt x="3274647" y="743732"/>
                  <a:pt x="3238914" y="788350"/>
                </a:cubicBezTo>
                <a:cubicBezTo>
                  <a:pt x="3224116" y="806791"/>
                  <a:pt x="3204986" y="819994"/>
                  <a:pt x="3184953" y="838207"/>
                </a:cubicBezTo>
                <a:cubicBezTo>
                  <a:pt x="3215093" y="872582"/>
                  <a:pt x="3249020" y="887608"/>
                  <a:pt x="3285115" y="897852"/>
                </a:cubicBezTo>
                <a:cubicBezTo>
                  <a:pt x="3295944" y="901039"/>
                  <a:pt x="3306591" y="907413"/>
                  <a:pt x="3307674" y="922894"/>
                </a:cubicBezTo>
                <a:cubicBezTo>
                  <a:pt x="3308757" y="939056"/>
                  <a:pt x="3297748" y="945429"/>
                  <a:pt x="3288544" y="952944"/>
                </a:cubicBezTo>
                <a:cubicBezTo>
                  <a:pt x="3275731" y="963415"/>
                  <a:pt x="3263278" y="972523"/>
                  <a:pt x="3247036" y="973888"/>
                </a:cubicBezTo>
                <a:cubicBezTo>
                  <a:pt x="3220325" y="975937"/>
                  <a:pt x="3207513" y="1005076"/>
                  <a:pt x="3191993" y="1026930"/>
                </a:cubicBezTo>
                <a:cubicBezTo>
                  <a:pt x="3183330" y="1039224"/>
                  <a:pt x="3178998" y="1064037"/>
                  <a:pt x="3194157" y="1068363"/>
                </a:cubicBezTo>
                <a:cubicBezTo>
                  <a:pt x="3230613" y="1078837"/>
                  <a:pt x="3227725" y="1109114"/>
                  <a:pt x="3226824" y="1143489"/>
                </a:cubicBezTo>
                <a:cubicBezTo>
                  <a:pt x="3225560" y="1186061"/>
                  <a:pt x="3204083" y="1205638"/>
                  <a:pt x="3177734" y="1222030"/>
                </a:cubicBezTo>
                <a:cubicBezTo>
                  <a:pt x="3168711" y="1227720"/>
                  <a:pt x="3155898" y="1227493"/>
                  <a:pt x="3152469" y="1245250"/>
                </a:cubicBezTo>
                <a:cubicBezTo>
                  <a:pt x="3167267" y="1262097"/>
                  <a:pt x="3185314" y="1248439"/>
                  <a:pt x="3201197" y="1253218"/>
                </a:cubicBezTo>
                <a:cubicBezTo>
                  <a:pt x="3214370" y="1257088"/>
                  <a:pt x="3236208" y="1255040"/>
                  <a:pt x="3218160" y="1286000"/>
                </a:cubicBezTo>
                <a:cubicBezTo>
                  <a:pt x="3212926" y="1294878"/>
                  <a:pt x="3219062" y="1301709"/>
                  <a:pt x="3225741" y="1302392"/>
                </a:cubicBezTo>
                <a:cubicBezTo>
                  <a:pt x="3279159" y="1309449"/>
                  <a:pt x="3254615" y="1372054"/>
                  <a:pt x="3271761" y="1405063"/>
                </a:cubicBezTo>
                <a:cubicBezTo>
                  <a:pt x="3276452" y="1414169"/>
                  <a:pt x="3271399" y="1429877"/>
                  <a:pt x="3263999" y="1433747"/>
                </a:cubicBezTo>
                <a:cubicBezTo>
                  <a:pt x="3216716" y="1459245"/>
                  <a:pt x="3210220" y="1520028"/>
                  <a:pt x="3187299" y="1572389"/>
                </a:cubicBezTo>
                <a:cubicBezTo>
                  <a:pt x="3212205" y="1593104"/>
                  <a:pt x="3241982" y="1597657"/>
                  <a:pt x="3268872" y="1611089"/>
                </a:cubicBezTo>
                <a:cubicBezTo>
                  <a:pt x="3296846" y="1625204"/>
                  <a:pt x="3296846" y="1635676"/>
                  <a:pt x="3273746" y="1676653"/>
                </a:cubicBezTo>
                <a:cubicBezTo>
                  <a:pt x="3333842" y="1685532"/>
                  <a:pt x="3333842" y="1685532"/>
                  <a:pt x="3315254" y="1749957"/>
                </a:cubicBezTo>
                <a:cubicBezTo>
                  <a:pt x="3365607" y="1755877"/>
                  <a:pt x="3398812" y="1786382"/>
                  <a:pt x="3406572" y="1853085"/>
                </a:cubicBezTo>
                <a:cubicBezTo>
                  <a:pt x="3410362" y="1885411"/>
                  <a:pt x="3433101" y="1900663"/>
                  <a:pt x="3458367" y="1922291"/>
                </a:cubicBezTo>
                <a:cubicBezTo>
                  <a:pt x="3426966" y="1943236"/>
                  <a:pt x="3405669" y="1986945"/>
                  <a:pt x="3369034" y="1940730"/>
                </a:cubicBezTo>
                <a:cubicBezTo>
                  <a:pt x="3355680" y="1923885"/>
                  <a:pt x="3356941" y="1945284"/>
                  <a:pt x="3355138" y="1951430"/>
                </a:cubicBezTo>
                <a:cubicBezTo>
                  <a:pt x="3350807" y="1966455"/>
                  <a:pt x="3359830" y="1976472"/>
                  <a:pt x="3365786" y="1987854"/>
                </a:cubicBezTo>
                <a:cubicBezTo>
                  <a:pt x="3371561" y="1999237"/>
                  <a:pt x="3378420" y="2011302"/>
                  <a:pt x="3380043" y="2024054"/>
                </a:cubicBezTo>
                <a:cubicBezTo>
                  <a:pt x="3381125" y="2032931"/>
                  <a:pt x="3375892" y="2045905"/>
                  <a:pt x="3370117" y="2052509"/>
                </a:cubicBezTo>
                <a:cubicBezTo>
                  <a:pt x="3339797" y="2087340"/>
                  <a:pt x="3357844" y="2165652"/>
                  <a:pt x="3300454" y="2175670"/>
                </a:cubicBezTo>
                <a:cubicBezTo>
                  <a:pt x="3274647" y="2180221"/>
                  <a:pt x="3262195" y="2208906"/>
                  <a:pt x="3243246" y="2224614"/>
                </a:cubicBezTo>
                <a:cubicBezTo>
                  <a:pt x="3177374" y="2279478"/>
                  <a:pt x="3133338" y="2350051"/>
                  <a:pt x="3112946" y="2447031"/>
                </a:cubicBezTo>
                <a:cubicBezTo>
                  <a:pt x="3107352" y="2473894"/>
                  <a:pt x="3085875" y="2495522"/>
                  <a:pt x="3071979" y="2519197"/>
                </a:cubicBezTo>
                <a:cubicBezTo>
                  <a:pt x="3078657" y="2536499"/>
                  <a:pt x="3115112" y="2499164"/>
                  <a:pt x="3102298" y="2544694"/>
                </a:cubicBezTo>
                <a:cubicBezTo>
                  <a:pt x="3092553" y="2578843"/>
                  <a:pt x="3067647" y="2600014"/>
                  <a:pt x="3044185" y="2620276"/>
                </a:cubicBezTo>
                <a:cubicBezTo>
                  <a:pt x="3017476" y="2643268"/>
                  <a:pt x="2987879" y="2661708"/>
                  <a:pt x="2975787" y="2704279"/>
                </a:cubicBezTo>
                <a:cubicBezTo>
                  <a:pt x="2973260" y="2713386"/>
                  <a:pt x="2965140" y="2722947"/>
                  <a:pt x="2957921" y="2726591"/>
                </a:cubicBezTo>
                <a:cubicBezTo>
                  <a:pt x="2581458" y="3475797"/>
                  <a:pt x="1654740" y="3480805"/>
                  <a:pt x="1547901" y="3475568"/>
                </a:cubicBezTo>
                <a:cubicBezTo>
                  <a:pt x="1418503" y="3468966"/>
                  <a:pt x="1296143" y="3422753"/>
                  <a:pt x="1176132" y="3365156"/>
                </a:cubicBezTo>
                <a:cubicBezTo>
                  <a:pt x="1125418" y="3340797"/>
                  <a:pt x="1078316" y="3306195"/>
                  <a:pt x="1029045" y="3279332"/>
                </a:cubicBezTo>
                <a:cubicBezTo>
                  <a:pt x="961009" y="3242223"/>
                  <a:pt x="908492" y="3171424"/>
                  <a:pt x="840634" y="3141601"/>
                </a:cubicBezTo>
                <a:cubicBezTo>
                  <a:pt x="770793" y="3110867"/>
                  <a:pt x="711057" y="3054638"/>
                  <a:pt x="639229" y="3030734"/>
                </a:cubicBezTo>
                <a:cubicBezTo>
                  <a:pt x="601330" y="3017985"/>
                  <a:pt x="564695" y="2994993"/>
                  <a:pt x="570649" y="2929200"/>
                </a:cubicBezTo>
                <a:cubicBezTo>
                  <a:pt x="572274" y="2910532"/>
                  <a:pt x="562349" y="2895282"/>
                  <a:pt x="546647" y="2900745"/>
                </a:cubicBezTo>
                <a:cubicBezTo>
                  <a:pt x="516690" y="2910989"/>
                  <a:pt x="503154" y="2883898"/>
                  <a:pt x="486550" y="2863636"/>
                </a:cubicBezTo>
                <a:cubicBezTo>
                  <a:pt x="456953" y="2827667"/>
                  <a:pt x="428801" y="2789422"/>
                  <a:pt x="381697" y="2783503"/>
                </a:cubicBezTo>
                <a:cubicBezTo>
                  <a:pt x="390720" y="2755272"/>
                  <a:pt x="406060" y="2759371"/>
                  <a:pt x="420137" y="2765290"/>
                </a:cubicBezTo>
                <a:cubicBezTo>
                  <a:pt x="457133" y="2780772"/>
                  <a:pt x="493769" y="2798300"/>
                  <a:pt x="530765" y="2813781"/>
                </a:cubicBezTo>
                <a:cubicBezTo>
                  <a:pt x="554948" y="2823799"/>
                  <a:pt x="578952" y="2837912"/>
                  <a:pt x="611257" y="2826755"/>
                </a:cubicBezTo>
                <a:cubicBezTo>
                  <a:pt x="583463" y="2769843"/>
                  <a:pt x="536180" y="2759598"/>
                  <a:pt x="497920" y="2742071"/>
                </a:cubicBezTo>
                <a:cubicBezTo>
                  <a:pt x="450096" y="2719988"/>
                  <a:pt x="421942" y="2678326"/>
                  <a:pt x="388193" y="2631885"/>
                </a:cubicBezTo>
                <a:cubicBezTo>
                  <a:pt x="423386" y="2620730"/>
                  <a:pt x="445223" y="2654879"/>
                  <a:pt x="472834" y="2653056"/>
                </a:cubicBezTo>
                <a:cubicBezTo>
                  <a:pt x="474279" y="2647140"/>
                  <a:pt x="476804" y="2638488"/>
                  <a:pt x="476444" y="2638259"/>
                </a:cubicBezTo>
                <a:cubicBezTo>
                  <a:pt x="431326" y="2612763"/>
                  <a:pt x="410211" y="2564956"/>
                  <a:pt x="403173" y="2507131"/>
                </a:cubicBezTo>
                <a:cubicBezTo>
                  <a:pt x="399563" y="2477310"/>
                  <a:pt x="383140" y="2467976"/>
                  <a:pt x="366897" y="2454316"/>
                </a:cubicBezTo>
                <a:cubicBezTo>
                  <a:pt x="310230" y="2405826"/>
                  <a:pt x="250314" y="2361890"/>
                  <a:pt x="203752" y="2295188"/>
                </a:cubicBezTo>
                <a:cubicBezTo>
                  <a:pt x="257532" y="2304066"/>
                  <a:pt x="300665" y="2347547"/>
                  <a:pt x="358597" y="2366215"/>
                </a:cubicBezTo>
                <a:cubicBezTo>
                  <a:pt x="312577" y="2292910"/>
                  <a:pt x="253020" y="2255803"/>
                  <a:pt x="198698" y="2211409"/>
                </a:cubicBezTo>
                <a:cubicBezTo>
                  <a:pt x="173974" y="2191149"/>
                  <a:pt x="151055" y="2165197"/>
                  <a:pt x="121097" y="2154269"/>
                </a:cubicBezTo>
                <a:cubicBezTo>
                  <a:pt x="110448" y="2150400"/>
                  <a:pt x="92943" y="2142204"/>
                  <a:pt x="101425" y="2120577"/>
                </a:cubicBezTo>
                <a:cubicBezTo>
                  <a:pt x="108643" y="2102593"/>
                  <a:pt x="122900" y="2108055"/>
                  <a:pt x="135895" y="2113292"/>
                </a:cubicBezTo>
                <a:cubicBezTo>
                  <a:pt x="167116" y="2126269"/>
                  <a:pt x="199421" y="2126495"/>
                  <a:pt x="241652" y="2126269"/>
                </a:cubicBezTo>
                <a:cubicBezTo>
                  <a:pt x="206279" y="2066851"/>
                  <a:pt x="141489" y="2084608"/>
                  <a:pt x="111170" y="2022231"/>
                </a:cubicBezTo>
                <a:cubicBezTo>
                  <a:pt x="149069" y="2011302"/>
                  <a:pt x="178305" y="2033841"/>
                  <a:pt x="208987" y="2038166"/>
                </a:cubicBezTo>
                <a:cubicBezTo>
                  <a:pt x="236777" y="2042036"/>
                  <a:pt x="243636" y="2031565"/>
                  <a:pt x="237139" y="1997188"/>
                </a:cubicBezTo>
                <a:cubicBezTo>
                  <a:pt x="227034" y="1943690"/>
                  <a:pt x="242193" y="1916371"/>
                  <a:pt x="282618" y="1930941"/>
                </a:cubicBezTo>
                <a:cubicBezTo>
                  <a:pt x="320155" y="1944601"/>
                  <a:pt x="324125" y="1924568"/>
                  <a:pt x="314019" y="1894062"/>
                </a:cubicBezTo>
                <a:cubicBezTo>
                  <a:pt x="299582" y="1849671"/>
                  <a:pt x="316004" y="1815295"/>
                  <a:pt x="327194" y="1777960"/>
                </a:cubicBezTo>
                <a:cubicBezTo>
                  <a:pt x="344339" y="1721045"/>
                  <a:pt x="337121" y="1693272"/>
                  <a:pt x="300123" y="1650929"/>
                </a:cubicBezTo>
                <a:cubicBezTo>
                  <a:pt x="279370" y="1627251"/>
                  <a:pt x="256992" y="1607219"/>
                  <a:pt x="226852" y="1586731"/>
                </a:cubicBezTo>
                <a:cubicBezTo>
                  <a:pt x="296334" y="1575576"/>
                  <a:pt x="223423" y="1538013"/>
                  <a:pt x="247968" y="1514564"/>
                </a:cubicBezTo>
                <a:cubicBezTo>
                  <a:pt x="297056" y="1505003"/>
                  <a:pt x="337121" y="1579673"/>
                  <a:pt x="403895" y="1558274"/>
                </a:cubicBezTo>
                <a:cubicBezTo>
                  <a:pt x="321420" y="1493619"/>
                  <a:pt x="230281" y="1472448"/>
                  <a:pt x="170546" y="1386396"/>
                </a:cubicBezTo>
                <a:cubicBezTo>
                  <a:pt x="184261" y="1366817"/>
                  <a:pt x="197977" y="1385030"/>
                  <a:pt x="209707" y="1377746"/>
                </a:cubicBezTo>
                <a:cubicBezTo>
                  <a:pt x="209346" y="1373192"/>
                  <a:pt x="210250" y="1366362"/>
                  <a:pt x="208083" y="1364314"/>
                </a:cubicBezTo>
                <a:cubicBezTo>
                  <a:pt x="163508" y="1317416"/>
                  <a:pt x="162784" y="1316279"/>
                  <a:pt x="210610" y="1281675"/>
                </a:cubicBezTo>
                <a:cubicBezTo>
                  <a:pt x="227394" y="1269609"/>
                  <a:pt x="225950" y="1258909"/>
                  <a:pt x="217108" y="1243657"/>
                </a:cubicBezTo>
                <a:cubicBezTo>
                  <a:pt x="210790" y="1232957"/>
                  <a:pt x="203211" y="1223395"/>
                  <a:pt x="206820" y="1199947"/>
                </a:cubicBezTo>
                <a:cubicBezTo>
                  <a:pt x="232988" y="1229998"/>
                  <a:pt x="359499" y="1220208"/>
                  <a:pt x="381877" y="1217021"/>
                </a:cubicBezTo>
                <a:cubicBezTo>
                  <a:pt x="406963" y="1213607"/>
                  <a:pt x="431688" y="1199037"/>
                  <a:pt x="458035" y="1207003"/>
                </a:cubicBezTo>
                <a:cubicBezTo>
                  <a:pt x="479150" y="1213381"/>
                  <a:pt x="576966" y="1275073"/>
                  <a:pt x="590863" y="1204273"/>
                </a:cubicBezTo>
                <a:cubicBezTo>
                  <a:pt x="591585" y="1200858"/>
                  <a:pt x="631107" y="1208826"/>
                  <a:pt x="652403" y="1212696"/>
                </a:cubicBezTo>
                <a:cubicBezTo>
                  <a:pt x="671172" y="1215883"/>
                  <a:pt x="692288" y="1229998"/>
                  <a:pt x="704920" y="1201769"/>
                </a:cubicBezTo>
                <a:cubicBezTo>
                  <a:pt x="712320" y="1185150"/>
                  <a:pt x="681820" y="1153051"/>
                  <a:pt x="654569" y="1150320"/>
                </a:cubicBezTo>
                <a:cubicBezTo>
                  <a:pt x="630926" y="1147814"/>
                  <a:pt x="606202" y="1144172"/>
                  <a:pt x="583643" y="1151001"/>
                </a:cubicBezTo>
                <a:cubicBezTo>
                  <a:pt x="555852" y="1159198"/>
                  <a:pt x="540873" y="1145995"/>
                  <a:pt x="533111" y="1117538"/>
                </a:cubicBezTo>
                <a:cubicBezTo>
                  <a:pt x="524450" y="1086122"/>
                  <a:pt x="507845" y="1071550"/>
                  <a:pt x="484926" y="1056980"/>
                </a:cubicBezTo>
                <a:cubicBezTo>
                  <a:pt x="429340" y="1021696"/>
                  <a:pt x="375921" y="980946"/>
                  <a:pt x="314922" y="960456"/>
                </a:cubicBezTo>
                <a:cubicBezTo>
                  <a:pt x="302830" y="956358"/>
                  <a:pt x="289476" y="950894"/>
                  <a:pt x="283881" y="923805"/>
                </a:cubicBezTo>
                <a:cubicBezTo>
                  <a:pt x="449013" y="964326"/>
                  <a:pt x="599526" y="1069958"/>
                  <a:pt x="769890" y="1063811"/>
                </a:cubicBezTo>
                <a:cubicBezTo>
                  <a:pt x="723329" y="1030346"/>
                  <a:pt x="669369" y="1028524"/>
                  <a:pt x="619738" y="1005076"/>
                </a:cubicBezTo>
                <a:cubicBezTo>
                  <a:pt x="654930" y="987546"/>
                  <a:pt x="687956" y="1005759"/>
                  <a:pt x="721344" y="1015777"/>
                </a:cubicBezTo>
                <a:cubicBezTo>
                  <a:pt x="749317" y="1023970"/>
                  <a:pt x="774583" y="1025337"/>
                  <a:pt x="777650" y="976393"/>
                </a:cubicBezTo>
                <a:cubicBezTo>
                  <a:pt x="776566" y="973205"/>
                  <a:pt x="776747" y="969107"/>
                  <a:pt x="776929" y="965238"/>
                </a:cubicBezTo>
                <a:cubicBezTo>
                  <a:pt x="767542" y="944976"/>
                  <a:pt x="752926" y="934504"/>
                  <a:pt x="735601" y="928584"/>
                </a:cubicBezTo>
                <a:cubicBezTo>
                  <a:pt x="725133" y="924942"/>
                  <a:pt x="711237" y="919478"/>
                  <a:pt x="711416" y="904909"/>
                </a:cubicBezTo>
                <a:cubicBezTo>
                  <a:pt x="711958" y="850955"/>
                  <a:pt x="678571" y="835246"/>
                  <a:pt x="645185" y="819539"/>
                </a:cubicBezTo>
                <a:cubicBezTo>
                  <a:pt x="663773" y="792676"/>
                  <a:pt x="678391" y="812481"/>
                  <a:pt x="692468" y="810433"/>
                </a:cubicBezTo>
                <a:cubicBezTo>
                  <a:pt x="701672" y="809067"/>
                  <a:pt x="709973" y="806563"/>
                  <a:pt x="709973" y="792676"/>
                </a:cubicBezTo>
                <a:cubicBezTo>
                  <a:pt x="710154" y="781065"/>
                  <a:pt x="705822" y="767861"/>
                  <a:pt x="696799" y="767635"/>
                </a:cubicBezTo>
                <a:cubicBezTo>
                  <a:pt x="640312" y="765585"/>
                  <a:pt x="609090" y="690914"/>
                  <a:pt x="550437" y="690687"/>
                </a:cubicBezTo>
                <a:cubicBezTo>
                  <a:pt x="515425" y="690687"/>
                  <a:pt x="568666" y="648572"/>
                  <a:pt x="539068" y="631042"/>
                </a:cubicBezTo>
                <a:cubicBezTo>
                  <a:pt x="532570" y="627171"/>
                  <a:pt x="556032" y="621254"/>
                  <a:pt x="566500" y="622164"/>
                </a:cubicBezTo>
                <a:cubicBezTo>
                  <a:pt x="576786" y="623074"/>
                  <a:pt x="585990" y="634229"/>
                  <a:pt x="598443" y="626261"/>
                </a:cubicBezTo>
                <a:cubicBezTo>
                  <a:pt x="605300" y="597806"/>
                  <a:pt x="587615" y="587332"/>
                  <a:pt x="572996" y="579365"/>
                </a:cubicBezTo>
                <a:cubicBezTo>
                  <a:pt x="539247" y="560925"/>
                  <a:pt x="506402" y="538615"/>
                  <a:pt x="469405" y="532013"/>
                </a:cubicBezTo>
                <a:cubicBezTo>
                  <a:pt x="456232" y="529737"/>
                  <a:pt x="488355" y="499231"/>
                  <a:pt x="494671" y="488532"/>
                </a:cubicBezTo>
                <a:cubicBezTo>
                  <a:pt x="345782" y="376071"/>
                  <a:pt x="166756" y="381762"/>
                  <a:pt x="0" y="290928"/>
                </a:cubicBezTo>
                <a:cubicBezTo>
                  <a:pt x="36817" y="273173"/>
                  <a:pt x="63887" y="286148"/>
                  <a:pt x="88973" y="288880"/>
                </a:cubicBezTo>
                <a:cubicBezTo>
                  <a:pt x="151595" y="295708"/>
                  <a:pt x="213498" y="309822"/>
                  <a:pt x="275940" y="318246"/>
                </a:cubicBezTo>
                <a:cubicBezTo>
                  <a:pt x="306620" y="322344"/>
                  <a:pt x="335134" y="337824"/>
                  <a:pt x="369424" y="313239"/>
                </a:cubicBezTo>
                <a:cubicBezTo>
                  <a:pt x="392343" y="296847"/>
                  <a:pt x="428980" y="314604"/>
                  <a:pt x="457133" y="329174"/>
                </a:cubicBezTo>
                <a:cubicBezTo>
                  <a:pt x="480414" y="341238"/>
                  <a:pt x="502612" y="344425"/>
                  <a:pt x="533474" y="329174"/>
                </a:cubicBezTo>
                <a:cubicBezTo>
                  <a:pt x="505501" y="319841"/>
                  <a:pt x="484023" y="311645"/>
                  <a:pt x="462006" y="305953"/>
                </a:cubicBezTo>
                <a:cubicBezTo>
                  <a:pt x="444501" y="301400"/>
                  <a:pt x="486189" y="282960"/>
                  <a:pt x="507484" y="285237"/>
                </a:cubicBezTo>
                <a:cubicBezTo>
                  <a:pt x="537263" y="288423"/>
                  <a:pt x="520479" y="276586"/>
                  <a:pt x="515425" y="260195"/>
                </a:cubicBezTo>
                <a:cubicBezTo>
                  <a:pt x="510012" y="242665"/>
                  <a:pt x="526074" y="237203"/>
                  <a:pt x="536180" y="240844"/>
                </a:cubicBezTo>
                <a:cubicBezTo>
                  <a:pt x="574980" y="255187"/>
                  <a:pt x="613602" y="229917"/>
                  <a:pt x="653668" y="250407"/>
                </a:cubicBezTo>
                <a:cubicBezTo>
                  <a:pt x="643561" y="199867"/>
                  <a:pt x="621723" y="177784"/>
                  <a:pt x="576064" y="170726"/>
                </a:cubicBezTo>
                <a:cubicBezTo>
                  <a:pt x="558919" y="167996"/>
                  <a:pt x="541053" y="172093"/>
                  <a:pt x="526254" y="157522"/>
                </a:cubicBezTo>
                <a:cubicBezTo>
                  <a:pt x="517771" y="149101"/>
                  <a:pt x="508207" y="139084"/>
                  <a:pt x="514884" y="123603"/>
                </a:cubicBezTo>
                <a:cubicBezTo>
                  <a:pt x="519577" y="112674"/>
                  <a:pt x="529684" y="112674"/>
                  <a:pt x="537985" y="116318"/>
                </a:cubicBezTo>
                <a:cubicBezTo>
                  <a:pt x="575162" y="132483"/>
                  <a:pt x="613963" y="138400"/>
                  <a:pt x="652764" y="144320"/>
                </a:cubicBezTo>
                <a:cubicBezTo>
                  <a:pt x="658720" y="145230"/>
                  <a:pt x="665397" y="148191"/>
                  <a:pt x="672075" y="133164"/>
                </a:cubicBezTo>
                <a:cubicBezTo>
                  <a:pt x="599526" y="108805"/>
                  <a:pt x="530585" y="74202"/>
                  <a:pt x="456051" y="60770"/>
                </a:cubicBezTo>
                <a:cubicBezTo>
                  <a:pt x="457133" y="54397"/>
                  <a:pt x="458215" y="48022"/>
                  <a:pt x="459299" y="41649"/>
                </a:cubicBezTo>
                <a:cubicBezTo>
                  <a:pt x="517591" y="50753"/>
                  <a:pt x="575884" y="59859"/>
                  <a:pt x="649515" y="71243"/>
                </a:cubicBezTo>
                <a:cubicBezTo>
                  <a:pt x="604218" y="35045"/>
                  <a:pt x="561446" y="47111"/>
                  <a:pt x="527879" y="15013"/>
                </a:cubicBezTo>
                <a:cubicBezTo>
                  <a:pt x="534195" y="2833"/>
                  <a:pt x="541820" y="-241"/>
                  <a:pt x="549716" y="15"/>
                </a:cubicBezTo>
                <a:close/>
              </a:path>
            </a:pathLst>
          </a:custGeom>
        </p:spPr>
      </p:pic>
      <p:pic>
        <p:nvPicPr>
          <p:cNvPr id="6" name="Resim 5"/>
          <p:cNvPicPr>
            <a:picLocks noChangeAspect="1"/>
          </p:cNvPicPr>
          <p:nvPr/>
        </p:nvPicPr>
        <p:blipFill>
          <a:blip r:embed="rId4"/>
          <a:srcRect l="17177" r="28019" b="2"/>
          <a:stretch>
            <a:fillRect/>
          </a:stretch>
        </p:blipFill>
        <p:spPr>
          <a:xfrm>
            <a:off x="7621024" y="-5"/>
            <a:ext cx="4579876" cy="3536502"/>
          </a:xfrm>
          <a:custGeom>
            <a:avLst/>
            <a:gdLst/>
            <a:ahLst/>
            <a:cxnLst/>
            <a:rect l="l" t="t" r="r" b="b"/>
            <a:pathLst>
              <a:path w="4579876" h="3536502">
                <a:moveTo>
                  <a:pt x="457312" y="0"/>
                </a:moveTo>
                <a:lnTo>
                  <a:pt x="4579876" y="0"/>
                </a:lnTo>
                <a:lnTo>
                  <a:pt x="4579876" y="3057029"/>
                </a:lnTo>
                <a:lnTo>
                  <a:pt x="4508441" y="3086568"/>
                </a:lnTo>
                <a:cubicBezTo>
                  <a:pt x="4391572" y="3126663"/>
                  <a:pt x="4301124" y="3221848"/>
                  <a:pt x="4183947" y="3271738"/>
                </a:cubicBezTo>
                <a:cubicBezTo>
                  <a:pt x="4099090" y="3307854"/>
                  <a:pt x="4017967" y="3354374"/>
                  <a:pt x="3930625" y="3387123"/>
                </a:cubicBezTo>
                <a:cubicBezTo>
                  <a:pt x="3723932" y="3464557"/>
                  <a:pt x="3513195" y="3526689"/>
                  <a:pt x="3290337" y="3535564"/>
                </a:cubicBezTo>
                <a:cubicBezTo>
                  <a:pt x="3106332" y="3542605"/>
                  <a:pt x="1510274" y="3535872"/>
                  <a:pt x="861903" y="2528615"/>
                </a:cubicBezTo>
                <a:cubicBezTo>
                  <a:pt x="849470" y="2523717"/>
                  <a:pt x="835485" y="2510862"/>
                  <a:pt x="831133" y="2498619"/>
                </a:cubicBezTo>
                <a:cubicBezTo>
                  <a:pt x="810307" y="2441385"/>
                  <a:pt x="759333" y="2416594"/>
                  <a:pt x="713333" y="2385682"/>
                </a:cubicBezTo>
                <a:cubicBezTo>
                  <a:pt x="672925" y="2358442"/>
                  <a:pt x="630030" y="2329978"/>
                  <a:pt x="613246" y="2284067"/>
                </a:cubicBezTo>
                <a:cubicBezTo>
                  <a:pt x="591179" y="2222855"/>
                  <a:pt x="653963" y="2273050"/>
                  <a:pt x="665465" y="2249789"/>
                </a:cubicBezTo>
                <a:cubicBezTo>
                  <a:pt x="641532" y="2217960"/>
                  <a:pt x="604543" y="2188882"/>
                  <a:pt x="594908" y="2152767"/>
                </a:cubicBezTo>
                <a:cubicBezTo>
                  <a:pt x="559787" y="2022383"/>
                  <a:pt x="483946" y="1927503"/>
                  <a:pt x="370497" y="1853742"/>
                </a:cubicBezTo>
                <a:cubicBezTo>
                  <a:pt x="337861" y="1832624"/>
                  <a:pt x="316415" y="1794059"/>
                  <a:pt x="271969" y="1787940"/>
                </a:cubicBezTo>
                <a:cubicBezTo>
                  <a:pt x="173127" y="1774472"/>
                  <a:pt x="204209" y="1669186"/>
                  <a:pt x="151990" y="1622358"/>
                </a:cubicBezTo>
                <a:cubicBezTo>
                  <a:pt x="142044" y="1613481"/>
                  <a:pt x="133031" y="1596037"/>
                  <a:pt x="134895" y="1584102"/>
                </a:cubicBezTo>
                <a:cubicBezTo>
                  <a:pt x="137691" y="1566959"/>
                  <a:pt x="149504" y="1550739"/>
                  <a:pt x="159450" y="1535435"/>
                </a:cubicBezTo>
                <a:cubicBezTo>
                  <a:pt x="169708" y="1520133"/>
                  <a:pt x="185247" y="1506664"/>
                  <a:pt x="177788" y="1486465"/>
                </a:cubicBezTo>
                <a:cubicBezTo>
                  <a:pt x="174683" y="1478202"/>
                  <a:pt x="176855" y="1449432"/>
                  <a:pt x="153856" y="1472079"/>
                </a:cubicBezTo>
                <a:cubicBezTo>
                  <a:pt x="90760" y="1534212"/>
                  <a:pt x="54082" y="1475449"/>
                  <a:pt x="0" y="1447289"/>
                </a:cubicBezTo>
                <a:cubicBezTo>
                  <a:pt x="43515" y="1418212"/>
                  <a:pt x="82677" y="1397707"/>
                  <a:pt x="89205" y="1354247"/>
                </a:cubicBezTo>
                <a:cubicBezTo>
                  <a:pt x="102570" y="1264569"/>
                  <a:pt x="159758" y="1223557"/>
                  <a:pt x="246479" y="1215599"/>
                </a:cubicBezTo>
                <a:cubicBezTo>
                  <a:pt x="214465" y="1128983"/>
                  <a:pt x="214465" y="1128983"/>
                  <a:pt x="317968" y="1117045"/>
                </a:cubicBezTo>
                <a:cubicBezTo>
                  <a:pt x="278183" y="1061955"/>
                  <a:pt x="278183" y="1047876"/>
                  <a:pt x="326362" y="1028900"/>
                </a:cubicBezTo>
                <a:cubicBezTo>
                  <a:pt x="372673" y="1010841"/>
                  <a:pt x="423957" y="1004720"/>
                  <a:pt x="466852" y="976870"/>
                </a:cubicBezTo>
                <a:cubicBezTo>
                  <a:pt x="427377" y="906475"/>
                  <a:pt x="416188" y="824756"/>
                  <a:pt x="334754" y="790475"/>
                </a:cubicBezTo>
                <a:cubicBezTo>
                  <a:pt x="322010" y="785272"/>
                  <a:pt x="313307" y="764154"/>
                  <a:pt x="321386" y="751912"/>
                </a:cubicBezTo>
                <a:cubicBezTo>
                  <a:pt x="350915" y="707534"/>
                  <a:pt x="308644" y="623365"/>
                  <a:pt x="400645" y="613877"/>
                </a:cubicBezTo>
                <a:cubicBezTo>
                  <a:pt x="412147" y="612959"/>
                  <a:pt x="422716" y="603776"/>
                  <a:pt x="413701" y="591839"/>
                </a:cubicBezTo>
                <a:cubicBezTo>
                  <a:pt x="382618" y="550216"/>
                  <a:pt x="420228" y="552969"/>
                  <a:pt x="442917" y="547767"/>
                </a:cubicBezTo>
                <a:cubicBezTo>
                  <a:pt x="470271" y="541341"/>
                  <a:pt x="501353" y="559703"/>
                  <a:pt x="526840" y="537055"/>
                </a:cubicBezTo>
                <a:cubicBezTo>
                  <a:pt x="520932" y="513181"/>
                  <a:pt x="498866" y="513487"/>
                  <a:pt x="483325" y="505836"/>
                </a:cubicBezTo>
                <a:cubicBezTo>
                  <a:pt x="437946" y="483799"/>
                  <a:pt x="400956" y="457479"/>
                  <a:pt x="398780" y="400243"/>
                </a:cubicBezTo>
                <a:cubicBezTo>
                  <a:pt x="397229" y="354028"/>
                  <a:pt x="392255" y="313323"/>
                  <a:pt x="455041" y="299242"/>
                </a:cubicBezTo>
                <a:cubicBezTo>
                  <a:pt x="481149" y="293426"/>
                  <a:pt x="473687" y="260067"/>
                  <a:pt x="458769" y="243538"/>
                </a:cubicBezTo>
                <a:cubicBezTo>
                  <a:pt x="432038" y="214157"/>
                  <a:pt x="409972" y="174981"/>
                  <a:pt x="363969" y="172227"/>
                </a:cubicBezTo>
                <a:cubicBezTo>
                  <a:pt x="335995" y="170391"/>
                  <a:pt x="314549" y="158146"/>
                  <a:pt x="292481" y="144069"/>
                </a:cubicBezTo>
                <a:cubicBezTo>
                  <a:pt x="276630" y="133966"/>
                  <a:pt x="257670" y="125398"/>
                  <a:pt x="259534" y="103668"/>
                </a:cubicBezTo>
                <a:cubicBezTo>
                  <a:pt x="261399" y="82855"/>
                  <a:pt x="279736" y="74286"/>
                  <a:pt x="298387" y="70001"/>
                </a:cubicBezTo>
                <a:cubicBezTo>
                  <a:pt x="345011" y="59672"/>
                  <a:pt x="389535" y="45726"/>
                  <a:pt x="430782" y="19902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40403135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C17DE74-01C9-4859-B65A-85CF999E8580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068C0432-0E90-4CC1-8CD3-D44A90DF07EF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2347414"/>
          </a:xfrm>
          <a:custGeom>
            <a:avLst/>
            <a:gdLst>
              <a:gd name="connsiteX0" fmla="*/ 0 w 12192000"/>
              <a:gd name="connsiteY0" fmla="*/ 0 h 2347414"/>
              <a:gd name="connsiteX1" fmla="*/ 12192000 w 12192000"/>
              <a:gd name="connsiteY1" fmla="*/ 0 h 2347414"/>
              <a:gd name="connsiteX2" fmla="*/ 12192000 w 12192000"/>
              <a:gd name="connsiteY2" fmla="*/ 1736458 h 2347414"/>
              <a:gd name="connsiteX3" fmla="*/ 11967601 w 12192000"/>
              <a:gd name="connsiteY3" fmla="*/ 1784034 h 2347414"/>
              <a:gd name="connsiteX4" fmla="*/ 10829000 w 12192000"/>
              <a:gd name="connsiteY4" fmla="*/ 1983294 h 2347414"/>
              <a:gd name="connsiteX5" fmla="*/ 10743779 w 12192000"/>
              <a:gd name="connsiteY5" fmla="*/ 1996027 h 2347414"/>
              <a:gd name="connsiteX6" fmla="*/ 10829254 w 12192000"/>
              <a:gd name="connsiteY6" fmla="*/ 1987751 h 2347414"/>
              <a:gd name="connsiteX7" fmla="*/ 10847162 w 12192000"/>
              <a:gd name="connsiteY7" fmla="*/ 1988388 h 2347414"/>
              <a:gd name="connsiteX8" fmla="*/ 11575155 w 12192000"/>
              <a:gd name="connsiteY8" fmla="*/ 1921415 h 2347414"/>
              <a:gd name="connsiteX9" fmla="*/ 12192000 w 12192000"/>
              <a:gd name="connsiteY9" fmla="*/ 1851213 h 2347414"/>
              <a:gd name="connsiteX10" fmla="*/ 12192000 w 12192000"/>
              <a:gd name="connsiteY10" fmla="*/ 1907356 h 2347414"/>
              <a:gd name="connsiteX11" fmla="*/ 12035532 w 12192000"/>
              <a:gd name="connsiteY11" fmla="*/ 1927033 h 2347414"/>
              <a:gd name="connsiteX12" fmla="*/ 11576932 w 12192000"/>
              <a:gd name="connsiteY12" fmla="*/ 1976291 h 2347414"/>
              <a:gd name="connsiteX13" fmla="*/ 10627316 w 12192000"/>
              <a:gd name="connsiteY13" fmla="*/ 2061470 h 2347414"/>
              <a:gd name="connsiteX14" fmla="*/ 9804196 w 12192000"/>
              <a:gd name="connsiteY14" fmla="*/ 2123478 h 2347414"/>
              <a:gd name="connsiteX15" fmla="*/ 9243851 w 12192000"/>
              <a:gd name="connsiteY15" fmla="*/ 2180008 h 2347414"/>
              <a:gd name="connsiteX16" fmla="*/ 8731259 w 12192000"/>
              <a:gd name="connsiteY16" fmla="*/ 2225081 h 2347414"/>
              <a:gd name="connsiteX17" fmla="*/ 8065752 w 12192000"/>
              <a:gd name="connsiteY17" fmla="*/ 2271681 h 2347414"/>
              <a:gd name="connsiteX18" fmla="*/ 7658065 w 12192000"/>
              <a:gd name="connsiteY18" fmla="*/ 2292562 h 2347414"/>
              <a:gd name="connsiteX19" fmla="*/ 6531024 w 12192000"/>
              <a:gd name="connsiteY19" fmla="*/ 2324138 h 2347414"/>
              <a:gd name="connsiteX20" fmla="*/ 6178331 w 12192000"/>
              <a:gd name="connsiteY20" fmla="*/ 2345655 h 2347414"/>
              <a:gd name="connsiteX21" fmla="*/ 5977282 w 12192000"/>
              <a:gd name="connsiteY21" fmla="*/ 2344127 h 2347414"/>
              <a:gd name="connsiteX22" fmla="*/ 5367658 w 12192000"/>
              <a:gd name="connsiteY22" fmla="*/ 2329230 h 2347414"/>
              <a:gd name="connsiteX23" fmla="*/ 4387306 w 12192000"/>
              <a:gd name="connsiteY23" fmla="*/ 2288614 h 2347414"/>
              <a:gd name="connsiteX24" fmla="*/ 4180287 w 12192000"/>
              <a:gd name="connsiteY24" fmla="*/ 2280211 h 2347414"/>
              <a:gd name="connsiteX25" fmla="*/ 3842199 w 12192000"/>
              <a:gd name="connsiteY25" fmla="*/ 2257039 h 2347414"/>
              <a:gd name="connsiteX26" fmla="*/ 3730309 w 12192000"/>
              <a:gd name="connsiteY26" fmla="*/ 2251182 h 2347414"/>
              <a:gd name="connsiteX27" fmla="*/ 3425496 w 12192000"/>
              <a:gd name="connsiteY27" fmla="*/ 2231320 h 2347414"/>
              <a:gd name="connsiteX28" fmla="*/ 3076106 w 12192000"/>
              <a:gd name="connsiteY28" fmla="*/ 2201781 h 2347414"/>
              <a:gd name="connsiteX29" fmla="*/ 2819682 w 12192000"/>
              <a:gd name="connsiteY29" fmla="*/ 2182427 h 2347414"/>
              <a:gd name="connsiteX30" fmla="*/ 2525539 w 12192000"/>
              <a:gd name="connsiteY30" fmla="*/ 2152888 h 2347414"/>
              <a:gd name="connsiteX31" fmla="*/ 2311915 w 12192000"/>
              <a:gd name="connsiteY31" fmla="*/ 2133536 h 2347414"/>
              <a:gd name="connsiteX32" fmla="*/ 2054223 w 12192000"/>
              <a:gd name="connsiteY32" fmla="*/ 2104760 h 2347414"/>
              <a:gd name="connsiteX33" fmla="*/ 1865367 w 12192000"/>
              <a:gd name="connsiteY33" fmla="*/ 2084770 h 2347414"/>
              <a:gd name="connsiteX34" fmla="*/ 1629263 w 12192000"/>
              <a:gd name="connsiteY34" fmla="*/ 2055996 h 2347414"/>
              <a:gd name="connsiteX35" fmla="*/ 1458823 w 12192000"/>
              <a:gd name="connsiteY35" fmla="*/ 2035751 h 2347414"/>
              <a:gd name="connsiteX36" fmla="*/ 1241390 w 12192000"/>
              <a:gd name="connsiteY36" fmla="*/ 2007103 h 2347414"/>
              <a:gd name="connsiteX37" fmla="*/ 1047453 w 12192000"/>
              <a:gd name="connsiteY37" fmla="*/ 1980748 h 2347414"/>
              <a:gd name="connsiteX38" fmla="*/ 814907 w 12192000"/>
              <a:gd name="connsiteY38" fmla="*/ 1949045 h 2347414"/>
              <a:gd name="connsiteX39" fmla="*/ 592649 w 12192000"/>
              <a:gd name="connsiteY39" fmla="*/ 1913776 h 2347414"/>
              <a:gd name="connsiteX40" fmla="*/ 343591 w 12192000"/>
              <a:gd name="connsiteY40" fmla="*/ 1872650 h 2347414"/>
              <a:gd name="connsiteX41" fmla="*/ 35731 w 12192000"/>
              <a:gd name="connsiteY41" fmla="*/ 1821722 h 2347414"/>
              <a:gd name="connsiteX42" fmla="*/ 0 w 12192000"/>
              <a:gd name="connsiteY42" fmla="*/ 1814848 h 2347414"/>
              <a:gd name="connsiteX43" fmla="*/ 0 w 12192000"/>
              <a:gd name="connsiteY43" fmla="*/ 1758489 h 2347414"/>
              <a:gd name="connsiteX44" fmla="*/ 274248 w 12192000"/>
              <a:gd name="connsiteY44" fmla="*/ 1808735 h 2347414"/>
              <a:gd name="connsiteX45" fmla="*/ 498157 w 12192000"/>
              <a:gd name="connsiteY45" fmla="*/ 1846167 h 2347414"/>
              <a:gd name="connsiteX46" fmla="*/ 722828 w 12192000"/>
              <a:gd name="connsiteY46" fmla="*/ 1878635 h 2347414"/>
              <a:gd name="connsiteX47" fmla="*/ 949913 w 12192000"/>
              <a:gd name="connsiteY47" fmla="*/ 1912375 h 2347414"/>
              <a:gd name="connsiteX48" fmla="*/ 1195414 w 12192000"/>
              <a:gd name="connsiteY48" fmla="*/ 1947516 h 2347414"/>
              <a:gd name="connsiteX49" fmla="*/ 1342867 w 12192000"/>
              <a:gd name="connsiteY49" fmla="*/ 1968397 h 2347414"/>
              <a:gd name="connsiteX50" fmla="*/ 1518007 w 12192000"/>
              <a:gd name="connsiteY50" fmla="*/ 1988006 h 2347414"/>
              <a:gd name="connsiteX51" fmla="*/ 1701403 w 12192000"/>
              <a:gd name="connsiteY51" fmla="*/ 2010669 h 2347414"/>
              <a:gd name="connsiteX52" fmla="*/ 1879210 w 12192000"/>
              <a:gd name="connsiteY52" fmla="*/ 2031167 h 2347414"/>
              <a:gd name="connsiteX53" fmla="*/ 2068702 w 12192000"/>
              <a:gd name="connsiteY53" fmla="*/ 2052940 h 2347414"/>
              <a:gd name="connsiteX54" fmla="*/ 2212090 w 12192000"/>
              <a:gd name="connsiteY54" fmla="*/ 2067583 h 2347414"/>
              <a:gd name="connsiteX55" fmla="*/ 2416949 w 12192000"/>
              <a:gd name="connsiteY55" fmla="*/ 2089609 h 2347414"/>
              <a:gd name="connsiteX56" fmla="*/ 2582055 w 12192000"/>
              <a:gd name="connsiteY56" fmla="*/ 2105397 h 2347414"/>
              <a:gd name="connsiteX57" fmla="*/ 2802282 w 12192000"/>
              <a:gd name="connsiteY57" fmla="*/ 2126405 h 2347414"/>
              <a:gd name="connsiteX58" fmla="*/ 2984916 w 12192000"/>
              <a:gd name="connsiteY58" fmla="*/ 2141684 h 2347414"/>
              <a:gd name="connsiteX59" fmla="*/ 3241847 w 12192000"/>
              <a:gd name="connsiteY59" fmla="*/ 2164094 h 2347414"/>
              <a:gd name="connsiteX60" fmla="*/ 3439848 w 12192000"/>
              <a:gd name="connsiteY60" fmla="*/ 2176826 h 2347414"/>
              <a:gd name="connsiteX61" fmla="*/ 3658678 w 12192000"/>
              <a:gd name="connsiteY61" fmla="*/ 2194523 h 2347414"/>
              <a:gd name="connsiteX62" fmla="*/ 3881317 w 12192000"/>
              <a:gd name="connsiteY62" fmla="*/ 2206491 h 2347414"/>
              <a:gd name="connsiteX63" fmla="*/ 4148916 w 12192000"/>
              <a:gd name="connsiteY63" fmla="*/ 2225081 h 2347414"/>
              <a:gd name="connsiteX64" fmla="*/ 4468337 w 12192000"/>
              <a:gd name="connsiteY64" fmla="*/ 2237813 h 2347414"/>
              <a:gd name="connsiteX65" fmla="*/ 4605375 w 12192000"/>
              <a:gd name="connsiteY65" fmla="*/ 2240232 h 2347414"/>
              <a:gd name="connsiteX66" fmla="*/ 4527647 w 12192000"/>
              <a:gd name="connsiteY66" fmla="*/ 2236412 h 2347414"/>
              <a:gd name="connsiteX67" fmla="*/ 4175589 w 12192000"/>
              <a:gd name="connsiteY67" fmla="*/ 2212985 h 2347414"/>
              <a:gd name="connsiteX68" fmla="*/ 3988255 w 12192000"/>
              <a:gd name="connsiteY68" fmla="*/ 2200253 h 2347414"/>
              <a:gd name="connsiteX69" fmla="*/ 3686492 w 12192000"/>
              <a:gd name="connsiteY69" fmla="*/ 2176062 h 2347414"/>
              <a:gd name="connsiteX70" fmla="*/ 3517320 w 12192000"/>
              <a:gd name="connsiteY70" fmla="*/ 2163330 h 2347414"/>
              <a:gd name="connsiteX71" fmla="*/ 3258357 w 12192000"/>
              <a:gd name="connsiteY71" fmla="*/ 2139519 h 2347414"/>
              <a:gd name="connsiteX72" fmla="*/ 3101506 w 12192000"/>
              <a:gd name="connsiteY72" fmla="*/ 2126787 h 2347414"/>
              <a:gd name="connsiteX73" fmla="*/ 2809395 w 12192000"/>
              <a:gd name="connsiteY73" fmla="*/ 2097502 h 2347414"/>
              <a:gd name="connsiteX74" fmla="*/ 2598566 w 12192000"/>
              <a:gd name="connsiteY74" fmla="*/ 2078532 h 2347414"/>
              <a:gd name="connsiteX75" fmla="*/ 2337444 w 12192000"/>
              <a:gd name="connsiteY75" fmla="*/ 2048611 h 2347414"/>
              <a:gd name="connsiteX76" fmla="*/ 2091054 w 12192000"/>
              <a:gd name="connsiteY76" fmla="*/ 2023146 h 2347414"/>
              <a:gd name="connsiteX77" fmla="*/ 1755761 w 12192000"/>
              <a:gd name="connsiteY77" fmla="*/ 1981384 h 2347414"/>
              <a:gd name="connsiteX78" fmla="*/ 1441169 w 12192000"/>
              <a:gd name="connsiteY78" fmla="*/ 1943824 h 2347414"/>
              <a:gd name="connsiteX79" fmla="*/ 1017607 w 12192000"/>
              <a:gd name="connsiteY79" fmla="*/ 1883345 h 2347414"/>
              <a:gd name="connsiteX80" fmla="*/ 594427 w 12192000"/>
              <a:gd name="connsiteY80" fmla="*/ 1821849 h 2347414"/>
              <a:gd name="connsiteX81" fmla="*/ 200711 w 12192000"/>
              <a:gd name="connsiteY81" fmla="*/ 1755132 h 2347414"/>
              <a:gd name="connsiteX82" fmla="*/ 0 w 12192000"/>
              <a:gd name="connsiteY82" fmla="*/ 1718743 h 23474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12192000" h="2347414">
                <a:moveTo>
                  <a:pt x="0" y="0"/>
                </a:moveTo>
                <a:lnTo>
                  <a:pt x="12192000" y="0"/>
                </a:lnTo>
                <a:lnTo>
                  <a:pt x="12192000" y="1736458"/>
                </a:lnTo>
                <a:lnTo>
                  <a:pt x="11967601" y="1784034"/>
                </a:lnTo>
                <a:cubicBezTo>
                  <a:pt x="11589888" y="1859409"/>
                  <a:pt x="11209762" y="1923961"/>
                  <a:pt x="10829000" y="1983294"/>
                </a:cubicBezTo>
                <a:lnTo>
                  <a:pt x="10743779" y="1996027"/>
                </a:lnTo>
                <a:cubicBezTo>
                  <a:pt x="10772495" y="1996778"/>
                  <a:pt x="10801211" y="1993989"/>
                  <a:pt x="10829254" y="1987751"/>
                </a:cubicBezTo>
                <a:cubicBezTo>
                  <a:pt x="10835198" y="1988337"/>
                  <a:pt x="10841180" y="1988553"/>
                  <a:pt x="10847162" y="1988388"/>
                </a:cubicBezTo>
                <a:cubicBezTo>
                  <a:pt x="11090123" y="1968907"/>
                  <a:pt x="11332703" y="1945734"/>
                  <a:pt x="11575155" y="1921415"/>
                </a:cubicBezTo>
                <a:lnTo>
                  <a:pt x="12192000" y="1851213"/>
                </a:lnTo>
                <a:lnTo>
                  <a:pt x="12192000" y="1907356"/>
                </a:lnTo>
                <a:lnTo>
                  <a:pt x="12035532" y="1927033"/>
                </a:lnTo>
                <a:cubicBezTo>
                  <a:pt x="11882793" y="1944747"/>
                  <a:pt x="11729910" y="1961077"/>
                  <a:pt x="11576932" y="1976291"/>
                </a:cubicBezTo>
                <a:cubicBezTo>
                  <a:pt x="11260690" y="2008122"/>
                  <a:pt x="10944193" y="2037279"/>
                  <a:pt x="10627316" y="2061470"/>
                </a:cubicBezTo>
                <a:cubicBezTo>
                  <a:pt x="10352985" y="2082351"/>
                  <a:pt x="10078401" y="2100431"/>
                  <a:pt x="9804196" y="2123478"/>
                </a:cubicBezTo>
                <a:cubicBezTo>
                  <a:pt x="9617118" y="2139137"/>
                  <a:pt x="9430675" y="2161674"/>
                  <a:pt x="9243851" y="2180008"/>
                </a:cubicBezTo>
                <a:cubicBezTo>
                  <a:pt x="9073157" y="2196433"/>
                  <a:pt x="8902207" y="2211966"/>
                  <a:pt x="8731259" y="2225081"/>
                </a:cubicBezTo>
                <a:cubicBezTo>
                  <a:pt x="8509507" y="2242054"/>
                  <a:pt x="8287667" y="2257586"/>
                  <a:pt x="8065752" y="2271681"/>
                </a:cubicBezTo>
                <a:cubicBezTo>
                  <a:pt x="7929984" y="2280466"/>
                  <a:pt x="7793961" y="2285814"/>
                  <a:pt x="7658065" y="2292562"/>
                </a:cubicBezTo>
                <a:cubicBezTo>
                  <a:pt x="7282640" y="2311661"/>
                  <a:pt x="6906704" y="2314208"/>
                  <a:pt x="6531024" y="2324138"/>
                </a:cubicBezTo>
                <a:cubicBezTo>
                  <a:pt x="6413417" y="2327322"/>
                  <a:pt x="6295937" y="2338399"/>
                  <a:pt x="6178331" y="2345655"/>
                </a:cubicBezTo>
                <a:cubicBezTo>
                  <a:pt x="6111271" y="2349730"/>
                  <a:pt x="6044342" y="2345655"/>
                  <a:pt x="5977282" y="2344127"/>
                </a:cubicBezTo>
                <a:cubicBezTo>
                  <a:pt x="5774073" y="2338908"/>
                  <a:pt x="5570866" y="2334960"/>
                  <a:pt x="5367658" y="2329230"/>
                </a:cubicBezTo>
                <a:cubicBezTo>
                  <a:pt x="5040746" y="2319809"/>
                  <a:pt x="4713963" y="2306274"/>
                  <a:pt x="4387306" y="2288614"/>
                </a:cubicBezTo>
                <a:cubicBezTo>
                  <a:pt x="4318342" y="2284796"/>
                  <a:pt x="4249253" y="2284286"/>
                  <a:pt x="4180287" y="2280211"/>
                </a:cubicBezTo>
                <a:cubicBezTo>
                  <a:pt x="4067634" y="2273463"/>
                  <a:pt x="3954980" y="2265060"/>
                  <a:pt x="3842199" y="2257039"/>
                </a:cubicBezTo>
                <a:cubicBezTo>
                  <a:pt x="3804988" y="2254492"/>
                  <a:pt x="3767648" y="2254620"/>
                  <a:pt x="3730309" y="2251182"/>
                </a:cubicBezTo>
                <a:cubicBezTo>
                  <a:pt x="3628704" y="2242142"/>
                  <a:pt x="3527101" y="2238449"/>
                  <a:pt x="3425496" y="2231320"/>
                </a:cubicBezTo>
                <a:cubicBezTo>
                  <a:pt x="3308906" y="2222534"/>
                  <a:pt x="3192569" y="2211330"/>
                  <a:pt x="3076106" y="2201781"/>
                </a:cubicBezTo>
                <a:cubicBezTo>
                  <a:pt x="2990757" y="2194905"/>
                  <a:pt x="2905157" y="2190067"/>
                  <a:pt x="2819682" y="2182427"/>
                </a:cubicBezTo>
                <a:cubicBezTo>
                  <a:pt x="2721507" y="2173515"/>
                  <a:pt x="2623586" y="2162311"/>
                  <a:pt x="2525539" y="2152888"/>
                </a:cubicBezTo>
                <a:cubicBezTo>
                  <a:pt x="2454289" y="2145886"/>
                  <a:pt x="2383038" y="2140920"/>
                  <a:pt x="2311915" y="2133536"/>
                </a:cubicBezTo>
                <a:cubicBezTo>
                  <a:pt x="2225933" y="2124749"/>
                  <a:pt x="2140204" y="2114182"/>
                  <a:pt x="2054223" y="2104760"/>
                </a:cubicBezTo>
                <a:cubicBezTo>
                  <a:pt x="1990719" y="2097758"/>
                  <a:pt x="1928233" y="2092028"/>
                  <a:pt x="1865367" y="2084770"/>
                </a:cubicBezTo>
                <a:cubicBezTo>
                  <a:pt x="1786622" y="2075603"/>
                  <a:pt x="1708006" y="2065545"/>
                  <a:pt x="1629263" y="2055996"/>
                </a:cubicBezTo>
                <a:cubicBezTo>
                  <a:pt x="1572492" y="2049120"/>
                  <a:pt x="1515595" y="2043264"/>
                  <a:pt x="1458823" y="2035751"/>
                </a:cubicBezTo>
                <a:cubicBezTo>
                  <a:pt x="1386303" y="2026585"/>
                  <a:pt x="1313784" y="2016780"/>
                  <a:pt x="1241390" y="2007103"/>
                </a:cubicBezTo>
                <a:lnTo>
                  <a:pt x="1047453" y="1980748"/>
                </a:lnTo>
                <a:cubicBezTo>
                  <a:pt x="969980" y="1970180"/>
                  <a:pt x="892254" y="1960377"/>
                  <a:pt x="814907" y="1949045"/>
                </a:cubicBezTo>
                <a:cubicBezTo>
                  <a:pt x="740609" y="1938094"/>
                  <a:pt x="666692" y="1925744"/>
                  <a:pt x="592649" y="1913776"/>
                </a:cubicBezTo>
                <a:cubicBezTo>
                  <a:pt x="509587" y="1900280"/>
                  <a:pt x="426653" y="1886274"/>
                  <a:pt x="343591" y="1872650"/>
                </a:cubicBezTo>
                <a:cubicBezTo>
                  <a:pt x="240972" y="1855716"/>
                  <a:pt x="138225" y="1839673"/>
                  <a:pt x="35731" y="1821722"/>
                </a:cubicBezTo>
                <a:lnTo>
                  <a:pt x="0" y="1814848"/>
                </a:lnTo>
                <a:lnTo>
                  <a:pt x="0" y="1758489"/>
                </a:lnTo>
                <a:lnTo>
                  <a:pt x="274248" y="1808735"/>
                </a:lnTo>
                <a:cubicBezTo>
                  <a:pt x="348926" y="1821467"/>
                  <a:pt x="423604" y="1832798"/>
                  <a:pt x="498157" y="1846167"/>
                </a:cubicBezTo>
                <a:cubicBezTo>
                  <a:pt x="572708" y="1859536"/>
                  <a:pt x="647896" y="1867813"/>
                  <a:pt x="722828" y="1878635"/>
                </a:cubicBezTo>
                <a:cubicBezTo>
                  <a:pt x="797762" y="1889457"/>
                  <a:pt x="874219" y="1901426"/>
                  <a:pt x="949913" y="1912375"/>
                </a:cubicBezTo>
                <a:cubicBezTo>
                  <a:pt x="1031704" y="1924343"/>
                  <a:pt x="1113496" y="1935802"/>
                  <a:pt x="1195414" y="1947516"/>
                </a:cubicBezTo>
                <a:cubicBezTo>
                  <a:pt x="1244566" y="1954519"/>
                  <a:pt x="1293589" y="1962285"/>
                  <a:pt x="1342867" y="1968397"/>
                </a:cubicBezTo>
                <a:cubicBezTo>
                  <a:pt x="1401162" y="1975656"/>
                  <a:pt x="1459712" y="1981130"/>
                  <a:pt x="1518007" y="1988006"/>
                </a:cubicBezTo>
                <a:cubicBezTo>
                  <a:pt x="1579224" y="1995263"/>
                  <a:pt x="1640186" y="2003411"/>
                  <a:pt x="1701403" y="2010669"/>
                </a:cubicBezTo>
                <a:cubicBezTo>
                  <a:pt x="1762618" y="2017926"/>
                  <a:pt x="1820279" y="2024292"/>
                  <a:pt x="1879210" y="2031167"/>
                </a:cubicBezTo>
                <a:cubicBezTo>
                  <a:pt x="1942712" y="2038425"/>
                  <a:pt x="2006214" y="2046064"/>
                  <a:pt x="2068702" y="2052940"/>
                </a:cubicBezTo>
                <a:cubicBezTo>
                  <a:pt x="2116455" y="2058160"/>
                  <a:pt x="2164335" y="2062362"/>
                  <a:pt x="2212090" y="2067583"/>
                </a:cubicBezTo>
                <a:cubicBezTo>
                  <a:pt x="2280419" y="2074967"/>
                  <a:pt x="2348493" y="2085152"/>
                  <a:pt x="2416949" y="2089609"/>
                </a:cubicBezTo>
                <a:cubicBezTo>
                  <a:pt x="2472070" y="2093302"/>
                  <a:pt x="2526936" y="2099540"/>
                  <a:pt x="2582055" y="2105397"/>
                </a:cubicBezTo>
                <a:cubicBezTo>
                  <a:pt x="2655337" y="2113291"/>
                  <a:pt x="2729001" y="2119785"/>
                  <a:pt x="2802282" y="2126405"/>
                </a:cubicBezTo>
                <a:cubicBezTo>
                  <a:pt x="2862991" y="2131753"/>
                  <a:pt x="2924207" y="2136337"/>
                  <a:pt x="2984916" y="2141684"/>
                </a:cubicBezTo>
                <a:cubicBezTo>
                  <a:pt x="3070516" y="2149324"/>
                  <a:pt x="3156373" y="2152888"/>
                  <a:pt x="3241847" y="2164094"/>
                </a:cubicBezTo>
                <a:cubicBezTo>
                  <a:pt x="3307255" y="2172624"/>
                  <a:pt x="3374060" y="2169822"/>
                  <a:pt x="3439848" y="2176826"/>
                </a:cubicBezTo>
                <a:cubicBezTo>
                  <a:pt x="3512622" y="2184592"/>
                  <a:pt x="3585777" y="2186247"/>
                  <a:pt x="3658678" y="2194523"/>
                </a:cubicBezTo>
                <a:cubicBezTo>
                  <a:pt x="3731578" y="2202800"/>
                  <a:pt x="3807019" y="2201781"/>
                  <a:pt x="3881317" y="2206491"/>
                </a:cubicBezTo>
                <a:cubicBezTo>
                  <a:pt x="3970222" y="2212094"/>
                  <a:pt x="4059124" y="2223552"/>
                  <a:pt x="4148916" y="2225081"/>
                </a:cubicBezTo>
                <a:cubicBezTo>
                  <a:pt x="4255600" y="2226736"/>
                  <a:pt x="4361779" y="2236539"/>
                  <a:pt x="4468337" y="2237813"/>
                </a:cubicBezTo>
                <a:cubicBezTo>
                  <a:pt x="4511390" y="2238577"/>
                  <a:pt x="4554190" y="2246852"/>
                  <a:pt x="4605375" y="2240232"/>
                </a:cubicBezTo>
                <a:cubicBezTo>
                  <a:pt x="4574131" y="2238704"/>
                  <a:pt x="4550762" y="2237940"/>
                  <a:pt x="4527647" y="2236412"/>
                </a:cubicBezTo>
                <a:cubicBezTo>
                  <a:pt x="4410293" y="2228773"/>
                  <a:pt x="4292942" y="2220751"/>
                  <a:pt x="4175589" y="2212985"/>
                </a:cubicBezTo>
                <a:cubicBezTo>
                  <a:pt x="4113101" y="2208783"/>
                  <a:pt x="4050615" y="2205219"/>
                  <a:pt x="3988255" y="2200253"/>
                </a:cubicBezTo>
                <a:cubicBezTo>
                  <a:pt x="3887668" y="2192487"/>
                  <a:pt x="3787079" y="2184082"/>
                  <a:pt x="3686492" y="2176062"/>
                </a:cubicBezTo>
                <a:cubicBezTo>
                  <a:pt x="3630102" y="2171605"/>
                  <a:pt x="3573711" y="2168040"/>
                  <a:pt x="3517320" y="2163330"/>
                </a:cubicBezTo>
                <a:cubicBezTo>
                  <a:pt x="3430958" y="2155689"/>
                  <a:pt x="3344721" y="2147159"/>
                  <a:pt x="3258357" y="2139519"/>
                </a:cubicBezTo>
                <a:cubicBezTo>
                  <a:pt x="3206031" y="2134809"/>
                  <a:pt x="3153705" y="2131371"/>
                  <a:pt x="3101506" y="2126787"/>
                </a:cubicBezTo>
                <a:cubicBezTo>
                  <a:pt x="3004220" y="2117365"/>
                  <a:pt x="2907061" y="2106798"/>
                  <a:pt x="2809395" y="2097502"/>
                </a:cubicBezTo>
                <a:cubicBezTo>
                  <a:pt x="2739161" y="2090628"/>
                  <a:pt x="2668673" y="2085916"/>
                  <a:pt x="2598566" y="2078532"/>
                </a:cubicBezTo>
                <a:cubicBezTo>
                  <a:pt x="2511441" y="2069365"/>
                  <a:pt x="2424569" y="2058160"/>
                  <a:pt x="2337444" y="2048611"/>
                </a:cubicBezTo>
                <a:cubicBezTo>
                  <a:pt x="2255399" y="2039699"/>
                  <a:pt x="2173099" y="2032950"/>
                  <a:pt x="2091054" y="2023146"/>
                </a:cubicBezTo>
                <a:cubicBezTo>
                  <a:pt x="1979162" y="2010414"/>
                  <a:pt x="1867524" y="1995008"/>
                  <a:pt x="1755761" y="1981384"/>
                </a:cubicBezTo>
                <a:cubicBezTo>
                  <a:pt x="1650982" y="1968652"/>
                  <a:pt x="1545821" y="1957830"/>
                  <a:pt x="1441169" y="1943824"/>
                </a:cubicBezTo>
                <a:cubicBezTo>
                  <a:pt x="1299813" y="1924980"/>
                  <a:pt x="1158837" y="1903718"/>
                  <a:pt x="1017607" y="1883345"/>
                </a:cubicBezTo>
                <a:cubicBezTo>
                  <a:pt x="876378" y="1862974"/>
                  <a:pt x="735402" y="1844003"/>
                  <a:pt x="594427" y="1821849"/>
                </a:cubicBezTo>
                <a:cubicBezTo>
                  <a:pt x="462850" y="1801222"/>
                  <a:pt x="331526" y="1778304"/>
                  <a:pt x="200711" y="1755132"/>
                </a:cubicBezTo>
                <a:lnTo>
                  <a:pt x="0" y="1718743"/>
                </a:lnTo>
                <a:close/>
              </a:path>
            </a:pathLst>
          </a:custGeom>
          <a:solidFill>
            <a:schemeClr val="accent2"/>
          </a:solidFill>
          <a:ln w="8199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838200" y="401221"/>
            <a:ext cx="10515600" cy="1348065"/>
          </a:xfrm>
        </p:spPr>
        <p:txBody>
          <a:bodyPr>
            <a:normAutofit fontScale="90000"/>
          </a:bodyPr>
          <a:lstStyle/>
          <a:p>
            <a:r>
              <a:rPr lang="tr-TR" sz="5000" b="1">
                <a:solidFill>
                  <a:srgbClr val="FFFFFF"/>
                </a:solidFill>
                <a:latin typeface="Aptos"/>
              </a:rPr>
              <a:t>Kapalı Alanlarda Çalışmalarda İSG</a:t>
            </a:r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838200" y="2586789"/>
            <a:ext cx="10515600" cy="359017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tr-TR" sz="2000" u="sng" dirty="0">
                <a:latin typeface="Aptos"/>
              </a:rPr>
              <a:t>Kapalı alan</a:t>
            </a:r>
            <a:r>
              <a:rPr lang="tr-TR" sz="2000" dirty="0">
                <a:latin typeface="Aptos"/>
              </a:rPr>
              <a:t>; </a:t>
            </a:r>
          </a:p>
          <a:p>
            <a:pPr marL="0" indent="0">
              <a:buNone/>
            </a:pPr>
            <a:endParaRPr lang="tr-TR" sz="2000" dirty="0">
              <a:latin typeface="Aptos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tr-TR" sz="2000" b="1" dirty="0">
                <a:latin typeface="Aptos"/>
              </a:rPr>
              <a:t>Sürekli çalışmaya </a:t>
            </a:r>
            <a:r>
              <a:rPr lang="tr-TR" sz="2000" dirty="0">
                <a:latin typeface="Aptos"/>
              </a:rPr>
              <a:t>uygun olmayan,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tr-TR" sz="2000" dirty="0">
                <a:latin typeface="Aptos"/>
              </a:rPr>
              <a:t>Giriş ve çıkışları </a:t>
            </a:r>
            <a:r>
              <a:rPr lang="tr-TR" sz="2000" b="1" dirty="0">
                <a:latin typeface="Aptos"/>
              </a:rPr>
              <a:t>sınırlı</a:t>
            </a:r>
            <a:r>
              <a:rPr lang="tr-TR" sz="2000" dirty="0">
                <a:latin typeface="Aptos"/>
              </a:rPr>
              <a:t>,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tr-TR" sz="2000" dirty="0">
                <a:latin typeface="Aptos"/>
              </a:rPr>
              <a:t>Doğal </a:t>
            </a:r>
            <a:r>
              <a:rPr lang="tr-TR" sz="2000" b="1" dirty="0">
                <a:latin typeface="Aptos"/>
              </a:rPr>
              <a:t>havalandırması yetersiz</a:t>
            </a:r>
            <a:r>
              <a:rPr lang="tr-TR" sz="2000" dirty="0">
                <a:latin typeface="Aptos"/>
              </a:rPr>
              <a:t>,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tr-TR" sz="2000" dirty="0">
                <a:latin typeface="Aptos"/>
              </a:rPr>
              <a:t>İnsanların sürekli olarak </a:t>
            </a:r>
            <a:r>
              <a:rPr lang="tr-TR" sz="2000" b="1" dirty="0">
                <a:latin typeface="Aptos"/>
              </a:rPr>
              <a:t>bulunamayacağı büyüklükte</a:t>
            </a:r>
            <a:r>
              <a:rPr lang="tr-TR" sz="2000" dirty="0">
                <a:latin typeface="Aptos"/>
              </a:rPr>
              <a:t>,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tr-TR" sz="2000" dirty="0">
                <a:latin typeface="Aptos"/>
              </a:rPr>
              <a:t>İçerisinde </a:t>
            </a:r>
            <a:r>
              <a:rPr lang="tr-TR" sz="2000" b="1" dirty="0">
                <a:latin typeface="Aptos"/>
              </a:rPr>
              <a:t>sınırlı miktarda hava </a:t>
            </a:r>
            <a:r>
              <a:rPr lang="tr-TR" sz="2000" dirty="0">
                <a:latin typeface="Aptos"/>
              </a:rPr>
              <a:t>olan,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tr-TR" sz="2000" dirty="0">
                <a:latin typeface="Aptos"/>
              </a:rPr>
              <a:t>Çalışanlar için ciddi </a:t>
            </a:r>
            <a:r>
              <a:rPr lang="tr-TR" sz="2000" b="1" dirty="0">
                <a:latin typeface="Aptos"/>
              </a:rPr>
              <a:t>sağlık ve güvenlik riskleri </a:t>
            </a:r>
            <a:r>
              <a:rPr lang="tr-TR" sz="2000" dirty="0">
                <a:latin typeface="Aptos"/>
              </a:rPr>
              <a:t>barındırabilen çalışma alanları olarak tanımlanmaktadır</a:t>
            </a:r>
            <a:r>
              <a:rPr lang="tr-TR" sz="20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176224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8D1AA55E-40D5-461B-A5A8-4AE8AAB71B08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838200" y="698643"/>
            <a:ext cx="5243394" cy="2225532"/>
          </a:xfrm>
        </p:spPr>
        <p:txBody>
          <a:bodyPr anchor="t">
            <a:normAutofit/>
          </a:bodyPr>
          <a:lstStyle/>
          <a:p>
            <a:r>
              <a:rPr lang="tr-TR" b="1" dirty="0">
                <a:latin typeface="Aptos"/>
              </a:rPr>
              <a:t>Kapalı alanlar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23622" y="381934"/>
            <a:ext cx="0" cy="6476066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13">
            <a:extLst>
              <a:ext uri="{FF2B5EF4-FFF2-40B4-BE49-F238E27FC236}">
                <a16:creationId xmlns:a16="http://schemas.microsoft.com/office/drawing/2014/main" id="{0FE0E4CA-04FD-4712-9979-0D4FACCA607F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110408" y="740316"/>
            <a:ext cx="465458" cy="872153"/>
            <a:chOff x="6110408" y="740316"/>
            <a:chExt cx="465458" cy="872153"/>
          </a:xfrm>
        </p:grpSpPr>
        <p:sp>
          <p:nvSpPr>
            <p:cNvPr id="15" name="Graphic 11">
              <a:extLst>
                <a:ext uri="{FF2B5EF4-FFF2-40B4-BE49-F238E27FC236}">
                  <a16:creationId xmlns:a16="http://schemas.microsoft.com/office/drawing/2014/main" id="{6CB927A4-E432-4310-9CD5-E89FF5063179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5948" y="740316"/>
              <a:ext cx="139039" cy="139039"/>
            </a:xfrm>
            <a:custGeom>
              <a:avLst/>
              <a:gdLst>
                <a:gd name="connsiteX0" fmla="*/ 129602 w 139039"/>
                <a:gd name="connsiteY0" fmla="*/ 60082 h 139039"/>
                <a:gd name="connsiteX1" fmla="*/ 78957 w 139039"/>
                <a:gd name="connsiteY1" fmla="*/ 60082 h 139039"/>
                <a:gd name="connsiteX2" fmla="*/ 78957 w 139039"/>
                <a:gd name="connsiteY2" fmla="*/ 9437 h 139039"/>
                <a:gd name="connsiteX3" fmla="*/ 69520 w 139039"/>
                <a:gd name="connsiteY3" fmla="*/ 0 h 139039"/>
                <a:gd name="connsiteX4" fmla="*/ 60082 w 139039"/>
                <a:gd name="connsiteY4" fmla="*/ 9437 h 139039"/>
                <a:gd name="connsiteX5" fmla="*/ 60082 w 139039"/>
                <a:gd name="connsiteY5" fmla="*/ 60082 h 139039"/>
                <a:gd name="connsiteX6" fmla="*/ 9437 w 139039"/>
                <a:gd name="connsiteY6" fmla="*/ 60082 h 139039"/>
                <a:gd name="connsiteX7" fmla="*/ 0 w 139039"/>
                <a:gd name="connsiteY7" fmla="*/ 69520 h 139039"/>
                <a:gd name="connsiteX8" fmla="*/ 9437 w 139039"/>
                <a:gd name="connsiteY8" fmla="*/ 78957 h 139039"/>
                <a:gd name="connsiteX9" fmla="*/ 60082 w 139039"/>
                <a:gd name="connsiteY9" fmla="*/ 78957 h 139039"/>
                <a:gd name="connsiteX10" fmla="*/ 60082 w 139039"/>
                <a:gd name="connsiteY10" fmla="*/ 129602 h 139039"/>
                <a:gd name="connsiteX11" fmla="*/ 69520 w 139039"/>
                <a:gd name="connsiteY11" fmla="*/ 139039 h 139039"/>
                <a:gd name="connsiteX12" fmla="*/ 78957 w 139039"/>
                <a:gd name="connsiteY12" fmla="*/ 129602 h 139039"/>
                <a:gd name="connsiteX13" fmla="*/ 78957 w 139039"/>
                <a:gd name="connsiteY13" fmla="*/ 78957 h 139039"/>
                <a:gd name="connsiteX14" fmla="*/ 129602 w 139039"/>
                <a:gd name="connsiteY14" fmla="*/ 78957 h 139039"/>
                <a:gd name="connsiteX15" fmla="*/ 139039 w 139039"/>
                <a:gd name="connsiteY15" fmla="*/ 69520 h 139039"/>
                <a:gd name="connsiteX16" fmla="*/ 129602 w 139039"/>
                <a:gd name="connsiteY16" fmla="*/ 60082 h 1390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9" h="139039">
                  <a:moveTo>
                    <a:pt x="129602" y="60082"/>
                  </a:moveTo>
                  <a:lnTo>
                    <a:pt x="78957" y="60082"/>
                  </a:lnTo>
                  <a:lnTo>
                    <a:pt x="78957" y="9437"/>
                  </a:lnTo>
                  <a:cubicBezTo>
                    <a:pt x="78957" y="4225"/>
                    <a:pt x="74731" y="0"/>
                    <a:pt x="69520" y="0"/>
                  </a:cubicBezTo>
                  <a:cubicBezTo>
                    <a:pt x="64308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8"/>
                    <a:pt x="0" y="69520"/>
                  </a:cubicBezTo>
                  <a:cubicBezTo>
                    <a:pt x="0" y="74731"/>
                    <a:pt x="4225" y="78957"/>
                    <a:pt x="9437" y="78957"/>
                  </a:cubicBezTo>
                  <a:lnTo>
                    <a:pt x="60082" y="78957"/>
                  </a:lnTo>
                  <a:lnTo>
                    <a:pt x="60082" y="129602"/>
                  </a:lnTo>
                  <a:cubicBezTo>
                    <a:pt x="60082" y="134814"/>
                    <a:pt x="64308" y="139039"/>
                    <a:pt x="69520" y="139039"/>
                  </a:cubicBezTo>
                  <a:cubicBezTo>
                    <a:pt x="74731" y="139039"/>
                    <a:pt x="78957" y="134814"/>
                    <a:pt x="78957" y="129602"/>
                  </a:cubicBezTo>
                  <a:lnTo>
                    <a:pt x="78957" y="78957"/>
                  </a:lnTo>
                  <a:lnTo>
                    <a:pt x="129602" y="78957"/>
                  </a:lnTo>
                  <a:cubicBezTo>
                    <a:pt x="134814" y="78957"/>
                    <a:pt x="139039" y="74731"/>
                    <a:pt x="139039" y="69520"/>
                  </a:cubicBezTo>
                  <a:cubicBezTo>
                    <a:pt x="139039" y="64308"/>
                    <a:pt x="134814" y="60082"/>
                    <a:pt x="129602" y="60082"/>
                  </a:cubicBezTo>
                  <a:close/>
                </a:path>
              </a:pathLst>
            </a:custGeom>
            <a:solidFill>
              <a:schemeClr val="accent2"/>
            </a:solidFill>
            <a:ln w="6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Graphic 10">
              <a:extLst>
                <a:ext uri="{FF2B5EF4-FFF2-40B4-BE49-F238E27FC236}">
                  <a16:creationId xmlns:a16="http://schemas.microsoft.com/office/drawing/2014/main" id="{E3020543-B24B-4EC4-8FFC-8DD88EEA91A8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84728" y="969611"/>
              <a:ext cx="91138" cy="91138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accent2"/>
            </a:solidFill>
            <a:ln w="4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Graphic 12">
              <a:extLst>
                <a:ext uri="{FF2B5EF4-FFF2-40B4-BE49-F238E27FC236}">
                  <a16:creationId xmlns:a16="http://schemas.microsoft.com/office/drawing/2014/main" id="{1453BF6C-B012-48B7-B4E8-6D7AC7C27D02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10408" y="1484755"/>
              <a:ext cx="127714" cy="127714"/>
            </a:xfrm>
            <a:custGeom>
              <a:avLst/>
              <a:gdLst>
                <a:gd name="connsiteX0" fmla="*/ 63857 w 127714"/>
                <a:gd name="connsiteY0" fmla="*/ 18874 h 127714"/>
                <a:gd name="connsiteX1" fmla="*/ 108840 w 127714"/>
                <a:gd name="connsiteY1" fmla="*/ 63857 h 127714"/>
                <a:gd name="connsiteX2" fmla="*/ 63857 w 127714"/>
                <a:gd name="connsiteY2" fmla="*/ 108840 h 127714"/>
                <a:gd name="connsiteX3" fmla="*/ 18874 w 127714"/>
                <a:gd name="connsiteY3" fmla="*/ 63857 h 127714"/>
                <a:gd name="connsiteX4" fmla="*/ 63857 w 127714"/>
                <a:gd name="connsiteY4" fmla="*/ 18874 h 127714"/>
                <a:gd name="connsiteX5" fmla="*/ 63857 w 127714"/>
                <a:gd name="connsiteY5" fmla="*/ 0 h 127714"/>
                <a:gd name="connsiteX6" fmla="*/ 0 w 127714"/>
                <a:gd name="connsiteY6" fmla="*/ 63857 h 127714"/>
                <a:gd name="connsiteX7" fmla="*/ 63857 w 127714"/>
                <a:gd name="connsiteY7" fmla="*/ 127714 h 127714"/>
                <a:gd name="connsiteX8" fmla="*/ 127714 w 127714"/>
                <a:gd name="connsiteY8" fmla="*/ 63857 h 127714"/>
                <a:gd name="connsiteX9" fmla="*/ 63857 w 127714"/>
                <a:gd name="connsiteY9" fmla="*/ 0 h 127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4" h="127714">
                  <a:moveTo>
                    <a:pt x="63857" y="18874"/>
                  </a:moveTo>
                  <a:cubicBezTo>
                    <a:pt x="88700" y="18874"/>
                    <a:pt x="108840" y="39014"/>
                    <a:pt x="108840" y="63857"/>
                  </a:cubicBezTo>
                  <a:cubicBezTo>
                    <a:pt x="108840" y="88700"/>
                    <a:pt x="88700" y="108840"/>
                    <a:pt x="63857" y="108840"/>
                  </a:cubicBezTo>
                  <a:cubicBezTo>
                    <a:pt x="39014" y="108840"/>
                    <a:pt x="18874" y="88700"/>
                    <a:pt x="18874" y="63857"/>
                  </a:cubicBezTo>
                  <a:cubicBezTo>
                    <a:pt x="18898" y="39024"/>
                    <a:pt x="39024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4"/>
                    <a:pt x="63857" y="127714"/>
                  </a:cubicBezTo>
                  <a:cubicBezTo>
                    <a:pt x="99124" y="127714"/>
                    <a:pt x="127714" y="99124"/>
                    <a:pt x="127714" y="63857"/>
                  </a:cubicBezTo>
                  <a:cubicBezTo>
                    <a:pt x="127714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accent2"/>
            </a:solidFill>
            <a:ln w="6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pic>
        <p:nvPicPr>
          <p:cNvPr id="5" name="Resim 4"/>
          <p:cNvPicPr>
            <a:picLocks noChangeAspect="1"/>
          </p:cNvPicPr>
          <p:nvPr/>
        </p:nvPicPr>
        <p:blipFill rotWithShape="1">
          <a:blip r:embed="rId2"/>
          <a:srcRect t="13016" r="-4" b="5861"/>
          <a:stretch>
            <a:fillRect/>
          </a:stretch>
        </p:blipFill>
        <p:spPr>
          <a:xfrm>
            <a:off x="751970" y="2338370"/>
            <a:ext cx="6348724" cy="3437704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2CA8D992-BB3F-47CD-BA18-71D54539202C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200" y="3000055"/>
            <a:ext cx="5243390" cy="2997970"/>
          </a:xfrm>
          <a:prstGeom prst="rect">
            <a:avLst/>
          </a:prstGeom>
          <a:gradFill flip="none" rotWithShape="1">
            <a:gsLst>
              <a:gs pos="100000">
                <a:schemeClr val="accent2">
                  <a:alpha val="20000"/>
                </a:schemeClr>
              </a:gs>
              <a:gs pos="0">
                <a:schemeClr val="accent1">
                  <a:alpha val="2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7583968" y="879355"/>
            <a:ext cx="4124758" cy="5120755"/>
          </a:xfrm>
        </p:spPr>
        <p:txBody>
          <a:bodyPr anchor="ctr">
            <a:normAutofit/>
          </a:bodyPr>
          <a:lstStyle/>
          <a:p>
            <a:pPr>
              <a:buClr>
                <a:srgbClr val="002060"/>
              </a:buClr>
              <a:buFont typeface="Wingdings" panose="05000000000000000000" pitchFamily="2" charset="2"/>
              <a:buChar char="Ø"/>
            </a:pPr>
            <a:r>
              <a:rPr lang="tr-TR" sz="2000" dirty="0">
                <a:solidFill>
                  <a:schemeClr val="tx1">
                    <a:alpha val="80000"/>
                  </a:schemeClr>
                </a:solidFill>
                <a:latin typeface="Aptos"/>
              </a:rPr>
              <a:t>Tanklar</a:t>
            </a:r>
          </a:p>
          <a:p>
            <a:pPr>
              <a:buClr>
                <a:srgbClr val="002060"/>
              </a:buClr>
              <a:buFont typeface="Wingdings" panose="05000000000000000000" pitchFamily="2" charset="2"/>
              <a:buChar char="Ø"/>
            </a:pPr>
            <a:r>
              <a:rPr lang="tr-TR" sz="2000" dirty="0">
                <a:solidFill>
                  <a:schemeClr val="tx1">
                    <a:alpha val="80000"/>
                  </a:schemeClr>
                </a:solidFill>
                <a:latin typeface="Aptos"/>
              </a:rPr>
              <a:t>Silolar</a:t>
            </a:r>
          </a:p>
          <a:p>
            <a:pPr>
              <a:buClr>
                <a:srgbClr val="002060"/>
              </a:buClr>
              <a:buFont typeface="Wingdings" panose="05000000000000000000" pitchFamily="2" charset="2"/>
              <a:buChar char="Ø"/>
            </a:pPr>
            <a:r>
              <a:rPr lang="tr-TR" sz="2000" dirty="0">
                <a:solidFill>
                  <a:schemeClr val="tx1">
                    <a:alpha val="80000"/>
                  </a:schemeClr>
                </a:solidFill>
                <a:latin typeface="Aptos"/>
              </a:rPr>
              <a:t>Menholler</a:t>
            </a:r>
          </a:p>
          <a:p>
            <a:pPr>
              <a:buClr>
                <a:srgbClr val="002060"/>
              </a:buClr>
              <a:buFont typeface="Wingdings" panose="05000000000000000000" pitchFamily="2" charset="2"/>
              <a:buChar char="Ø"/>
            </a:pPr>
            <a:r>
              <a:rPr lang="tr-TR" sz="2000" dirty="0">
                <a:solidFill>
                  <a:schemeClr val="tx1">
                    <a:alpha val="80000"/>
                  </a:schemeClr>
                </a:solidFill>
                <a:latin typeface="Aptos"/>
              </a:rPr>
              <a:t>Kanalizasyon hatları</a:t>
            </a:r>
          </a:p>
          <a:p>
            <a:pPr>
              <a:buClr>
                <a:srgbClr val="002060"/>
              </a:buClr>
              <a:buFont typeface="Wingdings" panose="05000000000000000000" pitchFamily="2" charset="2"/>
              <a:buChar char="Ø"/>
            </a:pPr>
            <a:r>
              <a:rPr lang="tr-TR" sz="2000" dirty="0">
                <a:solidFill>
                  <a:schemeClr val="tx1">
                    <a:alpha val="80000"/>
                  </a:schemeClr>
                </a:solidFill>
                <a:latin typeface="Aptos"/>
              </a:rPr>
              <a:t>Kuyular</a:t>
            </a:r>
          </a:p>
          <a:p>
            <a:pPr>
              <a:buClr>
                <a:srgbClr val="002060"/>
              </a:buClr>
              <a:buFont typeface="Wingdings" panose="05000000000000000000" pitchFamily="2" charset="2"/>
              <a:buChar char="Ø"/>
            </a:pPr>
            <a:r>
              <a:rPr lang="tr-TR" sz="2000" dirty="0">
                <a:solidFill>
                  <a:schemeClr val="tx1">
                    <a:alpha val="80000"/>
                  </a:schemeClr>
                </a:solidFill>
                <a:latin typeface="Aptos"/>
              </a:rPr>
              <a:t>Kazanlar</a:t>
            </a:r>
          </a:p>
          <a:p>
            <a:pPr>
              <a:buClr>
                <a:srgbClr val="002060"/>
              </a:buClr>
              <a:buFont typeface="Wingdings" panose="05000000000000000000" pitchFamily="2" charset="2"/>
              <a:buChar char="Ø"/>
            </a:pPr>
            <a:r>
              <a:rPr lang="tr-TR" sz="2000" dirty="0">
                <a:solidFill>
                  <a:schemeClr val="tx1">
                    <a:alpha val="80000"/>
                  </a:schemeClr>
                </a:solidFill>
                <a:latin typeface="Aptos"/>
              </a:rPr>
              <a:t>Basınçlı kaplar</a:t>
            </a:r>
          </a:p>
          <a:p>
            <a:pPr>
              <a:buClr>
                <a:srgbClr val="002060"/>
              </a:buClr>
              <a:buFont typeface="Wingdings" panose="05000000000000000000" pitchFamily="2" charset="2"/>
              <a:buChar char="Ø"/>
            </a:pPr>
            <a:r>
              <a:rPr lang="tr-TR" sz="2000" dirty="0">
                <a:solidFill>
                  <a:schemeClr val="tx1">
                    <a:alpha val="80000"/>
                  </a:schemeClr>
                </a:solidFill>
                <a:latin typeface="Aptos"/>
              </a:rPr>
              <a:t>Boru hatları</a:t>
            </a:r>
          </a:p>
          <a:p>
            <a:pPr>
              <a:buClr>
                <a:srgbClr val="002060"/>
              </a:buClr>
              <a:buFont typeface="Wingdings" panose="05000000000000000000" pitchFamily="2" charset="2"/>
              <a:buChar char="Ø"/>
            </a:pPr>
            <a:r>
              <a:rPr lang="tr-TR" sz="2000" dirty="0">
                <a:solidFill>
                  <a:schemeClr val="tx1">
                    <a:alpha val="80000"/>
                  </a:schemeClr>
                </a:solidFill>
                <a:latin typeface="Aptos"/>
              </a:rPr>
              <a:t>Yeraltı galerileri</a:t>
            </a:r>
          </a:p>
          <a:p>
            <a:pPr>
              <a:buClr>
                <a:srgbClr val="002060"/>
              </a:buClr>
              <a:buFont typeface="Wingdings" panose="05000000000000000000" pitchFamily="2" charset="2"/>
              <a:buChar char="Ø"/>
            </a:pPr>
            <a:r>
              <a:rPr lang="tr-TR" sz="2000" dirty="0">
                <a:solidFill>
                  <a:schemeClr val="tx1">
                    <a:alpha val="80000"/>
                  </a:schemeClr>
                </a:solidFill>
                <a:latin typeface="Aptos"/>
              </a:rPr>
              <a:t>Tüneller</a:t>
            </a:r>
          </a:p>
          <a:p>
            <a:pPr>
              <a:buClr>
                <a:srgbClr val="002060"/>
              </a:buClr>
              <a:buFont typeface="Wingdings" panose="05000000000000000000" pitchFamily="2" charset="2"/>
              <a:buChar char="Ø"/>
            </a:pPr>
            <a:r>
              <a:rPr lang="tr-TR" sz="2000" dirty="0">
                <a:solidFill>
                  <a:schemeClr val="tx1">
                    <a:alpha val="80000"/>
                  </a:schemeClr>
                </a:solidFill>
                <a:latin typeface="Aptos"/>
              </a:rPr>
              <a:t>Gemi ambarları</a:t>
            </a:r>
          </a:p>
          <a:p>
            <a:pPr>
              <a:buClr>
                <a:srgbClr val="002060"/>
              </a:buClr>
              <a:buFont typeface="Wingdings" panose="05000000000000000000" pitchFamily="2" charset="2"/>
              <a:buChar char="Ø"/>
            </a:pPr>
            <a:r>
              <a:rPr lang="tr-TR" sz="2000" dirty="0">
                <a:solidFill>
                  <a:schemeClr val="tx1">
                    <a:alpha val="80000"/>
                  </a:schemeClr>
                </a:solidFill>
                <a:latin typeface="Aptos"/>
              </a:rPr>
              <a:t>Foseptik çukurları</a:t>
            </a:r>
          </a:p>
        </p:txBody>
      </p:sp>
    </p:spTree>
    <p:extLst>
      <p:ext uri="{BB962C8B-B14F-4D97-AF65-F5344CB8AC3E}">
        <p14:creationId xmlns:p14="http://schemas.microsoft.com/office/powerpoint/2010/main" val="39950283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tr-TR" sz="4200" b="1" dirty="0">
                <a:latin typeface="Aptos"/>
              </a:rPr>
              <a:t>Kapalı alanlarda çalışma ile ilgili mevzuatlar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=""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836676" y="2240915"/>
            <a:ext cx="10515600" cy="4251960"/>
          </a:xfrm>
        </p:spPr>
        <p:txBody>
          <a:bodyPr>
            <a:normAutofit/>
          </a:bodyPr>
          <a:lstStyle/>
          <a:p>
            <a:pPr>
              <a:buClr>
                <a:srgbClr val="0070C0"/>
              </a:buClr>
              <a:buFont typeface="Wingdings" panose="05000000000000000000" pitchFamily="2" charset="2"/>
              <a:buChar char="Ø"/>
            </a:pPr>
            <a:r>
              <a:rPr lang="tr-TR" sz="2200" dirty="0">
                <a:latin typeface="Aptos"/>
              </a:rPr>
              <a:t> Yapı İşlerinde Sağlık ve Güvenlik Yönetmeliği</a:t>
            </a:r>
          </a:p>
          <a:p>
            <a:pPr>
              <a:buClr>
                <a:srgbClr val="0070C0"/>
              </a:buClr>
              <a:buFont typeface="Wingdings" panose="05000000000000000000" pitchFamily="2" charset="2"/>
              <a:buChar char="Ø"/>
            </a:pPr>
            <a:r>
              <a:rPr lang="tr-TR" sz="2200" dirty="0">
                <a:latin typeface="Aptos"/>
              </a:rPr>
              <a:t> Yeraltı ve Yerüstü Maden İşletmelerinde Sağlık ve Güvenlik Şartları Yönetmeliği</a:t>
            </a:r>
          </a:p>
          <a:p>
            <a:pPr>
              <a:buClr>
                <a:srgbClr val="0070C0"/>
              </a:buClr>
              <a:buFont typeface="Wingdings" panose="05000000000000000000" pitchFamily="2" charset="2"/>
              <a:buChar char="Ø"/>
            </a:pPr>
            <a:r>
              <a:rPr lang="tr-TR" sz="2200" dirty="0">
                <a:latin typeface="Aptos"/>
              </a:rPr>
              <a:t> Sondajla Maden Çıkarılan İşletmelerde Sağlık ve Güvenlik Şartları Yönetmeliği</a:t>
            </a:r>
          </a:p>
          <a:p>
            <a:pPr>
              <a:buClr>
                <a:srgbClr val="0070C0"/>
              </a:buClr>
              <a:buFont typeface="Wingdings" panose="05000000000000000000" pitchFamily="2" charset="2"/>
              <a:buChar char="Ø"/>
            </a:pPr>
            <a:r>
              <a:rPr lang="tr-TR" sz="2200" dirty="0">
                <a:latin typeface="Aptos"/>
              </a:rPr>
              <a:t> İş Ekipmanlarının Kullanımında Sağlık ve Güvenlik Şartları Yönetmeliği</a:t>
            </a:r>
          </a:p>
          <a:p>
            <a:pPr>
              <a:buClr>
                <a:srgbClr val="0070C0"/>
              </a:buClr>
              <a:buFont typeface="Wingdings" panose="05000000000000000000" pitchFamily="2" charset="2"/>
              <a:buChar char="Ø"/>
            </a:pPr>
            <a:r>
              <a:rPr lang="tr-TR" sz="2200" dirty="0">
                <a:latin typeface="Aptos"/>
              </a:rPr>
              <a:t> Makina Emniyet Yönetmeliği</a:t>
            </a:r>
          </a:p>
          <a:p>
            <a:pPr>
              <a:buClr>
                <a:srgbClr val="0070C0"/>
              </a:buClr>
              <a:buFont typeface="Wingdings" panose="05000000000000000000" pitchFamily="2" charset="2"/>
              <a:buChar char="Ø"/>
            </a:pPr>
            <a:r>
              <a:rPr lang="tr-TR" sz="2200" dirty="0">
                <a:latin typeface="Aptos"/>
              </a:rPr>
              <a:t> Kişisel Koruyucu Donanımların İş Yerlerinde Kullanılması Hakkında Yönetmelik</a:t>
            </a:r>
          </a:p>
          <a:p>
            <a:pPr>
              <a:buClr>
                <a:srgbClr val="0070C0"/>
              </a:buClr>
              <a:buFont typeface="Wingdings" panose="05000000000000000000" pitchFamily="2" charset="2"/>
              <a:buChar char="Ø"/>
            </a:pPr>
            <a:r>
              <a:rPr lang="tr-TR" sz="2200" dirty="0">
                <a:latin typeface="Aptos"/>
              </a:rPr>
              <a:t> Kimyasal Maddelerle Çalışmalarda Sağlık ve Güvenlik Şartları Yönetmeliği</a:t>
            </a:r>
          </a:p>
          <a:p>
            <a:pPr>
              <a:buClr>
                <a:srgbClr val="0070C0"/>
              </a:buClr>
              <a:buFont typeface="Wingdings" panose="05000000000000000000" pitchFamily="2" charset="2"/>
              <a:buChar char="Ø"/>
            </a:pPr>
            <a:r>
              <a:rPr lang="tr-TR" sz="2200" dirty="0">
                <a:latin typeface="Aptos"/>
              </a:rPr>
              <a:t> Çalışanların Patlayıcı Ortamların Tehlikelerinden Korunması Hakkında Yönetmelik</a:t>
            </a:r>
          </a:p>
        </p:txBody>
      </p:sp>
    </p:spTree>
    <p:extLst>
      <p:ext uri="{BB962C8B-B14F-4D97-AF65-F5344CB8AC3E}">
        <p14:creationId xmlns:p14="http://schemas.microsoft.com/office/powerpoint/2010/main" val="40754073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45D37F4E-DDB4-456B-97E0-9937730A039F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572493" y="238539"/>
            <a:ext cx="11018520" cy="1434415"/>
          </a:xfrm>
        </p:spPr>
        <p:txBody>
          <a:bodyPr anchor="b">
            <a:normAutofit/>
          </a:bodyPr>
          <a:lstStyle/>
          <a:p>
            <a:r>
              <a:rPr lang="tr-TR" b="1" dirty="0">
                <a:latin typeface="Aptos"/>
              </a:rPr>
              <a:t>Kapalı alanlarda kazaların başlıca sebepleri</a:t>
            </a:r>
          </a:p>
        </p:txBody>
      </p:sp>
      <p:sp>
        <p:nvSpPr>
          <p:cNvPr id="12" name="sketchy line">
            <a:extLst>
              <a:ext uri="{FF2B5EF4-FFF2-40B4-BE49-F238E27FC236}">
                <a16:creationId xmlns:a16="http://schemas.microsoft.com/office/drawing/2014/main" id="{B2DD41CD-8F47-4F56-AD12-4E2FF7696987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2493" y="1681544"/>
            <a:ext cx="10972800" cy="18288"/>
          </a:xfrm>
          <a:custGeom>
            <a:avLst/>
            <a:gdLst>
              <a:gd name="csX0" fmla="*/ 0 w 10972800"/>
              <a:gd name="csY0" fmla="*/ 0 h 18288"/>
              <a:gd name="csX1" fmla="*/ 356616 w 10972800"/>
              <a:gd name="csY1" fmla="*/ 0 h 18288"/>
              <a:gd name="csX2" fmla="*/ 1042416 w 10972800"/>
              <a:gd name="csY2" fmla="*/ 0 h 18288"/>
              <a:gd name="csX3" fmla="*/ 1947672 w 10972800"/>
              <a:gd name="csY3" fmla="*/ 0 h 18288"/>
              <a:gd name="csX4" fmla="*/ 2633472 w 10972800"/>
              <a:gd name="csY4" fmla="*/ 0 h 18288"/>
              <a:gd name="csX5" fmla="*/ 2990088 w 10972800"/>
              <a:gd name="csY5" fmla="*/ 0 h 18288"/>
              <a:gd name="csX6" fmla="*/ 3456432 w 10972800"/>
              <a:gd name="csY6" fmla="*/ 0 h 18288"/>
              <a:gd name="csX7" fmla="*/ 4361688 w 10972800"/>
              <a:gd name="csY7" fmla="*/ 0 h 18288"/>
              <a:gd name="csX8" fmla="*/ 5266944 w 10972800"/>
              <a:gd name="csY8" fmla="*/ 0 h 18288"/>
              <a:gd name="csX9" fmla="*/ 6172200 w 10972800"/>
              <a:gd name="csY9" fmla="*/ 0 h 18288"/>
              <a:gd name="csX10" fmla="*/ 6528816 w 10972800"/>
              <a:gd name="csY10" fmla="*/ 0 h 18288"/>
              <a:gd name="csX11" fmla="*/ 7214616 w 10972800"/>
              <a:gd name="csY11" fmla="*/ 0 h 18288"/>
              <a:gd name="csX12" fmla="*/ 7790688 w 10972800"/>
              <a:gd name="csY12" fmla="*/ 0 h 18288"/>
              <a:gd name="csX13" fmla="*/ 8147304 w 10972800"/>
              <a:gd name="csY13" fmla="*/ 0 h 18288"/>
              <a:gd name="csX14" fmla="*/ 9052560 w 10972800"/>
              <a:gd name="csY14" fmla="*/ 0 h 18288"/>
              <a:gd name="csX15" fmla="*/ 9409176 w 10972800"/>
              <a:gd name="csY15" fmla="*/ 0 h 18288"/>
              <a:gd name="csX16" fmla="*/ 9765792 w 10972800"/>
              <a:gd name="csY16" fmla="*/ 0 h 18288"/>
              <a:gd name="csX17" fmla="*/ 10341864 w 10972800"/>
              <a:gd name="csY17" fmla="*/ 0 h 18288"/>
              <a:gd name="csX18" fmla="*/ 10972800 w 10972800"/>
              <a:gd name="csY18" fmla="*/ 0 h 18288"/>
              <a:gd name="csX19" fmla="*/ 10972800 w 10972800"/>
              <a:gd name="csY19" fmla="*/ 18288 h 18288"/>
              <a:gd name="csX20" fmla="*/ 10177272 w 10972800"/>
              <a:gd name="csY20" fmla="*/ 18288 h 18288"/>
              <a:gd name="csX21" fmla="*/ 9820656 w 10972800"/>
              <a:gd name="csY21" fmla="*/ 18288 h 18288"/>
              <a:gd name="csX22" fmla="*/ 9464040 w 10972800"/>
              <a:gd name="csY22" fmla="*/ 18288 h 18288"/>
              <a:gd name="csX23" fmla="*/ 8778240 w 10972800"/>
              <a:gd name="csY23" fmla="*/ 18288 h 18288"/>
              <a:gd name="csX24" fmla="*/ 8421624 w 10972800"/>
              <a:gd name="csY24" fmla="*/ 18288 h 18288"/>
              <a:gd name="csX25" fmla="*/ 7735824 w 10972800"/>
              <a:gd name="csY25" fmla="*/ 18288 h 18288"/>
              <a:gd name="csX26" fmla="*/ 6940296 w 10972800"/>
              <a:gd name="csY26" fmla="*/ 18288 h 18288"/>
              <a:gd name="csX27" fmla="*/ 6254496 w 10972800"/>
              <a:gd name="csY27" fmla="*/ 18288 h 18288"/>
              <a:gd name="csX28" fmla="*/ 5458968 w 10972800"/>
              <a:gd name="csY28" fmla="*/ 18288 h 18288"/>
              <a:gd name="csX29" fmla="*/ 4663440 w 10972800"/>
              <a:gd name="csY29" fmla="*/ 18288 h 18288"/>
              <a:gd name="csX30" fmla="*/ 4306824 w 10972800"/>
              <a:gd name="csY30" fmla="*/ 18288 h 18288"/>
              <a:gd name="csX31" fmla="*/ 3840480 w 10972800"/>
              <a:gd name="csY31" fmla="*/ 18288 h 18288"/>
              <a:gd name="csX32" fmla="*/ 3264408 w 10972800"/>
              <a:gd name="csY32" fmla="*/ 18288 h 18288"/>
              <a:gd name="csX33" fmla="*/ 2578608 w 10972800"/>
              <a:gd name="csY33" fmla="*/ 18288 h 18288"/>
              <a:gd name="csX34" fmla="*/ 1673352 w 10972800"/>
              <a:gd name="csY34" fmla="*/ 18288 h 18288"/>
              <a:gd name="csX35" fmla="*/ 877824 w 10972800"/>
              <a:gd name="csY35" fmla="*/ 18288 h 18288"/>
              <a:gd name="csX36" fmla="*/ 0 w 10972800"/>
              <a:gd name="csY36" fmla="*/ 18288 h 18288"/>
              <a:gd name="csX37" fmla="*/ 0 w 10972800"/>
              <a:gd name="csY37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</a:cxnLst>
            <a:rect l="l" t="t" r="r" b="b"/>
            <a:pathLst>
              <a:path w="10972800" h="18288" fill="none" extrusionOk="0">
                <a:moveTo>
                  <a:pt x="0" y="0"/>
                </a:moveTo>
                <a:cubicBezTo>
                  <a:pt x="165916" y="-1866"/>
                  <a:pt x="188720" y="13756"/>
                  <a:pt x="356616" y="0"/>
                </a:cubicBezTo>
                <a:cubicBezTo>
                  <a:pt x="524512" y="-13756"/>
                  <a:pt x="734781" y="8922"/>
                  <a:pt x="1042416" y="0"/>
                </a:cubicBezTo>
                <a:cubicBezTo>
                  <a:pt x="1350051" y="-8922"/>
                  <a:pt x="1595982" y="-26315"/>
                  <a:pt x="1947672" y="0"/>
                </a:cubicBezTo>
                <a:cubicBezTo>
                  <a:pt x="2299362" y="26315"/>
                  <a:pt x="2292691" y="-19526"/>
                  <a:pt x="2633472" y="0"/>
                </a:cubicBezTo>
                <a:cubicBezTo>
                  <a:pt x="2974253" y="19526"/>
                  <a:pt x="2857309" y="10773"/>
                  <a:pt x="2990088" y="0"/>
                </a:cubicBezTo>
                <a:cubicBezTo>
                  <a:pt x="3122867" y="-10773"/>
                  <a:pt x="3359343" y="7194"/>
                  <a:pt x="3456432" y="0"/>
                </a:cubicBezTo>
                <a:cubicBezTo>
                  <a:pt x="3553521" y="-7194"/>
                  <a:pt x="4136258" y="5108"/>
                  <a:pt x="4361688" y="0"/>
                </a:cubicBezTo>
                <a:cubicBezTo>
                  <a:pt x="4587118" y="-5108"/>
                  <a:pt x="4992424" y="-42958"/>
                  <a:pt x="5266944" y="0"/>
                </a:cubicBezTo>
                <a:cubicBezTo>
                  <a:pt x="5541464" y="42958"/>
                  <a:pt x="5882966" y="-3430"/>
                  <a:pt x="6172200" y="0"/>
                </a:cubicBezTo>
                <a:cubicBezTo>
                  <a:pt x="6461434" y="3430"/>
                  <a:pt x="6432127" y="6688"/>
                  <a:pt x="6528816" y="0"/>
                </a:cubicBezTo>
                <a:cubicBezTo>
                  <a:pt x="6625505" y="-6688"/>
                  <a:pt x="6916805" y="-436"/>
                  <a:pt x="7214616" y="0"/>
                </a:cubicBezTo>
                <a:cubicBezTo>
                  <a:pt x="7512427" y="436"/>
                  <a:pt x="7626159" y="-6909"/>
                  <a:pt x="7790688" y="0"/>
                </a:cubicBezTo>
                <a:cubicBezTo>
                  <a:pt x="7955217" y="6909"/>
                  <a:pt x="8048891" y="15307"/>
                  <a:pt x="8147304" y="0"/>
                </a:cubicBezTo>
                <a:cubicBezTo>
                  <a:pt x="8245717" y="-15307"/>
                  <a:pt x="8645618" y="-11734"/>
                  <a:pt x="9052560" y="0"/>
                </a:cubicBezTo>
                <a:cubicBezTo>
                  <a:pt x="9459502" y="11734"/>
                  <a:pt x="9320584" y="8388"/>
                  <a:pt x="9409176" y="0"/>
                </a:cubicBezTo>
                <a:cubicBezTo>
                  <a:pt x="9497768" y="-8388"/>
                  <a:pt x="9644192" y="8379"/>
                  <a:pt x="9765792" y="0"/>
                </a:cubicBezTo>
                <a:cubicBezTo>
                  <a:pt x="9887392" y="-8379"/>
                  <a:pt x="10105220" y="-12663"/>
                  <a:pt x="10341864" y="0"/>
                </a:cubicBezTo>
                <a:cubicBezTo>
                  <a:pt x="10578508" y="12663"/>
                  <a:pt x="10773103" y="-5786"/>
                  <a:pt x="10972800" y="0"/>
                </a:cubicBezTo>
                <a:cubicBezTo>
                  <a:pt x="10972146" y="8818"/>
                  <a:pt x="10972240" y="13823"/>
                  <a:pt x="10972800" y="18288"/>
                </a:cubicBezTo>
                <a:cubicBezTo>
                  <a:pt x="10588778" y="31598"/>
                  <a:pt x="10543381" y="-12698"/>
                  <a:pt x="10177272" y="18288"/>
                </a:cubicBezTo>
                <a:cubicBezTo>
                  <a:pt x="9811163" y="49274"/>
                  <a:pt x="9996817" y="25662"/>
                  <a:pt x="9820656" y="18288"/>
                </a:cubicBezTo>
                <a:cubicBezTo>
                  <a:pt x="9644495" y="10914"/>
                  <a:pt x="9607007" y="31631"/>
                  <a:pt x="9464040" y="18288"/>
                </a:cubicBezTo>
                <a:cubicBezTo>
                  <a:pt x="9321073" y="4945"/>
                  <a:pt x="9114189" y="28940"/>
                  <a:pt x="8778240" y="18288"/>
                </a:cubicBezTo>
                <a:cubicBezTo>
                  <a:pt x="8442291" y="7636"/>
                  <a:pt x="8594763" y="987"/>
                  <a:pt x="8421624" y="18288"/>
                </a:cubicBezTo>
                <a:cubicBezTo>
                  <a:pt x="8248485" y="35589"/>
                  <a:pt x="7929515" y="37573"/>
                  <a:pt x="7735824" y="18288"/>
                </a:cubicBezTo>
                <a:cubicBezTo>
                  <a:pt x="7542133" y="-997"/>
                  <a:pt x="7252504" y="33858"/>
                  <a:pt x="6940296" y="18288"/>
                </a:cubicBezTo>
                <a:cubicBezTo>
                  <a:pt x="6628088" y="2718"/>
                  <a:pt x="6528503" y="48389"/>
                  <a:pt x="6254496" y="18288"/>
                </a:cubicBezTo>
                <a:cubicBezTo>
                  <a:pt x="5980489" y="-11813"/>
                  <a:pt x="5695784" y="-3740"/>
                  <a:pt x="5458968" y="18288"/>
                </a:cubicBezTo>
                <a:cubicBezTo>
                  <a:pt x="5222152" y="40316"/>
                  <a:pt x="5010751" y="19095"/>
                  <a:pt x="4663440" y="18288"/>
                </a:cubicBezTo>
                <a:cubicBezTo>
                  <a:pt x="4316129" y="17481"/>
                  <a:pt x="4425552" y="1606"/>
                  <a:pt x="4306824" y="18288"/>
                </a:cubicBezTo>
                <a:cubicBezTo>
                  <a:pt x="4188096" y="34970"/>
                  <a:pt x="3941535" y="7481"/>
                  <a:pt x="3840480" y="18288"/>
                </a:cubicBezTo>
                <a:cubicBezTo>
                  <a:pt x="3739425" y="29095"/>
                  <a:pt x="3402388" y="17641"/>
                  <a:pt x="3264408" y="18288"/>
                </a:cubicBezTo>
                <a:cubicBezTo>
                  <a:pt x="3126428" y="18935"/>
                  <a:pt x="2776779" y="9983"/>
                  <a:pt x="2578608" y="18288"/>
                </a:cubicBezTo>
                <a:cubicBezTo>
                  <a:pt x="2380437" y="26593"/>
                  <a:pt x="1909468" y="25818"/>
                  <a:pt x="1673352" y="18288"/>
                </a:cubicBezTo>
                <a:cubicBezTo>
                  <a:pt x="1437236" y="10758"/>
                  <a:pt x="1131180" y="49884"/>
                  <a:pt x="877824" y="18288"/>
                </a:cubicBezTo>
                <a:cubicBezTo>
                  <a:pt x="624468" y="-13308"/>
                  <a:pt x="206753" y="2195"/>
                  <a:pt x="0" y="18288"/>
                </a:cubicBezTo>
                <a:cubicBezTo>
                  <a:pt x="313" y="10654"/>
                  <a:pt x="-263" y="4056"/>
                  <a:pt x="0" y="0"/>
                </a:cubicBezTo>
                <a:close/>
              </a:path>
              <a:path w="10972800" h="18288" stroke="0" extrusionOk="0">
                <a:moveTo>
                  <a:pt x="0" y="0"/>
                </a:moveTo>
                <a:cubicBezTo>
                  <a:pt x="164017" y="-17675"/>
                  <a:pt x="309425" y="9913"/>
                  <a:pt x="466344" y="0"/>
                </a:cubicBezTo>
                <a:cubicBezTo>
                  <a:pt x="623263" y="-9913"/>
                  <a:pt x="659300" y="-14524"/>
                  <a:pt x="822960" y="0"/>
                </a:cubicBezTo>
                <a:cubicBezTo>
                  <a:pt x="986620" y="14524"/>
                  <a:pt x="1105222" y="-16481"/>
                  <a:pt x="1289304" y="0"/>
                </a:cubicBezTo>
                <a:cubicBezTo>
                  <a:pt x="1473386" y="16481"/>
                  <a:pt x="1693223" y="26161"/>
                  <a:pt x="1975104" y="0"/>
                </a:cubicBezTo>
                <a:cubicBezTo>
                  <a:pt x="2256985" y="-26161"/>
                  <a:pt x="2435781" y="23061"/>
                  <a:pt x="2770632" y="0"/>
                </a:cubicBezTo>
                <a:cubicBezTo>
                  <a:pt x="3105483" y="-23061"/>
                  <a:pt x="3247479" y="-44011"/>
                  <a:pt x="3675888" y="0"/>
                </a:cubicBezTo>
                <a:cubicBezTo>
                  <a:pt x="4104297" y="44011"/>
                  <a:pt x="4280918" y="4017"/>
                  <a:pt x="4581144" y="0"/>
                </a:cubicBezTo>
                <a:cubicBezTo>
                  <a:pt x="4881370" y="-4017"/>
                  <a:pt x="5021699" y="-11889"/>
                  <a:pt x="5157216" y="0"/>
                </a:cubicBezTo>
                <a:cubicBezTo>
                  <a:pt x="5292733" y="11889"/>
                  <a:pt x="5603398" y="-17698"/>
                  <a:pt x="5952744" y="0"/>
                </a:cubicBezTo>
                <a:cubicBezTo>
                  <a:pt x="6302090" y="17698"/>
                  <a:pt x="6353093" y="-11909"/>
                  <a:pt x="6638544" y="0"/>
                </a:cubicBezTo>
                <a:cubicBezTo>
                  <a:pt x="6923995" y="11909"/>
                  <a:pt x="7053404" y="21630"/>
                  <a:pt x="7214616" y="0"/>
                </a:cubicBezTo>
                <a:cubicBezTo>
                  <a:pt x="7375828" y="-21630"/>
                  <a:pt x="7837963" y="3886"/>
                  <a:pt x="8010144" y="0"/>
                </a:cubicBezTo>
                <a:cubicBezTo>
                  <a:pt x="8182325" y="-3886"/>
                  <a:pt x="8224183" y="16009"/>
                  <a:pt x="8366760" y="0"/>
                </a:cubicBezTo>
                <a:cubicBezTo>
                  <a:pt x="8509337" y="-16009"/>
                  <a:pt x="8687920" y="-5720"/>
                  <a:pt x="8942832" y="0"/>
                </a:cubicBezTo>
                <a:cubicBezTo>
                  <a:pt x="9197744" y="5720"/>
                  <a:pt x="9368437" y="20479"/>
                  <a:pt x="9628632" y="0"/>
                </a:cubicBezTo>
                <a:cubicBezTo>
                  <a:pt x="9888827" y="-20479"/>
                  <a:pt x="10560858" y="-20746"/>
                  <a:pt x="10972800" y="0"/>
                </a:cubicBezTo>
                <a:cubicBezTo>
                  <a:pt x="10972186" y="5722"/>
                  <a:pt x="10972980" y="12495"/>
                  <a:pt x="10972800" y="18288"/>
                </a:cubicBezTo>
                <a:cubicBezTo>
                  <a:pt x="10786146" y="12536"/>
                  <a:pt x="10623717" y="14033"/>
                  <a:pt x="10506456" y="18288"/>
                </a:cubicBezTo>
                <a:cubicBezTo>
                  <a:pt x="10389195" y="22543"/>
                  <a:pt x="10296178" y="20107"/>
                  <a:pt x="10149840" y="18288"/>
                </a:cubicBezTo>
                <a:cubicBezTo>
                  <a:pt x="10003502" y="16469"/>
                  <a:pt x="9767530" y="28891"/>
                  <a:pt x="9464040" y="18288"/>
                </a:cubicBezTo>
                <a:cubicBezTo>
                  <a:pt x="9160550" y="7685"/>
                  <a:pt x="9229050" y="2659"/>
                  <a:pt x="8997696" y="18288"/>
                </a:cubicBezTo>
                <a:cubicBezTo>
                  <a:pt x="8766342" y="33917"/>
                  <a:pt x="8340136" y="34864"/>
                  <a:pt x="8092440" y="18288"/>
                </a:cubicBezTo>
                <a:cubicBezTo>
                  <a:pt x="7844744" y="1712"/>
                  <a:pt x="7863720" y="27405"/>
                  <a:pt x="7735824" y="18288"/>
                </a:cubicBezTo>
                <a:cubicBezTo>
                  <a:pt x="7607928" y="9171"/>
                  <a:pt x="7323619" y="461"/>
                  <a:pt x="7050024" y="18288"/>
                </a:cubicBezTo>
                <a:cubicBezTo>
                  <a:pt x="6776429" y="36115"/>
                  <a:pt x="6787899" y="28206"/>
                  <a:pt x="6693408" y="18288"/>
                </a:cubicBezTo>
                <a:cubicBezTo>
                  <a:pt x="6598917" y="8370"/>
                  <a:pt x="6395231" y="19114"/>
                  <a:pt x="6227064" y="18288"/>
                </a:cubicBezTo>
                <a:cubicBezTo>
                  <a:pt x="6058897" y="17462"/>
                  <a:pt x="5618582" y="1091"/>
                  <a:pt x="5431536" y="18288"/>
                </a:cubicBezTo>
                <a:cubicBezTo>
                  <a:pt x="5244490" y="35485"/>
                  <a:pt x="4729797" y="-9650"/>
                  <a:pt x="4526280" y="18288"/>
                </a:cubicBezTo>
                <a:cubicBezTo>
                  <a:pt x="4322763" y="46226"/>
                  <a:pt x="4216797" y="756"/>
                  <a:pt x="4059936" y="18288"/>
                </a:cubicBezTo>
                <a:cubicBezTo>
                  <a:pt x="3903075" y="35820"/>
                  <a:pt x="3537912" y="42098"/>
                  <a:pt x="3374136" y="18288"/>
                </a:cubicBezTo>
                <a:cubicBezTo>
                  <a:pt x="3210360" y="-5522"/>
                  <a:pt x="3126842" y="39135"/>
                  <a:pt x="2907792" y="18288"/>
                </a:cubicBezTo>
                <a:cubicBezTo>
                  <a:pt x="2688742" y="-2559"/>
                  <a:pt x="2490436" y="34100"/>
                  <a:pt x="2112264" y="18288"/>
                </a:cubicBezTo>
                <a:cubicBezTo>
                  <a:pt x="1734092" y="2476"/>
                  <a:pt x="1744622" y="-7274"/>
                  <a:pt x="1536192" y="18288"/>
                </a:cubicBezTo>
                <a:cubicBezTo>
                  <a:pt x="1327762" y="43850"/>
                  <a:pt x="1189025" y="6435"/>
                  <a:pt x="1069848" y="18288"/>
                </a:cubicBezTo>
                <a:cubicBezTo>
                  <a:pt x="950671" y="30141"/>
                  <a:pt x="858345" y="33684"/>
                  <a:pt x="713232" y="18288"/>
                </a:cubicBezTo>
                <a:cubicBezTo>
                  <a:pt x="568119" y="2892"/>
                  <a:pt x="250292" y="5410"/>
                  <a:pt x="0" y="18288"/>
                </a:cubicBezTo>
                <a:cubicBezTo>
                  <a:pt x="465" y="13062"/>
                  <a:pt x="-894" y="9029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w="44450" cap="rnd">
            <a:solidFill>
              <a:schemeClr val="accent2">
                <a:alpha val="75000"/>
              </a:schemeClr>
            </a:solidFill>
            <a:round/>
            <a:extLst>
              <a:ext uri="{C807C97D-BFC1-408E-A445-0C87EB9F89A2}">
                <ask:lineSketchStyleProps xmlns=""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481053" y="2549334"/>
            <a:ext cx="6713552" cy="4119172"/>
          </a:xfrm>
        </p:spPr>
        <p:txBody>
          <a:bodyPr anchor="t">
            <a:normAutofit/>
          </a:bodyPr>
          <a:lstStyle/>
          <a:p>
            <a:pPr>
              <a:buClr>
                <a:srgbClr val="C00000"/>
              </a:buClr>
              <a:buFont typeface="Wingdings" panose="05000000000000000000" pitchFamily="2" charset="2"/>
              <a:buChar char="Ø"/>
            </a:pPr>
            <a:r>
              <a:rPr lang="tr-TR" sz="2200" dirty="0">
                <a:latin typeface="Aptos"/>
              </a:rPr>
              <a:t>Doğru olmayan  ya da yetersiz teknik ekipman kullanımı</a:t>
            </a:r>
          </a:p>
          <a:p>
            <a:pPr marL="0" indent="0">
              <a:buClr>
                <a:srgbClr val="C00000"/>
              </a:buClr>
              <a:buNone/>
            </a:pPr>
            <a:r>
              <a:rPr lang="tr-TR" sz="2200" dirty="0">
                <a:latin typeface="Aptos"/>
              </a:rPr>
              <a:t>     Yetersiz havalandırma</a:t>
            </a:r>
          </a:p>
          <a:p>
            <a:pPr>
              <a:buClr>
                <a:srgbClr val="C00000"/>
              </a:buClr>
              <a:buFont typeface="Wingdings" panose="05000000000000000000" pitchFamily="2" charset="2"/>
              <a:buChar char="Ø"/>
            </a:pPr>
            <a:r>
              <a:rPr lang="tr-TR" sz="2200" dirty="0">
                <a:latin typeface="Aptos"/>
              </a:rPr>
              <a:t>Çalışanların çok az ya da hiç eğitim almamış olması</a:t>
            </a:r>
          </a:p>
          <a:p>
            <a:pPr marL="0" indent="0">
              <a:buClr>
                <a:srgbClr val="C00000"/>
              </a:buClr>
              <a:buNone/>
            </a:pPr>
            <a:r>
              <a:rPr lang="tr-TR" sz="2200" dirty="0">
                <a:latin typeface="Aptos"/>
              </a:rPr>
              <a:t>     Dışarıda gözcü bulundurmamak</a:t>
            </a:r>
          </a:p>
          <a:p>
            <a:pPr>
              <a:buClr>
                <a:srgbClr val="C00000"/>
              </a:buClr>
              <a:buFont typeface="Wingdings" panose="05000000000000000000" pitchFamily="2" charset="2"/>
              <a:buChar char="Ø"/>
            </a:pPr>
            <a:r>
              <a:rPr lang="tr-TR" sz="2200" dirty="0">
                <a:latin typeface="Aptos"/>
              </a:rPr>
              <a:t>İş güvenliği kural ve prosedürlerine uyulmaması</a:t>
            </a:r>
          </a:p>
          <a:p>
            <a:pPr marL="0" indent="0">
              <a:buClr>
                <a:srgbClr val="C00000"/>
              </a:buClr>
              <a:buNone/>
            </a:pPr>
            <a:r>
              <a:rPr lang="tr-TR" sz="2200" dirty="0">
                <a:latin typeface="Aptos"/>
              </a:rPr>
              <a:t>    Gaz ölçümü eksikliği</a:t>
            </a:r>
          </a:p>
          <a:p>
            <a:pPr marL="0" indent="0">
              <a:buClr>
                <a:srgbClr val="C00000"/>
              </a:buClr>
              <a:buNone/>
            </a:pPr>
            <a:r>
              <a:rPr lang="tr-TR" sz="2200" dirty="0">
                <a:latin typeface="Aptos"/>
              </a:rPr>
              <a:t>    KKD kullanımı</a:t>
            </a:r>
          </a:p>
        </p:txBody>
      </p:sp>
      <p:pic>
        <p:nvPicPr>
          <p:cNvPr id="5" name="Resim 4"/>
          <p:cNvPicPr>
            <a:picLocks noChangeAspect="1"/>
          </p:cNvPicPr>
          <p:nvPr/>
        </p:nvPicPr>
        <p:blipFill>
          <a:blip r:embed="rId3"/>
          <a:srcRect l="10606" r="14691" b="-2"/>
          <a:stretch>
            <a:fillRect/>
          </a:stretch>
        </p:blipFill>
        <p:spPr>
          <a:xfrm>
            <a:off x="7675658" y="2093976"/>
            <a:ext cx="3941064" cy="4096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11318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tr-TR" b="1" dirty="0">
                <a:latin typeface="Aptos"/>
              </a:rPr>
              <a:t>Kapalı ortamdaki tehlikeler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=""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pPr>
              <a:buClr>
                <a:srgbClr val="C00000"/>
              </a:buClr>
              <a:buFont typeface="Wingdings" panose="05000000000000000000" pitchFamily="2" charset="2"/>
              <a:buChar char="Ø"/>
            </a:pPr>
            <a:endParaRPr lang="tr-TR" sz="2200" dirty="0">
              <a:latin typeface="Aptos"/>
            </a:endParaRPr>
          </a:p>
          <a:p>
            <a:pPr>
              <a:buClr>
                <a:srgbClr val="C00000"/>
              </a:buClr>
              <a:buFont typeface="Wingdings" panose="05000000000000000000" pitchFamily="2" charset="2"/>
              <a:buChar char="Ø"/>
            </a:pPr>
            <a:r>
              <a:rPr lang="tr-TR" sz="2200" dirty="0">
                <a:latin typeface="Aptos"/>
              </a:rPr>
              <a:t>Oksijen yetersizliği (&lt;  %19.5 boğulmaya sebep olabilir)</a:t>
            </a:r>
          </a:p>
          <a:p>
            <a:pPr>
              <a:buClr>
                <a:srgbClr val="C00000"/>
              </a:buClr>
              <a:buFont typeface="Wingdings" panose="05000000000000000000" pitchFamily="2" charset="2"/>
              <a:buChar char="Ø"/>
            </a:pPr>
            <a:r>
              <a:rPr lang="tr-TR" sz="2200" dirty="0">
                <a:latin typeface="Aptos"/>
              </a:rPr>
              <a:t>Oksijen fazlalığı ( &gt; %23 oranında patlamaya sebep olabilir)</a:t>
            </a:r>
          </a:p>
          <a:p>
            <a:pPr>
              <a:buClr>
                <a:srgbClr val="C00000"/>
              </a:buClr>
              <a:buFont typeface="Wingdings" panose="05000000000000000000" pitchFamily="2" charset="2"/>
              <a:buChar char="Ø"/>
            </a:pPr>
            <a:r>
              <a:rPr lang="tr-TR" sz="2200" dirty="0">
                <a:latin typeface="Aptos"/>
              </a:rPr>
              <a:t>Zehirli gaz, duman ya da toz </a:t>
            </a:r>
          </a:p>
          <a:p>
            <a:pPr>
              <a:buClr>
                <a:srgbClr val="C00000"/>
              </a:buClr>
              <a:buFont typeface="Wingdings" panose="05000000000000000000" pitchFamily="2" charset="2"/>
              <a:buChar char="Ø"/>
            </a:pPr>
            <a:r>
              <a:rPr lang="tr-TR" sz="2200" dirty="0">
                <a:latin typeface="Aptos"/>
              </a:rPr>
              <a:t>Elektriksel ve mekanik tehlikeler</a:t>
            </a:r>
          </a:p>
          <a:p>
            <a:pPr lvl="1"/>
            <a:r>
              <a:rPr lang="tr-TR" sz="2200" dirty="0">
                <a:latin typeface="Aptos"/>
              </a:rPr>
              <a:t>Dönen ekipmanlar, hareketli parçalar veya ani basınç boşalmaları.</a:t>
            </a:r>
          </a:p>
          <a:p>
            <a:pPr lvl="1"/>
            <a:r>
              <a:rPr lang="tr-TR" sz="2200" dirty="0">
                <a:latin typeface="Aptos"/>
              </a:rPr>
              <a:t>Kapakların aniden kapanması veya ekipman arızaları</a:t>
            </a:r>
          </a:p>
          <a:p>
            <a:pPr lvl="1"/>
            <a:r>
              <a:rPr lang="tr-TR" sz="2200" dirty="0">
                <a:latin typeface="Aptos"/>
              </a:rPr>
              <a:t>Elektrik çarpması, ark patlaması, kıvılcım kaynaklı yangın/patlama</a:t>
            </a:r>
          </a:p>
          <a:p>
            <a:pPr>
              <a:buClr>
                <a:srgbClr val="C00000"/>
              </a:buClr>
              <a:buFont typeface="Wingdings" panose="05000000000000000000" pitchFamily="2" charset="2"/>
              <a:buChar char="Ø"/>
            </a:pPr>
            <a:r>
              <a:rPr lang="tr-TR" sz="2200" dirty="0">
                <a:latin typeface="Aptos"/>
              </a:rPr>
              <a:t>Kapalı alanlarda acil durumlarda çıkışın zor olması, kurtarma ekiplerinin erişim güçlüğü</a:t>
            </a:r>
          </a:p>
        </p:txBody>
      </p:sp>
    </p:spTree>
    <p:extLst>
      <p:ext uri="{BB962C8B-B14F-4D97-AF65-F5344CB8AC3E}">
        <p14:creationId xmlns:p14="http://schemas.microsoft.com/office/powerpoint/2010/main" val="28014687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45D37F4E-DDB4-456B-97E0-9937730A039F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572493" y="238539"/>
            <a:ext cx="11018520" cy="1434415"/>
          </a:xfrm>
        </p:spPr>
        <p:txBody>
          <a:bodyPr anchor="b">
            <a:normAutofit/>
          </a:bodyPr>
          <a:lstStyle/>
          <a:p>
            <a:r>
              <a:rPr lang="tr-TR" b="1" dirty="0">
                <a:latin typeface="Aptos"/>
              </a:rPr>
              <a:t>Alınması gereken tedbirler</a:t>
            </a:r>
          </a:p>
        </p:txBody>
      </p:sp>
      <p:sp>
        <p:nvSpPr>
          <p:cNvPr id="11" name="sketchy line">
            <a:extLst>
              <a:ext uri="{FF2B5EF4-FFF2-40B4-BE49-F238E27FC236}">
                <a16:creationId xmlns:a16="http://schemas.microsoft.com/office/drawing/2014/main" id="{B2DD41CD-8F47-4F56-AD12-4E2FF7696987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2493" y="1681544"/>
            <a:ext cx="10972800" cy="18288"/>
          </a:xfrm>
          <a:custGeom>
            <a:avLst/>
            <a:gdLst>
              <a:gd name="csX0" fmla="*/ 0 w 10972800"/>
              <a:gd name="csY0" fmla="*/ 0 h 18288"/>
              <a:gd name="csX1" fmla="*/ 356616 w 10972800"/>
              <a:gd name="csY1" fmla="*/ 0 h 18288"/>
              <a:gd name="csX2" fmla="*/ 1042416 w 10972800"/>
              <a:gd name="csY2" fmla="*/ 0 h 18288"/>
              <a:gd name="csX3" fmla="*/ 1947672 w 10972800"/>
              <a:gd name="csY3" fmla="*/ 0 h 18288"/>
              <a:gd name="csX4" fmla="*/ 2633472 w 10972800"/>
              <a:gd name="csY4" fmla="*/ 0 h 18288"/>
              <a:gd name="csX5" fmla="*/ 2990088 w 10972800"/>
              <a:gd name="csY5" fmla="*/ 0 h 18288"/>
              <a:gd name="csX6" fmla="*/ 3456432 w 10972800"/>
              <a:gd name="csY6" fmla="*/ 0 h 18288"/>
              <a:gd name="csX7" fmla="*/ 4361688 w 10972800"/>
              <a:gd name="csY7" fmla="*/ 0 h 18288"/>
              <a:gd name="csX8" fmla="*/ 5266944 w 10972800"/>
              <a:gd name="csY8" fmla="*/ 0 h 18288"/>
              <a:gd name="csX9" fmla="*/ 6172200 w 10972800"/>
              <a:gd name="csY9" fmla="*/ 0 h 18288"/>
              <a:gd name="csX10" fmla="*/ 6528816 w 10972800"/>
              <a:gd name="csY10" fmla="*/ 0 h 18288"/>
              <a:gd name="csX11" fmla="*/ 7214616 w 10972800"/>
              <a:gd name="csY11" fmla="*/ 0 h 18288"/>
              <a:gd name="csX12" fmla="*/ 7790688 w 10972800"/>
              <a:gd name="csY12" fmla="*/ 0 h 18288"/>
              <a:gd name="csX13" fmla="*/ 8147304 w 10972800"/>
              <a:gd name="csY13" fmla="*/ 0 h 18288"/>
              <a:gd name="csX14" fmla="*/ 9052560 w 10972800"/>
              <a:gd name="csY14" fmla="*/ 0 h 18288"/>
              <a:gd name="csX15" fmla="*/ 9409176 w 10972800"/>
              <a:gd name="csY15" fmla="*/ 0 h 18288"/>
              <a:gd name="csX16" fmla="*/ 9765792 w 10972800"/>
              <a:gd name="csY16" fmla="*/ 0 h 18288"/>
              <a:gd name="csX17" fmla="*/ 10341864 w 10972800"/>
              <a:gd name="csY17" fmla="*/ 0 h 18288"/>
              <a:gd name="csX18" fmla="*/ 10972800 w 10972800"/>
              <a:gd name="csY18" fmla="*/ 0 h 18288"/>
              <a:gd name="csX19" fmla="*/ 10972800 w 10972800"/>
              <a:gd name="csY19" fmla="*/ 18288 h 18288"/>
              <a:gd name="csX20" fmla="*/ 10177272 w 10972800"/>
              <a:gd name="csY20" fmla="*/ 18288 h 18288"/>
              <a:gd name="csX21" fmla="*/ 9820656 w 10972800"/>
              <a:gd name="csY21" fmla="*/ 18288 h 18288"/>
              <a:gd name="csX22" fmla="*/ 9464040 w 10972800"/>
              <a:gd name="csY22" fmla="*/ 18288 h 18288"/>
              <a:gd name="csX23" fmla="*/ 8778240 w 10972800"/>
              <a:gd name="csY23" fmla="*/ 18288 h 18288"/>
              <a:gd name="csX24" fmla="*/ 8421624 w 10972800"/>
              <a:gd name="csY24" fmla="*/ 18288 h 18288"/>
              <a:gd name="csX25" fmla="*/ 7735824 w 10972800"/>
              <a:gd name="csY25" fmla="*/ 18288 h 18288"/>
              <a:gd name="csX26" fmla="*/ 6940296 w 10972800"/>
              <a:gd name="csY26" fmla="*/ 18288 h 18288"/>
              <a:gd name="csX27" fmla="*/ 6254496 w 10972800"/>
              <a:gd name="csY27" fmla="*/ 18288 h 18288"/>
              <a:gd name="csX28" fmla="*/ 5458968 w 10972800"/>
              <a:gd name="csY28" fmla="*/ 18288 h 18288"/>
              <a:gd name="csX29" fmla="*/ 4663440 w 10972800"/>
              <a:gd name="csY29" fmla="*/ 18288 h 18288"/>
              <a:gd name="csX30" fmla="*/ 4306824 w 10972800"/>
              <a:gd name="csY30" fmla="*/ 18288 h 18288"/>
              <a:gd name="csX31" fmla="*/ 3840480 w 10972800"/>
              <a:gd name="csY31" fmla="*/ 18288 h 18288"/>
              <a:gd name="csX32" fmla="*/ 3264408 w 10972800"/>
              <a:gd name="csY32" fmla="*/ 18288 h 18288"/>
              <a:gd name="csX33" fmla="*/ 2578608 w 10972800"/>
              <a:gd name="csY33" fmla="*/ 18288 h 18288"/>
              <a:gd name="csX34" fmla="*/ 1673352 w 10972800"/>
              <a:gd name="csY34" fmla="*/ 18288 h 18288"/>
              <a:gd name="csX35" fmla="*/ 877824 w 10972800"/>
              <a:gd name="csY35" fmla="*/ 18288 h 18288"/>
              <a:gd name="csX36" fmla="*/ 0 w 10972800"/>
              <a:gd name="csY36" fmla="*/ 18288 h 18288"/>
              <a:gd name="csX37" fmla="*/ 0 w 10972800"/>
              <a:gd name="csY37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</a:cxnLst>
            <a:rect l="l" t="t" r="r" b="b"/>
            <a:pathLst>
              <a:path w="10972800" h="18288" fill="none" extrusionOk="0">
                <a:moveTo>
                  <a:pt x="0" y="0"/>
                </a:moveTo>
                <a:cubicBezTo>
                  <a:pt x="165916" y="-1866"/>
                  <a:pt x="188720" y="13756"/>
                  <a:pt x="356616" y="0"/>
                </a:cubicBezTo>
                <a:cubicBezTo>
                  <a:pt x="524512" y="-13756"/>
                  <a:pt x="734781" y="8922"/>
                  <a:pt x="1042416" y="0"/>
                </a:cubicBezTo>
                <a:cubicBezTo>
                  <a:pt x="1350051" y="-8922"/>
                  <a:pt x="1595982" y="-26315"/>
                  <a:pt x="1947672" y="0"/>
                </a:cubicBezTo>
                <a:cubicBezTo>
                  <a:pt x="2299362" y="26315"/>
                  <a:pt x="2292691" y="-19526"/>
                  <a:pt x="2633472" y="0"/>
                </a:cubicBezTo>
                <a:cubicBezTo>
                  <a:pt x="2974253" y="19526"/>
                  <a:pt x="2857309" y="10773"/>
                  <a:pt x="2990088" y="0"/>
                </a:cubicBezTo>
                <a:cubicBezTo>
                  <a:pt x="3122867" y="-10773"/>
                  <a:pt x="3359343" y="7194"/>
                  <a:pt x="3456432" y="0"/>
                </a:cubicBezTo>
                <a:cubicBezTo>
                  <a:pt x="3553521" y="-7194"/>
                  <a:pt x="4136258" y="5108"/>
                  <a:pt x="4361688" y="0"/>
                </a:cubicBezTo>
                <a:cubicBezTo>
                  <a:pt x="4587118" y="-5108"/>
                  <a:pt x="4992424" y="-42958"/>
                  <a:pt x="5266944" y="0"/>
                </a:cubicBezTo>
                <a:cubicBezTo>
                  <a:pt x="5541464" y="42958"/>
                  <a:pt x="5882966" y="-3430"/>
                  <a:pt x="6172200" y="0"/>
                </a:cubicBezTo>
                <a:cubicBezTo>
                  <a:pt x="6461434" y="3430"/>
                  <a:pt x="6432127" y="6688"/>
                  <a:pt x="6528816" y="0"/>
                </a:cubicBezTo>
                <a:cubicBezTo>
                  <a:pt x="6625505" y="-6688"/>
                  <a:pt x="6916805" y="-436"/>
                  <a:pt x="7214616" y="0"/>
                </a:cubicBezTo>
                <a:cubicBezTo>
                  <a:pt x="7512427" y="436"/>
                  <a:pt x="7626159" y="-6909"/>
                  <a:pt x="7790688" y="0"/>
                </a:cubicBezTo>
                <a:cubicBezTo>
                  <a:pt x="7955217" y="6909"/>
                  <a:pt x="8048891" y="15307"/>
                  <a:pt x="8147304" y="0"/>
                </a:cubicBezTo>
                <a:cubicBezTo>
                  <a:pt x="8245717" y="-15307"/>
                  <a:pt x="8645618" y="-11734"/>
                  <a:pt x="9052560" y="0"/>
                </a:cubicBezTo>
                <a:cubicBezTo>
                  <a:pt x="9459502" y="11734"/>
                  <a:pt x="9320584" y="8388"/>
                  <a:pt x="9409176" y="0"/>
                </a:cubicBezTo>
                <a:cubicBezTo>
                  <a:pt x="9497768" y="-8388"/>
                  <a:pt x="9644192" y="8379"/>
                  <a:pt x="9765792" y="0"/>
                </a:cubicBezTo>
                <a:cubicBezTo>
                  <a:pt x="9887392" y="-8379"/>
                  <a:pt x="10105220" y="-12663"/>
                  <a:pt x="10341864" y="0"/>
                </a:cubicBezTo>
                <a:cubicBezTo>
                  <a:pt x="10578508" y="12663"/>
                  <a:pt x="10773103" y="-5786"/>
                  <a:pt x="10972800" y="0"/>
                </a:cubicBezTo>
                <a:cubicBezTo>
                  <a:pt x="10972146" y="8818"/>
                  <a:pt x="10972240" y="13823"/>
                  <a:pt x="10972800" y="18288"/>
                </a:cubicBezTo>
                <a:cubicBezTo>
                  <a:pt x="10588778" y="31598"/>
                  <a:pt x="10543381" y="-12698"/>
                  <a:pt x="10177272" y="18288"/>
                </a:cubicBezTo>
                <a:cubicBezTo>
                  <a:pt x="9811163" y="49274"/>
                  <a:pt x="9996817" y="25662"/>
                  <a:pt x="9820656" y="18288"/>
                </a:cubicBezTo>
                <a:cubicBezTo>
                  <a:pt x="9644495" y="10914"/>
                  <a:pt x="9607007" y="31631"/>
                  <a:pt x="9464040" y="18288"/>
                </a:cubicBezTo>
                <a:cubicBezTo>
                  <a:pt x="9321073" y="4945"/>
                  <a:pt x="9114189" y="28940"/>
                  <a:pt x="8778240" y="18288"/>
                </a:cubicBezTo>
                <a:cubicBezTo>
                  <a:pt x="8442291" y="7636"/>
                  <a:pt x="8594763" y="987"/>
                  <a:pt x="8421624" y="18288"/>
                </a:cubicBezTo>
                <a:cubicBezTo>
                  <a:pt x="8248485" y="35589"/>
                  <a:pt x="7929515" y="37573"/>
                  <a:pt x="7735824" y="18288"/>
                </a:cubicBezTo>
                <a:cubicBezTo>
                  <a:pt x="7542133" y="-997"/>
                  <a:pt x="7252504" y="33858"/>
                  <a:pt x="6940296" y="18288"/>
                </a:cubicBezTo>
                <a:cubicBezTo>
                  <a:pt x="6628088" y="2718"/>
                  <a:pt x="6528503" y="48389"/>
                  <a:pt x="6254496" y="18288"/>
                </a:cubicBezTo>
                <a:cubicBezTo>
                  <a:pt x="5980489" y="-11813"/>
                  <a:pt x="5695784" y="-3740"/>
                  <a:pt x="5458968" y="18288"/>
                </a:cubicBezTo>
                <a:cubicBezTo>
                  <a:pt x="5222152" y="40316"/>
                  <a:pt x="5010751" y="19095"/>
                  <a:pt x="4663440" y="18288"/>
                </a:cubicBezTo>
                <a:cubicBezTo>
                  <a:pt x="4316129" y="17481"/>
                  <a:pt x="4425552" y="1606"/>
                  <a:pt x="4306824" y="18288"/>
                </a:cubicBezTo>
                <a:cubicBezTo>
                  <a:pt x="4188096" y="34970"/>
                  <a:pt x="3941535" y="7481"/>
                  <a:pt x="3840480" y="18288"/>
                </a:cubicBezTo>
                <a:cubicBezTo>
                  <a:pt x="3739425" y="29095"/>
                  <a:pt x="3402388" y="17641"/>
                  <a:pt x="3264408" y="18288"/>
                </a:cubicBezTo>
                <a:cubicBezTo>
                  <a:pt x="3126428" y="18935"/>
                  <a:pt x="2776779" y="9983"/>
                  <a:pt x="2578608" y="18288"/>
                </a:cubicBezTo>
                <a:cubicBezTo>
                  <a:pt x="2380437" y="26593"/>
                  <a:pt x="1909468" y="25818"/>
                  <a:pt x="1673352" y="18288"/>
                </a:cubicBezTo>
                <a:cubicBezTo>
                  <a:pt x="1437236" y="10758"/>
                  <a:pt x="1131180" y="49884"/>
                  <a:pt x="877824" y="18288"/>
                </a:cubicBezTo>
                <a:cubicBezTo>
                  <a:pt x="624468" y="-13308"/>
                  <a:pt x="206753" y="2195"/>
                  <a:pt x="0" y="18288"/>
                </a:cubicBezTo>
                <a:cubicBezTo>
                  <a:pt x="313" y="10654"/>
                  <a:pt x="-263" y="4056"/>
                  <a:pt x="0" y="0"/>
                </a:cubicBezTo>
                <a:close/>
              </a:path>
              <a:path w="10972800" h="18288" stroke="0" extrusionOk="0">
                <a:moveTo>
                  <a:pt x="0" y="0"/>
                </a:moveTo>
                <a:cubicBezTo>
                  <a:pt x="164017" y="-17675"/>
                  <a:pt x="309425" y="9913"/>
                  <a:pt x="466344" y="0"/>
                </a:cubicBezTo>
                <a:cubicBezTo>
                  <a:pt x="623263" y="-9913"/>
                  <a:pt x="659300" y="-14524"/>
                  <a:pt x="822960" y="0"/>
                </a:cubicBezTo>
                <a:cubicBezTo>
                  <a:pt x="986620" y="14524"/>
                  <a:pt x="1105222" y="-16481"/>
                  <a:pt x="1289304" y="0"/>
                </a:cubicBezTo>
                <a:cubicBezTo>
                  <a:pt x="1473386" y="16481"/>
                  <a:pt x="1693223" y="26161"/>
                  <a:pt x="1975104" y="0"/>
                </a:cubicBezTo>
                <a:cubicBezTo>
                  <a:pt x="2256985" y="-26161"/>
                  <a:pt x="2435781" y="23061"/>
                  <a:pt x="2770632" y="0"/>
                </a:cubicBezTo>
                <a:cubicBezTo>
                  <a:pt x="3105483" y="-23061"/>
                  <a:pt x="3247479" y="-44011"/>
                  <a:pt x="3675888" y="0"/>
                </a:cubicBezTo>
                <a:cubicBezTo>
                  <a:pt x="4104297" y="44011"/>
                  <a:pt x="4280918" y="4017"/>
                  <a:pt x="4581144" y="0"/>
                </a:cubicBezTo>
                <a:cubicBezTo>
                  <a:pt x="4881370" y="-4017"/>
                  <a:pt x="5021699" y="-11889"/>
                  <a:pt x="5157216" y="0"/>
                </a:cubicBezTo>
                <a:cubicBezTo>
                  <a:pt x="5292733" y="11889"/>
                  <a:pt x="5603398" y="-17698"/>
                  <a:pt x="5952744" y="0"/>
                </a:cubicBezTo>
                <a:cubicBezTo>
                  <a:pt x="6302090" y="17698"/>
                  <a:pt x="6353093" y="-11909"/>
                  <a:pt x="6638544" y="0"/>
                </a:cubicBezTo>
                <a:cubicBezTo>
                  <a:pt x="6923995" y="11909"/>
                  <a:pt x="7053404" y="21630"/>
                  <a:pt x="7214616" y="0"/>
                </a:cubicBezTo>
                <a:cubicBezTo>
                  <a:pt x="7375828" y="-21630"/>
                  <a:pt x="7837963" y="3886"/>
                  <a:pt x="8010144" y="0"/>
                </a:cubicBezTo>
                <a:cubicBezTo>
                  <a:pt x="8182325" y="-3886"/>
                  <a:pt x="8224183" y="16009"/>
                  <a:pt x="8366760" y="0"/>
                </a:cubicBezTo>
                <a:cubicBezTo>
                  <a:pt x="8509337" y="-16009"/>
                  <a:pt x="8687920" y="-5720"/>
                  <a:pt x="8942832" y="0"/>
                </a:cubicBezTo>
                <a:cubicBezTo>
                  <a:pt x="9197744" y="5720"/>
                  <a:pt x="9368437" y="20479"/>
                  <a:pt x="9628632" y="0"/>
                </a:cubicBezTo>
                <a:cubicBezTo>
                  <a:pt x="9888827" y="-20479"/>
                  <a:pt x="10560858" y="-20746"/>
                  <a:pt x="10972800" y="0"/>
                </a:cubicBezTo>
                <a:cubicBezTo>
                  <a:pt x="10972186" y="5722"/>
                  <a:pt x="10972980" y="12495"/>
                  <a:pt x="10972800" y="18288"/>
                </a:cubicBezTo>
                <a:cubicBezTo>
                  <a:pt x="10786146" y="12536"/>
                  <a:pt x="10623717" y="14033"/>
                  <a:pt x="10506456" y="18288"/>
                </a:cubicBezTo>
                <a:cubicBezTo>
                  <a:pt x="10389195" y="22543"/>
                  <a:pt x="10296178" y="20107"/>
                  <a:pt x="10149840" y="18288"/>
                </a:cubicBezTo>
                <a:cubicBezTo>
                  <a:pt x="10003502" y="16469"/>
                  <a:pt x="9767530" y="28891"/>
                  <a:pt x="9464040" y="18288"/>
                </a:cubicBezTo>
                <a:cubicBezTo>
                  <a:pt x="9160550" y="7685"/>
                  <a:pt x="9229050" y="2659"/>
                  <a:pt x="8997696" y="18288"/>
                </a:cubicBezTo>
                <a:cubicBezTo>
                  <a:pt x="8766342" y="33917"/>
                  <a:pt x="8340136" y="34864"/>
                  <a:pt x="8092440" y="18288"/>
                </a:cubicBezTo>
                <a:cubicBezTo>
                  <a:pt x="7844744" y="1712"/>
                  <a:pt x="7863720" y="27405"/>
                  <a:pt x="7735824" y="18288"/>
                </a:cubicBezTo>
                <a:cubicBezTo>
                  <a:pt x="7607928" y="9171"/>
                  <a:pt x="7323619" y="461"/>
                  <a:pt x="7050024" y="18288"/>
                </a:cubicBezTo>
                <a:cubicBezTo>
                  <a:pt x="6776429" y="36115"/>
                  <a:pt x="6787899" y="28206"/>
                  <a:pt x="6693408" y="18288"/>
                </a:cubicBezTo>
                <a:cubicBezTo>
                  <a:pt x="6598917" y="8370"/>
                  <a:pt x="6395231" y="19114"/>
                  <a:pt x="6227064" y="18288"/>
                </a:cubicBezTo>
                <a:cubicBezTo>
                  <a:pt x="6058897" y="17462"/>
                  <a:pt x="5618582" y="1091"/>
                  <a:pt x="5431536" y="18288"/>
                </a:cubicBezTo>
                <a:cubicBezTo>
                  <a:pt x="5244490" y="35485"/>
                  <a:pt x="4729797" y="-9650"/>
                  <a:pt x="4526280" y="18288"/>
                </a:cubicBezTo>
                <a:cubicBezTo>
                  <a:pt x="4322763" y="46226"/>
                  <a:pt x="4216797" y="756"/>
                  <a:pt x="4059936" y="18288"/>
                </a:cubicBezTo>
                <a:cubicBezTo>
                  <a:pt x="3903075" y="35820"/>
                  <a:pt x="3537912" y="42098"/>
                  <a:pt x="3374136" y="18288"/>
                </a:cubicBezTo>
                <a:cubicBezTo>
                  <a:pt x="3210360" y="-5522"/>
                  <a:pt x="3126842" y="39135"/>
                  <a:pt x="2907792" y="18288"/>
                </a:cubicBezTo>
                <a:cubicBezTo>
                  <a:pt x="2688742" y="-2559"/>
                  <a:pt x="2490436" y="34100"/>
                  <a:pt x="2112264" y="18288"/>
                </a:cubicBezTo>
                <a:cubicBezTo>
                  <a:pt x="1734092" y="2476"/>
                  <a:pt x="1744622" y="-7274"/>
                  <a:pt x="1536192" y="18288"/>
                </a:cubicBezTo>
                <a:cubicBezTo>
                  <a:pt x="1327762" y="43850"/>
                  <a:pt x="1189025" y="6435"/>
                  <a:pt x="1069848" y="18288"/>
                </a:cubicBezTo>
                <a:cubicBezTo>
                  <a:pt x="950671" y="30141"/>
                  <a:pt x="858345" y="33684"/>
                  <a:pt x="713232" y="18288"/>
                </a:cubicBezTo>
                <a:cubicBezTo>
                  <a:pt x="568119" y="2892"/>
                  <a:pt x="250292" y="5410"/>
                  <a:pt x="0" y="18288"/>
                </a:cubicBezTo>
                <a:cubicBezTo>
                  <a:pt x="465" y="13062"/>
                  <a:pt x="-894" y="9029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w="44450" cap="rnd">
            <a:solidFill>
              <a:schemeClr val="accent2">
                <a:alpha val="75000"/>
              </a:schemeClr>
            </a:solidFill>
            <a:round/>
            <a:extLst>
              <a:ext uri="{C807C97D-BFC1-408E-A445-0C87EB9F89A2}">
                <ask:lineSketchStyleProps xmlns=""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572493" y="2071316"/>
            <a:ext cx="6713552" cy="4119172"/>
          </a:xfrm>
        </p:spPr>
        <p:txBody>
          <a:bodyPr anchor="t"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tr-TR" sz="2200" b="1">
                <a:latin typeface="Aptos"/>
              </a:rPr>
              <a:t>Organizasyonel ve Planlama Tedbirleri</a:t>
            </a:r>
          </a:p>
          <a:p>
            <a:pPr marL="0" indent="0">
              <a:buNone/>
            </a:pPr>
            <a:endParaRPr lang="tr-TR" sz="2200" b="1">
              <a:latin typeface="Aptos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tr-TR" sz="2200">
                <a:latin typeface="Aptos"/>
              </a:rPr>
              <a:t>Kapalı alan risk değerlendirmesi yapılmalıdır.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tr-TR" sz="2200">
                <a:latin typeface="Aptos"/>
              </a:rPr>
              <a:t>Gözcü personel (stand-by personel) bulundurulmalıdır.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tr-TR" sz="2200">
                <a:latin typeface="Aptos"/>
              </a:rPr>
              <a:t>Kurtarma planı önceden hazırlanmalıdır.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tr-TR" sz="2200">
                <a:latin typeface="Aptos"/>
              </a:rPr>
              <a:t>Acil durum ekipmanları hazır bulundurulmalıdır.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tr-TR" sz="2200">
                <a:latin typeface="Aptos"/>
              </a:rPr>
              <a:t>Çalışanlara kapalı alan eğitimi verilmelidir.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tr-TR" sz="2200">
                <a:latin typeface="Aptos"/>
              </a:rPr>
              <a:t>Yetkisiz kişilerin alana girişi engellenmelidir.</a:t>
            </a:r>
          </a:p>
          <a:p>
            <a:pPr marL="0" indent="0">
              <a:buNone/>
            </a:pPr>
            <a:endParaRPr lang="tr-TR" sz="2200"/>
          </a:p>
        </p:txBody>
      </p:sp>
      <p:pic>
        <p:nvPicPr>
          <p:cNvPr id="4" name="Resim 3"/>
          <p:cNvPicPr>
            <a:picLocks noChangeAspect="1"/>
          </p:cNvPicPr>
          <p:nvPr/>
        </p:nvPicPr>
        <p:blipFill rotWithShape="1">
          <a:blip r:embed="rId2"/>
          <a:srcRect l="1936" r="1861" b="2"/>
          <a:stretch>
            <a:fillRect/>
          </a:stretch>
        </p:blipFill>
        <p:spPr>
          <a:xfrm>
            <a:off x="7675658" y="2093976"/>
            <a:ext cx="3941064" cy="4096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19518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352BEC0E-22F8-46D0-9632-375DB541B06C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640080" y="329184"/>
            <a:ext cx="6894576" cy="1783080"/>
          </a:xfrm>
        </p:spPr>
        <p:txBody>
          <a:bodyPr anchor="b">
            <a:normAutofit/>
          </a:bodyPr>
          <a:lstStyle/>
          <a:p>
            <a:r>
              <a:rPr lang="tr-TR" b="1" dirty="0">
                <a:latin typeface="Aptos"/>
              </a:rPr>
              <a:t>Alınması gereken tedbirler</a:t>
            </a:r>
            <a:endParaRPr lang="tr-TR" dirty="0"/>
          </a:p>
        </p:txBody>
      </p:sp>
      <p:sp>
        <p:nvSpPr>
          <p:cNvPr id="16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8952" y="2395728"/>
            <a:ext cx="4243589" cy="18288"/>
          </a:xfrm>
          <a:custGeom>
            <a:avLst/>
            <a:gdLst>
              <a:gd name="csX0" fmla="*/ 0 w 4243589"/>
              <a:gd name="csY0" fmla="*/ 0 h 18288"/>
              <a:gd name="csX1" fmla="*/ 478919 w 4243589"/>
              <a:gd name="csY1" fmla="*/ 0 h 18288"/>
              <a:gd name="csX2" fmla="*/ 957839 w 4243589"/>
              <a:gd name="csY2" fmla="*/ 0 h 18288"/>
              <a:gd name="csX3" fmla="*/ 1521630 w 4243589"/>
              <a:gd name="csY3" fmla="*/ 0 h 18288"/>
              <a:gd name="csX4" fmla="*/ 2212729 w 4243589"/>
              <a:gd name="csY4" fmla="*/ 0 h 18288"/>
              <a:gd name="csX5" fmla="*/ 2734084 w 4243589"/>
              <a:gd name="csY5" fmla="*/ 0 h 18288"/>
              <a:gd name="csX6" fmla="*/ 3255439 w 4243589"/>
              <a:gd name="csY6" fmla="*/ 0 h 18288"/>
              <a:gd name="csX7" fmla="*/ 4243589 w 4243589"/>
              <a:gd name="csY7" fmla="*/ 0 h 18288"/>
              <a:gd name="csX8" fmla="*/ 4243589 w 4243589"/>
              <a:gd name="csY8" fmla="*/ 18288 h 18288"/>
              <a:gd name="csX9" fmla="*/ 3594926 w 4243589"/>
              <a:gd name="csY9" fmla="*/ 18288 h 18288"/>
              <a:gd name="csX10" fmla="*/ 3073571 w 4243589"/>
              <a:gd name="csY10" fmla="*/ 18288 h 18288"/>
              <a:gd name="csX11" fmla="*/ 2552216 w 4243589"/>
              <a:gd name="csY11" fmla="*/ 18288 h 18288"/>
              <a:gd name="csX12" fmla="*/ 1903553 w 4243589"/>
              <a:gd name="csY12" fmla="*/ 18288 h 18288"/>
              <a:gd name="csX13" fmla="*/ 1212454 w 4243589"/>
              <a:gd name="csY13" fmla="*/ 18288 h 18288"/>
              <a:gd name="csX14" fmla="*/ 733535 w 4243589"/>
              <a:gd name="csY14" fmla="*/ 18288 h 18288"/>
              <a:gd name="csX15" fmla="*/ 0 w 4243589"/>
              <a:gd name="csY15" fmla="*/ 18288 h 18288"/>
              <a:gd name="csX16" fmla="*/ 0 w 4243589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=""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640080" y="2706624"/>
            <a:ext cx="6894576" cy="348386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tr-TR" sz="2000" b="1" dirty="0">
                <a:latin typeface="Aptos"/>
              </a:rPr>
              <a:t>2.  Oksijen yetersizliği </a:t>
            </a:r>
          </a:p>
          <a:p>
            <a:pPr marL="0" indent="0">
              <a:buNone/>
            </a:pPr>
            <a:r>
              <a:rPr lang="tr-TR" sz="2000" dirty="0">
                <a:latin typeface="Aptos"/>
              </a:rPr>
              <a:t>   Kapalı alanlarda kaynak, kesme, boyama ya da lehimleme gibi yapılan işlerden dolayı veya paslanma gibi belirli kimyasal reaksiyonlar nedeniyle oksijen seviyesinde düşme gözlemlenebilir.</a:t>
            </a:r>
          </a:p>
          <a:p>
            <a:pPr marL="0" indent="0">
              <a:buNone/>
            </a:pPr>
            <a:endParaRPr lang="tr-TR" sz="2000" dirty="0">
              <a:latin typeface="Aptos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tr-TR" sz="2000" dirty="0">
                <a:latin typeface="Aptos"/>
              </a:rPr>
              <a:t>Doğal veya mekanik havalandırma sağlanmalıdır.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tr-TR" sz="2000" dirty="0">
                <a:latin typeface="Aptos"/>
              </a:rPr>
              <a:t>Temiz hava sürekli verilmelidir.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tr-TR" sz="2000" dirty="0">
                <a:latin typeface="Aptos"/>
              </a:rPr>
              <a:t>Havalandırma (56 m</a:t>
            </a:r>
            <a:r>
              <a:rPr lang="tr-TR" sz="2000" baseline="30000" dirty="0">
                <a:latin typeface="Aptos"/>
              </a:rPr>
              <a:t>3</a:t>
            </a:r>
            <a:r>
              <a:rPr lang="tr-TR" sz="2000" dirty="0">
                <a:latin typeface="Aptos"/>
              </a:rPr>
              <a:t>/dk) vantilatör ile sürekli temin edilmelidir.</a:t>
            </a:r>
          </a:p>
        </p:txBody>
      </p:sp>
      <p:pic>
        <p:nvPicPr>
          <p:cNvPr id="9" name="Resim 8"/>
          <p:cNvPicPr>
            <a:picLocks noChangeAspect="1"/>
          </p:cNvPicPr>
          <p:nvPr/>
        </p:nvPicPr>
        <p:blipFill rotWithShape="1">
          <a:blip r:embed="rId2"/>
          <a:srcRect l="5021" t="7278" r="6329" b="5520"/>
          <a:stretch/>
        </p:blipFill>
        <p:spPr>
          <a:xfrm>
            <a:off x="7863840" y="711499"/>
            <a:ext cx="4014216" cy="2665336"/>
          </a:xfrm>
          <a:prstGeom prst="rect">
            <a:avLst/>
          </a:prstGeom>
        </p:spPr>
      </p:pic>
      <p:pic>
        <p:nvPicPr>
          <p:cNvPr id="8" name="Resim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15868" y="4079193"/>
            <a:ext cx="3491871" cy="2176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21503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64BE8F8-D042-DCD9-7C73-A48E7E7283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B3B6B7C5-60B6-4F0B-1DEB-457B0FCF5D0B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Unvan 1">
            <a:extLst>
              <a:ext uri="{FF2B5EF4-FFF2-40B4-BE49-F238E27FC236}">
                <a16:creationId xmlns:a16="http://schemas.microsoft.com/office/drawing/2014/main" id="{859F8F8A-D411-7B5F-B3A5-DBCE2B3084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9184"/>
            <a:ext cx="6894576" cy="1783080"/>
          </a:xfrm>
        </p:spPr>
        <p:txBody>
          <a:bodyPr anchor="b">
            <a:normAutofit/>
          </a:bodyPr>
          <a:lstStyle/>
          <a:p>
            <a:r>
              <a:rPr lang="tr-TR" b="1" dirty="0">
                <a:latin typeface="Aptos"/>
              </a:rPr>
              <a:t>Alınması gereken tedbirler</a:t>
            </a:r>
            <a:endParaRPr lang="tr-TR" dirty="0"/>
          </a:p>
        </p:txBody>
      </p:sp>
      <p:sp>
        <p:nvSpPr>
          <p:cNvPr id="16" name="sketch line">
            <a:extLst>
              <a:ext uri="{FF2B5EF4-FFF2-40B4-BE49-F238E27FC236}">
                <a16:creationId xmlns:a16="http://schemas.microsoft.com/office/drawing/2014/main" id="{7AAC744E-5BEE-9195-9719-C9AF0C483F4B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8952" y="2395728"/>
            <a:ext cx="4243589" cy="18288"/>
          </a:xfrm>
          <a:custGeom>
            <a:avLst/>
            <a:gdLst>
              <a:gd name="csX0" fmla="*/ 0 w 4243589"/>
              <a:gd name="csY0" fmla="*/ 0 h 18288"/>
              <a:gd name="csX1" fmla="*/ 478919 w 4243589"/>
              <a:gd name="csY1" fmla="*/ 0 h 18288"/>
              <a:gd name="csX2" fmla="*/ 957839 w 4243589"/>
              <a:gd name="csY2" fmla="*/ 0 h 18288"/>
              <a:gd name="csX3" fmla="*/ 1521630 w 4243589"/>
              <a:gd name="csY3" fmla="*/ 0 h 18288"/>
              <a:gd name="csX4" fmla="*/ 2212729 w 4243589"/>
              <a:gd name="csY4" fmla="*/ 0 h 18288"/>
              <a:gd name="csX5" fmla="*/ 2734084 w 4243589"/>
              <a:gd name="csY5" fmla="*/ 0 h 18288"/>
              <a:gd name="csX6" fmla="*/ 3255439 w 4243589"/>
              <a:gd name="csY6" fmla="*/ 0 h 18288"/>
              <a:gd name="csX7" fmla="*/ 4243589 w 4243589"/>
              <a:gd name="csY7" fmla="*/ 0 h 18288"/>
              <a:gd name="csX8" fmla="*/ 4243589 w 4243589"/>
              <a:gd name="csY8" fmla="*/ 18288 h 18288"/>
              <a:gd name="csX9" fmla="*/ 3594926 w 4243589"/>
              <a:gd name="csY9" fmla="*/ 18288 h 18288"/>
              <a:gd name="csX10" fmla="*/ 3073571 w 4243589"/>
              <a:gd name="csY10" fmla="*/ 18288 h 18288"/>
              <a:gd name="csX11" fmla="*/ 2552216 w 4243589"/>
              <a:gd name="csY11" fmla="*/ 18288 h 18288"/>
              <a:gd name="csX12" fmla="*/ 1903553 w 4243589"/>
              <a:gd name="csY12" fmla="*/ 18288 h 18288"/>
              <a:gd name="csX13" fmla="*/ 1212454 w 4243589"/>
              <a:gd name="csY13" fmla="*/ 18288 h 18288"/>
              <a:gd name="csX14" fmla="*/ 733535 w 4243589"/>
              <a:gd name="csY14" fmla="*/ 18288 h 18288"/>
              <a:gd name="csX15" fmla="*/ 0 w 4243589"/>
              <a:gd name="csY15" fmla="*/ 18288 h 18288"/>
              <a:gd name="csX16" fmla="*/ 0 w 4243589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=""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DD8510BE-7791-982C-30FF-54C03FF607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706624"/>
            <a:ext cx="9927986" cy="348386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tr-TR" sz="2000" b="1" dirty="0">
                <a:latin typeface="Aptos"/>
              </a:rPr>
              <a:t>2.  Oksijen yetersizliği </a:t>
            </a:r>
          </a:p>
          <a:p>
            <a:r>
              <a:rPr lang="tr-TR" sz="2000" dirty="0">
                <a:latin typeface="Aptos"/>
              </a:rPr>
              <a:t>  Kanalizasyon ve menhol çalışmaları sırasında atıkların ayrışması oksijeni azaltabilir.</a:t>
            </a:r>
          </a:p>
          <a:p>
            <a:r>
              <a:rPr lang="tr-TR" sz="2000" dirty="0">
                <a:latin typeface="Aptos"/>
              </a:rPr>
              <a:t>  Uzun süre kapalı kalmaya bağlı olarak oksijen seviyesinin azaldığı tankların ve depoların temizleme işleri</a:t>
            </a:r>
          </a:p>
          <a:p>
            <a:r>
              <a:rPr lang="tr-TR" sz="2000" dirty="0">
                <a:latin typeface="Aptos"/>
              </a:rPr>
              <a:t> Silo ve tahıl depolarında çalışma sırasında organik maddelerin çürümesine bağlı olarak oksijen tükenebilir.</a:t>
            </a:r>
          </a:p>
          <a:p>
            <a:r>
              <a:rPr lang="tr-TR" sz="2000" dirty="0">
                <a:latin typeface="Aptos"/>
              </a:rPr>
              <a:t> Kaynak ve kesme işleri yapılan kapalı alanlar (yanma ve gaz kullanımı oksijeni azaltabilir)</a:t>
            </a:r>
          </a:p>
          <a:p>
            <a:r>
              <a:rPr lang="tr-TR" sz="2000" dirty="0">
                <a:latin typeface="Aptos"/>
              </a:rPr>
              <a:t> Kimyasal tank ve reaktörlerde bakım işleri (kimyasal reaksiyonlar oksijen tüketebilir) </a:t>
            </a:r>
          </a:p>
        </p:txBody>
      </p:sp>
    </p:spTree>
    <p:extLst>
      <p:ext uri="{BB962C8B-B14F-4D97-AF65-F5344CB8AC3E}">
        <p14:creationId xmlns:p14="http://schemas.microsoft.com/office/powerpoint/2010/main" val="19744881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tr-TR" b="1" dirty="0">
                <a:latin typeface="Aptos"/>
              </a:rPr>
              <a:t>Alınması gereken tedbirler</a:t>
            </a:r>
            <a:endParaRPr lang="tr-TR" dirty="0"/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=""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pPr marL="457200" indent="-457200">
              <a:buAutoNum type="arabicPeriod" startAt="3"/>
            </a:pPr>
            <a:r>
              <a:rPr lang="tr-TR" sz="2200" b="1">
                <a:latin typeface="Aptos"/>
              </a:rPr>
              <a:t>Oksijen fazlalığı</a:t>
            </a:r>
          </a:p>
          <a:p>
            <a:pPr marL="0" indent="0">
              <a:buNone/>
            </a:pPr>
            <a:r>
              <a:rPr lang="tr-TR" sz="2200"/>
              <a:t>   </a:t>
            </a:r>
            <a:r>
              <a:rPr lang="tr-TR" sz="2200" dirty="0">
                <a:latin typeface="Aptos"/>
              </a:rPr>
              <a:t>Oksijenin havadaki oranının artması yanıcı maddenin yanma ve patlama ihtimalini artırır. Oksijence zengin ortam (%22’den fazla) giysi vb. parlayıcı maddelerin şiddetle tutuşmasına neden olur. </a:t>
            </a:r>
          </a:p>
          <a:p>
            <a:pPr marL="0" indent="0">
              <a:buNone/>
            </a:pPr>
            <a:endParaRPr lang="tr-TR" sz="2200" dirty="0">
              <a:latin typeface="Aptos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tr-TR" sz="2200" dirty="0">
                <a:latin typeface="Aptos"/>
              </a:rPr>
              <a:t>Bu nedenle hiç bir zaman kapalı alanın havalandırılması için saf oksijen kullanılmamalıdır.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tr-TR" sz="2200" dirty="0">
                <a:latin typeface="Aptos"/>
              </a:rPr>
              <a:t>Bunun yerine normal hava tercih edilmelidir</a:t>
            </a:r>
            <a:r>
              <a:rPr lang="tr-TR" sz="2200"/>
              <a:t>. </a:t>
            </a:r>
            <a:endParaRPr lang="tr-TR" sz="2200" b="1"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7348187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A430221-7918-DC1F-A84B-2A5A918FE1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54ADC0A-F5BC-0524-01B3-12094CB7D00C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Unvan 1">
            <a:extLst>
              <a:ext uri="{FF2B5EF4-FFF2-40B4-BE49-F238E27FC236}">
                <a16:creationId xmlns:a16="http://schemas.microsoft.com/office/drawing/2014/main" id="{18A4A8B3-104B-EA97-C4EB-CDAE7DCF1C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tr-TR" b="1" dirty="0">
                <a:latin typeface="Aptos"/>
              </a:rPr>
              <a:t>Alınması gereken tedbirler</a:t>
            </a:r>
            <a:endParaRPr lang="tr-TR" dirty="0"/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CD52238E-A056-D950-855C-204622259C68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=""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F99B45DE-889C-1FEA-FA8E-E8273EA0EC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pPr marL="457200" indent="-457200">
              <a:buAutoNum type="arabicPeriod" startAt="3"/>
            </a:pPr>
            <a:r>
              <a:rPr lang="tr-TR" sz="2200" b="1" dirty="0">
                <a:latin typeface="Aptos"/>
              </a:rPr>
              <a:t>Oksijen fazlalığı</a:t>
            </a:r>
          </a:p>
          <a:p>
            <a:pPr marL="0" indent="0">
              <a:buNone/>
            </a:pPr>
            <a:endParaRPr lang="tr-TR" sz="2200" b="1" dirty="0">
              <a:latin typeface="Aptos"/>
            </a:endParaRPr>
          </a:p>
          <a:p>
            <a:r>
              <a:rPr lang="tr-TR" sz="2200" u="sng" dirty="0" smtClean="0">
                <a:latin typeface="Aptos"/>
              </a:rPr>
              <a:t>Fotosentez</a:t>
            </a:r>
            <a:r>
              <a:rPr lang="tr-TR" sz="2200" u="sng" dirty="0">
                <a:latin typeface="Aptos"/>
              </a:rPr>
              <a:t>:</a:t>
            </a:r>
            <a:r>
              <a:rPr lang="tr-TR" sz="2200" dirty="0">
                <a:latin typeface="Aptos"/>
              </a:rPr>
              <a:t> Bitkiler ve algler fotosentez sırasında oksijen üretir.</a:t>
            </a:r>
          </a:p>
          <a:p>
            <a:r>
              <a:rPr lang="tr-TR" sz="2200" u="sng" dirty="0">
                <a:latin typeface="Aptos"/>
              </a:rPr>
              <a:t>Tıbbi veya endüstriyel oksijen kullanımı: </a:t>
            </a:r>
            <a:r>
              <a:rPr lang="tr-TR" sz="2200" dirty="0">
                <a:latin typeface="Aptos"/>
              </a:rPr>
              <a:t>Oksijen tüplerinden ortama gaz kaçması.</a:t>
            </a:r>
          </a:p>
          <a:p>
            <a:r>
              <a:rPr lang="tr-TR" sz="2200" u="sng" dirty="0">
                <a:latin typeface="Aptos"/>
              </a:rPr>
              <a:t>Oksijenle çalışan ekipmanlar:</a:t>
            </a:r>
            <a:r>
              <a:rPr lang="tr-TR" sz="2200" dirty="0">
                <a:latin typeface="Aptos"/>
              </a:rPr>
              <a:t> Kaynak, kesme veya oksijen destekli sistemler.</a:t>
            </a:r>
          </a:p>
          <a:p>
            <a:r>
              <a:rPr lang="tr-TR" sz="2200" u="sng" dirty="0">
                <a:latin typeface="Aptos"/>
              </a:rPr>
              <a:t>Yetersiz kontrol edilen oksijen beslemesi: </a:t>
            </a:r>
            <a:r>
              <a:rPr lang="tr-TR" sz="2200" dirty="0">
                <a:latin typeface="Aptos"/>
              </a:rPr>
              <a:t>Endüstriyel proseslerde oksijen verilmesi.</a:t>
            </a:r>
          </a:p>
          <a:p>
            <a:r>
              <a:rPr lang="tr-TR" sz="2200" u="sng" dirty="0">
                <a:latin typeface="Aptos"/>
              </a:rPr>
              <a:t>Havalandırma ile temiz hava verilmesi: </a:t>
            </a:r>
            <a:r>
              <a:rPr lang="tr-TR" sz="2200" dirty="0">
                <a:latin typeface="Aptos"/>
              </a:rPr>
              <a:t>Ortama yüksek oksijenli temiz hava girişi.</a:t>
            </a:r>
            <a:endParaRPr lang="tr-TR" sz="2200" b="1" dirty="0"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24474477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tr-TR" b="1" dirty="0">
                <a:latin typeface="Aptos"/>
              </a:rPr>
              <a:t>Alınması gereken tedbirler</a:t>
            </a:r>
            <a:endParaRPr lang="tr-TR" dirty="0"/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=""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pPr marL="457200" indent="-457200">
              <a:buAutoNum type="arabicPeriod" startAt="4"/>
            </a:pPr>
            <a:r>
              <a:rPr lang="tr-TR" sz="2200" b="1" dirty="0">
                <a:latin typeface="Aptos"/>
              </a:rPr>
              <a:t>Zehirli gazlar</a:t>
            </a:r>
          </a:p>
          <a:p>
            <a:pPr marL="0" indent="0">
              <a:buNone/>
            </a:pPr>
            <a:r>
              <a:rPr lang="tr-TR" sz="2200" dirty="0"/>
              <a:t>   </a:t>
            </a:r>
            <a:r>
              <a:rPr lang="tr-TR" sz="2200" dirty="0">
                <a:latin typeface="Aptos"/>
              </a:rPr>
              <a:t>Kapalı alanlarda yapılan çalışmalarda en sık karşılaşılan riskler, ortamdaki </a:t>
            </a:r>
            <a:r>
              <a:rPr lang="tr-TR" sz="2200" b="1" dirty="0">
                <a:latin typeface="Aptos"/>
              </a:rPr>
              <a:t>zararlı veya patlayıcı gazların</a:t>
            </a:r>
            <a:r>
              <a:rPr lang="tr-TR" sz="2200" dirty="0">
                <a:latin typeface="Aptos"/>
              </a:rPr>
              <a:t> birikmesiyle ilgilidir. Bu gazlar genellikle yetersiz havalandırma, çürüyen organik maddeler, kimyasal reaksiyonlar veya proses kaynaklı sızıntılar sonucu oluşur.</a:t>
            </a:r>
          </a:p>
          <a:p>
            <a:pPr marL="0" indent="0">
              <a:buNone/>
            </a:pPr>
            <a:endParaRPr lang="tr-TR" sz="2200" b="1" dirty="0">
              <a:latin typeface="Aptos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tr-TR" sz="2200" b="1" dirty="0">
                <a:latin typeface="Aptos"/>
              </a:rPr>
              <a:t>CO: </a:t>
            </a:r>
            <a:r>
              <a:rPr lang="tr-TR" sz="2200" dirty="0">
                <a:latin typeface="Aptos"/>
              </a:rPr>
              <a:t>Egzoz gazları, yanma işlemleri, kaynak çalışmaları (zehirlenme)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tr-TR" sz="2200" b="1" dirty="0">
                <a:latin typeface="Aptos"/>
              </a:rPr>
              <a:t>H₂S : </a:t>
            </a:r>
            <a:r>
              <a:rPr lang="tr-TR" sz="2200" dirty="0">
                <a:latin typeface="Aptos"/>
              </a:rPr>
              <a:t>Kanalizasyon, atık su sistemleri, petrol ve doğal gaz tesisleri, çürüyen organik maddeler (ölüm)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tr-TR" sz="2200" b="1" dirty="0">
                <a:latin typeface="Aptos"/>
              </a:rPr>
              <a:t>CH₄ : </a:t>
            </a:r>
            <a:r>
              <a:rPr lang="tr-TR" sz="2200" dirty="0">
                <a:latin typeface="Aptos"/>
              </a:rPr>
              <a:t>Madenler, kanalizasyon sistemleri (patlayıcı etki)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tr-TR" sz="2200" b="1" dirty="0">
                <a:latin typeface="Aptos"/>
              </a:rPr>
              <a:t>CO₂ : </a:t>
            </a:r>
            <a:r>
              <a:rPr lang="tr-TR" sz="2200" dirty="0">
                <a:latin typeface="Aptos"/>
              </a:rPr>
              <a:t>Yanma (boğulma)</a:t>
            </a:r>
          </a:p>
        </p:txBody>
      </p:sp>
    </p:spTree>
    <p:extLst>
      <p:ext uri="{BB962C8B-B14F-4D97-AF65-F5344CB8AC3E}">
        <p14:creationId xmlns:p14="http://schemas.microsoft.com/office/powerpoint/2010/main" val="15027631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45D37F4E-DDB4-456B-97E0-9937730A039F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572493" y="238539"/>
            <a:ext cx="11018520" cy="1434415"/>
          </a:xfrm>
        </p:spPr>
        <p:txBody>
          <a:bodyPr anchor="b">
            <a:normAutofit/>
          </a:bodyPr>
          <a:lstStyle/>
          <a:p>
            <a:r>
              <a:rPr lang="tr-TR" b="1" dirty="0">
                <a:latin typeface="Aptos"/>
              </a:rPr>
              <a:t>Alınması gereken tedbirler</a:t>
            </a:r>
            <a:endParaRPr lang="tr-TR" dirty="0"/>
          </a:p>
        </p:txBody>
      </p:sp>
      <p:sp>
        <p:nvSpPr>
          <p:cNvPr id="12" name="sketchy line">
            <a:extLst>
              <a:ext uri="{FF2B5EF4-FFF2-40B4-BE49-F238E27FC236}">
                <a16:creationId xmlns:a16="http://schemas.microsoft.com/office/drawing/2014/main" id="{B2DD41CD-8F47-4F56-AD12-4E2FF7696987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2493" y="1681544"/>
            <a:ext cx="10972800" cy="18288"/>
          </a:xfrm>
          <a:custGeom>
            <a:avLst/>
            <a:gdLst>
              <a:gd name="csX0" fmla="*/ 0 w 10972800"/>
              <a:gd name="csY0" fmla="*/ 0 h 18288"/>
              <a:gd name="csX1" fmla="*/ 356616 w 10972800"/>
              <a:gd name="csY1" fmla="*/ 0 h 18288"/>
              <a:gd name="csX2" fmla="*/ 1042416 w 10972800"/>
              <a:gd name="csY2" fmla="*/ 0 h 18288"/>
              <a:gd name="csX3" fmla="*/ 1947672 w 10972800"/>
              <a:gd name="csY3" fmla="*/ 0 h 18288"/>
              <a:gd name="csX4" fmla="*/ 2633472 w 10972800"/>
              <a:gd name="csY4" fmla="*/ 0 h 18288"/>
              <a:gd name="csX5" fmla="*/ 2990088 w 10972800"/>
              <a:gd name="csY5" fmla="*/ 0 h 18288"/>
              <a:gd name="csX6" fmla="*/ 3456432 w 10972800"/>
              <a:gd name="csY6" fmla="*/ 0 h 18288"/>
              <a:gd name="csX7" fmla="*/ 4361688 w 10972800"/>
              <a:gd name="csY7" fmla="*/ 0 h 18288"/>
              <a:gd name="csX8" fmla="*/ 5266944 w 10972800"/>
              <a:gd name="csY8" fmla="*/ 0 h 18288"/>
              <a:gd name="csX9" fmla="*/ 6172200 w 10972800"/>
              <a:gd name="csY9" fmla="*/ 0 h 18288"/>
              <a:gd name="csX10" fmla="*/ 6528816 w 10972800"/>
              <a:gd name="csY10" fmla="*/ 0 h 18288"/>
              <a:gd name="csX11" fmla="*/ 7214616 w 10972800"/>
              <a:gd name="csY11" fmla="*/ 0 h 18288"/>
              <a:gd name="csX12" fmla="*/ 7790688 w 10972800"/>
              <a:gd name="csY12" fmla="*/ 0 h 18288"/>
              <a:gd name="csX13" fmla="*/ 8147304 w 10972800"/>
              <a:gd name="csY13" fmla="*/ 0 h 18288"/>
              <a:gd name="csX14" fmla="*/ 9052560 w 10972800"/>
              <a:gd name="csY14" fmla="*/ 0 h 18288"/>
              <a:gd name="csX15" fmla="*/ 9409176 w 10972800"/>
              <a:gd name="csY15" fmla="*/ 0 h 18288"/>
              <a:gd name="csX16" fmla="*/ 9765792 w 10972800"/>
              <a:gd name="csY16" fmla="*/ 0 h 18288"/>
              <a:gd name="csX17" fmla="*/ 10341864 w 10972800"/>
              <a:gd name="csY17" fmla="*/ 0 h 18288"/>
              <a:gd name="csX18" fmla="*/ 10972800 w 10972800"/>
              <a:gd name="csY18" fmla="*/ 0 h 18288"/>
              <a:gd name="csX19" fmla="*/ 10972800 w 10972800"/>
              <a:gd name="csY19" fmla="*/ 18288 h 18288"/>
              <a:gd name="csX20" fmla="*/ 10177272 w 10972800"/>
              <a:gd name="csY20" fmla="*/ 18288 h 18288"/>
              <a:gd name="csX21" fmla="*/ 9820656 w 10972800"/>
              <a:gd name="csY21" fmla="*/ 18288 h 18288"/>
              <a:gd name="csX22" fmla="*/ 9464040 w 10972800"/>
              <a:gd name="csY22" fmla="*/ 18288 h 18288"/>
              <a:gd name="csX23" fmla="*/ 8778240 w 10972800"/>
              <a:gd name="csY23" fmla="*/ 18288 h 18288"/>
              <a:gd name="csX24" fmla="*/ 8421624 w 10972800"/>
              <a:gd name="csY24" fmla="*/ 18288 h 18288"/>
              <a:gd name="csX25" fmla="*/ 7735824 w 10972800"/>
              <a:gd name="csY25" fmla="*/ 18288 h 18288"/>
              <a:gd name="csX26" fmla="*/ 6940296 w 10972800"/>
              <a:gd name="csY26" fmla="*/ 18288 h 18288"/>
              <a:gd name="csX27" fmla="*/ 6254496 w 10972800"/>
              <a:gd name="csY27" fmla="*/ 18288 h 18288"/>
              <a:gd name="csX28" fmla="*/ 5458968 w 10972800"/>
              <a:gd name="csY28" fmla="*/ 18288 h 18288"/>
              <a:gd name="csX29" fmla="*/ 4663440 w 10972800"/>
              <a:gd name="csY29" fmla="*/ 18288 h 18288"/>
              <a:gd name="csX30" fmla="*/ 4306824 w 10972800"/>
              <a:gd name="csY30" fmla="*/ 18288 h 18288"/>
              <a:gd name="csX31" fmla="*/ 3840480 w 10972800"/>
              <a:gd name="csY31" fmla="*/ 18288 h 18288"/>
              <a:gd name="csX32" fmla="*/ 3264408 w 10972800"/>
              <a:gd name="csY32" fmla="*/ 18288 h 18288"/>
              <a:gd name="csX33" fmla="*/ 2578608 w 10972800"/>
              <a:gd name="csY33" fmla="*/ 18288 h 18288"/>
              <a:gd name="csX34" fmla="*/ 1673352 w 10972800"/>
              <a:gd name="csY34" fmla="*/ 18288 h 18288"/>
              <a:gd name="csX35" fmla="*/ 877824 w 10972800"/>
              <a:gd name="csY35" fmla="*/ 18288 h 18288"/>
              <a:gd name="csX36" fmla="*/ 0 w 10972800"/>
              <a:gd name="csY36" fmla="*/ 18288 h 18288"/>
              <a:gd name="csX37" fmla="*/ 0 w 10972800"/>
              <a:gd name="csY37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</a:cxnLst>
            <a:rect l="l" t="t" r="r" b="b"/>
            <a:pathLst>
              <a:path w="10972800" h="18288" fill="none" extrusionOk="0">
                <a:moveTo>
                  <a:pt x="0" y="0"/>
                </a:moveTo>
                <a:cubicBezTo>
                  <a:pt x="165916" y="-1866"/>
                  <a:pt x="188720" y="13756"/>
                  <a:pt x="356616" y="0"/>
                </a:cubicBezTo>
                <a:cubicBezTo>
                  <a:pt x="524512" y="-13756"/>
                  <a:pt x="734781" y="8922"/>
                  <a:pt x="1042416" y="0"/>
                </a:cubicBezTo>
                <a:cubicBezTo>
                  <a:pt x="1350051" y="-8922"/>
                  <a:pt x="1595982" y="-26315"/>
                  <a:pt x="1947672" y="0"/>
                </a:cubicBezTo>
                <a:cubicBezTo>
                  <a:pt x="2299362" y="26315"/>
                  <a:pt x="2292691" y="-19526"/>
                  <a:pt x="2633472" y="0"/>
                </a:cubicBezTo>
                <a:cubicBezTo>
                  <a:pt x="2974253" y="19526"/>
                  <a:pt x="2857309" y="10773"/>
                  <a:pt x="2990088" y="0"/>
                </a:cubicBezTo>
                <a:cubicBezTo>
                  <a:pt x="3122867" y="-10773"/>
                  <a:pt x="3359343" y="7194"/>
                  <a:pt x="3456432" y="0"/>
                </a:cubicBezTo>
                <a:cubicBezTo>
                  <a:pt x="3553521" y="-7194"/>
                  <a:pt x="4136258" y="5108"/>
                  <a:pt x="4361688" y="0"/>
                </a:cubicBezTo>
                <a:cubicBezTo>
                  <a:pt x="4587118" y="-5108"/>
                  <a:pt x="4992424" y="-42958"/>
                  <a:pt x="5266944" y="0"/>
                </a:cubicBezTo>
                <a:cubicBezTo>
                  <a:pt x="5541464" y="42958"/>
                  <a:pt x="5882966" y="-3430"/>
                  <a:pt x="6172200" y="0"/>
                </a:cubicBezTo>
                <a:cubicBezTo>
                  <a:pt x="6461434" y="3430"/>
                  <a:pt x="6432127" y="6688"/>
                  <a:pt x="6528816" y="0"/>
                </a:cubicBezTo>
                <a:cubicBezTo>
                  <a:pt x="6625505" y="-6688"/>
                  <a:pt x="6916805" y="-436"/>
                  <a:pt x="7214616" y="0"/>
                </a:cubicBezTo>
                <a:cubicBezTo>
                  <a:pt x="7512427" y="436"/>
                  <a:pt x="7626159" y="-6909"/>
                  <a:pt x="7790688" y="0"/>
                </a:cubicBezTo>
                <a:cubicBezTo>
                  <a:pt x="7955217" y="6909"/>
                  <a:pt x="8048891" y="15307"/>
                  <a:pt x="8147304" y="0"/>
                </a:cubicBezTo>
                <a:cubicBezTo>
                  <a:pt x="8245717" y="-15307"/>
                  <a:pt x="8645618" y="-11734"/>
                  <a:pt x="9052560" y="0"/>
                </a:cubicBezTo>
                <a:cubicBezTo>
                  <a:pt x="9459502" y="11734"/>
                  <a:pt x="9320584" y="8388"/>
                  <a:pt x="9409176" y="0"/>
                </a:cubicBezTo>
                <a:cubicBezTo>
                  <a:pt x="9497768" y="-8388"/>
                  <a:pt x="9644192" y="8379"/>
                  <a:pt x="9765792" y="0"/>
                </a:cubicBezTo>
                <a:cubicBezTo>
                  <a:pt x="9887392" y="-8379"/>
                  <a:pt x="10105220" y="-12663"/>
                  <a:pt x="10341864" y="0"/>
                </a:cubicBezTo>
                <a:cubicBezTo>
                  <a:pt x="10578508" y="12663"/>
                  <a:pt x="10773103" y="-5786"/>
                  <a:pt x="10972800" y="0"/>
                </a:cubicBezTo>
                <a:cubicBezTo>
                  <a:pt x="10972146" y="8818"/>
                  <a:pt x="10972240" y="13823"/>
                  <a:pt x="10972800" y="18288"/>
                </a:cubicBezTo>
                <a:cubicBezTo>
                  <a:pt x="10588778" y="31598"/>
                  <a:pt x="10543381" y="-12698"/>
                  <a:pt x="10177272" y="18288"/>
                </a:cubicBezTo>
                <a:cubicBezTo>
                  <a:pt x="9811163" y="49274"/>
                  <a:pt x="9996817" y="25662"/>
                  <a:pt x="9820656" y="18288"/>
                </a:cubicBezTo>
                <a:cubicBezTo>
                  <a:pt x="9644495" y="10914"/>
                  <a:pt x="9607007" y="31631"/>
                  <a:pt x="9464040" y="18288"/>
                </a:cubicBezTo>
                <a:cubicBezTo>
                  <a:pt x="9321073" y="4945"/>
                  <a:pt x="9114189" y="28940"/>
                  <a:pt x="8778240" y="18288"/>
                </a:cubicBezTo>
                <a:cubicBezTo>
                  <a:pt x="8442291" y="7636"/>
                  <a:pt x="8594763" y="987"/>
                  <a:pt x="8421624" y="18288"/>
                </a:cubicBezTo>
                <a:cubicBezTo>
                  <a:pt x="8248485" y="35589"/>
                  <a:pt x="7929515" y="37573"/>
                  <a:pt x="7735824" y="18288"/>
                </a:cubicBezTo>
                <a:cubicBezTo>
                  <a:pt x="7542133" y="-997"/>
                  <a:pt x="7252504" y="33858"/>
                  <a:pt x="6940296" y="18288"/>
                </a:cubicBezTo>
                <a:cubicBezTo>
                  <a:pt x="6628088" y="2718"/>
                  <a:pt x="6528503" y="48389"/>
                  <a:pt x="6254496" y="18288"/>
                </a:cubicBezTo>
                <a:cubicBezTo>
                  <a:pt x="5980489" y="-11813"/>
                  <a:pt x="5695784" y="-3740"/>
                  <a:pt x="5458968" y="18288"/>
                </a:cubicBezTo>
                <a:cubicBezTo>
                  <a:pt x="5222152" y="40316"/>
                  <a:pt x="5010751" y="19095"/>
                  <a:pt x="4663440" y="18288"/>
                </a:cubicBezTo>
                <a:cubicBezTo>
                  <a:pt x="4316129" y="17481"/>
                  <a:pt x="4425552" y="1606"/>
                  <a:pt x="4306824" y="18288"/>
                </a:cubicBezTo>
                <a:cubicBezTo>
                  <a:pt x="4188096" y="34970"/>
                  <a:pt x="3941535" y="7481"/>
                  <a:pt x="3840480" y="18288"/>
                </a:cubicBezTo>
                <a:cubicBezTo>
                  <a:pt x="3739425" y="29095"/>
                  <a:pt x="3402388" y="17641"/>
                  <a:pt x="3264408" y="18288"/>
                </a:cubicBezTo>
                <a:cubicBezTo>
                  <a:pt x="3126428" y="18935"/>
                  <a:pt x="2776779" y="9983"/>
                  <a:pt x="2578608" y="18288"/>
                </a:cubicBezTo>
                <a:cubicBezTo>
                  <a:pt x="2380437" y="26593"/>
                  <a:pt x="1909468" y="25818"/>
                  <a:pt x="1673352" y="18288"/>
                </a:cubicBezTo>
                <a:cubicBezTo>
                  <a:pt x="1437236" y="10758"/>
                  <a:pt x="1131180" y="49884"/>
                  <a:pt x="877824" y="18288"/>
                </a:cubicBezTo>
                <a:cubicBezTo>
                  <a:pt x="624468" y="-13308"/>
                  <a:pt x="206753" y="2195"/>
                  <a:pt x="0" y="18288"/>
                </a:cubicBezTo>
                <a:cubicBezTo>
                  <a:pt x="313" y="10654"/>
                  <a:pt x="-263" y="4056"/>
                  <a:pt x="0" y="0"/>
                </a:cubicBezTo>
                <a:close/>
              </a:path>
              <a:path w="10972800" h="18288" stroke="0" extrusionOk="0">
                <a:moveTo>
                  <a:pt x="0" y="0"/>
                </a:moveTo>
                <a:cubicBezTo>
                  <a:pt x="164017" y="-17675"/>
                  <a:pt x="309425" y="9913"/>
                  <a:pt x="466344" y="0"/>
                </a:cubicBezTo>
                <a:cubicBezTo>
                  <a:pt x="623263" y="-9913"/>
                  <a:pt x="659300" y="-14524"/>
                  <a:pt x="822960" y="0"/>
                </a:cubicBezTo>
                <a:cubicBezTo>
                  <a:pt x="986620" y="14524"/>
                  <a:pt x="1105222" y="-16481"/>
                  <a:pt x="1289304" y="0"/>
                </a:cubicBezTo>
                <a:cubicBezTo>
                  <a:pt x="1473386" y="16481"/>
                  <a:pt x="1693223" y="26161"/>
                  <a:pt x="1975104" y="0"/>
                </a:cubicBezTo>
                <a:cubicBezTo>
                  <a:pt x="2256985" y="-26161"/>
                  <a:pt x="2435781" y="23061"/>
                  <a:pt x="2770632" y="0"/>
                </a:cubicBezTo>
                <a:cubicBezTo>
                  <a:pt x="3105483" y="-23061"/>
                  <a:pt x="3247479" y="-44011"/>
                  <a:pt x="3675888" y="0"/>
                </a:cubicBezTo>
                <a:cubicBezTo>
                  <a:pt x="4104297" y="44011"/>
                  <a:pt x="4280918" y="4017"/>
                  <a:pt x="4581144" y="0"/>
                </a:cubicBezTo>
                <a:cubicBezTo>
                  <a:pt x="4881370" y="-4017"/>
                  <a:pt x="5021699" y="-11889"/>
                  <a:pt x="5157216" y="0"/>
                </a:cubicBezTo>
                <a:cubicBezTo>
                  <a:pt x="5292733" y="11889"/>
                  <a:pt x="5603398" y="-17698"/>
                  <a:pt x="5952744" y="0"/>
                </a:cubicBezTo>
                <a:cubicBezTo>
                  <a:pt x="6302090" y="17698"/>
                  <a:pt x="6353093" y="-11909"/>
                  <a:pt x="6638544" y="0"/>
                </a:cubicBezTo>
                <a:cubicBezTo>
                  <a:pt x="6923995" y="11909"/>
                  <a:pt x="7053404" y="21630"/>
                  <a:pt x="7214616" y="0"/>
                </a:cubicBezTo>
                <a:cubicBezTo>
                  <a:pt x="7375828" y="-21630"/>
                  <a:pt x="7837963" y="3886"/>
                  <a:pt x="8010144" y="0"/>
                </a:cubicBezTo>
                <a:cubicBezTo>
                  <a:pt x="8182325" y="-3886"/>
                  <a:pt x="8224183" y="16009"/>
                  <a:pt x="8366760" y="0"/>
                </a:cubicBezTo>
                <a:cubicBezTo>
                  <a:pt x="8509337" y="-16009"/>
                  <a:pt x="8687920" y="-5720"/>
                  <a:pt x="8942832" y="0"/>
                </a:cubicBezTo>
                <a:cubicBezTo>
                  <a:pt x="9197744" y="5720"/>
                  <a:pt x="9368437" y="20479"/>
                  <a:pt x="9628632" y="0"/>
                </a:cubicBezTo>
                <a:cubicBezTo>
                  <a:pt x="9888827" y="-20479"/>
                  <a:pt x="10560858" y="-20746"/>
                  <a:pt x="10972800" y="0"/>
                </a:cubicBezTo>
                <a:cubicBezTo>
                  <a:pt x="10972186" y="5722"/>
                  <a:pt x="10972980" y="12495"/>
                  <a:pt x="10972800" y="18288"/>
                </a:cubicBezTo>
                <a:cubicBezTo>
                  <a:pt x="10786146" y="12536"/>
                  <a:pt x="10623717" y="14033"/>
                  <a:pt x="10506456" y="18288"/>
                </a:cubicBezTo>
                <a:cubicBezTo>
                  <a:pt x="10389195" y="22543"/>
                  <a:pt x="10296178" y="20107"/>
                  <a:pt x="10149840" y="18288"/>
                </a:cubicBezTo>
                <a:cubicBezTo>
                  <a:pt x="10003502" y="16469"/>
                  <a:pt x="9767530" y="28891"/>
                  <a:pt x="9464040" y="18288"/>
                </a:cubicBezTo>
                <a:cubicBezTo>
                  <a:pt x="9160550" y="7685"/>
                  <a:pt x="9229050" y="2659"/>
                  <a:pt x="8997696" y="18288"/>
                </a:cubicBezTo>
                <a:cubicBezTo>
                  <a:pt x="8766342" y="33917"/>
                  <a:pt x="8340136" y="34864"/>
                  <a:pt x="8092440" y="18288"/>
                </a:cubicBezTo>
                <a:cubicBezTo>
                  <a:pt x="7844744" y="1712"/>
                  <a:pt x="7863720" y="27405"/>
                  <a:pt x="7735824" y="18288"/>
                </a:cubicBezTo>
                <a:cubicBezTo>
                  <a:pt x="7607928" y="9171"/>
                  <a:pt x="7323619" y="461"/>
                  <a:pt x="7050024" y="18288"/>
                </a:cubicBezTo>
                <a:cubicBezTo>
                  <a:pt x="6776429" y="36115"/>
                  <a:pt x="6787899" y="28206"/>
                  <a:pt x="6693408" y="18288"/>
                </a:cubicBezTo>
                <a:cubicBezTo>
                  <a:pt x="6598917" y="8370"/>
                  <a:pt x="6395231" y="19114"/>
                  <a:pt x="6227064" y="18288"/>
                </a:cubicBezTo>
                <a:cubicBezTo>
                  <a:pt x="6058897" y="17462"/>
                  <a:pt x="5618582" y="1091"/>
                  <a:pt x="5431536" y="18288"/>
                </a:cubicBezTo>
                <a:cubicBezTo>
                  <a:pt x="5244490" y="35485"/>
                  <a:pt x="4729797" y="-9650"/>
                  <a:pt x="4526280" y="18288"/>
                </a:cubicBezTo>
                <a:cubicBezTo>
                  <a:pt x="4322763" y="46226"/>
                  <a:pt x="4216797" y="756"/>
                  <a:pt x="4059936" y="18288"/>
                </a:cubicBezTo>
                <a:cubicBezTo>
                  <a:pt x="3903075" y="35820"/>
                  <a:pt x="3537912" y="42098"/>
                  <a:pt x="3374136" y="18288"/>
                </a:cubicBezTo>
                <a:cubicBezTo>
                  <a:pt x="3210360" y="-5522"/>
                  <a:pt x="3126842" y="39135"/>
                  <a:pt x="2907792" y="18288"/>
                </a:cubicBezTo>
                <a:cubicBezTo>
                  <a:pt x="2688742" y="-2559"/>
                  <a:pt x="2490436" y="34100"/>
                  <a:pt x="2112264" y="18288"/>
                </a:cubicBezTo>
                <a:cubicBezTo>
                  <a:pt x="1734092" y="2476"/>
                  <a:pt x="1744622" y="-7274"/>
                  <a:pt x="1536192" y="18288"/>
                </a:cubicBezTo>
                <a:cubicBezTo>
                  <a:pt x="1327762" y="43850"/>
                  <a:pt x="1189025" y="6435"/>
                  <a:pt x="1069848" y="18288"/>
                </a:cubicBezTo>
                <a:cubicBezTo>
                  <a:pt x="950671" y="30141"/>
                  <a:pt x="858345" y="33684"/>
                  <a:pt x="713232" y="18288"/>
                </a:cubicBezTo>
                <a:cubicBezTo>
                  <a:pt x="568119" y="2892"/>
                  <a:pt x="250292" y="5410"/>
                  <a:pt x="0" y="18288"/>
                </a:cubicBezTo>
                <a:cubicBezTo>
                  <a:pt x="465" y="13062"/>
                  <a:pt x="-894" y="9029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w="44450" cap="rnd">
            <a:solidFill>
              <a:schemeClr val="accent2">
                <a:alpha val="75000"/>
              </a:schemeClr>
            </a:solidFill>
            <a:round/>
            <a:extLst>
              <a:ext uri="{C807C97D-BFC1-408E-A445-0C87EB9F89A2}">
                <ask:lineSketchStyleProps xmlns=""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572493" y="2071316"/>
            <a:ext cx="6713552" cy="4786684"/>
          </a:xfrm>
        </p:spPr>
        <p:txBody>
          <a:bodyPr anchor="t">
            <a:normAutofit lnSpcReduction="10000"/>
          </a:bodyPr>
          <a:lstStyle/>
          <a:p>
            <a:pPr>
              <a:buFont typeface="Wingdings" panose="05000000000000000000" pitchFamily="2" charset="2"/>
              <a:buChar char="Ø"/>
            </a:pPr>
            <a:endParaRPr lang="tr-TR" sz="1700" b="1" dirty="0">
              <a:latin typeface="Aptos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tr-TR" sz="2000" b="1" dirty="0">
                <a:latin typeface="Aptos"/>
              </a:rPr>
              <a:t>Gaz ölçümleri</a:t>
            </a:r>
            <a:r>
              <a:rPr lang="tr-TR" sz="2000" dirty="0">
                <a:latin typeface="Aptos"/>
              </a:rPr>
              <a:t> (O₂, CO, H₂S, CH₄ vb.) giriş öncesi ve çalışma süresince yapılmalı.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tr-TR" sz="2000" b="1" dirty="0">
                <a:latin typeface="Aptos"/>
              </a:rPr>
              <a:t>Yeterli havalandırma</a:t>
            </a:r>
            <a:r>
              <a:rPr lang="tr-TR" sz="2000" dirty="0">
                <a:latin typeface="Aptos"/>
              </a:rPr>
              <a:t> sağlanmalı (doğal veya mekanik).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tr-TR" sz="2000" b="1" dirty="0">
                <a:latin typeface="Aptos"/>
              </a:rPr>
              <a:t>Kişisel koruyucu donanımlar</a:t>
            </a:r>
            <a:r>
              <a:rPr lang="tr-TR" sz="2000" dirty="0">
                <a:latin typeface="Aptos"/>
              </a:rPr>
              <a:t> (gaz maskesi, solunum cihazı, emniyet kemeri) kullanılmalı.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tr-TR" sz="2000" b="1" dirty="0">
                <a:latin typeface="Aptos"/>
              </a:rPr>
              <a:t>Gözcü personel</a:t>
            </a:r>
            <a:r>
              <a:rPr lang="tr-TR" sz="2000" dirty="0">
                <a:latin typeface="Aptos"/>
              </a:rPr>
              <a:t> dışarıda bulunmalı ve iletişim sürekli sağlanmalı.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tr-TR" sz="2000" b="1" dirty="0">
                <a:latin typeface="Aptos"/>
              </a:rPr>
              <a:t>Acil durum planı</a:t>
            </a:r>
            <a:r>
              <a:rPr lang="tr-TR" sz="2000" dirty="0">
                <a:latin typeface="Aptos"/>
              </a:rPr>
              <a:t> ve kurtarma ekipmanı hazır bulundurulmalı</a:t>
            </a:r>
            <a:r>
              <a:rPr lang="tr-TR" sz="2000" dirty="0"/>
              <a:t>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tr-TR" sz="2000" b="1" dirty="0">
                <a:latin typeface="Aptos"/>
              </a:rPr>
              <a:t>Kimyasal kalıntılar </a:t>
            </a:r>
            <a:r>
              <a:rPr lang="tr-TR" sz="2000" dirty="0">
                <a:latin typeface="Aptos"/>
              </a:rPr>
              <a:t>çalışma öncesi temizlenmelidir.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tr-TR" sz="2000" dirty="0">
                <a:latin typeface="Aptos"/>
              </a:rPr>
              <a:t>Tank / hat içi </a:t>
            </a:r>
            <a:r>
              <a:rPr lang="tr-TR" sz="2000" b="1" dirty="0">
                <a:latin typeface="Aptos"/>
              </a:rPr>
              <a:t>izolasyon</a:t>
            </a:r>
            <a:r>
              <a:rPr lang="tr-TR" sz="2000" dirty="0">
                <a:latin typeface="Aptos"/>
              </a:rPr>
              <a:t> yapılmalıdır.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tr-TR" sz="2000" dirty="0">
                <a:latin typeface="Aptos"/>
              </a:rPr>
              <a:t>Toz oluşumu azaltılmalıdır.</a:t>
            </a:r>
          </a:p>
          <a:p>
            <a:pPr marL="0" indent="0">
              <a:buNone/>
            </a:pPr>
            <a:endParaRPr lang="tr-TR" sz="1700" dirty="0"/>
          </a:p>
        </p:txBody>
      </p:sp>
      <p:pic>
        <p:nvPicPr>
          <p:cNvPr id="5" name="Resim 4"/>
          <p:cNvPicPr>
            <a:picLocks noChangeAspect="1"/>
          </p:cNvPicPr>
          <p:nvPr/>
        </p:nvPicPr>
        <p:blipFill rotWithShape="1">
          <a:blip r:embed="rId2"/>
          <a:srcRect l="20249" r="14092" b="3"/>
          <a:stretch>
            <a:fillRect/>
          </a:stretch>
        </p:blipFill>
        <p:spPr>
          <a:xfrm>
            <a:off x="7675658" y="2093976"/>
            <a:ext cx="3941064" cy="4096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720571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F78099A-F8A9-7317-1D39-EB6D4B876F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69A5D65-BE65-8568-FD42-E610DDEF0709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Unvan 1">
            <a:extLst>
              <a:ext uri="{FF2B5EF4-FFF2-40B4-BE49-F238E27FC236}">
                <a16:creationId xmlns:a16="http://schemas.microsoft.com/office/drawing/2014/main" id="{88DDEF1B-487C-CB39-1FB5-6B30829EA8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tr-TR" b="1" dirty="0">
                <a:latin typeface="Aptos"/>
              </a:rPr>
              <a:t>Alınması gereken tedbirler</a:t>
            </a:r>
            <a:endParaRPr lang="tr-TR" dirty="0"/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13590452-3D2A-3144-9A58-E8D4321FD7C9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=""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6D7CD0A6-5C31-12F8-5496-139A2FFE29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tr-TR" sz="2200" b="1" dirty="0">
                <a:latin typeface="Aptos"/>
              </a:rPr>
              <a:t>5. Elektriksel ve Mekanik tehlikeler </a:t>
            </a:r>
          </a:p>
          <a:p>
            <a:pPr marL="0" indent="0">
              <a:buNone/>
            </a:pPr>
            <a:endParaRPr lang="tr-TR" sz="2000" b="1" dirty="0">
              <a:solidFill>
                <a:schemeClr val="accent6"/>
              </a:solidFill>
              <a:latin typeface="Aptos"/>
            </a:endParaRPr>
          </a:p>
          <a:p>
            <a:pPr marL="0" indent="0">
              <a:buNone/>
            </a:pPr>
            <a:r>
              <a:rPr lang="tr-TR" sz="2400" dirty="0"/>
              <a:t>   </a:t>
            </a:r>
            <a:r>
              <a:rPr lang="tr-TR" sz="2200" dirty="0">
                <a:latin typeface="Aptos" panose="020B0004020202020204" pitchFamily="34" charset="0"/>
              </a:rPr>
              <a:t>Bu tehlikeler genellikle ekipmanların yanlış kullanımı, bakım eksiklikleri veya uygun güvenlik önlemlerinin alınmaması sonucu ortaya çıkar.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tr-TR" sz="2200" b="1" dirty="0">
                <a:latin typeface="Aptos" panose="020B0004020202020204" pitchFamily="34" charset="0"/>
              </a:rPr>
              <a:t>   Elektriksel: </a:t>
            </a:r>
            <a:r>
              <a:rPr lang="tr-TR" sz="2200" dirty="0">
                <a:latin typeface="Aptos" panose="020B0004020202020204" pitchFamily="34" charset="0"/>
              </a:rPr>
              <a:t>Hasarlı kablolar veya izolasyon eksiklikleri,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tr-TR" sz="2200" dirty="0">
                <a:latin typeface="Aptos" panose="020B0004020202020204" pitchFamily="34" charset="0"/>
              </a:rPr>
              <a:t>                       </a:t>
            </a:r>
            <a:r>
              <a:rPr lang="tr-TR" sz="2200" dirty="0" smtClean="0">
                <a:latin typeface="Aptos" panose="020B0004020202020204" pitchFamily="34" charset="0"/>
              </a:rPr>
              <a:t>Uygun </a:t>
            </a:r>
            <a:r>
              <a:rPr lang="tr-TR" sz="2200" dirty="0">
                <a:latin typeface="Aptos" panose="020B0004020202020204" pitchFamily="34" charset="0"/>
              </a:rPr>
              <a:t>olmayan bağlantılar veya geçici kablolama,</a:t>
            </a:r>
          </a:p>
          <a:p>
            <a:pPr marL="0" indent="0">
              <a:buNone/>
            </a:pPr>
            <a:endParaRPr lang="tr-TR" sz="2200" dirty="0">
              <a:latin typeface="Aptos" panose="020B0004020202020204" pitchFamily="34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tr-TR" sz="2200" dirty="0">
                <a:latin typeface="Aptos" panose="020B0004020202020204" pitchFamily="34" charset="0"/>
              </a:rPr>
              <a:t>Elektrik kaynakları kapalı alan dışında konumlandırılmalı.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tr-TR" sz="2200" dirty="0">
                <a:latin typeface="Aptos" panose="020B0004020202020204" pitchFamily="34" charset="0"/>
              </a:rPr>
              <a:t>Tüm ekipmanlar </a:t>
            </a:r>
            <a:r>
              <a:rPr lang="tr-TR" sz="2200" b="1" dirty="0">
                <a:latin typeface="Aptos" panose="020B0004020202020204" pitchFamily="34" charset="0"/>
              </a:rPr>
              <a:t>topraklanmalı</a:t>
            </a:r>
            <a:r>
              <a:rPr lang="tr-TR" sz="2200" dirty="0">
                <a:latin typeface="Aptos" panose="020B0004020202020204" pitchFamily="34" charset="0"/>
              </a:rPr>
              <a:t> ve </a:t>
            </a:r>
            <a:r>
              <a:rPr lang="tr-TR" sz="2200" b="1" dirty="0">
                <a:latin typeface="Aptos" panose="020B0004020202020204" pitchFamily="34" charset="0"/>
              </a:rPr>
              <a:t>izolasyonu</a:t>
            </a:r>
            <a:r>
              <a:rPr lang="tr-TR" sz="2200" dirty="0">
                <a:latin typeface="Aptos" panose="020B0004020202020204" pitchFamily="34" charset="0"/>
              </a:rPr>
              <a:t> kontrol edilmelidir.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tr-TR" sz="2200" b="1" dirty="0" err="1">
                <a:latin typeface="Aptos" panose="020B0004020202020204" pitchFamily="34" charset="0"/>
              </a:rPr>
              <a:t>Ex-proof</a:t>
            </a:r>
            <a:r>
              <a:rPr lang="tr-TR" sz="2200" b="1" dirty="0">
                <a:latin typeface="Aptos" panose="020B0004020202020204" pitchFamily="34" charset="0"/>
              </a:rPr>
              <a:t> (patlamaya dayanıklı)</a:t>
            </a:r>
            <a:r>
              <a:rPr lang="tr-TR" sz="2200" dirty="0">
                <a:latin typeface="Aptos" panose="020B0004020202020204" pitchFamily="34" charset="0"/>
              </a:rPr>
              <a:t> ekipman kullanılmalıdır.</a:t>
            </a:r>
          </a:p>
          <a:p>
            <a:pPr marL="0" indent="0">
              <a:buNone/>
            </a:pPr>
            <a:endParaRPr lang="tr-TR" sz="2400" dirty="0"/>
          </a:p>
          <a:p>
            <a:pPr marL="457200" indent="-457200">
              <a:buAutoNum type="arabicPeriod" startAt="4"/>
            </a:pPr>
            <a:endParaRPr lang="tr-TR" sz="2200" dirty="0"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208082364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FCF1FDD-EB81-5B97-4E4A-88A889049F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5886EC5-2797-3051-5C77-4DDE91402E87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Unvan 1">
            <a:extLst>
              <a:ext uri="{FF2B5EF4-FFF2-40B4-BE49-F238E27FC236}">
                <a16:creationId xmlns:a16="http://schemas.microsoft.com/office/drawing/2014/main" id="{1D1B26C2-6C37-E6CD-8209-D28329E372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tr-TR" b="1" dirty="0">
                <a:latin typeface="Aptos"/>
              </a:rPr>
              <a:t>Alınması gereken tedbirler</a:t>
            </a:r>
            <a:endParaRPr lang="tr-TR" dirty="0"/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47FA8992-AE46-A0EE-2F19-1976728E2961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=""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77353E87-B0C2-D977-2E3E-2785602B53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tr-TR" sz="2400" b="1" dirty="0">
                <a:latin typeface="Aptos"/>
              </a:rPr>
              <a:t>Mekanik:</a:t>
            </a:r>
            <a:r>
              <a:rPr lang="tr-TR" sz="2400" dirty="0">
                <a:latin typeface="Aptos"/>
              </a:rPr>
              <a:t> </a:t>
            </a:r>
            <a:r>
              <a:rPr lang="tr-TR" sz="2400" dirty="0" smtClean="0">
                <a:latin typeface="Aptos"/>
              </a:rPr>
              <a:t>    Koruyucu </a:t>
            </a:r>
            <a:r>
              <a:rPr lang="tr-TR" sz="2400" dirty="0">
                <a:latin typeface="Aptos"/>
              </a:rPr>
              <a:t>muhafazaların kaldırılması veya eksik olması,</a:t>
            </a:r>
          </a:p>
          <a:p>
            <a:pPr marL="0" indent="0">
              <a:buNone/>
            </a:pPr>
            <a:r>
              <a:rPr lang="tr-TR" sz="2400" dirty="0">
                <a:latin typeface="Aptos"/>
              </a:rPr>
              <a:t>                     Ekipman bakımının yapılmaması</a:t>
            </a:r>
          </a:p>
          <a:p>
            <a:pPr marL="0" indent="0">
              <a:buNone/>
            </a:pPr>
            <a:r>
              <a:rPr lang="tr-TR" sz="2400" dirty="0">
                <a:latin typeface="Aptos"/>
              </a:rPr>
              <a:t>                     Enerji izolasyonu yapılmadan bakım veya temizlik yapılması</a:t>
            </a:r>
          </a:p>
          <a:p>
            <a:pPr marL="0" indent="0">
              <a:buNone/>
            </a:pPr>
            <a:r>
              <a:rPr lang="tr-TR" sz="2400" dirty="0">
                <a:latin typeface="Aptos"/>
              </a:rPr>
              <a:t>                     Uygun olmayan alet veya yöntem kullanımı</a:t>
            </a:r>
          </a:p>
          <a:p>
            <a:pPr marL="0" indent="0">
              <a:buNone/>
            </a:pPr>
            <a:endParaRPr lang="tr-TR" sz="2400" dirty="0">
              <a:latin typeface="Aptos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tr-TR" sz="2400" dirty="0">
                <a:latin typeface="Aptos"/>
              </a:rPr>
              <a:t>Tüm hareketli parçalar </a:t>
            </a:r>
            <a:r>
              <a:rPr lang="tr-TR" sz="2400" b="1" dirty="0">
                <a:latin typeface="Aptos"/>
              </a:rPr>
              <a:t>koruyucu muhafazalarla</a:t>
            </a:r>
            <a:r>
              <a:rPr lang="tr-TR" sz="2400" dirty="0">
                <a:latin typeface="Aptos"/>
              </a:rPr>
              <a:t> kapatılmalıdır.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tr-TR" sz="2400" dirty="0">
                <a:latin typeface="Aptos"/>
              </a:rPr>
              <a:t>Bakım ve temizlik işlemleri öncesinde </a:t>
            </a:r>
            <a:r>
              <a:rPr lang="tr-TR" sz="2400" b="1" dirty="0">
                <a:latin typeface="Aptos"/>
              </a:rPr>
              <a:t>mekanik enerji kaynakları izole edilmelidir.</a:t>
            </a:r>
            <a:endParaRPr lang="tr-TR" sz="2400" dirty="0">
              <a:latin typeface="Aptos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tr-TR" sz="2400" dirty="0">
                <a:latin typeface="Aptos"/>
              </a:rPr>
              <a:t>Çalışanlar </a:t>
            </a:r>
            <a:r>
              <a:rPr lang="tr-TR" sz="2400" b="1" dirty="0">
                <a:latin typeface="Aptos"/>
              </a:rPr>
              <a:t>mekanik tehlikeler konusunda eğitilmeli</a:t>
            </a:r>
            <a:r>
              <a:rPr lang="tr-TR" sz="2400" dirty="0">
                <a:latin typeface="Aptos"/>
              </a:rPr>
              <a:t> ve uygun </a:t>
            </a:r>
            <a:r>
              <a:rPr lang="tr-TR" sz="2400" b="1" dirty="0">
                <a:latin typeface="Aptos"/>
              </a:rPr>
              <a:t>kişisel koruyucu donanım</a:t>
            </a:r>
            <a:r>
              <a:rPr lang="tr-TR" sz="2400" dirty="0">
                <a:latin typeface="Aptos"/>
              </a:rPr>
              <a:t> (eldiven, baret, gözlük vb.) kullanmalıdır.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tr-TR" sz="2400" dirty="0">
                <a:latin typeface="Aptos"/>
              </a:rPr>
              <a:t>Ekipmanlar düzenli olarak </a:t>
            </a:r>
            <a:r>
              <a:rPr lang="tr-TR" sz="2400" b="1" dirty="0">
                <a:latin typeface="Aptos"/>
              </a:rPr>
              <a:t>bakım ve kontrol</a:t>
            </a:r>
            <a:r>
              <a:rPr lang="tr-TR" sz="2400" dirty="0">
                <a:latin typeface="Aptos"/>
              </a:rPr>
              <a:t> edilmelidir.</a:t>
            </a:r>
          </a:p>
          <a:p>
            <a:pPr marL="0" indent="0">
              <a:buNone/>
            </a:pPr>
            <a:endParaRPr lang="tr-TR" sz="2400" dirty="0"/>
          </a:p>
          <a:p>
            <a:pPr marL="457200" indent="-457200">
              <a:buAutoNum type="arabicPeriod" startAt="4"/>
            </a:pPr>
            <a:endParaRPr lang="tr-TR" sz="2200" dirty="0"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392116332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DADDB1D-8ADA-46FE-9DA2-32765C6738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F15966B-0433-452C-BCA0-2E47E52EE5D1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Unvan 1">
            <a:extLst>
              <a:ext uri="{FF2B5EF4-FFF2-40B4-BE49-F238E27FC236}">
                <a16:creationId xmlns:a16="http://schemas.microsoft.com/office/drawing/2014/main" id="{DA650333-7C2B-767C-324D-0678A277F8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tr-TR" b="1" dirty="0">
                <a:latin typeface="Aptos"/>
              </a:rPr>
              <a:t>Alınması gereken tedbirler</a:t>
            </a:r>
            <a:endParaRPr lang="tr-TR" dirty="0"/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EA2E75FF-F0DE-8C67-FB25-AF5379D1D964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=""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4FD9BBD3-7820-EC88-665C-4167D3E6F6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 fontScale="92500" lnSpcReduction="10000"/>
          </a:bodyPr>
          <a:lstStyle/>
          <a:p>
            <a:pPr marL="457200" indent="-457200">
              <a:buAutoNum type="arabicPeriod" startAt="6"/>
            </a:pPr>
            <a:r>
              <a:rPr lang="tr-TR" sz="2200" b="1" dirty="0">
                <a:latin typeface="Aptos"/>
              </a:rPr>
              <a:t>Acil durum ve kurtarma tedbirleri</a:t>
            </a:r>
          </a:p>
          <a:p>
            <a:pPr marL="0" indent="0">
              <a:buNone/>
            </a:pPr>
            <a:endParaRPr lang="tr-TR" sz="2200" b="1" dirty="0">
              <a:solidFill>
                <a:schemeClr val="accent6"/>
              </a:solidFill>
              <a:latin typeface="Aptos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tr-TR" sz="2200" dirty="0">
                <a:latin typeface="Aptos"/>
              </a:rPr>
              <a:t>Her kapalı alan için </a:t>
            </a:r>
            <a:r>
              <a:rPr lang="tr-TR" sz="2200" b="1" dirty="0">
                <a:latin typeface="Aptos"/>
              </a:rPr>
              <a:t>özel bir acil durum planı</a:t>
            </a:r>
            <a:r>
              <a:rPr lang="tr-TR" sz="2200" dirty="0">
                <a:latin typeface="Aptos"/>
              </a:rPr>
              <a:t> hazırlanmalıdır.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tr-TR" sz="2200" dirty="0">
                <a:latin typeface="Aptos"/>
              </a:rPr>
              <a:t>Plan; olası tehlikeleri, kaçış yollarını, iletişim yöntemlerini ve kurtarma ekiplerinin görevlerini içermelidir.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tr-TR" sz="2200" dirty="0">
                <a:latin typeface="Aptos"/>
              </a:rPr>
              <a:t>Çalışanlar, planın içeriği hakkında </a:t>
            </a:r>
            <a:r>
              <a:rPr lang="tr-TR" sz="2200" b="1" dirty="0">
                <a:latin typeface="Aptos"/>
              </a:rPr>
              <a:t>eğitim almalı</a:t>
            </a:r>
            <a:r>
              <a:rPr lang="tr-TR" sz="2200" dirty="0">
                <a:latin typeface="Aptos"/>
              </a:rPr>
              <a:t> ve düzenli olarak </a:t>
            </a:r>
            <a:r>
              <a:rPr lang="tr-TR" sz="2200" b="1" dirty="0">
                <a:latin typeface="Aptos"/>
              </a:rPr>
              <a:t>tatbikatlar</a:t>
            </a:r>
            <a:r>
              <a:rPr lang="tr-TR" sz="2200" dirty="0">
                <a:latin typeface="Aptos"/>
              </a:rPr>
              <a:t> yapılmalıdır.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tr-TR" sz="2200" dirty="0">
                <a:latin typeface="Aptos"/>
              </a:rPr>
              <a:t>Kapalı alanda çalışma sırasında dışarıda </a:t>
            </a:r>
            <a:r>
              <a:rPr lang="tr-TR" sz="2200" b="1" dirty="0">
                <a:latin typeface="Aptos"/>
              </a:rPr>
              <a:t>en az bir gözcü personel</a:t>
            </a:r>
            <a:r>
              <a:rPr lang="tr-TR" sz="2200" dirty="0">
                <a:latin typeface="Aptos"/>
              </a:rPr>
              <a:t> bulunmalıdır.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tr-TR" sz="2200" dirty="0">
                <a:latin typeface="Aptos"/>
              </a:rPr>
              <a:t>Gözcü, içerideki çalışanlarla </a:t>
            </a:r>
            <a:r>
              <a:rPr lang="tr-TR" sz="2200" b="1" dirty="0">
                <a:latin typeface="Aptos"/>
              </a:rPr>
              <a:t>sürekli iletişim</a:t>
            </a:r>
            <a:r>
              <a:rPr lang="tr-TR" sz="2200" dirty="0">
                <a:latin typeface="Aptos"/>
              </a:rPr>
              <a:t> halinde olmalı ve acil durumda </a:t>
            </a:r>
            <a:r>
              <a:rPr lang="tr-TR" sz="2200" b="1" dirty="0">
                <a:latin typeface="Aptos"/>
              </a:rPr>
              <a:t>kurtarma ekibini haberdar etmelidir.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tr-TR" sz="2200" dirty="0">
                <a:latin typeface="Aptos"/>
              </a:rPr>
              <a:t>Kurtarma ekipmanları her zaman hazır, kontrol edilmiş ve kolay ulaşılabilir olmalıdır.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tr-TR" sz="2200" dirty="0" err="1">
                <a:latin typeface="Aptos"/>
              </a:rPr>
              <a:t>Tripod</a:t>
            </a:r>
            <a:r>
              <a:rPr lang="tr-TR" sz="2200" dirty="0">
                <a:latin typeface="Aptos"/>
              </a:rPr>
              <a:t>, yaşam hattı kullanılmalıdır.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tr-TR" sz="2200" dirty="0" smtClean="0">
                <a:latin typeface="Aptos"/>
              </a:rPr>
              <a:t>Haberleşme </a:t>
            </a:r>
            <a:r>
              <a:rPr lang="tr-TR" sz="2200" dirty="0">
                <a:latin typeface="Aptos"/>
              </a:rPr>
              <a:t>sistemi kurulmalıdır.</a:t>
            </a:r>
          </a:p>
          <a:p>
            <a:pPr marL="457200" indent="-457200">
              <a:buAutoNum type="arabicPeriod" startAt="4"/>
            </a:pPr>
            <a:endParaRPr lang="tr-TR" sz="2200" dirty="0"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86384751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9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=""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Metin kutusu 4"/>
          <p:cNvSpPr txBox="1"/>
          <p:nvPr/>
        </p:nvSpPr>
        <p:spPr>
          <a:xfrm>
            <a:off x="630936" y="2807208"/>
            <a:ext cx="3429000" cy="341071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dirty="0" err="1">
                <a:latin typeface="Aptos" panose="020B0004020202020204" pitchFamily="34" charset="0"/>
              </a:rPr>
              <a:t>Kapalı</a:t>
            </a:r>
            <a:r>
              <a:rPr lang="en-US" sz="2200" dirty="0">
                <a:latin typeface="Aptos" panose="020B0004020202020204" pitchFamily="34" charset="0"/>
              </a:rPr>
              <a:t> </a:t>
            </a:r>
            <a:r>
              <a:rPr lang="en-US" sz="2200" dirty="0" err="1">
                <a:latin typeface="Aptos" panose="020B0004020202020204" pitchFamily="34" charset="0"/>
              </a:rPr>
              <a:t>alanda</a:t>
            </a:r>
            <a:r>
              <a:rPr lang="en-US" sz="2200" dirty="0">
                <a:latin typeface="Aptos" panose="020B0004020202020204" pitchFamily="34" charset="0"/>
              </a:rPr>
              <a:t> </a:t>
            </a:r>
            <a:r>
              <a:rPr lang="en-US" sz="2200" dirty="0" err="1">
                <a:latin typeface="Aptos" panose="020B0004020202020204" pitchFamily="34" charset="0"/>
              </a:rPr>
              <a:t>çalışan</a:t>
            </a:r>
            <a:r>
              <a:rPr lang="en-US" sz="2200" dirty="0">
                <a:latin typeface="Aptos" panose="020B0004020202020204" pitchFamily="34" charset="0"/>
              </a:rPr>
              <a:t> </a:t>
            </a:r>
            <a:r>
              <a:rPr lang="en-US" sz="2200" dirty="0" err="1">
                <a:latin typeface="Aptos" panose="020B0004020202020204" pitchFamily="34" charset="0"/>
              </a:rPr>
              <a:t>işçi</a:t>
            </a:r>
            <a:r>
              <a:rPr lang="en-US" sz="2200" dirty="0">
                <a:latin typeface="Aptos" panose="020B0004020202020204" pitchFamily="34" charset="0"/>
              </a:rPr>
              <a:t> </a:t>
            </a:r>
            <a:r>
              <a:rPr lang="en-US" sz="2200" dirty="0" err="1">
                <a:latin typeface="Aptos" panose="020B0004020202020204" pitchFamily="34" charset="0"/>
              </a:rPr>
              <a:t>ve</a:t>
            </a:r>
            <a:r>
              <a:rPr lang="en-US" sz="2200" dirty="0">
                <a:latin typeface="Aptos" panose="020B0004020202020204" pitchFamily="34" charset="0"/>
              </a:rPr>
              <a:t> </a:t>
            </a:r>
            <a:r>
              <a:rPr lang="en-US" sz="2200" dirty="0" err="1">
                <a:latin typeface="Aptos" panose="020B0004020202020204" pitchFamily="34" charset="0"/>
              </a:rPr>
              <a:t>gözlemci</a:t>
            </a:r>
            <a:endParaRPr lang="en-US" sz="2200" dirty="0">
              <a:latin typeface="Aptos" panose="020B0004020202020204" pitchFamily="34" charset="0"/>
            </a:endParaRPr>
          </a:p>
        </p:txBody>
      </p:sp>
      <p:pic>
        <p:nvPicPr>
          <p:cNvPr id="4" name="İçerik Yer Tutucusu 3"/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5661" t="15035"/>
          <a:stretch>
            <a:fillRect/>
          </a:stretch>
        </p:blipFill>
        <p:spPr>
          <a:xfrm>
            <a:off x="3898373" y="971758"/>
            <a:ext cx="7945329" cy="4914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182426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anchor="b">
            <a:normAutofit fontScale="90000"/>
          </a:bodyPr>
          <a:lstStyle/>
          <a:p>
            <a:r>
              <a:rPr lang="tr-TR" sz="3000" b="1">
                <a:latin typeface="Aptos"/>
              </a:rPr>
              <a:t>Kapalı alanlarda çalışan personelin donanımı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=""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630936" y="2807208"/>
            <a:ext cx="3429000" cy="3410712"/>
          </a:xfrm>
        </p:spPr>
        <p:txBody>
          <a:bodyPr anchor="t"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tr-TR" sz="2000" dirty="0">
                <a:latin typeface="Aptos"/>
              </a:rPr>
              <a:t>    </a:t>
            </a:r>
            <a:r>
              <a:rPr lang="tr-TR" sz="2000" b="1" dirty="0">
                <a:latin typeface="Aptos"/>
              </a:rPr>
              <a:t>KKD</a:t>
            </a:r>
          </a:p>
          <a:p>
            <a:pPr marL="0" indent="0">
              <a:buNone/>
            </a:pPr>
            <a:r>
              <a:rPr lang="tr-TR" sz="2000" dirty="0">
                <a:latin typeface="Aptos"/>
              </a:rPr>
              <a:t>Kapalı alanlarda yapılan çalışmalar, yüksek risk taşıdığı için kullanılacak donanımların doğru seçilmesi hayati önem taşır.</a:t>
            </a:r>
          </a:p>
          <a:p>
            <a:pPr marL="0" indent="0">
              <a:buNone/>
            </a:pPr>
            <a:r>
              <a:rPr lang="tr-TR" sz="2000" dirty="0">
                <a:latin typeface="Aptos"/>
              </a:rPr>
              <a:t> Bu donanımlar, hem çalışanların güvenliğini sağlamak hem de olası kazaları önlemek amacıyla kullanılır.</a:t>
            </a:r>
          </a:p>
          <a:p>
            <a:pPr marL="0" indent="0">
              <a:buNone/>
            </a:pPr>
            <a:endParaRPr lang="tr-TR" sz="2000" dirty="0">
              <a:latin typeface="Aptos"/>
            </a:endParaRPr>
          </a:p>
        </p:txBody>
      </p:sp>
      <p:pic>
        <p:nvPicPr>
          <p:cNvPr id="4" name="Resi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4296" y="1512968"/>
            <a:ext cx="6903720" cy="3832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344365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tr-TR" sz="4200" b="1" dirty="0">
                <a:latin typeface="Aptos"/>
              </a:rPr>
              <a:t>Kapalı alanlarda çalışan personelin donanımı</a:t>
            </a:r>
            <a:endParaRPr lang="tr-TR" sz="4200" dirty="0"/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=""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tr-TR" sz="2200" b="1" dirty="0">
                <a:latin typeface="Aptos"/>
              </a:rPr>
              <a:t>Ortam Kontrol ve İzleme Donanımları:</a:t>
            </a:r>
          </a:p>
          <a:p>
            <a:pPr marL="0" indent="0">
              <a:buNone/>
            </a:pPr>
            <a:endParaRPr lang="tr-TR" sz="2200" dirty="0">
              <a:latin typeface="Aptos"/>
            </a:endParaRPr>
          </a:p>
          <a:p>
            <a:pPr marL="0" indent="0">
              <a:buNone/>
            </a:pPr>
            <a:r>
              <a:rPr lang="tr-TR" sz="2200" u="sng" dirty="0">
                <a:latin typeface="Aptos"/>
              </a:rPr>
              <a:t>Gaz ölçüm cihazları:</a:t>
            </a:r>
            <a:r>
              <a:rPr lang="tr-TR" sz="2200" dirty="0">
                <a:latin typeface="Aptos"/>
              </a:rPr>
              <a:t>  </a:t>
            </a:r>
            <a:r>
              <a:rPr lang="tr-TR" sz="2200" dirty="0" smtClean="0">
                <a:latin typeface="Aptos"/>
              </a:rPr>
              <a:t>          Oksijen </a:t>
            </a:r>
            <a:r>
              <a:rPr lang="tr-TR" sz="2200" dirty="0">
                <a:latin typeface="Aptos"/>
              </a:rPr>
              <a:t>seviyesi, </a:t>
            </a:r>
          </a:p>
          <a:p>
            <a:pPr marL="0" indent="0">
              <a:buNone/>
            </a:pPr>
            <a:r>
              <a:rPr lang="tr-TR" sz="2200" dirty="0">
                <a:latin typeface="Aptos"/>
              </a:rPr>
              <a:t>                                             Patlayıcı gazlar (metan, hidrojen vb.) </a:t>
            </a:r>
          </a:p>
          <a:p>
            <a:pPr marL="0" indent="0">
              <a:buNone/>
            </a:pPr>
            <a:r>
              <a:rPr lang="tr-TR" sz="2200" dirty="0">
                <a:latin typeface="Aptos"/>
              </a:rPr>
              <a:t>                                             Zehirli gazlar (H₂S, CO vb.) </a:t>
            </a:r>
          </a:p>
          <a:p>
            <a:pPr marL="0" indent="0">
              <a:buNone/>
            </a:pPr>
            <a:r>
              <a:rPr lang="tr-TR" sz="2200" u="sng" dirty="0">
                <a:latin typeface="Aptos"/>
              </a:rPr>
              <a:t>Havalandırma sistemleri: </a:t>
            </a:r>
            <a:r>
              <a:rPr lang="tr-TR" sz="2200" dirty="0">
                <a:latin typeface="Aptos"/>
              </a:rPr>
              <a:t>Ortam havasını temizlemek ve oksijen seviyesini güvenli düzeyde tutmak için kullanılır.</a:t>
            </a:r>
          </a:p>
          <a:p>
            <a:pPr marL="0" indent="0">
              <a:buNone/>
            </a:pPr>
            <a:r>
              <a:rPr lang="tr-TR" sz="2200" u="sng" dirty="0">
                <a:latin typeface="Aptos"/>
              </a:rPr>
              <a:t>Aydınlatma ekipmanları: </a:t>
            </a:r>
            <a:r>
              <a:rPr lang="tr-TR" sz="2200" dirty="0">
                <a:latin typeface="Aptos"/>
              </a:rPr>
              <a:t>Patlamaya dayanıklı (</a:t>
            </a:r>
            <a:r>
              <a:rPr lang="tr-TR" sz="2200" dirty="0" err="1">
                <a:latin typeface="Aptos"/>
              </a:rPr>
              <a:t>Ex-proof</a:t>
            </a:r>
            <a:r>
              <a:rPr lang="tr-TR" sz="2200" dirty="0">
                <a:latin typeface="Aptos"/>
              </a:rPr>
              <a:t>) özellikte olmalıdır.</a:t>
            </a:r>
          </a:p>
          <a:p>
            <a:endParaRPr lang="tr-TR" sz="2200" dirty="0"/>
          </a:p>
        </p:txBody>
      </p:sp>
      <p:pic>
        <p:nvPicPr>
          <p:cNvPr id="4" name="Resim 3">
            <a:extLst>
              <a:ext uri="{FF2B5EF4-FFF2-40B4-BE49-F238E27FC236}">
                <a16:creationId xmlns:a16="http://schemas.microsoft.com/office/drawing/2014/main" id="{9327C69C-05E5-CDBA-C61E-868544EE83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28251" y="1804489"/>
            <a:ext cx="2143125" cy="2143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632184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45D37F4E-DDB4-456B-97E0-9937730A039F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572493" y="238539"/>
            <a:ext cx="11018520" cy="1434415"/>
          </a:xfrm>
        </p:spPr>
        <p:txBody>
          <a:bodyPr anchor="b">
            <a:normAutofit/>
          </a:bodyPr>
          <a:lstStyle/>
          <a:p>
            <a:r>
              <a:rPr lang="tr-TR" b="1" dirty="0">
                <a:latin typeface="Aptos"/>
              </a:rPr>
              <a:t>Kapalı alanlarda çalışan personelin donanımı</a:t>
            </a:r>
            <a:endParaRPr lang="tr-TR" dirty="0"/>
          </a:p>
        </p:txBody>
      </p:sp>
      <p:sp>
        <p:nvSpPr>
          <p:cNvPr id="17" name="sketchy line">
            <a:extLst>
              <a:ext uri="{FF2B5EF4-FFF2-40B4-BE49-F238E27FC236}">
                <a16:creationId xmlns:a16="http://schemas.microsoft.com/office/drawing/2014/main" id="{B2DD41CD-8F47-4F56-AD12-4E2FF7696987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2493" y="1681544"/>
            <a:ext cx="10972800" cy="18288"/>
          </a:xfrm>
          <a:custGeom>
            <a:avLst/>
            <a:gdLst>
              <a:gd name="csX0" fmla="*/ 0 w 10972800"/>
              <a:gd name="csY0" fmla="*/ 0 h 18288"/>
              <a:gd name="csX1" fmla="*/ 356616 w 10972800"/>
              <a:gd name="csY1" fmla="*/ 0 h 18288"/>
              <a:gd name="csX2" fmla="*/ 1042416 w 10972800"/>
              <a:gd name="csY2" fmla="*/ 0 h 18288"/>
              <a:gd name="csX3" fmla="*/ 1947672 w 10972800"/>
              <a:gd name="csY3" fmla="*/ 0 h 18288"/>
              <a:gd name="csX4" fmla="*/ 2633472 w 10972800"/>
              <a:gd name="csY4" fmla="*/ 0 h 18288"/>
              <a:gd name="csX5" fmla="*/ 2990088 w 10972800"/>
              <a:gd name="csY5" fmla="*/ 0 h 18288"/>
              <a:gd name="csX6" fmla="*/ 3456432 w 10972800"/>
              <a:gd name="csY6" fmla="*/ 0 h 18288"/>
              <a:gd name="csX7" fmla="*/ 4361688 w 10972800"/>
              <a:gd name="csY7" fmla="*/ 0 h 18288"/>
              <a:gd name="csX8" fmla="*/ 5266944 w 10972800"/>
              <a:gd name="csY8" fmla="*/ 0 h 18288"/>
              <a:gd name="csX9" fmla="*/ 6172200 w 10972800"/>
              <a:gd name="csY9" fmla="*/ 0 h 18288"/>
              <a:gd name="csX10" fmla="*/ 6528816 w 10972800"/>
              <a:gd name="csY10" fmla="*/ 0 h 18288"/>
              <a:gd name="csX11" fmla="*/ 7214616 w 10972800"/>
              <a:gd name="csY11" fmla="*/ 0 h 18288"/>
              <a:gd name="csX12" fmla="*/ 7790688 w 10972800"/>
              <a:gd name="csY12" fmla="*/ 0 h 18288"/>
              <a:gd name="csX13" fmla="*/ 8147304 w 10972800"/>
              <a:gd name="csY13" fmla="*/ 0 h 18288"/>
              <a:gd name="csX14" fmla="*/ 9052560 w 10972800"/>
              <a:gd name="csY14" fmla="*/ 0 h 18288"/>
              <a:gd name="csX15" fmla="*/ 9409176 w 10972800"/>
              <a:gd name="csY15" fmla="*/ 0 h 18288"/>
              <a:gd name="csX16" fmla="*/ 9765792 w 10972800"/>
              <a:gd name="csY16" fmla="*/ 0 h 18288"/>
              <a:gd name="csX17" fmla="*/ 10341864 w 10972800"/>
              <a:gd name="csY17" fmla="*/ 0 h 18288"/>
              <a:gd name="csX18" fmla="*/ 10972800 w 10972800"/>
              <a:gd name="csY18" fmla="*/ 0 h 18288"/>
              <a:gd name="csX19" fmla="*/ 10972800 w 10972800"/>
              <a:gd name="csY19" fmla="*/ 18288 h 18288"/>
              <a:gd name="csX20" fmla="*/ 10177272 w 10972800"/>
              <a:gd name="csY20" fmla="*/ 18288 h 18288"/>
              <a:gd name="csX21" fmla="*/ 9820656 w 10972800"/>
              <a:gd name="csY21" fmla="*/ 18288 h 18288"/>
              <a:gd name="csX22" fmla="*/ 9464040 w 10972800"/>
              <a:gd name="csY22" fmla="*/ 18288 h 18288"/>
              <a:gd name="csX23" fmla="*/ 8778240 w 10972800"/>
              <a:gd name="csY23" fmla="*/ 18288 h 18288"/>
              <a:gd name="csX24" fmla="*/ 8421624 w 10972800"/>
              <a:gd name="csY24" fmla="*/ 18288 h 18288"/>
              <a:gd name="csX25" fmla="*/ 7735824 w 10972800"/>
              <a:gd name="csY25" fmla="*/ 18288 h 18288"/>
              <a:gd name="csX26" fmla="*/ 6940296 w 10972800"/>
              <a:gd name="csY26" fmla="*/ 18288 h 18288"/>
              <a:gd name="csX27" fmla="*/ 6254496 w 10972800"/>
              <a:gd name="csY27" fmla="*/ 18288 h 18288"/>
              <a:gd name="csX28" fmla="*/ 5458968 w 10972800"/>
              <a:gd name="csY28" fmla="*/ 18288 h 18288"/>
              <a:gd name="csX29" fmla="*/ 4663440 w 10972800"/>
              <a:gd name="csY29" fmla="*/ 18288 h 18288"/>
              <a:gd name="csX30" fmla="*/ 4306824 w 10972800"/>
              <a:gd name="csY30" fmla="*/ 18288 h 18288"/>
              <a:gd name="csX31" fmla="*/ 3840480 w 10972800"/>
              <a:gd name="csY31" fmla="*/ 18288 h 18288"/>
              <a:gd name="csX32" fmla="*/ 3264408 w 10972800"/>
              <a:gd name="csY32" fmla="*/ 18288 h 18288"/>
              <a:gd name="csX33" fmla="*/ 2578608 w 10972800"/>
              <a:gd name="csY33" fmla="*/ 18288 h 18288"/>
              <a:gd name="csX34" fmla="*/ 1673352 w 10972800"/>
              <a:gd name="csY34" fmla="*/ 18288 h 18288"/>
              <a:gd name="csX35" fmla="*/ 877824 w 10972800"/>
              <a:gd name="csY35" fmla="*/ 18288 h 18288"/>
              <a:gd name="csX36" fmla="*/ 0 w 10972800"/>
              <a:gd name="csY36" fmla="*/ 18288 h 18288"/>
              <a:gd name="csX37" fmla="*/ 0 w 10972800"/>
              <a:gd name="csY37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</a:cxnLst>
            <a:rect l="l" t="t" r="r" b="b"/>
            <a:pathLst>
              <a:path w="10972800" h="18288" fill="none" extrusionOk="0">
                <a:moveTo>
                  <a:pt x="0" y="0"/>
                </a:moveTo>
                <a:cubicBezTo>
                  <a:pt x="165916" y="-1866"/>
                  <a:pt x="188720" y="13756"/>
                  <a:pt x="356616" y="0"/>
                </a:cubicBezTo>
                <a:cubicBezTo>
                  <a:pt x="524512" y="-13756"/>
                  <a:pt x="734781" y="8922"/>
                  <a:pt x="1042416" y="0"/>
                </a:cubicBezTo>
                <a:cubicBezTo>
                  <a:pt x="1350051" y="-8922"/>
                  <a:pt x="1595982" y="-26315"/>
                  <a:pt x="1947672" y="0"/>
                </a:cubicBezTo>
                <a:cubicBezTo>
                  <a:pt x="2299362" y="26315"/>
                  <a:pt x="2292691" y="-19526"/>
                  <a:pt x="2633472" y="0"/>
                </a:cubicBezTo>
                <a:cubicBezTo>
                  <a:pt x="2974253" y="19526"/>
                  <a:pt x="2857309" y="10773"/>
                  <a:pt x="2990088" y="0"/>
                </a:cubicBezTo>
                <a:cubicBezTo>
                  <a:pt x="3122867" y="-10773"/>
                  <a:pt x="3359343" y="7194"/>
                  <a:pt x="3456432" y="0"/>
                </a:cubicBezTo>
                <a:cubicBezTo>
                  <a:pt x="3553521" y="-7194"/>
                  <a:pt x="4136258" y="5108"/>
                  <a:pt x="4361688" y="0"/>
                </a:cubicBezTo>
                <a:cubicBezTo>
                  <a:pt x="4587118" y="-5108"/>
                  <a:pt x="4992424" y="-42958"/>
                  <a:pt x="5266944" y="0"/>
                </a:cubicBezTo>
                <a:cubicBezTo>
                  <a:pt x="5541464" y="42958"/>
                  <a:pt x="5882966" y="-3430"/>
                  <a:pt x="6172200" y="0"/>
                </a:cubicBezTo>
                <a:cubicBezTo>
                  <a:pt x="6461434" y="3430"/>
                  <a:pt x="6432127" y="6688"/>
                  <a:pt x="6528816" y="0"/>
                </a:cubicBezTo>
                <a:cubicBezTo>
                  <a:pt x="6625505" y="-6688"/>
                  <a:pt x="6916805" y="-436"/>
                  <a:pt x="7214616" y="0"/>
                </a:cubicBezTo>
                <a:cubicBezTo>
                  <a:pt x="7512427" y="436"/>
                  <a:pt x="7626159" y="-6909"/>
                  <a:pt x="7790688" y="0"/>
                </a:cubicBezTo>
                <a:cubicBezTo>
                  <a:pt x="7955217" y="6909"/>
                  <a:pt x="8048891" y="15307"/>
                  <a:pt x="8147304" y="0"/>
                </a:cubicBezTo>
                <a:cubicBezTo>
                  <a:pt x="8245717" y="-15307"/>
                  <a:pt x="8645618" y="-11734"/>
                  <a:pt x="9052560" y="0"/>
                </a:cubicBezTo>
                <a:cubicBezTo>
                  <a:pt x="9459502" y="11734"/>
                  <a:pt x="9320584" y="8388"/>
                  <a:pt x="9409176" y="0"/>
                </a:cubicBezTo>
                <a:cubicBezTo>
                  <a:pt x="9497768" y="-8388"/>
                  <a:pt x="9644192" y="8379"/>
                  <a:pt x="9765792" y="0"/>
                </a:cubicBezTo>
                <a:cubicBezTo>
                  <a:pt x="9887392" y="-8379"/>
                  <a:pt x="10105220" y="-12663"/>
                  <a:pt x="10341864" y="0"/>
                </a:cubicBezTo>
                <a:cubicBezTo>
                  <a:pt x="10578508" y="12663"/>
                  <a:pt x="10773103" y="-5786"/>
                  <a:pt x="10972800" y="0"/>
                </a:cubicBezTo>
                <a:cubicBezTo>
                  <a:pt x="10972146" y="8818"/>
                  <a:pt x="10972240" y="13823"/>
                  <a:pt x="10972800" y="18288"/>
                </a:cubicBezTo>
                <a:cubicBezTo>
                  <a:pt x="10588778" y="31598"/>
                  <a:pt x="10543381" y="-12698"/>
                  <a:pt x="10177272" y="18288"/>
                </a:cubicBezTo>
                <a:cubicBezTo>
                  <a:pt x="9811163" y="49274"/>
                  <a:pt x="9996817" y="25662"/>
                  <a:pt x="9820656" y="18288"/>
                </a:cubicBezTo>
                <a:cubicBezTo>
                  <a:pt x="9644495" y="10914"/>
                  <a:pt x="9607007" y="31631"/>
                  <a:pt x="9464040" y="18288"/>
                </a:cubicBezTo>
                <a:cubicBezTo>
                  <a:pt x="9321073" y="4945"/>
                  <a:pt x="9114189" y="28940"/>
                  <a:pt x="8778240" y="18288"/>
                </a:cubicBezTo>
                <a:cubicBezTo>
                  <a:pt x="8442291" y="7636"/>
                  <a:pt x="8594763" y="987"/>
                  <a:pt x="8421624" y="18288"/>
                </a:cubicBezTo>
                <a:cubicBezTo>
                  <a:pt x="8248485" y="35589"/>
                  <a:pt x="7929515" y="37573"/>
                  <a:pt x="7735824" y="18288"/>
                </a:cubicBezTo>
                <a:cubicBezTo>
                  <a:pt x="7542133" y="-997"/>
                  <a:pt x="7252504" y="33858"/>
                  <a:pt x="6940296" y="18288"/>
                </a:cubicBezTo>
                <a:cubicBezTo>
                  <a:pt x="6628088" y="2718"/>
                  <a:pt x="6528503" y="48389"/>
                  <a:pt x="6254496" y="18288"/>
                </a:cubicBezTo>
                <a:cubicBezTo>
                  <a:pt x="5980489" y="-11813"/>
                  <a:pt x="5695784" y="-3740"/>
                  <a:pt x="5458968" y="18288"/>
                </a:cubicBezTo>
                <a:cubicBezTo>
                  <a:pt x="5222152" y="40316"/>
                  <a:pt x="5010751" y="19095"/>
                  <a:pt x="4663440" y="18288"/>
                </a:cubicBezTo>
                <a:cubicBezTo>
                  <a:pt x="4316129" y="17481"/>
                  <a:pt x="4425552" y="1606"/>
                  <a:pt x="4306824" y="18288"/>
                </a:cubicBezTo>
                <a:cubicBezTo>
                  <a:pt x="4188096" y="34970"/>
                  <a:pt x="3941535" y="7481"/>
                  <a:pt x="3840480" y="18288"/>
                </a:cubicBezTo>
                <a:cubicBezTo>
                  <a:pt x="3739425" y="29095"/>
                  <a:pt x="3402388" y="17641"/>
                  <a:pt x="3264408" y="18288"/>
                </a:cubicBezTo>
                <a:cubicBezTo>
                  <a:pt x="3126428" y="18935"/>
                  <a:pt x="2776779" y="9983"/>
                  <a:pt x="2578608" y="18288"/>
                </a:cubicBezTo>
                <a:cubicBezTo>
                  <a:pt x="2380437" y="26593"/>
                  <a:pt x="1909468" y="25818"/>
                  <a:pt x="1673352" y="18288"/>
                </a:cubicBezTo>
                <a:cubicBezTo>
                  <a:pt x="1437236" y="10758"/>
                  <a:pt x="1131180" y="49884"/>
                  <a:pt x="877824" y="18288"/>
                </a:cubicBezTo>
                <a:cubicBezTo>
                  <a:pt x="624468" y="-13308"/>
                  <a:pt x="206753" y="2195"/>
                  <a:pt x="0" y="18288"/>
                </a:cubicBezTo>
                <a:cubicBezTo>
                  <a:pt x="313" y="10654"/>
                  <a:pt x="-263" y="4056"/>
                  <a:pt x="0" y="0"/>
                </a:cubicBezTo>
                <a:close/>
              </a:path>
              <a:path w="10972800" h="18288" stroke="0" extrusionOk="0">
                <a:moveTo>
                  <a:pt x="0" y="0"/>
                </a:moveTo>
                <a:cubicBezTo>
                  <a:pt x="164017" y="-17675"/>
                  <a:pt x="309425" y="9913"/>
                  <a:pt x="466344" y="0"/>
                </a:cubicBezTo>
                <a:cubicBezTo>
                  <a:pt x="623263" y="-9913"/>
                  <a:pt x="659300" y="-14524"/>
                  <a:pt x="822960" y="0"/>
                </a:cubicBezTo>
                <a:cubicBezTo>
                  <a:pt x="986620" y="14524"/>
                  <a:pt x="1105222" y="-16481"/>
                  <a:pt x="1289304" y="0"/>
                </a:cubicBezTo>
                <a:cubicBezTo>
                  <a:pt x="1473386" y="16481"/>
                  <a:pt x="1693223" y="26161"/>
                  <a:pt x="1975104" y="0"/>
                </a:cubicBezTo>
                <a:cubicBezTo>
                  <a:pt x="2256985" y="-26161"/>
                  <a:pt x="2435781" y="23061"/>
                  <a:pt x="2770632" y="0"/>
                </a:cubicBezTo>
                <a:cubicBezTo>
                  <a:pt x="3105483" y="-23061"/>
                  <a:pt x="3247479" y="-44011"/>
                  <a:pt x="3675888" y="0"/>
                </a:cubicBezTo>
                <a:cubicBezTo>
                  <a:pt x="4104297" y="44011"/>
                  <a:pt x="4280918" y="4017"/>
                  <a:pt x="4581144" y="0"/>
                </a:cubicBezTo>
                <a:cubicBezTo>
                  <a:pt x="4881370" y="-4017"/>
                  <a:pt x="5021699" y="-11889"/>
                  <a:pt x="5157216" y="0"/>
                </a:cubicBezTo>
                <a:cubicBezTo>
                  <a:pt x="5292733" y="11889"/>
                  <a:pt x="5603398" y="-17698"/>
                  <a:pt x="5952744" y="0"/>
                </a:cubicBezTo>
                <a:cubicBezTo>
                  <a:pt x="6302090" y="17698"/>
                  <a:pt x="6353093" y="-11909"/>
                  <a:pt x="6638544" y="0"/>
                </a:cubicBezTo>
                <a:cubicBezTo>
                  <a:pt x="6923995" y="11909"/>
                  <a:pt x="7053404" y="21630"/>
                  <a:pt x="7214616" y="0"/>
                </a:cubicBezTo>
                <a:cubicBezTo>
                  <a:pt x="7375828" y="-21630"/>
                  <a:pt x="7837963" y="3886"/>
                  <a:pt x="8010144" y="0"/>
                </a:cubicBezTo>
                <a:cubicBezTo>
                  <a:pt x="8182325" y="-3886"/>
                  <a:pt x="8224183" y="16009"/>
                  <a:pt x="8366760" y="0"/>
                </a:cubicBezTo>
                <a:cubicBezTo>
                  <a:pt x="8509337" y="-16009"/>
                  <a:pt x="8687920" y="-5720"/>
                  <a:pt x="8942832" y="0"/>
                </a:cubicBezTo>
                <a:cubicBezTo>
                  <a:pt x="9197744" y="5720"/>
                  <a:pt x="9368437" y="20479"/>
                  <a:pt x="9628632" y="0"/>
                </a:cubicBezTo>
                <a:cubicBezTo>
                  <a:pt x="9888827" y="-20479"/>
                  <a:pt x="10560858" y="-20746"/>
                  <a:pt x="10972800" y="0"/>
                </a:cubicBezTo>
                <a:cubicBezTo>
                  <a:pt x="10972186" y="5722"/>
                  <a:pt x="10972980" y="12495"/>
                  <a:pt x="10972800" y="18288"/>
                </a:cubicBezTo>
                <a:cubicBezTo>
                  <a:pt x="10786146" y="12536"/>
                  <a:pt x="10623717" y="14033"/>
                  <a:pt x="10506456" y="18288"/>
                </a:cubicBezTo>
                <a:cubicBezTo>
                  <a:pt x="10389195" y="22543"/>
                  <a:pt x="10296178" y="20107"/>
                  <a:pt x="10149840" y="18288"/>
                </a:cubicBezTo>
                <a:cubicBezTo>
                  <a:pt x="10003502" y="16469"/>
                  <a:pt x="9767530" y="28891"/>
                  <a:pt x="9464040" y="18288"/>
                </a:cubicBezTo>
                <a:cubicBezTo>
                  <a:pt x="9160550" y="7685"/>
                  <a:pt x="9229050" y="2659"/>
                  <a:pt x="8997696" y="18288"/>
                </a:cubicBezTo>
                <a:cubicBezTo>
                  <a:pt x="8766342" y="33917"/>
                  <a:pt x="8340136" y="34864"/>
                  <a:pt x="8092440" y="18288"/>
                </a:cubicBezTo>
                <a:cubicBezTo>
                  <a:pt x="7844744" y="1712"/>
                  <a:pt x="7863720" y="27405"/>
                  <a:pt x="7735824" y="18288"/>
                </a:cubicBezTo>
                <a:cubicBezTo>
                  <a:pt x="7607928" y="9171"/>
                  <a:pt x="7323619" y="461"/>
                  <a:pt x="7050024" y="18288"/>
                </a:cubicBezTo>
                <a:cubicBezTo>
                  <a:pt x="6776429" y="36115"/>
                  <a:pt x="6787899" y="28206"/>
                  <a:pt x="6693408" y="18288"/>
                </a:cubicBezTo>
                <a:cubicBezTo>
                  <a:pt x="6598917" y="8370"/>
                  <a:pt x="6395231" y="19114"/>
                  <a:pt x="6227064" y="18288"/>
                </a:cubicBezTo>
                <a:cubicBezTo>
                  <a:pt x="6058897" y="17462"/>
                  <a:pt x="5618582" y="1091"/>
                  <a:pt x="5431536" y="18288"/>
                </a:cubicBezTo>
                <a:cubicBezTo>
                  <a:pt x="5244490" y="35485"/>
                  <a:pt x="4729797" y="-9650"/>
                  <a:pt x="4526280" y="18288"/>
                </a:cubicBezTo>
                <a:cubicBezTo>
                  <a:pt x="4322763" y="46226"/>
                  <a:pt x="4216797" y="756"/>
                  <a:pt x="4059936" y="18288"/>
                </a:cubicBezTo>
                <a:cubicBezTo>
                  <a:pt x="3903075" y="35820"/>
                  <a:pt x="3537912" y="42098"/>
                  <a:pt x="3374136" y="18288"/>
                </a:cubicBezTo>
                <a:cubicBezTo>
                  <a:pt x="3210360" y="-5522"/>
                  <a:pt x="3126842" y="39135"/>
                  <a:pt x="2907792" y="18288"/>
                </a:cubicBezTo>
                <a:cubicBezTo>
                  <a:pt x="2688742" y="-2559"/>
                  <a:pt x="2490436" y="34100"/>
                  <a:pt x="2112264" y="18288"/>
                </a:cubicBezTo>
                <a:cubicBezTo>
                  <a:pt x="1734092" y="2476"/>
                  <a:pt x="1744622" y="-7274"/>
                  <a:pt x="1536192" y="18288"/>
                </a:cubicBezTo>
                <a:cubicBezTo>
                  <a:pt x="1327762" y="43850"/>
                  <a:pt x="1189025" y="6435"/>
                  <a:pt x="1069848" y="18288"/>
                </a:cubicBezTo>
                <a:cubicBezTo>
                  <a:pt x="950671" y="30141"/>
                  <a:pt x="858345" y="33684"/>
                  <a:pt x="713232" y="18288"/>
                </a:cubicBezTo>
                <a:cubicBezTo>
                  <a:pt x="568119" y="2892"/>
                  <a:pt x="250292" y="5410"/>
                  <a:pt x="0" y="18288"/>
                </a:cubicBezTo>
                <a:cubicBezTo>
                  <a:pt x="465" y="13062"/>
                  <a:pt x="-894" y="9029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w="44450" cap="rnd">
            <a:solidFill>
              <a:schemeClr val="accent2">
                <a:alpha val="75000"/>
              </a:schemeClr>
            </a:solidFill>
            <a:round/>
            <a:extLst>
              <a:ext uri="{C807C97D-BFC1-408E-A445-0C87EB9F89A2}">
                <ask:lineSketchStyleProps xmlns=""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572493" y="2071316"/>
            <a:ext cx="6713552" cy="4119172"/>
          </a:xfrm>
        </p:spPr>
        <p:txBody>
          <a:bodyPr anchor="t"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tr-TR" sz="2200" b="1" dirty="0">
                <a:latin typeface="Aptos"/>
              </a:rPr>
              <a:t> Kurtarma ve Acil Durum Donanımları:</a:t>
            </a:r>
          </a:p>
          <a:p>
            <a:pPr marL="0" indent="0">
              <a:buNone/>
            </a:pPr>
            <a:endParaRPr lang="tr-TR" sz="2200" dirty="0">
              <a:latin typeface="Aptos"/>
            </a:endParaRPr>
          </a:p>
          <a:p>
            <a:pPr marL="0" indent="0">
              <a:buNone/>
            </a:pPr>
            <a:r>
              <a:rPr lang="tr-TR" sz="2200" u="sng" dirty="0">
                <a:latin typeface="Aptos"/>
              </a:rPr>
              <a:t>Tripod ve kurtarma vinci</a:t>
            </a:r>
            <a:r>
              <a:rPr lang="tr-TR" sz="2200" dirty="0">
                <a:latin typeface="Aptos"/>
              </a:rPr>
              <a:t>: Düşme veya bayılma durumunda çalışanı güvenli şekilde tahliye etmek için.</a:t>
            </a:r>
          </a:p>
          <a:p>
            <a:pPr marL="0" indent="0">
              <a:buNone/>
            </a:pPr>
            <a:r>
              <a:rPr lang="tr-TR" sz="2200" u="sng" dirty="0">
                <a:latin typeface="Aptos"/>
              </a:rPr>
              <a:t>İlk yardım seti</a:t>
            </a:r>
            <a:r>
              <a:rPr lang="tr-TR" sz="2200" dirty="0">
                <a:latin typeface="Aptos"/>
              </a:rPr>
              <a:t>: Olası yaralanmalarda hızlı müdahale için.</a:t>
            </a:r>
          </a:p>
          <a:p>
            <a:pPr marL="0" indent="0">
              <a:buNone/>
            </a:pPr>
            <a:r>
              <a:rPr lang="tr-TR" sz="2200" u="sng" dirty="0">
                <a:latin typeface="Aptos"/>
              </a:rPr>
              <a:t>İletişim sistemleri</a:t>
            </a:r>
            <a:r>
              <a:rPr lang="tr-TR" sz="2200" dirty="0">
                <a:latin typeface="Aptos"/>
              </a:rPr>
              <a:t>: Çalışan ile dışarıdaki gözetleyici arasında sürekli iletişim sağlanmalıdır.</a:t>
            </a:r>
          </a:p>
          <a:p>
            <a:pPr marL="0" indent="0">
              <a:buNone/>
            </a:pPr>
            <a:r>
              <a:rPr lang="tr-TR" sz="2200" u="sng" dirty="0">
                <a:latin typeface="Aptos"/>
              </a:rPr>
              <a:t>Acil durum alarm sistemi</a:t>
            </a:r>
            <a:r>
              <a:rPr lang="tr-TR" sz="2200" dirty="0">
                <a:latin typeface="Aptos"/>
              </a:rPr>
              <a:t>: Tehlike anında hızlı uyarı için.</a:t>
            </a:r>
          </a:p>
          <a:p>
            <a:endParaRPr lang="tr-TR" sz="2200" dirty="0"/>
          </a:p>
        </p:txBody>
      </p:sp>
      <p:pic>
        <p:nvPicPr>
          <p:cNvPr id="5" name="Resim 4">
            <a:extLst>
              <a:ext uri="{FF2B5EF4-FFF2-40B4-BE49-F238E27FC236}">
                <a16:creationId xmlns:a16="http://schemas.microsoft.com/office/drawing/2014/main" id="{E2E89DD6-80C5-F41A-79DA-88FDF43DF1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99952" y="2071316"/>
            <a:ext cx="3245341" cy="37422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293137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tr-TR" sz="4200" b="1">
                <a:latin typeface="Aptos"/>
              </a:rPr>
              <a:t>Kapalı alana girmeden önce yapılması gerekenler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=""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836676" y="2240915"/>
            <a:ext cx="10515600" cy="4251960"/>
          </a:xfrm>
        </p:spPr>
        <p:txBody>
          <a:bodyPr>
            <a:normAutofit/>
          </a:bodyPr>
          <a:lstStyle/>
          <a:p>
            <a:pPr marL="514350" indent="-514350">
              <a:buClr>
                <a:srgbClr val="C00000"/>
              </a:buClr>
              <a:buFont typeface="+mj-lt"/>
              <a:buAutoNum type="arabicParenR"/>
            </a:pPr>
            <a:r>
              <a:rPr lang="tr-TR" sz="2200" dirty="0">
                <a:latin typeface="Aptos"/>
              </a:rPr>
              <a:t>Alanı tehlikelerden izole etmek</a:t>
            </a:r>
          </a:p>
          <a:p>
            <a:pPr marL="514350" indent="-514350">
              <a:buClr>
                <a:srgbClr val="C00000"/>
              </a:buClr>
              <a:buFont typeface="+mj-lt"/>
              <a:buAutoNum type="arabicParenR"/>
            </a:pPr>
            <a:r>
              <a:rPr lang="tr-TR" sz="2200" dirty="0">
                <a:latin typeface="Aptos"/>
              </a:rPr>
              <a:t>Alanı havalandırmak</a:t>
            </a:r>
          </a:p>
          <a:p>
            <a:pPr marL="514350" indent="-514350">
              <a:buClr>
                <a:srgbClr val="C00000"/>
              </a:buClr>
              <a:buFont typeface="+mj-lt"/>
              <a:buAutoNum type="arabicParenR"/>
            </a:pPr>
            <a:r>
              <a:rPr lang="tr-TR" sz="2200" dirty="0">
                <a:latin typeface="Aptos"/>
              </a:rPr>
              <a:t>Kısa bilgilendirme yapmak</a:t>
            </a:r>
          </a:p>
          <a:p>
            <a:pPr marL="514350" indent="-514350">
              <a:buClr>
                <a:srgbClr val="C00000"/>
              </a:buClr>
              <a:buFont typeface="+mj-lt"/>
              <a:buAutoNum type="arabicParenR"/>
            </a:pPr>
            <a:r>
              <a:rPr lang="tr-TR" sz="2200" dirty="0">
                <a:latin typeface="Aptos"/>
              </a:rPr>
              <a:t>İzni tamamlamak</a:t>
            </a:r>
          </a:p>
          <a:p>
            <a:pPr marL="514350" indent="-514350">
              <a:buClr>
                <a:srgbClr val="C00000"/>
              </a:buClr>
              <a:buFont typeface="+mj-lt"/>
              <a:buAutoNum type="arabicParenR"/>
            </a:pPr>
            <a:r>
              <a:rPr lang="tr-TR" sz="2200" dirty="0">
                <a:latin typeface="Aptos"/>
              </a:rPr>
              <a:t>İç atmosferi test etmek</a:t>
            </a:r>
          </a:p>
          <a:p>
            <a:pPr marL="514350" indent="-514350">
              <a:buClr>
                <a:srgbClr val="C00000"/>
              </a:buClr>
              <a:buFont typeface="+mj-lt"/>
              <a:buAutoNum type="arabicParenR"/>
            </a:pPr>
            <a:r>
              <a:rPr lang="tr-TR" sz="2200" dirty="0">
                <a:latin typeface="Aptos"/>
              </a:rPr>
              <a:t>Kapalı alana girişi başlatmak</a:t>
            </a:r>
          </a:p>
        </p:txBody>
      </p:sp>
    </p:spTree>
    <p:extLst>
      <p:ext uri="{BB962C8B-B14F-4D97-AF65-F5344CB8AC3E}">
        <p14:creationId xmlns:p14="http://schemas.microsoft.com/office/powerpoint/2010/main" val="322561449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379829" y="365125"/>
            <a:ext cx="11549574" cy="1325563"/>
          </a:xfrm>
        </p:spPr>
        <p:txBody>
          <a:bodyPr/>
          <a:lstStyle/>
          <a:p>
            <a:r>
              <a:rPr lang="tr-TR" sz="3800" b="1" dirty="0">
                <a:solidFill>
                  <a:prstClr val="black"/>
                </a:solidFill>
                <a:latin typeface="Aptos"/>
              </a:rPr>
              <a:t>Kapalı alana girmeden önce yapılması gerekenler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576776" y="1825625"/>
            <a:ext cx="4515730" cy="4351338"/>
          </a:xfrm>
        </p:spPr>
        <p:txBody>
          <a:bodyPr/>
          <a:lstStyle/>
          <a:p>
            <a:pPr marL="0" indent="0">
              <a:buNone/>
            </a:pPr>
            <a:r>
              <a:rPr lang="tr-TR" sz="2400" dirty="0">
                <a:solidFill>
                  <a:srgbClr val="C00000"/>
                </a:solidFill>
                <a:latin typeface="Aptos"/>
              </a:rPr>
              <a:t>Alanı tehlikelerden izole etmek</a:t>
            </a:r>
          </a:p>
          <a:p>
            <a:pPr marL="0" indent="0">
              <a:buNone/>
            </a:pPr>
            <a:r>
              <a:rPr lang="tr-TR" sz="2200" dirty="0">
                <a:latin typeface="Aptos"/>
              </a:rPr>
              <a:t>Valfleri kapatılması, alanın boşaltılması, kilitleme/etiketleme yapılması ve alandaki kalıntıların temizlenmesi gibi</a:t>
            </a:r>
          </a:p>
          <a:p>
            <a:pPr marL="0" indent="0">
              <a:buNone/>
            </a:pPr>
            <a:endParaRPr lang="tr-TR" dirty="0"/>
          </a:p>
        </p:txBody>
      </p:sp>
      <p:pic>
        <p:nvPicPr>
          <p:cNvPr id="5" name="Resi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55103" y="1787942"/>
            <a:ext cx="6836897" cy="5070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694880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52BEC0E-22F8-46D0-9632-375DB541B06C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640080" y="329184"/>
            <a:ext cx="6894576" cy="1783080"/>
          </a:xfrm>
        </p:spPr>
        <p:txBody>
          <a:bodyPr anchor="b">
            <a:normAutofit/>
          </a:bodyPr>
          <a:lstStyle/>
          <a:p>
            <a:r>
              <a:rPr lang="tr-TR" sz="4200" b="1">
                <a:latin typeface="Aptos"/>
              </a:rPr>
              <a:t>Kapalı alana girmeden önce yapılması gerekenler</a:t>
            </a:r>
            <a:endParaRPr lang="tr-TR" sz="4200"/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8952" y="2395728"/>
            <a:ext cx="4243589" cy="18288"/>
          </a:xfrm>
          <a:custGeom>
            <a:avLst/>
            <a:gdLst>
              <a:gd name="csX0" fmla="*/ 0 w 4243589"/>
              <a:gd name="csY0" fmla="*/ 0 h 18288"/>
              <a:gd name="csX1" fmla="*/ 478919 w 4243589"/>
              <a:gd name="csY1" fmla="*/ 0 h 18288"/>
              <a:gd name="csX2" fmla="*/ 957839 w 4243589"/>
              <a:gd name="csY2" fmla="*/ 0 h 18288"/>
              <a:gd name="csX3" fmla="*/ 1521630 w 4243589"/>
              <a:gd name="csY3" fmla="*/ 0 h 18288"/>
              <a:gd name="csX4" fmla="*/ 2212729 w 4243589"/>
              <a:gd name="csY4" fmla="*/ 0 h 18288"/>
              <a:gd name="csX5" fmla="*/ 2734084 w 4243589"/>
              <a:gd name="csY5" fmla="*/ 0 h 18288"/>
              <a:gd name="csX6" fmla="*/ 3255439 w 4243589"/>
              <a:gd name="csY6" fmla="*/ 0 h 18288"/>
              <a:gd name="csX7" fmla="*/ 4243589 w 4243589"/>
              <a:gd name="csY7" fmla="*/ 0 h 18288"/>
              <a:gd name="csX8" fmla="*/ 4243589 w 4243589"/>
              <a:gd name="csY8" fmla="*/ 18288 h 18288"/>
              <a:gd name="csX9" fmla="*/ 3594926 w 4243589"/>
              <a:gd name="csY9" fmla="*/ 18288 h 18288"/>
              <a:gd name="csX10" fmla="*/ 3073571 w 4243589"/>
              <a:gd name="csY10" fmla="*/ 18288 h 18288"/>
              <a:gd name="csX11" fmla="*/ 2552216 w 4243589"/>
              <a:gd name="csY11" fmla="*/ 18288 h 18288"/>
              <a:gd name="csX12" fmla="*/ 1903553 w 4243589"/>
              <a:gd name="csY12" fmla="*/ 18288 h 18288"/>
              <a:gd name="csX13" fmla="*/ 1212454 w 4243589"/>
              <a:gd name="csY13" fmla="*/ 18288 h 18288"/>
              <a:gd name="csX14" fmla="*/ 733535 w 4243589"/>
              <a:gd name="csY14" fmla="*/ 18288 h 18288"/>
              <a:gd name="csX15" fmla="*/ 0 w 4243589"/>
              <a:gd name="csY15" fmla="*/ 18288 h 18288"/>
              <a:gd name="csX16" fmla="*/ 0 w 4243589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=""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640080" y="2706624"/>
            <a:ext cx="6894576" cy="348386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tr-TR" sz="2200" dirty="0">
                <a:solidFill>
                  <a:srgbClr val="FF0000"/>
                </a:solidFill>
                <a:latin typeface="Aptos"/>
              </a:rPr>
              <a:t>Alanı havalandırmak</a:t>
            </a:r>
          </a:p>
          <a:p>
            <a:pPr marL="0" indent="0">
              <a:buNone/>
            </a:pPr>
            <a:r>
              <a:rPr lang="tr-TR" sz="2200" dirty="0">
                <a:latin typeface="Aptos"/>
              </a:rPr>
              <a:t>Havalandırma ekipmanı kullanılması (fanlar, hava boruları…),</a:t>
            </a:r>
          </a:p>
          <a:p>
            <a:pPr marL="0" indent="0">
              <a:buNone/>
            </a:pPr>
            <a:r>
              <a:rPr lang="tr-TR" sz="2200" dirty="0">
                <a:latin typeface="Aptos"/>
              </a:rPr>
              <a:t>1saatte, kapalı alanın en az dört (4) katı kadar havalandırma yapılması,</a:t>
            </a:r>
          </a:p>
          <a:p>
            <a:pPr marL="0" indent="0">
              <a:buNone/>
            </a:pPr>
            <a:r>
              <a:rPr lang="tr-TR" sz="2200" dirty="0">
                <a:latin typeface="Aptos"/>
              </a:rPr>
              <a:t>Havalandırmada taze hava beslenmesi</a:t>
            </a:r>
          </a:p>
          <a:p>
            <a:pPr marL="0" indent="0">
              <a:buNone/>
            </a:pPr>
            <a:endParaRPr lang="tr-TR" sz="2200" dirty="0">
              <a:latin typeface="Aptos"/>
            </a:endParaRPr>
          </a:p>
        </p:txBody>
      </p:sp>
      <p:pic>
        <p:nvPicPr>
          <p:cNvPr id="4" name="Resi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0" y="708528"/>
            <a:ext cx="4014216" cy="2671278"/>
          </a:xfrm>
          <a:prstGeom prst="rect">
            <a:avLst/>
          </a:prstGeom>
        </p:spPr>
      </p:pic>
      <p:pic>
        <p:nvPicPr>
          <p:cNvPr id="5" name="Resim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62512" y="4079193"/>
            <a:ext cx="3798583" cy="2176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253739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tr-TR" sz="4200" b="1" dirty="0">
                <a:latin typeface="Aptos"/>
              </a:rPr>
              <a:t>Kapalı alana girmeden önce yapılması gerekenler</a:t>
            </a:r>
            <a:endParaRPr lang="tr-TR" sz="4200" dirty="0"/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=""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tr-TR" sz="2200" dirty="0">
                <a:solidFill>
                  <a:srgbClr val="FF0000"/>
                </a:solidFill>
                <a:latin typeface="Aptos" panose="020B0004020202020204" pitchFamily="34" charset="0"/>
              </a:rPr>
              <a:t>Kısa bilgilendirme yapmak</a:t>
            </a:r>
          </a:p>
          <a:p>
            <a:pPr marL="0" indent="0">
              <a:buNone/>
            </a:pPr>
            <a:endParaRPr lang="tr-TR" sz="2200" dirty="0">
              <a:latin typeface="Aptos" panose="020B0004020202020204" pitchFamily="34" charset="0"/>
            </a:endParaRPr>
          </a:p>
          <a:p>
            <a:r>
              <a:rPr lang="tr-TR" sz="2200" dirty="0">
                <a:latin typeface="Aptos" panose="020B0004020202020204" pitchFamily="34" charset="0"/>
              </a:rPr>
              <a:t>Tüm ekibin katılması gerekir (Gözlemciler, giriş yapanlar, yetki verenler).</a:t>
            </a:r>
          </a:p>
          <a:p>
            <a:r>
              <a:rPr lang="tr-TR" sz="2200" dirty="0">
                <a:latin typeface="Aptos" panose="020B0004020202020204" pitchFamily="34" charset="0"/>
              </a:rPr>
              <a:t>Girişte ve çalışma sırasındaki </a:t>
            </a:r>
            <a:r>
              <a:rPr lang="tr-TR" sz="2200" b="1" dirty="0">
                <a:latin typeface="Aptos" panose="020B0004020202020204" pitchFamily="34" charset="0"/>
              </a:rPr>
              <a:t>tehlikeleri</a:t>
            </a:r>
            <a:r>
              <a:rPr lang="tr-TR" sz="2200" dirty="0">
                <a:latin typeface="Aptos" panose="020B0004020202020204" pitchFamily="34" charset="0"/>
              </a:rPr>
              <a:t> gözden geçirilir.</a:t>
            </a:r>
          </a:p>
          <a:p>
            <a:r>
              <a:rPr lang="tr-TR" sz="2200" b="1" dirty="0">
                <a:latin typeface="Aptos" panose="020B0004020202020204" pitchFamily="34" charset="0"/>
              </a:rPr>
              <a:t>Kişisel koruyucu ekipmanlar </a:t>
            </a:r>
            <a:r>
              <a:rPr lang="tr-TR" sz="2200" dirty="0">
                <a:latin typeface="Aptos" panose="020B0004020202020204" pitchFamily="34" charset="0"/>
              </a:rPr>
              <a:t>kontrol edilir.</a:t>
            </a:r>
          </a:p>
          <a:p>
            <a:r>
              <a:rPr lang="tr-TR" sz="2200" b="1" dirty="0">
                <a:latin typeface="Aptos" panose="020B0004020202020204" pitchFamily="34" charset="0"/>
              </a:rPr>
              <a:t>Kurtarma prosedürleri </a:t>
            </a:r>
            <a:r>
              <a:rPr lang="tr-TR" sz="2200" dirty="0">
                <a:latin typeface="Aptos" panose="020B0004020202020204" pitchFamily="34" charset="0"/>
              </a:rPr>
              <a:t>gözden geçirilerek uygulanabilir olduğu doğrulanır.</a:t>
            </a:r>
          </a:p>
          <a:p>
            <a:r>
              <a:rPr lang="tr-TR" sz="2200" b="1" dirty="0">
                <a:latin typeface="Aptos" panose="020B0004020202020204" pitchFamily="34" charset="0"/>
              </a:rPr>
              <a:t>İzin</a:t>
            </a:r>
            <a:r>
              <a:rPr lang="tr-TR" sz="2200" dirty="0">
                <a:latin typeface="Aptos" panose="020B0004020202020204" pitchFamily="34" charset="0"/>
              </a:rPr>
              <a:t> tamamlanır.</a:t>
            </a:r>
          </a:p>
        </p:txBody>
      </p:sp>
    </p:spTree>
    <p:extLst>
      <p:ext uri="{BB962C8B-B14F-4D97-AF65-F5344CB8AC3E}">
        <p14:creationId xmlns:p14="http://schemas.microsoft.com/office/powerpoint/2010/main" val="380638623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tr-TR" sz="4200" b="1" dirty="0">
                <a:latin typeface="Aptos"/>
              </a:rPr>
              <a:t>Kapalı alana girmeden önce yapılması gerekenler</a:t>
            </a:r>
            <a:endParaRPr lang="tr-TR" sz="4200" dirty="0"/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=""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tr-TR" sz="2200" dirty="0">
                <a:solidFill>
                  <a:srgbClr val="FF0000"/>
                </a:solidFill>
                <a:latin typeface="Aptos"/>
              </a:rPr>
              <a:t>İzni tamamlamak</a:t>
            </a:r>
          </a:p>
          <a:p>
            <a:pPr marL="0" indent="0">
              <a:buNone/>
            </a:pPr>
            <a:endParaRPr lang="tr-TR" sz="2200" dirty="0">
              <a:latin typeface="Aptos"/>
            </a:endParaRPr>
          </a:p>
          <a:p>
            <a:r>
              <a:rPr lang="tr-TR" sz="2200" dirty="0">
                <a:latin typeface="Aptos"/>
              </a:rPr>
              <a:t>Kapalı alana girişten önce izin </a:t>
            </a:r>
            <a:r>
              <a:rPr lang="tr-TR" sz="2200" b="1" dirty="0">
                <a:latin typeface="Aptos"/>
              </a:rPr>
              <a:t>tam ve doğru </a:t>
            </a:r>
            <a:r>
              <a:rPr lang="tr-TR" sz="2200" dirty="0">
                <a:latin typeface="Aptos"/>
              </a:rPr>
              <a:t>olarak doldurulmalıdır.</a:t>
            </a:r>
          </a:p>
          <a:p>
            <a:r>
              <a:rPr lang="tr-TR" sz="2200" dirty="0">
                <a:latin typeface="Aptos"/>
              </a:rPr>
              <a:t>İznin geçerli olabilmesi için </a:t>
            </a:r>
            <a:r>
              <a:rPr lang="tr-TR" sz="2200" b="1" dirty="0">
                <a:latin typeface="Aptos"/>
              </a:rPr>
              <a:t>yetki verenin imzası </a:t>
            </a:r>
            <a:r>
              <a:rPr lang="tr-TR" sz="2200" dirty="0">
                <a:latin typeface="Aptos"/>
              </a:rPr>
              <a:t>bulunmalıdır.</a:t>
            </a:r>
          </a:p>
          <a:p>
            <a:r>
              <a:rPr lang="tr-TR" sz="2200" b="1" dirty="0">
                <a:latin typeface="Aptos"/>
              </a:rPr>
              <a:t>Geçerli bir izin </a:t>
            </a:r>
            <a:r>
              <a:rPr lang="tr-TR" sz="2200" dirty="0">
                <a:latin typeface="Aptos"/>
              </a:rPr>
              <a:t>olmadan giriş yapılamaz.</a:t>
            </a:r>
          </a:p>
          <a:p>
            <a:r>
              <a:rPr lang="tr-TR" sz="2200" dirty="0">
                <a:latin typeface="Aptos"/>
              </a:rPr>
              <a:t>İzinler </a:t>
            </a:r>
            <a:r>
              <a:rPr lang="tr-TR" sz="2200" b="1" dirty="0">
                <a:latin typeface="Aptos"/>
              </a:rPr>
              <a:t>12 saate </a:t>
            </a:r>
            <a:r>
              <a:rPr lang="tr-TR" sz="2200" dirty="0">
                <a:latin typeface="Aptos"/>
              </a:rPr>
              <a:t>kadar geçerlidir.</a:t>
            </a:r>
          </a:p>
          <a:p>
            <a:r>
              <a:rPr lang="tr-TR" sz="2200" dirty="0">
                <a:latin typeface="Aptos"/>
              </a:rPr>
              <a:t>İş tamamlandığı zaman izin </a:t>
            </a:r>
            <a:r>
              <a:rPr lang="tr-TR" sz="2200" b="1" dirty="0">
                <a:latin typeface="Aptos"/>
              </a:rPr>
              <a:t>İSG yöneticisine teslim </a:t>
            </a:r>
            <a:r>
              <a:rPr lang="tr-TR" sz="2200" dirty="0">
                <a:latin typeface="Aptos"/>
              </a:rPr>
              <a:t>edilmelidir.</a:t>
            </a:r>
          </a:p>
          <a:p>
            <a:r>
              <a:rPr lang="tr-TR" sz="2200" dirty="0">
                <a:latin typeface="Aptos"/>
              </a:rPr>
              <a:t>İptal edilen izinler </a:t>
            </a:r>
            <a:r>
              <a:rPr lang="tr-TR" sz="2200" b="1" dirty="0">
                <a:latin typeface="Aptos"/>
              </a:rPr>
              <a:t>en az 1 sene saklanmalıdır</a:t>
            </a:r>
          </a:p>
        </p:txBody>
      </p:sp>
    </p:spTree>
    <p:extLst>
      <p:ext uri="{BB962C8B-B14F-4D97-AF65-F5344CB8AC3E}">
        <p14:creationId xmlns:p14="http://schemas.microsoft.com/office/powerpoint/2010/main" val="389525232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4FFBEE45-F140-49D5-85EA-C78C24340B23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332509" y="365125"/>
            <a:ext cx="11538065" cy="1828444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b="1" kern="1200" dirty="0" err="1">
                <a:solidFill>
                  <a:schemeClr val="tx1"/>
                </a:solidFill>
                <a:latin typeface="Aptos" panose="020B0004020202020204" pitchFamily="34" charset="0"/>
              </a:rPr>
              <a:t>Kapalı</a:t>
            </a:r>
            <a:r>
              <a:rPr lang="en-US" sz="4000" b="1" kern="1200" dirty="0">
                <a:solidFill>
                  <a:schemeClr val="tx1"/>
                </a:solidFill>
                <a:latin typeface="Aptos" panose="020B0004020202020204" pitchFamily="34" charset="0"/>
              </a:rPr>
              <a:t> </a:t>
            </a:r>
            <a:r>
              <a:rPr lang="en-US" sz="4000" b="1" kern="1200" dirty="0" err="1">
                <a:solidFill>
                  <a:schemeClr val="tx1"/>
                </a:solidFill>
                <a:latin typeface="Aptos" panose="020B0004020202020204" pitchFamily="34" charset="0"/>
              </a:rPr>
              <a:t>alana</a:t>
            </a:r>
            <a:r>
              <a:rPr lang="en-US" sz="4000" b="1" kern="1200" dirty="0">
                <a:solidFill>
                  <a:schemeClr val="tx1"/>
                </a:solidFill>
                <a:latin typeface="Aptos" panose="020B0004020202020204" pitchFamily="34" charset="0"/>
              </a:rPr>
              <a:t> </a:t>
            </a:r>
            <a:r>
              <a:rPr lang="en-US" sz="4000" b="1" kern="1200" dirty="0" err="1">
                <a:solidFill>
                  <a:schemeClr val="tx1"/>
                </a:solidFill>
                <a:latin typeface="Aptos" panose="020B0004020202020204" pitchFamily="34" charset="0"/>
              </a:rPr>
              <a:t>girmeden</a:t>
            </a:r>
            <a:r>
              <a:rPr lang="en-US" sz="4000" b="1" kern="1200" dirty="0">
                <a:solidFill>
                  <a:schemeClr val="tx1"/>
                </a:solidFill>
                <a:latin typeface="Aptos" panose="020B0004020202020204" pitchFamily="34" charset="0"/>
              </a:rPr>
              <a:t> </a:t>
            </a:r>
            <a:r>
              <a:rPr lang="en-US" sz="4000" b="1" kern="1200" dirty="0" err="1">
                <a:solidFill>
                  <a:schemeClr val="tx1"/>
                </a:solidFill>
                <a:latin typeface="Aptos" panose="020B0004020202020204" pitchFamily="34" charset="0"/>
              </a:rPr>
              <a:t>önce</a:t>
            </a:r>
            <a:r>
              <a:rPr lang="en-US" sz="4000" b="1" kern="1200" dirty="0">
                <a:solidFill>
                  <a:schemeClr val="tx1"/>
                </a:solidFill>
                <a:latin typeface="Aptos" panose="020B0004020202020204" pitchFamily="34" charset="0"/>
              </a:rPr>
              <a:t> </a:t>
            </a:r>
            <a:r>
              <a:rPr lang="en-US" sz="4000" b="1" kern="1200" dirty="0" err="1">
                <a:solidFill>
                  <a:schemeClr val="tx1"/>
                </a:solidFill>
                <a:latin typeface="Aptos" panose="020B0004020202020204" pitchFamily="34" charset="0"/>
              </a:rPr>
              <a:t>yapılması</a:t>
            </a:r>
            <a:r>
              <a:rPr lang="en-US" sz="4000" b="1" kern="1200" dirty="0">
                <a:solidFill>
                  <a:schemeClr val="tx1"/>
                </a:solidFill>
                <a:latin typeface="Aptos" panose="020B0004020202020204" pitchFamily="34" charset="0"/>
              </a:rPr>
              <a:t> </a:t>
            </a:r>
            <a:r>
              <a:rPr lang="en-US" sz="4000" b="1" kern="1200" dirty="0" err="1">
                <a:solidFill>
                  <a:schemeClr val="tx1"/>
                </a:solidFill>
                <a:latin typeface="Aptos" panose="020B0004020202020204" pitchFamily="34" charset="0"/>
              </a:rPr>
              <a:t>gerekenler</a:t>
            </a:r>
            <a:endParaRPr lang="en-US" sz="4000" kern="1200" dirty="0">
              <a:solidFill>
                <a:schemeClr val="tx1"/>
              </a:solidFill>
              <a:latin typeface="Aptos" panose="020B0004020202020204" pitchFamily="34" charset="0"/>
            </a:endParaRPr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838200" y="2398625"/>
            <a:ext cx="5158427" cy="4094249"/>
          </a:xfrm>
        </p:spPr>
        <p:txBody>
          <a:bodyPr vert="horz" lIns="91440" tIns="45720" rIns="91440" bIns="45720" rtlCol="0">
            <a:noAutofit/>
          </a:bodyPr>
          <a:lstStyle/>
          <a:p>
            <a:pPr marL="0" indent="0">
              <a:buNone/>
            </a:pPr>
            <a:r>
              <a:rPr lang="tr-TR" sz="2000" b="1" noProof="0" dirty="0">
                <a:solidFill>
                  <a:srgbClr val="C00000"/>
                </a:solidFill>
                <a:latin typeface="Aptos" panose="020B0004020202020204" pitchFamily="34" charset="0"/>
              </a:rPr>
              <a:t>İzin formunda bulunması gereken bilgiler:</a:t>
            </a:r>
          </a:p>
          <a:p>
            <a:r>
              <a:rPr lang="tr-TR" sz="1800" noProof="0" dirty="0">
                <a:latin typeface="Aptos" panose="020B0004020202020204" pitchFamily="34" charset="0"/>
              </a:rPr>
              <a:t>Kapalı birimin bulunduğu </a:t>
            </a:r>
            <a:r>
              <a:rPr lang="tr-TR" sz="1800" b="1" noProof="0" dirty="0">
                <a:latin typeface="Aptos" panose="020B0004020202020204" pitchFamily="34" charset="0"/>
              </a:rPr>
              <a:t>bölüm ve lokasyon</a:t>
            </a:r>
          </a:p>
          <a:p>
            <a:r>
              <a:rPr lang="tr-TR" sz="1800" noProof="0" dirty="0">
                <a:latin typeface="Aptos" panose="020B0004020202020204" pitchFamily="34" charset="0"/>
              </a:rPr>
              <a:t>Yapılacak girişin </a:t>
            </a:r>
            <a:r>
              <a:rPr lang="tr-TR" sz="1800" b="1" noProof="0" dirty="0">
                <a:latin typeface="Aptos" panose="020B0004020202020204" pitchFamily="34" charset="0"/>
              </a:rPr>
              <a:t>sebebi</a:t>
            </a:r>
          </a:p>
          <a:p>
            <a:r>
              <a:rPr lang="tr-TR" sz="1800" noProof="0" dirty="0">
                <a:latin typeface="Aptos" panose="020B0004020202020204" pitchFamily="34" charset="0"/>
              </a:rPr>
              <a:t>Giriş </a:t>
            </a:r>
            <a:r>
              <a:rPr lang="tr-TR" sz="1800" b="1" noProof="0" dirty="0">
                <a:latin typeface="Aptos" panose="020B0004020202020204" pitchFamily="34" charset="0"/>
              </a:rPr>
              <a:t>tarihi ve saati/</a:t>
            </a:r>
            <a:r>
              <a:rPr lang="tr-TR" sz="1800" noProof="0" dirty="0">
                <a:latin typeface="Aptos" panose="020B0004020202020204" pitchFamily="34" charset="0"/>
              </a:rPr>
              <a:t>izin formunun </a:t>
            </a:r>
            <a:r>
              <a:rPr lang="tr-TR" sz="1800" b="1" noProof="0" dirty="0">
                <a:latin typeface="Aptos" panose="020B0004020202020204" pitchFamily="34" charset="0"/>
              </a:rPr>
              <a:t>geçerlilik süresi</a:t>
            </a:r>
          </a:p>
          <a:p>
            <a:r>
              <a:rPr lang="tr-TR" sz="1800" noProof="0" dirty="0">
                <a:latin typeface="Aptos" panose="020B0004020202020204" pitchFamily="34" charset="0"/>
              </a:rPr>
              <a:t>Giriş yapacak elemanların </a:t>
            </a:r>
            <a:r>
              <a:rPr lang="tr-TR" sz="1800" b="1" noProof="0" dirty="0">
                <a:latin typeface="Aptos" panose="020B0004020202020204" pitchFamily="34" charset="0"/>
              </a:rPr>
              <a:t>isimleri</a:t>
            </a:r>
          </a:p>
          <a:p>
            <a:r>
              <a:rPr lang="tr-TR" sz="1800" noProof="0" dirty="0">
                <a:latin typeface="Aptos" panose="020B0004020202020204" pitchFamily="34" charset="0"/>
              </a:rPr>
              <a:t>Gözlemcinin ismi</a:t>
            </a:r>
          </a:p>
          <a:p>
            <a:r>
              <a:rPr lang="tr-TR" sz="1800" noProof="0" dirty="0">
                <a:latin typeface="Aptos" panose="020B0004020202020204" pitchFamily="34" charset="0"/>
              </a:rPr>
              <a:t>İzin formunu </a:t>
            </a:r>
            <a:r>
              <a:rPr lang="tr-TR" sz="1800" b="1" noProof="0" dirty="0">
                <a:latin typeface="Aptos" panose="020B0004020202020204" pitchFamily="34" charset="0"/>
              </a:rPr>
              <a:t>onaylayanın ismi, imzası </a:t>
            </a:r>
            <a:r>
              <a:rPr lang="tr-TR" sz="1800" noProof="0" dirty="0">
                <a:latin typeface="Aptos" panose="020B0004020202020204" pitchFamily="34" charset="0"/>
              </a:rPr>
              <a:t>ve imza tarihi</a:t>
            </a:r>
          </a:p>
          <a:p>
            <a:r>
              <a:rPr lang="tr-TR" sz="1800" b="1" noProof="0" dirty="0">
                <a:latin typeface="Aptos" panose="020B0004020202020204" pitchFamily="34" charset="0"/>
              </a:rPr>
              <a:t>Tehlikeler</a:t>
            </a:r>
            <a:r>
              <a:rPr lang="tr-TR" sz="1800" noProof="0" dirty="0">
                <a:latin typeface="Aptos" panose="020B0004020202020204" pitchFamily="34" charset="0"/>
              </a:rPr>
              <a:t> ( tehlikeli gazlar, mekanik ekipmanlar vb.)</a:t>
            </a:r>
          </a:p>
          <a:p>
            <a:r>
              <a:rPr lang="tr-TR" sz="1800" b="1" noProof="0" dirty="0">
                <a:latin typeface="Aptos" panose="020B0004020202020204" pitchFamily="34" charset="0"/>
              </a:rPr>
              <a:t>İzolasyon yöntemleri </a:t>
            </a:r>
            <a:r>
              <a:rPr lang="tr-TR" sz="1800" noProof="0" dirty="0">
                <a:latin typeface="Aptos" panose="020B0004020202020204" pitchFamily="34" charset="0"/>
              </a:rPr>
              <a:t>(kilitleme, etiketleme, </a:t>
            </a:r>
            <a:r>
              <a:rPr lang="tr-TR" sz="1800" noProof="0" dirty="0" err="1">
                <a:latin typeface="Aptos" panose="020B0004020202020204" pitchFamily="34" charset="0"/>
              </a:rPr>
              <a:t>vb</a:t>
            </a:r>
            <a:r>
              <a:rPr lang="tr-TR" sz="1800" noProof="0" dirty="0">
                <a:latin typeface="Aptos" panose="020B0004020202020204" pitchFamily="34" charset="0"/>
              </a:rPr>
              <a:t>)</a:t>
            </a:r>
          </a:p>
        </p:txBody>
      </p:sp>
      <p:sp>
        <p:nvSpPr>
          <p:cNvPr id="6" name="Metin kutusu 5"/>
          <p:cNvSpPr txBox="1"/>
          <p:nvPr/>
        </p:nvSpPr>
        <p:spPr>
          <a:xfrm>
            <a:off x="6189155" y="2678335"/>
            <a:ext cx="5164645" cy="397219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tr-TR" b="1" noProof="0" dirty="0">
                <a:latin typeface="Aptos" panose="020B0004020202020204" pitchFamily="34" charset="0"/>
              </a:rPr>
              <a:t>Tehlike kontrol yöntemleri </a:t>
            </a:r>
            <a:r>
              <a:rPr lang="tr-TR" noProof="0" dirty="0">
                <a:latin typeface="Aptos" panose="020B0004020202020204" pitchFamily="34" charset="0"/>
              </a:rPr>
              <a:t>(sürekli hava temini, havanın sürekli ölçülmesi, vb.)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tr-TR" noProof="0" dirty="0">
                <a:latin typeface="Aptos" panose="020B0004020202020204" pitchFamily="34" charset="0"/>
              </a:rPr>
              <a:t> Gereken ve mevcut </a:t>
            </a:r>
            <a:r>
              <a:rPr lang="tr-TR" b="1" noProof="0" dirty="0">
                <a:latin typeface="Aptos" panose="020B0004020202020204" pitchFamily="34" charset="0"/>
              </a:rPr>
              <a:t>acil kurtarma servis ve ekipmanları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tr-TR" noProof="0" dirty="0">
                <a:latin typeface="Aptos" panose="020B0004020202020204" pitchFamily="34" charset="0"/>
              </a:rPr>
              <a:t>Giren ve gözlemci arasındaki </a:t>
            </a:r>
            <a:r>
              <a:rPr lang="tr-TR" b="1" noProof="0" dirty="0">
                <a:latin typeface="Aptos" panose="020B0004020202020204" pitchFamily="34" charset="0"/>
              </a:rPr>
              <a:t>haberleşme yöntemi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tr-TR" noProof="0" dirty="0">
                <a:latin typeface="Aptos" panose="020B0004020202020204" pitchFamily="34" charset="0"/>
              </a:rPr>
              <a:t>Giren elemanın kullanması gereken ve mevcut </a:t>
            </a:r>
            <a:r>
              <a:rPr lang="tr-TR" b="1" noProof="0" dirty="0">
                <a:latin typeface="Aptos" panose="020B0004020202020204" pitchFamily="34" charset="0"/>
              </a:rPr>
              <a:t>kişisel korunma ekipmanları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tr-TR" noProof="0" dirty="0">
                <a:latin typeface="Aptos" panose="020B0004020202020204" pitchFamily="34" charset="0"/>
              </a:rPr>
              <a:t>Gereken </a:t>
            </a:r>
            <a:r>
              <a:rPr lang="tr-TR" b="1" noProof="0" dirty="0">
                <a:latin typeface="Aptos" panose="020B0004020202020204" pitchFamily="34" charset="0"/>
              </a:rPr>
              <a:t>ölçüm ekipmanları</a:t>
            </a:r>
            <a:r>
              <a:rPr lang="tr-TR" noProof="0" dirty="0">
                <a:latin typeface="Aptos" panose="020B0004020202020204" pitchFamily="34" charset="0"/>
              </a:rPr>
              <a:t>, yapılan ölçüm (oksijen seviyesi, patlayabilir gaz seviyesi, toksik gaz seviyesi) sonuçları ve ölçüm yapanların parafları.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tr-TR" noProof="0" dirty="0">
                <a:latin typeface="Aptos" panose="020B0004020202020204" pitchFamily="34" charset="0"/>
              </a:rPr>
              <a:t> Girişin </a:t>
            </a:r>
            <a:r>
              <a:rPr lang="tr-TR" b="1" noProof="0" dirty="0">
                <a:latin typeface="Aptos" panose="020B0004020202020204" pitchFamily="34" charset="0"/>
              </a:rPr>
              <a:t>bitiş tarihi ve saati</a:t>
            </a:r>
            <a:endParaRPr lang="en-US" b="1" dirty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0518152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tr-TR" sz="4200" b="1" dirty="0">
                <a:latin typeface="Aptos"/>
              </a:rPr>
              <a:t>Kapalı alana girmeden önce yapılması gerekenler</a:t>
            </a:r>
            <a:endParaRPr lang="tr-TR" sz="4200" dirty="0"/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=""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91032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tr-TR" sz="2000" dirty="0">
                <a:solidFill>
                  <a:srgbClr val="FF0000"/>
                </a:solidFill>
                <a:latin typeface="Aptos"/>
              </a:rPr>
              <a:t>İç atmosferi test etmek</a:t>
            </a:r>
          </a:p>
          <a:p>
            <a:pPr marL="0" indent="0">
              <a:buNone/>
            </a:pPr>
            <a:endParaRPr lang="tr-TR" sz="2000" dirty="0">
              <a:latin typeface="Aptos"/>
            </a:endParaRPr>
          </a:p>
          <a:p>
            <a:r>
              <a:rPr lang="tr-TR" sz="2000" dirty="0">
                <a:latin typeface="Aptos"/>
              </a:rPr>
              <a:t>Ölçümler kapalı alana girilmeden uzatma çubuğu kullanılarak yapılmalıdır. </a:t>
            </a:r>
          </a:p>
          <a:p>
            <a:r>
              <a:rPr lang="tr-TR" sz="2000" dirty="0">
                <a:latin typeface="Aptos"/>
              </a:rPr>
              <a:t>Ayrıca çalışma sırasında oksijen ölçüm aleti kapalı birim içerisinde tutularak oksijen seviyesi sürekli kontrol edilmelidir.</a:t>
            </a:r>
          </a:p>
          <a:p>
            <a:r>
              <a:rPr lang="tr-TR" sz="2000" dirty="0">
                <a:latin typeface="Aptos"/>
              </a:rPr>
              <a:t>Ölçüm kapalı ortam içerisinde değişik noktalarda yapılmalıdır. </a:t>
            </a:r>
          </a:p>
          <a:p>
            <a:r>
              <a:rPr lang="tr-TR" sz="2000" dirty="0">
                <a:latin typeface="Aptos"/>
              </a:rPr>
              <a:t>Kapalı ortamın alt kısmında, solunum bölgesi seviyesinde ve üst kısımda mutlaka ölçüm alınmalıdır</a:t>
            </a:r>
          </a:p>
          <a:p>
            <a:pPr marL="0" indent="0">
              <a:buNone/>
            </a:pPr>
            <a:r>
              <a:rPr lang="tr-TR" sz="2000" dirty="0">
                <a:latin typeface="Aptos"/>
              </a:rPr>
              <a:t>                                      </a:t>
            </a:r>
            <a:r>
              <a:rPr lang="tr-TR" sz="2000" b="1" dirty="0">
                <a:latin typeface="Aptos"/>
              </a:rPr>
              <a:t>Oksijen</a:t>
            </a:r>
            <a:r>
              <a:rPr lang="tr-TR" sz="2000" dirty="0">
                <a:latin typeface="Aptos"/>
              </a:rPr>
              <a:t> seviyesini kontrol et </a:t>
            </a:r>
          </a:p>
          <a:p>
            <a:pPr marL="0" indent="0">
              <a:buNone/>
            </a:pPr>
            <a:r>
              <a:rPr lang="tr-TR" sz="2000" dirty="0">
                <a:latin typeface="Aptos"/>
              </a:rPr>
              <a:t>                                 (%19.5 &lt; O</a:t>
            </a:r>
            <a:r>
              <a:rPr lang="tr-TR" sz="2000" baseline="-25000" dirty="0">
                <a:latin typeface="Aptos"/>
              </a:rPr>
              <a:t>2</a:t>
            </a:r>
            <a:r>
              <a:rPr lang="tr-TR" sz="2000" dirty="0">
                <a:latin typeface="Aptos"/>
              </a:rPr>
              <a:t> konsantrasyonu &lt; % 23)</a:t>
            </a:r>
          </a:p>
          <a:p>
            <a:pPr marL="0" indent="0">
              <a:buNone/>
            </a:pPr>
            <a:r>
              <a:rPr lang="tr-TR" sz="2000" dirty="0">
                <a:latin typeface="Aptos"/>
              </a:rPr>
              <a:t>                                      </a:t>
            </a:r>
            <a:r>
              <a:rPr lang="tr-TR" sz="2000" b="1" dirty="0">
                <a:latin typeface="Aptos"/>
              </a:rPr>
              <a:t>Yanıcı,</a:t>
            </a:r>
            <a:r>
              <a:rPr lang="tr-TR" sz="2000" dirty="0">
                <a:latin typeface="Aptos"/>
              </a:rPr>
              <a:t> parlayıcıları kontrol et</a:t>
            </a:r>
          </a:p>
          <a:p>
            <a:pPr marL="0" indent="0">
              <a:buNone/>
            </a:pPr>
            <a:r>
              <a:rPr lang="tr-TR" sz="2000" dirty="0">
                <a:latin typeface="Aptos"/>
              </a:rPr>
              <a:t>                         (Parlama seviyesi (kendi ‘LEL’ değerinin %10’undan küçük olmalıdır. ) </a:t>
            </a:r>
          </a:p>
          <a:p>
            <a:pPr marL="0" indent="0">
              <a:buNone/>
            </a:pPr>
            <a:r>
              <a:rPr lang="tr-TR" sz="2000" dirty="0">
                <a:latin typeface="Aptos"/>
              </a:rPr>
              <a:t>                                     </a:t>
            </a:r>
            <a:r>
              <a:rPr lang="tr-TR" sz="2000" b="1" dirty="0">
                <a:latin typeface="Aptos"/>
              </a:rPr>
              <a:t>Toksik</a:t>
            </a:r>
            <a:r>
              <a:rPr lang="tr-TR" sz="2000" dirty="0">
                <a:latin typeface="Aptos"/>
              </a:rPr>
              <a:t> (zehirli) gazları kontrol et</a:t>
            </a:r>
          </a:p>
        </p:txBody>
      </p:sp>
    </p:spTree>
    <p:extLst>
      <p:ext uri="{BB962C8B-B14F-4D97-AF65-F5344CB8AC3E}">
        <p14:creationId xmlns:p14="http://schemas.microsoft.com/office/powerpoint/2010/main" val="376482878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351692" y="365125"/>
            <a:ext cx="11605846" cy="1325563"/>
          </a:xfrm>
        </p:spPr>
        <p:txBody>
          <a:bodyPr/>
          <a:lstStyle/>
          <a:p>
            <a:r>
              <a:rPr lang="tr-TR" sz="3800" b="1" dirty="0">
                <a:solidFill>
                  <a:prstClr val="black"/>
                </a:solidFill>
                <a:latin typeface="Aptos"/>
              </a:rPr>
              <a:t>Kapalı alana girmeden önce yapılması gerekenler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838200" y="1825625"/>
            <a:ext cx="5773615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tr-TR" sz="2200">
                <a:latin typeface="Aptos"/>
              </a:rPr>
              <a:t>          </a:t>
            </a:r>
            <a:r>
              <a:rPr lang="tr-TR" sz="2200" u="sng">
                <a:latin typeface="Aptos"/>
              </a:rPr>
              <a:t>Oksijen miktarının etkileri</a:t>
            </a:r>
          </a:p>
          <a:p>
            <a:pPr marL="0" indent="0">
              <a:buNone/>
            </a:pPr>
            <a:endParaRPr lang="tr-TR" sz="2200" u="sng">
              <a:latin typeface="Aptos"/>
            </a:endParaRPr>
          </a:p>
          <a:p>
            <a:pPr marL="0" indent="0">
              <a:buNone/>
            </a:pPr>
            <a:r>
              <a:rPr lang="tr-TR" sz="2200" b="1">
                <a:latin typeface="Aptos"/>
              </a:rPr>
              <a:t>% 23</a:t>
            </a:r>
            <a:r>
              <a:rPr lang="tr-TR" sz="2200">
                <a:latin typeface="Aptos"/>
              </a:rPr>
              <a:t>     </a:t>
            </a:r>
            <a:r>
              <a:rPr lang="tr-TR" sz="2000">
                <a:solidFill>
                  <a:srgbClr val="FF0000"/>
                </a:solidFill>
                <a:latin typeface="Aptos"/>
              </a:rPr>
              <a:t>ve yukarısı Patlama / yangın tehlikesi</a:t>
            </a:r>
          </a:p>
          <a:p>
            <a:pPr marL="0" indent="0">
              <a:buNone/>
            </a:pPr>
            <a:r>
              <a:rPr lang="tr-TR" sz="2200" b="1">
                <a:latin typeface="Aptos"/>
              </a:rPr>
              <a:t>% 21</a:t>
            </a:r>
            <a:r>
              <a:rPr lang="tr-TR" sz="2200">
                <a:latin typeface="Aptos"/>
              </a:rPr>
              <a:t>     </a:t>
            </a:r>
            <a:r>
              <a:rPr lang="tr-TR" sz="2000">
                <a:solidFill>
                  <a:srgbClr val="0070C0"/>
                </a:solidFill>
                <a:latin typeface="Aptos"/>
              </a:rPr>
              <a:t>Normal seviye</a:t>
            </a:r>
          </a:p>
          <a:p>
            <a:pPr marL="0" indent="0">
              <a:buNone/>
            </a:pPr>
            <a:r>
              <a:rPr lang="tr-TR" sz="2200" b="1">
                <a:latin typeface="Aptos"/>
              </a:rPr>
              <a:t>% 19.5  </a:t>
            </a:r>
            <a:r>
              <a:rPr lang="tr-TR" sz="2000">
                <a:latin typeface="Aptos"/>
              </a:rPr>
              <a:t>Alt tehlike sınırı</a:t>
            </a:r>
          </a:p>
          <a:p>
            <a:pPr marL="0" indent="0">
              <a:buNone/>
            </a:pPr>
            <a:r>
              <a:rPr lang="tr-TR" sz="2200" b="1">
                <a:latin typeface="Aptos"/>
              </a:rPr>
              <a:t>% 16     </a:t>
            </a:r>
            <a:r>
              <a:rPr lang="tr-TR" sz="2000">
                <a:latin typeface="Aptos"/>
              </a:rPr>
              <a:t>Hafif bilinç kaybı, sersemlik</a:t>
            </a:r>
          </a:p>
          <a:p>
            <a:pPr marL="0" indent="0">
              <a:buNone/>
            </a:pPr>
            <a:r>
              <a:rPr lang="tr-TR" sz="2200" b="1">
                <a:latin typeface="Aptos"/>
              </a:rPr>
              <a:t>% 14     </a:t>
            </a:r>
            <a:r>
              <a:rPr lang="tr-TR" sz="2000">
                <a:latin typeface="Aptos"/>
              </a:rPr>
              <a:t>Halsizlik, yanlış değerlendirme yapma</a:t>
            </a:r>
          </a:p>
          <a:p>
            <a:pPr marL="0" indent="0">
              <a:buNone/>
            </a:pPr>
            <a:r>
              <a:rPr lang="tr-TR" sz="2200" b="1">
                <a:latin typeface="Aptos"/>
              </a:rPr>
              <a:t>% 8</a:t>
            </a:r>
            <a:r>
              <a:rPr lang="tr-TR" sz="2200">
                <a:latin typeface="Aptos"/>
              </a:rPr>
              <a:t>       </a:t>
            </a:r>
            <a:r>
              <a:rPr lang="tr-TR" sz="2000">
                <a:latin typeface="Aptos"/>
              </a:rPr>
              <a:t>Anlık hafıza kaybı, baygınlık</a:t>
            </a:r>
          </a:p>
          <a:p>
            <a:pPr marL="0" indent="0">
              <a:buNone/>
            </a:pPr>
            <a:r>
              <a:rPr lang="tr-TR" sz="2200" b="1">
                <a:latin typeface="Aptos"/>
              </a:rPr>
              <a:t>% 6</a:t>
            </a:r>
            <a:r>
              <a:rPr lang="tr-TR" sz="2200">
                <a:latin typeface="Aptos"/>
              </a:rPr>
              <a:t>       </a:t>
            </a:r>
            <a:r>
              <a:rPr lang="tr-TR" sz="2000">
                <a:latin typeface="Aptos"/>
              </a:rPr>
              <a:t>Nefes almada zorluk, ölüm</a:t>
            </a:r>
            <a:endParaRPr lang="tr-TR" sz="2000" dirty="0">
              <a:latin typeface="Aptos"/>
            </a:endParaRPr>
          </a:p>
        </p:txBody>
      </p:sp>
      <p:sp>
        <p:nvSpPr>
          <p:cNvPr id="4" name="Metin kutusu 3"/>
          <p:cNvSpPr txBox="1"/>
          <p:nvPr/>
        </p:nvSpPr>
        <p:spPr>
          <a:xfrm>
            <a:off x="6611815" y="1771919"/>
            <a:ext cx="5580185" cy="43704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r-TR" sz="2200" u="sng" dirty="0">
                <a:latin typeface="Aptos"/>
              </a:rPr>
              <a:t>Parlayabilir Gaz Seviyesi</a:t>
            </a:r>
          </a:p>
          <a:p>
            <a:pPr algn="ctr"/>
            <a:endParaRPr lang="tr-TR" u="sng" dirty="0">
              <a:latin typeface="Aptos"/>
            </a:endParaRPr>
          </a:p>
          <a:p>
            <a:endParaRPr lang="tr-TR" dirty="0">
              <a:latin typeface="Aptos"/>
            </a:endParaRPr>
          </a:p>
          <a:p>
            <a:r>
              <a:rPr lang="tr-TR" sz="2000" dirty="0">
                <a:latin typeface="Aptos"/>
              </a:rPr>
              <a:t>Herhangi bir parlayabilir gaz için </a:t>
            </a:r>
          </a:p>
          <a:p>
            <a:r>
              <a:rPr lang="tr-TR" sz="2000" dirty="0">
                <a:solidFill>
                  <a:srgbClr val="0070C0"/>
                </a:solidFill>
                <a:latin typeface="Aptos"/>
              </a:rPr>
              <a:t>Parlama seviyesi = </a:t>
            </a:r>
            <a:r>
              <a:rPr lang="tr-TR" sz="2000" dirty="0">
                <a:latin typeface="Aptos"/>
              </a:rPr>
              <a:t>%10 </a:t>
            </a:r>
            <a:r>
              <a:rPr lang="tr-TR" sz="2000" dirty="0" err="1">
                <a:latin typeface="Aptos"/>
              </a:rPr>
              <a:t>LEL’den</a:t>
            </a:r>
            <a:r>
              <a:rPr lang="tr-TR" sz="2000" dirty="0">
                <a:latin typeface="Aptos"/>
              </a:rPr>
              <a:t> küçük olmalıdır.</a:t>
            </a:r>
          </a:p>
          <a:p>
            <a:r>
              <a:rPr lang="tr-TR" sz="2000" dirty="0">
                <a:latin typeface="Aptos"/>
              </a:rPr>
              <a:t> </a:t>
            </a:r>
          </a:p>
          <a:p>
            <a:r>
              <a:rPr lang="tr-TR" sz="2000" dirty="0">
                <a:latin typeface="Aptos"/>
              </a:rPr>
              <a:t>                           </a:t>
            </a:r>
            <a:r>
              <a:rPr lang="tr-TR" sz="2000" u="sng" dirty="0">
                <a:latin typeface="Aptos"/>
              </a:rPr>
              <a:t>LEL(%)</a:t>
            </a:r>
            <a:r>
              <a:rPr lang="tr-TR" sz="2000" dirty="0">
                <a:latin typeface="Aptos"/>
              </a:rPr>
              <a:t>               </a:t>
            </a:r>
            <a:r>
              <a:rPr lang="tr-TR" sz="2000" u="sng" dirty="0">
                <a:latin typeface="Aptos"/>
              </a:rPr>
              <a:t>UEL(%)</a:t>
            </a:r>
          </a:p>
          <a:p>
            <a:r>
              <a:rPr lang="tr-TR" sz="2000" dirty="0">
                <a:latin typeface="Aptos"/>
              </a:rPr>
              <a:t>Etanol                   3.5                      15</a:t>
            </a:r>
          </a:p>
          <a:p>
            <a:r>
              <a:rPr lang="tr-TR" sz="2000" dirty="0">
                <a:latin typeface="Aptos"/>
              </a:rPr>
              <a:t>Amonyak             15                        28</a:t>
            </a:r>
          </a:p>
          <a:p>
            <a:r>
              <a:rPr lang="tr-TR" sz="2000" dirty="0">
                <a:latin typeface="Aptos"/>
              </a:rPr>
              <a:t>Metan                    5                         15</a:t>
            </a:r>
          </a:p>
          <a:p>
            <a:r>
              <a:rPr lang="tr-TR" sz="2000" dirty="0">
                <a:latin typeface="Aptos"/>
              </a:rPr>
              <a:t>H</a:t>
            </a:r>
            <a:r>
              <a:rPr lang="tr-TR" sz="2000" baseline="-25000" dirty="0">
                <a:latin typeface="Aptos"/>
              </a:rPr>
              <a:t>2</a:t>
            </a:r>
            <a:r>
              <a:rPr lang="tr-TR" sz="2000" dirty="0">
                <a:latin typeface="Aptos"/>
              </a:rPr>
              <a:t>                            4                          76</a:t>
            </a:r>
          </a:p>
          <a:p>
            <a:endParaRPr lang="tr-TR" sz="2000" dirty="0">
              <a:latin typeface="Aptos"/>
            </a:endParaRPr>
          </a:p>
          <a:p>
            <a:r>
              <a:rPr lang="tr-TR" sz="2000" dirty="0">
                <a:latin typeface="Aptos"/>
              </a:rPr>
              <a:t> (</a:t>
            </a:r>
            <a:r>
              <a:rPr lang="tr-TR" sz="2000" b="1" dirty="0">
                <a:latin typeface="Aptos"/>
              </a:rPr>
              <a:t>LEL</a:t>
            </a:r>
            <a:r>
              <a:rPr lang="tr-TR" sz="2000" dirty="0">
                <a:latin typeface="Aptos"/>
              </a:rPr>
              <a:t> : En alt patlama sınırı, </a:t>
            </a:r>
            <a:r>
              <a:rPr lang="tr-TR" sz="2000" b="1" dirty="0">
                <a:latin typeface="Aptos"/>
              </a:rPr>
              <a:t>UEL</a:t>
            </a:r>
            <a:r>
              <a:rPr lang="tr-TR" sz="2000" dirty="0">
                <a:latin typeface="Aptos"/>
              </a:rPr>
              <a:t> : En üst patlama sınırı)</a:t>
            </a:r>
          </a:p>
        </p:txBody>
      </p:sp>
    </p:spTree>
    <p:extLst>
      <p:ext uri="{BB962C8B-B14F-4D97-AF65-F5344CB8AC3E}">
        <p14:creationId xmlns:p14="http://schemas.microsoft.com/office/powerpoint/2010/main" val="299964947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tr-TR" sz="4200" b="1" dirty="0">
                <a:latin typeface="Aptos"/>
              </a:rPr>
              <a:t>Kapalı alana girmeden önce yapılması gerekenler</a:t>
            </a:r>
            <a:endParaRPr lang="tr-TR" sz="4200" dirty="0"/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=""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838200" y="2378271"/>
            <a:ext cx="10515600" cy="4251960"/>
          </a:xfrm>
        </p:spPr>
        <p:txBody>
          <a:bodyPr>
            <a:normAutofit/>
          </a:bodyPr>
          <a:lstStyle/>
          <a:p>
            <a:r>
              <a:rPr lang="tr-TR" sz="2200" dirty="0">
                <a:latin typeface="Aptos"/>
              </a:rPr>
              <a:t>Kapalı alan boş olduğu zamanlarda </a:t>
            </a:r>
            <a:r>
              <a:rPr lang="tr-TR" sz="2200" b="1" dirty="0">
                <a:latin typeface="Aptos"/>
              </a:rPr>
              <a:t>her girişten önce</a:t>
            </a:r>
            <a:r>
              <a:rPr lang="tr-TR" sz="2200" dirty="0">
                <a:latin typeface="Aptos"/>
              </a:rPr>
              <a:t>,</a:t>
            </a:r>
          </a:p>
          <a:p>
            <a:r>
              <a:rPr lang="tr-TR" sz="2200" dirty="0">
                <a:latin typeface="Aptos"/>
              </a:rPr>
              <a:t>10 dakikalık havalandırma (gerekliyse) </a:t>
            </a:r>
          </a:p>
          <a:p>
            <a:r>
              <a:rPr lang="tr-TR" sz="2200" dirty="0">
                <a:latin typeface="Aptos"/>
              </a:rPr>
              <a:t>periyotlarından sonra,</a:t>
            </a:r>
          </a:p>
          <a:p>
            <a:r>
              <a:rPr lang="tr-TR" sz="2200" b="1" dirty="0">
                <a:latin typeface="Aptos"/>
              </a:rPr>
              <a:t>En az saat başı</a:t>
            </a:r>
            <a:r>
              <a:rPr lang="tr-TR" sz="2200" dirty="0">
                <a:latin typeface="Aptos"/>
              </a:rPr>
              <a:t>,</a:t>
            </a:r>
          </a:p>
          <a:p>
            <a:r>
              <a:rPr lang="tr-TR" sz="2200" b="1" dirty="0">
                <a:latin typeface="Aptos"/>
              </a:rPr>
              <a:t>Şüpheli durumlarda </a:t>
            </a:r>
            <a:r>
              <a:rPr lang="tr-TR" sz="2200" dirty="0">
                <a:latin typeface="Aptos"/>
              </a:rPr>
              <a:t>daha </a:t>
            </a:r>
            <a:r>
              <a:rPr lang="tr-TR" sz="2200" b="1" dirty="0">
                <a:latin typeface="Aptos"/>
              </a:rPr>
              <a:t>sık</a:t>
            </a:r>
            <a:r>
              <a:rPr lang="tr-TR" sz="2200" dirty="0">
                <a:latin typeface="Aptos"/>
              </a:rPr>
              <a:t> olarak testler yapılmalıdır.</a:t>
            </a:r>
          </a:p>
        </p:txBody>
      </p:sp>
    </p:spTree>
    <p:extLst>
      <p:ext uri="{BB962C8B-B14F-4D97-AF65-F5344CB8AC3E}">
        <p14:creationId xmlns:p14="http://schemas.microsoft.com/office/powerpoint/2010/main" val="45677458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tr-TR" sz="4200" b="1">
                <a:latin typeface="Aptos"/>
              </a:rPr>
              <a:t>Kapalı alana girmeden önce yapılması gerekenler</a:t>
            </a:r>
            <a:endParaRPr lang="tr-TR" sz="4200"/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=""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tr-TR" sz="2200" dirty="0">
                <a:solidFill>
                  <a:srgbClr val="FF0000"/>
                </a:solidFill>
                <a:latin typeface="Aptos"/>
              </a:rPr>
              <a:t>Kapalı alana girişi başlatmak</a:t>
            </a:r>
          </a:p>
          <a:p>
            <a:pPr marL="0" indent="0">
              <a:buNone/>
            </a:pPr>
            <a:endParaRPr lang="tr-TR" sz="2200" dirty="0"/>
          </a:p>
          <a:p>
            <a:r>
              <a:rPr lang="tr-TR" sz="2200" dirty="0">
                <a:latin typeface="Aptos"/>
              </a:rPr>
              <a:t>Gözlemci kapalı alanda çalışma süresince girişe yakın bir yerde beklemelidir. Çalışma devam ederken giriş yapan personelle sürekli iletişim halinde olmalıdır.</a:t>
            </a:r>
          </a:p>
          <a:p>
            <a:r>
              <a:rPr lang="tr-TR" sz="2200" dirty="0">
                <a:latin typeface="Aptos"/>
              </a:rPr>
              <a:t>Tüm gözlemciler kapalı alana giriş-çıkış dokümanlarını girişte ve çıkışta </a:t>
            </a:r>
            <a:r>
              <a:rPr lang="tr-TR" sz="2200" b="1" dirty="0">
                <a:latin typeface="Aptos"/>
              </a:rPr>
              <a:t>doldurmalıdırlar</a:t>
            </a:r>
            <a:r>
              <a:rPr lang="tr-TR" sz="2200" dirty="0">
                <a:latin typeface="Aptos"/>
              </a:rPr>
              <a:t>.</a:t>
            </a:r>
          </a:p>
          <a:p>
            <a:r>
              <a:rPr lang="tr-TR" sz="2200" dirty="0">
                <a:latin typeface="Aptos"/>
              </a:rPr>
              <a:t>Gözlemci çalışma süresince izin ve giriş dokümanlarını </a:t>
            </a:r>
            <a:r>
              <a:rPr lang="tr-TR" sz="2200" b="1" dirty="0">
                <a:latin typeface="Aptos"/>
              </a:rPr>
              <a:t>saklamalıdır.</a:t>
            </a:r>
          </a:p>
        </p:txBody>
      </p:sp>
    </p:spTree>
    <p:extLst>
      <p:ext uri="{BB962C8B-B14F-4D97-AF65-F5344CB8AC3E}">
        <p14:creationId xmlns:p14="http://schemas.microsoft.com/office/powerpoint/2010/main" val="56436658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0" y="-140176"/>
            <a:ext cx="10515600" cy="816561"/>
          </a:xfrm>
        </p:spPr>
        <p:txBody>
          <a:bodyPr>
            <a:normAutofit/>
          </a:bodyPr>
          <a:lstStyle/>
          <a:p>
            <a:pPr algn="ctr"/>
            <a:r>
              <a:rPr lang="tr-TR" sz="2400" b="1" dirty="0">
                <a:solidFill>
                  <a:srgbClr val="FF0000"/>
                </a:solidFill>
                <a:latin typeface="Aptos"/>
              </a:rPr>
              <a:t>Gözlemcinin sorumlulukları</a:t>
            </a:r>
          </a:p>
        </p:txBody>
      </p:sp>
      <p:graphicFrame>
        <p:nvGraphicFramePr>
          <p:cNvPr id="4" name="İçerik Yer Tutucusu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56243419"/>
              </p:ext>
            </p:extLst>
          </p:nvPr>
        </p:nvGraphicFramePr>
        <p:xfrm>
          <a:off x="0" y="376913"/>
          <a:ext cx="12192000" cy="648108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0498">
                  <a:extLst>
                    <a:ext uri="{9D8B030D-6E8A-4147-A177-3AD203B41FA5}">
                      <a16:colId xmlns:a16="http://schemas.microsoft.com/office/drawing/2014/main" val="3652274603"/>
                    </a:ext>
                  </a:extLst>
                </a:gridCol>
                <a:gridCol w="10841502">
                  <a:extLst>
                    <a:ext uri="{9D8B030D-6E8A-4147-A177-3AD203B41FA5}">
                      <a16:colId xmlns:a16="http://schemas.microsoft.com/office/drawing/2014/main" val="2616188071"/>
                    </a:ext>
                  </a:extLst>
                </a:gridCol>
              </a:tblGrid>
              <a:tr h="1605118">
                <a:tc>
                  <a:txBody>
                    <a:bodyPr/>
                    <a:lstStyle/>
                    <a:p>
                      <a:r>
                        <a:rPr lang="tr-TR" sz="1600" b="1" i="0" kern="1200">
                          <a:solidFill>
                            <a:schemeClr val="tx1"/>
                          </a:solidFill>
                          <a:effectLst/>
                          <a:latin typeface="Aptos"/>
                          <a:ea typeface="+mn-ea"/>
                          <a:cs typeface="+mn-cs"/>
                        </a:rPr>
                        <a:t>Çalışma Öncesi</a:t>
                      </a:r>
                      <a:endParaRPr lang="tr-TR" sz="1600" dirty="0">
                        <a:solidFill>
                          <a:schemeClr val="tx1"/>
                        </a:solidFill>
                        <a:latin typeface="Apto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buFont typeface="Arial" panose="020B0604020202020204" pitchFamily="34" charset="0"/>
                        <a:buChar char="•"/>
                      </a:pPr>
                      <a:r>
                        <a:rPr lang="tr-TR" b="0" i="0">
                          <a:solidFill>
                            <a:srgbClr val="0F1015"/>
                          </a:solidFill>
                          <a:effectLst/>
                          <a:latin typeface="Aptos"/>
                        </a:rPr>
                        <a:t>Kapalı alanda yapılacak işin izin formunu ve risk değerlendirmesini incelemek.</a:t>
                      </a:r>
                    </a:p>
                    <a:p>
                      <a:pPr algn="l">
                        <a:buFont typeface="Arial" panose="020B0604020202020204" pitchFamily="34" charset="0"/>
                        <a:buChar char="•"/>
                      </a:pPr>
                      <a:r>
                        <a:rPr lang="tr-TR" b="0" i="0">
                          <a:solidFill>
                            <a:srgbClr val="0F1015"/>
                          </a:solidFill>
                          <a:effectLst/>
                          <a:latin typeface="Aptos"/>
                        </a:rPr>
                        <a:t>Çalışmaya başlamadan önce gerekli önlemlerin (havalandırma, gaz ölçümü, KKD kullanımı vb.) alındığını kontrol etmek.</a:t>
                      </a:r>
                    </a:p>
                    <a:p>
                      <a:pPr algn="l">
                        <a:buFont typeface="Arial" panose="020B0604020202020204" pitchFamily="34" charset="0"/>
                        <a:buChar char="•"/>
                      </a:pPr>
                      <a:r>
                        <a:rPr lang="tr-TR" b="0" i="0">
                          <a:solidFill>
                            <a:srgbClr val="0F1015"/>
                          </a:solidFill>
                          <a:effectLst/>
                          <a:latin typeface="Aptos"/>
                        </a:rPr>
                        <a:t>İletişim araçlarının (telsiz, sesli sistem vb.) çalışır durumda olduğundan emin olmak.</a:t>
                      </a:r>
                    </a:p>
                    <a:p>
                      <a:pPr algn="l">
                        <a:buFont typeface="Arial" panose="020B0604020202020204" pitchFamily="34" charset="0"/>
                        <a:buChar char="•"/>
                      </a:pPr>
                      <a:r>
                        <a:rPr lang="tr-TR" b="0" i="0">
                          <a:solidFill>
                            <a:srgbClr val="0F1015"/>
                          </a:solidFill>
                          <a:effectLst/>
                          <a:latin typeface="Aptos"/>
                        </a:rPr>
                        <a:t>Kurtarma ekipmanlarının (tripod, halat, vinç, sedye vb.) hazır ve erişilebilir olduğunu doğrulamak.</a:t>
                      </a:r>
                    </a:p>
                    <a:p>
                      <a:endParaRPr lang="tr-T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56009448"/>
                  </a:ext>
                </a:extLst>
              </a:tr>
              <a:tr h="2091967">
                <a:tc>
                  <a:txBody>
                    <a:bodyPr/>
                    <a:lstStyle/>
                    <a:p>
                      <a:r>
                        <a:rPr lang="tr-TR" sz="1600" b="1" i="0" kern="1200">
                          <a:solidFill>
                            <a:schemeClr val="dk1"/>
                          </a:solidFill>
                          <a:effectLst/>
                          <a:latin typeface="Aptos"/>
                          <a:ea typeface="+mn-ea"/>
                          <a:cs typeface="+mn-cs"/>
                        </a:rPr>
                        <a:t>Çalışma Sırasında</a:t>
                      </a:r>
                      <a:endParaRPr lang="tr-TR" sz="1600" dirty="0">
                        <a:latin typeface="Apto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buFont typeface="Arial" panose="020B0604020202020204" pitchFamily="34" charset="0"/>
                        <a:buChar char="•"/>
                      </a:pPr>
                      <a:r>
                        <a:rPr lang="tr-TR" b="0" i="0">
                          <a:solidFill>
                            <a:srgbClr val="0F1015"/>
                          </a:solidFill>
                          <a:effectLst/>
                          <a:latin typeface="Canva Sans"/>
                        </a:rPr>
                        <a:t>Kapalı alana giren çalışanlarla </a:t>
                      </a:r>
                      <a:r>
                        <a:rPr lang="tr-TR" b="1" i="0">
                          <a:solidFill>
                            <a:srgbClr val="0F1015"/>
                          </a:solidFill>
                          <a:effectLst/>
                          <a:latin typeface="Canva Sans"/>
                        </a:rPr>
                        <a:t>sürekli iletişim</a:t>
                      </a:r>
                      <a:r>
                        <a:rPr lang="tr-TR" b="0" i="0">
                          <a:solidFill>
                            <a:srgbClr val="0F1015"/>
                          </a:solidFill>
                          <a:effectLst/>
                          <a:latin typeface="Canva Sans"/>
                        </a:rPr>
                        <a:t> halinde olmak.</a:t>
                      </a:r>
                    </a:p>
                    <a:p>
                      <a:pPr algn="l">
                        <a:buFont typeface="Arial" panose="020B0604020202020204" pitchFamily="34" charset="0"/>
                        <a:buChar char="•"/>
                      </a:pPr>
                      <a:r>
                        <a:rPr lang="tr-TR" b="0" i="0">
                          <a:solidFill>
                            <a:srgbClr val="0F1015"/>
                          </a:solidFill>
                          <a:effectLst/>
                          <a:latin typeface="Canva Sans"/>
                        </a:rPr>
                        <a:t>Çalışanların sayısını ve içerideki kişilerin kim olduğunu sürekli takip etmek.</a:t>
                      </a:r>
                    </a:p>
                    <a:p>
                      <a:pPr algn="l">
                        <a:buFont typeface="Arial" panose="020B0604020202020204" pitchFamily="34" charset="0"/>
                        <a:buChar char="•"/>
                      </a:pPr>
                      <a:r>
                        <a:rPr lang="tr-TR" b="0" i="0">
                          <a:solidFill>
                            <a:srgbClr val="0F1015"/>
                          </a:solidFill>
                          <a:effectLst/>
                          <a:latin typeface="Canva Sans"/>
                        </a:rPr>
                        <a:t>Ortam koşullarını (gaz ölçüm sonuçları, havalandırma, sıcaklık vb.) düzenli aralıklarla kontrol etmek.</a:t>
                      </a:r>
                    </a:p>
                    <a:p>
                      <a:pPr algn="l">
                        <a:buFont typeface="Arial" panose="020B0604020202020204" pitchFamily="34" charset="0"/>
                        <a:buChar char="•"/>
                      </a:pPr>
                      <a:r>
                        <a:rPr lang="tr-TR" b="0" i="0">
                          <a:solidFill>
                            <a:srgbClr val="0F1015"/>
                          </a:solidFill>
                          <a:effectLst/>
                          <a:latin typeface="Canva Sans"/>
                        </a:rPr>
                        <a:t>Çalışma sırasında </a:t>
                      </a:r>
                      <a:r>
                        <a:rPr lang="tr-TR" b="1" i="0">
                          <a:solidFill>
                            <a:srgbClr val="0F1015"/>
                          </a:solidFill>
                          <a:effectLst/>
                          <a:latin typeface="Canva Sans"/>
                        </a:rPr>
                        <a:t>kapalı alan girişini gözetimsiz bırakmamak</a:t>
                      </a:r>
                      <a:r>
                        <a:rPr lang="tr-TR" b="0" i="0">
                          <a:solidFill>
                            <a:srgbClr val="0F1015"/>
                          </a:solidFill>
                          <a:effectLst/>
                          <a:latin typeface="Canva Sans"/>
                        </a:rPr>
                        <a:t>.</a:t>
                      </a:r>
                    </a:p>
                    <a:p>
                      <a:pPr algn="l">
                        <a:buFont typeface="Arial" panose="020B0604020202020204" pitchFamily="34" charset="0"/>
                        <a:buChar char="•"/>
                      </a:pPr>
                      <a:r>
                        <a:rPr lang="tr-TR" b="0" i="0">
                          <a:solidFill>
                            <a:srgbClr val="0F1015"/>
                          </a:solidFill>
                          <a:effectLst/>
                          <a:latin typeface="Canva Sans"/>
                        </a:rPr>
                        <a:t>Herhangi bir tehlike belirtisi (bilinç kaybı, gaz alarmı, iletişim kesilmesi vb.) fark ettiğinde derhal </a:t>
                      </a:r>
                      <a:r>
                        <a:rPr lang="tr-TR" b="1" i="0">
                          <a:solidFill>
                            <a:srgbClr val="0F1015"/>
                          </a:solidFill>
                          <a:effectLst/>
                          <a:latin typeface="Canva Sans"/>
                        </a:rPr>
                        <a:t>çalışmayı durdurmak</a:t>
                      </a:r>
                      <a:r>
                        <a:rPr lang="tr-TR" b="0" i="0">
                          <a:solidFill>
                            <a:srgbClr val="0F1015"/>
                          </a:solidFill>
                          <a:effectLst/>
                          <a:latin typeface="Canva Sans"/>
                        </a:rPr>
                        <a:t> ve acil durum prosedürünü başlatmak.</a:t>
                      </a:r>
                    </a:p>
                    <a:p>
                      <a:endParaRPr lang="tr-T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38262079"/>
                  </a:ext>
                </a:extLst>
              </a:tr>
              <a:tr h="1351678">
                <a:tc>
                  <a:txBody>
                    <a:bodyPr/>
                    <a:lstStyle/>
                    <a:p>
                      <a:r>
                        <a:rPr lang="tr-TR" sz="1600" b="1" i="0" kern="1200">
                          <a:solidFill>
                            <a:schemeClr val="dk1"/>
                          </a:solidFill>
                          <a:effectLst/>
                          <a:latin typeface="Aptos"/>
                          <a:ea typeface="+mn-ea"/>
                          <a:cs typeface="+mn-cs"/>
                        </a:rPr>
                        <a:t>Acil Durumlarda</a:t>
                      </a:r>
                      <a:endParaRPr lang="tr-TR" sz="1600" dirty="0">
                        <a:latin typeface="Apto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buFont typeface="Arial" panose="020B0604020202020204" pitchFamily="34" charset="0"/>
                        <a:buChar char="•"/>
                      </a:pPr>
                      <a:r>
                        <a:rPr lang="tr-TR" b="0" i="0">
                          <a:solidFill>
                            <a:srgbClr val="0F1015"/>
                          </a:solidFill>
                          <a:effectLst/>
                          <a:latin typeface="Aptos"/>
                        </a:rPr>
                        <a:t>Kendi güvenliğini tehlikeye atmadan, eğitimli olduğu ölçüde kurtarma ekipmanlarını kullanarak tahliye sürecini başlatmak.</a:t>
                      </a:r>
                    </a:p>
                    <a:p>
                      <a:pPr algn="l">
                        <a:buFont typeface="Arial" panose="020B0604020202020204" pitchFamily="34" charset="0"/>
                        <a:buChar char="•"/>
                      </a:pPr>
                      <a:r>
                        <a:rPr lang="tr-TR" b="0" i="0">
                          <a:solidFill>
                            <a:srgbClr val="0F1015"/>
                          </a:solidFill>
                          <a:effectLst/>
                          <a:latin typeface="Aptos"/>
                        </a:rPr>
                        <a:t>İlk yardım ekibini ve işyeri acil durum ekibini haberdar etmek.</a:t>
                      </a:r>
                    </a:p>
                    <a:p>
                      <a:pPr algn="l">
                        <a:buFont typeface="Arial" panose="020B0604020202020204" pitchFamily="34" charset="0"/>
                        <a:buChar char="•"/>
                      </a:pPr>
                      <a:r>
                        <a:rPr lang="tr-TR" b="0" i="0">
                          <a:solidFill>
                            <a:srgbClr val="0F1015"/>
                          </a:solidFill>
                          <a:effectLst/>
                          <a:latin typeface="Aptos"/>
                        </a:rPr>
                        <a:t>Olayla ilgili bilgileri (zaman, neden, içerideki kişi sayısı vb.) doğru şekilde iletmek.</a:t>
                      </a:r>
                    </a:p>
                    <a:p>
                      <a:endParaRPr lang="tr-T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12686"/>
                  </a:ext>
                </a:extLst>
              </a:tr>
              <a:tr h="1098239">
                <a:tc>
                  <a:txBody>
                    <a:bodyPr/>
                    <a:lstStyle/>
                    <a:p>
                      <a:r>
                        <a:rPr lang="tr-TR" sz="1600" b="1" i="0" kern="1200">
                          <a:solidFill>
                            <a:schemeClr val="dk1"/>
                          </a:solidFill>
                          <a:effectLst/>
                          <a:latin typeface="Aptos"/>
                          <a:ea typeface="+mn-ea"/>
                          <a:cs typeface="+mn-cs"/>
                        </a:rPr>
                        <a:t>Çalışma Sonrası </a:t>
                      </a:r>
                      <a:endParaRPr lang="tr-TR" sz="1600" dirty="0">
                        <a:latin typeface="Apto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buFont typeface="Arial" panose="020B0604020202020204" pitchFamily="34" charset="0"/>
                        <a:buChar char="•"/>
                      </a:pPr>
                      <a:r>
                        <a:rPr lang="tr-TR" b="0" i="0">
                          <a:solidFill>
                            <a:srgbClr val="0F1015"/>
                          </a:solidFill>
                          <a:effectLst/>
                          <a:latin typeface="Canva Sans"/>
                        </a:rPr>
                        <a:t>Çalışma tamamlandığında içeride kimsenin kalmadığını kontrol etmek.</a:t>
                      </a:r>
                    </a:p>
                    <a:p>
                      <a:pPr algn="l">
                        <a:buFont typeface="Arial" panose="020B0604020202020204" pitchFamily="34" charset="0"/>
                        <a:buChar char="•"/>
                      </a:pPr>
                      <a:r>
                        <a:rPr lang="tr-TR" b="0" i="0">
                          <a:solidFill>
                            <a:srgbClr val="0F1015"/>
                          </a:solidFill>
                          <a:effectLst/>
                          <a:latin typeface="Canva Sans"/>
                        </a:rPr>
                        <a:t>Kullanılan ekipmanların toplanmasını ve alanın güvenli hale getirilmesini sağlamak.</a:t>
                      </a:r>
                    </a:p>
                    <a:p>
                      <a:pPr algn="l">
                        <a:buFont typeface="Arial" panose="020B0604020202020204" pitchFamily="34" charset="0"/>
                        <a:buChar char="•"/>
                      </a:pPr>
                      <a:r>
                        <a:rPr lang="tr-TR" b="0" i="0">
                          <a:solidFill>
                            <a:srgbClr val="0F1015"/>
                          </a:solidFill>
                          <a:effectLst/>
                          <a:latin typeface="Canva Sans"/>
                        </a:rPr>
                        <a:t>Çalışma izin formunun kapatılması sürecine katkıda bulunmak</a:t>
                      </a:r>
                    </a:p>
                    <a:p>
                      <a:endParaRPr lang="tr-T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969614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6283164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C27033F-B9CF-9FD7-A407-DB4898EBFF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3564BBF-B768-777A-F70E-74C4C5E20A82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Unvan 1">
            <a:extLst>
              <a:ext uri="{FF2B5EF4-FFF2-40B4-BE49-F238E27FC236}">
                <a16:creationId xmlns:a16="http://schemas.microsoft.com/office/drawing/2014/main" id="{3D2DF179-31DE-BF0C-7E47-9076D22973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tr-TR" sz="4000" b="1" dirty="0">
                <a:latin typeface="Aptos"/>
              </a:rPr>
              <a:t>Kaza örnekleri</a:t>
            </a:r>
            <a:endParaRPr lang="tr-TR" sz="4200" b="1" dirty="0">
              <a:latin typeface="Aptos"/>
            </a:endParaRP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BF2309EB-EE8E-134A-070B-159EC49D352E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=""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2515457D-260A-0882-6F8E-D58AB20F9D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7418" y="2240915"/>
            <a:ext cx="10515600" cy="4251960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tr-TR" sz="2400" b="1" dirty="0">
                <a:solidFill>
                  <a:srgbClr val="FF0000"/>
                </a:solidFill>
                <a:latin typeface="Aptos"/>
              </a:rPr>
              <a:t>Atık su arıtma tesisinde çamur tankında temizlik ve bakım</a:t>
            </a:r>
          </a:p>
          <a:p>
            <a:pPr marL="0" indent="0">
              <a:buNone/>
            </a:pPr>
            <a:endParaRPr lang="tr-TR" sz="2400" b="1" dirty="0">
              <a:solidFill>
                <a:srgbClr val="FF0000"/>
              </a:solidFill>
              <a:latin typeface="Aptos"/>
            </a:endParaRPr>
          </a:p>
          <a:p>
            <a:r>
              <a:rPr lang="tr-TR" sz="2400" dirty="0">
                <a:solidFill>
                  <a:srgbClr val="0F1015"/>
                </a:solidFill>
                <a:latin typeface="Aptos"/>
              </a:rPr>
              <a:t>İki işçi tankın iç yüzeyini temizlemek için kapalı alana girer. </a:t>
            </a:r>
          </a:p>
          <a:p>
            <a:r>
              <a:rPr lang="tr-TR" sz="2400" dirty="0">
                <a:solidFill>
                  <a:srgbClr val="0F1015"/>
                </a:solidFill>
                <a:latin typeface="Aptos"/>
              </a:rPr>
              <a:t>Gözlemci, gaz ölçüm cihazının kalibrasyonunun yapılmadığını fark etmez. </a:t>
            </a:r>
          </a:p>
          <a:p>
            <a:r>
              <a:rPr lang="tr-TR" sz="2400" dirty="0">
                <a:solidFill>
                  <a:srgbClr val="0F1015"/>
                </a:solidFill>
                <a:latin typeface="Aptos"/>
              </a:rPr>
              <a:t>Çalışma başladıktan kısa süre sonra içerideki işçilerden biri baş dönmesi ve nefes darlığı yaşar, ardından bayılır. </a:t>
            </a:r>
          </a:p>
          <a:p>
            <a:r>
              <a:rPr lang="tr-TR" sz="2400" dirty="0">
                <a:solidFill>
                  <a:srgbClr val="0F1015"/>
                </a:solidFill>
                <a:latin typeface="Aptos"/>
              </a:rPr>
              <a:t>Diğer işçi yardım etmeye çalışırken o da etkilenir. </a:t>
            </a:r>
          </a:p>
          <a:p>
            <a:r>
              <a:rPr lang="tr-TR" sz="2400" dirty="0">
                <a:solidFill>
                  <a:srgbClr val="0F1015"/>
                </a:solidFill>
                <a:latin typeface="Aptos"/>
              </a:rPr>
              <a:t>Gözlemci, içeriden ses gelmediğini fark edip alarm verir. </a:t>
            </a:r>
          </a:p>
          <a:p>
            <a:r>
              <a:rPr lang="tr-TR" sz="2400" dirty="0">
                <a:solidFill>
                  <a:srgbClr val="0F1015"/>
                </a:solidFill>
                <a:latin typeface="Aptos"/>
              </a:rPr>
              <a:t>Kurtarma ekibi tripod sistemiyle işçileri çıkarır. </a:t>
            </a:r>
          </a:p>
          <a:p>
            <a:endParaRPr lang="tr-TR" sz="2400" b="1" dirty="0">
              <a:solidFill>
                <a:srgbClr val="0F1015"/>
              </a:solidFill>
              <a:latin typeface="Aptos"/>
            </a:endParaRPr>
          </a:p>
          <a:p>
            <a:pPr marL="0" lvl="0" indent="0">
              <a:buNone/>
            </a:pPr>
            <a:r>
              <a:rPr lang="tr-TR" sz="2400" b="1" dirty="0">
                <a:latin typeface="Aptos"/>
              </a:rPr>
              <a:t>Sonuç:</a:t>
            </a:r>
            <a:r>
              <a:rPr lang="tr-TR" sz="2400" dirty="0">
                <a:latin typeface="Aptos"/>
              </a:rPr>
              <a:t> </a:t>
            </a:r>
            <a:r>
              <a:rPr lang="tr-TR" sz="2400" dirty="0">
                <a:solidFill>
                  <a:srgbClr val="0F1015"/>
                </a:solidFill>
                <a:latin typeface="Aptos"/>
              </a:rPr>
              <a:t>Bir işçi hafif zehirlenme, diğeri bilinç kaybı yaşar.</a:t>
            </a:r>
            <a:endParaRPr lang="tr-TR" sz="2400" dirty="0">
              <a:solidFill>
                <a:prstClr val="black"/>
              </a:solidFill>
              <a:latin typeface="Aptos"/>
            </a:endParaRPr>
          </a:p>
          <a:p>
            <a:pPr marL="0" indent="0">
              <a:buClr>
                <a:srgbClr val="C00000"/>
              </a:buClr>
              <a:buNone/>
            </a:pPr>
            <a:endParaRPr lang="tr-TR" sz="2200" dirty="0">
              <a:latin typeface="Aptos"/>
            </a:endParaRPr>
          </a:p>
        </p:txBody>
      </p:sp>
      <p:pic>
        <p:nvPicPr>
          <p:cNvPr id="4" name="Resim 3">
            <a:extLst>
              <a:ext uri="{FF2B5EF4-FFF2-40B4-BE49-F238E27FC236}">
                <a16:creationId xmlns:a16="http://schemas.microsoft.com/office/drawing/2014/main" id="{106E8341-3256-D420-7F1A-796FE5F6E6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496" y="4437678"/>
            <a:ext cx="4389500" cy="2420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107269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tr-TR" b="1" dirty="0">
                <a:latin typeface="Aptos"/>
              </a:rPr>
              <a:t>Kaza örnekleri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=""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tr-TR" sz="2200" b="1" dirty="0" err="1">
                <a:solidFill>
                  <a:srgbClr val="FF0000"/>
                </a:solidFill>
                <a:latin typeface="Aptos"/>
              </a:rPr>
              <a:t>Toluen</a:t>
            </a:r>
            <a:r>
              <a:rPr lang="tr-TR" sz="2200" b="1" dirty="0">
                <a:solidFill>
                  <a:srgbClr val="FF0000"/>
                </a:solidFill>
                <a:latin typeface="Aptos"/>
              </a:rPr>
              <a:t> içeren tankta temizlik çalışması</a:t>
            </a:r>
          </a:p>
          <a:p>
            <a:pPr marL="0" indent="0">
              <a:buNone/>
            </a:pPr>
            <a:endParaRPr lang="tr-TR" sz="2200" dirty="0">
              <a:solidFill>
                <a:srgbClr val="C00000"/>
              </a:solidFill>
              <a:latin typeface="Aptos"/>
            </a:endParaRPr>
          </a:p>
          <a:p>
            <a:r>
              <a:rPr lang="tr-TR" sz="2200" dirty="0">
                <a:latin typeface="Aptos"/>
              </a:rPr>
              <a:t>Eleman 45 m</a:t>
            </a:r>
            <a:r>
              <a:rPr lang="tr-TR" sz="2200" baseline="30000" dirty="0">
                <a:latin typeface="Aptos"/>
              </a:rPr>
              <a:t>3</a:t>
            </a:r>
            <a:r>
              <a:rPr lang="tr-TR" sz="2200" dirty="0">
                <a:latin typeface="Aptos"/>
              </a:rPr>
              <a:t> lük </a:t>
            </a:r>
            <a:r>
              <a:rPr lang="tr-TR" sz="2200" dirty="0" err="1">
                <a:latin typeface="Aptos"/>
              </a:rPr>
              <a:t>Toluen</a:t>
            </a:r>
            <a:r>
              <a:rPr lang="tr-TR" sz="2200" dirty="0">
                <a:latin typeface="Aptos"/>
              </a:rPr>
              <a:t> içeren tankı temizlemekle görevlendiriliyor.</a:t>
            </a:r>
          </a:p>
          <a:p>
            <a:r>
              <a:rPr lang="tr-TR" sz="2200" dirty="0">
                <a:latin typeface="Aptos"/>
              </a:rPr>
              <a:t>Tankın boyutları: 6m yükseklik, 3m çap.</a:t>
            </a:r>
          </a:p>
          <a:p>
            <a:r>
              <a:rPr lang="tr-TR" sz="2200" dirty="0">
                <a:latin typeface="Aptos"/>
              </a:rPr>
              <a:t>İçeride kalan gazın boşalıp boşalmadığı kontrol edilmiyor ve oksijen ölçülmüyor. Eleman 40 cm çapındaki üst kapaktan iple aşağı iniyor.</a:t>
            </a:r>
          </a:p>
          <a:p>
            <a:r>
              <a:rPr lang="tr-TR" sz="2200" dirty="0">
                <a:latin typeface="Aptos"/>
              </a:rPr>
              <a:t>Solunum cihazı olmasına rağmen eleman tarafından takılmıyor</a:t>
            </a:r>
          </a:p>
          <a:p>
            <a:r>
              <a:rPr lang="tr-TR" sz="2200" dirty="0">
                <a:latin typeface="Aptos"/>
              </a:rPr>
              <a:t>Yetersiz oksijen sebebiyle eleman tankın dibinde yere yığılıyor.</a:t>
            </a:r>
          </a:p>
          <a:p>
            <a:r>
              <a:rPr lang="tr-TR" sz="2200" dirty="0">
                <a:latin typeface="Aptos"/>
              </a:rPr>
              <a:t>Çağrılan kurtarma ekibi tankın yanından delik açmaya çalışırken tank patlıyor. </a:t>
            </a:r>
          </a:p>
          <a:p>
            <a:pPr marL="0" indent="0">
              <a:buNone/>
            </a:pPr>
            <a:endParaRPr lang="tr-TR" sz="2200" dirty="0">
              <a:latin typeface="Aptos"/>
            </a:endParaRPr>
          </a:p>
          <a:p>
            <a:pPr marL="0" indent="0">
              <a:buNone/>
            </a:pPr>
            <a:r>
              <a:rPr lang="tr-TR" sz="2200" b="1" dirty="0">
                <a:latin typeface="Aptos"/>
              </a:rPr>
              <a:t>Sonuç</a:t>
            </a:r>
            <a:r>
              <a:rPr lang="tr-TR" sz="2200" dirty="0">
                <a:latin typeface="Aptos"/>
              </a:rPr>
              <a:t>: İçeriye giren eleman ve kurtarma ekibinin bir elemanı ölüyor, 15 yaralı !</a:t>
            </a:r>
          </a:p>
        </p:txBody>
      </p:sp>
    </p:spTree>
    <p:extLst>
      <p:ext uri="{BB962C8B-B14F-4D97-AF65-F5344CB8AC3E}">
        <p14:creationId xmlns:p14="http://schemas.microsoft.com/office/powerpoint/2010/main" val="87583267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tr-TR" b="1" dirty="0">
                <a:latin typeface="Aptos"/>
              </a:rPr>
              <a:t>Kaza örnekleri</a:t>
            </a:r>
            <a:endParaRPr lang="tr-TR" dirty="0"/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=""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tr-TR" sz="2200" b="1" dirty="0">
                <a:solidFill>
                  <a:srgbClr val="FF0000"/>
                </a:solidFill>
                <a:latin typeface="Aptos"/>
              </a:rPr>
              <a:t>Atıksu arıtma tesisinde rögar hattı bakımı</a:t>
            </a:r>
          </a:p>
          <a:p>
            <a:pPr marL="0" indent="0">
              <a:buNone/>
            </a:pPr>
            <a:endParaRPr lang="tr-TR" sz="2200" b="1" dirty="0">
              <a:latin typeface="Aptos"/>
            </a:endParaRPr>
          </a:p>
          <a:p>
            <a:r>
              <a:rPr lang="tr-TR" sz="2200" dirty="0">
                <a:latin typeface="Aptos"/>
              </a:rPr>
              <a:t>Bakım ekibi gaz ölçümü yapmadan rögar kapağını açar.</a:t>
            </a:r>
          </a:p>
          <a:p>
            <a:r>
              <a:rPr lang="tr-TR" sz="2200" dirty="0">
                <a:latin typeface="Aptos"/>
              </a:rPr>
              <a:t>Bir çalışan hızlı kontrol için içeri iner.</a:t>
            </a:r>
          </a:p>
          <a:p>
            <a:r>
              <a:rPr lang="tr-TR" sz="2200" dirty="0">
                <a:latin typeface="Aptos"/>
              </a:rPr>
              <a:t>1–2 dakika içinde bilinç kaybı yaşar.</a:t>
            </a:r>
          </a:p>
          <a:p>
            <a:r>
              <a:rPr lang="tr-TR" sz="2200" dirty="0">
                <a:latin typeface="Aptos"/>
              </a:rPr>
              <a:t>Üstteki çalışan “kurtarmak” için içeri girer.</a:t>
            </a:r>
          </a:p>
          <a:p>
            <a:r>
              <a:rPr lang="tr-TR" sz="2200" dirty="0">
                <a:latin typeface="Aptos"/>
              </a:rPr>
              <a:t>O da kısa sürede etkilenir.</a:t>
            </a:r>
          </a:p>
          <a:p>
            <a:endParaRPr lang="tr-TR" sz="2200" dirty="0">
              <a:latin typeface="Aptos"/>
            </a:endParaRPr>
          </a:p>
          <a:p>
            <a:pPr marL="0" indent="0">
              <a:buNone/>
            </a:pPr>
            <a:r>
              <a:rPr lang="tr-TR" sz="2200" b="1" dirty="0">
                <a:latin typeface="Aptos"/>
              </a:rPr>
              <a:t>Sonuç:</a:t>
            </a:r>
            <a:r>
              <a:rPr lang="tr-TR" sz="2200" dirty="0">
                <a:latin typeface="Aptos"/>
              </a:rPr>
              <a:t> 2 ölüm (</a:t>
            </a:r>
            <a:r>
              <a:rPr lang="tr-TR" sz="2200" u="sng" dirty="0">
                <a:latin typeface="Aptos"/>
              </a:rPr>
              <a:t>Kapalı alan ölümlerinin önemli kısmı kurtarma sırasında olur</a:t>
            </a:r>
            <a:r>
              <a:rPr lang="tr-TR" sz="2200" dirty="0">
                <a:latin typeface="Aptos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32178383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tr-TR" b="1" dirty="0" smtClean="0">
                <a:latin typeface="Aptos"/>
              </a:rPr>
              <a:t>Kazaya sebep olabilecek hatalar</a:t>
            </a:r>
            <a:endParaRPr lang="tr-TR" dirty="0"/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=""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839716"/>
          </a:xfrm>
        </p:spPr>
        <p:txBody>
          <a:bodyPr>
            <a:normAutofit fontScale="92500" lnSpcReduction="10000"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tr-TR" sz="2200" dirty="0" smtClean="0">
                <a:latin typeface="Aptos" panose="020B0004020202020204"/>
              </a:rPr>
              <a:t>Gaz ölçümlerinin yanlış yerden yapılması (CO</a:t>
            </a:r>
            <a:r>
              <a:rPr lang="tr-TR" sz="2200" baseline="-25000" dirty="0" smtClean="0">
                <a:latin typeface="Aptos"/>
              </a:rPr>
              <a:t>2</a:t>
            </a:r>
            <a:r>
              <a:rPr lang="tr-TR" sz="2200" dirty="0" smtClean="0">
                <a:latin typeface="Aptos"/>
              </a:rPr>
              <a:t> ve CH</a:t>
            </a:r>
            <a:r>
              <a:rPr lang="tr-TR" sz="2200" baseline="-25000" dirty="0" smtClean="0">
                <a:latin typeface="Aptos"/>
              </a:rPr>
              <a:t>4</a:t>
            </a:r>
            <a:r>
              <a:rPr lang="tr-TR" sz="2200" dirty="0" smtClean="0">
                <a:latin typeface="Aptos"/>
              </a:rPr>
              <a:t>),</a:t>
            </a:r>
          </a:p>
          <a:p>
            <a:pPr marL="0" indent="0">
              <a:buNone/>
            </a:pPr>
            <a:r>
              <a:rPr lang="tr-TR" sz="2200" dirty="0">
                <a:latin typeface="Aptos"/>
              </a:rPr>
              <a:t> </a:t>
            </a:r>
            <a:r>
              <a:rPr lang="tr-TR" sz="2200" dirty="0" smtClean="0">
                <a:latin typeface="Aptos"/>
              </a:rPr>
              <a:t>   </a:t>
            </a:r>
            <a:r>
              <a:rPr lang="tr-TR" sz="2400" dirty="0" smtClean="0"/>
              <a:t>İşçilerin </a:t>
            </a:r>
            <a:r>
              <a:rPr lang="tr-TR" sz="2400" dirty="0"/>
              <a:t>daima doğrudan vücutlarının üzerinde bir mobil gaz ölçüm cihazı taşımaları </a:t>
            </a:r>
            <a:r>
              <a:rPr lang="tr-TR" sz="2400" dirty="0" smtClean="0"/>
              <a:t>bu bakımdan önemlidir</a:t>
            </a:r>
            <a:r>
              <a:rPr lang="tr-TR" sz="2400" dirty="0"/>
              <a:t>.</a:t>
            </a:r>
            <a:endParaRPr lang="tr-TR" sz="2200" dirty="0" smtClean="0">
              <a:latin typeface="Aptos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tr-TR" sz="2200" dirty="0" smtClean="0">
                <a:latin typeface="Aptos"/>
              </a:rPr>
              <a:t>Ortamda hatalı ya da yanlış sensörlerin kullanılması,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tr-TR" sz="2400" dirty="0" smtClean="0"/>
              <a:t>Kurtarma çalışmalarında, dikkatlice durum değerlendirmesi yapılmadan ezbere hareket edilmesi,</a:t>
            </a:r>
          </a:p>
          <a:p>
            <a:pPr marL="0" indent="0">
              <a:buNone/>
            </a:pPr>
            <a:r>
              <a:rPr lang="tr-TR" sz="2400" dirty="0" smtClean="0"/>
              <a:t>       Berkeley </a:t>
            </a:r>
            <a:r>
              <a:rPr lang="tr-TR" sz="2400" dirty="0"/>
              <a:t>Üniversitesi, California/ABD tarafından yapılan bir çalışmaya göre en yüksek kaza oranlarına sahip durumlar şu şekildedir: </a:t>
            </a:r>
            <a:endParaRPr lang="tr-TR" sz="2400" dirty="0" smtClean="0"/>
          </a:p>
          <a:p>
            <a:pPr marL="0" indent="0">
              <a:buNone/>
            </a:pPr>
            <a:r>
              <a:rPr lang="tr-TR" sz="2400" dirty="0" smtClean="0"/>
              <a:t>       Onarım </a:t>
            </a:r>
            <a:r>
              <a:rPr lang="tr-TR" sz="2400" dirty="0"/>
              <a:t>ve bakım işi (kayıtlı vakaların </a:t>
            </a:r>
            <a:r>
              <a:rPr lang="tr-TR" sz="2400" dirty="0" smtClean="0"/>
              <a:t>% </a:t>
            </a:r>
            <a:r>
              <a:rPr lang="tr-TR" sz="2400" dirty="0"/>
              <a:t>24'ü), </a:t>
            </a:r>
            <a:endParaRPr lang="tr-TR" sz="2400" dirty="0" smtClean="0"/>
          </a:p>
          <a:p>
            <a:pPr marL="0" indent="0">
              <a:buNone/>
            </a:pPr>
            <a:r>
              <a:rPr lang="tr-TR" sz="2400" dirty="0" smtClean="0"/>
              <a:t>       Temizlik </a:t>
            </a:r>
            <a:r>
              <a:rPr lang="tr-TR" sz="2400" dirty="0"/>
              <a:t>işi </a:t>
            </a:r>
            <a:r>
              <a:rPr lang="tr-TR" sz="2400" dirty="0" smtClean="0"/>
              <a:t>(% </a:t>
            </a:r>
            <a:r>
              <a:rPr lang="tr-TR" sz="2400" dirty="0"/>
              <a:t>12) </a:t>
            </a:r>
            <a:endParaRPr lang="tr-TR" sz="2400" dirty="0" smtClean="0"/>
          </a:p>
          <a:p>
            <a:pPr marL="0" indent="0">
              <a:buNone/>
            </a:pPr>
            <a:r>
              <a:rPr lang="tr-TR" sz="2400" dirty="0"/>
              <a:t> </a:t>
            </a:r>
            <a:r>
              <a:rPr lang="tr-TR" sz="2400" dirty="0" smtClean="0"/>
              <a:t>      Kontroller (% </a:t>
            </a:r>
            <a:r>
              <a:rPr lang="tr-TR" sz="2400" dirty="0"/>
              <a:t>11</a:t>
            </a:r>
            <a:r>
              <a:rPr lang="tr-TR" sz="2400" dirty="0" smtClean="0"/>
              <a:t>)</a:t>
            </a:r>
          </a:p>
          <a:p>
            <a:pPr marL="0" indent="0">
              <a:buNone/>
            </a:pPr>
            <a:endParaRPr lang="tr-TR" sz="2400" dirty="0" smtClean="0"/>
          </a:p>
          <a:p>
            <a:pPr marL="0" indent="0">
              <a:buNone/>
            </a:pPr>
            <a:r>
              <a:rPr lang="tr-TR" sz="2400" dirty="0">
                <a:latin typeface="Aptos"/>
              </a:rPr>
              <a:t>https://www.youtube.com/watch?v=ldvl0nGnz0E</a:t>
            </a:r>
          </a:p>
          <a:p>
            <a:pPr marL="0" indent="0">
              <a:buNone/>
            </a:pPr>
            <a:endParaRPr lang="tr-TR" sz="2200" dirty="0"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14723613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Belge" ma:contentTypeID="0x0101009A3BFD3C5F92D049BC69F483FC26D298" ma:contentTypeVersion="3" ma:contentTypeDescription="Yeni belge oluşturun." ma:contentTypeScope="" ma:versionID="69bf62894d89772b1543603c36e4812a">
  <xsd:schema xmlns:xsd="http://www.w3.org/2001/XMLSchema" xmlns:xs="http://www.w3.org/2001/XMLSchema" xmlns:p="http://schemas.microsoft.com/office/2006/metadata/properties" xmlns:ns2="6805b59e-0943-4cfb-8652-1c80d1cf44c1" targetNamespace="http://schemas.microsoft.com/office/2006/metadata/properties" ma:root="true" ma:fieldsID="eaacab69edae4eb2c8da77164ba5f923" ns2:_="">
    <xsd:import namespace="6805b59e-0943-4cfb-8652-1c80d1cf44c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805b59e-0943-4cfb-8652-1c80d1cf44c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İçerik Türü"/>
        <xsd:element ref="dc:title" minOccurs="0" maxOccurs="1" ma:index="4" ma:displayName="Başlık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48223554-E3A8-46DA-AB9D-423621EAF1BB}"/>
</file>

<file path=customXml/itemProps2.xml><?xml version="1.0" encoding="utf-8"?>
<ds:datastoreItem xmlns:ds="http://schemas.openxmlformats.org/officeDocument/2006/customXml" ds:itemID="{A047DFF0-8921-4636-85E5-38E51F6A9810}"/>
</file>

<file path=customXml/itemProps3.xml><?xml version="1.0" encoding="utf-8"?>
<ds:datastoreItem xmlns:ds="http://schemas.openxmlformats.org/officeDocument/2006/customXml" ds:itemID="{98AF280C-CF4A-432E-9266-290C53578680}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1130</TotalTime>
  <Words>2320</Words>
  <Application>Microsoft Office PowerPoint</Application>
  <PresentationFormat>Geniş ekran</PresentationFormat>
  <Paragraphs>321</Paragraphs>
  <Slides>36</Slides>
  <Notes>2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6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36</vt:i4>
      </vt:variant>
    </vt:vector>
  </HeadingPairs>
  <TitlesOfParts>
    <vt:vector size="43" baseType="lpstr">
      <vt:lpstr>Aptos</vt:lpstr>
      <vt:lpstr>Arial</vt:lpstr>
      <vt:lpstr>Calibri</vt:lpstr>
      <vt:lpstr>Calibri Light</vt:lpstr>
      <vt:lpstr>Canva Sans</vt:lpstr>
      <vt:lpstr>Wingdings</vt:lpstr>
      <vt:lpstr>Office Teması</vt:lpstr>
      <vt:lpstr>PowerPoint Sunusu</vt:lpstr>
      <vt:lpstr>Dersin İçeriği</vt:lpstr>
      <vt:lpstr>Kapalı Alanlarda Çalışmalarda İSG</vt:lpstr>
      <vt:lpstr>Kapalı alanlar</vt:lpstr>
      <vt:lpstr>Kapalı alanlarda çalışma ile ilgili mevzuatlar</vt:lpstr>
      <vt:lpstr>Kapalı alanlarda kazaların başlıca sebepleri</vt:lpstr>
      <vt:lpstr>Kapalı ortamdaki tehlikeler</vt:lpstr>
      <vt:lpstr>Alınması gereken tedbirler</vt:lpstr>
      <vt:lpstr>Alınması gereken tedbirler</vt:lpstr>
      <vt:lpstr>Alınması gereken tedbirler</vt:lpstr>
      <vt:lpstr>Alınması gereken tedbirler</vt:lpstr>
      <vt:lpstr>Alınması gereken tedbirler</vt:lpstr>
      <vt:lpstr>Alınması gereken tedbirler</vt:lpstr>
      <vt:lpstr>Alınması gereken tedbirler</vt:lpstr>
      <vt:lpstr>Alınması gereken tedbirler</vt:lpstr>
      <vt:lpstr>Alınması gereken tedbirler</vt:lpstr>
      <vt:lpstr>Alınması gereken tedbirler</vt:lpstr>
      <vt:lpstr>PowerPoint Sunusu</vt:lpstr>
      <vt:lpstr>Kapalı alanlarda çalışan personelin donanımı</vt:lpstr>
      <vt:lpstr>Kapalı alanlarda çalışan personelin donanımı</vt:lpstr>
      <vt:lpstr>Kapalı alanlarda çalışan personelin donanımı</vt:lpstr>
      <vt:lpstr>Kapalı alana girmeden önce yapılması gerekenler</vt:lpstr>
      <vt:lpstr>Kapalı alana girmeden önce yapılması gerekenler</vt:lpstr>
      <vt:lpstr>Kapalı alana girmeden önce yapılması gerekenler</vt:lpstr>
      <vt:lpstr>Kapalı alana girmeden önce yapılması gerekenler</vt:lpstr>
      <vt:lpstr>Kapalı alana girmeden önce yapılması gerekenler</vt:lpstr>
      <vt:lpstr>Kapalı alana girmeden önce yapılması gerekenler</vt:lpstr>
      <vt:lpstr>Kapalı alana girmeden önce yapılması gerekenler</vt:lpstr>
      <vt:lpstr>Kapalı alana girmeden önce yapılması gerekenler</vt:lpstr>
      <vt:lpstr>Kapalı alana girmeden önce yapılması gerekenler</vt:lpstr>
      <vt:lpstr>Kapalı alana girmeden önce yapılması gerekenler</vt:lpstr>
      <vt:lpstr>Gözlemcinin sorumlulukları</vt:lpstr>
      <vt:lpstr>Kaza örnekleri</vt:lpstr>
      <vt:lpstr>Kaza örnekleri</vt:lpstr>
      <vt:lpstr>Kaza örnekleri</vt:lpstr>
      <vt:lpstr>Kazaya sebep olabilecek hatalar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Sunusu</dc:title>
  <dc:creator>Beyza samuk</dc:creator>
  <cp:lastModifiedBy>Beyza samuk</cp:lastModifiedBy>
  <cp:revision>58</cp:revision>
  <dcterms:created xsi:type="dcterms:W3CDTF">2026-02-04T08:54:19Z</dcterms:created>
  <dcterms:modified xsi:type="dcterms:W3CDTF">2026-07-21T07:23:00Z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0x0101009A3BFD3C5F92D049BC69F483FC26D298</vt:lpwstr>
  </property>
</Properties>
</file>