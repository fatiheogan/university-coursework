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4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17.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8.xml" ContentType="application/vnd.openxmlformats-officedocument.presentationml.slide+xml"/>
  <Override PartName="/ppt/slides/slide10.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257" r:id="rId3"/>
    <p:sldId id="262" r:id="rId4"/>
    <p:sldId id="285" r:id="rId5"/>
    <p:sldId id="258" r:id="rId6"/>
    <p:sldId id="261" r:id="rId7"/>
    <p:sldId id="259" r:id="rId8"/>
    <p:sldId id="260" r:id="rId9"/>
    <p:sldId id="267" r:id="rId10"/>
    <p:sldId id="266" r:id="rId11"/>
    <p:sldId id="269" r:id="rId12"/>
    <p:sldId id="268" r:id="rId13"/>
    <p:sldId id="270" r:id="rId14"/>
    <p:sldId id="264" r:id="rId15"/>
    <p:sldId id="265" r:id="rId16"/>
    <p:sldId id="271" r:id="rId17"/>
    <p:sldId id="311" r:id="rId18"/>
    <p:sldId id="272" r:id="rId19"/>
    <p:sldId id="273" r:id="rId20"/>
    <p:sldId id="274" r:id="rId21"/>
    <p:sldId id="275" r:id="rId22"/>
    <p:sldId id="278" r:id="rId23"/>
    <p:sldId id="282" r:id="rId24"/>
    <p:sldId id="281" r:id="rId25"/>
    <p:sldId id="279" r:id="rId26"/>
    <p:sldId id="280" r:id="rId27"/>
    <p:sldId id="276" r:id="rId28"/>
    <p:sldId id="277" r:id="rId29"/>
    <p:sldId id="283" r:id="rId30"/>
    <p:sldId id="294" r:id="rId31"/>
    <p:sldId id="284" r:id="rId32"/>
    <p:sldId id="286" r:id="rId33"/>
    <p:sldId id="288" r:id="rId34"/>
    <p:sldId id="290" r:id="rId35"/>
    <p:sldId id="289" r:id="rId36"/>
    <p:sldId id="287" r:id="rId37"/>
    <p:sldId id="293" r:id="rId38"/>
    <p:sldId id="263" r:id="rId39"/>
    <p:sldId id="292" r:id="rId40"/>
    <p:sldId id="296" r:id="rId41"/>
    <p:sldId id="295" r:id="rId42"/>
    <p:sldId id="297" r:id="rId43"/>
    <p:sldId id="314" r:id="rId44"/>
    <p:sldId id="298" r:id="rId45"/>
    <p:sldId id="300" r:id="rId46"/>
    <p:sldId id="299" r:id="rId47"/>
    <p:sldId id="301" r:id="rId48"/>
    <p:sldId id="291" r:id="rId49"/>
    <p:sldId id="302" r:id="rId50"/>
    <p:sldId id="303" r:id="rId51"/>
    <p:sldId id="304" r:id="rId52"/>
    <p:sldId id="305" r:id="rId53"/>
    <p:sldId id="306" r:id="rId54"/>
    <p:sldId id="310" r:id="rId55"/>
    <p:sldId id="308" r:id="rId56"/>
    <p:sldId id="307" r:id="rId57"/>
    <p:sldId id="312" r:id="rId58"/>
    <p:sldId id="313" r:id="rId5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Orta Stil 2 - Vurgu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Orta Stil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49" autoAdjust="0"/>
    <p:restoredTop sz="94660"/>
  </p:normalViewPr>
  <p:slideViewPr>
    <p:cSldViewPr snapToGrid="0">
      <p:cViewPr varScale="1">
        <p:scale>
          <a:sx n="108" d="100"/>
          <a:sy n="108" d="100"/>
        </p:scale>
        <p:origin x="2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ustomXml" Target="../customXml/item2.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7A872F-ABB2-4674-B07A-F893139F3DEB}" type="datetimeFigureOut">
              <a:rPr lang="tr-TR" smtClean="0"/>
              <a:t>5.05.2026</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4A6811-2F6E-421F-A681-B9AC3BAB4E16}" type="slidenum">
              <a:rPr lang="tr-TR" smtClean="0"/>
              <a:t>‹#›</a:t>
            </a:fld>
            <a:endParaRPr lang="tr-TR"/>
          </a:p>
        </p:txBody>
      </p:sp>
    </p:spTree>
    <p:extLst>
      <p:ext uri="{BB962C8B-B14F-4D97-AF65-F5344CB8AC3E}">
        <p14:creationId xmlns:p14="http://schemas.microsoft.com/office/powerpoint/2010/main" val="2475288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784A6811-2F6E-421F-A681-B9AC3BAB4E16}" type="slidenum">
              <a:rPr lang="tr-TR" smtClean="0"/>
              <a:t>3</a:t>
            </a:fld>
            <a:endParaRPr lang="tr-TR" dirty="0"/>
          </a:p>
        </p:txBody>
      </p:sp>
    </p:spTree>
    <p:extLst>
      <p:ext uri="{BB962C8B-B14F-4D97-AF65-F5344CB8AC3E}">
        <p14:creationId xmlns:p14="http://schemas.microsoft.com/office/powerpoint/2010/main" val="749203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784A6811-2F6E-421F-A681-B9AC3BAB4E16}" type="slidenum">
              <a:rPr lang="tr-TR" smtClean="0"/>
              <a:t>5</a:t>
            </a:fld>
            <a:endParaRPr lang="tr-TR" dirty="0"/>
          </a:p>
        </p:txBody>
      </p:sp>
    </p:spTree>
    <p:extLst>
      <p:ext uri="{BB962C8B-B14F-4D97-AF65-F5344CB8AC3E}">
        <p14:creationId xmlns:p14="http://schemas.microsoft.com/office/powerpoint/2010/main" val="4067798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784A6811-2F6E-421F-A681-B9AC3BAB4E16}" type="slidenum">
              <a:rPr lang="tr-TR" smtClean="0"/>
              <a:t>6</a:t>
            </a:fld>
            <a:endParaRPr lang="tr-TR" dirty="0"/>
          </a:p>
        </p:txBody>
      </p:sp>
    </p:spTree>
    <p:extLst>
      <p:ext uri="{BB962C8B-B14F-4D97-AF65-F5344CB8AC3E}">
        <p14:creationId xmlns:p14="http://schemas.microsoft.com/office/powerpoint/2010/main" val="5668120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784A6811-2F6E-421F-A681-B9AC3BAB4E16}" type="slidenum">
              <a:rPr lang="tr-TR" smtClean="0"/>
              <a:t>15</a:t>
            </a:fld>
            <a:endParaRPr lang="tr-TR"/>
          </a:p>
        </p:txBody>
      </p:sp>
    </p:spTree>
    <p:extLst>
      <p:ext uri="{BB962C8B-B14F-4D97-AF65-F5344CB8AC3E}">
        <p14:creationId xmlns:p14="http://schemas.microsoft.com/office/powerpoint/2010/main" val="760567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784A6811-2F6E-421F-A681-B9AC3BAB4E16}" type="slidenum">
              <a:rPr lang="tr-TR" smtClean="0"/>
              <a:t>18</a:t>
            </a:fld>
            <a:endParaRPr lang="tr-TR"/>
          </a:p>
        </p:txBody>
      </p:sp>
    </p:spTree>
    <p:extLst>
      <p:ext uri="{BB962C8B-B14F-4D97-AF65-F5344CB8AC3E}">
        <p14:creationId xmlns:p14="http://schemas.microsoft.com/office/powerpoint/2010/main" val="1730913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784A6811-2F6E-421F-A681-B9AC3BAB4E16}" type="slidenum">
              <a:rPr lang="tr-TR" smtClean="0"/>
              <a:t>31</a:t>
            </a:fld>
            <a:endParaRPr lang="tr-TR"/>
          </a:p>
        </p:txBody>
      </p:sp>
    </p:spTree>
    <p:extLst>
      <p:ext uri="{BB962C8B-B14F-4D97-AF65-F5344CB8AC3E}">
        <p14:creationId xmlns:p14="http://schemas.microsoft.com/office/powerpoint/2010/main" val="19322575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AB3DE-CDD7-3D68-4755-A2F2068EB7B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085185D7-B7C5-0535-0F32-9DDDB34CE95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86C53A67-3D20-D807-FE6A-B2B4274D508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1068C266-DB62-77EC-FDE8-EDABDCBD31E6}"/>
              </a:ext>
            </a:extLst>
          </p:cNvPr>
          <p:cNvSpPr>
            <a:spLocks noGrp="1"/>
          </p:cNvSpPr>
          <p:nvPr>
            <p:ph type="sldNum" sz="quarter" idx="5"/>
          </p:nvPr>
        </p:nvSpPr>
        <p:spPr/>
        <p:txBody>
          <a:bodyPr/>
          <a:lstStyle/>
          <a:p>
            <a:fld id="{784A6811-2F6E-421F-A681-B9AC3BAB4E16}" type="slidenum">
              <a:rPr lang="tr-TR" smtClean="0"/>
              <a:t>34</a:t>
            </a:fld>
            <a:endParaRPr lang="tr-TR"/>
          </a:p>
        </p:txBody>
      </p:sp>
    </p:spTree>
    <p:extLst>
      <p:ext uri="{BB962C8B-B14F-4D97-AF65-F5344CB8AC3E}">
        <p14:creationId xmlns:p14="http://schemas.microsoft.com/office/powerpoint/2010/main" val="3473213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C26C3-6065-90C6-AF75-6D3EC65E939B}"/>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8B18ADE-F69D-60B2-E76F-33BB4C3DEE59}"/>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BDA0107B-4592-716D-4C94-ACC0BEA5E772}"/>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84E33134-C20C-81E1-5998-6985B810867B}"/>
              </a:ext>
            </a:extLst>
          </p:cNvPr>
          <p:cNvSpPr>
            <a:spLocks noGrp="1"/>
          </p:cNvSpPr>
          <p:nvPr>
            <p:ph type="sldNum" sz="quarter" idx="5"/>
          </p:nvPr>
        </p:nvSpPr>
        <p:spPr/>
        <p:txBody>
          <a:bodyPr/>
          <a:lstStyle/>
          <a:p>
            <a:fld id="{784A6811-2F6E-421F-A681-B9AC3BAB4E16}" type="slidenum">
              <a:rPr lang="tr-TR" smtClean="0"/>
              <a:t>35</a:t>
            </a:fld>
            <a:endParaRPr lang="tr-TR"/>
          </a:p>
        </p:txBody>
      </p:sp>
    </p:spTree>
    <p:extLst>
      <p:ext uri="{BB962C8B-B14F-4D97-AF65-F5344CB8AC3E}">
        <p14:creationId xmlns:p14="http://schemas.microsoft.com/office/powerpoint/2010/main" val="3624862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784A6811-2F6E-421F-A681-B9AC3BAB4E16}" type="slidenum">
              <a:rPr lang="tr-TR" smtClean="0"/>
              <a:t>36</a:t>
            </a:fld>
            <a:endParaRPr lang="tr-TR"/>
          </a:p>
        </p:txBody>
      </p:sp>
    </p:spTree>
    <p:extLst>
      <p:ext uri="{BB962C8B-B14F-4D97-AF65-F5344CB8AC3E}">
        <p14:creationId xmlns:p14="http://schemas.microsoft.com/office/powerpoint/2010/main" val="3700778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784A6811-2F6E-421F-A681-B9AC3BAB4E16}" type="slidenum">
              <a:rPr lang="tr-TR" smtClean="0"/>
              <a:t>43</a:t>
            </a:fld>
            <a:endParaRPr lang="tr-TR"/>
          </a:p>
        </p:txBody>
      </p:sp>
    </p:spTree>
    <p:extLst>
      <p:ext uri="{BB962C8B-B14F-4D97-AF65-F5344CB8AC3E}">
        <p14:creationId xmlns:p14="http://schemas.microsoft.com/office/powerpoint/2010/main" val="3628573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p:cNvSpPr>
            <a:spLocks noGrp="1"/>
          </p:cNvSpPr>
          <p:nvPr>
            <p:ph type="dt" sz="half" idx="10"/>
          </p:nvPr>
        </p:nvSpPr>
        <p:spPr/>
        <p:txBody>
          <a:bodyPr/>
          <a:lstStyle/>
          <a:p>
            <a:fld id="{CF484702-3477-4E2E-B705-391500981617}" type="datetimeFigureOut">
              <a:rPr lang="tr-TR" smtClean="0"/>
              <a:t>5.05.2026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A43D371C-10F1-434A-99FC-6250D99A7A15}" type="slidenum">
              <a:rPr lang="tr-TR" smtClean="0"/>
              <a:t>‹#›</a:t>
            </a:fld>
            <a:endParaRPr lang="tr-TR"/>
          </a:p>
        </p:txBody>
      </p:sp>
    </p:spTree>
    <p:extLst>
      <p:ext uri="{BB962C8B-B14F-4D97-AF65-F5344CB8AC3E}">
        <p14:creationId xmlns:p14="http://schemas.microsoft.com/office/powerpoint/2010/main" val="2251814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CF484702-3477-4E2E-B705-391500981617}" type="datetimeFigureOut">
              <a:rPr lang="tr-TR" smtClean="0"/>
              <a:t>5.05.2026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A43D371C-10F1-434A-99FC-6250D99A7A15}" type="slidenum">
              <a:rPr lang="tr-TR" smtClean="0"/>
              <a:t>‹#›</a:t>
            </a:fld>
            <a:endParaRPr lang="tr-TR"/>
          </a:p>
        </p:txBody>
      </p:sp>
    </p:spTree>
    <p:extLst>
      <p:ext uri="{BB962C8B-B14F-4D97-AF65-F5344CB8AC3E}">
        <p14:creationId xmlns:p14="http://schemas.microsoft.com/office/powerpoint/2010/main" val="4132744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a:t>
            </a:r>
          </a:p>
        </p:txBody>
      </p:sp>
      <p:sp>
        <p:nvSpPr>
          <p:cNvPr id="4" name="Veri Yer Tutucusu 3"/>
          <p:cNvSpPr>
            <a:spLocks noGrp="1"/>
          </p:cNvSpPr>
          <p:nvPr>
            <p:ph type="dt" sz="half" idx="10"/>
          </p:nvPr>
        </p:nvSpPr>
        <p:spPr/>
        <p:txBody>
          <a:bodyPr/>
          <a:lstStyle/>
          <a:p>
            <a:fld id="{CF484702-3477-4E2E-B705-391500981617}" type="datetimeFigureOut">
              <a:rPr lang="tr-TR" smtClean="0"/>
              <a:t>5.05.2026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A43D371C-10F1-434A-99FC-6250D99A7A15}" type="slidenum">
              <a:rPr lang="tr-TR" smtClean="0"/>
              <a:t>‹#›</a:t>
            </a:fld>
            <a:endParaRPr lang="tr-TR"/>
          </a:p>
        </p:txBody>
      </p:sp>
    </p:spTree>
    <p:extLst>
      <p:ext uri="{BB962C8B-B14F-4D97-AF65-F5344CB8AC3E}">
        <p14:creationId xmlns:p14="http://schemas.microsoft.com/office/powerpoint/2010/main" val="1826129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CF484702-3477-4E2E-B705-391500981617}" type="datetimeFigureOut">
              <a:rPr lang="tr-TR" smtClean="0"/>
              <a:t>5.05.2026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A43D371C-10F1-434A-99FC-6250D99A7A15}" type="slidenum">
              <a:rPr lang="tr-TR" smtClean="0"/>
              <a:t>‹#›</a:t>
            </a:fld>
            <a:endParaRPr lang="tr-TR"/>
          </a:p>
        </p:txBody>
      </p:sp>
    </p:spTree>
    <p:extLst>
      <p:ext uri="{BB962C8B-B14F-4D97-AF65-F5344CB8AC3E}">
        <p14:creationId xmlns:p14="http://schemas.microsoft.com/office/powerpoint/2010/main" val="1012127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CF484702-3477-4E2E-B705-391500981617}" type="datetimeFigureOut">
              <a:rPr lang="tr-TR" smtClean="0"/>
              <a:t>5.05.2026</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A43D371C-10F1-434A-99FC-6250D99A7A15}" type="slidenum">
              <a:rPr lang="tr-TR" smtClean="0"/>
              <a:t>‹#›</a:t>
            </a:fld>
            <a:endParaRPr lang="tr-TR"/>
          </a:p>
        </p:txBody>
      </p:sp>
    </p:spTree>
    <p:extLst>
      <p:ext uri="{BB962C8B-B14F-4D97-AF65-F5344CB8AC3E}">
        <p14:creationId xmlns:p14="http://schemas.microsoft.com/office/powerpoint/2010/main" val="623286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CF484702-3477-4E2E-B705-391500981617}" type="datetimeFigureOut">
              <a:rPr lang="tr-TR" smtClean="0"/>
              <a:t>5.05.2026</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A43D371C-10F1-434A-99FC-6250D99A7A15}" type="slidenum">
              <a:rPr lang="tr-TR" smtClean="0"/>
              <a:t>‹#›</a:t>
            </a:fld>
            <a:endParaRPr lang="tr-TR"/>
          </a:p>
        </p:txBody>
      </p:sp>
    </p:spTree>
    <p:extLst>
      <p:ext uri="{BB962C8B-B14F-4D97-AF65-F5344CB8AC3E}">
        <p14:creationId xmlns:p14="http://schemas.microsoft.com/office/powerpoint/2010/main" val="1705082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CF484702-3477-4E2E-B705-391500981617}" type="datetimeFigureOut">
              <a:rPr lang="tr-TR" smtClean="0"/>
              <a:t>5.05.2026</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A43D371C-10F1-434A-99FC-6250D99A7A15}" type="slidenum">
              <a:rPr lang="tr-TR" smtClean="0"/>
              <a:t>‹#›</a:t>
            </a:fld>
            <a:endParaRPr lang="tr-TR"/>
          </a:p>
        </p:txBody>
      </p:sp>
    </p:spTree>
    <p:extLst>
      <p:ext uri="{BB962C8B-B14F-4D97-AF65-F5344CB8AC3E}">
        <p14:creationId xmlns:p14="http://schemas.microsoft.com/office/powerpoint/2010/main" val="920578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Veri Yer Tutucusu 4"/>
          <p:cNvSpPr>
            <a:spLocks noGrp="1"/>
          </p:cNvSpPr>
          <p:nvPr>
            <p:ph type="dt" sz="half" idx="10"/>
          </p:nvPr>
        </p:nvSpPr>
        <p:spPr/>
        <p:txBody>
          <a:bodyPr/>
          <a:lstStyle/>
          <a:p>
            <a:fld id="{CF484702-3477-4E2E-B705-391500981617}" type="datetimeFigureOut">
              <a:rPr lang="tr-TR" smtClean="0"/>
              <a:t>5.05.2026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A43D371C-10F1-434A-99FC-6250D99A7A15}" type="slidenum">
              <a:rPr lang="tr-TR" smtClean="0"/>
              <a:t>‹#›</a:t>
            </a:fld>
            <a:endParaRPr lang="tr-TR"/>
          </a:p>
        </p:txBody>
      </p:sp>
    </p:spTree>
    <p:extLst>
      <p:ext uri="{BB962C8B-B14F-4D97-AF65-F5344CB8AC3E}">
        <p14:creationId xmlns:p14="http://schemas.microsoft.com/office/powerpoint/2010/main" val="2420949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Veri Yer Tutucusu 4"/>
          <p:cNvSpPr>
            <a:spLocks noGrp="1"/>
          </p:cNvSpPr>
          <p:nvPr>
            <p:ph type="dt" sz="half" idx="10"/>
          </p:nvPr>
        </p:nvSpPr>
        <p:spPr/>
        <p:txBody>
          <a:bodyPr/>
          <a:lstStyle/>
          <a:p>
            <a:fld id="{CF484702-3477-4E2E-B705-391500981617}" type="datetimeFigureOut">
              <a:rPr lang="tr-TR" smtClean="0"/>
              <a:t>5.05.2026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A43D371C-10F1-434A-99FC-6250D99A7A15}" type="slidenum">
              <a:rPr lang="tr-TR" smtClean="0"/>
              <a:t>‹#›</a:t>
            </a:fld>
            <a:endParaRPr lang="tr-TR"/>
          </a:p>
        </p:txBody>
      </p:sp>
    </p:spTree>
    <p:extLst>
      <p:ext uri="{BB962C8B-B14F-4D97-AF65-F5344CB8AC3E}">
        <p14:creationId xmlns:p14="http://schemas.microsoft.com/office/powerpoint/2010/main" val="2137691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CF484702-3477-4E2E-B705-391500981617}" type="datetimeFigureOut">
              <a:rPr lang="tr-TR" smtClean="0"/>
              <a:t>5.05.2026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A43D371C-10F1-434A-99FC-6250D99A7A15}" type="slidenum">
              <a:rPr lang="tr-TR" smtClean="0"/>
              <a:t>‹#›</a:t>
            </a:fld>
            <a:endParaRPr lang="tr-TR"/>
          </a:p>
        </p:txBody>
      </p:sp>
    </p:spTree>
    <p:extLst>
      <p:ext uri="{BB962C8B-B14F-4D97-AF65-F5344CB8AC3E}">
        <p14:creationId xmlns:p14="http://schemas.microsoft.com/office/powerpoint/2010/main" val="2900190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CF484702-3477-4E2E-B705-391500981617}" type="datetimeFigureOut">
              <a:rPr lang="tr-TR" smtClean="0"/>
              <a:t>5.05.2026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A43D371C-10F1-434A-99FC-6250D99A7A15}" type="slidenum">
              <a:rPr lang="tr-TR" smtClean="0"/>
              <a:t>‹#›</a:t>
            </a:fld>
            <a:endParaRPr lang="tr-TR"/>
          </a:p>
        </p:txBody>
      </p:sp>
    </p:spTree>
    <p:extLst>
      <p:ext uri="{BB962C8B-B14F-4D97-AF65-F5344CB8AC3E}">
        <p14:creationId xmlns:p14="http://schemas.microsoft.com/office/powerpoint/2010/main" val="3194744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484702-3477-4E2E-B705-391500981617}" type="datetimeFigureOut">
              <a:rPr lang="tr-TR" smtClean="0"/>
              <a:t>5.05.2026</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3D371C-10F1-434A-99FC-6250D99A7A15}" type="slidenum">
              <a:rPr lang="tr-TR" smtClean="0"/>
              <a:t>‹#›</a:t>
            </a:fld>
            <a:endParaRPr lang="tr-TR"/>
          </a:p>
        </p:txBody>
      </p:sp>
    </p:spTree>
    <p:extLst>
      <p:ext uri="{BB962C8B-B14F-4D97-AF65-F5344CB8AC3E}">
        <p14:creationId xmlns:p14="http://schemas.microsoft.com/office/powerpoint/2010/main" val="2136609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google.com/search?q=Ta%C5%9F+Tozu&amp;sca_esv=8e60d31f06ccefa5&amp;biw=1355&amp;bih=607&amp;sxsrf=ANbL-n5csKAue4hLMvaZPck6D8pf8E0Wvg%3A1775302249220&amp;ei=afbQacjxDKep9u8P2qfdyAw&amp;oq=madenlerde+k%C3%B6m%C3%BCr+tozu+pat&amp;gs_lp=Egxnd3Mtd2l6LXNlcnAiG21hZGVubGVyZGUga8O2bcO8ciB0b3p1IHBhdCoCCAAyBRAhGKABMgUQIRifBTIFECEYnwUyBRAhGJ8FMgUQIRifBUi59i9Qp8IvWITiL3ACeACQAQCYAdABoAGAD6oBBjAuMTIuMbgBAcgBAPgBAZgCDaAC0hDCAgcQIRigARgKwgIEECEYCsICCBAAGAgYDRgewgIFEAAY7wXCAggQABiiBBiJBcICBBAhGBWYAwCIBgGSBwYwLjEyLjGgB_o3sgcGMC4xMi4xuAfSEMIHBTItNS44yAd-gAgA&amp;sclient=gws-wiz-serp&amp;mstk=AUtExfAPziw4oVk3zTxTx5hKlKbGUqR6iE_6NkmC7T9Xj44xWbT3jqNX8j2hZ0RJZywfCrg6RvsfGOazpJHH8E1_VEbdSo7A9w07FRsWTYyWBWkRa5ARIB9OGpctPYjscFsPE-9CzNQ7AD-UaIkP9qH05DrMCend4UU5aWP6HZJgtiQYceo&amp;csui=3&amp;ved=2ahUKEwjFnoaXj9STAxVdhf0HHSTVJnwQgK4QegQIAxAF" TargetMode="External"/><Relationship Id="rId2" Type="http://schemas.openxmlformats.org/officeDocument/2006/relationships/hyperlink" Target="https://www.google.com/search?q=grizu&amp;sca_esv=8e60d31f06ccefa5&amp;biw=1355&amp;bih=607&amp;sxsrf=ANbL-n5csKAue4hLMvaZPck6D8pf8E0Wvg%3A1775302249220&amp;ei=afbQacjxDKep9u8P2qfdyAw&amp;oq=madenlerde+k%C3%B6m%C3%BCr+tozu+pat&amp;gs_lp=Egxnd3Mtd2l6LXNlcnAiG21hZGVubGVyZGUga8O2bcO8ciB0b3p1IHBhdCoCCAAyBRAhGKABMgUQIRifBTIFECEYnwUyBRAhGJ8FMgUQIRifBUi59i9Qp8IvWITiL3ACeACQAQCYAdABoAGAD6oBBjAuMTIuMbgBAcgBAPgBAZgCDaAC0hDCAgcQIRigARgKwgIEECEYCsICCBAAGAgYDRgewgIFEAAY7wXCAggQABiiBBiJBcICBBAhGBWYAwCIBgGSBwYwLjEyLjGgB_o3sgcGMC4xMi4xuAfSEMIHBTItNS44yAd-gAgA&amp;sclient=gws-wiz-serp&amp;ved=2ahUKEwjFnoaXj9STAxVdhf0HHSTVJnwQgK4QegQIARAC"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google.com/search?q=Grizu+Patlamas%C4%B1+%28Metan+Gaz%C4%B1%29&amp;oq=maden+ocaklar%C4%B1nda+gazlar+ile+meydana+gelen+en+%C3%B6nemli+kazalar&amp;gs_lcrp=EgZjaHJvbWUyBggAEEUYOTIHCAEQIRigATIHCAIQIRigAdIBCjIzMTMxajFqMTWoAgiwAgHxBUl7C5bnjoNC&amp;sourceid=chrome&amp;ie=UTF-8&amp;ved=2ahUKEwjegdDn_9OTAxWpSfEDHWEdCosQgK4QegQIBBAB" TargetMode="External"/><Relationship Id="rId7" Type="http://schemas.openxmlformats.org/officeDocument/2006/relationships/hyperlink" Target="https://www.google.com/search?q=Oksijen+K%C4%B1tl%C4%B1%C4%9F%C4%B1+%28Anoksi%29&amp;oq=maden+ocaklar%C4%B1nda+gazlar+ile+meydana+gelen+en+%C3%B6nemli+kazalar&amp;gs_lcrp=EgZjaHJvbWUyBggAEEUYOTIHCAEQIRigATIHCAIQIRigAdIBCjIzMTMxajFqMTWoAgiwAgHxBUl7C5bnjoNC&amp;sourceid=chrome&amp;ie=UTF-8&amp;ved=2ahUKEwjegdDn_9OTAxWpSfEDHWEdCosQgK4QegQIBBAJ"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google.com/search?q=Ani+Metan+%C3%87%C4%B1k%C4%B1%C5%9F%C4%B1+%28Degaj%29&amp;oq=maden+ocaklar%C4%B1nda+gazlar+ile+meydana+gelen+en+%C3%B6nemli+kazalar&amp;gs_lcrp=EgZjaHJvbWUyBggAEEUYOTIHCAEQIRigATIHCAIQIRigAdIBCjIzMTMxajFqMTWoAgiwAgHxBUl7C5bnjoNC&amp;sourceid=chrome&amp;ie=UTF-8&amp;ved=2ahUKEwjegdDn_9OTAxWpSfEDHWEdCosQgK4QegQIBBAH" TargetMode="External"/><Relationship Id="rId5" Type="http://schemas.openxmlformats.org/officeDocument/2006/relationships/hyperlink" Target="https://www.google.com/search?q=Karbonmonoksit+%28CO%29+Zehirlenmesi&amp;oq=maden+ocaklar%C4%B1nda+gazlar+ile+meydana+gelen+en+%C3%B6nemli+kazalar&amp;gs_lcrp=EgZjaHJvbWUyBggAEEUYOTIHCAEQIRigATIHCAIQIRigAdIBCjIzMTMxajFqMTWoAgiwAgHxBUl7C5bnjoNC&amp;sourceid=chrome&amp;ie=UTF-8&amp;ved=2ahUKEwjegdDn_9OTAxWpSfEDHWEdCosQgK4QegQIBBAF" TargetMode="External"/><Relationship Id="rId4" Type="http://schemas.openxmlformats.org/officeDocument/2006/relationships/hyperlink" Target="https://www.google.com/search?q=K%C3%B6m%C3%BCr+Tozu+Patlamas%C4%B1&amp;oq=maden+ocaklar%C4%B1nda+gazlar+ile+meydana+gelen+en+%C3%B6nemli+kazalar&amp;gs_lcrp=EgZjaHJvbWUyBggAEEUYOTIHCAEQIRigATIHCAIQIRigAdIBCjIzMTMxajFqMTWoAgiwAgHxBUl7C5bnjoNC&amp;sourceid=chrome&amp;ie=UTF-8&amp;ved=2ahUKEwjegdDn_9OTAxWpSfEDHWEdCosQgK4QegQIBBAD"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riskmed.com.tr/images/stories/mevzuat/isg/maden.pdf" TargetMode="External"/><Relationship Id="rId2" Type="http://schemas.openxmlformats.org/officeDocument/2006/relationships/hyperlink" Target="https://hastane.ogu.edu.tr/Storage/hastane/Uploads/MADEN-%C4%B0%C5%9EYERLER%C4%B0NDE-%C4%B0%C5%9E-SA%C4%9ELI%C4%9EI-VE-G%C3%9CVENL%C4%B0%C4%9E%C4%B0-Y%C3%96NETMEL%C4%B0%C4%9E%C4%B0.pdf"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www.google.com/search?q=Kaz%C4%B1-Y%C3%BCkleme&amp;biw=1355&amp;bih=607&amp;sca_esv=8e60d31f06ccefa5&amp;sxsrf=ANbL-n7b0Xy9hfSEskf4HPfHS13INpD-lg%3A1775309549209&amp;ei=7RLRaYW1DMWF9u8Px5DZwQU&amp;ved=2ahUKEwi7us2RqNSTAxXCh_0HHVflDuIQgK4QegQIAxAE&amp;uact=5&amp;oq=maden+ocaklar%C4%B1nda+yer+%C3%BCst%C3%BC+i%C5%9Fleri&amp;gs_lp=Egxnd3Mtd2l6LXNlcnAaAhgCIiVtYWRlbiBvY2FrbGFyxLFuZGEgeWVyIMO8c3TDvCBpxZ9sZXJpMgcQIRigARgKMgcQIRigARgKSLhOUIkLWLdMcAJ4AZABAJgBvwGgAegiqgEEMC4zNLgBA8gBAPgBAZgCJKACuyeoAhTCAgcQIxgnGOoCwgIKECMYJxjqAhiLA8ICEBAAGAMYtAIY6gIYjwHYAQHCAhAQLhgDGLQCGOoCGI8B2AEBwgIEECMYJ8ICChAAGIAEGEMYigXCAgoQLhiABBhDGIoFwgILEAAYgAQYsQMYgwHCAggQABiABBixA8ICCBAuGIAEGLEDwgIFEAAYgATCAhcQLhiABBixAxiXBRjcBBjeBBjfBNgBAcICDRAAGIAEGLEDGEMYigXCAhAQLhiABBixAxhDGIMBGIoFwgIOEAAYgAQYsQMYgwEYigXCAgUQLhiABMICBhAAGBYYHsICBRAAGO8FwgIIEAAYogQYiQXCAggQABiABBiiBMICBRAhGKABwgIEECEYFcICBRAhGJ8FmAMY8QUnnuKd7I0gt7oGBggBEAEYCpIHBjIuMzMuMaAHq_UCsgcGMC4zMy4xuAeOJ8IHCjAuMS45LjE5LjfIB9ADgAgA&amp;sclient=gws-wiz-serp&amp;mstk=AUtExfAOzu92gMukOizLqr2y7zaknXuUKbNw9ljECJsMBjtDcVifaVs7mphg2zCw2NJssE840iIUFwUhzPA0GBYeuAjUrAac56KqNh42U8mQqNb5FsrrN7c7lAzK__nzIyMRtCragib9okTCbnQ2CBnl1r6QrKaosppqnnCJsarSQFGmKi4cC3-pVzb-6Gl_wLbiMFHyIGFbLmj_fb2Ze_wdKOrBC6aiiNXxLJIpyZ8xIlueGYEcLeilV_Yu1WdsfOOcN2PFvp2lXJJNGW-dSoxw4_mA&amp;csui=3" TargetMode="External"/><Relationship Id="rId2" Type="http://schemas.openxmlformats.org/officeDocument/2006/relationships/hyperlink" Target="https://www.google.com/search?q=Dekapaj&amp;biw=1355&amp;bih=607&amp;sca_esv=8e60d31f06ccefa5&amp;sxsrf=ANbL-n7b0Xy9hfSEskf4HPfHS13INpD-lg%3A1775309549209&amp;ei=7RLRaYW1DMWF9u8Px5DZwQU&amp;ved=2ahUKEwi7us2RqNSTAxXCh_0HHVflDuIQgK4QegQIAxAC&amp;uact=5&amp;oq=maden+ocaklar%C4%B1nda+yer+%C3%BCst%C3%BC+i%C5%9Fleri&amp;gs_lp=Egxnd3Mtd2l6LXNlcnAaAhgCIiVtYWRlbiBvY2FrbGFyxLFuZGEgeWVyIMO8c3TDvCBpxZ9sZXJpMgcQIRigARgKMgcQIRigARgKSLhOUIkLWLdMcAJ4AZABAJgBvwGgAegiqgEEMC4zNLgBA8gBAPgBAZgCJKACuyeoAhTCAgcQIxgnGOoCwgIKECMYJxjqAhiLA8ICEBAAGAMYtAIY6gIYjwHYAQHCAhAQLhgDGLQCGOoCGI8B2AEBwgIEECMYJ8ICChAAGIAEGEMYigXCAgoQLhiABBhDGIoFwgILEAAYgAQYsQMYgwHCAggQABiABBixA8ICCBAuGIAEGLEDwgIFEAAYgATCAhcQLhiABBixAxiXBRjcBBjeBBjfBNgBAcICDRAAGIAEGLEDGEMYigXCAhAQLhiABBixAxhDGIMBGIoFwgIOEAAYgAQYsQMYgwEYigXCAgUQLhiABMICBhAAGBYYHsICBRAAGO8FwgIIEAAYogQYiQXCAggQABiABBiiBMICBRAhGKABwgIEECEYFcICBRAhGJ8FmAMY8QUnnuKd7I0gt7oGBggBEAEYCpIHBjIuMzMuMaAHq_UCsgcGMC4zMy4xuAeOJ8IHCjAuMS45LjE5LjfIB9ADgAgA&amp;sclient=gws-wiz-serp&amp;mstk=AUtExfAOzu92gMukOizLqr2y7zaknXuUKbNw9ljECJsMBjtDcVifaVs7mphg2zCw2NJssE840iIUFwUhzPA0GBYeuAjUrAac56KqNh42U8mQqNb5FsrrN7c7lAzK__nzIyMRtCragib9okTCbnQ2CBnl1r6QrKaosppqnnCJsarSQFGmKi4cC3-pVzb-6Gl_wLbiMFHyIGFbLmj_fb2Ze_wdKOrBC6aiiNXxLJIpyZ8xIlueGYEcLeilV_Yu1WdsfOOcN2PFvp2lXJJNGW-dSoxw4_mA&amp;csui=3" TargetMode="Externa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hyperlink" Target="https://www.google.com/search?q=Nakliye&amp;biw=1355&amp;bih=607&amp;sca_esv=8e60d31f06ccefa5&amp;sxsrf=ANbL-n7b0Xy9hfSEskf4HPfHS13INpD-lg%3A1775309549209&amp;ei=7RLRaYW1DMWF9u8Px5DZwQU&amp;ved=2ahUKEwi7us2RqNSTAxXCh_0HHVflDuIQgK4QegQIAxAF&amp;uact=5&amp;oq=maden+ocaklar%C4%B1nda+yer+%C3%BCst%C3%BC+i%C5%9Fleri&amp;gs_lp=Egxnd3Mtd2l6LXNlcnAaAhgCIiVtYWRlbiBvY2FrbGFyxLFuZGEgeWVyIMO8c3TDvCBpxZ9sZXJpMgcQIRigARgKMgcQIRigARgKSLhOUIkLWLdMcAJ4AZABAJgBvwGgAegiqgEEMC4zNLgBA8gBAPgBAZgCJKACuyeoAhTCAgcQIxgnGOoCwgIKECMYJxjqAhiLA8ICEBAAGAMYtAIY6gIYjwHYAQHCAhAQLhgDGLQCGOoCGI8B2AEBwgIEECMYJ8ICChAAGIAEGEMYigXCAgoQLhiABBhDGIoFwgILEAAYgAQYsQMYgwHCAggQABiABBixA8ICCBAuGIAEGLEDwgIFEAAYgATCAhcQLhiABBixAxiXBRjcBBjeBBjfBNgBAcICDRAAGIAEGLEDGEMYigXCAhAQLhiABBixAxhDGIMBGIoFwgIOEAAYgAQYsQMYgwEYigXCAgUQLhiABMICBhAAGBYYHsICBRAAGO8FwgIIEAAYogQYiQXCAggQABiABBiiBMICBRAhGKABwgIEECEYFcICBRAhGJ8FmAMY8QUnnuKd7I0gt7oGBggBEAEYCpIHBjIuMzMuMaAHq_UCsgcGMC4zMy4xuAeOJ8IHCjAuMS45LjE5LjfIB9ADgAgA&amp;sclient=gws-wiz-serp&amp;mstk=AUtExfAOzu92gMukOizLqr2y7zaknXuUKbNw9ljECJsMBjtDcVifaVs7mphg2zCw2NJssE840iIUFwUhzPA0GBYeuAjUrAac56KqNh42U8mQqNb5FsrrN7c7lAzK__nzIyMRtCragib9okTCbnQ2CBnl1r6QrKaosppqnnCJsarSQFGmKi4cC3-pVzb-6Gl_wLbiMFHyIGFbLmj_fb2Ze_wdKOrBC6aiiNXxLJIpyZ8xIlueGYEcLeilV_Yu1WdsfOOcN2PFvp2lXJJNGW-dSoxw4_mA&amp;csui=3"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0" y="0"/>
            <a:ext cx="12192000" cy="6895605"/>
          </a:xfrm>
          <a:prstGeom prst="rect">
            <a:avLst/>
          </a:prstGeom>
        </p:spPr>
      </p:pic>
    </p:spTree>
    <p:extLst>
      <p:ext uri="{BB962C8B-B14F-4D97-AF65-F5344CB8AC3E}">
        <p14:creationId xmlns:p14="http://schemas.microsoft.com/office/powerpoint/2010/main" val="463795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Unvan 1"/>
          <p:cNvSpPr>
            <a:spLocks noGrp="1"/>
          </p:cNvSpPr>
          <p:nvPr>
            <p:ph type="title"/>
          </p:nvPr>
        </p:nvSpPr>
        <p:spPr>
          <a:xfrm>
            <a:off x="838200" y="365125"/>
            <a:ext cx="10515600" cy="1325563"/>
          </a:xfrm>
        </p:spPr>
        <p:txBody>
          <a:bodyPr>
            <a:normAutofit/>
          </a:bodyPr>
          <a:lstStyle/>
          <a:p>
            <a:r>
              <a:rPr lang="tr-TR" b="1" dirty="0">
                <a:latin typeface="Aptos gövde"/>
              </a:rPr>
              <a:t>Maden İşlerinde İSG</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İçerik Yer Tutucusu 2"/>
          <p:cNvSpPr>
            <a:spLocks noGrp="1"/>
          </p:cNvSpPr>
          <p:nvPr>
            <p:ph idx="1"/>
          </p:nvPr>
        </p:nvSpPr>
        <p:spPr>
          <a:xfrm>
            <a:off x="838200" y="1929384"/>
            <a:ext cx="10515600" cy="4251960"/>
          </a:xfrm>
        </p:spPr>
        <p:txBody>
          <a:bodyPr>
            <a:normAutofit/>
          </a:bodyPr>
          <a:lstStyle/>
          <a:p>
            <a:pPr marL="0" indent="0">
              <a:buNone/>
            </a:pPr>
            <a:r>
              <a:rPr lang="tr-TR" sz="2200" u="sng" dirty="0">
                <a:latin typeface="Aptos gövde"/>
              </a:rPr>
              <a:t>Dersin içeriği;</a:t>
            </a:r>
          </a:p>
          <a:p>
            <a:pPr marL="0" indent="0">
              <a:buNone/>
            </a:pPr>
            <a:endParaRPr lang="tr-TR" sz="2200" u="sng" dirty="0">
              <a:latin typeface="Aptos gövde"/>
            </a:endParaRPr>
          </a:p>
          <a:p>
            <a:pPr>
              <a:buFont typeface="Wingdings" panose="05000000000000000000" pitchFamily="2" charset="2"/>
              <a:buChar char="Ø"/>
            </a:pPr>
            <a:r>
              <a:rPr lang="tr-TR" sz="2200" dirty="0">
                <a:latin typeface="Aptos gövde"/>
              </a:rPr>
              <a:t>Maden işlerinde İSG</a:t>
            </a:r>
          </a:p>
          <a:p>
            <a:pPr>
              <a:buFont typeface="Wingdings" panose="05000000000000000000" pitchFamily="2" charset="2"/>
              <a:buChar char="Ø"/>
            </a:pPr>
            <a:r>
              <a:rPr lang="tr-TR" sz="2200" dirty="0">
                <a:latin typeface="Aptos gövde"/>
              </a:rPr>
              <a:t>İSG mevzuatı ve hukuki sorumluluklar</a:t>
            </a:r>
          </a:p>
          <a:p>
            <a:pPr>
              <a:buFont typeface="Wingdings" panose="05000000000000000000" pitchFamily="2" charset="2"/>
              <a:buChar char="Ø"/>
            </a:pPr>
            <a:r>
              <a:rPr lang="tr-TR" sz="2200" dirty="0">
                <a:latin typeface="Aptos gövde"/>
              </a:rPr>
              <a:t>Madenlerde riskler ve tehlikeler</a:t>
            </a:r>
          </a:p>
          <a:p>
            <a:pPr>
              <a:buFont typeface="Wingdings" panose="05000000000000000000" pitchFamily="2" charset="2"/>
              <a:buChar char="Ø"/>
            </a:pPr>
            <a:r>
              <a:rPr lang="tr-TR" sz="2200" dirty="0">
                <a:latin typeface="Aptos gövde"/>
              </a:rPr>
              <a:t>Maden gazları ve havalandırma</a:t>
            </a:r>
          </a:p>
          <a:p>
            <a:pPr>
              <a:buFont typeface="Wingdings" panose="05000000000000000000" pitchFamily="2" charset="2"/>
              <a:buChar char="Ø"/>
            </a:pPr>
            <a:r>
              <a:rPr lang="tr-TR" sz="2200" dirty="0">
                <a:latin typeface="Aptos gövde"/>
              </a:rPr>
              <a:t>Acil durum yönetimi ve kurtarma</a:t>
            </a:r>
          </a:p>
          <a:p>
            <a:pPr>
              <a:buFont typeface="Wingdings" panose="05000000000000000000" pitchFamily="2" charset="2"/>
              <a:buChar char="Ø"/>
            </a:pPr>
            <a:r>
              <a:rPr lang="tr-TR" sz="2200" dirty="0">
                <a:latin typeface="Aptos gövde"/>
              </a:rPr>
              <a:t>Maden kazaları</a:t>
            </a:r>
          </a:p>
          <a:p>
            <a:pPr marL="0" indent="0">
              <a:buNone/>
            </a:pPr>
            <a:endParaRPr lang="tr-TR" sz="2200" dirty="0">
              <a:latin typeface="Aptos gövde"/>
            </a:endParaRPr>
          </a:p>
        </p:txBody>
      </p:sp>
    </p:spTree>
    <p:extLst>
      <p:ext uri="{BB962C8B-B14F-4D97-AF65-F5344CB8AC3E}">
        <p14:creationId xmlns:p14="http://schemas.microsoft.com/office/powerpoint/2010/main" val="1511590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Unvan 1"/>
          <p:cNvSpPr>
            <a:spLocks noGrp="1"/>
          </p:cNvSpPr>
          <p:nvPr>
            <p:ph type="title"/>
          </p:nvPr>
        </p:nvSpPr>
        <p:spPr>
          <a:xfrm>
            <a:off x="572493" y="238539"/>
            <a:ext cx="11018520" cy="1434415"/>
          </a:xfrm>
        </p:spPr>
        <p:txBody>
          <a:bodyPr anchor="b">
            <a:normAutofit/>
          </a:bodyPr>
          <a:lstStyle/>
          <a:p>
            <a:r>
              <a:rPr lang="tr-TR" b="1" dirty="0">
                <a:latin typeface="Aptos gövde"/>
              </a:rPr>
              <a:t>Madencilik nedir?</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İçerik Yer Tutucusu 2"/>
          <p:cNvSpPr>
            <a:spLocks noGrp="1"/>
          </p:cNvSpPr>
          <p:nvPr>
            <p:ph idx="1"/>
          </p:nvPr>
        </p:nvSpPr>
        <p:spPr>
          <a:xfrm>
            <a:off x="572493" y="2093976"/>
            <a:ext cx="6713552" cy="4525485"/>
          </a:xfrm>
        </p:spPr>
        <p:txBody>
          <a:bodyPr anchor="t">
            <a:normAutofit lnSpcReduction="10000"/>
          </a:bodyPr>
          <a:lstStyle/>
          <a:p>
            <a:pPr marL="0" indent="0">
              <a:buNone/>
            </a:pPr>
            <a:r>
              <a:rPr lang="tr-TR" sz="1700" dirty="0">
                <a:latin typeface="Aptos gövde"/>
              </a:rPr>
              <a:t>   </a:t>
            </a:r>
            <a:r>
              <a:rPr lang="tr-TR" sz="2000" dirty="0">
                <a:latin typeface="Aptos gövde"/>
              </a:rPr>
              <a:t>Yer kabuğunda doğal yollarla oluşan ekonomik değere sahip mineral, cevher, kömür veya kayaçların araştırılması, yeryüzüne çıkarılması ve işlenmesi sürecidir. </a:t>
            </a:r>
          </a:p>
          <a:p>
            <a:pPr marL="0" indent="0">
              <a:spcBef>
                <a:spcPts val="0"/>
              </a:spcBef>
              <a:buNone/>
            </a:pPr>
            <a:endParaRPr lang="tr-TR" sz="2000" dirty="0">
              <a:latin typeface="Aptos gövde"/>
            </a:endParaRPr>
          </a:p>
          <a:p>
            <a:pPr marL="0" indent="0">
              <a:buNone/>
            </a:pPr>
            <a:r>
              <a:rPr lang="tr-TR" sz="2000" dirty="0">
                <a:latin typeface="Aptos gövde"/>
              </a:rPr>
              <a:t>   Enerji, sanayi ve inşaat gibi sektörlere hammadde sağlayan bu faaliyetler, yeraltı kaynaklarının güvenli ve verimli bir şekilde ekonomiye kazandırılmasını kapsayan bilim ve tekniklerin tümünü ifade eder.</a:t>
            </a:r>
          </a:p>
          <a:p>
            <a:pPr marL="0" indent="0">
              <a:spcBef>
                <a:spcPts val="0"/>
              </a:spcBef>
              <a:buNone/>
            </a:pPr>
            <a:endParaRPr lang="tr-TR" sz="2000" dirty="0">
              <a:latin typeface="Aptos gövde"/>
            </a:endParaRPr>
          </a:p>
          <a:p>
            <a:pPr>
              <a:buFont typeface="Wingdings" panose="05000000000000000000" pitchFamily="2" charset="2"/>
              <a:buChar char="Ø"/>
            </a:pPr>
            <a:r>
              <a:rPr lang="tr-TR" sz="2000" dirty="0">
                <a:latin typeface="Aptos gövde"/>
              </a:rPr>
              <a:t>Gümüş, bakır, bor, krom gibi </a:t>
            </a:r>
            <a:r>
              <a:rPr lang="tr-TR" sz="2000" b="1" dirty="0">
                <a:latin typeface="Aptos gövde"/>
              </a:rPr>
              <a:t>metalik</a:t>
            </a:r>
            <a:r>
              <a:rPr lang="tr-TR" sz="2000" dirty="0">
                <a:latin typeface="Aptos gövde"/>
              </a:rPr>
              <a:t> madenler,</a:t>
            </a:r>
          </a:p>
          <a:p>
            <a:pPr>
              <a:buFont typeface="Wingdings" panose="05000000000000000000" pitchFamily="2" charset="2"/>
              <a:buChar char="Ø"/>
            </a:pPr>
            <a:r>
              <a:rPr lang="tr-TR" sz="2000" dirty="0">
                <a:latin typeface="Aptos gövde"/>
              </a:rPr>
              <a:t>Mermer, kuvars gibi </a:t>
            </a:r>
            <a:r>
              <a:rPr lang="tr-TR" sz="2000" b="1" dirty="0">
                <a:latin typeface="Aptos gövde"/>
              </a:rPr>
              <a:t>endüstriyel</a:t>
            </a:r>
            <a:r>
              <a:rPr lang="tr-TR" sz="2000" dirty="0">
                <a:latin typeface="Aptos gövde"/>
              </a:rPr>
              <a:t> </a:t>
            </a:r>
            <a:r>
              <a:rPr lang="tr-TR" sz="2000" dirty="0" smtClean="0">
                <a:latin typeface="Aptos gövde"/>
              </a:rPr>
              <a:t>ham maddeler</a:t>
            </a:r>
            <a:r>
              <a:rPr lang="tr-TR" sz="2000" dirty="0">
                <a:latin typeface="Aptos gövde"/>
              </a:rPr>
              <a:t>,</a:t>
            </a:r>
          </a:p>
          <a:p>
            <a:pPr>
              <a:buFont typeface="Wingdings" panose="05000000000000000000" pitchFamily="2" charset="2"/>
              <a:buChar char="Ø"/>
            </a:pPr>
            <a:r>
              <a:rPr lang="tr-TR" sz="2000" dirty="0">
                <a:latin typeface="Aptos gövde"/>
              </a:rPr>
              <a:t>Kömür, linyit gibi </a:t>
            </a:r>
            <a:r>
              <a:rPr lang="tr-TR" sz="2000" b="1" dirty="0">
                <a:latin typeface="Aptos gövde"/>
              </a:rPr>
              <a:t>enerji </a:t>
            </a:r>
            <a:r>
              <a:rPr lang="tr-TR" sz="2000" dirty="0">
                <a:latin typeface="Aptos gövde"/>
              </a:rPr>
              <a:t>kaynakları, </a:t>
            </a:r>
          </a:p>
          <a:p>
            <a:pPr>
              <a:buFont typeface="Wingdings" panose="05000000000000000000" pitchFamily="2" charset="2"/>
              <a:buChar char="Ø"/>
            </a:pPr>
            <a:r>
              <a:rPr lang="tr-TR" sz="2000" dirty="0">
                <a:latin typeface="Aptos gövde"/>
              </a:rPr>
              <a:t>Elmas, zümrüt ve altın gibi </a:t>
            </a:r>
            <a:r>
              <a:rPr lang="tr-TR" sz="2000" b="1" dirty="0">
                <a:latin typeface="Aptos gövde"/>
              </a:rPr>
              <a:t>kıymetli taşlar</a:t>
            </a:r>
            <a:r>
              <a:rPr lang="tr-TR" sz="2000" dirty="0">
                <a:latin typeface="Aptos gövde"/>
              </a:rPr>
              <a:t>, </a:t>
            </a:r>
          </a:p>
        </p:txBody>
      </p:sp>
      <p:pic>
        <p:nvPicPr>
          <p:cNvPr id="4" name="Resim 3"/>
          <p:cNvPicPr>
            <a:picLocks noChangeAspect="1"/>
          </p:cNvPicPr>
          <p:nvPr/>
        </p:nvPicPr>
        <p:blipFill>
          <a:blip r:embed="rId3"/>
          <a:srcRect l="22856" r="32965" b="1"/>
          <a:stretch>
            <a:fillRect/>
          </a:stretch>
        </p:blipFill>
        <p:spPr>
          <a:xfrm>
            <a:off x="7675658" y="2093976"/>
            <a:ext cx="3941064" cy="4096512"/>
          </a:xfrm>
          <a:prstGeom prst="rect">
            <a:avLst/>
          </a:prstGeom>
        </p:spPr>
      </p:pic>
      <p:sp>
        <p:nvSpPr>
          <p:cNvPr id="5" name="Metin kutusu 4">
            <a:extLst>
              <a:ext uri="{FF2B5EF4-FFF2-40B4-BE49-F238E27FC236}">
                <a16:creationId xmlns:a16="http://schemas.microsoft.com/office/drawing/2014/main" id="{71449563-189B-D519-9C16-8541CDB5118F}"/>
              </a:ext>
            </a:extLst>
          </p:cNvPr>
          <p:cNvSpPr txBox="1"/>
          <p:nvPr/>
        </p:nvSpPr>
        <p:spPr>
          <a:xfrm>
            <a:off x="785813" y="6372225"/>
            <a:ext cx="6713552" cy="400110"/>
          </a:xfrm>
          <a:prstGeom prst="rect">
            <a:avLst/>
          </a:prstGeom>
          <a:noFill/>
        </p:spPr>
        <p:txBody>
          <a:bodyPr wrap="square" rtlCol="0">
            <a:spAutoFit/>
          </a:bodyPr>
          <a:lstStyle/>
          <a:p>
            <a:pPr algn="ctr"/>
            <a:r>
              <a:rPr lang="tr-TR" sz="2000" dirty="0">
                <a:solidFill>
                  <a:srgbClr val="FF0000"/>
                </a:solidFill>
                <a:latin typeface="Aptos gövde"/>
              </a:rPr>
              <a:t>Ekonomik değeri olan her taş Madendir</a:t>
            </a:r>
          </a:p>
        </p:txBody>
      </p:sp>
    </p:spTree>
    <p:extLst>
      <p:ext uri="{BB962C8B-B14F-4D97-AF65-F5344CB8AC3E}">
        <p14:creationId xmlns:p14="http://schemas.microsoft.com/office/powerpoint/2010/main" val="2928063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latin typeface="Aptos gövde"/>
              </a:rPr>
              <a:t>Madenlerde en sık görülen tehlikeler</a:t>
            </a:r>
          </a:p>
        </p:txBody>
      </p:sp>
      <p:sp>
        <p:nvSpPr>
          <p:cNvPr id="3" name="İçerik Yer Tutucusu 2"/>
          <p:cNvSpPr>
            <a:spLocks noGrp="1"/>
          </p:cNvSpPr>
          <p:nvPr>
            <p:ph idx="1"/>
          </p:nvPr>
        </p:nvSpPr>
        <p:spPr/>
        <p:txBody>
          <a:bodyPr>
            <a:normAutofit/>
          </a:bodyPr>
          <a:lstStyle/>
          <a:p>
            <a:pPr>
              <a:buClr>
                <a:srgbClr val="C00000"/>
              </a:buClr>
              <a:buFont typeface="Wingdings" panose="05000000000000000000" pitchFamily="2" charset="2"/>
              <a:buChar char="Ø"/>
            </a:pPr>
            <a:r>
              <a:rPr lang="tr-TR" sz="2000" dirty="0">
                <a:latin typeface="Aptos gövde"/>
              </a:rPr>
              <a:t>Göçük (tavan çökmesi) ve şev kayması</a:t>
            </a:r>
          </a:p>
          <a:p>
            <a:pPr>
              <a:buClr>
                <a:srgbClr val="C00000"/>
              </a:buClr>
              <a:buFont typeface="Wingdings" panose="05000000000000000000" pitchFamily="2" charset="2"/>
              <a:buChar char="Ø"/>
            </a:pPr>
            <a:r>
              <a:rPr lang="tr-TR" sz="2000" dirty="0">
                <a:latin typeface="Aptos gövde"/>
              </a:rPr>
              <a:t>Metan patlaması</a:t>
            </a:r>
          </a:p>
          <a:p>
            <a:pPr>
              <a:buClr>
                <a:srgbClr val="C00000"/>
              </a:buClr>
              <a:buFont typeface="Wingdings" panose="05000000000000000000" pitchFamily="2" charset="2"/>
              <a:buChar char="Ø"/>
            </a:pPr>
            <a:r>
              <a:rPr lang="tr-TR" sz="2000" dirty="0">
                <a:latin typeface="Aptos gövde"/>
              </a:rPr>
              <a:t>Karbon monoksit (gaz) zehirlenmesi</a:t>
            </a:r>
          </a:p>
          <a:p>
            <a:pPr>
              <a:buClr>
                <a:srgbClr val="C00000"/>
              </a:buClr>
              <a:buFont typeface="Wingdings" panose="05000000000000000000" pitchFamily="2" charset="2"/>
              <a:buChar char="Ø"/>
            </a:pPr>
            <a:r>
              <a:rPr lang="tr-TR" sz="2000" dirty="0">
                <a:latin typeface="Aptos gövde"/>
              </a:rPr>
              <a:t>Su baskını</a:t>
            </a:r>
          </a:p>
          <a:p>
            <a:pPr>
              <a:buClr>
                <a:srgbClr val="C00000"/>
              </a:buClr>
              <a:buFont typeface="Wingdings" panose="05000000000000000000" pitchFamily="2" charset="2"/>
              <a:buChar char="Ø"/>
            </a:pPr>
            <a:r>
              <a:rPr lang="tr-TR" sz="2000" dirty="0">
                <a:latin typeface="Aptos gövde"/>
              </a:rPr>
              <a:t>Toza maruz kalmak, toz patlamaları</a:t>
            </a:r>
          </a:p>
          <a:p>
            <a:pPr>
              <a:buClr>
                <a:srgbClr val="C00000"/>
              </a:buClr>
              <a:buFont typeface="Wingdings" panose="05000000000000000000" pitchFamily="2" charset="2"/>
              <a:buChar char="Ø"/>
            </a:pPr>
            <a:r>
              <a:rPr lang="tr-TR" sz="2000" dirty="0">
                <a:latin typeface="Aptos gövde"/>
              </a:rPr>
              <a:t>Yangın</a:t>
            </a:r>
          </a:p>
          <a:p>
            <a:pPr>
              <a:buClr>
                <a:srgbClr val="C00000"/>
              </a:buClr>
              <a:buFont typeface="Wingdings" panose="05000000000000000000" pitchFamily="2" charset="2"/>
              <a:buChar char="Ø"/>
            </a:pPr>
            <a:r>
              <a:rPr lang="tr-TR" sz="2000" dirty="0">
                <a:latin typeface="Aptos gövde"/>
              </a:rPr>
              <a:t>Makine kazaları</a:t>
            </a:r>
          </a:p>
          <a:p>
            <a:pPr>
              <a:buClr>
                <a:srgbClr val="C00000"/>
              </a:buClr>
              <a:buFont typeface="Wingdings" panose="05000000000000000000" pitchFamily="2" charset="2"/>
              <a:buChar char="Ø"/>
            </a:pPr>
            <a:r>
              <a:rPr lang="tr-TR" sz="2000" dirty="0">
                <a:latin typeface="Aptos gövde"/>
              </a:rPr>
              <a:t>Mesleki hastalıklar</a:t>
            </a:r>
          </a:p>
        </p:txBody>
      </p:sp>
      <p:pic>
        <p:nvPicPr>
          <p:cNvPr id="4" name="Resim 3"/>
          <p:cNvPicPr>
            <a:picLocks noChangeAspect="1"/>
          </p:cNvPicPr>
          <p:nvPr/>
        </p:nvPicPr>
        <p:blipFill>
          <a:blip r:embed="rId2"/>
          <a:stretch>
            <a:fillRect/>
          </a:stretch>
        </p:blipFill>
        <p:spPr>
          <a:xfrm>
            <a:off x="6477670" y="1825625"/>
            <a:ext cx="4760578" cy="3382516"/>
          </a:xfrm>
          <a:prstGeom prst="rect">
            <a:avLst/>
          </a:prstGeom>
        </p:spPr>
      </p:pic>
      <p:sp>
        <p:nvSpPr>
          <p:cNvPr id="5" name="Dikdörtgen 4"/>
          <p:cNvSpPr/>
          <p:nvPr/>
        </p:nvSpPr>
        <p:spPr>
          <a:xfrm>
            <a:off x="2472744" y="5691320"/>
            <a:ext cx="4340180" cy="400110"/>
          </a:xfrm>
          <a:prstGeom prst="rect">
            <a:avLst/>
          </a:prstGeom>
        </p:spPr>
        <p:txBody>
          <a:bodyPr wrap="square">
            <a:spAutoFit/>
          </a:bodyPr>
          <a:lstStyle/>
          <a:p>
            <a:pPr algn="ctr"/>
            <a:r>
              <a:rPr lang="tr-TR" sz="2000" dirty="0">
                <a:solidFill>
                  <a:srgbClr val="FF0000"/>
                </a:solidFill>
                <a:latin typeface="Aptos gövde"/>
              </a:rPr>
              <a:t>Tehlike çoğu zaman görünmezdir  !!</a:t>
            </a:r>
          </a:p>
        </p:txBody>
      </p:sp>
    </p:spTree>
    <p:extLst>
      <p:ext uri="{BB962C8B-B14F-4D97-AF65-F5344CB8AC3E}">
        <p14:creationId xmlns:p14="http://schemas.microsoft.com/office/powerpoint/2010/main" val="3703912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Unvan 1"/>
          <p:cNvSpPr>
            <a:spLocks noGrp="1"/>
          </p:cNvSpPr>
          <p:nvPr>
            <p:ph type="title"/>
          </p:nvPr>
        </p:nvSpPr>
        <p:spPr>
          <a:xfrm>
            <a:off x="572493" y="238539"/>
            <a:ext cx="11018520" cy="1434415"/>
          </a:xfrm>
        </p:spPr>
        <p:txBody>
          <a:bodyPr anchor="b">
            <a:normAutofit/>
          </a:bodyPr>
          <a:lstStyle/>
          <a:p>
            <a:r>
              <a:rPr lang="tr-TR" b="1" dirty="0">
                <a:latin typeface="Aptos gövde"/>
              </a:rPr>
              <a:t>Maden işlerinde İSG neden önemli ?</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İçerik Yer Tutucusu 2"/>
          <p:cNvSpPr>
            <a:spLocks noGrp="1"/>
          </p:cNvSpPr>
          <p:nvPr>
            <p:ph idx="1"/>
          </p:nvPr>
        </p:nvSpPr>
        <p:spPr>
          <a:xfrm>
            <a:off x="572493" y="2071315"/>
            <a:ext cx="6713552" cy="4664335"/>
          </a:xfrm>
        </p:spPr>
        <p:txBody>
          <a:bodyPr anchor="t">
            <a:normAutofit lnSpcReduction="10000"/>
          </a:bodyPr>
          <a:lstStyle/>
          <a:p>
            <a:pPr marL="0" indent="0">
              <a:buNone/>
            </a:pPr>
            <a:r>
              <a:rPr lang="tr-TR" sz="2000" dirty="0">
                <a:latin typeface="Aptos gövde"/>
              </a:rPr>
              <a:t>   Madenlerde İş Sağlığı ve Güvenliği (İSG), yeraltı ve yer üstü operasyonlarında; </a:t>
            </a:r>
          </a:p>
          <a:p>
            <a:pPr marL="0" indent="0">
              <a:buNone/>
            </a:pPr>
            <a:endParaRPr lang="tr-TR" sz="2000" dirty="0">
              <a:latin typeface="Aptos gövde"/>
            </a:endParaRPr>
          </a:p>
          <a:p>
            <a:pPr>
              <a:buFont typeface="Wingdings" panose="05000000000000000000" pitchFamily="2" charset="2"/>
              <a:buChar char="Ø"/>
            </a:pPr>
            <a:r>
              <a:rPr lang="tr-TR" sz="2000" dirty="0">
                <a:latin typeface="Aptos gövde"/>
              </a:rPr>
              <a:t>Grizu patlaması, </a:t>
            </a:r>
          </a:p>
          <a:p>
            <a:pPr>
              <a:buFont typeface="Wingdings" panose="05000000000000000000" pitchFamily="2" charset="2"/>
              <a:buChar char="Ø"/>
            </a:pPr>
            <a:r>
              <a:rPr lang="tr-TR" sz="2000" dirty="0">
                <a:latin typeface="Aptos gövde"/>
              </a:rPr>
              <a:t>Göçük, </a:t>
            </a:r>
          </a:p>
          <a:p>
            <a:pPr>
              <a:buFont typeface="Wingdings" panose="05000000000000000000" pitchFamily="2" charset="2"/>
              <a:buChar char="Ø"/>
            </a:pPr>
            <a:r>
              <a:rPr lang="tr-TR" sz="2000" dirty="0">
                <a:latin typeface="Aptos gövde"/>
              </a:rPr>
              <a:t>Zehirli gazlar ve toz maruziyeti, </a:t>
            </a:r>
          </a:p>
          <a:p>
            <a:pPr>
              <a:buFont typeface="Wingdings" panose="05000000000000000000" pitchFamily="2" charset="2"/>
              <a:buChar char="Ø"/>
            </a:pPr>
            <a:endParaRPr lang="tr-TR" sz="2000" dirty="0">
              <a:latin typeface="Aptos gövde"/>
            </a:endParaRPr>
          </a:p>
          <a:p>
            <a:pPr marL="0" indent="0">
              <a:buNone/>
            </a:pPr>
            <a:r>
              <a:rPr lang="tr-TR" sz="2000" dirty="0">
                <a:latin typeface="Aptos gövde"/>
              </a:rPr>
              <a:t>   gibi çok yüksek riskli tehlikelere karşı çalışanların can güvenliğini korumak, kitlesel ölümleri önlemek, meslek hastalıklarını azaltmak ve yasal yükümlülükleri (6331 sayılı Kanun) yerine getirmek için hayati önem taşımaktadır.</a:t>
            </a:r>
          </a:p>
          <a:p>
            <a:pPr marL="0" indent="0">
              <a:buNone/>
            </a:pPr>
            <a:endParaRPr lang="tr-TR" sz="2000" dirty="0">
              <a:latin typeface="Aptos gövde"/>
            </a:endParaRPr>
          </a:p>
          <a:p>
            <a:pPr marL="0" indent="0">
              <a:buNone/>
            </a:pPr>
            <a:r>
              <a:rPr lang="tr-TR" sz="2000" dirty="0">
                <a:latin typeface="Aptos gövde"/>
              </a:rPr>
              <a:t>           </a:t>
            </a:r>
            <a:r>
              <a:rPr lang="tr-TR" sz="2000" b="1" dirty="0">
                <a:solidFill>
                  <a:srgbClr val="FF0000"/>
                </a:solidFill>
                <a:latin typeface="Aptos gövde"/>
              </a:rPr>
              <a:t>En yüksek riskli iş kollarından biridir</a:t>
            </a:r>
            <a:r>
              <a:rPr lang="tr-TR" sz="2000" dirty="0">
                <a:latin typeface="Aptos gövde"/>
              </a:rPr>
              <a:t>.</a:t>
            </a:r>
          </a:p>
        </p:txBody>
      </p:sp>
      <p:pic>
        <p:nvPicPr>
          <p:cNvPr id="4" name="Resim 3"/>
          <p:cNvPicPr>
            <a:picLocks noChangeAspect="1"/>
          </p:cNvPicPr>
          <p:nvPr/>
        </p:nvPicPr>
        <p:blipFill>
          <a:blip r:embed="rId3"/>
          <a:srcRect t="14789" b="16088"/>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650102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Unvan 1"/>
          <p:cNvSpPr>
            <a:spLocks noGrp="1"/>
          </p:cNvSpPr>
          <p:nvPr>
            <p:ph type="title"/>
          </p:nvPr>
        </p:nvSpPr>
        <p:spPr>
          <a:xfrm>
            <a:off x="299703" y="548640"/>
            <a:ext cx="4317453" cy="5431536"/>
          </a:xfrm>
        </p:spPr>
        <p:txBody>
          <a:bodyPr>
            <a:normAutofit/>
          </a:bodyPr>
          <a:lstStyle/>
          <a:p>
            <a:r>
              <a:rPr lang="tr-TR" b="1" dirty="0">
                <a:latin typeface="Aptos gövde"/>
              </a:rPr>
              <a:t>Maden işlerinde İSG neden önemli ?</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İçerik Yer Tutucusu 2"/>
          <p:cNvSpPr>
            <a:spLocks noGrp="1"/>
          </p:cNvSpPr>
          <p:nvPr>
            <p:ph idx="1"/>
          </p:nvPr>
        </p:nvSpPr>
        <p:spPr>
          <a:xfrm>
            <a:off x="5126418" y="552091"/>
            <a:ext cx="6784167" cy="5983620"/>
          </a:xfrm>
        </p:spPr>
        <p:txBody>
          <a:bodyPr anchor="ctr">
            <a:normAutofit/>
          </a:bodyPr>
          <a:lstStyle/>
          <a:p>
            <a:r>
              <a:rPr lang="tr-TR" sz="1900" b="1" dirty="0">
                <a:solidFill>
                  <a:schemeClr val="accent6">
                    <a:lumMod val="75000"/>
                  </a:schemeClr>
                </a:solidFill>
                <a:latin typeface="Aptos gövde"/>
              </a:rPr>
              <a:t>Yüksek riskli çalışma ortamı:</a:t>
            </a:r>
            <a:r>
              <a:rPr lang="tr-TR" sz="1900" dirty="0">
                <a:solidFill>
                  <a:schemeClr val="accent6">
                    <a:lumMod val="75000"/>
                  </a:schemeClr>
                </a:solidFill>
                <a:latin typeface="Aptos gövde"/>
              </a:rPr>
              <a:t> </a:t>
            </a:r>
            <a:r>
              <a:rPr lang="tr-TR" sz="1900" dirty="0">
                <a:latin typeface="Aptos gövde"/>
              </a:rPr>
              <a:t>Göçük, patlama, gaz sızıntısı, toz, gürültü ve titreşim gibi birçok tehlikeyi barındırır. </a:t>
            </a:r>
          </a:p>
          <a:p>
            <a:pPr marL="0" indent="0">
              <a:spcBef>
                <a:spcPts val="0"/>
              </a:spcBef>
              <a:buNone/>
            </a:pPr>
            <a:endParaRPr lang="tr-TR" sz="1900" dirty="0">
              <a:latin typeface="Aptos gövde"/>
            </a:endParaRPr>
          </a:p>
          <a:p>
            <a:r>
              <a:rPr lang="tr-TR" sz="1900" b="1" dirty="0">
                <a:solidFill>
                  <a:schemeClr val="accent6">
                    <a:lumMod val="75000"/>
                  </a:schemeClr>
                </a:solidFill>
                <a:latin typeface="Aptos gövde"/>
              </a:rPr>
              <a:t>Can kayıplarını önleme:</a:t>
            </a:r>
            <a:r>
              <a:rPr lang="tr-TR" sz="1900" dirty="0">
                <a:solidFill>
                  <a:schemeClr val="accent6">
                    <a:lumMod val="75000"/>
                  </a:schemeClr>
                </a:solidFill>
                <a:latin typeface="Aptos gövde"/>
              </a:rPr>
              <a:t> </a:t>
            </a:r>
            <a:r>
              <a:rPr lang="tr-TR" sz="1900" dirty="0">
                <a:latin typeface="Aptos gövde"/>
              </a:rPr>
              <a:t>Madencilikte meydana gelen kazalar genellikle ölümcül (toplu ölümler)  sonuçlar doğurabilir. </a:t>
            </a:r>
          </a:p>
          <a:p>
            <a:pPr marL="0" indent="0">
              <a:spcBef>
                <a:spcPts val="0"/>
              </a:spcBef>
              <a:buNone/>
            </a:pPr>
            <a:endParaRPr lang="tr-TR" sz="1900" b="1" dirty="0">
              <a:latin typeface="Aptos gövde"/>
            </a:endParaRPr>
          </a:p>
          <a:p>
            <a:r>
              <a:rPr lang="tr-TR" sz="1900" b="1" dirty="0">
                <a:solidFill>
                  <a:schemeClr val="accent6">
                    <a:lumMod val="75000"/>
                  </a:schemeClr>
                </a:solidFill>
                <a:latin typeface="Aptos gövde"/>
              </a:rPr>
              <a:t>Meslek hastalıklarını azaltma:</a:t>
            </a:r>
            <a:r>
              <a:rPr lang="tr-TR" sz="1900" dirty="0">
                <a:solidFill>
                  <a:schemeClr val="accent6">
                    <a:lumMod val="75000"/>
                  </a:schemeClr>
                </a:solidFill>
                <a:latin typeface="Aptos gövde"/>
              </a:rPr>
              <a:t> </a:t>
            </a:r>
            <a:r>
              <a:rPr lang="tr-TR" sz="1900" dirty="0">
                <a:latin typeface="Aptos gövde"/>
              </a:rPr>
              <a:t>Toz, gaz ve kimyasallara maruz kalma sonucu oluşabilecek solunum yolu hastalıkları, işitme kaybı veya kas-iskelet sistemi rahatsızlıklarının önüne geçmek.</a:t>
            </a:r>
          </a:p>
          <a:p>
            <a:pPr marL="0" indent="0">
              <a:spcBef>
                <a:spcPts val="0"/>
              </a:spcBef>
              <a:buNone/>
            </a:pPr>
            <a:endParaRPr lang="tr-TR" sz="1900" dirty="0">
              <a:latin typeface="Aptos gövde"/>
            </a:endParaRPr>
          </a:p>
          <a:p>
            <a:r>
              <a:rPr lang="tr-TR" sz="1900" b="1" dirty="0">
                <a:solidFill>
                  <a:schemeClr val="accent6">
                    <a:lumMod val="75000"/>
                  </a:schemeClr>
                </a:solidFill>
                <a:latin typeface="Aptos gövde"/>
              </a:rPr>
              <a:t>Verimlilik ve sürdürülebilirlik:</a:t>
            </a:r>
            <a:r>
              <a:rPr lang="tr-TR" sz="1900" dirty="0">
                <a:solidFill>
                  <a:schemeClr val="accent6">
                    <a:lumMod val="75000"/>
                  </a:schemeClr>
                </a:solidFill>
                <a:latin typeface="Aptos gövde"/>
              </a:rPr>
              <a:t> </a:t>
            </a:r>
            <a:r>
              <a:rPr lang="tr-TR" sz="1900" dirty="0">
                <a:latin typeface="Aptos gövde"/>
              </a:rPr>
              <a:t>Güvenli çalışma ortamı, çalışan motivasyonunu ve üretim verimliliğini artırır.</a:t>
            </a:r>
          </a:p>
          <a:p>
            <a:pPr marL="0" indent="0">
              <a:spcBef>
                <a:spcPts val="0"/>
              </a:spcBef>
              <a:buNone/>
            </a:pPr>
            <a:endParaRPr lang="tr-TR" sz="1900" dirty="0">
              <a:latin typeface="Aptos gövde"/>
            </a:endParaRPr>
          </a:p>
          <a:p>
            <a:r>
              <a:rPr lang="tr-TR" sz="1900" b="1" dirty="0">
                <a:solidFill>
                  <a:schemeClr val="accent6">
                    <a:lumMod val="75000"/>
                  </a:schemeClr>
                </a:solidFill>
                <a:latin typeface="Aptos gövde"/>
              </a:rPr>
              <a:t>Yasal zorunluluk:</a:t>
            </a:r>
            <a:r>
              <a:rPr lang="tr-TR" sz="1900" dirty="0">
                <a:solidFill>
                  <a:schemeClr val="accent6">
                    <a:lumMod val="75000"/>
                  </a:schemeClr>
                </a:solidFill>
                <a:latin typeface="Aptos gövde"/>
              </a:rPr>
              <a:t> </a:t>
            </a:r>
            <a:r>
              <a:rPr lang="tr-TR" sz="1900" dirty="0">
                <a:latin typeface="Aptos gövde"/>
              </a:rPr>
              <a:t>Türkiye’de 6331 sayılı İş Sağlığı ve Güvenliği Kanunu ve Maden İşyerlerinde İSG Yönetmeliği, işverenlere bu konuda ciddi yükümlülükler getirir.</a:t>
            </a:r>
          </a:p>
          <a:p>
            <a:pPr marL="0" indent="0">
              <a:buNone/>
            </a:pPr>
            <a:r>
              <a:rPr lang="tr-TR" sz="1900" dirty="0">
                <a:latin typeface="Aptos gövde"/>
              </a:rPr>
              <a:t>   </a:t>
            </a:r>
          </a:p>
        </p:txBody>
      </p:sp>
    </p:spTree>
    <p:extLst>
      <p:ext uri="{BB962C8B-B14F-4D97-AF65-F5344CB8AC3E}">
        <p14:creationId xmlns:p14="http://schemas.microsoft.com/office/powerpoint/2010/main" val="244678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DB3719-6FDC-4E5D-891D-FF40B7300F6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Unvan 1"/>
          <p:cNvSpPr>
            <a:spLocks noGrp="1"/>
          </p:cNvSpPr>
          <p:nvPr>
            <p:ph type="title"/>
          </p:nvPr>
        </p:nvSpPr>
        <p:spPr>
          <a:xfrm>
            <a:off x="838200" y="365125"/>
            <a:ext cx="10515600" cy="1325563"/>
          </a:xfrm>
        </p:spPr>
        <p:txBody>
          <a:bodyPr>
            <a:normAutofit/>
          </a:bodyPr>
          <a:lstStyle/>
          <a:p>
            <a:r>
              <a:rPr lang="tr-TR" b="1" dirty="0">
                <a:latin typeface="Aptos gövde"/>
              </a:rPr>
              <a:t>Maden işleri İSG neden önemli ?</a:t>
            </a:r>
            <a:endParaRPr lang="tr-TR" dirty="0"/>
          </a:p>
        </p:txBody>
      </p:sp>
      <p:sp>
        <p:nvSpPr>
          <p:cNvPr id="12"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İçerik Yer Tutucusu 4"/>
          <p:cNvGraphicFramePr>
            <a:graphicFrameLocks noGrp="1"/>
          </p:cNvGraphicFramePr>
          <p:nvPr>
            <p:ph idx="1"/>
            <p:extLst>
              <p:ext uri="{D42A27DB-BD31-4B8C-83A1-F6EECF244321}">
                <p14:modId xmlns:p14="http://schemas.microsoft.com/office/powerpoint/2010/main" val="501526326"/>
              </p:ext>
            </p:extLst>
          </p:nvPr>
        </p:nvGraphicFramePr>
        <p:xfrm>
          <a:off x="1289154" y="2092389"/>
          <a:ext cx="9638676" cy="4400486"/>
        </p:xfrm>
        <a:graphic>
          <a:graphicData uri="http://schemas.openxmlformats.org/drawingml/2006/table">
            <a:tbl>
              <a:tblPr firstRow="1" firstCol="1" bandRow="1">
                <a:tableStyleId>{21E4AEA4-8DFA-4A89-87EB-49C32662AFE0}</a:tableStyleId>
              </a:tblPr>
              <a:tblGrid>
                <a:gridCol w="1367613">
                  <a:extLst>
                    <a:ext uri="{9D8B030D-6E8A-4147-A177-3AD203B41FA5}">
                      <a16:colId xmlns:a16="http://schemas.microsoft.com/office/drawing/2014/main" val="744346268"/>
                    </a:ext>
                  </a:extLst>
                </a:gridCol>
                <a:gridCol w="1742498">
                  <a:extLst>
                    <a:ext uri="{9D8B030D-6E8A-4147-A177-3AD203B41FA5}">
                      <a16:colId xmlns:a16="http://schemas.microsoft.com/office/drawing/2014/main" val="3318176352"/>
                    </a:ext>
                  </a:extLst>
                </a:gridCol>
                <a:gridCol w="1213589">
                  <a:extLst>
                    <a:ext uri="{9D8B030D-6E8A-4147-A177-3AD203B41FA5}">
                      <a16:colId xmlns:a16="http://schemas.microsoft.com/office/drawing/2014/main" val="1584920681"/>
                    </a:ext>
                  </a:extLst>
                </a:gridCol>
                <a:gridCol w="1393769">
                  <a:extLst>
                    <a:ext uri="{9D8B030D-6E8A-4147-A177-3AD203B41FA5}">
                      <a16:colId xmlns:a16="http://schemas.microsoft.com/office/drawing/2014/main" val="725218670"/>
                    </a:ext>
                  </a:extLst>
                </a:gridCol>
                <a:gridCol w="1277524">
                  <a:extLst>
                    <a:ext uri="{9D8B030D-6E8A-4147-A177-3AD203B41FA5}">
                      <a16:colId xmlns:a16="http://schemas.microsoft.com/office/drawing/2014/main" val="1084154163"/>
                    </a:ext>
                  </a:extLst>
                </a:gridCol>
                <a:gridCol w="1213589">
                  <a:extLst>
                    <a:ext uri="{9D8B030D-6E8A-4147-A177-3AD203B41FA5}">
                      <a16:colId xmlns:a16="http://schemas.microsoft.com/office/drawing/2014/main" val="1922289322"/>
                    </a:ext>
                  </a:extLst>
                </a:gridCol>
                <a:gridCol w="1430094">
                  <a:extLst>
                    <a:ext uri="{9D8B030D-6E8A-4147-A177-3AD203B41FA5}">
                      <a16:colId xmlns:a16="http://schemas.microsoft.com/office/drawing/2014/main" val="3745956166"/>
                    </a:ext>
                  </a:extLst>
                </a:gridCol>
              </a:tblGrid>
              <a:tr h="485218">
                <a:tc>
                  <a:txBody>
                    <a:bodyPr/>
                    <a:lstStyle/>
                    <a:p>
                      <a:pPr>
                        <a:lnSpc>
                          <a:spcPct val="115000"/>
                        </a:lnSpc>
                        <a:spcAft>
                          <a:spcPts val="1000"/>
                        </a:spcAft>
                      </a:pPr>
                      <a:r>
                        <a:rPr lang="en-US" sz="1200" dirty="0" err="1">
                          <a:effectLst/>
                          <a:latin typeface="Aptos gövde"/>
                        </a:rPr>
                        <a:t>Kriter</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Madencilik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İnşaat Sektörü</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İmalat Sanayi</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Tarım Sektörü</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Ulaşım Sektörü</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Enerji Sektörü</a:t>
                      </a:r>
                      <a:endParaRPr lang="tr-TR" sz="1200">
                        <a:effectLst/>
                        <a:latin typeface="Aptos gövde"/>
                        <a:ea typeface="MS Mincho"/>
                        <a:cs typeface="Times New Roman" panose="02020603050405020304" pitchFamily="18" charset="0"/>
                      </a:endParaRPr>
                    </a:p>
                  </a:txBody>
                  <a:tcPr marL="44625" marR="44625" marT="0" marB="0"/>
                </a:tc>
                <a:extLst>
                  <a:ext uri="{0D108BD9-81ED-4DB2-BD59-A6C34878D82A}">
                    <a16:rowId xmlns:a16="http://schemas.microsoft.com/office/drawing/2014/main" val="2203120794"/>
                  </a:ext>
                </a:extLst>
              </a:tr>
              <a:tr h="250990">
                <a:tc>
                  <a:txBody>
                    <a:bodyPr/>
                    <a:lstStyle/>
                    <a:p>
                      <a:pPr>
                        <a:lnSpc>
                          <a:spcPct val="115000"/>
                        </a:lnSpc>
                        <a:spcAft>
                          <a:spcPts val="1000"/>
                        </a:spcAft>
                      </a:pPr>
                      <a:r>
                        <a:rPr lang="en-US" sz="1200">
                          <a:effectLst/>
                          <a:latin typeface="Aptos gövde"/>
                        </a:rPr>
                        <a:t>Çalışma Ortamı</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Kapalı, yeraltı</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Açık/yarı açık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Kapalı, sabit</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Açık alan</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Açık/yarı açık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Kapalı/kontrollü</a:t>
                      </a:r>
                      <a:endParaRPr lang="tr-TR" sz="1200">
                        <a:effectLst/>
                        <a:latin typeface="Aptos gövde"/>
                        <a:ea typeface="MS Mincho"/>
                        <a:cs typeface="Times New Roman" panose="02020603050405020304" pitchFamily="18" charset="0"/>
                      </a:endParaRPr>
                    </a:p>
                  </a:txBody>
                  <a:tcPr marL="44625" marR="44625" marT="0" marB="0"/>
                </a:tc>
                <a:extLst>
                  <a:ext uri="{0D108BD9-81ED-4DB2-BD59-A6C34878D82A}">
                    <a16:rowId xmlns:a16="http://schemas.microsoft.com/office/drawing/2014/main" val="3598553426"/>
                  </a:ext>
                </a:extLst>
              </a:tr>
              <a:tr h="485218">
                <a:tc>
                  <a:txBody>
                    <a:bodyPr/>
                    <a:lstStyle/>
                    <a:p>
                      <a:pPr>
                        <a:lnSpc>
                          <a:spcPct val="115000"/>
                        </a:lnSpc>
                        <a:spcAft>
                          <a:spcPts val="1000"/>
                        </a:spcAft>
                      </a:pPr>
                      <a:r>
                        <a:rPr lang="en-US" sz="1200">
                          <a:effectLst/>
                          <a:latin typeface="Aptos gövde"/>
                        </a:rPr>
                        <a:t>Risk Türü</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Çoklu (gaz + göçük + patlama)</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Düşme, iskele</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Makine kazaları</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Doğal riskler</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Trafik kazaları</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Teknik/kimyasal risk</a:t>
                      </a:r>
                      <a:endParaRPr lang="tr-TR" sz="1200">
                        <a:effectLst/>
                        <a:latin typeface="Aptos gövde"/>
                        <a:ea typeface="MS Mincho"/>
                        <a:cs typeface="Times New Roman" panose="02020603050405020304" pitchFamily="18" charset="0"/>
                      </a:endParaRPr>
                    </a:p>
                  </a:txBody>
                  <a:tcPr marL="44625" marR="44625" marT="0" marB="0"/>
                </a:tc>
                <a:extLst>
                  <a:ext uri="{0D108BD9-81ED-4DB2-BD59-A6C34878D82A}">
                    <a16:rowId xmlns:a16="http://schemas.microsoft.com/office/drawing/2014/main" val="1268391138"/>
                  </a:ext>
                </a:extLst>
              </a:tr>
              <a:tr h="485218">
                <a:tc>
                  <a:txBody>
                    <a:bodyPr/>
                    <a:lstStyle/>
                    <a:p>
                      <a:pPr>
                        <a:lnSpc>
                          <a:spcPct val="115000"/>
                        </a:lnSpc>
                        <a:spcAft>
                          <a:spcPts val="1000"/>
                        </a:spcAft>
                      </a:pPr>
                      <a:r>
                        <a:rPr lang="en-US" sz="1200">
                          <a:effectLst/>
                          <a:latin typeface="Aptos gövde"/>
                        </a:rPr>
                        <a:t>Riskin Görünürlüğü</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dirty="0" err="1">
                          <a:effectLst/>
                          <a:latin typeface="Aptos gövde"/>
                        </a:rPr>
                        <a:t>Görünmez</a:t>
                      </a:r>
                      <a:endParaRPr lang="tr-TR" sz="1200" dirty="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Görünür</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Çoğunlukla görünür</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Görünür</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Görünür</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Kontrollü</a:t>
                      </a:r>
                      <a:endParaRPr lang="tr-TR" sz="1200">
                        <a:effectLst/>
                        <a:latin typeface="Aptos gövde"/>
                        <a:ea typeface="MS Mincho"/>
                        <a:cs typeface="Times New Roman" panose="02020603050405020304" pitchFamily="18" charset="0"/>
                      </a:endParaRPr>
                    </a:p>
                  </a:txBody>
                  <a:tcPr marL="44625" marR="44625" marT="0" marB="0"/>
                </a:tc>
                <a:extLst>
                  <a:ext uri="{0D108BD9-81ED-4DB2-BD59-A6C34878D82A}">
                    <a16:rowId xmlns:a16="http://schemas.microsoft.com/office/drawing/2014/main" val="3521946304"/>
                  </a:ext>
                </a:extLst>
              </a:tr>
              <a:tr h="485218">
                <a:tc>
                  <a:txBody>
                    <a:bodyPr/>
                    <a:lstStyle/>
                    <a:p>
                      <a:pPr>
                        <a:lnSpc>
                          <a:spcPct val="115000"/>
                        </a:lnSpc>
                        <a:spcAft>
                          <a:spcPts val="1000"/>
                        </a:spcAft>
                      </a:pPr>
                      <a:r>
                        <a:rPr lang="en-US" sz="1200">
                          <a:effectLst/>
                          <a:latin typeface="Aptos gövde"/>
                        </a:rPr>
                        <a:t>Ortam Değişkenliği</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Çok yüksek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Orta</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Düşük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Orta</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Orta</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Düşük</a:t>
                      </a:r>
                      <a:endParaRPr lang="tr-TR" sz="1200">
                        <a:effectLst/>
                        <a:latin typeface="Aptos gövde"/>
                        <a:ea typeface="MS Mincho"/>
                        <a:cs typeface="Times New Roman" panose="02020603050405020304" pitchFamily="18" charset="0"/>
                      </a:endParaRPr>
                    </a:p>
                  </a:txBody>
                  <a:tcPr marL="44625" marR="44625" marT="0" marB="0"/>
                </a:tc>
                <a:extLst>
                  <a:ext uri="{0D108BD9-81ED-4DB2-BD59-A6C34878D82A}">
                    <a16:rowId xmlns:a16="http://schemas.microsoft.com/office/drawing/2014/main" val="1371901708"/>
                  </a:ext>
                </a:extLst>
              </a:tr>
              <a:tr h="250990">
                <a:tc>
                  <a:txBody>
                    <a:bodyPr/>
                    <a:lstStyle/>
                    <a:p>
                      <a:pPr>
                        <a:lnSpc>
                          <a:spcPct val="115000"/>
                        </a:lnSpc>
                        <a:spcAft>
                          <a:spcPts val="1000"/>
                        </a:spcAft>
                      </a:pPr>
                      <a:r>
                        <a:rPr lang="en-US" sz="1200">
                          <a:effectLst/>
                          <a:latin typeface="Aptos gövde"/>
                        </a:rPr>
                        <a:t>Kaçış İmkanı</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Çok zor</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tr-TR" sz="1200">
                          <a:effectLst/>
                          <a:latin typeface="Aptos gövde"/>
                        </a:rPr>
                        <a:t>Orta </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Kolay</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Kolay</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Kolay</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Orta</a:t>
                      </a:r>
                      <a:endParaRPr lang="tr-TR" sz="1200">
                        <a:effectLst/>
                        <a:latin typeface="Aptos gövde"/>
                        <a:ea typeface="MS Mincho"/>
                        <a:cs typeface="Times New Roman" panose="02020603050405020304" pitchFamily="18" charset="0"/>
                      </a:endParaRPr>
                    </a:p>
                  </a:txBody>
                  <a:tcPr marL="44625" marR="44625" marT="0" marB="0"/>
                </a:tc>
                <a:extLst>
                  <a:ext uri="{0D108BD9-81ED-4DB2-BD59-A6C34878D82A}">
                    <a16:rowId xmlns:a16="http://schemas.microsoft.com/office/drawing/2014/main" val="3835044909"/>
                  </a:ext>
                </a:extLst>
              </a:tr>
              <a:tr h="250990">
                <a:tc>
                  <a:txBody>
                    <a:bodyPr/>
                    <a:lstStyle/>
                    <a:p>
                      <a:pPr>
                        <a:lnSpc>
                          <a:spcPct val="115000"/>
                        </a:lnSpc>
                        <a:spcAft>
                          <a:spcPts val="1000"/>
                        </a:spcAft>
                      </a:pPr>
                      <a:r>
                        <a:rPr lang="en-US" sz="1200">
                          <a:effectLst/>
                          <a:latin typeface="Aptos gövde"/>
                        </a:rPr>
                        <a:t>Acil Müdahale</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Gecikmeli</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Hızlı</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Hızlı</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Hızlı</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Hızlı</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Planlı</a:t>
                      </a:r>
                      <a:endParaRPr lang="tr-TR" sz="1200">
                        <a:effectLst/>
                        <a:latin typeface="Aptos gövde"/>
                        <a:ea typeface="MS Mincho"/>
                        <a:cs typeface="Times New Roman" panose="02020603050405020304" pitchFamily="18" charset="0"/>
                      </a:endParaRPr>
                    </a:p>
                  </a:txBody>
                  <a:tcPr marL="44625" marR="44625" marT="0" marB="0"/>
                </a:tc>
                <a:extLst>
                  <a:ext uri="{0D108BD9-81ED-4DB2-BD59-A6C34878D82A}">
                    <a16:rowId xmlns:a16="http://schemas.microsoft.com/office/drawing/2014/main" val="3200932901"/>
                  </a:ext>
                </a:extLst>
              </a:tr>
              <a:tr h="485218">
                <a:tc>
                  <a:txBody>
                    <a:bodyPr/>
                    <a:lstStyle/>
                    <a:p>
                      <a:pPr>
                        <a:lnSpc>
                          <a:spcPct val="115000"/>
                        </a:lnSpc>
                        <a:spcAft>
                          <a:spcPts val="1000"/>
                        </a:spcAft>
                      </a:pPr>
                      <a:r>
                        <a:rPr lang="en-US" sz="1200">
                          <a:effectLst/>
                          <a:latin typeface="Aptos gövde"/>
                        </a:rPr>
                        <a:t>Gaz / Oksijen Riski</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Çok yüksek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Düşük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Düşük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Yok denecek kadar az</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Yok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Orta</a:t>
                      </a:r>
                      <a:endParaRPr lang="tr-TR" sz="1200">
                        <a:effectLst/>
                        <a:latin typeface="Aptos gövde"/>
                        <a:ea typeface="MS Mincho"/>
                        <a:cs typeface="Times New Roman" panose="02020603050405020304" pitchFamily="18" charset="0"/>
                      </a:endParaRPr>
                    </a:p>
                  </a:txBody>
                  <a:tcPr marL="44625" marR="44625" marT="0" marB="0"/>
                </a:tc>
                <a:extLst>
                  <a:ext uri="{0D108BD9-81ED-4DB2-BD59-A6C34878D82A}">
                    <a16:rowId xmlns:a16="http://schemas.microsoft.com/office/drawing/2014/main" val="1183716150"/>
                  </a:ext>
                </a:extLst>
              </a:tr>
              <a:tr h="485218">
                <a:tc>
                  <a:txBody>
                    <a:bodyPr/>
                    <a:lstStyle/>
                    <a:p>
                      <a:pPr>
                        <a:lnSpc>
                          <a:spcPct val="115000"/>
                        </a:lnSpc>
                        <a:spcAft>
                          <a:spcPts val="1000"/>
                        </a:spcAft>
                      </a:pPr>
                      <a:r>
                        <a:rPr lang="en-US" sz="1200">
                          <a:effectLst/>
                          <a:latin typeface="Aptos gövde"/>
                        </a:rPr>
                        <a:t>Makine Kullanımı</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Ağır ve dar alanda</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Yüksek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Yüksek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Orta</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Yüksek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Yüksek</a:t>
                      </a:r>
                      <a:endParaRPr lang="tr-TR" sz="1200">
                        <a:effectLst/>
                        <a:latin typeface="Aptos gövde"/>
                        <a:ea typeface="MS Mincho"/>
                        <a:cs typeface="Times New Roman" panose="02020603050405020304" pitchFamily="18" charset="0"/>
                      </a:endParaRPr>
                    </a:p>
                  </a:txBody>
                  <a:tcPr marL="44625" marR="44625" marT="0" marB="0"/>
                </a:tc>
                <a:extLst>
                  <a:ext uri="{0D108BD9-81ED-4DB2-BD59-A6C34878D82A}">
                    <a16:rowId xmlns:a16="http://schemas.microsoft.com/office/drawing/2014/main" val="3554417122"/>
                  </a:ext>
                </a:extLst>
              </a:tr>
              <a:tr h="250990">
                <a:tc>
                  <a:txBody>
                    <a:bodyPr/>
                    <a:lstStyle/>
                    <a:p>
                      <a:pPr>
                        <a:lnSpc>
                          <a:spcPct val="115000"/>
                        </a:lnSpc>
                        <a:spcAft>
                          <a:spcPts val="1000"/>
                        </a:spcAft>
                      </a:pPr>
                      <a:r>
                        <a:rPr lang="en-US" sz="1200">
                          <a:effectLst/>
                          <a:latin typeface="Aptos gövde"/>
                        </a:rPr>
                        <a:t>İnsan Faktörü</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Çok kritik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Önemli</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Orta</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Orta</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Önemli</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Orta</a:t>
                      </a:r>
                      <a:endParaRPr lang="tr-TR" sz="1200">
                        <a:effectLst/>
                        <a:latin typeface="Aptos gövde"/>
                        <a:ea typeface="MS Mincho"/>
                        <a:cs typeface="Times New Roman" panose="02020603050405020304" pitchFamily="18" charset="0"/>
                      </a:endParaRPr>
                    </a:p>
                  </a:txBody>
                  <a:tcPr marL="44625" marR="44625" marT="0" marB="0"/>
                </a:tc>
                <a:extLst>
                  <a:ext uri="{0D108BD9-81ED-4DB2-BD59-A6C34878D82A}">
                    <a16:rowId xmlns:a16="http://schemas.microsoft.com/office/drawing/2014/main" val="1776811611"/>
                  </a:ext>
                </a:extLst>
              </a:tr>
              <a:tr h="485218">
                <a:tc>
                  <a:txBody>
                    <a:bodyPr/>
                    <a:lstStyle/>
                    <a:p>
                      <a:pPr>
                        <a:lnSpc>
                          <a:spcPct val="115000"/>
                        </a:lnSpc>
                        <a:spcAft>
                          <a:spcPts val="1000"/>
                        </a:spcAft>
                      </a:pPr>
                      <a:r>
                        <a:rPr lang="en-US" sz="1200">
                          <a:effectLst/>
                          <a:latin typeface="Aptos gövde"/>
                        </a:rPr>
                        <a:t>Genel Risk Seviyesi</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Çok yüksek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Yüksek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Orta</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Orta</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a:effectLst/>
                          <a:latin typeface="Aptos gövde"/>
                        </a:rPr>
                        <a:t>Yüksek</a:t>
                      </a:r>
                      <a:endParaRPr lang="tr-TR" sz="1200">
                        <a:effectLst/>
                        <a:latin typeface="Aptos gövde"/>
                        <a:ea typeface="MS Mincho"/>
                        <a:cs typeface="Times New Roman" panose="02020603050405020304" pitchFamily="18" charset="0"/>
                      </a:endParaRPr>
                    </a:p>
                  </a:txBody>
                  <a:tcPr marL="44625" marR="44625" marT="0" marB="0"/>
                </a:tc>
                <a:tc>
                  <a:txBody>
                    <a:bodyPr/>
                    <a:lstStyle/>
                    <a:p>
                      <a:pPr algn="ctr">
                        <a:lnSpc>
                          <a:spcPct val="115000"/>
                        </a:lnSpc>
                        <a:spcAft>
                          <a:spcPts val="1000"/>
                        </a:spcAft>
                      </a:pPr>
                      <a:r>
                        <a:rPr lang="en-US" sz="1200" dirty="0">
                          <a:effectLst/>
                          <a:latin typeface="Aptos gövde"/>
                        </a:rPr>
                        <a:t>Orta</a:t>
                      </a:r>
                      <a:endParaRPr lang="tr-TR" sz="1200" dirty="0">
                        <a:effectLst/>
                        <a:latin typeface="Aptos gövde"/>
                        <a:ea typeface="MS Mincho"/>
                        <a:cs typeface="Times New Roman" panose="02020603050405020304" pitchFamily="18" charset="0"/>
                      </a:endParaRPr>
                    </a:p>
                  </a:txBody>
                  <a:tcPr marL="44625" marR="44625" marT="0" marB="0"/>
                </a:tc>
                <a:extLst>
                  <a:ext uri="{0D108BD9-81ED-4DB2-BD59-A6C34878D82A}">
                    <a16:rowId xmlns:a16="http://schemas.microsoft.com/office/drawing/2014/main" val="2352729514"/>
                  </a:ext>
                </a:extLst>
              </a:tr>
            </a:tbl>
          </a:graphicData>
        </a:graphic>
      </p:graphicFrame>
    </p:spTree>
    <p:extLst>
      <p:ext uri="{BB962C8B-B14F-4D97-AF65-F5344CB8AC3E}">
        <p14:creationId xmlns:p14="http://schemas.microsoft.com/office/powerpoint/2010/main" val="2612884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169333" y="1153572"/>
            <a:ext cx="3717901" cy="4461163"/>
          </a:xfrm>
        </p:spPr>
        <p:txBody>
          <a:bodyPr>
            <a:normAutofit/>
          </a:bodyPr>
          <a:lstStyle/>
          <a:p>
            <a:r>
              <a:rPr lang="tr-TR" sz="4100" b="1" dirty="0">
                <a:solidFill>
                  <a:srgbClr val="FFFFFF"/>
                </a:solidFill>
                <a:latin typeface="Aptos gövde"/>
              </a:rPr>
              <a:t/>
            </a:r>
            <a:br>
              <a:rPr lang="tr-TR" sz="4100" b="1" dirty="0">
                <a:solidFill>
                  <a:srgbClr val="FFFFFF"/>
                </a:solidFill>
                <a:latin typeface="Aptos gövde"/>
              </a:rPr>
            </a:br>
            <a:r>
              <a:rPr lang="tr-TR" sz="4100" b="1" dirty="0">
                <a:solidFill>
                  <a:srgbClr val="FFFFFF"/>
                </a:solidFill>
                <a:latin typeface="Aptos gövde"/>
              </a:rPr>
              <a:t>İSG mevzuatı ve hukuki sorumluluklar</a:t>
            </a:r>
            <a:br>
              <a:rPr lang="tr-TR" sz="4100" b="1" dirty="0">
                <a:solidFill>
                  <a:srgbClr val="FFFFFF"/>
                </a:solidFill>
                <a:latin typeface="Aptos gövde"/>
              </a:rPr>
            </a:br>
            <a:endParaRPr lang="tr-TR" sz="4100" b="1"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p:cNvSpPr>
            <a:spLocks noGrp="1"/>
          </p:cNvSpPr>
          <p:nvPr>
            <p:ph idx="1"/>
          </p:nvPr>
        </p:nvSpPr>
        <p:spPr>
          <a:xfrm>
            <a:off x="4460187" y="703770"/>
            <a:ext cx="6906491" cy="6154230"/>
          </a:xfrm>
        </p:spPr>
        <p:txBody>
          <a:bodyPr anchor="ctr">
            <a:normAutofit/>
          </a:bodyPr>
          <a:lstStyle/>
          <a:p>
            <a:pPr>
              <a:buFont typeface="Wingdings" panose="05000000000000000000" pitchFamily="2" charset="2"/>
              <a:buChar char="Ø"/>
            </a:pPr>
            <a:r>
              <a:rPr lang="tr-TR" sz="2000" b="1" dirty="0">
                <a:solidFill>
                  <a:srgbClr val="C00000"/>
                </a:solidFill>
                <a:latin typeface="Aptos gövde"/>
              </a:rPr>
              <a:t>Tanımlar </a:t>
            </a:r>
          </a:p>
          <a:p>
            <a:pPr marL="0" indent="0">
              <a:buNone/>
            </a:pPr>
            <a:endParaRPr lang="tr-TR" sz="2000" dirty="0">
              <a:latin typeface="Aptos gövde"/>
            </a:endParaRPr>
          </a:p>
          <a:p>
            <a:pPr marL="0" indent="0">
              <a:buNone/>
            </a:pPr>
            <a:r>
              <a:rPr lang="tr-TR" sz="2000" b="1" dirty="0">
                <a:latin typeface="Aptos gövde"/>
              </a:rPr>
              <a:t>Ateşleme:</a:t>
            </a:r>
            <a:r>
              <a:rPr lang="tr-TR" sz="2000" dirty="0">
                <a:latin typeface="Aptos gövde"/>
              </a:rPr>
              <a:t> Kazı işlerinde deliklere doldurulmuş olan patlayıcı maddelerin patlatılması,</a:t>
            </a:r>
          </a:p>
          <a:p>
            <a:pPr marL="0" indent="0">
              <a:buNone/>
            </a:pPr>
            <a:r>
              <a:rPr lang="tr-TR" sz="2000" b="1" dirty="0">
                <a:latin typeface="Aptos gövde"/>
              </a:rPr>
              <a:t>Ateşleyici:</a:t>
            </a:r>
            <a:r>
              <a:rPr lang="tr-TR" sz="2000" dirty="0">
                <a:latin typeface="Aptos gövde"/>
              </a:rPr>
              <a:t> Patlayıcı madde kullanılması koşullarını yerine getirmek üzere, </a:t>
            </a:r>
            <a:r>
              <a:rPr lang="tr-TR" sz="2000" u="sng" dirty="0">
                <a:latin typeface="Aptos gövde"/>
              </a:rPr>
              <a:t>yeterlik belgesine sahip kişi</a:t>
            </a:r>
            <a:r>
              <a:rPr lang="tr-TR" sz="2000" dirty="0">
                <a:latin typeface="Aptos gövde"/>
              </a:rPr>
              <a:t>,</a:t>
            </a:r>
          </a:p>
          <a:p>
            <a:pPr marL="0" indent="0">
              <a:buNone/>
            </a:pPr>
            <a:r>
              <a:rPr lang="tr-TR" sz="2000" b="1" dirty="0">
                <a:latin typeface="Aptos gövde"/>
              </a:rPr>
              <a:t>Ayak:</a:t>
            </a:r>
            <a:r>
              <a:rPr lang="tr-TR" sz="2000" dirty="0">
                <a:latin typeface="Aptos gövde"/>
              </a:rPr>
              <a:t> Maden içerisinde iki galeri arasında cephe halinde </a:t>
            </a:r>
            <a:r>
              <a:rPr lang="tr-TR" sz="2000" u="sng" dirty="0">
                <a:latin typeface="Aptos gövde"/>
              </a:rPr>
              <a:t>üretim yapılan yer</a:t>
            </a:r>
            <a:r>
              <a:rPr lang="tr-TR" sz="2000" dirty="0">
                <a:latin typeface="Aptos gövde"/>
              </a:rPr>
              <a:t>,</a:t>
            </a:r>
          </a:p>
          <a:p>
            <a:pPr marL="0" indent="0">
              <a:buNone/>
            </a:pPr>
            <a:r>
              <a:rPr lang="tr-TR" sz="2000" b="1" dirty="0">
                <a:latin typeface="Aptos gövde"/>
              </a:rPr>
              <a:t>Baca:</a:t>
            </a:r>
            <a:r>
              <a:rPr lang="tr-TR" sz="2000" dirty="0">
                <a:latin typeface="Aptos gövde"/>
              </a:rPr>
              <a:t> Maden içerisinden sürülen galeri,</a:t>
            </a:r>
          </a:p>
          <a:p>
            <a:pPr marL="0" indent="0">
              <a:buNone/>
            </a:pPr>
            <a:r>
              <a:rPr lang="tr-TR" sz="2000" b="1" dirty="0">
                <a:latin typeface="Aptos gövde"/>
              </a:rPr>
              <a:t>Baraj: </a:t>
            </a:r>
            <a:r>
              <a:rPr lang="tr-TR" sz="2000" dirty="0">
                <a:latin typeface="Aptos gövde"/>
              </a:rPr>
              <a:t>Yeraltında yangın, su, zararlı gaz ve diğer tehlikeleri önleyici engeller,</a:t>
            </a:r>
          </a:p>
          <a:p>
            <a:pPr marL="0" indent="0">
              <a:buNone/>
            </a:pPr>
            <a:r>
              <a:rPr lang="tr-TR" sz="2000" b="1" dirty="0">
                <a:latin typeface="Aptos gövde"/>
              </a:rPr>
              <a:t>Bür:</a:t>
            </a:r>
            <a:r>
              <a:rPr lang="tr-TR" sz="2000" dirty="0">
                <a:latin typeface="Aptos gövde"/>
              </a:rPr>
              <a:t> Yerüstüyle bağlantısı olmayan kuyu,</a:t>
            </a:r>
          </a:p>
          <a:p>
            <a:pPr marL="0" indent="0">
              <a:buNone/>
            </a:pPr>
            <a:r>
              <a:rPr lang="tr-TR" sz="2000" b="1" dirty="0">
                <a:latin typeface="Aptos gövde"/>
              </a:rPr>
              <a:t>Çatlak: </a:t>
            </a:r>
            <a:r>
              <a:rPr lang="tr-TR" sz="2000" dirty="0">
                <a:latin typeface="Aptos gövde"/>
              </a:rPr>
              <a:t>Ana kütleden ayrılmış, her an düşebilecek parçalar,</a:t>
            </a:r>
          </a:p>
          <a:p>
            <a:pPr marL="0" indent="0">
              <a:buNone/>
            </a:pPr>
            <a:r>
              <a:rPr lang="tr-TR" sz="2000" b="1" dirty="0">
                <a:latin typeface="Aptos gövde"/>
              </a:rPr>
              <a:t>Degaj:</a:t>
            </a:r>
            <a:r>
              <a:rPr lang="tr-TR" sz="2000" dirty="0">
                <a:latin typeface="Aptos gövde"/>
              </a:rPr>
              <a:t> Ani gaz boşalması,</a:t>
            </a:r>
          </a:p>
          <a:p>
            <a:pPr marL="0" indent="0">
              <a:buNone/>
            </a:pPr>
            <a:r>
              <a:rPr lang="tr-TR" sz="2000" b="1" dirty="0">
                <a:latin typeface="Aptos gövde"/>
              </a:rPr>
              <a:t>Galeri:</a:t>
            </a:r>
            <a:r>
              <a:rPr lang="tr-TR" sz="2000" dirty="0">
                <a:latin typeface="Aptos gövde"/>
              </a:rPr>
              <a:t> Yeraltında açılan geçit yolu,</a:t>
            </a:r>
          </a:p>
          <a:p>
            <a:pPr marL="0" indent="0">
              <a:buNone/>
            </a:pPr>
            <a:r>
              <a:rPr lang="tr-TR" sz="2000" b="1" dirty="0">
                <a:latin typeface="Aptos gövde"/>
              </a:rPr>
              <a:t>Grizu:</a:t>
            </a:r>
            <a:r>
              <a:rPr lang="tr-TR" sz="2000" dirty="0">
                <a:latin typeface="Aptos gövde"/>
              </a:rPr>
              <a:t> Metan gazının hava ile belirli bir oranda karışımından oluşan patlayıcı ve yanıcı (ocak gazı) gaz,</a:t>
            </a:r>
          </a:p>
          <a:p>
            <a:pPr marL="0" indent="0">
              <a:buNone/>
            </a:pPr>
            <a:endParaRPr lang="tr-TR" sz="1800" dirty="0">
              <a:latin typeface="Aptos gövde"/>
            </a:endParaRPr>
          </a:p>
          <a:p>
            <a:pPr marL="0" indent="0">
              <a:buNone/>
            </a:pPr>
            <a:endParaRPr lang="tr-TR" sz="1800" dirty="0">
              <a:latin typeface="Aptos gövde"/>
            </a:endParaRPr>
          </a:p>
          <a:p>
            <a:pPr marL="0" indent="0">
              <a:buNone/>
            </a:pPr>
            <a:endParaRPr lang="tr-TR" sz="1800" dirty="0">
              <a:latin typeface="Aptos gövde"/>
            </a:endParaRPr>
          </a:p>
        </p:txBody>
      </p:sp>
    </p:spTree>
    <p:extLst>
      <p:ext uri="{BB962C8B-B14F-4D97-AF65-F5344CB8AC3E}">
        <p14:creationId xmlns:p14="http://schemas.microsoft.com/office/powerpoint/2010/main" val="482705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237067" y="1153572"/>
            <a:ext cx="3650167" cy="4461163"/>
          </a:xfrm>
        </p:spPr>
        <p:txBody>
          <a:bodyPr>
            <a:normAutofit/>
          </a:bodyPr>
          <a:lstStyle/>
          <a:p>
            <a:r>
              <a:rPr lang="tr-TR" sz="4100" b="1" dirty="0">
                <a:solidFill>
                  <a:srgbClr val="FFFFFF"/>
                </a:solidFill>
                <a:latin typeface="Aptos gövde"/>
              </a:rPr>
              <a:t/>
            </a:r>
            <a:br>
              <a:rPr lang="tr-TR" sz="4100" b="1" dirty="0">
                <a:solidFill>
                  <a:srgbClr val="FFFFFF"/>
                </a:solidFill>
                <a:latin typeface="Aptos gövde"/>
              </a:rPr>
            </a:br>
            <a:r>
              <a:rPr lang="tr-TR" sz="4100" b="1" dirty="0">
                <a:solidFill>
                  <a:srgbClr val="FFFFFF"/>
                </a:solidFill>
                <a:latin typeface="Aptos gövde"/>
              </a:rPr>
              <a:t>İSG mevzuatı ve hukuki sorumluluklar</a:t>
            </a:r>
            <a:br>
              <a:rPr lang="tr-TR" sz="4100" b="1" dirty="0">
                <a:solidFill>
                  <a:srgbClr val="FFFFFF"/>
                </a:solidFill>
                <a:latin typeface="Aptos gövde"/>
              </a:rPr>
            </a:br>
            <a:endParaRPr lang="tr-TR" sz="4100" b="1"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p:cNvSpPr>
            <a:spLocks noGrp="1"/>
          </p:cNvSpPr>
          <p:nvPr>
            <p:ph idx="1"/>
          </p:nvPr>
        </p:nvSpPr>
        <p:spPr>
          <a:xfrm>
            <a:off x="4357154" y="1153572"/>
            <a:ext cx="6906491" cy="5585619"/>
          </a:xfrm>
        </p:spPr>
        <p:txBody>
          <a:bodyPr anchor="ctr">
            <a:normAutofit fontScale="92500"/>
          </a:bodyPr>
          <a:lstStyle/>
          <a:p>
            <a:pPr marL="0" indent="0">
              <a:buNone/>
            </a:pPr>
            <a:r>
              <a:rPr lang="tr-TR" sz="2000" b="1" dirty="0">
                <a:latin typeface="Aptos gövde"/>
              </a:rPr>
              <a:t>Kuyu:</a:t>
            </a:r>
            <a:r>
              <a:rPr lang="tr-TR" sz="2000" dirty="0">
                <a:latin typeface="Aptos gövde"/>
              </a:rPr>
              <a:t> Yeraltı işyerlerine ulaşmak amacıyla açılmış ve kesit boyutları derinliğine oranla sınırlı, düşey ve düşeye yakın bağlantı yolu.</a:t>
            </a:r>
          </a:p>
          <a:p>
            <a:pPr marL="0" indent="0">
              <a:buNone/>
            </a:pPr>
            <a:r>
              <a:rPr lang="tr-TR" sz="2000" b="1" dirty="0">
                <a:latin typeface="Aptos gövde"/>
              </a:rPr>
              <a:t>Lağım:</a:t>
            </a:r>
            <a:r>
              <a:rPr lang="tr-TR" sz="2000" dirty="0">
                <a:latin typeface="Aptos gövde"/>
              </a:rPr>
              <a:t> Taş içerisinde sürülen </a:t>
            </a:r>
            <a:r>
              <a:rPr lang="tr-TR" sz="2000" u="sng" dirty="0">
                <a:latin typeface="Aptos gövde"/>
              </a:rPr>
              <a:t>galeri</a:t>
            </a:r>
            <a:r>
              <a:rPr lang="tr-TR" sz="2000" dirty="0">
                <a:latin typeface="Aptos gövde"/>
              </a:rPr>
              <a:t>,</a:t>
            </a:r>
          </a:p>
          <a:p>
            <a:pPr marL="0" indent="0">
              <a:buNone/>
            </a:pPr>
            <a:r>
              <a:rPr lang="tr-TR" sz="2000" b="1" dirty="0">
                <a:latin typeface="Aptos gövde"/>
              </a:rPr>
              <a:t>Nefeslik:</a:t>
            </a:r>
            <a:r>
              <a:rPr lang="tr-TR" sz="2000" dirty="0">
                <a:latin typeface="Aptos gövde"/>
              </a:rPr>
              <a:t> Ocak havasının giriş ve çıkış yolu,</a:t>
            </a:r>
          </a:p>
          <a:p>
            <a:pPr marL="0" indent="0">
              <a:buNone/>
            </a:pPr>
            <a:r>
              <a:rPr lang="tr-TR" sz="2000" b="1" dirty="0">
                <a:latin typeface="Aptos gövde"/>
              </a:rPr>
              <a:t>Sıkılama: </a:t>
            </a:r>
            <a:r>
              <a:rPr lang="tr-TR" sz="2000" dirty="0">
                <a:latin typeface="Aptos gövde"/>
              </a:rPr>
              <a:t>Lağım deliklerine patlayıcı madde konulduktan sonra kalan boşluğun gerektiği biçimde doldurulması,</a:t>
            </a:r>
          </a:p>
          <a:p>
            <a:pPr marL="0" indent="0">
              <a:buNone/>
            </a:pPr>
            <a:r>
              <a:rPr lang="tr-TR" sz="2000" b="1" dirty="0">
                <a:latin typeface="Aptos gövde"/>
              </a:rPr>
              <a:t>Şev: </a:t>
            </a:r>
            <a:r>
              <a:rPr lang="tr-TR" sz="2000" dirty="0">
                <a:latin typeface="Aptos gövde"/>
              </a:rPr>
              <a:t>Kademe, alın ve yüzlerindeki eğim,</a:t>
            </a:r>
          </a:p>
          <a:p>
            <a:pPr marL="0" indent="0">
              <a:buNone/>
            </a:pPr>
            <a:r>
              <a:rPr lang="tr-TR" sz="2000" b="1" dirty="0">
                <a:latin typeface="Aptos gövde"/>
              </a:rPr>
              <a:t>Topuk:</a:t>
            </a:r>
            <a:r>
              <a:rPr lang="tr-TR" sz="2000" dirty="0">
                <a:latin typeface="Aptos gövde"/>
              </a:rPr>
              <a:t> İşletmelerde güvenlik için bırakılan maden kısımları,</a:t>
            </a:r>
          </a:p>
          <a:p>
            <a:pPr marL="0" indent="0">
              <a:buNone/>
            </a:pPr>
            <a:r>
              <a:rPr lang="tr-TR" sz="2000" b="1" dirty="0">
                <a:latin typeface="Aptos gövde"/>
              </a:rPr>
              <a:t>Cep:</a:t>
            </a:r>
            <a:r>
              <a:rPr lang="tr-TR" sz="2000" dirty="0">
                <a:latin typeface="Aptos gövde"/>
              </a:rPr>
              <a:t>  İşçilerin, nakliyat yollarında hareket halindeki araçlardan (lokomotif, vagon vb.) kaçıp sığınabilecekleri güvenli alanlardır. Genellikle galerilerin kenar </a:t>
            </a:r>
            <a:r>
              <a:rPr lang="tr-TR" sz="2000" dirty="0" smtClean="0">
                <a:latin typeface="Aptos gövde"/>
              </a:rPr>
              <a:t>kısımlarında bulunur.</a:t>
            </a:r>
            <a:endParaRPr lang="tr-TR" sz="2000" dirty="0">
              <a:latin typeface="Aptos gövde"/>
            </a:endParaRPr>
          </a:p>
          <a:p>
            <a:pPr marL="0" indent="0">
              <a:buNone/>
            </a:pPr>
            <a:r>
              <a:rPr lang="tr-TR" sz="2000" b="1" dirty="0" err="1" smtClean="0">
                <a:latin typeface="Aptos gövde"/>
              </a:rPr>
              <a:t>Freno</a:t>
            </a:r>
            <a:r>
              <a:rPr lang="tr-TR" sz="2000" b="1" dirty="0">
                <a:latin typeface="Aptos gövde"/>
              </a:rPr>
              <a:t>: </a:t>
            </a:r>
            <a:r>
              <a:rPr lang="tr-TR" sz="2000" dirty="0">
                <a:latin typeface="Aptos gövde"/>
              </a:rPr>
              <a:t>Varagel üzerinde taşımayı sağlayan sistem,</a:t>
            </a:r>
          </a:p>
          <a:p>
            <a:pPr marL="0" indent="0">
              <a:buNone/>
            </a:pPr>
            <a:r>
              <a:rPr lang="tr-TR" sz="2000" b="1" dirty="0">
                <a:latin typeface="Aptos gövde"/>
              </a:rPr>
              <a:t>Varagel: </a:t>
            </a:r>
            <a:r>
              <a:rPr lang="tr-TR" sz="2000" dirty="0">
                <a:latin typeface="Aptos gövde"/>
              </a:rPr>
              <a:t>Dolu araba aşağıya inerken boş arabanın yukarıya çıkmasını sağlayan ve karşılıklı ağırlık  esasına göre, eğimli düzey üzerinde fren ve halat kullanılarak yapılan </a:t>
            </a:r>
            <a:r>
              <a:rPr lang="tr-TR" sz="2000" u="sng" dirty="0">
                <a:latin typeface="Aptos gövde"/>
              </a:rPr>
              <a:t>taşıma yeri</a:t>
            </a:r>
            <a:r>
              <a:rPr lang="tr-TR" sz="2000" dirty="0">
                <a:latin typeface="Aptos gövde"/>
              </a:rPr>
              <a:t>,</a:t>
            </a:r>
          </a:p>
          <a:p>
            <a:pPr marL="0" indent="0">
              <a:buNone/>
            </a:pPr>
            <a:endParaRPr lang="tr-TR" sz="2000" dirty="0">
              <a:latin typeface="Aptos gövde"/>
            </a:endParaRPr>
          </a:p>
          <a:p>
            <a:pPr marL="0" indent="0">
              <a:buNone/>
            </a:pPr>
            <a:endParaRPr lang="tr-TR" sz="1800" dirty="0">
              <a:latin typeface="Aptos gövde"/>
            </a:endParaRPr>
          </a:p>
        </p:txBody>
      </p:sp>
      <p:sp>
        <p:nvSpPr>
          <p:cNvPr id="4" name="Dikdörtgen 3"/>
          <p:cNvSpPr/>
          <p:nvPr/>
        </p:nvSpPr>
        <p:spPr>
          <a:xfrm>
            <a:off x="4357154" y="207454"/>
            <a:ext cx="1507336" cy="400110"/>
          </a:xfrm>
          <a:prstGeom prst="rect">
            <a:avLst/>
          </a:prstGeom>
        </p:spPr>
        <p:txBody>
          <a:bodyPr wrap="none">
            <a:spAutoFit/>
          </a:bodyPr>
          <a:lstStyle/>
          <a:p>
            <a:pPr>
              <a:buFont typeface="Wingdings" panose="05000000000000000000" pitchFamily="2" charset="2"/>
              <a:buChar char="Ø"/>
            </a:pPr>
            <a:r>
              <a:rPr lang="tr-TR" sz="2000" b="1" dirty="0">
                <a:solidFill>
                  <a:srgbClr val="C00000"/>
                </a:solidFill>
                <a:latin typeface="Aptos gövde"/>
              </a:rPr>
              <a:t>Tanımlar </a:t>
            </a:r>
          </a:p>
        </p:txBody>
      </p:sp>
    </p:spTree>
    <p:extLst>
      <p:ext uri="{BB962C8B-B14F-4D97-AF65-F5344CB8AC3E}">
        <p14:creationId xmlns:p14="http://schemas.microsoft.com/office/powerpoint/2010/main" val="4007069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fontScale="90000"/>
          </a:bodyPr>
          <a:lstStyle/>
          <a:p>
            <a:r>
              <a:rPr lang="tr-TR" sz="2600" b="1" dirty="0">
                <a:latin typeface="Aptos gövde"/>
              </a:rPr>
              <a:t/>
            </a:r>
            <a:br>
              <a:rPr lang="tr-TR" sz="2600" b="1" dirty="0">
                <a:latin typeface="Aptos gövde"/>
              </a:rPr>
            </a:br>
            <a:r>
              <a:rPr lang="tr-TR" b="1" dirty="0">
                <a:latin typeface="Aptos gövde"/>
              </a:rPr>
              <a:t>İSG mevzuatı ve hukuki sorumluluklar</a:t>
            </a:r>
            <a:r>
              <a:rPr lang="tr-TR" sz="2600" b="1" dirty="0">
                <a:latin typeface="Aptos gövde"/>
              </a:rPr>
              <a:t/>
            </a:r>
            <a:br>
              <a:rPr lang="tr-TR" sz="2600" b="1" dirty="0">
                <a:latin typeface="Aptos gövde"/>
              </a:rPr>
            </a:br>
            <a:endParaRPr lang="tr-TR" sz="2600" b="1"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a:bodyPr>
          <a:lstStyle/>
          <a:p>
            <a:pPr>
              <a:buFont typeface="Wingdings" panose="05000000000000000000" pitchFamily="2" charset="2"/>
              <a:buChar char="Ø"/>
            </a:pPr>
            <a:r>
              <a:rPr lang="tr-TR" sz="2200" dirty="0">
                <a:solidFill>
                  <a:srgbClr val="FF0000"/>
                </a:solidFill>
                <a:latin typeface="Aptos gövde"/>
              </a:rPr>
              <a:t>İlgili kanun ve yönetmelikler</a:t>
            </a:r>
          </a:p>
          <a:p>
            <a:pPr marL="0" indent="0">
              <a:buNone/>
            </a:pPr>
            <a:endParaRPr lang="tr-TR" sz="2200" dirty="0">
              <a:latin typeface="Aptos gövde"/>
            </a:endParaRPr>
          </a:p>
          <a:p>
            <a:r>
              <a:rPr lang="tr-TR" sz="2200" dirty="0">
                <a:latin typeface="Aptos gövde"/>
              </a:rPr>
              <a:t>6331 Sayılı İş Sağlığı ve Güvenliği Kanunu</a:t>
            </a:r>
          </a:p>
          <a:p>
            <a:r>
              <a:rPr lang="tr-TR" sz="2200" dirty="0">
                <a:latin typeface="Aptos gövde"/>
              </a:rPr>
              <a:t>Maden İşyerlerinde İş Sağlığı ve Güvenliği Yönetmeliği</a:t>
            </a:r>
          </a:p>
          <a:p>
            <a:r>
              <a:rPr lang="tr-TR" sz="2200" dirty="0">
                <a:latin typeface="Aptos gövde"/>
              </a:rPr>
              <a:t>Yeraltı ve Yerüstü Maden İşletmelerinde Sağlık ve Güvenlik Şartları Yönetmeliği</a:t>
            </a:r>
          </a:p>
          <a:p>
            <a:r>
              <a:rPr lang="tr-TR" sz="2200" dirty="0">
                <a:latin typeface="Aptos gövde"/>
              </a:rPr>
              <a:t>Patlayıcı Maddelerle Çalışma Yönetmeliği</a:t>
            </a:r>
          </a:p>
          <a:p>
            <a:r>
              <a:rPr lang="tr-TR" sz="2200" dirty="0">
                <a:latin typeface="Aptos gövde"/>
              </a:rPr>
              <a:t>Tozla Mücadele Yönetmeliği</a:t>
            </a:r>
          </a:p>
        </p:txBody>
      </p:sp>
    </p:spTree>
    <p:extLst>
      <p:ext uri="{BB962C8B-B14F-4D97-AF65-F5344CB8AC3E}">
        <p14:creationId xmlns:p14="http://schemas.microsoft.com/office/powerpoint/2010/main" val="3994028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fontScale="90000"/>
          </a:bodyPr>
          <a:lstStyle/>
          <a:p>
            <a:r>
              <a:rPr lang="tr-TR" sz="2600" b="1" dirty="0">
                <a:latin typeface="Aptos gövde"/>
              </a:rPr>
              <a:t/>
            </a:r>
            <a:br>
              <a:rPr lang="tr-TR" sz="2600" b="1" dirty="0">
                <a:latin typeface="Aptos gövde"/>
              </a:rPr>
            </a:br>
            <a:r>
              <a:rPr lang="tr-TR" b="1" dirty="0">
                <a:latin typeface="Aptos gövde"/>
              </a:rPr>
              <a:t>İSG mevzuatı ve hukuki sorumluluklar</a:t>
            </a:r>
            <a:r>
              <a:rPr lang="tr-TR" sz="2600" b="1" dirty="0">
                <a:latin typeface="Aptos gövde"/>
              </a:rPr>
              <a:t/>
            </a:r>
            <a:br>
              <a:rPr lang="tr-TR" sz="2600" b="1" dirty="0">
                <a:latin typeface="Aptos gövde"/>
              </a:rPr>
            </a:br>
            <a:endParaRPr lang="tr-TR" sz="2600" b="1"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3"/>
            <a:ext cx="10515600" cy="4751635"/>
          </a:xfrm>
        </p:spPr>
        <p:txBody>
          <a:bodyPr>
            <a:noAutofit/>
          </a:bodyPr>
          <a:lstStyle/>
          <a:p>
            <a:pPr>
              <a:buFont typeface="Wingdings" panose="05000000000000000000" pitchFamily="2" charset="2"/>
              <a:buChar char="Ø"/>
            </a:pPr>
            <a:r>
              <a:rPr lang="tr-TR" sz="2000" dirty="0">
                <a:solidFill>
                  <a:srgbClr val="FF0000"/>
                </a:solidFill>
                <a:latin typeface="Aptos gövde"/>
              </a:rPr>
              <a:t>İşverenin genel yükümlülükleri</a:t>
            </a:r>
          </a:p>
          <a:p>
            <a:pPr marL="0" indent="0">
              <a:buNone/>
            </a:pPr>
            <a:endParaRPr lang="tr-TR" sz="2000" dirty="0">
              <a:solidFill>
                <a:srgbClr val="FF0000"/>
              </a:solidFill>
              <a:latin typeface="Aptos gövde"/>
            </a:endParaRPr>
          </a:p>
          <a:p>
            <a:pPr marL="0" indent="0">
              <a:buNone/>
            </a:pPr>
            <a:r>
              <a:rPr lang="tr-TR" sz="2000" u="sng" dirty="0">
                <a:latin typeface="Aptos gövde"/>
              </a:rPr>
              <a:t>Çalışanların sağlık ve güvenliklerini sağlamak ;</a:t>
            </a:r>
          </a:p>
          <a:p>
            <a:pPr marL="0" indent="0">
              <a:buNone/>
            </a:pPr>
            <a:r>
              <a:rPr lang="tr-TR" sz="2000" dirty="0">
                <a:latin typeface="Aptos gövde"/>
              </a:rPr>
              <a:t>     1) İşyerleri, çalışanların sağlık ve güvenliklerini tehlikeye atmayacak şekilde tasarlanır, inşa edilir, teçhiz edilir, hizmete alınır, işletilir ve bakımı yapılır.</a:t>
            </a:r>
          </a:p>
          <a:p>
            <a:pPr marL="0" indent="0">
              <a:buNone/>
            </a:pPr>
            <a:r>
              <a:rPr lang="tr-TR" sz="2000" dirty="0">
                <a:latin typeface="Aptos gövde"/>
              </a:rPr>
              <a:t>     2) İşyerinde yapılacak her türlü çalışma, yetkili kişinin nezaretinde ve sorumluluğu altında yapılır.</a:t>
            </a:r>
          </a:p>
          <a:p>
            <a:pPr marL="0" indent="0">
              <a:buNone/>
            </a:pPr>
            <a:r>
              <a:rPr lang="tr-TR" sz="2000" dirty="0">
                <a:latin typeface="Aptos gövde"/>
              </a:rPr>
              <a:t>     3) Özel riski bulunan işler yalnızca bu işlerle ilgili özel eğitim alan ehil kişiler tarafından ve talimatlara uygun olarak yapılır.</a:t>
            </a:r>
          </a:p>
          <a:p>
            <a:pPr marL="0" indent="0">
              <a:buNone/>
            </a:pPr>
            <a:r>
              <a:rPr lang="tr-TR" sz="2000" dirty="0">
                <a:latin typeface="Aptos gövde"/>
              </a:rPr>
              <a:t>     4) Tüm güvenlik talimatları çalışanların anlayacağı şekilde hazırlanır.</a:t>
            </a:r>
          </a:p>
          <a:p>
            <a:pPr marL="0" indent="0">
              <a:buNone/>
            </a:pPr>
            <a:r>
              <a:rPr lang="tr-TR" sz="2000" dirty="0">
                <a:latin typeface="Aptos gövde"/>
              </a:rPr>
              <a:t>     5) 18/6/2013 tarihli ve 28681 sayılı Resmî </a:t>
            </a:r>
            <a:r>
              <a:rPr lang="tr-TR" sz="2000" dirty="0" err="1">
                <a:latin typeface="Aptos gövde"/>
              </a:rPr>
              <a:t>Gazete’de</a:t>
            </a:r>
            <a:r>
              <a:rPr lang="tr-TR" sz="2000" dirty="0">
                <a:latin typeface="Aptos gövde"/>
              </a:rPr>
              <a:t> yayımlanan İşyerlerinde Acil Durumlar Hakkında Yönetmeliğe uygun olarak yeterli ilk yardım donanımı sağlanır ve yılda en az bir defa olmak üzere düzenli olarak gerekli tatbikatlar yapılır.</a:t>
            </a:r>
          </a:p>
        </p:txBody>
      </p:sp>
    </p:spTree>
    <p:extLst>
      <p:ext uri="{BB962C8B-B14F-4D97-AF65-F5344CB8AC3E}">
        <p14:creationId xmlns:p14="http://schemas.microsoft.com/office/powerpoint/2010/main" val="2938350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fontScale="90000"/>
          </a:bodyPr>
          <a:lstStyle/>
          <a:p>
            <a:r>
              <a:rPr lang="tr-TR" sz="2600" b="1" dirty="0">
                <a:latin typeface="Aptos gövde"/>
              </a:rPr>
              <a:t/>
            </a:r>
            <a:br>
              <a:rPr lang="tr-TR" sz="2600" b="1" dirty="0">
                <a:latin typeface="Aptos gövde"/>
              </a:rPr>
            </a:br>
            <a:r>
              <a:rPr lang="tr-TR" b="1" dirty="0">
                <a:latin typeface="Aptos gövde"/>
              </a:rPr>
              <a:t>İSG mevzuatı ve hukuki sorumluluklar</a:t>
            </a:r>
            <a:r>
              <a:rPr lang="tr-TR" sz="2600" b="1" dirty="0">
                <a:latin typeface="Aptos gövde"/>
              </a:rPr>
              <a:t/>
            </a:r>
            <a:br>
              <a:rPr lang="tr-TR" sz="2600" b="1" dirty="0">
                <a:latin typeface="Aptos gövde"/>
              </a:rPr>
            </a:br>
            <a:endParaRPr lang="tr-TR" sz="2600" b="1"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a:bodyPr>
          <a:lstStyle/>
          <a:p>
            <a:pPr>
              <a:buFont typeface="Wingdings" panose="05000000000000000000" pitchFamily="2" charset="2"/>
              <a:buChar char="Ø"/>
            </a:pPr>
            <a:r>
              <a:rPr lang="tr-TR" sz="2000" dirty="0">
                <a:solidFill>
                  <a:srgbClr val="FF0000"/>
                </a:solidFill>
                <a:latin typeface="Aptos gövde"/>
              </a:rPr>
              <a:t>İşverenin genel yükümlülükleri</a:t>
            </a:r>
          </a:p>
          <a:p>
            <a:pPr marL="0" indent="0">
              <a:buNone/>
            </a:pPr>
            <a:endParaRPr lang="tr-TR" sz="2000" dirty="0">
              <a:latin typeface="Aptos gövde"/>
            </a:endParaRPr>
          </a:p>
          <a:p>
            <a:pPr marL="0" indent="0">
              <a:buNone/>
            </a:pPr>
            <a:r>
              <a:rPr lang="tr-TR" sz="2000" u="sng" dirty="0">
                <a:latin typeface="Aptos gövde"/>
              </a:rPr>
              <a:t>Sağlık ve güvenlik dokümanı hazırlanmasını ve güncellenmesini sağlanmak;</a:t>
            </a:r>
          </a:p>
          <a:p>
            <a:pPr marL="0" indent="0">
              <a:buNone/>
            </a:pPr>
            <a:r>
              <a:rPr lang="tr-TR" sz="2000" dirty="0">
                <a:latin typeface="Aptos gövde"/>
              </a:rPr>
              <a:t>    1) Çalışanların işyerinde maruz kalabilecekleri psikososyal riskler dahil olmak üzere risklerin belirlenmesi ve değerlendirilmesi.</a:t>
            </a:r>
          </a:p>
          <a:p>
            <a:pPr marL="0" indent="0">
              <a:buNone/>
            </a:pPr>
            <a:r>
              <a:rPr lang="tr-TR" sz="2000" dirty="0">
                <a:latin typeface="Aptos gövde"/>
              </a:rPr>
              <a:t>    2) Bu Yönetmelik hükümlerini yerine getirmek için alınacak uygun tedbirler ile bu Yönetmelik kapsamında hazırlanması gereken yönergelerin ve planların hazırlanması.</a:t>
            </a:r>
          </a:p>
          <a:p>
            <a:pPr marL="0" indent="0">
              <a:buNone/>
            </a:pPr>
            <a:r>
              <a:rPr lang="tr-TR" sz="2000" dirty="0">
                <a:latin typeface="Aptos gövde"/>
              </a:rPr>
              <a:t>    3) Çalışma yerlerinin ve ekipmanın güvenli şekilde düzenlenmesi, kullanılması ve bakımının yapılması.</a:t>
            </a:r>
          </a:p>
          <a:p>
            <a:pPr marL="0" indent="0">
              <a:buNone/>
            </a:pPr>
            <a:endParaRPr lang="tr-TR" sz="2000" dirty="0">
              <a:latin typeface="Aptos gövde"/>
            </a:endParaRPr>
          </a:p>
          <a:p>
            <a:pPr marL="0" indent="0">
              <a:buNone/>
            </a:pPr>
            <a:r>
              <a:rPr lang="tr-TR" sz="2000" u="sng" dirty="0">
                <a:latin typeface="Aptos gövde"/>
              </a:rPr>
              <a:t>Kanunun 14. maddesi uyarınca gerekli kayıt ve bildirimleri yapmak.</a:t>
            </a:r>
          </a:p>
          <a:p>
            <a:pPr marL="0" indent="0">
              <a:buNone/>
            </a:pPr>
            <a:endParaRPr lang="tr-TR" sz="2000" dirty="0">
              <a:latin typeface="Aptos gövde"/>
            </a:endParaRPr>
          </a:p>
        </p:txBody>
      </p:sp>
    </p:spTree>
    <p:extLst>
      <p:ext uri="{BB962C8B-B14F-4D97-AF65-F5344CB8AC3E}">
        <p14:creationId xmlns:p14="http://schemas.microsoft.com/office/powerpoint/2010/main" val="1583390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fontScale="90000"/>
          </a:bodyPr>
          <a:lstStyle/>
          <a:p>
            <a:r>
              <a:rPr lang="tr-TR" sz="2600" b="1" dirty="0">
                <a:latin typeface="Aptos gövde"/>
              </a:rPr>
              <a:t/>
            </a:r>
            <a:br>
              <a:rPr lang="tr-TR" sz="2600" b="1" dirty="0">
                <a:latin typeface="Aptos gövde"/>
              </a:rPr>
            </a:br>
            <a:r>
              <a:rPr lang="tr-TR" b="1" dirty="0">
                <a:latin typeface="Aptos gövde"/>
              </a:rPr>
              <a:t>İSG mevzuatı ve hukuki sorumluluklar</a:t>
            </a:r>
            <a:r>
              <a:rPr lang="tr-TR" sz="2600" b="1" dirty="0">
                <a:latin typeface="Aptos gövde"/>
              </a:rPr>
              <a:t/>
            </a:r>
            <a:br>
              <a:rPr lang="tr-TR" sz="2600" b="1" dirty="0">
                <a:latin typeface="Aptos gövde"/>
              </a:rPr>
            </a:br>
            <a:endParaRPr lang="tr-TR" sz="2600" b="1"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a:bodyPr>
          <a:lstStyle/>
          <a:p>
            <a:pPr>
              <a:buFont typeface="Wingdings" panose="05000000000000000000" pitchFamily="2" charset="2"/>
              <a:buChar char="Ø"/>
            </a:pPr>
            <a:r>
              <a:rPr lang="tr-TR" sz="2000" dirty="0">
                <a:solidFill>
                  <a:srgbClr val="FF0000"/>
                </a:solidFill>
                <a:latin typeface="Aptos gövde"/>
              </a:rPr>
              <a:t>İşverenin genel yükümlülükleri</a:t>
            </a:r>
          </a:p>
          <a:p>
            <a:pPr marL="0" indent="0">
              <a:buNone/>
            </a:pPr>
            <a:endParaRPr lang="tr-TR" sz="2000" dirty="0">
              <a:latin typeface="Aptos gövde"/>
            </a:endParaRPr>
          </a:p>
          <a:p>
            <a:pPr marL="0" indent="0">
              <a:buNone/>
            </a:pPr>
            <a:r>
              <a:rPr lang="tr-TR" sz="2000" dirty="0">
                <a:latin typeface="Aptos gövde"/>
              </a:rPr>
              <a:t>   - </a:t>
            </a:r>
            <a:r>
              <a:rPr lang="tr-TR" sz="2000" b="1" dirty="0">
                <a:latin typeface="Aptos gövde"/>
              </a:rPr>
              <a:t>Patlama ve yangın </a:t>
            </a:r>
            <a:r>
              <a:rPr lang="tr-TR" sz="2000" dirty="0">
                <a:latin typeface="Aptos gövde"/>
              </a:rPr>
              <a:t>çıkmasını ve bunların olumsuz etkilerini önlemek üzere, patlayıcı ve sağlığa zararlı ortam havasının (</a:t>
            </a:r>
            <a:r>
              <a:rPr lang="tr-TR" sz="2000" b="1" dirty="0">
                <a:latin typeface="Aptos gövde"/>
              </a:rPr>
              <a:t>havalandırma</a:t>
            </a:r>
            <a:r>
              <a:rPr lang="tr-TR" sz="2000" dirty="0">
                <a:latin typeface="Aptos gövde"/>
              </a:rPr>
              <a:t>) oluşmasını önlemek, </a:t>
            </a:r>
          </a:p>
          <a:p>
            <a:pPr marL="0" indent="0">
              <a:buNone/>
            </a:pPr>
            <a:r>
              <a:rPr lang="tr-TR" sz="2000" dirty="0">
                <a:latin typeface="Aptos gövde"/>
              </a:rPr>
              <a:t>    Eğer bunu yapmak mümkün değilse; patlayıcı ortamın tutuşmasını önlemek, </a:t>
            </a:r>
          </a:p>
          <a:p>
            <a:pPr marL="0" indent="0">
              <a:buNone/>
            </a:pPr>
            <a:r>
              <a:rPr lang="tr-TR" sz="2000" dirty="0">
                <a:latin typeface="Aptos gövde"/>
              </a:rPr>
              <a:t>                                                                      patlama ve yangın başlangıçlarını tespit etmek, </a:t>
            </a:r>
          </a:p>
          <a:p>
            <a:pPr marL="0" indent="0">
              <a:buNone/>
            </a:pPr>
            <a:r>
              <a:rPr lang="tr-TR" sz="2000" dirty="0">
                <a:latin typeface="Aptos gövde"/>
              </a:rPr>
              <a:t>                                                                      yayılmasını önlemek için uygun tedbirler almak.</a:t>
            </a:r>
          </a:p>
          <a:p>
            <a:pPr marL="0" indent="0">
              <a:buNone/>
            </a:pPr>
            <a:r>
              <a:rPr lang="tr-TR" sz="2000" dirty="0">
                <a:latin typeface="Aptos gövde"/>
              </a:rPr>
              <a:t>  - Bir tehlike anında çalışanların çalışma yerlerini en kısa zamanda ve güvenli bir şekilde terk edebilmeleri için uygun </a:t>
            </a:r>
            <a:r>
              <a:rPr lang="tr-TR" sz="2000" b="1" dirty="0">
                <a:latin typeface="Aptos gövde"/>
              </a:rPr>
              <a:t>kaçış ve kurtarma araçlarını </a:t>
            </a:r>
            <a:r>
              <a:rPr lang="tr-TR" sz="2000" dirty="0">
                <a:latin typeface="Aptos gövde"/>
              </a:rPr>
              <a:t>sağlamak ve kullanıma hazır bulundurmak.</a:t>
            </a:r>
          </a:p>
          <a:p>
            <a:pPr marL="0" indent="0">
              <a:buNone/>
            </a:pPr>
            <a:r>
              <a:rPr lang="tr-TR" sz="2000" dirty="0">
                <a:latin typeface="Aptos gövde"/>
              </a:rPr>
              <a:t>  - İşyerinin bütününde gerekli </a:t>
            </a:r>
            <a:r>
              <a:rPr lang="tr-TR" sz="2000" b="1" dirty="0">
                <a:latin typeface="Aptos gövde"/>
              </a:rPr>
              <a:t>haberleşme ve iletişim </a:t>
            </a:r>
            <a:r>
              <a:rPr lang="tr-TR" sz="2000" dirty="0">
                <a:latin typeface="Aptos gövde"/>
              </a:rPr>
              <a:t>sistemini kurmak.</a:t>
            </a:r>
          </a:p>
        </p:txBody>
      </p:sp>
    </p:spTree>
    <p:extLst>
      <p:ext uri="{BB962C8B-B14F-4D97-AF65-F5344CB8AC3E}">
        <p14:creationId xmlns:p14="http://schemas.microsoft.com/office/powerpoint/2010/main" val="1170324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fontScale="90000"/>
          </a:bodyPr>
          <a:lstStyle/>
          <a:p>
            <a:r>
              <a:rPr lang="tr-TR" sz="2600" b="1" dirty="0">
                <a:latin typeface="Aptos gövde"/>
              </a:rPr>
              <a:t/>
            </a:r>
            <a:br>
              <a:rPr lang="tr-TR" sz="2600" b="1" dirty="0">
                <a:latin typeface="Aptos gövde"/>
              </a:rPr>
            </a:br>
            <a:r>
              <a:rPr lang="tr-TR" sz="4000" b="1" dirty="0">
                <a:latin typeface="Aptos gövde"/>
              </a:rPr>
              <a:t>İSG mevzuatı ve hukuki sorumluluklar</a:t>
            </a:r>
            <a:br>
              <a:rPr lang="tr-TR" sz="4000" b="1" dirty="0">
                <a:latin typeface="Aptos gövde"/>
              </a:rPr>
            </a:br>
            <a:endParaRPr lang="tr-TR" sz="4000" b="1"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729808"/>
          </a:xfrm>
        </p:spPr>
        <p:txBody>
          <a:bodyPr>
            <a:noAutofit/>
          </a:bodyPr>
          <a:lstStyle/>
          <a:p>
            <a:pPr>
              <a:buFont typeface="Wingdings" panose="05000000000000000000" pitchFamily="2" charset="2"/>
              <a:buChar char="Ø"/>
            </a:pPr>
            <a:r>
              <a:rPr lang="tr-TR" sz="2000" dirty="0">
                <a:solidFill>
                  <a:srgbClr val="FF0000"/>
                </a:solidFill>
                <a:latin typeface="Aptos gövde"/>
              </a:rPr>
              <a:t>Çalışanların yükümlülükleri</a:t>
            </a:r>
          </a:p>
          <a:p>
            <a:pPr marL="0" indent="0">
              <a:buNone/>
            </a:pPr>
            <a:endParaRPr lang="tr-TR" sz="2000" dirty="0">
              <a:solidFill>
                <a:srgbClr val="FF0000"/>
              </a:solidFill>
              <a:latin typeface="Aptos gövde"/>
            </a:endParaRPr>
          </a:p>
          <a:p>
            <a:pPr marL="0" indent="0">
              <a:buNone/>
            </a:pPr>
            <a:r>
              <a:rPr lang="tr-TR" sz="2000" dirty="0">
                <a:latin typeface="Aptos gövde"/>
              </a:rPr>
              <a:t>    Çalışanlar, iş sağlığı ve güvenliği bakımından, ilgili mevzuatın öngördüğü esaslara ve işverenin buna uygun olarak vereceği emir ve talimata uymak zorundadırlar.</a:t>
            </a:r>
          </a:p>
          <a:p>
            <a:pPr marL="0" indent="0">
              <a:buNone/>
            </a:pPr>
            <a:endParaRPr lang="tr-TR" sz="2000" dirty="0">
              <a:latin typeface="Aptos gövde"/>
            </a:endParaRPr>
          </a:p>
          <a:p>
            <a:pPr marL="0" indent="0">
              <a:buNone/>
            </a:pPr>
            <a:r>
              <a:rPr lang="tr-TR" sz="2000" dirty="0">
                <a:latin typeface="Aptos gövde"/>
              </a:rPr>
              <a:t> - Çalışanlar veya temsilcileri, işyerinde sağlık ve güvenlikle ilgili alınması gereken tüm tedbirler (</a:t>
            </a:r>
            <a:r>
              <a:rPr lang="tr-TR" sz="2000" b="1" dirty="0">
                <a:latin typeface="Aptos gövde"/>
              </a:rPr>
              <a:t>patlama, yangın, zararlı ortam oluşması, kaçış ve kurtarma araçları</a:t>
            </a:r>
            <a:r>
              <a:rPr lang="tr-TR" sz="2000" dirty="0">
                <a:latin typeface="Aptos gövde"/>
              </a:rPr>
              <a:t>) ve uygulanması hakkında bilgilendirilir.</a:t>
            </a:r>
          </a:p>
          <a:p>
            <a:pPr marL="0" indent="0">
              <a:buNone/>
            </a:pPr>
            <a:r>
              <a:rPr lang="tr-TR" sz="2000" dirty="0">
                <a:latin typeface="Aptos gövde"/>
              </a:rPr>
              <a:t> - Yapmakta oldukları işlerde maruz kaldıkları sağlık ve güvenlik risklerine uygun olarak sağlık gözetimine tabi tutulmaları sağlanır.</a:t>
            </a:r>
          </a:p>
          <a:p>
            <a:pPr marL="0" indent="0">
              <a:buNone/>
            </a:pPr>
            <a:r>
              <a:rPr lang="tr-TR" sz="2000" dirty="0">
                <a:latin typeface="Aptos gövde"/>
              </a:rPr>
              <a:t> - İşe girişlerinde ve işin devamı süresince periyodik olarak sağlık gözetimleri yapılır.</a:t>
            </a:r>
          </a:p>
          <a:p>
            <a:pPr marL="0" indent="0">
              <a:buNone/>
            </a:pPr>
            <a:r>
              <a:rPr lang="tr-TR" sz="2000" dirty="0">
                <a:latin typeface="Aptos gövde"/>
              </a:rPr>
              <a:t> - İşveren, Maden İşyerlerinde İSG Yönetmeliği'nde belirtilen konularda Kanun'un 18. maddesine uygun olarak çalışanların veya temsilcilerinin görüşlerini alır ve katılımlarını sağlar.</a:t>
            </a:r>
          </a:p>
        </p:txBody>
      </p:sp>
    </p:spTree>
    <p:extLst>
      <p:ext uri="{BB962C8B-B14F-4D97-AF65-F5344CB8AC3E}">
        <p14:creationId xmlns:p14="http://schemas.microsoft.com/office/powerpoint/2010/main" val="241783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572493" y="238539"/>
            <a:ext cx="11018520" cy="1434415"/>
          </a:xfrm>
        </p:spPr>
        <p:txBody>
          <a:bodyPr anchor="b">
            <a:normAutofit fontScale="90000"/>
          </a:bodyPr>
          <a:lstStyle/>
          <a:p>
            <a:r>
              <a:rPr lang="tr-TR" sz="3000" b="1" dirty="0">
                <a:latin typeface="Aptos gövde"/>
              </a:rPr>
              <a:t/>
            </a:r>
            <a:br>
              <a:rPr lang="tr-TR" sz="3000" b="1" dirty="0">
                <a:latin typeface="Aptos gövde"/>
              </a:rPr>
            </a:br>
            <a:r>
              <a:rPr lang="tr-TR" b="1" dirty="0">
                <a:latin typeface="Aptos gövde"/>
              </a:rPr>
              <a:t>Maden Ocakları</a:t>
            </a:r>
            <a:r>
              <a:rPr lang="tr-TR" sz="3000" b="1" dirty="0">
                <a:latin typeface="Aptos gövde"/>
              </a:rPr>
              <a:t/>
            </a:r>
            <a:br>
              <a:rPr lang="tr-TR" sz="3000" b="1" dirty="0">
                <a:latin typeface="Aptos gövde"/>
              </a:rPr>
            </a:br>
            <a:endParaRPr lang="tr-TR" sz="3000" b="1" dirty="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572493" y="2071316"/>
            <a:ext cx="6713552" cy="4119172"/>
          </a:xfrm>
        </p:spPr>
        <p:txBody>
          <a:bodyPr anchor="t">
            <a:normAutofit/>
          </a:bodyPr>
          <a:lstStyle/>
          <a:p>
            <a:pPr marL="0" indent="0">
              <a:buNone/>
            </a:pPr>
            <a:r>
              <a:rPr lang="tr-TR" sz="2000" u="sng" dirty="0">
                <a:latin typeface="Aptos gövde"/>
              </a:rPr>
              <a:t>Riskler ;</a:t>
            </a:r>
          </a:p>
          <a:p>
            <a:r>
              <a:rPr lang="tr-TR" sz="2000" dirty="0">
                <a:latin typeface="Aptos gövde"/>
              </a:rPr>
              <a:t>Metan (CH₄), CO gibi </a:t>
            </a:r>
            <a:r>
              <a:rPr lang="tr-TR" sz="2000" b="1" dirty="0">
                <a:latin typeface="Aptos gövde"/>
              </a:rPr>
              <a:t>gazların</a:t>
            </a:r>
            <a:r>
              <a:rPr lang="tr-TR" sz="2000" dirty="0">
                <a:latin typeface="Aptos gövde"/>
              </a:rPr>
              <a:t> oluşması,</a:t>
            </a:r>
          </a:p>
          <a:p>
            <a:r>
              <a:rPr lang="tr-TR" sz="2000" b="1" dirty="0">
                <a:latin typeface="Aptos gövde"/>
              </a:rPr>
              <a:t>Yangın ve Patlama (grizu)</a:t>
            </a:r>
            <a:r>
              <a:rPr lang="tr-TR" sz="2000" dirty="0">
                <a:latin typeface="Aptos gövde"/>
              </a:rPr>
              <a:t>,</a:t>
            </a:r>
          </a:p>
          <a:p>
            <a:r>
              <a:rPr lang="tr-TR" sz="2000" b="1" dirty="0">
                <a:latin typeface="Aptos gövde"/>
              </a:rPr>
              <a:t>Göçük </a:t>
            </a:r>
            <a:r>
              <a:rPr lang="tr-TR" sz="2000" dirty="0">
                <a:latin typeface="Aptos gövde"/>
              </a:rPr>
              <a:t>tehlikesi,</a:t>
            </a:r>
          </a:p>
          <a:p>
            <a:r>
              <a:rPr lang="tr-TR" sz="2000" b="1" dirty="0">
                <a:latin typeface="Aptos gövde"/>
              </a:rPr>
              <a:t>Toz</a:t>
            </a:r>
            <a:r>
              <a:rPr lang="tr-TR" sz="2000" dirty="0">
                <a:latin typeface="Aptos gövde"/>
              </a:rPr>
              <a:t> oluşumu,</a:t>
            </a:r>
          </a:p>
          <a:p>
            <a:pPr marL="0" indent="0">
              <a:buNone/>
            </a:pPr>
            <a:endParaRPr lang="tr-TR" sz="2000" dirty="0">
              <a:latin typeface="Aptos gövde"/>
            </a:endParaRPr>
          </a:p>
          <a:p>
            <a:pPr marL="0" indent="0">
              <a:buNone/>
            </a:pPr>
            <a:r>
              <a:rPr lang="tr-TR" sz="2000" u="sng" dirty="0">
                <a:latin typeface="Aptos gövde"/>
              </a:rPr>
              <a:t>Yapılması gerekenler;</a:t>
            </a:r>
          </a:p>
          <a:p>
            <a:r>
              <a:rPr lang="tr-TR" sz="2000" b="1" dirty="0">
                <a:latin typeface="Aptos gövde"/>
              </a:rPr>
              <a:t>Kaçış yolları </a:t>
            </a:r>
            <a:r>
              <a:rPr lang="tr-TR" sz="2000" dirty="0">
                <a:latin typeface="Aptos gövde"/>
              </a:rPr>
              <a:t>ve </a:t>
            </a:r>
            <a:r>
              <a:rPr lang="tr-TR" sz="2000" b="1" dirty="0">
                <a:latin typeface="Aptos gövde"/>
              </a:rPr>
              <a:t>kurtarma planlarını </a:t>
            </a:r>
            <a:r>
              <a:rPr lang="tr-TR" sz="2000" dirty="0">
                <a:latin typeface="Aptos gövde"/>
              </a:rPr>
              <a:t>oluşturmak. </a:t>
            </a:r>
          </a:p>
          <a:p>
            <a:r>
              <a:rPr lang="tr-TR" sz="2000" b="1" dirty="0">
                <a:latin typeface="Aptos gövde"/>
              </a:rPr>
              <a:t>Havalandırma sistemini </a:t>
            </a:r>
            <a:r>
              <a:rPr lang="tr-TR" sz="2000" dirty="0">
                <a:latin typeface="Aptos gövde"/>
              </a:rPr>
              <a:t>kurmak ve sürekli çalışır vaziyette tutmak.</a:t>
            </a:r>
          </a:p>
          <a:p>
            <a:pPr marL="0" indent="0">
              <a:buNone/>
            </a:pPr>
            <a:endParaRPr lang="tr-TR" sz="2000" dirty="0">
              <a:latin typeface="Aptos gövde"/>
            </a:endParaRPr>
          </a:p>
        </p:txBody>
      </p:sp>
      <p:pic>
        <p:nvPicPr>
          <p:cNvPr id="5" name="Resim 4">
            <a:extLst>
              <a:ext uri="{FF2B5EF4-FFF2-40B4-BE49-F238E27FC236}">
                <a16:creationId xmlns:a16="http://schemas.microsoft.com/office/drawing/2014/main" id="{10438A0F-6738-C7CF-F753-0D0B5152CBA4}"/>
              </a:ext>
            </a:extLst>
          </p:cNvPr>
          <p:cNvPicPr>
            <a:picLocks noChangeAspect="1"/>
          </p:cNvPicPr>
          <p:nvPr/>
        </p:nvPicPr>
        <p:blipFill>
          <a:blip r:embed="rId3"/>
          <a:srcRect l="34703" r="1142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5653755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43AA782-23D1-4521-8CAD-47662984AA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630936" y="640080"/>
            <a:ext cx="4818888" cy="1481328"/>
          </a:xfrm>
        </p:spPr>
        <p:txBody>
          <a:bodyPr anchor="b">
            <a:normAutofit/>
          </a:bodyPr>
          <a:lstStyle/>
          <a:p>
            <a:r>
              <a:rPr lang="tr-TR" sz="4000" b="1" dirty="0">
                <a:latin typeface="Aptos gövde"/>
              </a:rPr>
              <a:t>Maden ocaklarında yeraltı işleri</a:t>
            </a:r>
          </a:p>
        </p:txBody>
      </p:sp>
      <p:sp>
        <p:nvSpPr>
          <p:cNvPr id="17"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630936" y="2660904"/>
            <a:ext cx="4818888" cy="3547872"/>
          </a:xfrm>
        </p:spPr>
        <p:txBody>
          <a:bodyPr anchor="t">
            <a:normAutofit/>
          </a:bodyPr>
          <a:lstStyle/>
          <a:p>
            <a:pPr marL="0" indent="0">
              <a:buNone/>
            </a:pPr>
            <a:r>
              <a:rPr lang="tr-TR" sz="2200" dirty="0">
                <a:latin typeface="Aptos gövde"/>
              </a:rPr>
              <a:t>   </a:t>
            </a:r>
            <a:r>
              <a:rPr lang="tr-TR" sz="2000" dirty="0">
                <a:latin typeface="Aptos gövde"/>
              </a:rPr>
              <a:t>Maden ocaklarında yeraltı işleri, </a:t>
            </a:r>
            <a:r>
              <a:rPr lang="tr-TR" sz="2000" u="sng" dirty="0">
                <a:latin typeface="Aptos gövde"/>
              </a:rPr>
              <a:t>kömür veya cevher çıkarmak </a:t>
            </a:r>
            <a:r>
              <a:rPr lang="tr-TR" sz="2000" dirty="0">
                <a:latin typeface="Aptos gövde"/>
              </a:rPr>
              <a:t>için yerin altında galeri, tünel ve kuyular aracılığıyla yürütülen tehlikeli faaliyetlerdir. </a:t>
            </a:r>
          </a:p>
          <a:p>
            <a:pPr marL="0" indent="0">
              <a:buNone/>
            </a:pPr>
            <a:r>
              <a:rPr lang="tr-TR" sz="2000" dirty="0">
                <a:latin typeface="Aptos gövde"/>
              </a:rPr>
              <a:t>   Bu işler; delme-patlatma, </a:t>
            </a:r>
            <a:r>
              <a:rPr lang="tr-TR" sz="2000" u="sng" dirty="0">
                <a:latin typeface="Aptos gövde"/>
              </a:rPr>
              <a:t>tahkimat </a:t>
            </a:r>
            <a:r>
              <a:rPr lang="tr-TR" sz="2000" dirty="0">
                <a:latin typeface="Aptos gövde"/>
              </a:rPr>
              <a:t>(destekleme), havalandırma, nakliyat ve cevher üretimi süreçlerini içerir. </a:t>
            </a:r>
          </a:p>
          <a:p>
            <a:pPr marL="0" indent="0">
              <a:buNone/>
            </a:pPr>
            <a:r>
              <a:rPr lang="tr-TR" sz="2000" dirty="0">
                <a:latin typeface="Aptos gövde"/>
              </a:rPr>
              <a:t>   Yüksek </a:t>
            </a:r>
            <a:r>
              <a:rPr lang="tr-TR" sz="2000" b="1" dirty="0">
                <a:latin typeface="Aptos gövde"/>
              </a:rPr>
              <a:t>metan gazı ve göçük riski </a:t>
            </a:r>
            <a:r>
              <a:rPr lang="tr-TR" sz="2000" dirty="0">
                <a:latin typeface="Aptos gövde"/>
              </a:rPr>
              <a:t>nedeniyle ciddi bir şekilde  iş sağlığı ve güvenliği önlemleri uygulanır.</a:t>
            </a:r>
          </a:p>
        </p:txBody>
      </p:sp>
      <p:pic>
        <p:nvPicPr>
          <p:cNvPr id="5" name="Resim 4">
            <a:extLst>
              <a:ext uri="{FF2B5EF4-FFF2-40B4-BE49-F238E27FC236}">
                <a16:creationId xmlns:a16="http://schemas.microsoft.com/office/drawing/2014/main" id="{08A920F4-488F-3C8D-5D52-4DA5276E4AE0}"/>
              </a:ext>
            </a:extLst>
          </p:cNvPr>
          <p:cNvPicPr>
            <a:picLocks noChangeAspect="1"/>
          </p:cNvPicPr>
          <p:nvPr/>
        </p:nvPicPr>
        <p:blipFill>
          <a:blip r:embed="rId2"/>
          <a:stretch>
            <a:fillRect/>
          </a:stretch>
        </p:blipFill>
        <p:spPr>
          <a:xfrm>
            <a:off x="6099048" y="1651890"/>
            <a:ext cx="5458968" cy="3554220"/>
          </a:xfrm>
          <a:prstGeom prst="rect">
            <a:avLst/>
          </a:prstGeom>
        </p:spPr>
      </p:pic>
    </p:spTree>
    <p:extLst>
      <p:ext uri="{BB962C8B-B14F-4D97-AF65-F5344CB8AC3E}">
        <p14:creationId xmlns:p14="http://schemas.microsoft.com/office/powerpoint/2010/main" val="4018607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3E53FD-4F0E-1273-DADC-5EE439102FF0}"/>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78FDEFA-B418-E22D-C2E9-86FCC65004C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7BB879F0-711C-9365-6A7F-324F44694DC2}"/>
              </a:ext>
            </a:extLst>
          </p:cNvPr>
          <p:cNvSpPr>
            <a:spLocks noGrp="1"/>
          </p:cNvSpPr>
          <p:nvPr>
            <p:ph type="title"/>
          </p:nvPr>
        </p:nvSpPr>
        <p:spPr>
          <a:xfrm>
            <a:off x="630936" y="640080"/>
            <a:ext cx="4818888" cy="1481328"/>
          </a:xfrm>
        </p:spPr>
        <p:txBody>
          <a:bodyPr anchor="b">
            <a:normAutofit/>
          </a:bodyPr>
          <a:lstStyle/>
          <a:p>
            <a:r>
              <a:rPr lang="tr-TR" sz="4000" b="1" dirty="0">
                <a:latin typeface="Aptos gövde"/>
              </a:rPr>
              <a:t>Maden ocaklarında yeraltı işleri</a:t>
            </a:r>
          </a:p>
        </p:txBody>
      </p:sp>
      <p:sp>
        <p:nvSpPr>
          <p:cNvPr id="17" name="sketch line">
            <a:extLst>
              <a:ext uri="{FF2B5EF4-FFF2-40B4-BE49-F238E27FC236}">
                <a16:creationId xmlns:a16="http://schemas.microsoft.com/office/drawing/2014/main" id="{193A9A5B-BFE4-DAF7-A566-D2FDA2E9196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E4824988-5308-A315-D5A3-C4763617E325}"/>
              </a:ext>
            </a:extLst>
          </p:cNvPr>
          <p:cNvSpPr>
            <a:spLocks noGrp="1"/>
          </p:cNvSpPr>
          <p:nvPr>
            <p:ph idx="1"/>
          </p:nvPr>
        </p:nvSpPr>
        <p:spPr>
          <a:xfrm>
            <a:off x="630936" y="2660904"/>
            <a:ext cx="4818888" cy="3547872"/>
          </a:xfrm>
        </p:spPr>
        <p:txBody>
          <a:bodyPr anchor="t">
            <a:normAutofit/>
          </a:bodyPr>
          <a:lstStyle/>
          <a:p>
            <a:pPr marL="0" indent="0">
              <a:buNone/>
            </a:pPr>
            <a:r>
              <a:rPr lang="tr-TR" sz="2200" dirty="0">
                <a:latin typeface="Aptos gövde"/>
              </a:rPr>
              <a:t>   </a:t>
            </a:r>
            <a:endParaRPr lang="tr-TR" sz="2000" dirty="0">
              <a:latin typeface="Aptos gövde"/>
            </a:endParaRPr>
          </a:p>
        </p:txBody>
      </p:sp>
      <p:pic>
        <p:nvPicPr>
          <p:cNvPr id="6" name="Resim 5">
            <a:extLst>
              <a:ext uri="{FF2B5EF4-FFF2-40B4-BE49-F238E27FC236}">
                <a16:creationId xmlns:a16="http://schemas.microsoft.com/office/drawing/2014/main" id="{A9C9AC8C-6CF5-87B9-6704-F0D657689113}"/>
              </a:ext>
            </a:extLst>
          </p:cNvPr>
          <p:cNvPicPr>
            <a:picLocks noChangeAspect="1"/>
          </p:cNvPicPr>
          <p:nvPr/>
        </p:nvPicPr>
        <p:blipFill>
          <a:blip r:embed="rId2"/>
          <a:stretch>
            <a:fillRect/>
          </a:stretch>
        </p:blipFill>
        <p:spPr>
          <a:xfrm>
            <a:off x="643278" y="2855823"/>
            <a:ext cx="3681208" cy="2468967"/>
          </a:xfrm>
          <a:prstGeom prst="rect">
            <a:avLst/>
          </a:prstGeom>
        </p:spPr>
      </p:pic>
      <p:pic>
        <p:nvPicPr>
          <p:cNvPr id="8" name="Resim 7">
            <a:extLst>
              <a:ext uri="{FF2B5EF4-FFF2-40B4-BE49-F238E27FC236}">
                <a16:creationId xmlns:a16="http://schemas.microsoft.com/office/drawing/2014/main" id="{E064F013-1AE4-AA1E-DD5A-1A55CC3A395A}"/>
              </a:ext>
            </a:extLst>
          </p:cNvPr>
          <p:cNvPicPr>
            <a:picLocks noChangeAspect="1"/>
          </p:cNvPicPr>
          <p:nvPr/>
        </p:nvPicPr>
        <p:blipFill>
          <a:blip r:embed="rId3"/>
          <a:stretch>
            <a:fillRect/>
          </a:stretch>
        </p:blipFill>
        <p:spPr>
          <a:xfrm>
            <a:off x="6356555" y="1073511"/>
            <a:ext cx="3576941" cy="2363143"/>
          </a:xfrm>
          <a:prstGeom prst="rect">
            <a:avLst/>
          </a:prstGeom>
        </p:spPr>
      </p:pic>
      <p:pic>
        <p:nvPicPr>
          <p:cNvPr id="10" name="Resim 9">
            <a:extLst>
              <a:ext uri="{FF2B5EF4-FFF2-40B4-BE49-F238E27FC236}">
                <a16:creationId xmlns:a16="http://schemas.microsoft.com/office/drawing/2014/main" id="{917D7B09-A3C2-A38B-E712-49EEC5E8FFC0}"/>
              </a:ext>
            </a:extLst>
          </p:cNvPr>
          <p:cNvPicPr>
            <a:picLocks noChangeAspect="1"/>
          </p:cNvPicPr>
          <p:nvPr/>
        </p:nvPicPr>
        <p:blipFill>
          <a:blip r:embed="rId4"/>
          <a:stretch>
            <a:fillRect/>
          </a:stretch>
        </p:blipFill>
        <p:spPr>
          <a:xfrm>
            <a:off x="6356555" y="3969405"/>
            <a:ext cx="3576938" cy="2478067"/>
          </a:xfrm>
          <a:prstGeom prst="rect">
            <a:avLst/>
          </a:prstGeom>
        </p:spPr>
      </p:pic>
      <p:sp>
        <p:nvSpPr>
          <p:cNvPr id="11" name="Metin kutusu 10">
            <a:extLst>
              <a:ext uri="{FF2B5EF4-FFF2-40B4-BE49-F238E27FC236}">
                <a16:creationId xmlns:a16="http://schemas.microsoft.com/office/drawing/2014/main" id="{D8D71322-E7DD-E1A9-BE20-973BEDF5EF93}"/>
              </a:ext>
            </a:extLst>
          </p:cNvPr>
          <p:cNvSpPr txBox="1"/>
          <p:nvPr/>
        </p:nvSpPr>
        <p:spPr>
          <a:xfrm>
            <a:off x="848828" y="5441970"/>
            <a:ext cx="2945873" cy="369332"/>
          </a:xfrm>
          <a:prstGeom prst="rect">
            <a:avLst/>
          </a:prstGeom>
          <a:noFill/>
        </p:spPr>
        <p:txBody>
          <a:bodyPr wrap="square" rtlCol="0">
            <a:spAutoFit/>
          </a:bodyPr>
          <a:lstStyle/>
          <a:p>
            <a:pPr algn="ctr"/>
            <a:r>
              <a:rPr lang="tr-TR" dirty="0">
                <a:latin typeface="Aptos gövde"/>
              </a:rPr>
              <a:t>T-H bağlı Demir Tahkimat</a:t>
            </a:r>
          </a:p>
        </p:txBody>
      </p:sp>
      <p:sp>
        <p:nvSpPr>
          <p:cNvPr id="12" name="Metin kutusu 11">
            <a:extLst>
              <a:ext uri="{FF2B5EF4-FFF2-40B4-BE49-F238E27FC236}">
                <a16:creationId xmlns:a16="http://schemas.microsoft.com/office/drawing/2014/main" id="{E96AC234-0274-031E-59D3-094976730AD6}"/>
              </a:ext>
            </a:extLst>
          </p:cNvPr>
          <p:cNvSpPr txBox="1"/>
          <p:nvPr/>
        </p:nvSpPr>
        <p:spPr>
          <a:xfrm>
            <a:off x="9984817" y="1752076"/>
            <a:ext cx="1710813" cy="369332"/>
          </a:xfrm>
          <a:prstGeom prst="rect">
            <a:avLst/>
          </a:prstGeom>
          <a:noFill/>
        </p:spPr>
        <p:txBody>
          <a:bodyPr wrap="square" rtlCol="0">
            <a:spAutoFit/>
          </a:bodyPr>
          <a:lstStyle/>
          <a:p>
            <a:pPr algn="ctr"/>
            <a:r>
              <a:rPr lang="tr-TR" dirty="0">
                <a:latin typeface="Aptos gövde"/>
              </a:rPr>
              <a:t>Çelik Tahkimat</a:t>
            </a:r>
          </a:p>
        </p:txBody>
      </p:sp>
      <p:sp>
        <p:nvSpPr>
          <p:cNvPr id="13" name="Metin kutusu 12">
            <a:extLst>
              <a:ext uri="{FF2B5EF4-FFF2-40B4-BE49-F238E27FC236}">
                <a16:creationId xmlns:a16="http://schemas.microsoft.com/office/drawing/2014/main" id="{468EE76B-CB92-A68F-B448-A2B68B96CEE4}"/>
              </a:ext>
            </a:extLst>
          </p:cNvPr>
          <p:cNvSpPr txBox="1"/>
          <p:nvPr/>
        </p:nvSpPr>
        <p:spPr>
          <a:xfrm>
            <a:off x="9984817" y="4955458"/>
            <a:ext cx="1710813" cy="369332"/>
          </a:xfrm>
          <a:prstGeom prst="rect">
            <a:avLst/>
          </a:prstGeom>
          <a:noFill/>
        </p:spPr>
        <p:txBody>
          <a:bodyPr wrap="square" rtlCol="0">
            <a:spAutoFit/>
          </a:bodyPr>
          <a:lstStyle/>
          <a:p>
            <a:pPr algn="ctr"/>
            <a:r>
              <a:rPr lang="tr-TR" dirty="0">
                <a:latin typeface="Aptos gövde"/>
              </a:rPr>
              <a:t>Ağaç Tahkimat</a:t>
            </a:r>
          </a:p>
        </p:txBody>
      </p:sp>
    </p:spTree>
    <p:extLst>
      <p:ext uri="{BB962C8B-B14F-4D97-AF65-F5344CB8AC3E}">
        <p14:creationId xmlns:p14="http://schemas.microsoft.com/office/powerpoint/2010/main" val="3477295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idx="1"/>
          </p:nvPr>
        </p:nvPicPr>
        <p:blipFill>
          <a:blip r:embed="rId3"/>
          <a:stretch>
            <a:fillRect/>
          </a:stretch>
        </p:blipFill>
        <p:spPr>
          <a:xfrm>
            <a:off x="231335" y="1312074"/>
            <a:ext cx="7510261" cy="5006840"/>
          </a:xfrm>
          <a:prstGeom prst="rect">
            <a:avLst/>
          </a:prstGeom>
        </p:spPr>
      </p:pic>
      <p:pic>
        <p:nvPicPr>
          <p:cNvPr id="5" name="Resim 4"/>
          <p:cNvPicPr>
            <a:picLocks noChangeAspect="1"/>
          </p:cNvPicPr>
          <p:nvPr/>
        </p:nvPicPr>
        <p:blipFill rotWithShape="1">
          <a:blip r:embed="rId4"/>
          <a:srcRect l="50534"/>
          <a:stretch/>
        </p:blipFill>
        <p:spPr>
          <a:xfrm>
            <a:off x="7950957" y="245660"/>
            <a:ext cx="3990833" cy="6454325"/>
          </a:xfrm>
          <a:prstGeom prst="rect">
            <a:avLst/>
          </a:prstGeom>
        </p:spPr>
      </p:pic>
    </p:spTree>
    <p:extLst>
      <p:ext uri="{BB962C8B-B14F-4D97-AF65-F5344CB8AC3E}">
        <p14:creationId xmlns:p14="http://schemas.microsoft.com/office/powerpoint/2010/main" val="3906734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çerik Yer Tutucusu 3"/>
          <p:cNvPicPr>
            <a:picLocks noGrp="1" noChangeAspect="1"/>
          </p:cNvPicPr>
          <p:nvPr>
            <p:ph idx="1"/>
          </p:nvPr>
        </p:nvPicPr>
        <p:blipFill>
          <a:blip r:embed="rId2"/>
          <a:stretch>
            <a:fillRect/>
          </a:stretch>
        </p:blipFill>
        <p:spPr>
          <a:xfrm>
            <a:off x="2213335" y="115809"/>
            <a:ext cx="6845636" cy="5999692"/>
          </a:xfrm>
          <a:prstGeom prst="rect">
            <a:avLst/>
          </a:prstGeom>
          <a:ln>
            <a:noFill/>
          </a:ln>
        </p:spPr>
      </p:pic>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2727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EB3FE12-2AB8-0FEF-56AE-5826FE284B61}"/>
              </a:ext>
            </a:extLst>
          </p:cNvPr>
          <p:cNvSpPr>
            <a:spLocks noGrp="1"/>
          </p:cNvSpPr>
          <p:nvPr>
            <p:ph type="title"/>
          </p:nvPr>
        </p:nvSpPr>
        <p:spPr/>
        <p:txBody>
          <a:bodyPr/>
          <a:lstStyle/>
          <a:p>
            <a:r>
              <a:rPr lang="tr-TR" b="1" dirty="0">
                <a:latin typeface="Aptos gövde"/>
              </a:rPr>
              <a:t>Maden ocaklarında yeraltı işleri</a:t>
            </a:r>
            <a:endParaRPr lang="tr-TR" dirty="0"/>
          </a:p>
        </p:txBody>
      </p:sp>
      <p:sp>
        <p:nvSpPr>
          <p:cNvPr id="3" name="İçerik Yer Tutucusu 2">
            <a:extLst>
              <a:ext uri="{FF2B5EF4-FFF2-40B4-BE49-F238E27FC236}">
                <a16:creationId xmlns:a16="http://schemas.microsoft.com/office/drawing/2014/main" id="{B7520A23-96B2-B63D-B305-C2978D538A1C}"/>
              </a:ext>
            </a:extLst>
          </p:cNvPr>
          <p:cNvSpPr>
            <a:spLocks noGrp="1"/>
          </p:cNvSpPr>
          <p:nvPr>
            <p:ph idx="1"/>
          </p:nvPr>
        </p:nvSpPr>
        <p:spPr>
          <a:xfrm>
            <a:off x="838200" y="1825625"/>
            <a:ext cx="6459245" cy="4351338"/>
          </a:xfrm>
        </p:spPr>
        <p:txBody>
          <a:bodyPr>
            <a:normAutofit fontScale="92500" lnSpcReduction="20000"/>
          </a:bodyPr>
          <a:lstStyle/>
          <a:p>
            <a:pPr>
              <a:buClr>
                <a:schemeClr val="accent2">
                  <a:lumMod val="75000"/>
                </a:schemeClr>
              </a:buClr>
              <a:buFont typeface="Wingdings" panose="05000000000000000000" pitchFamily="2" charset="2"/>
              <a:buChar char="Ø"/>
            </a:pPr>
            <a:r>
              <a:rPr lang="tr-TR" dirty="0">
                <a:latin typeface="Aptos gövde"/>
              </a:rPr>
              <a:t>   </a:t>
            </a:r>
            <a:r>
              <a:rPr lang="tr-TR" sz="2200" dirty="0">
                <a:latin typeface="Aptos gövde"/>
              </a:rPr>
              <a:t>Yeraltına girişte ilk faaliyet; güvenli bir şekilde kazı yaparak, boşluğun içinde güvenli bir şekilde çalışmayı temin edecek şekilde tahkimatının yapılmasıdır. </a:t>
            </a:r>
          </a:p>
          <a:p>
            <a:pPr>
              <a:buClr>
                <a:schemeClr val="accent2">
                  <a:lumMod val="75000"/>
                </a:schemeClr>
              </a:buClr>
              <a:buFont typeface="Wingdings" panose="05000000000000000000" pitchFamily="2" charset="2"/>
              <a:buChar char="Ø"/>
            </a:pPr>
            <a:r>
              <a:rPr lang="tr-TR" sz="2200" dirty="0">
                <a:latin typeface="Aptos gövde"/>
              </a:rPr>
              <a:t>   Madencilik faaliyetleri yer üstünden uzaklaştıkça da, havalandırma, su atımı, nakliyat vb. diğer ihtiyaçlar iş güvenliği açısından önem kazanmaya başlar.</a:t>
            </a:r>
          </a:p>
          <a:p>
            <a:pPr>
              <a:buClr>
                <a:schemeClr val="accent2">
                  <a:lumMod val="75000"/>
                </a:schemeClr>
              </a:buClr>
              <a:buFont typeface="Wingdings" panose="05000000000000000000" pitchFamily="2" charset="2"/>
              <a:buChar char="Ø"/>
            </a:pPr>
            <a:r>
              <a:rPr lang="tr-TR" sz="2200" dirty="0">
                <a:latin typeface="Aptos gövde"/>
              </a:rPr>
              <a:t>   Madencilik faaliyetlerinin gerektirdiği makine ve ekipmanın ihtiyaç duyduğu enerjinin, işyerlerine sağlıklı ve güvenli bir şekilde iletilmesi için nakil ve dağıtım sistemlerinin projelendirilmesi de önem kazanmaktadır.</a:t>
            </a:r>
          </a:p>
          <a:p>
            <a:pPr>
              <a:buClr>
                <a:schemeClr val="accent2">
                  <a:lumMod val="75000"/>
                </a:schemeClr>
              </a:buClr>
              <a:buFont typeface="Wingdings" panose="05000000000000000000" pitchFamily="2" charset="2"/>
              <a:buChar char="Ø"/>
            </a:pPr>
            <a:r>
              <a:rPr lang="tr-TR" sz="2200" dirty="0">
                <a:latin typeface="Aptos gövde"/>
              </a:rPr>
              <a:t>   Yeraltı su geliri ve kullanma suyundan kaynaklanacak su miktarlarına göre su havuzları, tulumbalar ve su atım şebekesinin tasarımı yapılmalıdır.</a:t>
            </a:r>
          </a:p>
        </p:txBody>
      </p:sp>
      <p:pic>
        <p:nvPicPr>
          <p:cNvPr id="4" name="Resim 3"/>
          <p:cNvPicPr>
            <a:picLocks noChangeAspect="1"/>
          </p:cNvPicPr>
          <p:nvPr/>
        </p:nvPicPr>
        <p:blipFill>
          <a:blip r:embed="rId2"/>
          <a:stretch>
            <a:fillRect/>
          </a:stretch>
        </p:blipFill>
        <p:spPr>
          <a:xfrm>
            <a:off x="7380213" y="2171854"/>
            <a:ext cx="4680471" cy="3128115"/>
          </a:xfrm>
          <a:prstGeom prst="rect">
            <a:avLst/>
          </a:prstGeom>
        </p:spPr>
      </p:pic>
    </p:spTree>
    <p:extLst>
      <p:ext uri="{BB962C8B-B14F-4D97-AF65-F5344CB8AC3E}">
        <p14:creationId xmlns:p14="http://schemas.microsoft.com/office/powerpoint/2010/main" val="2738263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D50486A6-ECBA-82BC-DF91-6525D5AD79D8}"/>
              </a:ext>
            </a:extLst>
          </p:cNvPr>
          <p:cNvSpPr>
            <a:spLocks noGrp="1"/>
          </p:cNvSpPr>
          <p:nvPr>
            <p:ph type="title"/>
          </p:nvPr>
        </p:nvSpPr>
        <p:spPr>
          <a:xfrm>
            <a:off x="630936" y="640080"/>
            <a:ext cx="4818888" cy="1481328"/>
          </a:xfrm>
        </p:spPr>
        <p:txBody>
          <a:bodyPr anchor="b">
            <a:normAutofit fontScale="90000"/>
          </a:bodyPr>
          <a:lstStyle/>
          <a:p>
            <a:r>
              <a:rPr lang="tr-TR" sz="4200" b="1">
                <a:latin typeface="Aptos gövde"/>
              </a:rPr>
              <a:t>Maden ocaklarında yeraltı işleri</a:t>
            </a:r>
            <a:endParaRPr lang="tr-TR" sz="4200"/>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293680DF-13EB-469B-50C4-43958CD65AB0}"/>
              </a:ext>
            </a:extLst>
          </p:cNvPr>
          <p:cNvSpPr>
            <a:spLocks noGrp="1"/>
          </p:cNvSpPr>
          <p:nvPr>
            <p:ph idx="1"/>
          </p:nvPr>
        </p:nvSpPr>
        <p:spPr>
          <a:xfrm>
            <a:off x="630936" y="2660904"/>
            <a:ext cx="4818888" cy="3547872"/>
          </a:xfrm>
        </p:spPr>
        <p:txBody>
          <a:bodyPr anchor="t">
            <a:normAutofit lnSpcReduction="10000"/>
          </a:bodyPr>
          <a:lstStyle/>
          <a:p>
            <a:r>
              <a:rPr lang="tr-TR" sz="2200" dirty="0">
                <a:latin typeface="Aptos gövde"/>
              </a:rPr>
              <a:t>Yollar-Giriş çıkış yolları devamlı açık ve bakımlı olmalı ve yön levhaları bulundurulmalıdır.</a:t>
            </a:r>
          </a:p>
          <a:p>
            <a:r>
              <a:rPr lang="tr-TR" sz="2200" dirty="0">
                <a:latin typeface="Aptos gövde"/>
              </a:rPr>
              <a:t>Derinliği 50 metreden az kuyularda sağlam merdivenler-basamak aralıkları 30 cm, eğimleri 80 dereceden, dinlenme sahanlıkları arası 10 m’den fazla olmaması gerekir. </a:t>
            </a:r>
          </a:p>
          <a:p>
            <a:r>
              <a:rPr lang="tr-TR" sz="2200" dirty="0">
                <a:latin typeface="Aptos gövde"/>
              </a:rPr>
              <a:t>İmalat haritaları her ayın sonunda işlenmelidir.</a:t>
            </a:r>
          </a:p>
        </p:txBody>
      </p:sp>
      <p:pic>
        <p:nvPicPr>
          <p:cNvPr id="5" name="Resim 4">
            <a:extLst>
              <a:ext uri="{FF2B5EF4-FFF2-40B4-BE49-F238E27FC236}">
                <a16:creationId xmlns:a16="http://schemas.microsoft.com/office/drawing/2014/main" id="{5D2334C2-3E1F-CDB3-D8A2-A11EFA8BD227}"/>
              </a:ext>
            </a:extLst>
          </p:cNvPr>
          <p:cNvPicPr>
            <a:picLocks noChangeAspect="1"/>
          </p:cNvPicPr>
          <p:nvPr/>
        </p:nvPicPr>
        <p:blipFill>
          <a:blip r:embed="rId2"/>
          <a:srcRect l="4814" t="16902" b="11868"/>
          <a:stretch>
            <a:fillRect/>
          </a:stretch>
        </p:blipFill>
        <p:spPr>
          <a:xfrm>
            <a:off x="5449824" y="1729896"/>
            <a:ext cx="6482346" cy="4035260"/>
          </a:xfrm>
          <a:prstGeom prst="rect">
            <a:avLst/>
          </a:prstGeom>
        </p:spPr>
      </p:pic>
    </p:spTree>
    <p:extLst>
      <p:ext uri="{BB962C8B-B14F-4D97-AF65-F5344CB8AC3E}">
        <p14:creationId xmlns:p14="http://schemas.microsoft.com/office/powerpoint/2010/main" val="27644123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8C0520-04C2-F758-B6A8-3282B449860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6CA3183-7302-DB2E-FC2F-F5B7C6A7FD13}"/>
              </a:ext>
            </a:extLst>
          </p:cNvPr>
          <p:cNvSpPr>
            <a:spLocks noGrp="1"/>
          </p:cNvSpPr>
          <p:nvPr>
            <p:ph type="title"/>
          </p:nvPr>
        </p:nvSpPr>
        <p:spPr>
          <a:xfrm>
            <a:off x="838200" y="365125"/>
            <a:ext cx="10515600" cy="1325563"/>
          </a:xfrm>
        </p:spPr>
        <p:txBody>
          <a:bodyPr>
            <a:normAutofit/>
          </a:bodyPr>
          <a:lstStyle/>
          <a:p>
            <a:r>
              <a:rPr lang="tr-TR" sz="4000" b="1" dirty="0">
                <a:latin typeface="Aptos gövde"/>
              </a:rPr>
              <a:t>Maden ocaklarında yeraltı işleri</a:t>
            </a:r>
            <a:endParaRPr lang="tr-TR" sz="40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780FD313-0826-C5D2-B084-09FEF93A3208}"/>
              </a:ext>
            </a:extLst>
          </p:cNvPr>
          <p:cNvSpPr>
            <a:spLocks noGrp="1"/>
          </p:cNvSpPr>
          <p:nvPr>
            <p:ph idx="1"/>
          </p:nvPr>
        </p:nvSpPr>
        <p:spPr>
          <a:xfrm>
            <a:off x="838200" y="1929384"/>
            <a:ext cx="6228425" cy="4781132"/>
          </a:xfrm>
        </p:spPr>
        <p:txBody>
          <a:bodyPr>
            <a:normAutofit fontScale="92500" lnSpcReduction="20000"/>
          </a:bodyPr>
          <a:lstStyle/>
          <a:p>
            <a:pPr marL="0" indent="0">
              <a:buNone/>
            </a:pPr>
            <a:r>
              <a:rPr lang="tr-TR" sz="2200" b="1" dirty="0">
                <a:solidFill>
                  <a:schemeClr val="accent5"/>
                </a:solidFill>
                <a:latin typeface="Aptos gövde"/>
              </a:rPr>
              <a:t>Havalandırma</a:t>
            </a:r>
            <a:r>
              <a:rPr lang="tr-TR" sz="2200" b="1" dirty="0">
                <a:latin typeface="Aptos gövde"/>
              </a:rPr>
              <a:t> </a:t>
            </a:r>
          </a:p>
          <a:p>
            <a:pPr marL="0" indent="0">
              <a:spcBef>
                <a:spcPts val="0"/>
              </a:spcBef>
              <a:buNone/>
            </a:pPr>
            <a:endParaRPr lang="tr-TR" sz="2000" b="1" dirty="0">
              <a:latin typeface="Aptos gövde"/>
            </a:endParaRPr>
          </a:p>
          <a:p>
            <a:pPr marL="0" indent="0">
              <a:buNone/>
            </a:pPr>
            <a:r>
              <a:rPr lang="tr-TR" sz="2000" dirty="0">
                <a:latin typeface="Aptos gövde"/>
              </a:rPr>
              <a:t>   Yeraltındaki çalışma alanlarını dolduran hava, çoğunlukla su buharı ve gazların karışımından oluşan tozlu olan bir havadır. </a:t>
            </a:r>
          </a:p>
          <a:p>
            <a:pPr marL="0" indent="0">
              <a:spcBef>
                <a:spcPts val="0"/>
              </a:spcBef>
              <a:buNone/>
            </a:pPr>
            <a:endParaRPr lang="tr-TR" sz="2000" dirty="0">
              <a:latin typeface="Aptos gövde"/>
            </a:endParaRPr>
          </a:p>
          <a:p>
            <a:pPr marL="0" indent="0">
              <a:buNone/>
            </a:pPr>
            <a:r>
              <a:rPr lang="tr-TR" sz="2000" dirty="0">
                <a:latin typeface="Aptos gövde"/>
              </a:rPr>
              <a:t>   Yeraltındaki havanın olumsuz yönde değişimi, genelde oksijen miktarının azalması ve karbondioksit ve diğer gazların artması olarak değerlendirilir. </a:t>
            </a:r>
          </a:p>
          <a:p>
            <a:pPr marL="0" indent="0">
              <a:spcBef>
                <a:spcPts val="0"/>
              </a:spcBef>
              <a:buNone/>
            </a:pPr>
            <a:endParaRPr lang="tr-TR" sz="2000" dirty="0">
              <a:latin typeface="Aptos gövde"/>
            </a:endParaRPr>
          </a:p>
          <a:p>
            <a:pPr marL="0" indent="0">
              <a:buNone/>
            </a:pPr>
            <a:r>
              <a:rPr lang="tr-TR" sz="2000" dirty="0">
                <a:latin typeface="Aptos gövde"/>
              </a:rPr>
              <a:t>   Yeraltı maden havasının kirlenme derecesi;</a:t>
            </a:r>
          </a:p>
          <a:p>
            <a:pPr marL="0" indent="0">
              <a:spcBef>
                <a:spcPts val="0"/>
              </a:spcBef>
              <a:buNone/>
            </a:pPr>
            <a:endParaRPr lang="tr-TR" sz="2000" dirty="0">
              <a:latin typeface="Aptos gövde"/>
            </a:endParaRPr>
          </a:p>
          <a:p>
            <a:pPr>
              <a:buClr>
                <a:schemeClr val="accent5"/>
              </a:buClr>
              <a:buFont typeface="Wingdings" panose="05000000000000000000" pitchFamily="2" charset="2"/>
              <a:buChar char="Ø"/>
            </a:pPr>
            <a:r>
              <a:rPr lang="tr-TR" sz="2000" dirty="0">
                <a:latin typeface="Aptos gövde"/>
              </a:rPr>
              <a:t>Cevherin içerdiği gaz miktarına,</a:t>
            </a:r>
          </a:p>
          <a:p>
            <a:pPr>
              <a:buClr>
                <a:schemeClr val="accent5"/>
              </a:buClr>
              <a:buFont typeface="Wingdings" panose="05000000000000000000" pitchFamily="2" charset="2"/>
              <a:buChar char="Ø"/>
            </a:pPr>
            <a:r>
              <a:rPr lang="tr-TR" sz="2000" dirty="0">
                <a:latin typeface="Aptos gövde"/>
              </a:rPr>
              <a:t>Cevherin oksijen ile reaksiyona girme potansiyeline,</a:t>
            </a:r>
          </a:p>
          <a:p>
            <a:pPr>
              <a:buClr>
                <a:schemeClr val="accent5"/>
              </a:buClr>
              <a:buFont typeface="Wingdings" panose="05000000000000000000" pitchFamily="2" charset="2"/>
              <a:buChar char="Ø"/>
            </a:pPr>
            <a:r>
              <a:rPr lang="tr-TR" sz="2000" dirty="0">
                <a:latin typeface="Aptos gövde"/>
              </a:rPr>
              <a:t>Uygulanan maden çıkarma yöntemine,</a:t>
            </a:r>
          </a:p>
          <a:p>
            <a:pPr>
              <a:buClr>
                <a:schemeClr val="accent5"/>
              </a:buClr>
              <a:buFont typeface="Wingdings" panose="05000000000000000000" pitchFamily="2" charset="2"/>
              <a:buChar char="Ø"/>
            </a:pPr>
            <a:r>
              <a:rPr lang="tr-TR" sz="2000" dirty="0">
                <a:latin typeface="Aptos gövde"/>
              </a:rPr>
              <a:t>Çalışma alanına gelen havanın miktarına,</a:t>
            </a:r>
          </a:p>
          <a:p>
            <a:pPr>
              <a:buClr>
                <a:schemeClr val="accent5"/>
              </a:buClr>
              <a:buFont typeface="Wingdings" panose="05000000000000000000" pitchFamily="2" charset="2"/>
              <a:buChar char="Ø"/>
            </a:pPr>
            <a:r>
              <a:rPr lang="tr-TR" sz="2000" dirty="0">
                <a:latin typeface="Aptos gövde"/>
              </a:rPr>
              <a:t>Ocakta kullanılan makinelerin türüne ve çalışma alanının boyutlarına bağlıdır.</a:t>
            </a:r>
          </a:p>
          <a:p>
            <a:pPr marL="0" indent="0">
              <a:buClr>
                <a:schemeClr val="accent5"/>
              </a:buClr>
              <a:buNone/>
            </a:pPr>
            <a:endParaRPr lang="tr-TR" sz="1500" dirty="0">
              <a:latin typeface="Aptos gövde"/>
            </a:endParaRPr>
          </a:p>
        </p:txBody>
      </p:sp>
      <p:pic>
        <p:nvPicPr>
          <p:cNvPr id="4" name="Resim 3"/>
          <p:cNvPicPr>
            <a:picLocks noChangeAspect="1"/>
          </p:cNvPicPr>
          <p:nvPr/>
        </p:nvPicPr>
        <p:blipFill>
          <a:blip r:embed="rId2"/>
          <a:stretch>
            <a:fillRect/>
          </a:stretch>
        </p:blipFill>
        <p:spPr>
          <a:xfrm>
            <a:off x="7066625" y="2151679"/>
            <a:ext cx="4867982" cy="3779447"/>
          </a:xfrm>
          <a:prstGeom prst="rect">
            <a:avLst/>
          </a:prstGeom>
        </p:spPr>
      </p:pic>
    </p:spTree>
    <p:extLst>
      <p:ext uri="{BB962C8B-B14F-4D97-AF65-F5344CB8AC3E}">
        <p14:creationId xmlns:p14="http://schemas.microsoft.com/office/powerpoint/2010/main" val="27410795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8C0520-04C2-F758-B6A8-3282B449860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6CA3183-7302-DB2E-FC2F-F5B7C6A7FD13}"/>
              </a:ext>
            </a:extLst>
          </p:cNvPr>
          <p:cNvSpPr>
            <a:spLocks noGrp="1"/>
          </p:cNvSpPr>
          <p:nvPr>
            <p:ph type="title"/>
          </p:nvPr>
        </p:nvSpPr>
        <p:spPr>
          <a:xfrm>
            <a:off x="838200" y="365125"/>
            <a:ext cx="10515600" cy="1325563"/>
          </a:xfrm>
        </p:spPr>
        <p:txBody>
          <a:bodyPr>
            <a:normAutofit/>
          </a:bodyPr>
          <a:lstStyle/>
          <a:p>
            <a:r>
              <a:rPr lang="tr-TR" sz="4000" b="1" dirty="0">
                <a:latin typeface="Aptos gövde"/>
              </a:rPr>
              <a:t>Maden ocaklarında yeraltı işleri</a:t>
            </a:r>
            <a:endParaRPr lang="tr-TR" sz="40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780FD313-0826-C5D2-B084-09FEF93A3208}"/>
              </a:ext>
            </a:extLst>
          </p:cNvPr>
          <p:cNvSpPr>
            <a:spLocks noGrp="1"/>
          </p:cNvSpPr>
          <p:nvPr>
            <p:ph idx="1"/>
          </p:nvPr>
        </p:nvSpPr>
        <p:spPr>
          <a:xfrm>
            <a:off x="838200" y="1929384"/>
            <a:ext cx="10853928" cy="4928616"/>
          </a:xfrm>
        </p:spPr>
        <p:txBody>
          <a:bodyPr>
            <a:noAutofit/>
          </a:bodyPr>
          <a:lstStyle/>
          <a:p>
            <a:pPr marL="0" indent="0">
              <a:buNone/>
            </a:pPr>
            <a:r>
              <a:rPr lang="tr-TR" sz="2000" b="1" dirty="0">
                <a:solidFill>
                  <a:schemeClr val="accent5"/>
                </a:solidFill>
                <a:latin typeface="Aptos gövde"/>
              </a:rPr>
              <a:t>Havalandırma </a:t>
            </a:r>
          </a:p>
          <a:p>
            <a:pPr>
              <a:buFont typeface="Wingdings" panose="05000000000000000000" pitchFamily="2" charset="2"/>
              <a:buChar char="Ø"/>
            </a:pPr>
            <a:r>
              <a:rPr lang="tr-TR" sz="1800" dirty="0">
                <a:latin typeface="Aptos gövde"/>
              </a:rPr>
              <a:t> </a:t>
            </a:r>
            <a:r>
              <a:rPr lang="tr-TR" sz="1800" b="1" dirty="0">
                <a:latin typeface="Aptos gövde"/>
              </a:rPr>
              <a:t>Pis hava </a:t>
            </a:r>
            <a:r>
              <a:rPr lang="en-US" sz="1800" b="1" dirty="0">
                <a:latin typeface="Aptos gövde"/>
              </a:rPr>
              <a:t>: </a:t>
            </a:r>
            <a:r>
              <a:rPr lang="tr-TR" sz="1800" dirty="0" smtClean="0">
                <a:latin typeface="Aptos gövde"/>
              </a:rPr>
              <a:t>%20’den</a:t>
            </a:r>
            <a:r>
              <a:rPr lang="en-US" sz="1800" dirty="0" smtClean="0">
                <a:latin typeface="Aptos gövde"/>
              </a:rPr>
              <a:t> </a:t>
            </a:r>
            <a:r>
              <a:rPr lang="en-US" sz="1800" dirty="0">
                <a:latin typeface="Aptos gövde"/>
              </a:rPr>
              <a:t>daha </a:t>
            </a:r>
            <a:r>
              <a:rPr lang="tr-TR" sz="1800" dirty="0" smtClean="0">
                <a:latin typeface="Aptos gövde"/>
              </a:rPr>
              <a:t>az oksijen </a:t>
            </a:r>
            <a:r>
              <a:rPr lang="en-US" sz="1800" dirty="0" err="1" smtClean="0">
                <a:latin typeface="Aptos gövde"/>
              </a:rPr>
              <a:t>i</a:t>
            </a:r>
            <a:r>
              <a:rPr lang="tr-TR" sz="1800" dirty="0">
                <a:latin typeface="Aptos gövde"/>
              </a:rPr>
              <a:t>ç</a:t>
            </a:r>
            <a:r>
              <a:rPr lang="en-US" sz="1800" dirty="0" smtClean="0">
                <a:latin typeface="Aptos gövde"/>
              </a:rPr>
              <a:t>erir</a:t>
            </a:r>
            <a:r>
              <a:rPr lang="en-US" sz="1800" dirty="0">
                <a:latin typeface="Aptos gövde"/>
              </a:rPr>
              <a:t>. Bu </a:t>
            </a:r>
            <a:r>
              <a:rPr lang="tr-TR" sz="1800" dirty="0">
                <a:latin typeface="Aptos gövde"/>
              </a:rPr>
              <a:t>özelliğe sahip işyerlerinde çalışanlarda da</a:t>
            </a:r>
            <a:r>
              <a:rPr lang="en-US" sz="1800" dirty="0">
                <a:latin typeface="Aptos gövde"/>
              </a:rPr>
              <a:t> k</a:t>
            </a:r>
            <a:r>
              <a:rPr lang="tr-TR" sz="1800" dirty="0">
                <a:latin typeface="Aptos gövde"/>
              </a:rPr>
              <a:t>ı</a:t>
            </a:r>
            <a:r>
              <a:rPr lang="en-US" sz="1800" dirty="0">
                <a:latin typeface="Aptos gövde"/>
              </a:rPr>
              <a:t>sa s</a:t>
            </a:r>
            <a:r>
              <a:rPr lang="tr-TR" sz="1800" dirty="0">
                <a:latin typeface="Aptos gövde"/>
              </a:rPr>
              <a:t>ü</a:t>
            </a:r>
            <a:r>
              <a:rPr lang="en-US" sz="1800" dirty="0">
                <a:latin typeface="Aptos gövde"/>
              </a:rPr>
              <a:t>re</a:t>
            </a:r>
            <a:r>
              <a:rPr lang="tr-TR" sz="1800" dirty="0">
                <a:latin typeface="Aptos gövde"/>
              </a:rPr>
              <a:t> </a:t>
            </a:r>
            <a:r>
              <a:rPr lang="en-US" sz="1800" dirty="0" err="1">
                <a:latin typeface="Aptos gövde"/>
              </a:rPr>
              <a:t>i</a:t>
            </a:r>
            <a:r>
              <a:rPr lang="tr-TR" sz="1800" dirty="0" smtClean="0">
                <a:latin typeface="Aptos gövde"/>
              </a:rPr>
              <a:t>çinde</a:t>
            </a:r>
            <a:r>
              <a:rPr lang="en-US" sz="1800" dirty="0" smtClean="0">
                <a:latin typeface="Aptos gövde"/>
              </a:rPr>
              <a:t> </a:t>
            </a:r>
            <a:r>
              <a:rPr lang="tr-TR" sz="1800" dirty="0">
                <a:latin typeface="Aptos gövde"/>
              </a:rPr>
              <a:t>yorgunluk</a:t>
            </a:r>
            <a:r>
              <a:rPr lang="en-US" sz="1800" dirty="0">
                <a:latin typeface="Aptos gövde"/>
              </a:rPr>
              <a:t> </a:t>
            </a:r>
            <a:r>
              <a:rPr lang="tr-TR" sz="1800" dirty="0" smtClean="0">
                <a:latin typeface="Aptos gövde"/>
              </a:rPr>
              <a:t>belirtileri</a:t>
            </a:r>
            <a:r>
              <a:rPr lang="en-US" sz="1800" dirty="0" smtClean="0">
                <a:latin typeface="Aptos gövde"/>
              </a:rPr>
              <a:t> </a:t>
            </a:r>
            <a:r>
              <a:rPr lang="en-US" sz="1800" dirty="0">
                <a:latin typeface="Aptos gövde"/>
              </a:rPr>
              <a:t>g</a:t>
            </a:r>
            <a:r>
              <a:rPr lang="tr-TR" sz="1800" dirty="0">
                <a:latin typeface="Aptos gövde"/>
              </a:rPr>
              <a:t>örülür</a:t>
            </a:r>
            <a:r>
              <a:rPr lang="en-US" sz="1800" dirty="0">
                <a:latin typeface="Aptos gövde"/>
              </a:rPr>
              <a:t>. Bu </a:t>
            </a:r>
            <a:r>
              <a:rPr lang="tr-TR" sz="1800" dirty="0" smtClean="0">
                <a:latin typeface="Aptos gövde"/>
              </a:rPr>
              <a:t>hava</a:t>
            </a:r>
            <a:r>
              <a:rPr lang="en-US" sz="1800" dirty="0" smtClean="0">
                <a:latin typeface="Aptos gövde"/>
              </a:rPr>
              <a:t>, </a:t>
            </a:r>
            <a:r>
              <a:rPr lang="tr-TR" sz="1800" dirty="0">
                <a:latin typeface="Aptos gövde"/>
              </a:rPr>
              <a:t>boğucu özellik gösterdiğinden “</a:t>
            </a:r>
            <a:r>
              <a:rPr lang="tr-TR" sz="1800" u="sng" dirty="0">
                <a:latin typeface="Aptos gövde"/>
              </a:rPr>
              <a:t>boğucu</a:t>
            </a:r>
            <a:r>
              <a:rPr lang="en-US" sz="1800" u="sng" dirty="0">
                <a:latin typeface="Aptos gövde"/>
              </a:rPr>
              <a:t> </a:t>
            </a:r>
            <a:r>
              <a:rPr lang="tr-TR" sz="1800" u="sng" dirty="0" smtClean="0">
                <a:latin typeface="Aptos gövde"/>
              </a:rPr>
              <a:t>hava</a:t>
            </a:r>
            <a:r>
              <a:rPr lang="en-US" sz="1800" dirty="0" smtClean="0">
                <a:latin typeface="Aptos gövde"/>
              </a:rPr>
              <a:t>” </a:t>
            </a:r>
            <a:r>
              <a:rPr lang="tr-TR" sz="1800" dirty="0" smtClean="0">
                <a:latin typeface="Aptos gövde"/>
              </a:rPr>
              <a:t>olarak </a:t>
            </a:r>
            <a:r>
              <a:rPr lang="en-US" sz="1800" dirty="0">
                <a:latin typeface="Aptos gövde"/>
              </a:rPr>
              <a:t>da </a:t>
            </a:r>
            <a:r>
              <a:rPr lang="tr-TR" sz="1800" dirty="0" smtClean="0">
                <a:latin typeface="Aptos gövde"/>
              </a:rPr>
              <a:t>isimlendirilebilir</a:t>
            </a:r>
            <a:r>
              <a:rPr lang="en-US" sz="1800" dirty="0" smtClean="0">
                <a:latin typeface="Aptos gövde"/>
              </a:rPr>
              <a:t>.</a:t>
            </a:r>
            <a:endParaRPr lang="en-US" sz="1800" dirty="0">
              <a:latin typeface="Aptos gövde"/>
            </a:endParaRPr>
          </a:p>
          <a:p>
            <a:pPr marL="0" indent="0">
              <a:spcBef>
                <a:spcPts val="0"/>
              </a:spcBef>
              <a:buNone/>
            </a:pPr>
            <a:endParaRPr lang="en-US" sz="1800" dirty="0">
              <a:latin typeface="Aptos gövde"/>
            </a:endParaRPr>
          </a:p>
          <a:p>
            <a:pPr>
              <a:buFont typeface="Wingdings" panose="05000000000000000000" pitchFamily="2" charset="2"/>
              <a:buChar char="Ø"/>
            </a:pPr>
            <a:r>
              <a:rPr lang="tr-TR" sz="1800" b="1" dirty="0" smtClean="0">
                <a:latin typeface="Aptos gövde"/>
              </a:rPr>
              <a:t>Zehirli</a:t>
            </a:r>
            <a:r>
              <a:rPr lang="en-US" sz="1800" b="1" dirty="0" smtClean="0">
                <a:latin typeface="Aptos gövde"/>
              </a:rPr>
              <a:t> </a:t>
            </a:r>
            <a:r>
              <a:rPr lang="en-US" sz="1800" b="1" dirty="0">
                <a:latin typeface="Aptos gövde"/>
              </a:rPr>
              <a:t>Hava </a:t>
            </a:r>
            <a:r>
              <a:rPr lang="en-US" sz="1800" dirty="0">
                <a:latin typeface="Aptos gövde"/>
              </a:rPr>
              <a:t>: Organizmayı </a:t>
            </a:r>
            <a:r>
              <a:rPr lang="tr-TR" sz="1800" dirty="0" smtClean="0">
                <a:latin typeface="Aptos gövde"/>
              </a:rPr>
              <a:t>fiziksel etkileriyle bozan ve insan hayatı için son derece tehlikeli olan gazları içeren havadır</a:t>
            </a:r>
            <a:r>
              <a:rPr lang="en-US" sz="1800" dirty="0" smtClean="0">
                <a:latin typeface="Aptos gövde"/>
              </a:rPr>
              <a:t>. </a:t>
            </a:r>
            <a:r>
              <a:rPr lang="en-US" sz="1800" dirty="0">
                <a:latin typeface="Aptos gövde"/>
              </a:rPr>
              <a:t>Bu </a:t>
            </a:r>
            <a:r>
              <a:rPr lang="tr-TR" sz="1800" dirty="0" smtClean="0">
                <a:latin typeface="Aptos gövde"/>
              </a:rPr>
              <a:t>zehirli gazlar: karbon monoksit </a:t>
            </a:r>
            <a:r>
              <a:rPr lang="en-US" sz="1800" dirty="0" smtClean="0">
                <a:latin typeface="Aptos gövde"/>
              </a:rPr>
              <a:t>(</a:t>
            </a:r>
            <a:r>
              <a:rPr lang="en-US" sz="1800" dirty="0">
                <a:latin typeface="Aptos gövde"/>
              </a:rPr>
              <a:t>CO), hidrojen s</a:t>
            </a:r>
            <a:r>
              <a:rPr lang="tr-TR" sz="1800" dirty="0">
                <a:latin typeface="Aptos gövde"/>
              </a:rPr>
              <a:t>ü</a:t>
            </a:r>
            <a:r>
              <a:rPr lang="en-US" sz="1800" dirty="0">
                <a:latin typeface="Aptos gövde"/>
              </a:rPr>
              <a:t>lf</a:t>
            </a:r>
            <a:r>
              <a:rPr lang="tr-TR" sz="1800" dirty="0">
                <a:latin typeface="Aptos gövde"/>
              </a:rPr>
              <a:t>ü</a:t>
            </a:r>
            <a:r>
              <a:rPr lang="en-US" sz="1800" dirty="0">
                <a:latin typeface="Aptos gövde"/>
              </a:rPr>
              <a:t>r (H</a:t>
            </a:r>
            <a:r>
              <a:rPr lang="tr-TR" sz="1800" baseline="-25000" dirty="0">
                <a:latin typeface="Aptos gövde"/>
              </a:rPr>
              <a:t>2</a:t>
            </a:r>
            <a:r>
              <a:rPr lang="en-US" sz="1800" dirty="0">
                <a:latin typeface="Aptos gövde"/>
              </a:rPr>
              <a:t>S), azot</a:t>
            </a:r>
            <a:r>
              <a:rPr lang="tr-TR" sz="1800" dirty="0">
                <a:latin typeface="Aptos gövde"/>
              </a:rPr>
              <a:t> </a:t>
            </a:r>
            <a:r>
              <a:rPr lang="en-US" sz="1800" dirty="0">
                <a:latin typeface="Aptos gövde"/>
              </a:rPr>
              <a:t>oksitleri (NO, NO</a:t>
            </a:r>
            <a:r>
              <a:rPr lang="tr-TR" sz="1800" baseline="-25000" dirty="0">
                <a:latin typeface="Aptos gövde"/>
              </a:rPr>
              <a:t>2</a:t>
            </a:r>
            <a:r>
              <a:rPr lang="tr-TR" sz="1800" dirty="0">
                <a:latin typeface="Aptos gövde"/>
              </a:rPr>
              <a:t> </a:t>
            </a:r>
            <a:r>
              <a:rPr lang="en-US" sz="1800" dirty="0">
                <a:latin typeface="Aptos gövde"/>
              </a:rPr>
              <a:t>, N</a:t>
            </a:r>
            <a:r>
              <a:rPr lang="tr-TR" sz="1800" baseline="-25000" dirty="0">
                <a:latin typeface="Aptos gövde"/>
              </a:rPr>
              <a:t>2</a:t>
            </a:r>
            <a:r>
              <a:rPr lang="en-US" sz="1800" dirty="0">
                <a:latin typeface="Aptos gövde"/>
              </a:rPr>
              <a:t>O</a:t>
            </a:r>
            <a:r>
              <a:rPr lang="tr-TR" sz="1800" baseline="-25000" dirty="0">
                <a:latin typeface="Aptos gövde"/>
              </a:rPr>
              <a:t>3</a:t>
            </a:r>
            <a:r>
              <a:rPr lang="en-US" sz="1800" dirty="0">
                <a:latin typeface="Aptos gövde"/>
              </a:rPr>
              <a:t> </a:t>
            </a:r>
            <a:r>
              <a:rPr lang="tr-TR" sz="1800" dirty="0">
                <a:latin typeface="Aptos gövde"/>
              </a:rPr>
              <a:t>vd.</a:t>
            </a:r>
            <a:r>
              <a:rPr lang="en-US" sz="1800" dirty="0">
                <a:latin typeface="Aptos gövde"/>
              </a:rPr>
              <a:t>), k</a:t>
            </a:r>
            <a:r>
              <a:rPr lang="tr-TR" sz="1800" dirty="0">
                <a:latin typeface="Aptos gövde"/>
              </a:rPr>
              <a:t>ü</a:t>
            </a:r>
            <a:r>
              <a:rPr lang="en-US" sz="1800" dirty="0">
                <a:latin typeface="Aptos gövde"/>
              </a:rPr>
              <a:t>k</a:t>
            </a:r>
            <a:r>
              <a:rPr lang="tr-TR" sz="1800" dirty="0">
                <a:latin typeface="Aptos gövde"/>
              </a:rPr>
              <a:t>ü</a:t>
            </a:r>
            <a:r>
              <a:rPr lang="en-US" sz="1800" dirty="0" err="1">
                <a:latin typeface="Aptos gövde"/>
              </a:rPr>
              <a:t>rt</a:t>
            </a:r>
            <a:r>
              <a:rPr lang="en-US" sz="1800" dirty="0">
                <a:latin typeface="Aptos gövde"/>
              </a:rPr>
              <a:t> </a:t>
            </a:r>
            <a:r>
              <a:rPr lang="tr-TR" sz="1800" dirty="0" smtClean="0">
                <a:latin typeface="Aptos gövde"/>
              </a:rPr>
              <a:t>dioksit (</a:t>
            </a:r>
            <a:r>
              <a:rPr lang="en-US" sz="1800" dirty="0" smtClean="0">
                <a:latin typeface="Aptos gövde"/>
              </a:rPr>
              <a:t>SO</a:t>
            </a:r>
            <a:r>
              <a:rPr lang="tr-TR" sz="1800" baseline="-25000" dirty="0">
                <a:latin typeface="Aptos gövde"/>
              </a:rPr>
              <a:t>2</a:t>
            </a:r>
            <a:r>
              <a:rPr lang="en-US" sz="1800" dirty="0">
                <a:latin typeface="Aptos gövde"/>
              </a:rPr>
              <a:t>) </a:t>
            </a:r>
            <a:r>
              <a:rPr lang="tr-TR" sz="1800" dirty="0" smtClean="0">
                <a:latin typeface="Aptos gövde"/>
              </a:rPr>
              <a:t>ve radon</a:t>
            </a:r>
            <a:r>
              <a:rPr lang="en-US" sz="1800" dirty="0" smtClean="0">
                <a:latin typeface="Aptos gövde"/>
              </a:rPr>
              <a:t> </a:t>
            </a:r>
            <a:r>
              <a:rPr lang="en-US" sz="1800" dirty="0">
                <a:latin typeface="Aptos gövde"/>
              </a:rPr>
              <a:t>(Ra) </a:t>
            </a:r>
            <a:r>
              <a:rPr lang="tr-TR" sz="1800" dirty="0" smtClean="0">
                <a:latin typeface="Aptos gövde"/>
              </a:rPr>
              <a:t>gazları</a:t>
            </a:r>
            <a:r>
              <a:rPr lang="en-US" sz="1800" dirty="0">
                <a:latin typeface="Aptos gövde"/>
              </a:rPr>
              <a:t>d</a:t>
            </a:r>
            <a:r>
              <a:rPr lang="tr-TR" sz="1800" dirty="0">
                <a:latin typeface="Aptos gövde"/>
              </a:rPr>
              <a:t>ı</a:t>
            </a:r>
            <a:r>
              <a:rPr lang="en-US" sz="1800" dirty="0">
                <a:latin typeface="Aptos gövde"/>
              </a:rPr>
              <a:t>r.</a:t>
            </a:r>
          </a:p>
          <a:p>
            <a:pPr marL="0" indent="0">
              <a:spcBef>
                <a:spcPts val="0"/>
              </a:spcBef>
              <a:buNone/>
            </a:pPr>
            <a:endParaRPr lang="tr-TR" sz="1800" dirty="0">
              <a:latin typeface="Aptos gövde"/>
            </a:endParaRPr>
          </a:p>
          <a:p>
            <a:pPr>
              <a:buFont typeface="Wingdings" panose="05000000000000000000" pitchFamily="2" charset="2"/>
              <a:buChar char="Ø"/>
            </a:pPr>
            <a:r>
              <a:rPr lang="tr-TR" sz="1800" b="1" dirty="0" smtClean="0">
                <a:latin typeface="Aptos gövde"/>
              </a:rPr>
              <a:t>Patlayıcı</a:t>
            </a:r>
            <a:r>
              <a:rPr lang="en-US" sz="1800" b="1" dirty="0" smtClean="0">
                <a:latin typeface="Aptos gövde"/>
              </a:rPr>
              <a:t> </a:t>
            </a:r>
            <a:r>
              <a:rPr lang="en-US" sz="1800" b="1" dirty="0">
                <a:latin typeface="Aptos gövde"/>
              </a:rPr>
              <a:t>Hava</a:t>
            </a:r>
            <a:r>
              <a:rPr lang="en-US" sz="1800" dirty="0">
                <a:latin typeface="Aptos gövde"/>
              </a:rPr>
              <a:t>: C</a:t>
            </a:r>
            <a:r>
              <a:rPr lang="tr-TR" sz="1800" baseline="-25000" dirty="0">
                <a:latin typeface="Aptos gövde"/>
              </a:rPr>
              <a:t>n</a:t>
            </a:r>
            <a:r>
              <a:rPr lang="en-US" sz="1800" dirty="0">
                <a:latin typeface="Aptos gövde"/>
              </a:rPr>
              <a:t>H</a:t>
            </a:r>
            <a:r>
              <a:rPr lang="tr-TR" sz="1800" baseline="-25000" dirty="0">
                <a:latin typeface="Aptos gövde"/>
              </a:rPr>
              <a:t>2n+2</a:t>
            </a:r>
            <a:r>
              <a:rPr lang="en-US" sz="1800" dirty="0">
                <a:latin typeface="Aptos gövde"/>
              </a:rPr>
              <a:t> </a:t>
            </a:r>
            <a:r>
              <a:rPr lang="tr-TR" sz="1800" dirty="0" smtClean="0">
                <a:latin typeface="Aptos gövde"/>
              </a:rPr>
              <a:t>genel formülü ile gösterilen metan </a:t>
            </a:r>
            <a:r>
              <a:rPr lang="en-US" sz="1800" dirty="0" smtClean="0">
                <a:latin typeface="Aptos gövde"/>
              </a:rPr>
              <a:t>(</a:t>
            </a:r>
            <a:r>
              <a:rPr lang="en-US" sz="1800" dirty="0">
                <a:latin typeface="Aptos gövde"/>
              </a:rPr>
              <a:t>CH</a:t>
            </a:r>
            <a:r>
              <a:rPr lang="en-US" sz="1800" baseline="-25000" dirty="0">
                <a:latin typeface="Aptos gövde"/>
              </a:rPr>
              <a:t>4</a:t>
            </a:r>
            <a:r>
              <a:rPr lang="en-US" sz="1800" dirty="0">
                <a:latin typeface="Aptos gövde"/>
              </a:rPr>
              <a:t>), </a:t>
            </a:r>
            <a:r>
              <a:rPr lang="tr-TR" sz="1800" dirty="0" smtClean="0">
                <a:latin typeface="Aptos gövde"/>
              </a:rPr>
              <a:t>etan (C</a:t>
            </a:r>
            <a:r>
              <a:rPr lang="tr-TR" sz="1800" baseline="-25000" dirty="0" smtClean="0">
                <a:latin typeface="Aptos gövde"/>
              </a:rPr>
              <a:t>2</a:t>
            </a:r>
            <a:r>
              <a:rPr lang="tr-TR" sz="1800" dirty="0" smtClean="0">
                <a:latin typeface="Aptos gövde"/>
              </a:rPr>
              <a:t>H</a:t>
            </a:r>
            <a:r>
              <a:rPr lang="tr-TR" sz="1800" baseline="-25000" dirty="0" smtClean="0">
                <a:latin typeface="Aptos gövde"/>
              </a:rPr>
              <a:t>6</a:t>
            </a:r>
            <a:r>
              <a:rPr lang="tr-TR" sz="1800" dirty="0" smtClean="0">
                <a:latin typeface="Aptos gövde"/>
              </a:rPr>
              <a:t>), propan (C</a:t>
            </a:r>
            <a:r>
              <a:rPr lang="tr-TR" sz="1800" baseline="-25000" dirty="0" smtClean="0">
                <a:latin typeface="Aptos gövde"/>
              </a:rPr>
              <a:t>3</a:t>
            </a:r>
            <a:r>
              <a:rPr lang="tr-TR" sz="1800" dirty="0" smtClean="0">
                <a:latin typeface="Aptos gövde"/>
              </a:rPr>
              <a:t>H</a:t>
            </a:r>
            <a:r>
              <a:rPr lang="tr-TR" sz="1800" baseline="-25000" dirty="0" smtClean="0">
                <a:latin typeface="Aptos gövde"/>
              </a:rPr>
              <a:t>8</a:t>
            </a:r>
            <a:r>
              <a:rPr lang="tr-TR" sz="1800" dirty="0" smtClean="0">
                <a:latin typeface="Aptos gövde"/>
              </a:rPr>
              <a:t>), </a:t>
            </a:r>
            <a:r>
              <a:rPr lang="tr-TR" sz="1800" dirty="0" err="1" smtClean="0">
                <a:latin typeface="Aptos gövde"/>
              </a:rPr>
              <a:t>bü</a:t>
            </a:r>
            <a:r>
              <a:rPr lang="en-US" sz="1800" dirty="0">
                <a:latin typeface="Aptos gövde"/>
              </a:rPr>
              <a:t>t</a:t>
            </a:r>
            <a:r>
              <a:rPr lang="tr-TR" sz="1800" dirty="0">
                <a:latin typeface="Aptos gövde"/>
              </a:rPr>
              <a:t>a</a:t>
            </a:r>
            <a:r>
              <a:rPr lang="en-US" sz="1800" dirty="0">
                <a:latin typeface="Aptos gövde"/>
              </a:rPr>
              <a:t>n (C</a:t>
            </a:r>
            <a:r>
              <a:rPr lang="en-US" sz="1800" baseline="-25000" dirty="0">
                <a:latin typeface="Aptos gövde"/>
              </a:rPr>
              <a:t>2</a:t>
            </a:r>
            <a:r>
              <a:rPr lang="en-US" sz="1800" dirty="0">
                <a:latin typeface="Aptos gövde"/>
              </a:rPr>
              <a:t>H</a:t>
            </a:r>
            <a:r>
              <a:rPr lang="en-US" sz="1800" baseline="-25000" dirty="0">
                <a:latin typeface="Aptos gövde"/>
              </a:rPr>
              <a:t>6</a:t>
            </a:r>
            <a:r>
              <a:rPr lang="en-US" sz="1800" dirty="0">
                <a:latin typeface="Aptos gövde"/>
              </a:rPr>
              <a:t>) </a:t>
            </a:r>
            <a:r>
              <a:rPr lang="tr-TR" sz="1800" dirty="0" smtClean="0">
                <a:latin typeface="Aptos gövde"/>
              </a:rPr>
              <a:t>ile hidrojen (H</a:t>
            </a:r>
            <a:r>
              <a:rPr lang="tr-TR" sz="1800" baseline="-25000" dirty="0" smtClean="0">
                <a:latin typeface="Aptos gövde"/>
              </a:rPr>
              <a:t>2</a:t>
            </a:r>
            <a:r>
              <a:rPr lang="tr-TR" sz="1800" dirty="0" smtClean="0">
                <a:latin typeface="Aptos gövde"/>
              </a:rPr>
              <a:t>), karbon monoksit </a:t>
            </a:r>
            <a:r>
              <a:rPr lang="en-US" sz="1800" dirty="0" smtClean="0">
                <a:latin typeface="Aptos gövde"/>
              </a:rPr>
              <a:t>(</a:t>
            </a:r>
            <a:r>
              <a:rPr lang="en-US" sz="1800" dirty="0">
                <a:latin typeface="Aptos gövde"/>
              </a:rPr>
              <a:t>CO) </a:t>
            </a:r>
            <a:r>
              <a:rPr lang="tr-TR" sz="1800" dirty="0" smtClean="0">
                <a:latin typeface="Aptos gövde"/>
              </a:rPr>
              <a:t>gibi</a:t>
            </a:r>
            <a:r>
              <a:rPr lang="en-US" sz="1800" dirty="0" smtClean="0">
                <a:latin typeface="Aptos gövde"/>
              </a:rPr>
              <a:t> </a:t>
            </a:r>
            <a:r>
              <a:rPr lang="tr-TR" sz="1800" dirty="0">
                <a:latin typeface="Aptos gövde"/>
              </a:rPr>
              <a:t>bütün</a:t>
            </a:r>
            <a:r>
              <a:rPr lang="en-US" sz="1800" dirty="0">
                <a:latin typeface="Aptos gövde"/>
              </a:rPr>
              <a:t> </a:t>
            </a:r>
            <a:r>
              <a:rPr lang="tr-TR" sz="1800" dirty="0" smtClean="0">
                <a:latin typeface="Aptos gövde"/>
              </a:rPr>
              <a:t>yanıcı gazları bir arada bulunduran havadır</a:t>
            </a:r>
            <a:r>
              <a:rPr lang="en-US" sz="1800" dirty="0" smtClean="0">
                <a:latin typeface="Aptos gövde"/>
              </a:rPr>
              <a:t>. </a:t>
            </a:r>
            <a:r>
              <a:rPr lang="tr-TR" sz="1800" dirty="0" smtClean="0">
                <a:latin typeface="Aptos gövde"/>
              </a:rPr>
              <a:t>Bunları</a:t>
            </a:r>
            <a:r>
              <a:rPr lang="en-US" sz="1800" dirty="0">
                <a:latin typeface="Aptos gövde"/>
              </a:rPr>
              <a:t>n </a:t>
            </a:r>
            <a:r>
              <a:rPr lang="tr-TR" sz="1800" dirty="0" smtClean="0">
                <a:latin typeface="Aptos gövde"/>
              </a:rPr>
              <a:t>en</a:t>
            </a:r>
            <a:r>
              <a:rPr lang="en-US" sz="1800" dirty="0" smtClean="0">
                <a:latin typeface="Aptos gövde"/>
              </a:rPr>
              <a:t> </a:t>
            </a:r>
            <a:r>
              <a:rPr lang="tr-TR" sz="1800" dirty="0" smtClean="0">
                <a:latin typeface="Aptos gövde"/>
              </a:rPr>
              <a:t>önemlisi</a:t>
            </a:r>
            <a:r>
              <a:rPr lang="en-US" sz="1800" dirty="0" smtClean="0">
                <a:latin typeface="Aptos gövde"/>
              </a:rPr>
              <a:t> </a:t>
            </a:r>
            <a:r>
              <a:rPr lang="tr-TR" sz="1800" dirty="0" smtClean="0">
                <a:latin typeface="Aptos gövde"/>
              </a:rPr>
              <a:t>özellikle</a:t>
            </a:r>
            <a:r>
              <a:rPr lang="en-US" sz="1800" dirty="0" smtClean="0">
                <a:latin typeface="Aptos gövde"/>
              </a:rPr>
              <a:t> </a:t>
            </a:r>
            <a:r>
              <a:rPr lang="tr-TR" sz="1800" dirty="0" smtClean="0">
                <a:latin typeface="Aptos gövde"/>
              </a:rPr>
              <a:t>metan olup</a:t>
            </a:r>
            <a:r>
              <a:rPr lang="en-US" sz="1800" dirty="0" smtClean="0">
                <a:latin typeface="Aptos gövde"/>
              </a:rPr>
              <a:t>, </a:t>
            </a:r>
            <a:r>
              <a:rPr lang="tr-TR" sz="1800" dirty="0" smtClean="0">
                <a:latin typeface="Aptos gövde"/>
              </a:rPr>
              <a:t>metan</a:t>
            </a:r>
            <a:r>
              <a:rPr lang="en-US" sz="1800" dirty="0" smtClean="0">
                <a:latin typeface="Aptos gövde"/>
              </a:rPr>
              <a:t> </a:t>
            </a:r>
            <a:r>
              <a:rPr lang="tr-TR" sz="1800" dirty="0" smtClean="0">
                <a:latin typeface="Aptos gövde"/>
              </a:rPr>
              <a:t>ile</a:t>
            </a:r>
            <a:r>
              <a:rPr lang="en-US" sz="1800" dirty="0" smtClean="0">
                <a:latin typeface="Aptos gövde"/>
              </a:rPr>
              <a:t> </a:t>
            </a:r>
            <a:r>
              <a:rPr lang="tr-TR" sz="1800" dirty="0" smtClean="0">
                <a:latin typeface="Aptos gövde"/>
              </a:rPr>
              <a:t>havanı</a:t>
            </a:r>
            <a:r>
              <a:rPr lang="en-US" sz="1800" dirty="0">
                <a:latin typeface="Aptos gövde"/>
              </a:rPr>
              <a:t>n </a:t>
            </a:r>
            <a:r>
              <a:rPr lang="tr-TR" sz="1800" dirty="0" smtClean="0">
                <a:latin typeface="Aptos gövde"/>
              </a:rPr>
              <a:t>karışı</a:t>
            </a:r>
            <a:r>
              <a:rPr lang="en-US" sz="1800" dirty="0">
                <a:latin typeface="Aptos gövde"/>
              </a:rPr>
              <a:t>m</a:t>
            </a:r>
            <a:r>
              <a:rPr lang="tr-TR" sz="1800" dirty="0">
                <a:latin typeface="Aptos gövde"/>
              </a:rPr>
              <a:t>ı </a:t>
            </a:r>
            <a:r>
              <a:rPr lang="tr-TR" sz="1800" dirty="0" smtClean="0">
                <a:latin typeface="Aptos gövde"/>
              </a:rPr>
              <a:t>madencilikte</a:t>
            </a:r>
            <a:r>
              <a:rPr lang="en-US" sz="1800" dirty="0" smtClean="0">
                <a:latin typeface="Aptos gövde"/>
              </a:rPr>
              <a:t> “</a:t>
            </a:r>
            <a:r>
              <a:rPr lang="tr-TR" sz="1800" dirty="0" smtClean="0">
                <a:latin typeface="Aptos gövde"/>
              </a:rPr>
              <a:t>grizu</a:t>
            </a:r>
            <a:r>
              <a:rPr lang="en-US" sz="1800" dirty="0" smtClean="0">
                <a:latin typeface="Aptos gövde"/>
              </a:rPr>
              <a:t>” </a:t>
            </a:r>
            <a:r>
              <a:rPr lang="tr-TR" sz="1800" dirty="0" smtClean="0">
                <a:latin typeface="Aptos gövde"/>
              </a:rPr>
              <a:t>olarak</a:t>
            </a:r>
            <a:r>
              <a:rPr lang="en-US" sz="1800" dirty="0" smtClean="0">
                <a:latin typeface="Aptos gövde"/>
              </a:rPr>
              <a:t> </a:t>
            </a:r>
            <a:r>
              <a:rPr lang="tr-TR" sz="1800" dirty="0" smtClean="0">
                <a:latin typeface="Aptos gövde"/>
              </a:rPr>
              <a:t>isimlendirilir</a:t>
            </a:r>
            <a:r>
              <a:rPr lang="en-US" sz="1800" dirty="0" smtClean="0">
                <a:latin typeface="Aptos gövde"/>
              </a:rPr>
              <a:t>. </a:t>
            </a:r>
            <a:r>
              <a:rPr lang="en-US" sz="1800" dirty="0">
                <a:latin typeface="Aptos gövde"/>
              </a:rPr>
              <a:t>Y</a:t>
            </a:r>
            <a:r>
              <a:rPr lang="tr-TR" sz="1800" dirty="0" err="1" smtClean="0">
                <a:latin typeface="Aptos gövde"/>
              </a:rPr>
              <a:t>üksek</a:t>
            </a:r>
            <a:r>
              <a:rPr lang="tr-TR" sz="1800" dirty="0" smtClean="0">
                <a:latin typeface="Aptos gövde"/>
              </a:rPr>
              <a:t> patlama şiddetine sahip olduğundan madencilerin korkulu rüyasıdır</a:t>
            </a:r>
            <a:r>
              <a:rPr lang="en-US" sz="1800" dirty="0" smtClean="0">
                <a:latin typeface="Aptos gövde"/>
              </a:rPr>
              <a:t>.</a:t>
            </a:r>
            <a:endParaRPr lang="en-US" sz="1800" dirty="0">
              <a:latin typeface="Aptos gövde"/>
            </a:endParaRPr>
          </a:p>
          <a:p>
            <a:pPr marL="0" indent="0">
              <a:spcBef>
                <a:spcPts val="0"/>
              </a:spcBef>
              <a:buNone/>
            </a:pPr>
            <a:endParaRPr lang="en-US" sz="1800" dirty="0">
              <a:latin typeface="Aptos gövde"/>
            </a:endParaRPr>
          </a:p>
          <a:p>
            <a:pPr>
              <a:buFont typeface="Wingdings" panose="05000000000000000000" pitchFamily="2" charset="2"/>
              <a:buChar char="Ø"/>
            </a:pPr>
            <a:r>
              <a:rPr lang="tr-TR" sz="1800" b="1" dirty="0" smtClean="0">
                <a:latin typeface="Aptos gövde"/>
              </a:rPr>
              <a:t>Tozlu</a:t>
            </a:r>
            <a:r>
              <a:rPr lang="en-US" sz="1800" b="1" dirty="0" smtClean="0">
                <a:latin typeface="Aptos gövde"/>
              </a:rPr>
              <a:t> </a:t>
            </a:r>
            <a:r>
              <a:rPr lang="en-US" sz="1800" b="1" dirty="0">
                <a:latin typeface="Aptos gövde"/>
              </a:rPr>
              <a:t>Hava </a:t>
            </a:r>
            <a:r>
              <a:rPr lang="en-US" sz="1800" dirty="0">
                <a:latin typeface="Aptos gövde"/>
              </a:rPr>
              <a:t>: </a:t>
            </a:r>
            <a:r>
              <a:rPr lang="tr-TR" sz="1800" dirty="0" smtClean="0">
                <a:latin typeface="Aptos gövde"/>
              </a:rPr>
              <a:t>İçeriğinde taş ve/veya kö</a:t>
            </a:r>
            <a:r>
              <a:rPr lang="en-US" sz="1800" dirty="0">
                <a:latin typeface="Aptos gövde"/>
              </a:rPr>
              <a:t>m</a:t>
            </a:r>
            <a:r>
              <a:rPr lang="tr-TR" sz="1800" dirty="0">
                <a:latin typeface="Aptos gövde"/>
              </a:rPr>
              <a:t>ü</a:t>
            </a:r>
            <a:r>
              <a:rPr lang="en-US" sz="1800" dirty="0">
                <a:latin typeface="Aptos gövde"/>
              </a:rPr>
              <a:t>r </a:t>
            </a:r>
            <a:r>
              <a:rPr lang="tr-TR" sz="1800" dirty="0" smtClean="0">
                <a:latin typeface="Aptos gövde"/>
              </a:rPr>
              <a:t>tozu bulunan havadır</a:t>
            </a:r>
            <a:r>
              <a:rPr lang="en-US" sz="1800" dirty="0" smtClean="0">
                <a:latin typeface="Aptos gövde"/>
              </a:rPr>
              <a:t>. </a:t>
            </a:r>
            <a:r>
              <a:rPr lang="tr-TR" sz="1800" dirty="0">
                <a:latin typeface="Aptos gövde"/>
              </a:rPr>
              <a:t>Patlayıcı ve sağlığa zararlı özelliklere</a:t>
            </a:r>
            <a:r>
              <a:rPr lang="en-US" sz="1800" dirty="0">
                <a:latin typeface="Aptos gövde"/>
              </a:rPr>
              <a:t> </a:t>
            </a:r>
            <a:r>
              <a:rPr lang="tr-TR" sz="1800" dirty="0" smtClean="0">
                <a:latin typeface="Aptos gövde"/>
              </a:rPr>
              <a:t>sahip olabilir</a:t>
            </a:r>
            <a:r>
              <a:rPr lang="en-US" sz="1800" dirty="0" smtClean="0">
                <a:latin typeface="Aptos gövde"/>
              </a:rPr>
              <a:t>. </a:t>
            </a:r>
            <a:r>
              <a:rPr lang="en-US" sz="1800" dirty="0">
                <a:latin typeface="Aptos gövde"/>
              </a:rPr>
              <a:t>K</a:t>
            </a:r>
            <a:r>
              <a:rPr lang="tr-TR" sz="1800" dirty="0">
                <a:latin typeface="Aptos gövde"/>
              </a:rPr>
              <a:t>ö</a:t>
            </a:r>
            <a:r>
              <a:rPr lang="en-US" sz="1800" dirty="0">
                <a:latin typeface="Aptos gövde"/>
              </a:rPr>
              <a:t>m</a:t>
            </a:r>
            <a:r>
              <a:rPr lang="tr-TR" sz="1800" dirty="0">
                <a:latin typeface="Aptos gövde"/>
              </a:rPr>
              <a:t>ü</a:t>
            </a:r>
            <a:r>
              <a:rPr lang="en-US" sz="1800" dirty="0">
                <a:latin typeface="Aptos gövde"/>
              </a:rPr>
              <a:t>r </a:t>
            </a:r>
            <a:r>
              <a:rPr lang="tr-TR" sz="1800" dirty="0" smtClean="0">
                <a:latin typeface="Aptos gövde"/>
              </a:rPr>
              <a:t>tozu</a:t>
            </a:r>
            <a:r>
              <a:rPr lang="en-US" sz="1800" dirty="0" smtClean="0">
                <a:latin typeface="Aptos gövde"/>
              </a:rPr>
              <a:t> </a:t>
            </a:r>
            <a:r>
              <a:rPr lang="en-US" sz="1800" dirty="0">
                <a:latin typeface="Aptos gövde"/>
              </a:rPr>
              <a:t>her </a:t>
            </a:r>
            <a:r>
              <a:rPr lang="tr-TR" sz="1800" dirty="0" smtClean="0">
                <a:latin typeface="Aptos gövde"/>
              </a:rPr>
              <a:t>iki</a:t>
            </a:r>
            <a:r>
              <a:rPr lang="en-US" sz="1800" dirty="0" smtClean="0">
                <a:latin typeface="Aptos gövde"/>
              </a:rPr>
              <a:t> </a:t>
            </a:r>
            <a:r>
              <a:rPr lang="tr-TR" sz="1800" dirty="0" smtClean="0">
                <a:latin typeface="Aptos gövde"/>
              </a:rPr>
              <a:t>özelliği</a:t>
            </a:r>
            <a:r>
              <a:rPr lang="en-US" sz="1800" dirty="0" smtClean="0">
                <a:latin typeface="Aptos gövde"/>
              </a:rPr>
              <a:t> </a:t>
            </a:r>
            <a:r>
              <a:rPr lang="en-US" sz="1800" dirty="0">
                <a:latin typeface="Aptos gövde"/>
              </a:rPr>
              <a:t>de ta</a:t>
            </a:r>
            <a:r>
              <a:rPr lang="tr-TR" sz="1800" dirty="0" err="1">
                <a:latin typeface="Aptos gövde"/>
              </a:rPr>
              <a:t>şı</a:t>
            </a:r>
            <a:r>
              <a:rPr lang="en-US" sz="1800" dirty="0">
                <a:latin typeface="Aptos gövde"/>
              </a:rPr>
              <a:t>r. Ta</a:t>
            </a:r>
            <a:r>
              <a:rPr lang="tr-TR" sz="1800" dirty="0">
                <a:latin typeface="Aptos gövde"/>
              </a:rPr>
              <a:t>ş</a:t>
            </a:r>
            <a:r>
              <a:rPr lang="en-US" sz="1800" dirty="0">
                <a:latin typeface="Aptos gövde"/>
              </a:rPr>
              <a:t> </a:t>
            </a:r>
            <a:r>
              <a:rPr lang="tr-TR" sz="1800" dirty="0" smtClean="0">
                <a:latin typeface="Aptos gövde"/>
              </a:rPr>
              <a:t>tozu ise </a:t>
            </a:r>
            <a:r>
              <a:rPr lang="en-US" sz="1800" dirty="0" smtClean="0">
                <a:latin typeface="Aptos gövde"/>
              </a:rPr>
              <a:t>daha </a:t>
            </a:r>
            <a:r>
              <a:rPr lang="tr-TR" sz="1800" dirty="0" smtClean="0">
                <a:latin typeface="Aptos gövde"/>
              </a:rPr>
              <a:t>çok sağlığa zararlıdır ve genel adı </a:t>
            </a:r>
            <a:r>
              <a:rPr lang="en-US" sz="1800" dirty="0" smtClean="0">
                <a:latin typeface="Aptos gövde"/>
              </a:rPr>
              <a:t>“</a:t>
            </a:r>
            <a:r>
              <a:rPr lang="tr-TR" sz="1800" dirty="0" err="1" smtClean="0">
                <a:latin typeface="Aptos gövde"/>
              </a:rPr>
              <a:t>pnömokonyoz</a:t>
            </a:r>
            <a:r>
              <a:rPr lang="tr-TR" sz="1800" dirty="0" smtClean="0">
                <a:latin typeface="Aptos gövde"/>
              </a:rPr>
              <a:t>” olan akciğer toz hastalıklarına neden olur</a:t>
            </a:r>
            <a:r>
              <a:rPr lang="en-US" sz="1800" dirty="0" smtClean="0">
                <a:latin typeface="Aptos gövde"/>
              </a:rPr>
              <a:t>.</a:t>
            </a:r>
            <a:endParaRPr lang="en-US" sz="1800" dirty="0">
              <a:latin typeface="Aptos gövde"/>
            </a:endParaRPr>
          </a:p>
          <a:p>
            <a:pPr marL="0" indent="0">
              <a:buNone/>
            </a:pPr>
            <a:r>
              <a:rPr lang="tr-TR" sz="1800" dirty="0">
                <a:latin typeface="Aptos gövde"/>
              </a:rPr>
              <a:t>  </a:t>
            </a:r>
          </a:p>
        </p:txBody>
      </p:sp>
    </p:spTree>
    <p:extLst>
      <p:ext uri="{BB962C8B-B14F-4D97-AF65-F5344CB8AC3E}">
        <p14:creationId xmlns:p14="http://schemas.microsoft.com/office/powerpoint/2010/main" val="1108270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8C0520-04C2-F758-B6A8-3282B449860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6CA3183-7302-DB2E-FC2F-F5B7C6A7FD13}"/>
              </a:ext>
            </a:extLst>
          </p:cNvPr>
          <p:cNvSpPr>
            <a:spLocks noGrp="1"/>
          </p:cNvSpPr>
          <p:nvPr>
            <p:ph type="title"/>
          </p:nvPr>
        </p:nvSpPr>
        <p:spPr>
          <a:xfrm>
            <a:off x="838200" y="365125"/>
            <a:ext cx="10515600" cy="1325563"/>
          </a:xfrm>
        </p:spPr>
        <p:txBody>
          <a:bodyPr>
            <a:normAutofit/>
          </a:bodyPr>
          <a:lstStyle/>
          <a:p>
            <a:r>
              <a:rPr lang="tr-TR" sz="4000" b="1" dirty="0">
                <a:latin typeface="Aptos gövde"/>
              </a:rPr>
              <a:t>Maden ocaklarında yeraltı işleri</a:t>
            </a:r>
            <a:endParaRPr lang="tr-TR" sz="40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780FD313-0826-C5D2-B084-09FEF93A3208}"/>
              </a:ext>
            </a:extLst>
          </p:cNvPr>
          <p:cNvSpPr>
            <a:spLocks noGrp="1"/>
          </p:cNvSpPr>
          <p:nvPr>
            <p:ph idx="1"/>
          </p:nvPr>
        </p:nvSpPr>
        <p:spPr>
          <a:xfrm>
            <a:off x="838200" y="1929384"/>
            <a:ext cx="10515600" cy="4910328"/>
          </a:xfrm>
        </p:spPr>
        <p:txBody>
          <a:bodyPr>
            <a:noAutofit/>
          </a:bodyPr>
          <a:lstStyle/>
          <a:p>
            <a:pPr marL="0" indent="0">
              <a:buNone/>
            </a:pPr>
            <a:r>
              <a:rPr lang="tr-TR" sz="2000" b="1" dirty="0">
                <a:solidFill>
                  <a:schemeClr val="accent5"/>
                </a:solidFill>
                <a:latin typeface="Aptos gövde"/>
              </a:rPr>
              <a:t>Havalandırma </a:t>
            </a:r>
          </a:p>
          <a:p>
            <a:pPr marL="0" indent="0">
              <a:spcBef>
                <a:spcPts val="0"/>
              </a:spcBef>
              <a:buNone/>
            </a:pPr>
            <a:endParaRPr lang="tr-TR" sz="2000" b="1" dirty="0">
              <a:latin typeface="Aptos gövde"/>
            </a:endParaRPr>
          </a:p>
          <a:p>
            <a:pPr>
              <a:buClr>
                <a:schemeClr val="accent5"/>
              </a:buClr>
              <a:buFont typeface="Wingdings" panose="05000000000000000000" pitchFamily="2" charset="2"/>
              <a:buChar char="Ø"/>
            </a:pPr>
            <a:r>
              <a:rPr lang="tr-TR" sz="2000" dirty="0">
                <a:latin typeface="Aptos gövde"/>
              </a:rPr>
              <a:t>İşçilerin çalıştığı bütün yeraltı işyerlerinde sağlığa uygun solunabilir yeterli havalandırma sağlanacaktır. </a:t>
            </a:r>
          </a:p>
          <a:p>
            <a:pPr>
              <a:buClr>
                <a:schemeClr val="accent5"/>
              </a:buClr>
              <a:buFont typeface="Wingdings" panose="05000000000000000000" pitchFamily="2" charset="2"/>
              <a:buChar char="Ø"/>
            </a:pPr>
            <a:r>
              <a:rPr lang="tr-TR" sz="2000" dirty="0">
                <a:latin typeface="Aptos gövde"/>
              </a:rPr>
              <a:t>Havalandırmanın sürekliliğini ve kararlığını sağlayacak önlemler alınacaktır. </a:t>
            </a:r>
          </a:p>
          <a:p>
            <a:pPr>
              <a:buClr>
                <a:schemeClr val="accent5"/>
              </a:buClr>
              <a:buFont typeface="Wingdings" panose="05000000000000000000" pitchFamily="2" charset="2"/>
              <a:buChar char="Ø"/>
            </a:pPr>
            <a:r>
              <a:rPr lang="tr-TR" sz="2000" dirty="0">
                <a:latin typeface="Aptos gövde"/>
              </a:rPr>
              <a:t>Havalandırma ile ilgili değerler periyodik olarak ölçülecek ve ölçüm sonuçları kaydedilecektir. </a:t>
            </a:r>
          </a:p>
          <a:p>
            <a:pPr>
              <a:buClr>
                <a:schemeClr val="accent5"/>
              </a:buClr>
              <a:buFont typeface="Wingdings" panose="05000000000000000000" pitchFamily="2" charset="2"/>
              <a:buChar char="Ø"/>
            </a:pPr>
            <a:r>
              <a:rPr lang="tr-TR" sz="2000" dirty="0">
                <a:latin typeface="Aptos gövde"/>
              </a:rPr>
              <a:t>Havalandırma sistemlerinin devre dışı kalmaması için bunlar devamlı surette izlenecek ve istenmeyen devre dışı kalmaları bildirecek otomatik alarm sistemi bulunacaktır. </a:t>
            </a:r>
          </a:p>
          <a:p>
            <a:pPr>
              <a:buClr>
                <a:schemeClr val="accent5"/>
              </a:buClr>
              <a:buFont typeface="Wingdings" panose="05000000000000000000" pitchFamily="2" charset="2"/>
              <a:buChar char="Ø"/>
            </a:pPr>
            <a:r>
              <a:rPr lang="tr-TR" sz="2000" dirty="0">
                <a:latin typeface="Aptos gövde"/>
              </a:rPr>
              <a:t>Bütün </a:t>
            </a:r>
            <a:r>
              <a:rPr lang="tr-TR" sz="2000" dirty="0" err="1">
                <a:latin typeface="Aptos gövde"/>
              </a:rPr>
              <a:t>grizulu</a:t>
            </a:r>
            <a:r>
              <a:rPr lang="tr-TR" sz="2000" dirty="0">
                <a:latin typeface="Aptos gövde"/>
              </a:rPr>
              <a:t> ocaklarda, her biri tek başına ocağın havalandırılmasını sağlayacak güçte, birinin herhangi bir nedenle durması halinde, diğeri hemen  çalışacak durumda olan iki havalandırma grubu bulunmalıdır.</a:t>
            </a:r>
          </a:p>
          <a:p>
            <a:pPr>
              <a:buClr>
                <a:schemeClr val="accent5"/>
              </a:buClr>
              <a:buFont typeface="Wingdings" panose="05000000000000000000" pitchFamily="2" charset="2"/>
              <a:buChar char="Ø"/>
            </a:pPr>
            <a:r>
              <a:rPr lang="tr-TR" sz="2000" dirty="0">
                <a:latin typeface="Aptos gövde"/>
              </a:rPr>
              <a:t>Havalandırma ve aydınlatmayı tehlikeye düşürmemek amacıyla elektrik kesintileri sırasında devreye girecek yedek enerji kaynağı bulundurulmalıdır. </a:t>
            </a:r>
          </a:p>
          <a:p>
            <a:pPr>
              <a:buClr>
                <a:schemeClr val="accent5"/>
              </a:buClr>
              <a:buFont typeface="Wingdings" panose="05000000000000000000" pitchFamily="2" charset="2"/>
              <a:buChar char="Ø"/>
            </a:pPr>
            <a:r>
              <a:rPr lang="tr-TR" sz="2000" dirty="0">
                <a:latin typeface="Aptos gövde"/>
              </a:rPr>
              <a:t>Havalandırma esas itibariyle aşağıdan yukarıya doğru yapılır. </a:t>
            </a:r>
          </a:p>
        </p:txBody>
      </p:sp>
    </p:spTree>
    <p:extLst>
      <p:ext uri="{BB962C8B-B14F-4D97-AF65-F5344CB8AC3E}">
        <p14:creationId xmlns:p14="http://schemas.microsoft.com/office/powerpoint/2010/main" val="3172124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362E14-7D91-38A2-ACEF-64F2F0A3D98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119FB8A-3350-41DE-BDA8-2DEDBA0F4D82}"/>
              </a:ext>
            </a:extLst>
          </p:cNvPr>
          <p:cNvSpPr>
            <a:spLocks noGrp="1"/>
          </p:cNvSpPr>
          <p:nvPr>
            <p:ph type="title"/>
          </p:nvPr>
        </p:nvSpPr>
        <p:spPr>
          <a:xfrm>
            <a:off x="630936" y="640080"/>
            <a:ext cx="4818888" cy="1481328"/>
          </a:xfrm>
        </p:spPr>
        <p:txBody>
          <a:bodyPr anchor="b">
            <a:normAutofit/>
          </a:bodyPr>
          <a:lstStyle/>
          <a:p>
            <a:r>
              <a:rPr lang="tr-TR" sz="4000" b="1" dirty="0">
                <a:latin typeface="Aptos gövde"/>
              </a:rPr>
              <a:t>Maden ocaklarında yeraltı işleri</a:t>
            </a:r>
            <a:endParaRPr lang="tr-TR" sz="4000" dirty="0"/>
          </a:p>
        </p:txBody>
      </p:sp>
      <p:sp>
        <p:nvSpPr>
          <p:cNvPr id="1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33FB4DEF-396D-5999-F43D-5BB931B44B23}"/>
              </a:ext>
            </a:extLst>
          </p:cNvPr>
          <p:cNvSpPr>
            <a:spLocks noGrp="1"/>
          </p:cNvSpPr>
          <p:nvPr>
            <p:ph idx="1"/>
          </p:nvPr>
        </p:nvSpPr>
        <p:spPr>
          <a:xfrm>
            <a:off x="329264" y="2526030"/>
            <a:ext cx="7138218" cy="4197096"/>
          </a:xfrm>
        </p:spPr>
        <p:txBody>
          <a:bodyPr anchor="t">
            <a:noAutofit/>
          </a:bodyPr>
          <a:lstStyle/>
          <a:p>
            <a:pPr marL="0" indent="0">
              <a:buNone/>
            </a:pPr>
            <a:r>
              <a:rPr lang="tr-TR" sz="2000" b="1" dirty="0">
                <a:latin typeface="Aptos gövde"/>
              </a:rPr>
              <a:t>    </a:t>
            </a:r>
            <a:r>
              <a:rPr lang="tr-TR" sz="2000" b="1" dirty="0">
                <a:solidFill>
                  <a:schemeClr val="accent5"/>
                </a:solidFill>
                <a:latin typeface="Aptos gövde"/>
              </a:rPr>
              <a:t>Havalandırma</a:t>
            </a:r>
          </a:p>
          <a:p>
            <a:pPr marL="0" indent="0">
              <a:spcBef>
                <a:spcPts val="0"/>
              </a:spcBef>
              <a:buNone/>
            </a:pPr>
            <a:endParaRPr lang="tr-TR" sz="2000" b="1" dirty="0">
              <a:latin typeface="Aptos gövde"/>
            </a:endParaRPr>
          </a:p>
          <a:p>
            <a:r>
              <a:rPr lang="tr-TR" sz="2000" u="sng" dirty="0">
                <a:latin typeface="Aptos gövde"/>
              </a:rPr>
              <a:t>H</a:t>
            </a:r>
            <a:r>
              <a:rPr lang="pt-BR" sz="2000" u="sng" dirty="0">
                <a:latin typeface="Aptos gövde"/>
              </a:rPr>
              <a:t>ava hızı</a:t>
            </a:r>
            <a:r>
              <a:rPr lang="pt-BR" sz="2000" dirty="0">
                <a:latin typeface="Aptos gövde"/>
              </a:rPr>
              <a:t>, saniyede 8 m</a:t>
            </a:r>
            <a:r>
              <a:rPr lang="tr-TR" sz="2000" dirty="0">
                <a:latin typeface="Aptos gövde"/>
              </a:rPr>
              <a:t>/sn </a:t>
            </a:r>
            <a:r>
              <a:rPr lang="pt-BR" sz="2000" dirty="0">
                <a:latin typeface="Aptos gövde"/>
              </a:rPr>
              <a:t>geç</a:t>
            </a:r>
            <a:r>
              <a:rPr lang="tr-TR" sz="2000" dirty="0">
                <a:latin typeface="Aptos gövde"/>
              </a:rPr>
              <a:t>memelidir.</a:t>
            </a:r>
            <a:endParaRPr lang="tr-TR" sz="2000" b="1" dirty="0">
              <a:latin typeface="Aptos gövde"/>
            </a:endParaRPr>
          </a:p>
          <a:p>
            <a:r>
              <a:rPr lang="tr-TR" sz="2000" dirty="0">
                <a:latin typeface="Aptos gövde"/>
              </a:rPr>
              <a:t>8 saatlik çalışma için müsaade edilen </a:t>
            </a:r>
            <a:r>
              <a:rPr lang="tr-TR" sz="2000" dirty="0" err="1">
                <a:latin typeface="Aptos gövde"/>
              </a:rPr>
              <a:t>max</a:t>
            </a:r>
            <a:r>
              <a:rPr lang="tr-TR" sz="2000" dirty="0">
                <a:latin typeface="Aptos gövde"/>
              </a:rPr>
              <a:t>. h</a:t>
            </a:r>
            <a:r>
              <a:rPr lang="tr-TR" sz="2000" dirty="0" smtClean="0">
                <a:latin typeface="Aptos gövde"/>
              </a:rPr>
              <a:t>idrojen sülfür </a:t>
            </a:r>
            <a:r>
              <a:rPr lang="tr-TR" sz="2000" dirty="0">
                <a:latin typeface="Aptos gövde"/>
              </a:rPr>
              <a:t>(H</a:t>
            </a:r>
            <a:r>
              <a:rPr lang="tr-TR" sz="2000" baseline="-25000" dirty="0">
                <a:latin typeface="Aptos gövde"/>
              </a:rPr>
              <a:t>2</a:t>
            </a:r>
            <a:r>
              <a:rPr lang="tr-TR" sz="2000" dirty="0">
                <a:latin typeface="Aptos gövde"/>
              </a:rPr>
              <a:t>S) oranı 20 ppm (% 0,002)’</a:t>
            </a:r>
            <a:r>
              <a:rPr lang="tr-TR" sz="2000" dirty="0" err="1">
                <a:latin typeface="Aptos gövde"/>
              </a:rPr>
              <a:t>dir</a:t>
            </a:r>
            <a:r>
              <a:rPr lang="tr-TR" sz="2000" dirty="0">
                <a:latin typeface="Aptos gövde"/>
              </a:rPr>
              <a:t>.</a:t>
            </a:r>
          </a:p>
          <a:p>
            <a:r>
              <a:rPr lang="tr-TR" sz="2000" dirty="0">
                <a:latin typeface="Aptos gövde"/>
              </a:rPr>
              <a:t>Havalandırma grubunun en az iki enerji kaynağından beslenmesi gerekir.</a:t>
            </a:r>
          </a:p>
          <a:p>
            <a:r>
              <a:rPr lang="tr-TR" sz="2000" dirty="0">
                <a:latin typeface="Aptos gövde"/>
              </a:rPr>
              <a:t>%19 dan az 0</a:t>
            </a:r>
            <a:r>
              <a:rPr lang="tr-TR" sz="2000" baseline="-25000" dirty="0">
                <a:latin typeface="Aptos gövde"/>
              </a:rPr>
              <a:t>2</a:t>
            </a:r>
            <a:r>
              <a:rPr lang="tr-TR" sz="2000" dirty="0">
                <a:latin typeface="Aptos gövde"/>
              </a:rPr>
              <a:t> </a:t>
            </a:r>
          </a:p>
          <a:p>
            <a:pPr marL="0" indent="0">
              <a:buNone/>
            </a:pPr>
            <a:r>
              <a:rPr lang="tr-TR" sz="2000" dirty="0">
                <a:latin typeface="Aptos gövde"/>
              </a:rPr>
              <a:t>    %2 den çok metan (CH</a:t>
            </a:r>
            <a:r>
              <a:rPr lang="tr-TR" sz="2000" baseline="-25000" dirty="0">
                <a:latin typeface="Aptos gövde"/>
              </a:rPr>
              <a:t>4</a:t>
            </a:r>
            <a:r>
              <a:rPr lang="tr-TR" sz="2000" dirty="0">
                <a:latin typeface="Aptos gövde"/>
              </a:rPr>
              <a:t>)</a:t>
            </a:r>
          </a:p>
          <a:p>
            <a:pPr marL="0" indent="0">
              <a:buNone/>
            </a:pPr>
            <a:r>
              <a:rPr lang="tr-TR" sz="2000" dirty="0">
                <a:latin typeface="Aptos gövde"/>
              </a:rPr>
              <a:t>    </a:t>
            </a:r>
            <a:r>
              <a:rPr lang="tr-TR" sz="2000" dirty="0" smtClean="0">
                <a:latin typeface="Aptos gövde"/>
              </a:rPr>
              <a:t>%0.5 </a:t>
            </a:r>
            <a:r>
              <a:rPr lang="tr-TR" sz="2000" dirty="0">
                <a:latin typeface="Aptos gövde"/>
              </a:rPr>
              <a:t>den fazla CO</a:t>
            </a:r>
            <a:r>
              <a:rPr lang="tr-TR" sz="2000" baseline="-25000" dirty="0">
                <a:latin typeface="Aptos gövde"/>
              </a:rPr>
              <a:t>2</a:t>
            </a:r>
            <a:r>
              <a:rPr lang="tr-TR" sz="2000" dirty="0">
                <a:latin typeface="Aptos gövde"/>
              </a:rPr>
              <a:t> </a:t>
            </a:r>
          </a:p>
          <a:p>
            <a:pPr marL="0" indent="0">
              <a:buNone/>
            </a:pPr>
            <a:r>
              <a:rPr lang="tr-TR" sz="2000" dirty="0">
                <a:latin typeface="Aptos gövde"/>
              </a:rPr>
              <a:t>    50 ppm (%0.005) den çok karbonmonoksit (CO) ve diğer tehlikeli gazlar tespit edilen havada çalışma yapılamaz.</a:t>
            </a:r>
          </a:p>
        </p:txBody>
      </p:sp>
      <p:graphicFrame>
        <p:nvGraphicFramePr>
          <p:cNvPr id="4" name="Tablo 3">
            <a:extLst>
              <a:ext uri="{FF2B5EF4-FFF2-40B4-BE49-F238E27FC236}">
                <a16:creationId xmlns:a16="http://schemas.microsoft.com/office/drawing/2014/main" id="{FAA9BCE8-99A0-7DE2-BE37-2799C2F00CE0}"/>
              </a:ext>
            </a:extLst>
          </p:cNvPr>
          <p:cNvGraphicFramePr>
            <a:graphicFrameLocks noGrp="1"/>
          </p:cNvGraphicFramePr>
          <p:nvPr>
            <p:extLst>
              <p:ext uri="{D42A27DB-BD31-4B8C-83A1-F6EECF244321}">
                <p14:modId xmlns:p14="http://schemas.microsoft.com/office/powerpoint/2010/main" val="4137306606"/>
              </p:ext>
            </p:extLst>
          </p:nvPr>
        </p:nvGraphicFramePr>
        <p:xfrm>
          <a:off x="7639666" y="2121408"/>
          <a:ext cx="4143730" cy="2235957"/>
        </p:xfrm>
        <a:graphic>
          <a:graphicData uri="http://schemas.openxmlformats.org/drawingml/2006/table">
            <a:tbl>
              <a:tblPr firstRow="1" bandRow="1">
                <a:tableStyleId>{5C22544A-7EE6-4342-B048-85BDC9FD1C3A}</a:tableStyleId>
              </a:tblPr>
              <a:tblGrid>
                <a:gridCol w="2615487">
                  <a:extLst>
                    <a:ext uri="{9D8B030D-6E8A-4147-A177-3AD203B41FA5}">
                      <a16:colId xmlns:a16="http://schemas.microsoft.com/office/drawing/2014/main" val="1063465900"/>
                    </a:ext>
                  </a:extLst>
                </a:gridCol>
                <a:gridCol w="1528243">
                  <a:extLst>
                    <a:ext uri="{9D8B030D-6E8A-4147-A177-3AD203B41FA5}">
                      <a16:colId xmlns:a16="http://schemas.microsoft.com/office/drawing/2014/main" val="2699855911"/>
                    </a:ext>
                  </a:extLst>
                </a:gridCol>
              </a:tblGrid>
              <a:tr h="831651">
                <a:tc gridSpan="2">
                  <a:txBody>
                    <a:bodyPr/>
                    <a:lstStyle/>
                    <a:p>
                      <a:r>
                        <a:rPr lang="tr-TR" sz="2000" dirty="0">
                          <a:latin typeface="Aptos gövde"/>
                        </a:rPr>
                        <a:t>Çalışan işçi başına gerekli hava miktarı</a:t>
                      </a:r>
                    </a:p>
                  </a:txBody>
                  <a:tcPr marL="159580" marR="159580" marT="79790" marB="79790"/>
                </a:tc>
                <a:tc hMerge="1">
                  <a:txBody>
                    <a:bodyPr/>
                    <a:lstStyle/>
                    <a:p>
                      <a:endParaRPr lang="tr-TR"/>
                    </a:p>
                  </a:txBody>
                  <a:tcPr/>
                </a:tc>
                <a:extLst>
                  <a:ext uri="{0D108BD9-81ED-4DB2-BD59-A6C34878D82A}">
                    <a16:rowId xmlns:a16="http://schemas.microsoft.com/office/drawing/2014/main" val="2470958802"/>
                  </a:ext>
                </a:extLst>
              </a:tr>
              <a:tr h="702153">
                <a:tc>
                  <a:txBody>
                    <a:bodyPr/>
                    <a:lstStyle/>
                    <a:p>
                      <a:r>
                        <a:rPr lang="tr-TR" sz="2000" dirty="0" err="1">
                          <a:latin typeface="Aptos gövde"/>
                        </a:rPr>
                        <a:t>Grizusuz</a:t>
                      </a:r>
                      <a:r>
                        <a:rPr lang="tr-TR" sz="2000" dirty="0">
                          <a:latin typeface="Aptos gövde"/>
                        </a:rPr>
                        <a:t> ocaklarda</a:t>
                      </a:r>
                    </a:p>
                  </a:txBody>
                  <a:tcPr marL="159580" marR="159580" marT="79790" marB="79790"/>
                </a:tc>
                <a:tc>
                  <a:txBody>
                    <a:bodyPr/>
                    <a:lstStyle/>
                    <a:p>
                      <a:pPr algn="ctr"/>
                      <a:r>
                        <a:rPr lang="tr-TR" sz="2000">
                          <a:latin typeface="Aptos gövde"/>
                        </a:rPr>
                        <a:t>3 m</a:t>
                      </a:r>
                      <a:r>
                        <a:rPr lang="tr-TR" sz="2000" baseline="30000">
                          <a:latin typeface="Aptos gövde"/>
                        </a:rPr>
                        <a:t>3</a:t>
                      </a:r>
                      <a:r>
                        <a:rPr lang="tr-TR" sz="2000">
                          <a:latin typeface="Aptos gövde"/>
                        </a:rPr>
                        <a:t>/ dk</a:t>
                      </a:r>
                    </a:p>
                  </a:txBody>
                  <a:tcPr marL="159580" marR="159580" marT="79790" marB="79790"/>
                </a:tc>
                <a:extLst>
                  <a:ext uri="{0D108BD9-81ED-4DB2-BD59-A6C34878D82A}">
                    <a16:rowId xmlns:a16="http://schemas.microsoft.com/office/drawing/2014/main" val="1896746762"/>
                  </a:ext>
                </a:extLst>
              </a:tr>
              <a:tr h="702153">
                <a:tc>
                  <a:txBody>
                    <a:bodyPr/>
                    <a:lstStyle/>
                    <a:p>
                      <a:r>
                        <a:rPr lang="tr-TR" sz="2000" dirty="0" err="1">
                          <a:latin typeface="Aptos gövde"/>
                        </a:rPr>
                        <a:t>Grizulu</a:t>
                      </a:r>
                      <a:r>
                        <a:rPr lang="tr-TR" sz="2000" dirty="0">
                          <a:latin typeface="Aptos gövde"/>
                        </a:rPr>
                        <a:t> ocaklarda</a:t>
                      </a:r>
                    </a:p>
                  </a:txBody>
                  <a:tcPr marL="159580" marR="159580" marT="79790" marB="79790"/>
                </a:tc>
                <a:tc>
                  <a:txBody>
                    <a:bodyPr/>
                    <a:lstStyle/>
                    <a:p>
                      <a:pPr algn="ctr"/>
                      <a:r>
                        <a:rPr lang="tr-TR" sz="2000" dirty="0">
                          <a:latin typeface="Aptos gövde"/>
                        </a:rPr>
                        <a:t>6 m</a:t>
                      </a:r>
                      <a:r>
                        <a:rPr lang="tr-TR" sz="2000" baseline="30000" dirty="0">
                          <a:latin typeface="Aptos gövde"/>
                        </a:rPr>
                        <a:t>3</a:t>
                      </a:r>
                      <a:r>
                        <a:rPr lang="tr-TR" sz="2000" dirty="0">
                          <a:latin typeface="Aptos gövde"/>
                        </a:rPr>
                        <a:t>/ dk</a:t>
                      </a:r>
                    </a:p>
                  </a:txBody>
                  <a:tcPr marL="159580" marR="159580" marT="79790" marB="79790"/>
                </a:tc>
                <a:extLst>
                  <a:ext uri="{0D108BD9-81ED-4DB2-BD59-A6C34878D82A}">
                    <a16:rowId xmlns:a16="http://schemas.microsoft.com/office/drawing/2014/main" val="1946220729"/>
                  </a:ext>
                </a:extLst>
              </a:tr>
            </a:tbl>
          </a:graphicData>
        </a:graphic>
      </p:graphicFrame>
    </p:spTree>
    <p:extLst>
      <p:ext uri="{BB962C8B-B14F-4D97-AF65-F5344CB8AC3E}">
        <p14:creationId xmlns:p14="http://schemas.microsoft.com/office/powerpoint/2010/main" val="3560966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çerik Yer Tutucusu 5"/>
          <p:cNvPicPr>
            <a:picLocks noGrp="1" noChangeAspect="1"/>
          </p:cNvPicPr>
          <p:nvPr>
            <p:ph idx="1"/>
          </p:nvPr>
        </p:nvPicPr>
        <p:blipFill rotWithShape="1">
          <a:blip r:embed="rId2"/>
          <a:srcRect b="9722"/>
          <a:stretch/>
        </p:blipFill>
        <p:spPr>
          <a:xfrm>
            <a:off x="1004552" y="216336"/>
            <a:ext cx="9762185" cy="5875371"/>
          </a:xfrm>
          <a:prstGeom prst="rect">
            <a:avLst/>
          </a:prstGeom>
        </p:spPr>
      </p:pic>
      <p:sp>
        <p:nvSpPr>
          <p:cNvPr id="7" name="Metin kutusu 6"/>
          <p:cNvSpPr txBox="1"/>
          <p:nvPr/>
        </p:nvSpPr>
        <p:spPr>
          <a:xfrm>
            <a:off x="3818585" y="6181859"/>
            <a:ext cx="4134118" cy="369332"/>
          </a:xfrm>
          <a:prstGeom prst="rect">
            <a:avLst/>
          </a:prstGeom>
          <a:noFill/>
        </p:spPr>
        <p:txBody>
          <a:bodyPr wrap="square" rtlCol="0">
            <a:spAutoFit/>
          </a:bodyPr>
          <a:lstStyle/>
          <a:p>
            <a:r>
              <a:rPr lang="tr-TR" dirty="0"/>
              <a:t>Yeraltı havalandırma ağı konfigürasyonu</a:t>
            </a:r>
          </a:p>
        </p:txBody>
      </p:sp>
    </p:spTree>
    <p:extLst>
      <p:ext uri="{BB962C8B-B14F-4D97-AF65-F5344CB8AC3E}">
        <p14:creationId xmlns:p14="http://schemas.microsoft.com/office/powerpoint/2010/main" val="207154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2A6BE37-052C-E659-AAC2-A91E7947B3F0}"/>
              </a:ext>
            </a:extLst>
          </p:cNvPr>
          <p:cNvSpPr>
            <a:spLocks noGrp="1"/>
          </p:cNvSpPr>
          <p:nvPr>
            <p:ph type="title"/>
          </p:nvPr>
        </p:nvSpPr>
        <p:spPr/>
        <p:txBody>
          <a:bodyPr>
            <a:normAutofit/>
          </a:bodyPr>
          <a:lstStyle/>
          <a:p>
            <a:r>
              <a:rPr lang="tr-TR" sz="4000" b="1" dirty="0">
                <a:latin typeface="Aptos gövde"/>
              </a:rPr>
              <a:t>Maden ocaklarında yeraltı işleri</a:t>
            </a:r>
            <a:endParaRPr lang="tr-TR" sz="4000" dirty="0"/>
          </a:p>
        </p:txBody>
      </p:sp>
      <p:sp>
        <p:nvSpPr>
          <p:cNvPr id="3" name="İçerik Yer Tutucusu 2">
            <a:extLst>
              <a:ext uri="{FF2B5EF4-FFF2-40B4-BE49-F238E27FC236}">
                <a16:creationId xmlns:a16="http://schemas.microsoft.com/office/drawing/2014/main" id="{0A91DFF2-F5B1-F390-3B22-98CD1DD2DA49}"/>
              </a:ext>
            </a:extLst>
          </p:cNvPr>
          <p:cNvSpPr>
            <a:spLocks noGrp="1"/>
          </p:cNvSpPr>
          <p:nvPr>
            <p:ph idx="1"/>
          </p:nvPr>
        </p:nvSpPr>
        <p:spPr>
          <a:xfrm>
            <a:off x="838200" y="1825625"/>
            <a:ext cx="10515600" cy="4910026"/>
          </a:xfrm>
        </p:spPr>
        <p:txBody>
          <a:bodyPr>
            <a:normAutofit fontScale="85000" lnSpcReduction="20000"/>
          </a:bodyPr>
          <a:lstStyle/>
          <a:p>
            <a:pPr marL="0" indent="0">
              <a:buNone/>
            </a:pPr>
            <a:r>
              <a:rPr lang="tr-TR" b="1" dirty="0">
                <a:solidFill>
                  <a:schemeClr val="accent6">
                    <a:lumMod val="75000"/>
                  </a:schemeClr>
                </a:solidFill>
              </a:rPr>
              <a:t>Tozla mücadele</a:t>
            </a:r>
          </a:p>
          <a:p>
            <a:pPr marL="0" indent="0">
              <a:buNone/>
            </a:pPr>
            <a:r>
              <a:rPr lang="tr-TR" sz="2000" dirty="0">
                <a:latin typeface="Aptos gövde"/>
              </a:rPr>
              <a:t>   </a:t>
            </a:r>
            <a:r>
              <a:rPr lang="en-US" sz="2200" dirty="0">
                <a:latin typeface="Aptos gövde"/>
              </a:rPr>
              <a:t>Toz, </a:t>
            </a:r>
            <a:r>
              <a:rPr lang="tr-TR" sz="2200" dirty="0">
                <a:latin typeface="Aptos gövde"/>
              </a:rPr>
              <a:t>genel anlamda kayaç</a:t>
            </a:r>
            <a:r>
              <a:rPr lang="en-US" sz="2200" dirty="0">
                <a:latin typeface="Aptos gövde"/>
              </a:rPr>
              <a:t> </a:t>
            </a:r>
            <a:r>
              <a:rPr lang="tr-TR" sz="2200" dirty="0">
                <a:latin typeface="Aptos gövde"/>
              </a:rPr>
              <a:t>ve cevherin mekanik </a:t>
            </a:r>
            <a:r>
              <a:rPr lang="en-US" sz="2200" dirty="0" err="1">
                <a:latin typeface="Aptos gövde"/>
              </a:rPr>
              <a:t>i</a:t>
            </a:r>
            <a:r>
              <a:rPr lang="tr-TR" sz="2200" dirty="0">
                <a:latin typeface="Aptos gövde"/>
              </a:rPr>
              <a:t>ş</a:t>
            </a:r>
            <a:r>
              <a:rPr lang="en-US" sz="2200" dirty="0">
                <a:latin typeface="Aptos gövde"/>
              </a:rPr>
              <a:t>lemler sonucunda</a:t>
            </a:r>
            <a:r>
              <a:rPr lang="tr-TR" sz="2200" dirty="0">
                <a:latin typeface="Aptos gövde"/>
              </a:rPr>
              <a:t> </a:t>
            </a:r>
            <a:r>
              <a:rPr lang="pt-BR" sz="2200" dirty="0">
                <a:latin typeface="Aptos gövde"/>
              </a:rPr>
              <a:t>k</a:t>
            </a:r>
            <a:r>
              <a:rPr lang="tr-TR" sz="2200" dirty="0">
                <a:latin typeface="Aptos gövde"/>
              </a:rPr>
              <a:t>üçük</a:t>
            </a:r>
            <a:r>
              <a:rPr lang="pt-BR" sz="2200" dirty="0">
                <a:latin typeface="Aptos gövde"/>
              </a:rPr>
              <a:t> parçalara</a:t>
            </a:r>
            <a:r>
              <a:rPr lang="tr-TR" sz="2200" dirty="0">
                <a:latin typeface="Aptos gövde"/>
              </a:rPr>
              <a:t> </a:t>
            </a:r>
            <a:r>
              <a:rPr lang="pt-BR" sz="2200" dirty="0">
                <a:latin typeface="Aptos gövde"/>
              </a:rPr>
              <a:t>ayr</a:t>
            </a:r>
            <a:r>
              <a:rPr lang="tr-TR" sz="2200" dirty="0">
                <a:latin typeface="Aptos gövde"/>
              </a:rPr>
              <a:t>ı</a:t>
            </a:r>
            <a:r>
              <a:rPr lang="pt-BR" sz="2200" dirty="0">
                <a:latin typeface="Aptos gövde"/>
              </a:rPr>
              <a:t>lmas</a:t>
            </a:r>
            <a:r>
              <a:rPr lang="tr-TR" sz="2200" dirty="0">
                <a:latin typeface="Aptos gövde"/>
              </a:rPr>
              <a:t>ı</a:t>
            </a:r>
            <a:r>
              <a:rPr lang="pt-BR" sz="2200" dirty="0">
                <a:latin typeface="Aptos gövde"/>
              </a:rPr>
              <a:t> ile olu</a:t>
            </a:r>
            <a:r>
              <a:rPr lang="tr-TR" sz="2200" dirty="0">
                <a:latin typeface="Aptos gövde"/>
              </a:rPr>
              <a:t>ş</a:t>
            </a:r>
            <a:r>
              <a:rPr lang="pt-BR" sz="2200" dirty="0">
                <a:latin typeface="Aptos gövde"/>
              </a:rPr>
              <a:t>mu</a:t>
            </a:r>
            <a:r>
              <a:rPr lang="tr-TR" sz="2200" dirty="0">
                <a:latin typeface="Aptos gövde"/>
              </a:rPr>
              <a:t>ş</a:t>
            </a:r>
            <a:r>
              <a:rPr lang="pt-BR" sz="2200" dirty="0">
                <a:latin typeface="Aptos gövde"/>
              </a:rPr>
              <a:t>,</a:t>
            </a:r>
            <a:r>
              <a:rPr lang="tr-TR" sz="2200" dirty="0">
                <a:latin typeface="Aptos gövde"/>
              </a:rPr>
              <a:t> ç</a:t>
            </a:r>
            <a:r>
              <a:rPr lang="pt-BR" sz="2200" dirty="0">
                <a:latin typeface="Aptos gövde"/>
              </a:rPr>
              <a:t>ap</a:t>
            </a:r>
            <a:r>
              <a:rPr lang="tr-TR" sz="2200" dirty="0">
                <a:latin typeface="Aptos gövde"/>
              </a:rPr>
              <a:t>ı</a:t>
            </a:r>
            <a:r>
              <a:rPr lang="pt-BR" sz="2200" dirty="0">
                <a:latin typeface="Aptos gövde"/>
              </a:rPr>
              <a:t> 1 </a:t>
            </a:r>
            <a:r>
              <a:rPr lang="tr-TR" sz="2200" dirty="0">
                <a:latin typeface="Aptos gövde"/>
              </a:rPr>
              <a:t>mm’den</a:t>
            </a:r>
            <a:r>
              <a:rPr lang="pt-BR" sz="2200" dirty="0">
                <a:latin typeface="Aptos gövde"/>
              </a:rPr>
              <a:t> k</a:t>
            </a:r>
            <a:r>
              <a:rPr lang="tr-TR" sz="2200" dirty="0">
                <a:latin typeface="Aptos gövde"/>
              </a:rPr>
              <a:t>üçük</a:t>
            </a:r>
            <a:r>
              <a:rPr lang="pt-BR" sz="2200" dirty="0">
                <a:latin typeface="Aptos gövde"/>
              </a:rPr>
              <a:t>, hava i</a:t>
            </a:r>
            <a:r>
              <a:rPr lang="tr-TR" sz="2200" dirty="0">
                <a:latin typeface="Aptos gövde"/>
              </a:rPr>
              <a:t>ç</a:t>
            </a:r>
            <a:r>
              <a:rPr lang="pt-BR" sz="2200" dirty="0">
                <a:latin typeface="Aptos gövde"/>
              </a:rPr>
              <a:t>inde</a:t>
            </a:r>
            <a:r>
              <a:rPr lang="tr-TR" sz="2200" dirty="0">
                <a:latin typeface="Aptos gövde"/>
              </a:rPr>
              <a:t> </a:t>
            </a:r>
            <a:r>
              <a:rPr lang="en-US" sz="2200" dirty="0">
                <a:latin typeface="Aptos gövde"/>
              </a:rPr>
              <a:t>as</a:t>
            </a:r>
            <a:r>
              <a:rPr lang="tr-TR" sz="2200" dirty="0">
                <a:latin typeface="Aptos gövde"/>
              </a:rPr>
              <a:t>ı</a:t>
            </a:r>
            <a:r>
              <a:rPr lang="en-US" sz="2200" dirty="0">
                <a:latin typeface="Aptos gövde"/>
              </a:rPr>
              <a:t>l</a:t>
            </a:r>
            <a:r>
              <a:rPr lang="tr-TR" sz="2200" dirty="0">
                <a:latin typeface="Aptos gövde"/>
              </a:rPr>
              <a:t>ı</a:t>
            </a:r>
            <a:r>
              <a:rPr lang="en-US" sz="2200" dirty="0">
                <a:latin typeface="Aptos gövde"/>
              </a:rPr>
              <a:t> kalabilen veya zamanla </a:t>
            </a:r>
            <a:r>
              <a:rPr lang="tr-TR" sz="2200" dirty="0">
                <a:latin typeface="Aptos gövde"/>
              </a:rPr>
              <a:t>çö</a:t>
            </a:r>
            <a:r>
              <a:rPr lang="en-US" sz="2200" dirty="0">
                <a:latin typeface="Aptos gövde"/>
              </a:rPr>
              <a:t>ken par</a:t>
            </a:r>
            <a:r>
              <a:rPr lang="tr-TR" sz="2200" dirty="0">
                <a:latin typeface="Aptos gövde"/>
              </a:rPr>
              <a:t>ç</a:t>
            </a:r>
            <a:r>
              <a:rPr lang="en-US" sz="2200" dirty="0">
                <a:latin typeface="Aptos gövde"/>
              </a:rPr>
              <a:t>ac</a:t>
            </a:r>
            <a:r>
              <a:rPr lang="tr-TR" sz="2200" dirty="0">
                <a:latin typeface="Aptos gövde"/>
              </a:rPr>
              <a:t>ıklardı</a:t>
            </a:r>
            <a:r>
              <a:rPr lang="en-US" sz="2200" dirty="0">
                <a:latin typeface="Aptos gövde"/>
              </a:rPr>
              <a:t>r.</a:t>
            </a:r>
            <a:endParaRPr lang="tr-TR" sz="2200" dirty="0">
              <a:latin typeface="Aptos gövde"/>
            </a:endParaRPr>
          </a:p>
          <a:p>
            <a:pPr marL="0" indent="0">
              <a:buNone/>
            </a:pPr>
            <a:endParaRPr lang="en-US" sz="2000" dirty="0">
              <a:latin typeface="Aptos gövde"/>
            </a:endParaRPr>
          </a:p>
          <a:p>
            <a:pPr marL="0" indent="0">
              <a:buNone/>
            </a:pPr>
            <a:r>
              <a:rPr lang="tr-TR" sz="2200" u="sng" dirty="0">
                <a:latin typeface="Aptos gövde"/>
              </a:rPr>
              <a:t>Yeraltında tozun oluşumu;</a:t>
            </a:r>
          </a:p>
          <a:p>
            <a:pPr>
              <a:buFont typeface="Wingdings" panose="05000000000000000000" pitchFamily="2" charset="2"/>
              <a:buChar char="Ø"/>
            </a:pPr>
            <a:r>
              <a:rPr lang="tr-TR" sz="2200" dirty="0">
                <a:latin typeface="Aptos gövde"/>
              </a:rPr>
              <a:t>Delik delme,</a:t>
            </a:r>
          </a:p>
          <a:p>
            <a:pPr>
              <a:buFont typeface="Wingdings" panose="05000000000000000000" pitchFamily="2" charset="2"/>
              <a:buChar char="Ø"/>
            </a:pPr>
            <a:r>
              <a:rPr lang="tr-TR" sz="2200" dirty="0">
                <a:latin typeface="Aptos gövde"/>
              </a:rPr>
              <a:t>Patlayıcı madde kullanımı, </a:t>
            </a:r>
          </a:p>
          <a:p>
            <a:pPr>
              <a:buFont typeface="Wingdings" panose="05000000000000000000" pitchFamily="2" charset="2"/>
              <a:buChar char="Ø"/>
            </a:pPr>
            <a:r>
              <a:rPr lang="tr-TR" sz="2200" dirty="0">
                <a:latin typeface="Aptos gövde"/>
              </a:rPr>
              <a:t>Kuyu, </a:t>
            </a:r>
            <a:r>
              <a:rPr lang="tr-TR" sz="2200" dirty="0" err="1">
                <a:latin typeface="Aptos gövde"/>
              </a:rPr>
              <a:t>bür</a:t>
            </a:r>
            <a:r>
              <a:rPr lang="tr-TR" sz="2200" dirty="0">
                <a:latin typeface="Aptos gövde"/>
              </a:rPr>
              <a:t> kazıları,</a:t>
            </a:r>
          </a:p>
          <a:p>
            <a:pPr>
              <a:buFont typeface="Wingdings" panose="05000000000000000000" pitchFamily="2" charset="2"/>
              <a:buChar char="Ø"/>
            </a:pPr>
            <a:r>
              <a:rPr lang="tr-TR" sz="2200" dirty="0">
                <a:latin typeface="Aptos gövde"/>
              </a:rPr>
              <a:t>Taban, lağım ilerlemesi,</a:t>
            </a:r>
          </a:p>
          <a:p>
            <a:pPr>
              <a:buFont typeface="Wingdings" panose="05000000000000000000" pitchFamily="2" charset="2"/>
              <a:buChar char="Ø"/>
            </a:pPr>
            <a:r>
              <a:rPr lang="tr-TR" sz="2200" dirty="0">
                <a:latin typeface="Aptos gövde"/>
              </a:rPr>
              <a:t>Kömür kazısı,</a:t>
            </a:r>
          </a:p>
          <a:p>
            <a:pPr>
              <a:buFont typeface="Wingdings" panose="05000000000000000000" pitchFamily="2" charset="2"/>
              <a:buChar char="Ø"/>
            </a:pPr>
            <a:r>
              <a:rPr lang="tr-TR" sz="2200" dirty="0">
                <a:latin typeface="Aptos gövde"/>
              </a:rPr>
              <a:t>Nakliyat (yükleme, boşaltma ) esnasında</a:t>
            </a:r>
          </a:p>
          <a:p>
            <a:pPr>
              <a:buFont typeface="Wingdings" panose="05000000000000000000" pitchFamily="2" charset="2"/>
              <a:buChar char="Ø"/>
            </a:pPr>
            <a:r>
              <a:rPr lang="tr-TR" sz="2200" dirty="0">
                <a:latin typeface="Aptos gövde"/>
              </a:rPr>
              <a:t>Arka göçertme, dolgu</a:t>
            </a:r>
          </a:p>
          <a:p>
            <a:pPr marL="0" indent="0">
              <a:buNone/>
            </a:pPr>
            <a:endParaRPr lang="tr-TR" sz="2200" dirty="0">
              <a:latin typeface="Aptos gövde"/>
            </a:endParaRPr>
          </a:p>
          <a:p>
            <a:pPr marL="0" indent="0">
              <a:buNone/>
            </a:pPr>
            <a:r>
              <a:rPr lang="tr-TR" sz="2200" dirty="0">
                <a:latin typeface="Aptos gövde"/>
              </a:rPr>
              <a:t>   Oluşan tozların (taş ve kömür tozu) sağlığa zararı ve patlayıcı etkisi sebebiyle (özellikle kömür tozu), oluşumunu ve ocak havasına karışımını önlemek çok önemlidir.</a:t>
            </a:r>
          </a:p>
          <a:p>
            <a:pPr marL="0" indent="0">
              <a:buNone/>
            </a:pPr>
            <a:endParaRPr lang="tr-TR" sz="2200" dirty="0">
              <a:latin typeface="Aptos gövde"/>
            </a:endParaRPr>
          </a:p>
        </p:txBody>
      </p:sp>
      <p:sp>
        <p:nvSpPr>
          <p:cNvPr id="4" name="Metin kutusu 3"/>
          <p:cNvSpPr txBox="1"/>
          <p:nvPr/>
        </p:nvSpPr>
        <p:spPr>
          <a:xfrm>
            <a:off x="6246253" y="3245476"/>
            <a:ext cx="5215945" cy="2139047"/>
          </a:xfrm>
          <a:prstGeom prst="rect">
            <a:avLst/>
          </a:prstGeom>
          <a:noFill/>
        </p:spPr>
        <p:txBody>
          <a:bodyPr wrap="square" rtlCol="0">
            <a:spAutoFit/>
          </a:bodyPr>
          <a:lstStyle/>
          <a:p>
            <a:r>
              <a:rPr lang="tr-TR" sz="1900" u="sng" dirty="0">
                <a:latin typeface="Aptos gövde"/>
              </a:rPr>
              <a:t>Yerüstünde Tozun Oluşumu;</a:t>
            </a:r>
          </a:p>
          <a:p>
            <a:pPr marL="342900" indent="-342900">
              <a:buFont typeface="Wingdings" panose="05000000000000000000" pitchFamily="2" charset="2"/>
              <a:buChar char="Ø"/>
            </a:pPr>
            <a:r>
              <a:rPr lang="tr-TR" sz="1900" dirty="0">
                <a:latin typeface="Aptos gövde"/>
              </a:rPr>
              <a:t>Kazı</a:t>
            </a:r>
          </a:p>
          <a:p>
            <a:pPr marL="342900" indent="-342900">
              <a:buFont typeface="Wingdings" panose="05000000000000000000" pitchFamily="2" charset="2"/>
              <a:buChar char="Ø"/>
            </a:pPr>
            <a:r>
              <a:rPr lang="tr-TR" sz="1900" dirty="0">
                <a:latin typeface="Aptos gövde"/>
              </a:rPr>
              <a:t>Yükleme boşaltma </a:t>
            </a:r>
          </a:p>
          <a:p>
            <a:pPr marL="342900" indent="-342900">
              <a:buFont typeface="Wingdings" panose="05000000000000000000" pitchFamily="2" charset="2"/>
              <a:buChar char="Ø"/>
            </a:pPr>
            <a:r>
              <a:rPr lang="tr-TR" sz="1900" dirty="0">
                <a:latin typeface="Aptos gövde"/>
              </a:rPr>
              <a:t>Cevher hazırlama tesislerinde(nakliyat, eleme, kırma, ayıklama)</a:t>
            </a:r>
          </a:p>
          <a:p>
            <a:pPr marL="342900" indent="-342900">
              <a:buFont typeface="Wingdings" panose="05000000000000000000" pitchFamily="2" charset="2"/>
              <a:buChar char="Ø"/>
            </a:pPr>
            <a:r>
              <a:rPr lang="tr-TR" sz="1900" dirty="0">
                <a:latin typeface="Aptos gövde"/>
              </a:rPr>
              <a:t>Silolar</a:t>
            </a:r>
          </a:p>
          <a:p>
            <a:pPr marL="342900" indent="-342900">
              <a:buFont typeface="Wingdings" panose="05000000000000000000" pitchFamily="2" charset="2"/>
              <a:buChar char="Ø"/>
            </a:pPr>
            <a:r>
              <a:rPr lang="tr-TR" sz="1900" dirty="0">
                <a:latin typeface="Aptos gövde"/>
              </a:rPr>
              <a:t>Taş kırma tesisler</a:t>
            </a:r>
          </a:p>
        </p:txBody>
      </p:sp>
      <p:pic>
        <p:nvPicPr>
          <p:cNvPr id="5" name="Resim 4"/>
          <p:cNvPicPr>
            <a:picLocks noChangeAspect="1"/>
          </p:cNvPicPr>
          <p:nvPr/>
        </p:nvPicPr>
        <p:blipFill>
          <a:blip r:embed="rId2"/>
          <a:stretch>
            <a:fillRect/>
          </a:stretch>
        </p:blipFill>
        <p:spPr>
          <a:xfrm>
            <a:off x="8998814" y="365125"/>
            <a:ext cx="2463384" cy="1639794"/>
          </a:xfrm>
          <a:prstGeom prst="rect">
            <a:avLst/>
          </a:prstGeom>
        </p:spPr>
      </p:pic>
    </p:spTree>
    <p:extLst>
      <p:ext uri="{BB962C8B-B14F-4D97-AF65-F5344CB8AC3E}">
        <p14:creationId xmlns:p14="http://schemas.microsoft.com/office/powerpoint/2010/main" val="1257701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2BEC0E-22F8-46D0-9632-375DB541B06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997E0EC-5C89-BED8-2967-28B596285525}"/>
              </a:ext>
            </a:extLst>
          </p:cNvPr>
          <p:cNvSpPr>
            <a:spLocks noGrp="1"/>
          </p:cNvSpPr>
          <p:nvPr>
            <p:ph type="title"/>
          </p:nvPr>
        </p:nvSpPr>
        <p:spPr>
          <a:xfrm>
            <a:off x="640080" y="329184"/>
            <a:ext cx="6894576" cy="1783080"/>
          </a:xfrm>
        </p:spPr>
        <p:txBody>
          <a:bodyPr anchor="b">
            <a:normAutofit/>
          </a:bodyPr>
          <a:lstStyle/>
          <a:p>
            <a:r>
              <a:rPr lang="tr-TR" sz="4000" b="1" dirty="0">
                <a:latin typeface="Aptos gövde"/>
              </a:rPr>
              <a:t>Maden ocaklarında yeraltı işleri</a:t>
            </a:r>
            <a:endParaRPr lang="tr-TR" sz="4000" dirty="0"/>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DAB6DDE9-2D4D-3AB7-C3DB-9BB880F1BC40}"/>
              </a:ext>
            </a:extLst>
          </p:cNvPr>
          <p:cNvSpPr>
            <a:spLocks noGrp="1"/>
          </p:cNvSpPr>
          <p:nvPr>
            <p:ph idx="1"/>
          </p:nvPr>
        </p:nvSpPr>
        <p:spPr>
          <a:xfrm>
            <a:off x="640080" y="2706624"/>
            <a:ext cx="6894576" cy="3483864"/>
          </a:xfrm>
        </p:spPr>
        <p:txBody>
          <a:bodyPr>
            <a:normAutofit/>
          </a:bodyPr>
          <a:lstStyle/>
          <a:p>
            <a:pPr marL="0" indent="0">
              <a:buNone/>
            </a:pPr>
            <a:r>
              <a:rPr lang="tr-TR" sz="2200" b="1" dirty="0">
                <a:solidFill>
                  <a:schemeClr val="accent6">
                    <a:lumMod val="75000"/>
                  </a:schemeClr>
                </a:solidFill>
                <a:latin typeface="Aptos gövde"/>
              </a:rPr>
              <a:t>Tozla mücadele</a:t>
            </a:r>
          </a:p>
          <a:p>
            <a:pPr marL="0" indent="0">
              <a:buNone/>
            </a:pPr>
            <a:endParaRPr lang="tr-TR" sz="2000" b="1" dirty="0"/>
          </a:p>
          <a:p>
            <a:pPr marL="0" indent="0">
              <a:buNone/>
            </a:pPr>
            <a:r>
              <a:rPr lang="tr-TR" sz="2000" b="1" dirty="0">
                <a:latin typeface="Aptos gövde"/>
              </a:rPr>
              <a:t>   Kömür tozu</a:t>
            </a:r>
            <a:r>
              <a:rPr lang="tr-TR" sz="2000" dirty="0">
                <a:latin typeface="Aptos gövde"/>
              </a:rPr>
              <a:t>, tane büyüklüğü 0.3 mm’den küçük olan kömürlere denilmektedir. Kömür tozunun içinde bulunan ince toz oranı, süspansiyon halinde bulunması ve patlayıcı özellikte olması nedeniyle önemlidir.</a:t>
            </a:r>
          </a:p>
          <a:p>
            <a:pPr marL="0" indent="0">
              <a:buNone/>
            </a:pPr>
            <a:r>
              <a:rPr lang="tr-TR" sz="2000" dirty="0">
                <a:latin typeface="Aptos gövde"/>
              </a:rPr>
              <a:t>   </a:t>
            </a:r>
            <a:r>
              <a:rPr lang="tr-TR" sz="2000" b="1" dirty="0">
                <a:latin typeface="Aptos gövde"/>
              </a:rPr>
              <a:t>Taş tozu</a:t>
            </a:r>
            <a:r>
              <a:rPr lang="tr-TR" sz="2000" dirty="0">
                <a:latin typeface="Aptos gövde"/>
              </a:rPr>
              <a:t>nun önemi ise insan sağlığına zararlı olması nedeniyledir. Tozun bir kısmı burun ve boğazda tutulup tekrar dışarı atılabiliyor iken 5 µ’dan küçük olan tozlar akciğerlerde birikmektedir.</a:t>
            </a:r>
          </a:p>
        </p:txBody>
      </p:sp>
      <p:pic>
        <p:nvPicPr>
          <p:cNvPr id="5" name="Resim 4"/>
          <p:cNvPicPr>
            <a:picLocks noChangeAspect="1"/>
          </p:cNvPicPr>
          <p:nvPr/>
        </p:nvPicPr>
        <p:blipFill>
          <a:blip r:embed="rId2"/>
          <a:stretch>
            <a:fillRect/>
          </a:stretch>
        </p:blipFill>
        <p:spPr>
          <a:xfrm>
            <a:off x="8919147" y="329184"/>
            <a:ext cx="2483321" cy="2780802"/>
          </a:xfrm>
          <a:prstGeom prst="rect">
            <a:avLst/>
          </a:prstGeom>
        </p:spPr>
      </p:pic>
      <p:pic>
        <p:nvPicPr>
          <p:cNvPr id="4" name="Resim 3"/>
          <p:cNvPicPr>
            <a:picLocks noChangeAspect="1"/>
          </p:cNvPicPr>
          <p:nvPr/>
        </p:nvPicPr>
        <p:blipFill>
          <a:blip r:embed="rId3"/>
          <a:stretch>
            <a:fillRect/>
          </a:stretch>
        </p:blipFill>
        <p:spPr>
          <a:xfrm>
            <a:off x="7909641" y="3642610"/>
            <a:ext cx="4138375" cy="2886206"/>
          </a:xfrm>
          <a:prstGeom prst="rect">
            <a:avLst/>
          </a:prstGeom>
        </p:spPr>
      </p:pic>
    </p:spTree>
    <p:extLst>
      <p:ext uri="{BB962C8B-B14F-4D97-AF65-F5344CB8AC3E}">
        <p14:creationId xmlns:p14="http://schemas.microsoft.com/office/powerpoint/2010/main" val="1881007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a:bodyPr>
          <a:lstStyle/>
          <a:p>
            <a:r>
              <a:rPr lang="tr-TR" sz="4000" b="1" dirty="0">
                <a:latin typeface="Aptos gövde"/>
              </a:rPr>
              <a:t>Maden ocaklarında yeraltı işleri</a:t>
            </a:r>
            <a:endParaRPr lang="tr-TR" sz="40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a:bodyPr>
          <a:lstStyle/>
          <a:p>
            <a:pPr marL="0" indent="0">
              <a:buNone/>
            </a:pPr>
            <a:r>
              <a:rPr lang="tr-TR" sz="2200" b="1" dirty="0">
                <a:solidFill>
                  <a:schemeClr val="accent6">
                    <a:lumMod val="75000"/>
                  </a:schemeClr>
                </a:solidFill>
                <a:latin typeface="Aptos gövde"/>
              </a:rPr>
              <a:t>Tozla mücadele</a:t>
            </a:r>
          </a:p>
          <a:p>
            <a:pPr marL="0" indent="0">
              <a:buNone/>
            </a:pPr>
            <a:endParaRPr lang="tr-TR" sz="2200" b="1" dirty="0"/>
          </a:p>
          <a:p>
            <a:pPr>
              <a:buFont typeface="Wingdings" panose="05000000000000000000" pitchFamily="2" charset="2"/>
              <a:buChar char="Ø"/>
            </a:pPr>
            <a:r>
              <a:rPr lang="tr-TR" sz="2200" dirty="0">
                <a:latin typeface="Aptos gövde"/>
              </a:rPr>
              <a:t>İnsan sağlığına zararları,</a:t>
            </a:r>
          </a:p>
          <a:p>
            <a:pPr>
              <a:buFont typeface="Wingdings" panose="05000000000000000000" pitchFamily="2" charset="2"/>
              <a:buChar char="Ø"/>
            </a:pPr>
            <a:r>
              <a:rPr lang="tr-TR" sz="2200" dirty="0">
                <a:latin typeface="Aptos gövde"/>
              </a:rPr>
              <a:t>Patlama riski,</a:t>
            </a:r>
          </a:p>
          <a:p>
            <a:pPr>
              <a:buFont typeface="Wingdings" panose="05000000000000000000" pitchFamily="2" charset="2"/>
              <a:buChar char="Ø"/>
            </a:pPr>
            <a:r>
              <a:rPr lang="tr-TR" sz="2200" dirty="0">
                <a:latin typeface="Aptos gövde"/>
              </a:rPr>
              <a:t>Maden ocağında genel sıkıntılar,</a:t>
            </a:r>
          </a:p>
          <a:p>
            <a:pPr marL="0" indent="0">
              <a:buNone/>
            </a:pPr>
            <a:r>
              <a:rPr lang="tr-TR" sz="2200" dirty="0">
                <a:latin typeface="Aptos gövde"/>
              </a:rPr>
              <a:t>    - Toz bulutu sebebiyle görüş mesafesinin azalması</a:t>
            </a:r>
          </a:p>
          <a:p>
            <a:pPr marL="0" indent="0">
              <a:buNone/>
            </a:pPr>
            <a:r>
              <a:rPr lang="tr-TR" sz="2200" dirty="0">
                <a:latin typeface="Aptos gövde"/>
              </a:rPr>
              <a:t>    - Cihaz ve aletlerde sisteme zarar vererek kaza sıklığını artırmak</a:t>
            </a:r>
          </a:p>
          <a:p>
            <a:pPr marL="0" indent="0">
              <a:buNone/>
            </a:pPr>
            <a:r>
              <a:rPr lang="tr-TR" sz="2200" dirty="0">
                <a:latin typeface="Aptos gövde"/>
              </a:rPr>
              <a:t>    - Fazladan tamir ve bakım masrafı gibi etkileri vardır.</a:t>
            </a:r>
          </a:p>
          <a:p>
            <a:pPr marL="0" indent="0">
              <a:buNone/>
            </a:pPr>
            <a:r>
              <a:rPr lang="tr-TR" sz="2200" dirty="0"/>
              <a:t>    </a:t>
            </a:r>
          </a:p>
        </p:txBody>
      </p:sp>
    </p:spTree>
    <p:extLst>
      <p:ext uri="{BB962C8B-B14F-4D97-AF65-F5344CB8AC3E}">
        <p14:creationId xmlns:p14="http://schemas.microsoft.com/office/powerpoint/2010/main" val="17142439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3326E5-D960-2707-E51B-492D88F7AB3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D7FE43-03FE-1D75-A058-C4AE581A478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780D0DCD-D0F5-FF1E-16C9-DFBA0191DDE7}"/>
              </a:ext>
            </a:extLst>
          </p:cNvPr>
          <p:cNvSpPr>
            <a:spLocks noGrp="1"/>
          </p:cNvSpPr>
          <p:nvPr>
            <p:ph type="title"/>
          </p:nvPr>
        </p:nvSpPr>
        <p:spPr>
          <a:xfrm>
            <a:off x="838200" y="365125"/>
            <a:ext cx="10515600" cy="1325563"/>
          </a:xfrm>
        </p:spPr>
        <p:txBody>
          <a:bodyPr>
            <a:normAutofit/>
          </a:bodyPr>
          <a:lstStyle/>
          <a:p>
            <a:r>
              <a:rPr lang="tr-TR" sz="4000" b="1" dirty="0">
                <a:latin typeface="Aptos gövde"/>
              </a:rPr>
              <a:t>Maden ocaklarında yeraltı işleri</a:t>
            </a:r>
            <a:endParaRPr lang="tr-TR" sz="4000" dirty="0"/>
          </a:p>
        </p:txBody>
      </p:sp>
      <p:sp>
        <p:nvSpPr>
          <p:cNvPr id="10" name="sketch line">
            <a:extLst>
              <a:ext uri="{FF2B5EF4-FFF2-40B4-BE49-F238E27FC236}">
                <a16:creationId xmlns:a16="http://schemas.microsoft.com/office/drawing/2014/main" id="{2A152BAD-40B1-A73E-936A-E1A2ED00EE0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75FF2604-33A9-5CCC-AD59-779175E5C204}"/>
              </a:ext>
            </a:extLst>
          </p:cNvPr>
          <p:cNvSpPr>
            <a:spLocks noGrp="1"/>
          </p:cNvSpPr>
          <p:nvPr>
            <p:ph idx="1"/>
          </p:nvPr>
        </p:nvSpPr>
        <p:spPr>
          <a:xfrm>
            <a:off x="838200" y="1929384"/>
            <a:ext cx="10515600" cy="4251960"/>
          </a:xfrm>
        </p:spPr>
        <p:txBody>
          <a:bodyPr>
            <a:normAutofit fontScale="92500" lnSpcReduction="2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tr-TR" sz="2400" b="1" i="0" u="none" strike="noStrike" kern="1200" cap="none" spc="0" normalizeH="0" baseline="0" noProof="0" dirty="0">
                <a:ln>
                  <a:noFill/>
                </a:ln>
                <a:solidFill>
                  <a:schemeClr val="accent6">
                    <a:lumMod val="75000"/>
                  </a:schemeClr>
                </a:solidFill>
                <a:effectLst/>
                <a:uLnTx/>
                <a:uFillTx/>
                <a:latin typeface="Aptos gövde"/>
                <a:ea typeface="+mn-ea"/>
                <a:cs typeface="+mn-cs"/>
              </a:rPr>
              <a:t>Kömür tozu patlaması</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tr-TR" sz="1000" b="0" i="0" u="none" strike="noStrike" kern="1200" cap="none" spc="0" normalizeH="0" baseline="0" noProof="0" dirty="0">
              <a:ln>
                <a:noFill/>
              </a:ln>
              <a:solidFill>
                <a:prstClr val="black"/>
              </a:solidFill>
              <a:effectLst/>
              <a:uLnTx/>
              <a:uFillTx/>
              <a:latin typeface="Aptos gövde"/>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tr-TR" sz="1000" b="0" i="0" u="none" strike="noStrike" kern="1200" cap="none" spc="0" normalizeH="0" baseline="0" noProof="0" dirty="0">
                <a:ln>
                  <a:noFill/>
                </a:ln>
                <a:solidFill>
                  <a:prstClr val="black"/>
                </a:solidFill>
                <a:effectLst/>
                <a:uLnTx/>
                <a:uFillTx/>
                <a:latin typeface="Aptos gövde"/>
                <a:ea typeface="+mn-ea"/>
                <a:cs typeface="+mn-cs"/>
              </a:rPr>
              <a:t>   </a:t>
            </a:r>
            <a:r>
              <a:rPr kumimoji="0" lang="tr-TR" sz="1800" b="0" i="0" u="none" strike="noStrike" kern="1200" cap="none" spc="0" normalizeH="0" baseline="0" noProof="0" dirty="0">
                <a:ln>
                  <a:noFill/>
                </a:ln>
                <a:solidFill>
                  <a:prstClr val="black"/>
                </a:solidFill>
                <a:effectLst/>
                <a:uLnTx/>
                <a:uFillTx/>
                <a:latin typeface="Aptos gövde"/>
                <a:ea typeface="+mn-ea"/>
                <a:cs typeface="+mn-cs"/>
              </a:rPr>
              <a:t>Kömür madenciliğinde karşılaşılan en ciddi tehlikelerden biri olup, havada asılı kalan ince kömür tozunun tutuşmasıyla oluşan şiddetli patlamalardır. Genellikle </a:t>
            </a:r>
            <a:r>
              <a:rPr kumimoji="0" lang="tr-TR" sz="1800" b="0" i="0" u="none" strike="noStrike" kern="1200" cap="none" spc="0" normalizeH="0" baseline="0" noProof="0" dirty="0">
                <a:ln>
                  <a:noFill/>
                </a:ln>
                <a:solidFill>
                  <a:prstClr val="black"/>
                </a:solidFill>
                <a:effectLst/>
                <a:uLnTx/>
                <a:uFillTx/>
                <a:latin typeface="Aptos gövde"/>
                <a:ea typeface="+mn-ea"/>
                <a:cs typeface="+mn-cs"/>
                <a:hlinkClick r:id="rId2"/>
              </a:rPr>
              <a:t>grizu</a:t>
            </a:r>
            <a:r>
              <a:rPr kumimoji="0" lang="tr-TR" sz="1800" b="0" i="0" u="none" strike="noStrike" kern="1200" cap="none" spc="0" normalizeH="0" baseline="0" noProof="0" dirty="0">
                <a:ln>
                  <a:noFill/>
                </a:ln>
                <a:solidFill>
                  <a:prstClr val="black"/>
                </a:solidFill>
                <a:effectLst/>
                <a:uLnTx/>
                <a:uFillTx/>
                <a:latin typeface="Aptos gövde"/>
                <a:ea typeface="+mn-ea"/>
                <a:cs typeface="+mn-cs"/>
              </a:rPr>
              <a:t> (metan gazı) patlamasıyla başlar ve tozu havaya kaldırarak patlamanın şiddetini artırır. </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tr-TR" sz="1800" b="0" i="0" u="none" strike="noStrike" kern="1200" cap="none" spc="0" normalizeH="0" baseline="0" noProof="0" dirty="0">
                <a:ln>
                  <a:noFill/>
                </a:ln>
                <a:solidFill>
                  <a:prstClr val="black"/>
                </a:solidFill>
                <a:effectLst/>
                <a:uLnTx/>
                <a:uFillTx/>
                <a:latin typeface="Aptos gövde"/>
                <a:ea typeface="+mn-ea"/>
                <a:cs typeface="+mn-cs"/>
              </a:rPr>
              <a:t> </a:t>
            </a:r>
            <a:r>
              <a:rPr kumimoji="0" lang="tr-TR" sz="1800" b="1" i="0" u="none" strike="noStrike" kern="1200" cap="none" spc="0" normalizeH="0" baseline="0" noProof="0" dirty="0">
                <a:ln>
                  <a:noFill/>
                </a:ln>
                <a:solidFill>
                  <a:prstClr val="black"/>
                </a:solidFill>
                <a:effectLst/>
                <a:uLnTx/>
                <a:uFillTx/>
                <a:latin typeface="Aptos gövde"/>
                <a:ea typeface="+mn-ea"/>
                <a:cs typeface="+mn-cs"/>
              </a:rPr>
              <a:t>Nedeni:</a:t>
            </a:r>
            <a:r>
              <a:rPr kumimoji="0" lang="tr-TR" sz="1800" b="0" i="0" u="none" strike="noStrike" kern="1200" cap="none" spc="0" normalizeH="0" baseline="0" noProof="0" dirty="0">
                <a:ln>
                  <a:noFill/>
                </a:ln>
                <a:solidFill>
                  <a:prstClr val="black"/>
                </a:solidFill>
                <a:effectLst/>
                <a:uLnTx/>
                <a:uFillTx/>
                <a:latin typeface="Aptos gövde"/>
                <a:ea typeface="+mn-ea"/>
                <a:cs typeface="+mn-cs"/>
              </a:rPr>
              <a:t> Kömür üretimi sırasında oluşan ince tozların oksijenle birleşmesi ve bir kıvılcım (elektrik arkı, lağım patlatma vb.) ile tutuşmasıdır.</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tr-TR" sz="1800" b="1" i="0" u="none" strike="noStrike" kern="1200" cap="none" spc="0" normalizeH="0" baseline="0" noProof="0" dirty="0">
                <a:ln>
                  <a:noFill/>
                </a:ln>
                <a:solidFill>
                  <a:prstClr val="black"/>
                </a:solidFill>
                <a:effectLst/>
                <a:uLnTx/>
                <a:uFillTx/>
                <a:latin typeface="Aptos gövde"/>
                <a:ea typeface="+mn-ea"/>
                <a:cs typeface="+mn-cs"/>
              </a:rPr>
              <a:t>Yayılım:</a:t>
            </a:r>
            <a:r>
              <a:rPr kumimoji="0" lang="tr-TR" sz="1800" b="0" i="0" u="none" strike="noStrike" kern="1200" cap="none" spc="0" normalizeH="0" baseline="0" noProof="0" dirty="0">
                <a:ln>
                  <a:noFill/>
                </a:ln>
                <a:solidFill>
                  <a:prstClr val="black"/>
                </a:solidFill>
                <a:effectLst/>
                <a:uLnTx/>
                <a:uFillTx/>
                <a:latin typeface="Aptos gövde"/>
                <a:ea typeface="+mn-ea"/>
                <a:cs typeface="+mn-cs"/>
              </a:rPr>
              <a:t> Patlama anında oluşan basınç dalgaları, galerilerdeki diğer kömür tozlarını havaya kaldırarak patlamanın zincirleme yayılmasına neden olur.</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tr-TR" sz="1800" b="1" i="0" u="none" strike="noStrike" kern="1200" cap="none" spc="0" normalizeH="0" baseline="0" noProof="0" dirty="0">
                <a:ln>
                  <a:noFill/>
                </a:ln>
                <a:solidFill>
                  <a:prstClr val="black"/>
                </a:solidFill>
                <a:effectLst/>
                <a:uLnTx/>
                <a:uFillTx/>
                <a:latin typeface="Aptos gövde"/>
                <a:ea typeface="+mn-ea"/>
                <a:cs typeface="+mn-cs"/>
              </a:rPr>
              <a:t>Etkisi:</a:t>
            </a:r>
            <a:r>
              <a:rPr kumimoji="0" lang="tr-TR" sz="1800" b="0" i="0" u="none" strike="noStrike" kern="1200" cap="none" spc="0" normalizeH="0" baseline="0" noProof="0" dirty="0">
                <a:ln>
                  <a:noFill/>
                </a:ln>
                <a:solidFill>
                  <a:prstClr val="black"/>
                </a:solidFill>
                <a:effectLst/>
                <a:uLnTx/>
                <a:uFillTx/>
                <a:latin typeface="Aptos gövde"/>
                <a:ea typeface="+mn-ea"/>
                <a:cs typeface="+mn-cs"/>
              </a:rPr>
              <a:t> Yüksek sıcaklık (1000°C'nin üzeri) ve basınç sonucu yıkıcı bir etki yapar. Patlama sonrasında karbon monoksit zehirlenmeleri ve boğulmalar yaşanır.</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tr-TR" sz="1800" b="0" i="0" u="none" strike="noStrike" kern="1200" cap="none" spc="0" normalizeH="0" baseline="0" noProof="0" dirty="0">
              <a:ln>
                <a:noFill/>
              </a:ln>
              <a:solidFill>
                <a:prstClr val="black"/>
              </a:solidFill>
              <a:effectLst/>
              <a:uLnTx/>
              <a:uFillTx/>
              <a:latin typeface="Aptos gövde"/>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tr-TR" sz="1800" b="1" i="0" u="none" strike="noStrike" kern="1200" cap="none" spc="0" normalizeH="0" baseline="0" noProof="0" dirty="0">
                <a:ln>
                  <a:noFill/>
                </a:ln>
                <a:solidFill>
                  <a:prstClr val="black"/>
                </a:solidFill>
                <a:effectLst/>
                <a:uLnTx/>
                <a:uFillTx/>
                <a:latin typeface="Aptos gövde"/>
                <a:ea typeface="+mn-ea"/>
                <a:cs typeface="+mn-cs"/>
              </a:rPr>
              <a:t>Önlemler:</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tr-TR" sz="1800" b="1" i="0" u="none" strike="noStrike" kern="1200" cap="none" spc="0" normalizeH="0" baseline="0" noProof="0" dirty="0">
                <a:ln>
                  <a:noFill/>
                </a:ln>
                <a:solidFill>
                  <a:prstClr val="black"/>
                </a:solidFill>
                <a:effectLst/>
                <a:uLnTx/>
                <a:uFillTx/>
                <a:latin typeface="Aptos gövde"/>
                <a:ea typeface="+mn-ea"/>
                <a:cs typeface="+mn-cs"/>
                <a:hlinkClick r:id="rId3"/>
              </a:rPr>
              <a:t>Taş Tozu</a:t>
            </a:r>
            <a:r>
              <a:rPr kumimoji="0" lang="tr-TR" sz="1800" b="1" i="0" u="none" strike="noStrike" kern="1200" cap="none" spc="0" normalizeH="0" baseline="0" noProof="0" dirty="0">
                <a:ln>
                  <a:noFill/>
                </a:ln>
                <a:solidFill>
                  <a:prstClr val="black"/>
                </a:solidFill>
                <a:effectLst/>
                <a:uLnTx/>
                <a:uFillTx/>
                <a:latin typeface="Aptos gövde"/>
                <a:ea typeface="+mn-ea"/>
                <a:cs typeface="+mn-cs"/>
              </a:rPr>
              <a:t> Serpme:</a:t>
            </a:r>
            <a:r>
              <a:rPr kumimoji="0" lang="tr-TR" sz="1800" b="0" i="0" u="none" strike="noStrike" kern="1200" cap="none" spc="0" normalizeH="0" baseline="0" noProof="0" dirty="0">
                <a:ln>
                  <a:noFill/>
                </a:ln>
                <a:solidFill>
                  <a:prstClr val="black"/>
                </a:solidFill>
                <a:effectLst/>
                <a:uLnTx/>
                <a:uFillTx/>
                <a:latin typeface="Aptos gövde"/>
                <a:ea typeface="+mn-ea"/>
                <a:cs typeface="+mn-cs"/>
              </a:rPr>
              <a:t> Galerilere taş tozu (genellikle kireçtaşı) serpilerek kömür tozunun yanmaz hale getirilmesi.</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tr-TR" sz="1800" b="1" i="0" u="none" strike="noStrike" kern="1200" cap="none" spc="0" normalizeH="0" baseline="0" noProof="0" dirty="0">
                <a:ln>
                  <a:noFill/>
                </a:ln>
                <a:solidFill>
                  <a:prstClr val="black"/>
                </a:solidFill>
                <a:effectLst/>
                <a:uLnTx/>
                <a:uFillTx/>
                <a:latin typeface="Aptos gövde"/>
                <a:ea typeface="+mn-ea"/>
                <a:cs typeface="+mn-cs"/>
              </a:rPr>
              <a:t>Su Spreyi:</a:t>
            </a:r>
            <a:r>
              <a:rPr kumimoji="0" lang="tr-TR" sz="1800" b="0" i="0" u="none" strike="noStrike" kern="1200" cap="none" spc="0" normalizeH="0" baseline="0" noProof="0" dirty="0">
                <a:ln>
                  <a:noFill/>
                </a:ln>
                <a:solidFill>
                  <a:prstClr val="black"/>
                </a:solidFill>
                <a:effectLst/>
                <a:uLnTx/>
                <a:uFillTx/>
                <a:latin typeface="Aptos gövde"/>
                <a:ea typeface="+mn-ea"/>
                <a:cs typeface="+mn-cs"/>
              </a:rPr>
              <a:t> Tozun havaya kalkmasını önlemek için üretim alanlarının sürekli nemli tutulması.</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tr-TR" sz="1800" b="1" i="0" u="none" strike="noStrike" kern="1200" cap="none" spc="0" normalizeH="0" baseline="0" noProof="0" dirty="0">
                <a:ln>
                  <a:noFill/>
                </a:ln>
                <a:solidFill>
                  <a:prstClr val="black"/>
                </a:solidFill>
                <a:effectLst/>
                <a:uLnTx/>
                <a:uFillTx/>
                <a:latin typeface="Aptos gövde"/>
                <a:ea typeface="+mn-ea"/>
                <a:cs typeface="+mn-cs"/>
              </a:rPr>
              <a:t>Patlama Bariyerleri:</a:t>
            </a:r>
            <a:r>
              <a:rPr kumimoji="0" lang="tr-TR" sz="1800" b="0" i="0" u="none" strike="noStrike" kern="1200" cap="none" spc="0" normalizeH="0" baseline="0" noProof="0" dirty="0">
                <a:ln>
                  <a:noFill/>
                </a:ln>
                <a:solidFill>
                  <a:prstClr val="black"/>
                </a:solidFill>
                <a:effectLst/>
                <a:uLnTx/>
                <a:uFillTx/>
                <a:latin typeface="Aptos gövde"/>
                <a:ea typeface="+mn-ea"/>
                <a:cs typeface="+mn-cs"/>
              </a:rPr>
              <a:t> Patlama dalgasını dur</a:t>
            </a:r>
            <a:endParaRPr lang="tr-TR" sz="2200" dirty="0"/>
          </a:p>
        </p:txBody>
      </p:sp>
    </p:spTree>
    <p:extLst>
      <p:ext uri="{BB962C8B-B14F-4D97-AF65-F5344CB8AC3E}">
        <p14:creationId xmlns:p14="http://schemas.microsoft.com/office/powerpoint/2010/main" val="19907810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2BEC0E-22F8-46D0-9632-375DB541B06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640080" y="329184"/>
            <a:ext cx="6894576" cy="1783080"/>
          </a:xfrm>
        </p:spPr>
        <p:txBody>
          <a:bodyPr anchor="b">
            <a:normAutofit/>
          </a:bodyPr>
          <a:lstStyle/>
          <a:p>
            <a:r>
              <a:rPr lang="tr-TR" sz="4000" b="1" dirty="0">
                <a:latin typeface="Aptos gövde"/>
              </a:rPr>
              <a:t>Maden ocaklarında yeraltı işleri</a:t>
            </a:r>
            <a:endParaRPr lang="tr-TR" sz="4000" dirty="0"/>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640080" y="2706623"/>
            <a:ext cx="6894576" cy="3944899"/>
          </a:xfrm>
        </p:spPr>
        <p:txBody>
          <a:bodyPr>
            <a:normAutofit fontScale="92500" lnSpcReduction="20000"/>
          </a:bodyPr>
          <a:lstStyle/>
          <a:p>
            <a:pPr marL="0" indent="0">
              <a:buNone/>
            </a:pPr>
            <a:r>
              <a:rPr lang="tr-TR" sz="2200" b="1" dirty="0">
                <a:solidFill>
                  <a:schemeClr val="accent6">
                    <a:lumMod val="75000"/>
                  </a:schemeClr>
                </a:solidFill>
                <a:latin typeface="Aptos gövde"/>
              </a:rPr>
              <a:t>Tozla mücadele</a:t>
            </a:r>
          </a:p>
          <a:p>
            <a:pPr>
              <a:buClr>
                <a:schemeClr val="accent6">
                  <a:lumMod val="75000"/>
                </a:schemeClr>
              </a:buClr>
              <a:buFont typeface="Wingdings" panose="05000000000000000000" pitchFamily="2" charset="2"/>
              <a:buChar char="Ø"/>
            </a:pPr>
            <a:r>
              <a:rPr lang="tr-TR" sz="1700" b="1" dirty="0"/>
              <a:t>  </a:t>
            </a:r>
            <a:r>
              <a:rPr lang="tr-TR" sz="2100" dirty="0">
                <a:latin typeface="Aptos gövde"/>
              </a:rPr>
              <a:t>Yanıcı toz bulunan maden ocaklarında toz patlamasını önlemek amacıyla uygun olan patlayıcı maddeler ve ateşleyiciler kullanılır.</a:t>
            </a:r>
          </a:p>
          <a:p>
            <a:pPr>
              <a:buClr>
                <a:schemeClr val="accent6">
                  <a:lumMod val="75000"/>
                </a:schemeClr>
              </a:buClr>
              <a:buFont typeface="Wingdings" panose="05000000000000000000" pitchFamily="2" charset="2"/>
              <a:buChar char="Ø"/>
            </a:pPr>
            <a:r>
              <a:rPr lang="tr-TR" sz="2100" dirty="0">
                <a:latin typeface="Aptos gövde"/>
              </a:rPr>
              <a:t>  Su ve benzeri maddelerde tozun bağlanarak uzaklaştırılması sağlanır.</a:t>
            </a:r>
          </a:p>
          <a:p>
            <a:pPr>
              <a:buClr>
                <a:schemeClr val="accent6">
                  <a:lumMod val="75000"/>
                </a:schemeClr>
              </a:buClr>
              <a:buFont typeface="Wingdings" panose="05000000000000000000" pitchFamily="2" charset="2"/>
              <a:buChar char="Ø"/>
            </a:pPr>
            <a:r>
              <a:rPr lang="tr-TR" sz="2100" dirty="0">
                <a:latin typeface="Aptos gövde"/>
              </a:rPr>
              <a:t>  Zincirleme toz patlamalarına neden olabilecek yanıcı toz ve/veya grizu patlamalarının yayılmasını  önlemek için patlama barajları yapılır.</a:t>
            </a:r>
          </a:p>
          <a:p>
            <a:pPr>
              <a:buClr>
                <a:schemeClr val="accent6">
                  <a:lumMod val="75000"/>
                </a:schemeClr>
              </a:buClr>
              <a:buFont typeface="Wingdings" panose="05000000000000000000" pitchFamily="2" charset="2"/>
              <a:buChar char="Ø"/>
            </a:pPr>
            <a:r>
              <a:rPr lang="tr-TR" sz="2100" b="1" dirty="0">
                <a:latin typeface="Aptos gövde"/>
              </a:rPr>
              <a:t>  </a:t>
            </a:r>
            <a:r>
              <a:rPr lang="tr-TR" sz="2100" dirty="0">
                <a:latin typeface="Aptos gövde"/>
              </a:rPr>
              <a:t>Kömür ocaklarındaki arabalar, içlerinden kömür tozu dökülmeyecek biçimde olur. Üretim, yükleme, taşıma, aktarma ve boşaltma yapılan yerlerde tozun havaya yayılmasını önlemek için </a:t>
            </a:r>
            <a:r>
              <a:rPr lang="tr-TR" sz="2100" dirty="0" err="1">
                <a:latin typeface="Aptos gövde"/>
              </a:rPr>
              <a:t>pülverize</a:t>
            </a:r>
            <a:r>
              <a:rPr lang="tr-TR" sz="2100" dirty="0">
                <a:latin typeface="Aptos gövde"/>
              </a:rPr>
              <a:t> su </a:t>
            </a:r>
            <a:r>
              <a:rPr lang="tr-TR" sz="2100" dirty="0" err="1">
                <a:latin typeface="Aptos gövde"/>
              </a:rPr>
              <a:t>fisketeleri</a:t>
            </a:r>
            <a:r>
              <a:rPr lang="tr-TR" sz="2100" dirty="0">
                <a:latin typeface="Aptos gövde"/>
              </a:rPr>
              <a:t> gibi gerekli tedbirler alınır.</a:t>
            </a:r>
          </a:p>
          <a:p>
            <a:pPr marL="0" indent="0">
              <a:buNone/>
            </a:pPr>
            <a:r>
              <a:rPr lang="tr-TR" sz="2100" dirty="0">
                <a:latin typeface="Aptos gövde"/>
              </a:rPr>
              <a:t>    </a:t>
            </a:r>
          </a:p>
        </p:txBody>
      </p:sp>
      <p:pic>
        <p:nvPicPr>
          <p:cNvPr id="5" name="Resim 4"/>
          <p:cNvPicPr>
            <a:picLocks noChangeAspect="1"/>
          </p:cNvPicPr>
          <p:nvPr/>
        </p:nvPicPr>
        <p:blipFill>
          <a:blip r:embed="rId3"/>
          <a:stretch>
            <a:fillRect/>
          </a:stretch>
        </p:blipFill>
        <p:spPr>
          <a:xfrm>
            <a:off x="7863840" y="708528"/>
            <a:ext cx="4014216" cy="2671278"/>
          </a:xfrm>
          <a:prstGeom prst="rect">
            <a:avLst/>
          </a:prstGeom>
        </p:spPr>
      </p:pic>
      <p:pic>
        <p:nvPicPr>
          <p:cNvPr id="4" name="Resim 3"/>
          <p:cNvPicPr>
            <a:picLocks noChangeAspect="1"/>
          </p:cNvPicPr>
          <p:nvPr/>
        </p:nvPicPr>
        <p:blipFill>
          <a:blip r:embed="rId4"/>
          <a:stretch>
            <a:fillRect/>
          </a:stretch>
        </p:blipFill>
        <p:spPr>
          <a:xfrm>
            <a:off x="8220681" y="4079193"/>
            <a:ext cx="3282246" cy="2176272"/>
          </a:xfrm>
          <a:prstGeom prst="rect">
            <a:avLst/>
          </a:prstGeom>
        </p:spPr>
      </p:pic>
    </p:spTree>
    <p:extLst>
      <p:ext uri="{BB962C8B-B14F-4D97-AF65-F5344CB8AC3E}">
        <p14:creationId xmlns:p14="http://schemas.microsoft.com/office/powerpoint/2010/main" val="41403105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a:bodyPr>
          <a:lstStyle/>
          <a:p>
            <a:r>
              <a:rPr lang="tr-TR" sz="4000" b="1" dirty="0">
                <a:latin typeface="Aptos gövde"/>
              </a:rPr>
              <a:t>Maden ocaklarında yeraltı işleri</a:t>
            </a:r>
            <a:endParaRPr lang="tr-TR" sz="40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4"/>
            <a:ext cx="10515600" cy="4251960"/>
          </a:xfrm>
        </p:spPr>
        <p:txBody>
          <a:bodyPr>
            <a:normAutofit/>
          </a:bodyPr>
          <a:lstStyle/>
          <a:p>
            <a:pPr marL="0" indent="0">
              <a:buNone/>
            </a:pPr>
            <a:r>
              <a:rPr lang="tr-TR" sz="2200" b="1" dirty="0">
                <a:solidFill>
                  <a:srgbClr val="C00000"/>
                </a:solidFill>
                <a:latin typeface="Aptos gövde"/>
              </a:rPr>
              <a:t>Gazlar </a:t>
            </a:r>
          </a:p>
          <a:p>
            <a:pPr marL="0" indent="0">
              <a:buNone/>
            </a:pPr>
            <a:endParaRPr lang="tr-TR" sz="2200" b="1" dirty="0"/>
          </a:p>
          <a:p>
            <a:pPr marL="0" indent="0">
              <a:buNone/>
            </a:pPr>
            <a:r>
              <a:rPr lang="tr-TR" sz="2200" u="sng" dirty="0">
                <a:latin typeface="Aptos gövde"/>
              </a:rPr>
              <a:t>Yanıcı gazlar</a:t>
            </a:r>
            <a:r>
              <a:rPr lang="tr-TR" sz="2200" dirty="0">
                <a:latin typeface="Aptos gövde"/>
              </a:rPr>
              <a:t>   : </a:t>
            </a:r>
            <a:r>
              <a:rPr lang="tr-TR" sz="2200" b="1" dirty="0">
                <a:latin typeface="Aptos gövde"/>
              </a:rPr>
              <a:t>Metan (CH</a:t>
            </a:r>
            <a:r>
              <a:rPr lang="tr-TR" sz="2200" b="1" baseline="-25000" dirty="0">
                <a:latin typeface="Aptos gövde"/>
              </a:rPr>
              <a:t>4</a:t>
            </a:r>
            <a:r>
              <a:rPr lang="tr-TR" sz="2200" b="1" dirty="0">
                <a:latin typeface="Aptos gövde"/>
              </a:rPr>
              <a:t>)</a:t>
            </a:r>
            <a:r>
              <a:rPr lang="tr-TR" sz="2200" dirty="0">
                <a:latin typeface="Aptos gövde"/>
              </a:rPr>
              <a:t>, Hidrojen (H</a:t>
            </a:r>
            <a:r>
              <a:rPr lang="tr-TR" sz="2200" baseline="-25000" dirty="0">
                <a:latin typeface="Aptos gövde"/>
              </a:rPr>
              <a:t>2</a:t>
            </a:r>
            <a:r>
              <a:rPr lang="tr-TR" sz="2200" dirty="0">
                <a:latin typeface="Aptos gövde"/>
              </a:rPr>
              <a:t>)</a:t>
            </a:r>
          </a:p>
          <a:p>
            <a:pPr marL="0" indent="0">
              <a:buNone/>
            </a:pPr>
            <a:r>
              <a:rPr lang="tr-TR" sz="2200" dirty="0">
                <a:latin typeface="Aptos gövde"/>
              </a:rPr>
              <a:t>                          renksiz, kokusuz ve havadan hafif gazlar.</a:t>
            </a:r>
          </a:p>
          <a:p>
            <a:pPr marL="0" indent="0">
              <a:buNone/>
            </a:pPr>
            <a:r>
              <a:rPr lang="tr-TR" sz="2200" u="sng" dirty="0">
                <a:latin typeface="Aptos gövde"/>
              </a:rPr>
              <a:t>Boğucu gazlar</a:t>
            </a:r>
            <a:r>
              <a:rPr lang="tr-TR" sz="2200" dirty="0">
                <a:latin typeface="Aptos gövde"/>
              </a:rPr>
              <a:t>: Karbondioksit (CO</a:t>
            </a:r>
            <a:r>
              <a:rPr lang="tr-TR" sz="2200" baseline="-25000" dirty="0">
                <a:latin typeface="Aptos gövde"/>
              </a:rPr>
              <a:t>2</a:t>
            </a:r>
            <a:r>
              <a:rPr lang="tr-TR" sz="2200" dirty="0">
                <a:latin typeface="Aptos gövde"/>
              </a:rPr>
              <a:t>), Nitrojen (N</a:t>
            </a:r>
            <a:r>
              <a:rPr lang="tr-TR" sz="2200" baseline="-25000" dirty="0">
                <a:latin typeface="Aptos gövde"/>
              </a:rPr>
              <a:t>2</a:t>
            </a:r>
            <a:r>
              <a:rPr lang="tr-TR" sz="2200" dirty="0">
                <a:latin typeface="Aptos gövde"/>
              </a:rPr>
              <a:t>), metan</a:t>
            </a:r>
          </a:p>
          <a:p>
            <a:pPr marL="0" indent="0">
              <a:buNone/>
            </a:pPr>
            <a:r>
              <a:rPr lang="tr-TR" sz="2200" dirty="0">
                <a:latin typeface="Aptos gövde"/>
              </a:rPr>
              <a:t>                         oksijenin yerini alarak oranını düşürür, fark edilmeleri zordur.</a:t>
            </a:r>
          </a:p>
          <a:p>
            <a:pPr marL="0" indent="0">
              <a:buNone/>
            </a:pPr>
            <a:r>
              <a:rPr lang="tr-TR" sz="2200" u="sng" dirty="0">
                <a:latin typeface="Aptos gövde"/>
              </a:rPr>
              <a:t>Zehirli gazlar</a:t>
            </a:r>
            <a:r>
              <a:rPr lang="tr-TR" sz="2200" dirty="0">
                <a:latin typeface="Aptos gövde"/>
              </a:rPr>
              <a:t>  : </a:t>
            </a:r>
            <a:r>
              <a:rPr lang="tr-TR" sz="2200" b="1" dirty="0">
                <a:latin typeface="Aptos gövde"/>
              </a:rPr>
              <a:t>Karbonmonoksit (CO)</a:t>
            </a:r>
            <a:r>
              <a:rPr lang="tr-TR" sz="2200" dirty="0">
                <a:latin typeface="Aptos gövde"/>
              </a:rPr>
              <a:t>, azotoksitler</a:t>
            </a:r>
            <a:r>
              <a:rPr lang="tr-TR" sz="2200">
                <a:latin typeface="Aptos gövde"/>
              </a:rPr>
              <a:t>, </a:t>
            </a:r>
            <a:r>
              <a:rPr lang="tr-TR" sz="2200" smtClean="0">
                <a:latin typeface="Aptos gövde"/>
              </a:rPr>
              <a:t>hidrojen sülfür </a:t>
            </a:r>
            <a:r>
              <a:rPr lang="tr-TR" sz="2200" dirty="0">
                <a:latin typeface="Aptos gövde"/>
              </a:rPr>
              <a:t>(H</a:t>
            </a:r>
            <a:r>
              <a:rPr lang="tr-TR" sz="2200" baseline="-25000" dirty="0">
                <a:latin typeface="Aptos gövde"/>
              </a:rPr>
              <a:t>2</a:t>
            </a:r>
            <a:r>
              <a:rPr lang="tr-TR" sz="2200" dirty="0">
                <a:latin typeface="Aptos gövde"/>
              </a:rPr>
              <a:t>S), kükürtdioksit vb</a:t>
            </a:r>
            <a:r>
              <a:rPr lang="tr-TR" sz="2200" b="1" dirty="0"/>
              <a:t>.</a:t>
            </a:r>
          </a:p>
          <a:p>
            <a:pPr marL="0" indent="0">
              <a:buNone/>
            </a:pPr>
            <a:r>
              <a:rPr lang="tr-TR" sz="2200" b="1" dirty="0"/>
              <a:t>                     </a:t>
            </a:r>
          </a:p>
        </p:txBody>
      </p:sp>
    </p:spTree>
    <p:extLst>
      <p:ext uri="{BB962C8B-B14F-4D97-AF65-F5344CB8AC3E}">
        <p14:creationId xmlns:p14="http://schemas.microsoft.com/office/powerpoint/2010/main" val="31671007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16">
            <a:extLst>
              <a:ext uri="{FF2B5EF4-FFF2-40B4-BE49-F238E27FC236}">
                <a16:creationId xmlns:a16="http://schemas.microsoft.com/office/drawing/2014/main"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18">
            <a:extLst>
              <a:ext uri="{FF2B5EF4-FFF2-40B4-BE49-F238E27FC236}">
                <a16:creationId xmlns:a16="http://schemas.microsoft.com/office/drawing/2014/main"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Isosceles Triangle 26">
            <a:extLst>
              <a:ext uri="{FF2B5EF4-FFF2-40B4-BE49-F238E27FC236}">
                <a16:creationId xmlns:a16="http://schemas.microsoft.com/office/drawing/2014/main"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İçerik Yer Tutucusu 4">
            <a:extLst>
              <a:ext uri="{FF2B5EF4-FFF2-40B4-BE49-F238E27FC236}">
                <a16:creationId xmlns:a16="http://schemas.microsoft.com/office/drawing/2014/main" id="{86739903-11F1-54F7-8703-C541FC891AA7}"/>
              </a:ext>
            </a:extLst>
          </p:cNvPr>
          <p:cNvGraphicFramePr>
            <a:graphicFrameLocks noGrp="1"/>
          </p:cNvGraphicFramePr>
          <p:nvPr>
            <p:ph idx="1"/>
            <p:extLst>
              <p:ext uri="{D42A27DB-BD31-4B8C-83A1-F6EECF244321}">
                <p14:modId xmlns:p14="http://schemas.microsoft.com/office/powerpoint/2010/main" val="1416231565"/>
              </p:ext>
            </p:extLst>
          </p:nvPr>
        </p:nvGraphicFramePr>
        <p:xfrm>
          <a:off x="643467" y="784045"/>
          <a:ext cx="10905067" cy="5289910"/>
        </p:xfrm>
        <a:graphic>
          <a:graphicData uri="http://schemas.openxmlformats.org/drawingml/2006/table">
            <a:tbl>
              <a:tblPr firstRow="1" firstCol="1" bandRow="1">
                <a:tableStyleId>{5C22544A-7EE6-4342-B048-85BDC9FD1C3A}</a:tableStyleId>
              </a:tblPr>
              <a:tblGrid>
                <a:gridCol w="2441818">
                  <a:extLst>
                    <a:ext uri="{9D8B030D-6E8A-4147-A177-3AD203B41FA5}">
                      <a16:colId xmlns:a16="http://schemas.microsoft.com/office/drawing/2014/main" val="1895789151"/>
                    </a:ext>
                  </a:extLst>
                </a:gridCol>
                <a:gridCol w="4467475">
                  <a:extLst>
                    <a:ext uri="{9D8B030D-6E8A-4147-A177-3AD203B41FA5}">
                      <a16:colId xmlns:a16="http://schemas.microsoft.com/office/drawing/2014/main" val="2053974715"/>
                    </a:ext>
                  </a:extLst>
                </a:gridCol>
                <a:gridCol w="3995774">
                  <a:extLst>
                    <a:ext uri="{9D8B030D-6E8A-4147-A177-3AD203B41FA5}">
                      <a16:colId xmlns:a16="http://schemas.microsoft.com/office/drawing/2014/main" val="3629411743"/>
                    </a:ext>
                  </a:extLst>
                </a:gridCol>
              </a:tblGrid>
              <a:tr h="365354">
                <a:tc>
                  <a:txBody>
                    <a:bodyPr/>
                    <a:lstStyle/>
                    <a:p>
                      <a:pPr>
                        <a:lnSpc>
                          <a:spcPct val="115000"/>
                        </a:lnSpc>
                        <a:spcAft>
                          <a:spcPts val="1000"/>
                        </a:spcAft>
                        <a:buNone/>
                      </a:pPr>
                      <a:r>
                        <a:rPr lang="en-US" sz="1900">
                          <a:effectLst/>
                          <a:latin typeface="Aptos gövde"/>
                        </a:rPr>
                        <a:t>Gaz Adı</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dirty="0" err="1">
                          <a:effectLst/>
                          <a:latin typeface="Aptos gövde"/>
                        </a:rPr>
                        <a:t>Özellikleri</a:t>
                      </a:r>
                      <a:endParaRPr lang="tr-TR" sz="1900" dirty="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a:effectLst/>
                          <a:latin typeface="Aptos gövde"/>
                        </a:rPr>
                        <a:t>Oluşum Şekli</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extLst>
                  <a:ext uri="{0D108BD9-81ED-4DB2-BD59-A6C34878D82A}">
                    <a16:rowId xmlns:a16="http://schemas.microsoft.com/office/drawing/2014/main" val="3855223512"/>
                  </a:ext>
                </a:extLst>
              </a:tr>
              <a:tr h="703508">
                <a:tc>
                  <a:txBody>
                    <a:bodyPr/>
                    <a:lstStyle/>
                    <a:p>
                      <a:pPr>
                        <a:lnSpc>
                          <a:spcPct val="115000"/>
                        </a:lnSpc>
                        <a:spcAft>
                          <a:spcPts val="1000"/>
                        </a:spcAft>
                        <a:buNone/>
                      </a:pPr>
                      <a:r>
                        <a:rPr lang="en-US" sz="1900">
                          <a:effectLst/>
                          <a:latin typeface="Aptos gövde"/>
                        </a:rPr>
                        <a:t>Metan (CH</a:t>
                      </a:r>
                      <a:r>
                        <a:rPr lang="en-US" sz="1900" baseline="-25000">
                          <a:effectLst/>
                          <a:latin typeface="Aptos gövde"/>
                        </a:rPr>
                        <a:t>4</a:t>
                      </a:r>
                      <a:r>
                        <a:rPr lang="en-US" sz="1900">
                          <a:effectLst/>
                          <a:latin typeface="Aptos gövde"/>
                        </a:rPr>
                        <a:t>)</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a:effectLst/>
                          <a:latin typeface="Aptos gövde"/>
                        </a:rPr>
                        <a:t>Renksiz, kokusuz, patlayıcı; havadan hafif</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a:effectLst/>
                          <a:latin typeface="Aptos gövde"/>
                        </a:rPr>
                        <a:t>Organik maddelerin çürümesi ve kömür damarlarından salınması</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extLst>
                  <a:ext uri="{0D108BD9-81ED-4DB2-BD59-A6C34878D82A}">
                    <a16:rowId xmlns:a16="http://schemas.microsoft.com/office/drawing/2014/main" val="3660150779"/>
                  </a:ext>
                </a:extLst>
              </a:tr>
              <a:tr h="703508">
                <a:tc>
                  <a:txBody>
                    <a:bodyPr/>
                    <a:lstStyle/>
                    <a:p>
                      <a:pPr>
                        <a:lnSpc>
                          <a:spcPct val="115000"/>
                        </a:lnSpc>
                        <a:spcAft>
                          <a:spcPts val="1000"/>
                        </a:spcAft>
                        <a:buNone/>
                      </a:pPr>
                      <a:r>
                        <a:rPr lang="en-US" sz="1900">
                          <a:effectLst/>
                          <a:latin typeface="Aptos gövde"/>
                        </a:rPr>
                        <a:t>Karbondioksit (CO</a:t>
                      </a:r>
                      <a:r>
                        <a:rPr lang="en-US" sz="1900" baseline="-25000">
                          <a:effectLst/>
                          <a:latin typeface="Aptos gövde"/>
                        </a:rPr>
                        <a:t>2</a:t>
                      </a:r>
                      <a:r>
                        <a:rPr lang="en-US" sz="1900">
                          <a:effectLst/>
                          <a:latin typeface="Aptos gövde"/>
                        </a:rPr>
                        <a:t>)</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a:effectLst/>
                          <a:latin typeface="Aptos gövde"/>
                        </a:rPr>
                        <a:t>Renksiz, kokusuz, boğucu; havadan ağır</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dirty="0" err="1">
                          <a:effectLst/>
                          <a:latin typeface="Aptos gövde"/>
                        </a:rPr>
                        <a:t>Solunum</a:t>
                      </a:r>
                      <a:r>
                        <a:rPr lang="en-US" sz="1900" dirty="0">
                          <a:effectLst/>
                          <a:latin typeface="Aptos gövde"/>
                        </a:rPr>
                        <a:t>, </a:t>
                      </a:r>
                      <a:r>
                        <a:rPr lang="en-US" sz="1900" dirty="0" err="1">
                          <a:effectLst/>
                          <a:latin typeface="Aptos gövde"/>
                        </a:rPr>
                        <a:t>yanma</a:t>
                      </a:r>
                      <a:r>
                        <a:rPr lang="en-US" sz="1900" dirty="0">
                          <a:effectLst/>
                          <a:latin typeface="Aptos gövde"/>
                        </a:rPr>
                        <a:t> </a:t>
                      </a:r>
                      <a:r>
                        <a:rPr lang="en-US" sz="1900" dirty="0" err="1">
                          <a:effectLst/>
                          <a:latin typeface="Aptos gövde"/>
                        </a:rPr>
                        <a:t>ve</a:t>
                      </a:r>
                      <a:r>
                        <a:rPr lang="en-US" sz="1900" dirty="0">
                          <a:effectLst/>
                          <a:latin typeface="Aptos gövde"/>
                        </a:rPr>
                        <a:t> </a:t>
                      </a:r>
                      <a:r>
                        <a:rPr lang="en-US" sz="1900" dirty="0" err="1">
                          <a:effectLst/>
                          <a:latin typeface="Aptos gövde"/>
                        </a:rPr>
                        <a:t>organik</a:t>
                      </a:r>
                      <a:r>
                        <a:rPr lang="en-US" sz="1900" dirty="0">
                          <a:effectLst/>
                          <a:latin typeface="Aptos gövde"/>
                        </a:rPr>
                        <a:t> </a:t>
                      </a:r>
                      <a:r>
                        <a:rPr lang="en-US" sz="1900" dirty="0" err="1">
                          <a:effectLst/>
                          <a:latin typeface="Aptos gövde"/>
                        </a:rPr>
                        <a:t>maddelerin</a:t>
                      </a:r>
                      <a:r>
                        <a:rPr lang="en-US" sz="1900" dirty="0">
                          <a:effectLst/>
                          <a:latin typeface="Aptos gövde"/>
                        </a:rPr>
                        <a:t> </a:t>
                      </a:r>
                      <a:r>
                        <a:rPr lang="en-US" sz="1900" dirty="0" err="1">
                          <a:effectLst/>
                          <a:latin typeface="Aptos gövde"/>
                        </a:rPr>
                        <a:t>oksidasyonu</a:t>
                      </a:r>
                      <a:endParaRPr lang="tr-TR" sz="1900" dirty="0">
                        <a:effectLst/>
                        <a:latin typeface="Aptos gövde"/>
                        <a:ea typeface="MS Mincho" panose="02020609040205080304" pitchFamily="49" charset="-128"/>
                        <a:cs typeface="Times New Roman" panose="02020603050405020304" pitchFamily="18" charset="0"/>
                      </a:endParaRPr>
                    </a:p>
                  </a:txBody>
                  <a:tcPr marL="120070" marR="120070" marT="0" marB="0"/>
                </a:tc>
                <a:extLst>
                  <a:ext uri="{0D108BD9-81ED-4DB2-BD59-A6C34878D82A}">
                    <a16:rowId xmlns:a16="http://schemas.microsoft.com/office/drawing/2014/main" val="3710627522"/>
                  </a:ext>
                </a:extLst>
              </a:tr>
              <a:tr h="703508">
                <a:tc>
                  <a:txBody>
                    <a:bodyPr/>
                    <a:lstStyle/>
                    <a:p>
                      <a:pPr>
                        <a:lnSpc>
                          <a:spcPct val="115000"/>
                        </a:lnSpc>
                        <a:spcAft>
                          <a:spcPts val="1000"/>
                        </a:spcAft>
                        <a:buNone/>
                      </a:pPr>
                      <a:r>
                        <a:rPr lang="en-US" sz="1900">
                          <a:effectLst/>
                          <a:latin typeface="Aptos gövde"/>
                        </a:rPr>
                        <a:t>Karbonmonoksit (CO)</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a:effectLst/>
                          <a:latin typeface="Aptos gövde"/>
                        </a:rPr>
                        <a:t>Renksiz, kokusuz, zehirli</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a:effectLst/>
                          <a:latin typeface="Aptos gövde"/>
                        </a:rPr>
                        <a:t>Eksik yanma sonucu oluşur (patlama ve yangın sonrası)</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extLst>
                  <a:ext uri="{0D108BD9-81ED-4DB2-BD59-A6C34878D82A}">
                    <a16:rowId xmlns:a16="http://schemas.microsoft.com/office/drawing/2014/main" val="14656049"/>
                  </a:ext>
                </a:extLst>
              </a:tr>
              <a:tr h="703508">
                <a:tc>
                  <a:txBody>
                    <a:bodyPr/>
                    <a:lstStyle/>
                    <a:p>
                      <a:pPr>
                        <a:lnSpc>
                          <a:spcPct val="115000"/>
                        </a:lnSpc>
                        <a:spcAft>
                          <a:spcPts val="1000"/>
                        </a:spcAft>
                        <a:buNone/>
                      </a:pPr>
                      <a:r>
                        <a:rPr lang="en-US" sz="1900" dirty="0">
                          <a:effectLst/>
                          <a:latin typeface="Aptos gövde"/>
                        </a:rPr>
                        <a:t>Hidrojen </a:t>
                      </a:r>
                      <a:r>
                        <a:rPr lang="en-US" sz="1900" dirty="0" err="1">
                          <a:effectLst/>
                          <a:latin typeface="Aptos gövde"/>
                        </a:rPr>
                        <a:t>Sülfür</a:t>
                      </a:r>
                      <a:r>
                        <a:rPr lang="en-US" sz="1900" dirty="0">
                          <a:effectLst/>
                          <a:latin typeface="Aptos gövde"/>
                        </a:rPr>
                        <a:t> (H</a:t>
                      </a:r>
                      <a:r>
                        <a:rPr lang="en-US" sz="1900" baseline="-25000" dirty="0">
                          <a:effectLst/>
                          <a:latin typeface="Aptos gövde"/>
                        </a:rPr>
                        <a:t>2</a:t>
                      </a:r>
                      <a:r>
                        <a:rPr lang="en-US" sz="1900" dirty="0">
                          <a:effectLst/>
                          <a:latin typeface="Aptos gövde"/>
                        </a:rPr>
                        <a:t>S)</a:t>
                      </a:r>
                      <a:endParaRPr lang="tr-TR" sz="1900" dirty="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a:effectLst/>
                          <a:latin typeface="Aptos gövde"/>
                        </a:rPr>
                        <a:t>Çürük yumurta kokulu, zehirli</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a:effectLst/>
                          <a:latin typeface="Aptos gövde"/>
                        </a:rPr>
                        <a:t>Kükürtlü organik maddelerin ayrışması</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extLst>
                  <a:ext uri="{0D108BD9-81ED-4DB2-BD59-A6C34878D82A}">
                    <a16:rowId xmlns:a16="http://schemas.microsoft.com/office/drawing/2014/main" val="587577490"/>
                  </a:ext>
                </a:extLst>
              </a:tr>
              <a:tr h="703508">
                <a:tc>
                  <a:txBody>
                    <a:bodyPr/>
                    <a:lstStyle/>
                    <a:p>
                      <a:pPr>
                        <a:lnSpc>
                          <a:spcPct val="115000"/>
                        </a:lnSpc>
                        <a:spcAft>
                          <a:spcPts val="1000"/>
                        </a:spcAft>
                        <a:buNone/>
                      </a:pPr>
                      <a:r>
                        <a:rPr lang="en-US" sz="1900" dirty="0">
                          <a:effectLst/>
                          <a:latin typeface="Aptos gövde"/>
                        </a:rPr>
                        <a:t>Azot (N</a:t>
                      </a:r>
                      <a:r>
                        <a:rPr lang="en-US" sz="1900" baseline="-25000" dirty="0">
                          <a:effectLst/>
                          <a:latin typeface="Aptos gövde"/>
                        </a:rPr>
                        <a:t>2</a:t>
                      </a:r>
                      <a:r>
                        <a:rPr lang="en-US" sz="1900" dirty="0">
                          <a:effectLst/>
                          <a:latin typeface="Aptos gövde"/>
                        </a:rPr>
                        <a:t>)</a:t>
                      </a:r>
                      <a:endParaRPr lang="tr-TR" sz="1900" dirty="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a:effectLst/>
                          <a:latin typeface="Aptos gövde"/>
                        </a:rPr>
                        <a:t>Renksiz, kokusuz, inert oksijenin yerini alarak boğucu etki yaratabilir</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a:effectLst/>
                          <a:latin typeface="Aptos gövde"/>
                        </a:rPr>
                        <a:t>Maden havasında mevcuttur</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extLst>
                  <a:ext uri="{0D108BD9-81ED-4DB2-BD59-A6C34878D82A}">
                    <a16:rowId xmlns:a16="http://schemas.microsoft.com/office/drawing/2014/main" val="1584694480"/>
                  </a:ext>
                </a:extLst>
              </a:tr>
              <a:tr h="703508">
                <a:tc>
                  <a:txBody>
                    <a:bodyPr/>
                    <a:lstStyle/>
                    <a:p>
                      <a:pPr>
                        <a:lnSpc>
                          <a:spcPct val="115000"/>
                        </a:lnSpc>
                        <a:spcAft>
                          <a:spcPts val="1000"/>
                        </a:spcAft>
                        <a:buNone/>
                      </a:pPr>
                      <a:r>
                        <a:rPr lang="en-US" sz="1900">
                          <a:effectLst/>
                          <a:latin typeface="Aptos gövde"/>
                        </a:rPr>
                        <a:t>Oksijen (O</a:t>
                      </a:r>
                      <a:r>
                        <a:rPr lang="en-US" sz="1900" baseline="-25000">
                          <a:effectLst/>
                          <a:latin typeface="Aptos gövde"/>
                        </a:rPr>
                        <a:t>2</a:t>
                      </a:r>
                      <a:r>
                        <a:rPr lang="en-US" sz="1900">
                          <a:effectLst/>
                          <a:latin typeface="Aptos gövde"/>
                        </a:rPr>
                        <a:t>)</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a:effectLst/>
                          <a:latin typeface="Aptos gövde"/>
                        </a:rPr>
                        <a:t>Yanmayı destekler</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a:effectLst/>
                          <a:latin typeface="Aptos gövde"/>
                        </a:rPr>
                        <a:t>Doğal olarak havada bulunur, tüketildiğinde tehlike oluşur</a:t>
                      </a:r>
                      <a:endParaRPr lang="tr-TR" sz="1900">
                        <a:effectLst/>
                        <a:latin typeface="Aptos gövde"/>
                        <a:ea typeface="MS Mincho" panose="02020609040205080304" pitchFamily="49" charset="-128"/>
                        <a:cs typeface="Times New Roman" panose="02020603050405020304" pitchFamily="18" charset="0"/>
                      </a:endParaRPr>
                    </a:p>
                  </a:txBody>
                  <a:tcPr marL="120070" marR="120070" marT="0" marB="0"/>
                </a:tc>
                <a:extLst>
                  <a:ext uri="{0D108BD9-81ED-4DB2-BD59-A6C34878D82A}">
                    <a16:rowId xmlns:a16="http://schemas.microsoft.com/office/drawing/2014/main" val="1356026362"/>
                  </a:ext>
                </a:extLst>
              </a:tr>
              <a:tr h="703508">
                <a:tc>
                  <a:txBody>
                    <a:bodyPr/>
                    <a:lstStyle/>
                    <a:p>
                      <a:pPr>
                        <a:lnSpc>
                          <a:spcPct val="115000"/>
                        </a:lnSpc>
                        <a:spcAft>
                          <a:spcPts val="1000"/>
                        </a:spcAft>
                        <a:buNone/>
                      </a:pPr>
                      <a:r>
                        <a:rPr lang="en-US" sz="1900" dirty="0">
                          <a:effectLst/>
                          <a:latin typeface="Aptos gövde"/>
                        </a:rPr>
                        <a:t>Hidrojen (H</a:t>
                      </a:r>
                      <a:r>
                        <a:rPr lang="en-US" sz="1900" baseline="-25000" dirty="0">
                          <a:effectLst/>
                          <a:latin typeface="Aptos gövde"/>
                        </a:rPr>
                        <a:t>2</a:t>
                      </a:r>
                      <a:r>
                        <a:rPr lang="en-US" sz="1900" dirty="0">
                          <a:effectLst/>
                          <a:latin typeface="Aptos gövde"/>
                        </a:rPr>
                        <a:t>)</a:t>
                      </a:r>
                      <a:endParaRPr lang="tr-TR" sz="1900" dirty="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dirty="0" err="1">
                          <a:effectLst/>
                          <a:latin typeface="Aptos gövde"/>
                        </a:rPr>
                        <a:t>Renksiz</a:t>
                      </a:r>
                      <a:r>
                        <a:rPr lang="en-US" sz="1900" dirty="0">
                          <a:effectLst/>
                          <a:latin typeface="Aptos gövde"/>
                        </a:rPr>
                        <a:t>, </a:t>
                      </a:r>
                      <a:r>
                        <a:rPr lang="en-US" sz="1900" dirty="0" err="1">
                          <a:effectLst/>
                          <a:latin typeface="Aptos gövde"/>
                        </a:rPr>
                        <a:t>kokusuz</a:t>
                      </a:r>
                      <a:r>
                        <a:rPr lang="en-US" sz="1900" dirty="0">
                          <a:effectLst/>
                          <a:latin typeface="Aptos gövde"/>
                        </a:rPr>
                        <a:t>, </a:t>
                      </a:r>
                      <a:r>
                        <a:rPr lang="en-US" sz="1900" dirty="0" err="1">
                          <a:effectLst/>
                          <a:latin typeface="Aptos gövde"/>
                        </a:rPr>
                        <a:t>patlayıcı</a:t>
                      </a:r>
                      <a:endParaRPr lang="tr-TR" sz="1900" dirty="0">
                        <a:effectLst/>
                        <a:latin typeface="Aptos gövde"/>
                        <a:ea typeface="MS Mincho" panose="02020609040205080304" pitchFamily="49" charset="-128"/>
                        <a:cs typeface="Times New Roman" panose="02020603050405020304" pitchFamily="18" charset="0"/>
                      </a:endParaRPr>
                    </a:p>
                  </a:txBody>
                  <a:tcPr marL="120070" marR="120070" marT="0" marB="0"/>
                </a:tc>
                <a:tc>
                  <a:txBody>
                    <a:bodyPr/>
                    <a:lstStyle/>
                    <a:p>
                      <a:pPr>
                        <a:lnSpc>
                          <a:spcPct val="115000"/>
                        </a:lnSpc>
                        <a:spcAft>
                          <a:spcPts val="1000"/>
                        </a:spcAft>
                        <a:buNone/>
                      </a:pPr>
                      <a:r>
                        <a:rPr lang="en-US" sz="1900" dirty="0" err="1">
                          <a:effectLst/>
                          <a:latin typeface="Aptos gövde"/>
                        </a:rPr>
                        <a:t>Asidik</a:t>
                      </a:r>
                      <a:r>
                        <a:rPr lang="en-US" sz="1900" dirty="0">
                          <a:effectLst/>
                          <a:latin typeface="Aptos gövde"/>
                        </a:rPr>
                        <a:t> </a:t>
                      </a:r>
                      <a:r>
                        <a:rPr lang="en-US" sz="1900" dirty="0" err="1">
                          <a:effectLst/>
                          <a:latin typeface="Aptos gövde"/>
                        </a:rPr>
                        <a:t>reaksiyonlar</a:t>
                      </a:r>
                      <a:r>
                        <a:rPr lang="en-US" sz="1900" dirty="0">
                          <a:effectLst/>
                          <a:latin typeface="Aptos gövde"/>
                        </a:rPr>
                        <a:t> </a:t>
                      </a:r>
                      <a:r>
                        <a:rPr lang="en-US" sz="1900" dirty="0" err="1">
                          <a:effectLst/>
                          <a:latin typeface="Aptos gövde"/>
                        </a:rPr>
                        <a:t>ve</a:t>
                      </a:r>
                      <a:r>
                        <a:rPr lang="en-US" sz="1900" dirty="0">
                          <a:effectLst/>
                          <a:latin typeface="Aptos gövde"/>
                        </a:rPr>
                        <a:t> </a:t>
                      </a:r>
                      <a:r>
                        <a:rPr lang="en-US" sz="1900" dirty="0" err="1">
                          <a:effectLst/>
                          <a:latin typeface="Aptos gövde"/>
                        </a:rPr>
                        <a:t>bazı</a:t>
                      </a:r>
                      <a:r>
                        <a:rPr lang="en-US" sz="1900" dirty="0">
                          <a:effectLst/>
                          <a:latin typeface="Aptos gövde"/>
                        </a:rPr>
                        <a:t> </a:t>
                      </a:r>
                      <a:r>
                        <a:rPr lang="en-US" sz="1900" dirty="0" err="1">
                          <a:effectLst/>
                          <a:latin typeface="Aptos gövde"/>
                        </a:rPr>
                        <a:t>kimyasal</a:t>
                      </a:r>
                      <a:r>
                        <a:rPr lang="en-US" sz="1900" dirty="0">
                          <a:effectLst/>
                          <a:latin typeface="Aptos gövde"/>
                        </a:rPr>
                        <a:t> </a:t>
                      </a:r>
                      <a:r>
                        <a:rPr lang="en-US" sz="1900" dirty="0" err="1">
                          <a:effectLst/>
                          <a:latin typeface="Aptos gövde"/>
                        </a:rPr>
                        <a:t>süreçler</a:t>
                      </a:r>
                      <a:r>
                        <a:rPr lang="en-US" sz="1900" dirty="0">
                          <a:effectLst/>
                          <a:latin typeface="Aptos gövde"/>
                        </a:rPr>
                        <a:t> </a:t>
                      </a:r>
                      <a:r>
                        <a:rPr lang="en-US" sz="1900" dirty="0" err="1">
                          <a:effectLst/>
                          <a:latin typeface="Aptos gövde"/>
                        </a:rPr>
                        <a:t>sonucu</a:t>
                      </a:r>
                      <a:r>
                        <a:rPr lang="en-US" sz="1900" dirty="0">
                          <a:effectLst/>
                          <a:latin typeface="Aptos gövde"/>
                        </a:rPr>
                        <a:t> </a:t>
                      </a:r>
                      <a:r>
                        <a:rPr lang="en-US" sz="1900" dirty="0" err="1">
                          <a:effectLst/>
                          <a:latin typeface="Aptos gövde"/>
                        </a:rPr>
                        <a:t>oluşur</a:t>
                      </a:r>
                      <a:endParaRPr lang="tr-TR" sz="1900" dirty="0">
                        <a:effectLst/>
                        <a:latin typeface="Aptos gövde"/>
                        <a:ea typeface="MS Mincho" panose="02020609040205080304" pitchFamily="49" charset="-128"/>
                        <a:cs typeface="Times New Roman" panose="02020603050405020304" pitchFamily="18" charset="0"/>
                      </a:endParaRPr>
                    </a:p>
                  </a:txBody>
                  <a:tcPr marL="120070" marR="120070" marT="0" marB="0"/>
                </a:tc>
                <a:extLst>
                  <a:ext uri="{0D108BD9-81ED-4DB2-BD59-A6C34878D82A}">
                    <a16:rowId xmlns:a16="http://schemas.microsoft.com/office/drawing/2014/main" val="4261734754"/>
                  </a:ext>
                </a:extLst>
              </a:tr>
            </a:tbl>
          </a:graphicData>
        </a:graphic>
      </p:graphicFrame>
    </p:spTree>
    <p:extLst>
      <p:ext uri="{BB962C8B-B14F-4D97-AF65-F5344CB8AC3E}">
        <p14:creationId xmlns:p14="http://schemas.microsoft.com/office/powerpoint/2010/main" val="28686490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ECED18-70EE-41C2-DC37-62F6BA8B0E4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972A1FF-C691-F80A-265E-A502251F040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369CC826-2EE4-77D1-75E8-318840CF7CFA}"/>
              </a:ext>
            </a:extLst>
          </p:cNvPr>
          <p:cNvSpPr>
            <a:spLocks noGrp="1"/>
          </p:cNvSpPr>
          <p:nvPr>
            <p:ph type="title"/>
          </p:nvPr>
        </p:nvSpPr>
        <p:spPr>
          <a:xfrm>
            <a:off x="838200" y="365125"/>
            <a:ext cx="10515600" cy="1325563"/>
          </a:xfrm>
        </p:spPr>
        <p:txBody>
          <a:bodyPr>
            <a:normAutofit/>
          </a:bodyPr>
          <a:lstStyle/>
          <a:p>
            <a:r>
              <a:rPr lang="tr-TR" sz="4000" b="1" dirty="0">
                <a:latin typeface="Aptos gövde"/>
              </a:rPr>
              <a:t>Maden ocaklarında yeraltı işleri</a:t>
            </a:r>
            <a:endParaRPr lang="tr-TR" sz="4000" dirty="0"/>
          </a:p>
        </p:txBody>
      </p:sp>
      <p:sp>
        <p:nvSpPr>
          <p:cNvPr id="10" name="sketch line">
            <a:extLst>
              <a:ext uri="{FF2B5EF4-FFF2-40B4-BE49-F238E27FC236}">
                <a16:creationId xmlns:a16="http://schemas.microsoft.com/office/drawing/2014/main" id="{CD265310-CA13-42FC-FC68-7A561A4F77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023AE47F-BB00-B65E-1588-44BB888E7364}"/>
              </a:ext>
            </a:extLst>
          </p:cNvPr>
          <p:cNvSpPr>
            <a:spLocks noGrp="1"/>
          </p:cNvSpPr>
          <p:nvPr>
            <p:ph idx="1"/>
          </p:nvPr>
        </p:nvSpPr>
        <p:spPr>
          <a:xfrm>
            <a:off x="838200" y="1929383"/>
            <a:ext cx="10515600" cy="4563491"/>
          </a:xfrm>
        </p:spPr>
        <p:txBody>
          <a:bodyPr>
            <a:normAutofit fontScale="70000" lnSpcReduction="20000"/>
          </a:bodyPr>
          <a:lstStyle/>
          <a:p>
            <a:pPr marL="0" indent="0">
              <a:buNone/>
            </a:pPr>
            <a:r>
              <a:rPr lang="tr-TR" b="1" dirty="0">
                <a:solidFill>
                  <a:srgbClr val="C00000"/>
                </a:solidFill>
                <a:latin typeface="Aptos gövde"/>
              </a:rPr>
              <a:t>Gazlar </a:t>
            </a:r>
          </a:p>
          <a:p>
            <a:pPr marL="0" indent="0">
              <a:buNone/>
            </a:pPr>
            <a:endParaRPr lang="tr-TR" b="1" dirty="0">
              <a:solidFill>
                <a:schemeClr val="accent5"/>
              </a:solidFill>
              <a:latin typeface="Aptos gövde"/>
            </a:endParaRPr>
          </a:p>
          <a:p>
            <a:pPr marL="0" indent="0">
              <a:buNone/>
            </a:pPr>
            <a:r>
              <a:rPr lang="tr-TR" sz="2600" dirty="0">
                <a:latin typeface="Aptos gövde"/>
              </a:rPr>
              <a:t>    Maden ocaklarında gaz kaynaklı en önemli kazalar, genellikle metan (CH</a:t>
            </a:r>
            <a:r>
              <a:rPr lang="tr-TR" sz="2600" baseline="-25000" dirty="0">
                <a:latin typeface="Aptos gövde"/>
              </a:rPr>
              <a:t>4</a:t>
            </a:r>
            <a:r>
              <a:rPr lang="tr-TR" sz="2600" dirty="0">
                <a:latin typeface="Aptos gövde"/>
              </a:rPr>
              <a:t>) ve karbonmonoksit (CO) gazlarının neden olduğu grizu patlamaları, zehirlenmeler ve kömür tozu patlamalarıdır. Bu kazalar, yüksek sıcaklık, şok dalgaları ve havasızlık (</a:t>
            </a:r>
            <a:r>
              <a:rPr lang="tr-TR" sz="2600" dirty="0" err="1">
                <a:latin typeface="Aptos gövde"/>
              </a:rPr>
              <a:t>asfiksi</a:t>
            </a:r>
            <a:r>
              <a:rPr lang="tr-TR" sz="2600" dirty="0">
                <a:latin typeface="Aptos gövde"/>
              </a:rPr>
              <a:t>) ile yüzlerce can kaybına yol açmaktadır.</a:t>
            </a:r>
          </a:p>
          <a:p>
            <a:pPr marL="0" indent="0">
              <a:buNone/>
            </a:pPr>
            <a:endParaRPr lang="tr-TR" sz="2200" dirty="0">
              <a:latin typeface="Aptos gövde"/>
            </a:endParaRPr>
          </a:p>
          <a:p>
            <a:r>
              <a:rPr lang="tr-TR" sz="2600" b="1" dirty="0">
                <a:latin typeface="Aptos gövde"/>
                <a:hlinkClick r:id="rId3"/>
              </a:rPr>
              <a:t>Grizu Patlaması (Metan Gazı)</a:t>
            </a:r>
            <a:r>
              <a:rPr lang="tr-TR" sz="2600" b="1" dirty="0">
                <a:latin typeface="Aptos gövde"/>
              </a:rPr>
              <a:t>:</a:t>
            </a:r>
            <a:r>
              <a:rPr lang="tr-TR" sz="2600" dirty="0">
                <a:latin typeface="Aptos gövde"/>
              </a:rPr>
              <a:t> Metan gazının havada %4–15 oranında bulunması ve bir tutuşturucu (kıvılcım, açık alev) ile karşılaşması sonucu oluşur. En ölümcül kaza türüdür.</a:t>
            </a:r>
          </a:p>
          <a:p>
            <a:r>
              <a:rPr lang="tr-TR" sz="2600" b="1" dirty="0">
                <a:latin typeface="Aptos gövde"/>
                <a:hlinkClick r:id="rId4"/>
              </a:rPr>
              <a:t>Kömür Tozu Patlaması</a:t>
            </a:r>
            <a:r>
              <a:rPr lang="tr-TR" sz="2600" b="1" dirty="0">
                <a:latin typeface="Aptos gövde"/>
              </a:rPr>
              <a:t>:</a:t>
            </a:r>
            <a:r>
              <a:rPr lang="tr-TR" sz="2600" dirty="0">
                <a:latin typeface="Aptos gövde"/>
              </a:rPr>
              <a:t> Grizu patlamasını takiben havaya kalkan kömür tozlarının tutuşmasıyla oluşan zincirleme reaksiyon.</a:t>
            </a:r>
          </a:p>
          <a:p>
            <a:r>
              <a:rPr lang="tr-TR" sz="2600" b="1" dirty="0">
                <a:latin typeface="Aptos gövde"/>
                <a:hlinkClick r:id="rId5"/>
              </a:rPr>
              <a:t>Karbonmonoksit (CO) Zehirlenmesi</a:t>
            </a:r>
            <a:r>
              <a:rPr lang="tr-TR" sz="2600" b="1" dirty="0">
                <a:latin typeface="Aptos gövde"/>
              </a:rPr>
              <a:t>:</a:t>
            </a:r>
            <a:r>
              <a:rPr lang="tr-TR" sz="2600" dirty="0">
                <a:latin typeface="Aptos gövde"/>
              </a:rPr>
              <a:t> Ocak yangınları veya patlamalar sonrası oluşan, "</a:t>
            </a:r>
            <a:r>
              <a:rPr lang="tr-TR" sz="2600" b="1" dirty="0">
                <a:latin typeface="Aptos gövde"/>
              </a:rPr>
              <a:t>sessiz katil</a:t>
            </a:r>
            <a:r>
              <a:rPr lang="tr-TR" sz="2600" dirty="0">
                <a:latin typeface="Aptos gövde"/>
              </a:rPr>
              <a:t>" olarak bilinen zehirli gazdır.</a:t>
            </a:r>
          </a:p>
          <a:p>
            <a:r>
              <a:rPr lang="tr-TR" sz="2600" b="1" dirty="0">
                <a:latin typeface="Aptos gövde"/>
                <a:hlinkClick r:id="rId6"/>
              </a:rPr>
              <a:t>Ani Metan Çıkışı (Degaj)</a:t>
            </a:r>
            <a:r>
              <a:rPr lang="tr-TR" sz="2600" b="1" dirty="0">
                <a:latin typeface="Aptos gövde"/>
              </a:rPr>
              <a:t>:</a:t>
            </a:r>
            <a:r>
              <a:rPr lang="tr-TR" sz="2600" dirty="0">
                <a:latin typeface="Aptos gövde"/>
              </a:rPr>
              <a:t> Kömür damarlarından büyük miktarda metanın aniden ocağa dolması sonucu oluşan patlama veya boğulma olayı.</a:t>
            </a:r>
          </a:p>
          <a:p>
            <a:r>
              <a:rPr lang="tr-TR" sz="2600" b="1" dirty="0">
                <a:latin typeface="Aptos gövde"/>
                <a:hlinkClick r:id="rId7"/>
              </a:rPr>
              <a:t>Oksijen Kıtlığı (</a:t>
            </a:r>
            <a:r>
              <a:rPr lang="tr-TR" sz="2600" b="1" dirty="0" err="1">
                <a:latin typeface="Aptos gövde"/>
                <a:hlinkClick r:id="rId7"/>
              </a:rPr>
              <a:t>Anoksi</a:t>
            </a:r>
            <a:r>
              <a:rPr lang="tr-TR" sz="2600" b="1" dirty="0">
                <a:latin typeface="Aptos gövde"/>
                <a:hlinkClick r:id="rId7"/>
              </a:rPr>
              <a:t>)</a:t>
            </a:r>
            <a:r>
              <a:rPr lang="tr-TR" sz="2600" b="1" dirty="0">
                <a:latin typeface="Aptos gövde"/>
              </a:rPr>
              <a:t>:</a:t>
            </a:r>
            <a:r>
              <a:rPr lang="tr-TR" sz="2600" dirty="0">
                <a:latin typeface="Aptos gövde"/>
              </a:rPr>
              <a:t> Metan veya karbondioksitin oksijenin yerini almasıyla oluşan boğulmalar.</a:t>
            </a:r>
          </a:p>
          <a:p>
            <a:pPr marL="0" indent="0">
              <a:buNone/>
            </a:pPr>
            <a:endParaRPr lang="tr-TR" sz="2200" dirty="0">
              <a:latin typeface="Aptos gövde"/>
            </a:endParaRPr>
          </a:p>
          <a:p>
            <a:pPr marL="0" indent="0">
              <a:buNone/>
            </a:pPr>
            <a:endParaRPr lang="tr-TR" sz="2200" b="1" dirty="0"/>
          </a:p>
        </p:txBody>
      </p:sp>
    </p:spTree>
    <p:extLst>
      <p:ext uri="{BB962C8B-B14F-4D97-AF65-F5344CB8AC3E}">
        <p14:creationId xmlns:p14="http://schemas.microsoft.com/office/powerpoint/2010/main" val="8168439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F819C0-01B3-E8AD-AF97-BF565995B17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980CAE-4714-84C7-D3A2-E0714210950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2F66EC28-3574-97C3-BD6A-57C515E614A1}"/>
              </a:ext>
            </a:extLst>
          </p:cNvPr>
          <p:cNvSpPr>
            <a:spLocks noGrp="1"/>
          </p:cNvSpPr>
          <p:nvPr>
            <p:ph type="title"/>
          </p:nvPr>
        </p:nvSpPr>
        <p:spPr>
          <a:xfrm>
            <a:off x="838200" y="365125"/>
            <a:ext cx="10515600" cy="1325563"/>
          </a:xfrm>
        </p:spPr>
        <p:txBody>
          <a:bodyPr>
            <a:normAutofit/>
          </a:bodyPr>
          <a:lstStyle/>
          <a:p>
            <a:r>
              <a:rPr lang="tr-TR" sz="4000" b="1" dirty="0">
                <a:latin typeface="Aptos gövde"/>
              </a:rPr>
              <a:t>Maden ocaklarında yeraltı işleri</a:t>
            </a:r>
            <a:endParaRPr lang="tr-TR" sz="4000" dirty="0"/>
          </a:p>
        </p:txBody>
      </p:sp>
      <p:sp>
        <p:nvSpPr>
          <p:cNvPr id="10" name="sketch line">
            <a:extLst>
              <a:ext uri="{FF2B5EF4-FFF2-40B4-BE49-F238E27FC236}">
                <a16:creationId xmlns:a16="http://schemas.microsoft.com/office/drawing/2014/main" id="{5FCFD13E-BDC4-2F64-E3DA-12DDFAD3E88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0AD4AB7-08B8-483E-0122-CDE5A60DB131}"/>
              </a:ext>
            </a:extLst>
          </p:cNvPr>
          <p:cNvSpPr>
            <a:spLocks noGrp="1"/>
          </p:cNvSpPr>
          <p:nvPr>
            <p:ph idx="1"/>
          </p:nvPr>
        </p:nvSpPr>
        <p:spPr>
          <a:xfrm>
            <a:off x="838200" y="1929383"/>
            <a:ext cx="10515600" cy="4563491"/>
          </a:xfrm>
        </p:spPr>
        <p:txBody>
          <a:bodyPr>
            <a:normAutofit/>
          </a:bodyPr>
          <a:lstStyle/>
          <a:p>
            <a:pPr marL="0" indent="0">
              <a:buNone/>
            </a:pPr>
            <a:r>
              <a:rPr lang="tr-TR" sz="2200" b="1" dirty="0">
                <a:solidFill>
                  <a:srgbClr val="C00000"/>
                </a:solidFill>
                <a:latin typeface="Aptos gövde"/>
              </a:rPr>
              <a:t>Tarihteki ve Türkiye'deki Önemli </a:t>
            </a:r>
            <a:r>
              <a:rPr lang="tr-TR" sz="2200" b="1" dirty="0" smtClean="0">
                <a:solidFill>
                  <a:srgbClr val="C00000"/>
                </a:solidFill>
                <a:latin typeface="Aptos gövde"/>
              </a:rPr>
              <a:t>Maden </a:t>
            </a:r>
            <a:r>
              <a:rPr lang="tr-TR" sz="2200" b="1" dirty="0">
                <a:solidFill>
                  <a:srgbClr val="C00000"/>
                </a:solidFill>
                <a:latin typeface="Aptos gövde"/>
              </a:rPr>
              <a:t>Kazaları:</a:t>
            </a:r>
          </a:p>
          <a:p>
            <a:pPr marL="0" indent="0">
              <a:buNone/>
            </a:pPr>
            <a:endParaRPr lang="tr-TR" sz="2200" b="1" dirty="0">
              <a:solidFill>
                <a:schemeClr val="accent5"/>
              </a:solidFill>
              <a:latin typeface="Aptos gövde"/>
            </a:endParaRPr>
          </a:p>
          <a:p>
            <a:r>
              <a:rPr lang="tr-TR" sz="2200" b="1" dirty="0" err="1">
                <a:solidFill>
                  <a:srgbClr val="C00000"/>
                </a:solidFill>
                <a:latin typeface="Aptos gövde"/>
              </a:rPr>
              <a:t>Benxihu</a:t>
            </a:r>
            <a:r>
              <a:rPr lang="tr-TR" sz="2200" b="1" dirty="0">
                <a:solidFill>
                  <a:srgbClr val="C00000"/>
                </a:solidFill>
                <a:latin typeface="Aptos gövde"/>
              </a:rPr>
              <a:t> (Çin, 1942): </a:t>
            </a:r>
            <a:r>
              <a:rPr lang="tr-TR" sz="2200" dirty="0">
                <a:latin typeface="Aptos gövde"/>
              </a:rPr>
              <a:t>1549 kişinin ölümüyle sonuçlanan, tarihteki en büyük maden faciası.</a:t>
            </a:r>
          </a:p>
          <a:p>
            <a:r>
              <a:rPr lang="tr-TR" sz="2200" b="1" dirty="0" err="1">
                <a:solidFill>
                  <a:srgbClr val="C00000"/>
                </a:solidFill>
                <a:latin typeface="Aptos gövde"/>
              </a:rPr>
              <a:t>Courrières</a:t>
            </a:r>
            <a:r>
              <a:rPr lang="tr-TR" sz="2200" b="1" dirty="0">
                <a:solidFill>
                  <a:srgbClr val="C00000"/>
                </a:solidFill>
                <a:latin typeface="Aptos gövde"/>
              </a:rPr>
              <a:t> (Fransa, 1906): </a:t>
            </a:r>
            <a:r>
              <a:rPr lang="tr-TR" sz="2200" dirty="0">
                <a:latin typeface="Aptos gövde"/>
              </a:rPr>
              <a:t>1099 kişinin öldüğü </a:t>
            </a:r>
            <a:r>
              <a:rPr lang="tr-TR" sz="2200" b="1" dirty="0">
                <a:latin typeface="Aptos gövde"/>
              </a:rPr>
              <a:t>kömür tozu </a:t>
            </a:r>
            <a:r>
              <a:rPr lang="tr-TR" sz="2200" dirty="0">
                <a:latin typeface="Aptos gövde"/>
              </a:rPr>
              <a:t>patlaması.</a:t>
            </a:r>
          </a:p>
          <a:p>
            <a:r>
              <a:rPr lang="tr-TR" sz="2200" b="1" dirty="0">
                <a:solidFill>
                  <a:srgbClr val="C00000"/>
                </a:solidFill>
                <a:latin typeface="Aptos gövde"/>
              </a:rPr>
              <a:t>Soma (Türkiye, 2014): </a:t>
            </a:r>
            <a:r>
              <a:rPr lang="tr-TR" sz="2200" dirty="0">
                <a:latin typeface="Aptos gövde"/>
              </a:rPr>
              <a:t>301 madencinin hayatını kaybettiği, kömür ocağı yangını ve </a:t>
            </a:r>
            <a:r>
              <a:rPr lang="tr-TR" sz="2200" b="1" dirty="0">
                <a:latin typeface="Aptos gövde"/>
              </a:rPr>
              <a:t>karbonmonoksit zehirlenmesi</a:t>
            </a:r>
            <a:r>
              <a:rPr lang="tr-TR" sz="2200" dirty="0">
                <a:latin typeface="Aptos gövde"/>
              </a:rPr>
              <a:t>.</a:t>
            </a:r>
          </a:p>
          <a:p>
            <a:r>
              <a:rPr lang="tr-TR" sz="2200" b="1" dirty="0">
                <a:solidFill>
                  <a:srgbClr val="C00000"/>
                </a:solidFill>
                <a:latin typeface="Aptos gövde"/>
              </a:rPr>
              <a:t>Kozlu (Türkiye, 1992): </a:t>
            </a:r>
            <a:r>
              <a:rPr lang="tr-TR" sz="2200" dirty="0">
                <a:latin typeface="Aptos gövde"/>
              </a:rPr>
              <a:t>263 kişinin öldüğü </a:t>
            </a:r>
            <a:r>
              <a:rPr lang="tr-TR" sz="2200" b="1" dirty="0">
                <a:latin typeface="Aptos gövde"/>
              </a:rPr>
              <a:t>grizu</a:t>
            </a:r>
            <a:r>
              <a:rPr lang="tr-TR" sz="2200" dirty="0">
                <a:latin typeface="Aptos gövde"/>
              </a:rPr>
              <a:t> patlaması.</a:t>
            </a:r>
          </a:p>
          <a:p>
            <a:pPr marL="0" indent="0">
              <a:buNone/>
            </a:pPr>
            <a:endParaRPr lang="tr-TR" sz="2200" dirty="0">
              <a:latin typeface="Aptos gövde"/>
            </a:endParaRPr>
          </a:p>
          <a:p>
            <a:pPr marL="0" indent="0">
              <a:buNone/>
            </a:pPr>
            <a:r>
              <a:rPr lang="tr-TR" sz="2200" dirty="0">
                <a:latin typeface="Aptos gövde"/>
              </a:rPr>
              <a:t>   Bu kazaları önlemek için düzenli havalandırma, gaz dedektörleri, kömür tozuyla mücadele ve sıkı denetimler hayati öneme sahiptir.</a:t>
            </a:r>
          </a:p>
          <a:p>
            <a:pPr marL="0" indent="0">
              <a:buNone/>
            </a:pPr>
            <a:endParaRPr lang="tr-TR" sz="2200" b="1" dirty="0"/>
          </a:p>
        </p:txBody>
      </p:sp>
    </p:spTree>
    <p:extLst>
      <p:ext uri="{BB962C8B-B14F-4D97-AF65-F5344CB8AC3E}">
        <p14:creationId xmlns:p14="http://schemas.microsoft.com/office/powerpoint/2010/main" val="1736591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A82CD5-0F89-2F09-77B3-C8722019A67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7805462-E0DD-F4A8-6654-A111677B32D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C1CCFB30-30D0-F59C-5957-AA7E4023814D}"/>
              </a:ext>
            </a:extLst>
          </p:cNvPr>
          <p:cNvSpPr>
            <a:spLocks noGrp="1"/>
          </p:cNvSpPr>
          <p:nvPr>
            <p:ph type="title"/>
          </p:nvPr>
        </p:nvSpPr>
        <p:spPr>
          <a:xfrm>
            <a:off x="838200" y="365125"/>
            <a:ext cx="10515600" cy="1325563"/>
          </a:xfrm>
        </p:spPr>
        <p:txBody>
          <a:bodyPr>
            <a:normAutofit/>
          </a:bodyPr>
          <a:lstStyle/>
          <a:p>
            <a:r>
              <a:rPr lang="tr-TR" sz="4000" b="1" dirty="0">
                <a:latin typeface="Aptos gövde"/>
              </a:rPr>
              <a:t>Maden ocaklarında yeraltı işleri</a:t>
            </a:r>
            <a:endParaRPr lang="tr-TR" sz="4000" dirty="0"/>
          </a:p>
        </p:txBody>
      </p:sp>
      <p:sp>
        <p:nvSpPr>
          <p:cNvPr id="10" name="sketch line">
            <a:extLst>
              <a:ext uri="{FF2B5EF4-FFF2-40B4-BE49-F238E27FC236}">
                <a16:creationId xmlns:a16="http://schemas.microsoft.com/office/drawing/2014/main" id="{F726C0D9-4E93-BF4D-9428-460FC6A8504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B4BA82C7-BC19-9DBA-4934-959AC2B47E78}"/>
              </a:ext>
            </a:extLst>
          </p:cNvPr>
          <p:cNvSpPr>
            <a:spLocks noGrp="1"/>
          </p:cNvSpPr>
          <p:nvPr>
            <p:ph idx="1"/>
          </p:nvPr>
        </p:nvSpPr>
        <p:spPr>
          <a:xfrm>
            <a:off x="368710" y="1929383"/>
            <a:ext cx="11820242" cy="5149843"/>
          </a:xfrm>
        </p:spPr>
        <p:txBody>
          <a:bodyPr>
            <a:noAutofit/>
          </a:bodyPr>
          <a:lstStyle/>
          <a:p>
            <a:pPr marL="0" indent="0">
              <a:buNone/>
            </a:pPr>
            <a:r>
              <a:rPr lang="tr-TR" sz="2000" b="1" dirty="0">
                <a:solidFill>
                  <a:srgbClr val="C00000"/>
                </a:solidFill>
                <a:latin typeface="Aptos gövde"/>
              </a:rPr>
              <a:t>Grizu patlamasının önlenmesi</a:t>
            </a:r>
          </a:p>
          <a:p>
            <a:pPr marL="0" indent="0">
              <a:spcBef>
                <a:spcPts val="0"/>
              </a:spcBef>
              <a:buNone/>
            </a:pPr>
            <a:endParaRPr lang="tr-TR" sz="1900" b="1" dirty="0">
              <a:solidFill>
                <a:schemeClr val="accent5"/>
              </a:solidFill>
              <a:latin typeface="Aptos gövde"/>
            </a:endParaRPr>
          </a:p>
          <a:p>
            <a:pPr>
              <a:buClr>
                <a:srgbClr val="C00000"/>
              </a:buClr>
              <a:buFont typeface="Wingdings" panose="05000000000000000000" pitchFamily="2" charset="2"/>
              <a:buChar char="Ø"/>
            </a:pPr>
            <a:r>
              <a:rPr lang="tr-TR" sz="1900" dirty="0">
                <a:latin typeface="Aptos gövde"/>
              </a:rPr>
              <a:t>Bütün </a:t>
            </a:r>
            <a:r>
              <a:rPr lang="tr-TR" sz="1900" dirty="0" err="1">
                <a:latin typeface="Aptos gövde"/>
              </a:rPr>
              <a:t>grizulu</a:t>
            </a:r>
            <a:r>
              <a:rPr lang="tr-TR" sz="1900" dirty="0">
                <a:latin typeface="Aptos gövde"/>
              </a:rPr>
              <a:t> ocakların, havalandırma planında saptanan istasyonlarında, </a:t>
            </a:r>
            <a:r>
              <a:rPr lang="tr-TR" sz="1900" b="1" dirty="0">
                <a:latin typeface="Aptos gövde"/>
              </a:rPr>
              <a:t>en geç 10 günde bir hava </a:t>
            </a:r>
            <a:r>
              <a:rPr lang="tr-TR" sz="1900" dirty="0">
                <a:latin typeface="Aptos gövde"/>
              </a:rPr>
              <a:t>ölçmeleri yapılır. </a:t>
            </a:r>
          </a:p>
          <a:p>
            <a:pPr>
              <a:buClr>
                <a:srgbClr val="C00000"/>
              </a:buClr>
              <a:buFont typeface="Wingdings" panose="05000000000000000000" pitchFamily="2" charset="2"/>
              <a:buChar char="Ø"/>
            </a:pPr>
            <a:r>
              <a:rPr lang="tr-TR" sz="1900" b="1" dirty="0">
                <a:latin typeface="Aptos gövde"/>
              </a:rPr>
              <a:t>Havada % 1 den çok metan </a:t>
            </a:r>
            <a:r>
              <a:rPr lang="tr-TR" sz="1900" dirty="0">
                <a:latin typeface="Aptos gövde"/>
              </a:rPr>
              <a:t>saptandığında, bu oran, % 1 in altına düşünceye kadar, ölçümler aralıksız sürdürülür. </a:t>
            </a:r>
          </a:p>
          <a:p>
            <a:pPr>
              <a:buClr>
                <a:srgbClr val="C00000"/>
              </a:buClr>
              <a:buFont typeface="Wingdings" panose="05000000000000000000" pitchFamily="2" charset="2"/>
              <a:buChar char="Ø"/>
            </a:pPr>
            <a:r>
              <a:rPr lang="tr-TR" sz="1900" dirty="0">
                <a:latin typeface="Aptos gövde"/>
              </a:rPr>
              <a:t>Genel hava ölçmelerine ek olarak, hava çıkış yollarında, metan miktarı, her gün ölçülür ve bütün ölçümler havalandırma defterine yazılarak imzalanır.</a:t>
            </a:r>
          </a:p>
          <a:p>
            <a:pPr>
              <a:buClr>
                <a:srgbClr val="C00000"/>
              </a:buClr>
              <a:buFont typeface="Wingdings" panose="05000000000000000000" pitchFamily="2" charset="2"/>
              <a:buChar char="Ø"/>
            </a:pPr>
            <a:r>
              <a:rPr lang="tr-TR" sz="1900" dirty="0" err="1">
                <a:latin typeface="Aptos gövde"/>
              </a:rPr>
              <a:t>Grizulu</a:t>
            </a:r>
            <a:r>
              <a:rPr lang="tr-TR" sz="1900" dirty="0">
                <a:latin typeface="Aptos gövde"/>
              </a:rPr>
              <a:t> ocaklarda haberleşme, sinyalizasyon ve erken uyarı sistemi dışındaki bütün elektrik teçhizatı, tesisatı ve aygıtları, ocak havasındaki </a:t>
            </a:r>
            <a:r>
              <a:rPr lang="tr-TR" sz="1900" b="1" dirty="0">
                <a:latin typeface="Aptos gövde"/>
              </a:rPr>
              <a:t>metan oranı % 1,5 olduğunda</a:t>
            </a:r>
            <a:r>
              <a:rPr lang="tr-TR" sz="1900" dirty="0">
                <a:latin typeface="Aptos gövde"/>
              </a:rPr>
              <a:t>, otomatik olarak devreden çıkacak özellikte tesis edilmiş olacaktır</a:t>
            </a:r>
          </a:p>
          <a:p>
            <a:pPr>
              <a:buClr>
                <a:srgbClr val="C00000"/>
              </a:buClr>
              <a:buFont typeface="Wingdings" panose="05000000000000000000" pitchFamily="2" charset="2"/>
              <a:buChar char="Ø"/>
            </a:pPr>
            <a:r>
              <a:rPr lang="tr-TR" sz="1900" dirty="0">
                <a:latin typeface="Aptos gövde"/>
              </a:rPr>
              <a:t>Bütün </a:t>
            </a:r>
            <a:r>
              <a:rPr lang="tr-TR" sz="1900" dirty="0" err="1">
                <a:latin typeface="Aptos gövde"/>
              </a:rPr>
              <a:t>grizulu</a:t>
            </a:r>
            <a:r>
              <a:rPr lang="tr-TR" sz="1900" dirty="0">
                <a:latin typeface="Aptos gövde"/>
              </a:rPr>
              <a:t> ocaklarda her biri tek başına ocağın havalandırılmasını sağlayacak güçte, birinin herhangi bir nedenle durması halinde diğeri derhal çalışacak durumda </a:t>
            </a:r>
            <a:r>
              <a:rPr lang="tr-TR" sz="1900" b="1" dirty="0">
                <a:latin typeface="Aptos gövde"/>
              </a:rPr>
              <a:t>iki havalandırma </a:t>
            </a:r>
            <a:r>
              <a:rPr lang="tr-TR" sz="1900" dirty="0">
                <a:latin typeface="Aptos gövde"/>
              </a:rPr>
              <a:t>grubu bulunur.</a:t>
            </a:r>
          </a:p>
          <a:p>
            <a:pPr>
              <a:buClr>
                <a:srgbClr val="C00000"/>
              </a:buClr>
              <a:buFont typeface="Wingdings" panose="05000000000000000000" pitchFamily="2" charset="2"/>
              <a:buChar char="Ø"/>
            </a:pPr>
            <a:r>
              <a:rPr lang="tr-TR" sz="1900" b="1" dirty="0">
                <a:latin typeface="Aptos gövde"/>
              </a:rPr>
              <a:t>Havasında % 2 den çok metan </a:t>
            </a:r>
            <a:r>
              <a:rPr lang="tr-TR" sz="1900" dirty="0">
                <a:latin typeface="Aptos gövde"/>
              </a:rPr>
              <a:t>saptanan ocaklarda veya ocak kısımlarında, işçilerin kurtarılması ve grizunun temizlenmesi dışında </a:t>
            </a:r>
            <a:r>
              <a:rPr lang="tr-TR" sz="1900" b="1" dirty="0">
                <a:latin typeface="Aptos gövde"/>
              </a:rPr>
              <a:t>çalışma yapmak yasaktır</a:t>
            </a:r>
            <a:r>
              <a:rPr lang="tr-TR" sz="1900" dirty="0">
                <a:latin typeface="Aptos gövde"/>
              </a:rPr>
              <a:t>.</a:t>
            </a:r>
            <a:endParaRPr lang="tr-TR" sz="1900" b="1" dirty="0">
              <a:solidFill>
                <a:schemeClr val="accent5"/>
              </a:solidFill>
              <a:latin typeface="Aptos gövde"/>
            </a:endParaRPr>
          </a:p>
          <a:p>
            <a:pPr>
              <a:buClr>
                <a:srgbClr val="C00000"/>
              </a:buClr>
              <a:buFont typeface="Wingdings" panose="05000000000000000000" pitchFamily="2" charset="2"/>
              <a:buChar char="Ø"/>
            </a:pPr>
            <a:r>
              <a:rPr lang="tr-TR" sz="1900" dirty="0" err="1">
                <a:latin typeface="Aptos gövde"/>
              </a:rPr>
              <a:t>Grizulu</a:t>
            </a:r>
            <a:r>
              <a:rPr lang="tr-TR" sz="1900" dirty="0">
                <a:latin typeface="Aptos gövde"/>
              </a:rPr>
              <a:t> maden ocaklarında yalnız bu tür ocaklar için </a:t>
            </a:r>
            <a:r>
              <a:rPr lang="tr-TR" sz="1900" b="1" dirty="0">
                <a:latin typeface="Aptos gövde"/>
              </a:rPr>
              <a:t>uygun olan patlayıcı maddeler ve ateşleyiciler </a:t>
            </a:r>
            <a:r>
              <a:rPr lang="tr-TR" sz="1900" dirty="0">
                <a:latin typeface="Aptos gövde"/>
              </a:rPr>
              <a:t>kullanılır.</a:t>
            </a:r>
            <a:endParaRPr lang="tr-TR" sz="1900" b="1" dirty="0">
              <a:solidFill>
                <a:schemeClr val="accent5"/>
              </a:solidFill>
              <a:latin typeface="Aptos gövde"/>
            </a:endParaRPr>
          </a:p>
          <a:p>
            <a:pPr marL="0" indent="0">
              <a:buClr>
                <a:srgbClr val="0070C0"/>
              </a:buClr>
              <a:buNone/>
            </a:pPr>
            <a:r>
              <a:rPr lang="tr-TR" sz="1900" dirty="0">
                <a:latin typeface="Aptos gövde"/>
              </a:rPr>
              <a:t> </a:t>
            </a:r>
            <a:endParaRPr lang="tr-TR" sz="1900" b="1" dirty="0">
              <a:latin typeface="Aptos gövde"/>
            </a:endParaRPr>
          </a:p>
        </p:txBody>
      </p:sp>
    </p:spTree>
    <p:extLst>
      <p:ext uri="{BB962C8B-B14F-4D97-AF65-F5344CB8AC3E}">
        <p14:creationId xmlns:p14="http://schemas.microsoft.com/office/powerpoint/2010/main" val="860297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çerik Yer Tutucusu 4">
            <a:extLst>
              <a:ext uri="{FF2B5EF4-FFF2-40B4-BE49-F238E27FC236}">
                <a16:creationId xmlns:a16="http://schemas.microsoft.com/office/drawing/2014/main" id="{812C9168-9FAB-4A5B-8C70-0A9F44CB808A}"/>
              </a:ext>
            </a:extLst>
          </p:cNvPr>
          <p:cNvPicPr>
            <a:picLocks noGrp="1" noChangeAspect="1"/>
          </p:cNvPicPr>
          <p:nvPr>
            <p:ph idx="1"/>
          </p:nvPr>
        </p:nvPicPr>
        <p:blipFill>
          <a:blip r:embed="rId2"/>
          <a:stretch>
            <a:fillRect/>
          </a:stretch>
        </p:blipFill>
        <p:spPr>
          <a:xfrm>
            <a:off x="1334406" y="643467"/>
            <a:ext cx="9523188" cy="5571065"/>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Metin kutusu 5">
            <a:extLst>
              <a:ext uri="{FF2B5EF4-FFF2-40B4-BE49-F238E27FC236}">
                <a16:creationId xmlns:a16="http://schemas.microsoft.com/office/drawing/2014/main" id="{19160159-78B6-1B6C-E55F-DA0A6167F362}"/>
              </a:ext>
            </a:extLst>
          </p:cNvPr>
          <p:cNvSpPr txBox="1"/>
          <p:nvPr/>
        </p:nvSpPr>
        <p:spPr>
          <a:xfrm>
            <a:off x="3505083" y="6214532"/>
            <a:ext cx="4285129" cy="400110"/>
          </a:xfrm>
          <a:prstGeom prst="rect">
            <a:avLst/>
          </a:prstGeom>
          <a:noFill/>
        </p:spPr>
        <p:txBody>
          <a:bodyPr wrap="square" rtlCol="0">
            <a:spAutoFit/>
          </a:bodyPr>
          <a:lstStyle/>
          <a:p>
            <a:pPr algn="ctr"/>
            <a:r>
              <a:rPr lang="tr-TR" sz="2000" dirty="0">
                <a:latin typeface="Aptos gövde"/>
              </a:rPr>
              <a:t>Üretim öncesi Metan drenajı</a:t>
            </a:r>
          </a:p>
        </p:txBody>
      </p:sp>
    </p:spTree>
    <p:extLst>
      <p:ext uri="{BB962C8B-B14F-4D97-AF65-F5344CB8AC3E}">
        <p14:creationId xmlns:p14="http://schemas.microsoft.com/office/powerpoint/2010/main" val="8327828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38200" y="365125"/>
            <a:ext cx="10515600" cy="1325563"/>
          </a:xfrm>
        </p:spPr>
        <p:txBody>
          <a:bodyPr>
            <a:normAutofit fontScale="90000"/>
          </a:bodyPr>
          <a:lstStyle/>
          <a:p>
            <a:r>
              <a:rPr lang="tr-TR" sz="4200" b="1" dirty="0">
                <a:latin typeface="Aptos gövde"/>
              </a:rPr>
              <a:t/>
            </a:r>
            <a:br>
              <a:rPr lang="tr-TR" sz="4200" b="1" dirty="0">
                <a:latin typeface="Aptos gövde"/>
              </a:rPr>
            </a:br>
            <a:r>
              <a:rPr lang="tr-TR" b="1" dirty="0">
                <a:latin typeface="Aptos gövde"/>
              </a:rPr>
              <a:t>Maden ocaklarında yeraltı işleri</a:t>
            </a:r>
            <a:r>
              <a:rPr lang="tr-TR" sz="4200" dirty="0">
                <a:latin typeface="Aptos gövde"/>
              </a:rPr>
              <a:t/>
            </a:r>
            <a:br>
              <a:rPr lang="tr-TR" sz="4200" dirty="0">
                <a:latin typeface="Aptos gövde"/>
              </a:rPr>
            </a:br>
            <a:endParaRPr lang="tr-TR" sz="42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838200" y="1929383"/>
            <a:ext cx="10515600" cy="4563491"/>
          </a:xfrm>
        </p:spPr>
        <p:txBody>
          <a:bodyPr>
            <a:normAutofit fontScale="92500" lnSpcReduction="10000"/>
          </a:bodyPr>
          <a:lstStyle/>
          <a:p>
            <a:pPr marL="0" indent="0">
              <a:buNone/>
            </a:pPr>
            <a:r>
              <a:rPr lang="tr-TR" sz="2200" b="1" dirty="0">
                <a:solidFill>
                  <a:srgbClr val="C00000"/>
                </a:solidFill>
                <a:latin typeface="Aptos gövde"/>
              </a:rPr>
              <a:t>Karbonmonoksit (CO) zehirlenmesi</a:t>
            </a:r>
          </a:p>
          <a:p>
            <a:pPr marL="0" indent="0">
              <a:buNone/>
            </a:pPr>
            <a:endParaRPr lang="tr-TR" sz="1900" dirty="0">
              <a:latin typeface="Aptos gövde"/>
            </a:endParaRPr>
          </a:p>
          <a:p>
            <a:pPr marL="0" indent="0">
              <a:buNone/>
            </a:pPr>
            <a:r>
              <a:rPr lang="tr-TR" sz="1900" dirty="0">
                <a:latin typeface="Aptos gövde"/>
              </a:rPr>
              <a:t>   </a:t>
            </a:r>
            <a:r>
              <a:rPr lang="tr-TR" sz="2000" dirty="0">
                <a:latin typeface="Aptos gövde"/>
              </a:rPr>
              <a:t>Genellikle kömür ocaklarında yangın, patlama veya makine egzozları sonucu oluşan, kokusuz ve renksiz gazın hemoglobinle oksijenden 200-300 kat daha hızlı birleşmesiyle dokuların oksijensiz kalmasıdır. Bu durum, baş dönmesi ve pembeleşme ile başlayıp hızlı ölümlere yol açabilmektedir.</a:t>
            </a:r>
          </a:p>
          <a:p>
            <a:pPr marL="0" indent="0">
              <a:buNone/>
            </a:pPr>
            <a:endParaRPr lang="tr-TR" sz="2000" dirty="0">
              <a:latin typeface="Aptos gövde"/>
            </a:endParaRPr>
          </a:p>
          <a:p>
            <a:r>
              <a:rPr lang="tr-TR" sz="2000" b="1" dirty="0">
                <a:latin typeface="Aptos gövde"/>
              </a:rPr>
              <a:t>Gaz Dedektörleri:</a:t>
            </a:r>
            <a:r>
              <a:rPr lang="tr-TR" sz="2000" dirty="0">
                <a:latin typeface="Aptos gövde"/>
              </a:rPr>
              <a:t> Taşınabilir ve sabit gaz ölçüm cihazları (dedektörler) ile sürekli izleme yapılmalıdır.</a:t>
            </a:r>
          </a:p>
          <a:p>
            <a:r>
              <a:rPr lang="tr-TR" sz="2000" b="1" dirty="0">
                <a:latin typeface="Aptos gövde"/>
              </a:rPr>
              <a:t>Havalandırma:</a:t>
            </a:r>
            <a:r>
              <a:rPr lang="tr-TR" sz="2000" dirty="0">
                <a:latin typeface="Aptos gövde"/>
              </a:rPr>
              <a:t> Etkin bir havalandırma sistemi, gazın maden ocağından uzaklaştırılması için zorunludur.</a:t>
            </a:r>
          </a:p>
          <a:p>
            <a:r>
              <a:rPr lang="tr-TR" sz="2000" b="1" dirty="0">
                <a:latin typeface="Aptos gövde"/>
              </a:rPr>
              <a:t>Eğitim:</a:t>
            </a:r>
            <a:r>
              <a:rPr lang="tr-TR" sz="2000" dirty="0">
                <a:latin typeface="Aptos gövde"/>
              </a:rPr>
              <a:t> Çalışanların zehirlenme belirtileri ve acil tahliye prosedürleri (maske kullanımı vb.) konusunda eğitilmesi hayat kurtarır.</a:t>
            </a:r>
          </a:p>
          <a:p>
            <a:r>
              <a:rPr lang="tr-TR" sz="2000" b="1" dirty="0">
                <a:latin typeface="Aptos gövde"/>
              </a:rPr>
              <a:t>Sınır Değerler:</a:t>
            </a:r>
            <a:r>
              <a:rPr lang="tr-TR" sz="2000" dirty="0">
                <a:latin typeface="Aptos gövde"/>
              </a:rPr>
              <a:t> 8 saatlik çalışma süresi içerisinde karbonmonoksit seviyesi 50 ppm'i (0.005) geçmemelidir.</a:t>
            </a:r>
          </a:p>
          <a:p>
            <a:pPr marL="0" indent="0">
              <a:buNone/>
            </a:pPr>
            <a:endParaRPr lang="tr-TR" sz="1900" dirty="0">
              <a:latin typeface="Aptos gövde"/>
            </a:endParaRPr>
          </a:p>
        </p:txBody>
      </p:sp>
    </p:spTree>
    <p:extLst>
      <p:ext uri="{BB962C8B-B14F-4D97-AF65-F5344CB8AC3E}">
        <p14:creationId xmlns:p14="http://schemas.microsoft.com/office/powerpoint/2010/main" val="6234031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E375C6-EDEB-6862-B8BC-A7A1AF47960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6F2402B-81DD-FC22-7502-3B78B41B3D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8BD66D4A-795B-8087-2872-539B7CA32236}"/>
              </a:ext>
            </a:extLst>
          </p:cNvPr>
          <p:cNvSpPr>
            <a:spLocks noGrp="1"/>
          </p:cNvSpPr>
          <p:nvPr>
            <p:ph type="title"/>
          </p:nvPr>
        </p:nvSpPr>
        <p:spPr>
          <a:xfrm>
            <a:off x="838200" y="365125"/>
            <a:ext cx="10515600" cy="1325563"/>
          </a:xfrm>
        </p:spPr>
        <p:txBody>
          <a:bodyPr>
            <a:normAutofit fontScale="90000"/>
          </a:bodyPr>
          <a:lstStyle/>
          <a:p>
            <a:r>
              <a:rPr lang="tr-TR" sz="4200" b="1" dirty="0">
                <a:latin typeface="Aptos gövde"/>
              </a:rPr>
              <a:t/>
            </a:r>
            <a:br>
              <a:rPr lang="tr-TR" sz="4200" b="1" dirty="0">
                <a:latin typeface="Aptos gövde"/>
              </a:rPr>
            </a:br>
            <a:r>
              <a:rPr lang="tr-TR" b="1" dirty="0">
                <a:latin typeface="Aptos gövde"/>
              </a:rPr>
              <a:t>Maden ocaklarında yeraltı işleri</a:t>
            </a:r>
            <a:r>
              <a:rPr lang="tr-TR" sz="4200" dirty="0">
                <a:latin typeface="Aptos gövde"/>
              </a:rPr>
              <a:t/>
            </a:r>
            <a:br>
              <a:rPr lang="tr-TR" sz="4200" dirty="0">
                <a:latin typeface="Aptos gövde"/>
              </a:rPr>
            </a:br>
            <a:endParaRPr lang="tr-TR" sz="4200" dirty="0"/>
          </a:p>
        </p:txBody>
      </p:sp>
      <p:sp>
        <p:nvSpPr>
          <p:cNvPr id="10" name="sketch line">
            <a:extLst>
              <a:ext uri="{FF2B5EF4-FFF2-40B4-BE49-F238E27FC236}">
                <a16:creationId xmlns:a16="http://schemas.microsoft.com/office/drawing/2014/main" id="{34B3D6D4-6BAD-C356-9D51-361734A1E5E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6B22A5E-19B2-165D-C347-EB65DDA9EB36}"/>
              </a:ext>
            </a:extLst>
          </p:cNvPr>
          <p:cNvSpPr>
            <a:spLocks noGrp="1"/>
          </p:cNvSpPr>
          <p:nvPr>
            <p:ph idx="1"/>
          </p:nvPr>
        </p:nvSpPr>
        <p:spPr>
          <a:xfrm>
            <a:off x="838200" y="1929383"/>
            <a:ext cx="10515600" cy="4563491"/>
          </a:xfrm>
        </p:spPr>
        <p:txBody>
          <a:bodyPr>
            <a:normAutofit fontScale="92500" lnSpcReduction="10000"/>
          </a:bodyPr>
          <a:lstStyle/>
          <a:p>
            <a:pPr marL="0" indent="0">
              <a:buNone/>
            </a:pPr>
            <a:r>
              <a:rPr lang="tr-TR" sz="2400" b="1" dirty="0">
                <a:solidFill>
                  <a:schemeClr val="accent2">
                    <a:lumMod val="75000"/>
                  </a:schemeClr>
                </a:solidFill>
                <a:latin typeface="Aptos gövde"/>
              </a:rPr>
              <a:t>Göçük tehlikesi</a:t>
            </a:r>
          </a:p>
          <a:p>
            <a:pPr marL="0" indent="0">
              <a:spcBef>
                <a:spcPts val="0"/>
              </a:spcBef>
              <a:buNone/>
            </a:pPr>
            <a:endParaRPr lang="tr-TR" sz="2200" b="1" dirty="0">
              <a:solidFill>
                <a:schemeClr val="accent5"/>
              </a:solidFill>
              <a:latin typeface="Aptos gövde"/>
            </a:endParaRPr>
          </a:p>
          <a:p>
            <a:pPr marL="0" indent="0">
              <a:buNone/>
            </a:pPr>
            <a:r>
              <a:rPr lang="tr-TR" sz="2000" dirty="0">
                <a:latin typeface="Aptos gövde"/>
              </a:rPr>
              <a:t>   </a:t>
            </a:r>
            <a:r>
              <a:rPr lang="tr-TR" sz="2200" dirty="0">
                <a:latin typeface="Aptos gövde"/>
              </a:rPr>
              <a:t>Tavan desteklerinin (tahkimat) yetersizliği, yer hareketleri, su baskınları veya patlamalar sonucu oluşan en büyük hayati risklerden biridir. Kayaçların zamanla zayıflaması veya beklenmedik jeolojik yapılar göçüklere yol açabilir. Önlem olarak mekanik/hidrolik tahkimat, düzenli denetim ve acil çıkış planları hayati önem taşır.</a:t>
            </a:r>
          </a:p>
          <a:p>
            <a:r>
              <a:rPr lang="tr-TR" sz="2200" b="1" dirty="0">
                <a:solidFill>
                  <a:schemeClr val="accent2">
                    <a:lumMod val="75000"/>
                  </a:schemeClr>
                </a:solidFill>
                <a:latin typeface="Aptos gövde"/>
              </a:rPr>
              <a:t>Yetersiz veya Eski Tahkimat:</a:t>
            </a:r>
            <a:r>
              <a:rPr lang="tr-TR" sz="2200" dirty="0">
                <a:solidFill>
                  <a:schemeClr val="accent2">
                    <a:lumMod val="75000"/>
                  </a:schemeClr>
                </a:solidFill>
                <a:latin typeface="Aptos gövde"/>
              </a:rPr>
              <a:t> </a:t>
            </a:r>
            <a:r>
              <a:rPr lang="tr-TR" sz="2200" dirty="0">
                <a:latin typeface="Aptos gövde"/>
              </a:rPr>
              <a:t>Yeraltı tavanının sağlam desteklenmemesi veya mevcut desteklerin zamanla taşıma kapasitesini yitirmesi.</a:t>
            </a:r>
          </a:p>
          <a:p>
            <a:r>
              <a:rPr lang="tr-TR" sz="2200" b="1" dirty="0">
                <a:solidFill>
                  <a:schemeClr val="accent2">
                    <a:lumMod val="75000"/>
                  </a:schemeClr>
                </a:solidFill>
                <a:latin typeface="Aptos gövde"/>
              </a:rPr>
              <a:t>Jeolojik Yapı ve Kayaç Özellikleri:</a:t>
            </a:r>
            <a:r>
              <a:rPr lang="tr-TR" sz="2200" dirty="0">
                <a:latin typeface="Aptos gövde"/>
              </a:rPr>
              <a:t> Kayaçların yapısının zayıf olması veya zamanla bozulması.</a:t>
            </a:r>
          </a:p>
          <a:p>
            <a:r>
              <a:rPr lang="tr-TR" sz="2200" b="1" dirty="0">
                <a:solidFill>
                  <a:schemeClr val="accent2">
                    <a:lumMod val="75000"/>
                  </a:schemeClr>
                </a:solidFill>
                <a:latin typeface="Aptos gövde"/>
              </a:rPr>
              <a:t>Su Baskınları:</a:t>
            </a:r>
            <a:r>
              <a:rPr lang="tr-TR" sz="2200" dirty="0">
                <a:solidFill>
                  <a:schemeClr val="accent2">
                    <a:lumMod val="75000"/>
                  </a:schemeClr>
                </a:solidFill>
                <a:latin typeface="Aptos gövde"/>
              </a:rPr>
              <a:t> </a:t>
            </a:r>
            <a:r>
              <a:rPr lang="tr-TR" sz="2200" dirty="0">
                <a:latin typeface="Aptos gövde"/>
              </a:rPr>
              <a:t>Yeraltı sularının veya ani su baskınlarının (</a:t>
            </a:r>
            <a:r>
              <a:rPr lang="tr-TR" sz="2200" dirty="0" err="1">
                <a:latin typeface="Aptos gövde"/>
              </a:rPr>
              <a:t>örn</a:t>
            </a:r>
            <a:r>
              <a:rPr lang="tr-TR" sz="2200" dirty="0">
                <a:latin typeface="Aptos gövde"/>
              </a:rPr>
              <a:t>. Ermenek maden kazası) tahkimat stabilitesini bozması.</a:t>
            </a:r>
          </a:p>
          <a:p>
            <a:r>
              <a:rPr lang="tr-TR" sz="2200" b="1" dirty="0">
                <a:solidFill>
                  <a:schemeClr val="accent2">
                    <a:lumMod val="75000"/>
                  </a:schemeClr>
                </a:solidFill>
                <a:latin typeface="Aptos gövde"/>
              </a:rPr>
              <a:t>Patlatma Faaliyetleri:</a:t>
            </a:r>
            <a:r>
              <a:rPr lang="tr-TR" sz="2200" dirty="0">
                <a:solidFill>
                  <a:schemeClr val="accent2">
                    <a:lumMod val="75000"/>
                  </a:schemeClr>
                </a:solidFill>
                <a:latin typeface="Aptos gövde"/>
              </a:rPr>
              <a:t> </a:t>
            </a:r>
            <a:r>
              <a:rPr lang="tr-TR" sz="2200" dirty="0">
                <a:latin typeface="Aptos gövde"/>
              </a:rPr>
              <a:t>Yanlış veya aşırı patlayıcı kullanımı sonucu tavanın hasar görmesi.</a:t>
            </a:r>
          </a:p>
          <a:p>
            <a:r>
              <a:rPr lang="tr-TR" sz="2200" b="1" dirty="0">
                <a:solidFill>
                  <a:schemeClr val="accent2">
                    <a:lumMod val="75000"/>
                  </a:schemeClr>
                </a:solidFill>
                <a:latin typeface="Aptos gövde"/>
              </a:rPr>
              <a:t>Yeraltı İşletme Yöntemleri:</a:t>
            </a:r>
            <a:r>
              <a:rPr lang="tr-TR" sz="2200" dirty="0">
                <a:solidFill>
                  <a:schemeClr val="accent2">
                    <a:lumMod val="75000"/>
                  </a:schemeClr>
                </a:solidFill>
                <a:latin typeface="Aptos gövde"/>
              </a:rPr>
              <a:t> </a:t>
            </a:r>
            <a:r>
              <a:rPr lang="tr-TR" sz="2200" dirty="0">
                <a:latin typeface="Aptos gövde"/>
              </a:rPr>
              <a:t>Doğru planlanmamış tavan kontrolü</a:t>
            </a:r>
          </a:p>
          <a:p>
            <a:pPr marL="0" indent="0">
              <a:buNone/>
            </a:pPr>
            <a:endParaRPr lang="tr-TR" sz="2000" dirty="0">
              <a:latin typeface="Aptos gövde"/>
            </a:endParaRPr>
          </a:p>
        </p:txBody>
      </p:sp>
    </p:spTree>
    <p:extLst>
      <p:ext uri="{BB962C8B-B14F-4D97-AF65-F5344CB8AC3E}">
        <p14:creationId xmlns:p14="http://schemas.microsoft.com/office/powerpoint/2010/main" val="6004847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821496-56AC-313F-7073-0CB3CB92657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08E740C-B818-FB83-DAFC-9EAB9205DD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C26FAE63-BB67-5F38-2BA5-3ED08AF626D5}"/>
              </a:ext>
            </a:extLst>
          </p:cNvPr>
          <p:cNvSpPr>
            <a:spLocks noGrp="1"/>
          </p:cNvSpPr>
          <p:nvPr>
            <p:ph type="title"/>
          </p:nvPr>
        </p:nvSpPr>
        <p:spPr>
          <a:xfrm>
            <a:off x="838200" y="365125"/>
            <a:ext cx="10515600" cy="1325563"/>
          </a:xfrm>
        </p:spPr>
        <p:txBody>
          <a:bodyPr>
            <a:normAutofit fontScale="90000"/>
          </a:bodyPr>
          <a:lstStyle/>
          <a:p>
            <a:r>
              <a:rPr lang="tr-TR" sz="4200" b="1" dirty="0">
                <a:latin typeface="Aptos gövde"/>
              </a:rPr>
              <a:t/>
            </a:r>
            <a:br>
              <a:rPr lang="tr-TR" sz="4200" b="1" dirty="0">
                <a:latin typeface="Aptos gövde"/>
              </a:rPr>
            </a:br>
            <a:r>
              <a:rPr lang="tr-TR" b="1" dirty="0">
                <a:latin typeface="Aptos gövde"/>
              </a:rPr>
              <a:t>Maden ocaklarında yeraltı işleri</a:t>
            </a:r>
            <a:r>
              <a:rPr lang="tr-TR" sz="4200" dirty="0">
                <a:latin typeface="Aptos gövde"/>
              </a:rPr>
              <a:t/>
            </a:r>
            <a:br>
              <a:rPr lang="tr-TR" sz="4200" dirty="0">
                <a:latin typeface="Aptos gövde"/>
              </a:rPr>
            </a:br>
            <a:endParaRPr lang="tr-TR" sz="4200" dirty="0"/>
          </a:p>
        </p:txBody>
      </p:sp>
      <p:sp>
        <p:nvSpPr>
          <p:cNvPr id="10" name="sketch line">
            <a:extLst>
              <a:ext uri="{FF2B5EF4-FFF2-40B4-BE49-F238E27FC236}">
                <a16:creationId xmlns:a16="http://schemas.microsoft.com/office/drawing/2014/main" id="{4E056CE8-63C6-8EF3-7504-567A11A0C0E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10604305-4774-5319-9EB7-CCEA75ACF0F8}"/>
              </a:ext>
            </a:extLst>
          </p:cNvPr>
          <p:cNvSpPr>
            <a:spLocks noGrp="1"/>
          </p:cNvSpPr>
          <p:nvPr>
            <p:ph idx="1"/>
          </p:nvPr>
        </p:nvSpPr>
        <p:spPr>
          <a:xfrm>
            <a:off x="838200" y="1929383"/>
            <a:ext cx="10515600" cy="4563491"/>
          </a:xfrm>
        </p:spPr>
        <p:txBody>
          <a:bodyPr>
            <a:normAutofit/>
          </a:bodyPr>
          <a:lstStyle/>
          <a:p>
            <a:pPr marL="0" indent="0">
              <a:buNone/>
            </a:pPr>
            <a:r>
              <a:rPr lang="tr-TR" sz="2200" b="1" dirty="0">
                <a:solidFill>
                  <a:schemeClr val="accent2">
                    <a:lumMod val="75000"/>
                  </a:schemeClr>
                </a:solidFill>
                <a:latin typeface="Aptos gövde"/>
              </a:rPr>
              <a:t>Göçük tehlikesi</a:t>
            </a:r>
          </a:p>
          <a:p>
            <a:pPr marL="0" indent="0">
              <a:spcBef>
                <a:spcPts val="0"/>
              </a:spcBef>
              <a:buNone/>
            </a:pPr>
            <a:endParaRPr lang="tr-TR" sz="2200" b="1" dirty="0">
              <a:solidFill>
                <a:schemeClr val="accent5"/>
              </a:solidFill>
              <a:latin typeface="Aptos gövde"/>
            </a:endParaRPr>
          </a:p>
          <a:p>
            <a:pPr marL="0" indent="0">
              <a:buNone/>
            </a:pPr>
            <a:r>
              <a:rPr lang="tr-TR" sz="2000" dirty="0">
                <a:latin typeface="Aptos gövde"/>
              </a:rPr>
              <a:t>Göçük Tehlikesine Karşı Alınması Gereken Önlemler</a:t>
            </a:r>
          </a:p>
          <a:p>
            <a:pPr>
              <a:buClr>
                <a:schemeClr val="accent2">
                  <a:lumMod val="75000"/>
                </a:schemeClr>
              </a:buClr>
            </a:pPr>
            <a:r>
              <a:rPr lang="tr-TR" sz="2000" b="1" dirty="0">
                <a:latin typeface="Aptos gövde"/>
              </a:rPr>
              <a:t>Mekanik Tahkimat Sistemleri: </a:t>
            </a:r>
            <a:r>
              <a:rPr lang="tr-TR" sz="2000" dirty="0">
                <a:latin typeface="Aptos gövde"/>
              </a:rPr>
              <a:t>"Yürüyen tahkimat" gibi hidrolik ve güçlü sistemlerin kullanılması, göçük riskini büyük ölçüde azaltmaktadır.</a:t>
            </a:r>
          </a:p>
        </p:txBody>
      </p:sp>
      <p:pic>
        <p:nvPicPr>
          <p:cNvPr id="5" name="Resim 4">
            <a:extLst>
              <a:ext uri="{FF2B5EF4-FFF2-40B4-BE49-F238E27FC236}">
                <a16:creationId xmlns:a16="http://schemas.microsoft.com/office/drawing/2014/main" id="{19271652-4EE5-FEF6-D26C-DA2E85ECE01F}"/>
              </a:ext>
            </a:extLst>
          </p:cNvPr>
          <p:cNvPicPr>
            <a:picLocks noChangeAspect="1"/>
          </p:cNvPicPr>
          <p:nvPr/>
        </p:nvPicPr>
        <p:blipFill>
          <a:blip r:embed="rId2"/>
          <a:stretch>
            <a:fillRect/>
          </a:stretch>
        </p:blipFill>
        <p:spPr>
          <a:xfrm>
            <a:off x="1541578" y="3802962"/>
            <a:ext cx="7086229" cy="2872475"/>
          </a:xfrm>
          <a:prstGeom prst="rect">
            <a:avLst/>
          </a:prstGeom>
        </p:spPr>
      </p:pic>
      <p:sp>
        <p:nvSpPr>
          <p:cNvPr id="6" name="Metin kutusu 5">
            <a:extLst>
              <a:ext uri="{FF2B5EF4-FFF2-40B4-BE49-F238E27FC236}">
                <a16:creationId xmlns:a16="http://schemas.microsoft.com/office/drawing/2014/main" id="{892620B8-9B64-F93D-02B6-B1E97F9435C2}"/>
              </a:ext>
            </a:extLst>
          </p:cNvPr>
          <p:cNvSpPr txBox="1"/>
          <p:nvPr/>
        </p:nvSpPr>
        <p:spPr>
          <a:xfrm>
            <a:off x="9051528" y="4790552"/>
            <a:ext cx="2713703" cy="923330"/>
          </a:xfrm>
          <a:prstGeom prst="rect">
            <a:avLst/>
          </a:prstGeom>
          <a:noFill/>
        </p:spPr>
        <p:txBody>
          <a:bodyPr wrap="square" rtlCol="0">
            <a:spAutoFit/>
          </a:bodyPr>
          <a:lstStyle/>
          <a:p>
            <a:r>
              <a:rPr lang="tr-TR"/>
              <a:t>Dönümlü/İlerletimli Göçertmeli Uzunayak Yöntemiyle Kömür Kazısı </a:t>
            </a:r>
            <a:endParaRPr lang="tr-TR" dirty="0"/>
          </a:p>
        </p:txBody>
      </p:sp>
    </p:spTree>
    <p:extLst>
      <p:ext uri="{BB962C8B-B14F-4D97-AF65-F5344CB8AC3E}">
        <p14:creationId xmlns:p14="http://schemas.microsoft.com/office/powerpoint/2010/main" val="21163358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9B8467-2F25-808E-0545-D13AFAF2211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EFC34EA-7DCC-ABD1-98A8-29C3B3117C7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2FEA07B2-9969-FEAD-F61B-C1851BFCBD96}"/>
              </a:ext>
            </a:extLst>
          </p:cNvPr>
          <p:cNvSpPr>
            <a:spLocks noGrp="1"/>
          </p:cNvSpPr>
          <p:nvPr>
            <p:ph type="title"/>
          </p:nvPr>
        </p:nvSpPr>
        <p:spPr>
          <a:xfrm>
            <a:off x="838200" y="365125"/>
            <a:ext cx="10515600" cy="1325563"/>
          </a:xfrm>
        </p:spPr>
        <p:txBody>
          <a:bodyPr>
            <a:normAutofit fontScale="90000"/>
          </a:bodyPr>
          <a:lstStyle/>
          <a:p>
            <a:r>
              <a:rPr lang="tr-TR" sz="4200" b="1" dirty="0">
                <a:latin typeface="Aptos gövde"/>
              </a:rPr>
              <a:t/>
            </a:r>
            <a:br>
              <a:rPr lang="tr-TR" sz="4200" b="1" dirty="0">
                <a:latin typeface="Aptos gövde"/>
              </a:rPr>
            </a:br>
            <a:r>
              <a:rPr lang="tr-TR" b="1" dirty="0">
                <a:latin typeface="Aptos gövde"/>
              </a:rPr>
              <a:t>Maden ocaklarında yeraltı işleri</a:t>
            </a:r>
            <a:r>
              <a:rPr lang="tr-TR" sz="4200" dirty="0">
                <a:latin typeface="Aptos gövde"/>
              </a:rPr>
              <a:t/>
            </a:r>
            <a:br>
              <a:rPr lang="tr-TR" sz="4200" dirty="0">
                <a:latin typeface="Aptos gövde"/>
              </a:rPr>
            </a:br>
            <a:endParaRPr lang="tr-TR" sz="4200" dirty="0"/>
          </a:p>
        </p:txBody>
      </p:sp>
      <p:sp>
        <p:nvSpPr>
          <p:cNvPr id="10" name="sketch line">
            <a:extLst>
              <a:ext uri="{FF2B5EF4-FFF2-40B4-BE49-F238E27FC236}">
                <a16:creationId xmlns:a16="http://schemas.microsoft.com/office/drawing/2014/main" id="{4D6F4574-EB60-73FE-6577-C4C7532F897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42591A87-C7D3-77CB-5D01-56A213256991}"/>
              </a:ext>
            </a:extLst>
          </p:cNvPr>
          <p:cNvSpPr>
            <a:spLocks noGrp="1"/>
          </p:cNvSpPr>
          <p:nvPr>
            <p:ph idx="1"/>
          </p:nvPr>
        </p:nvSpPr>
        <p:spPr>
          <a:xfrm>
            <a:off x="838200" y="1929383"/>
            <a:ext cx="10515600" cy="4563491"/>
          </a:xfrm>
        </p:spPr>
        <p:txBody>
          <a:bodyPr>
            <a:normAutofit/>
          </a:bodyPr>
          <a:lstStyle/>
          <a:p>
            <a:pPr marL="0" indent="0">
              <a:buNone/>
            </a:pPr>
            <a:r>
              <a:rPr lang="tr-TR" sz="2400" b="1" dirty="0">
                <a:solidFill>
                  <a:schemeClr val="accent2">
                    <a:lumMod val="75000"/>
                  </a:schemeClr>
                </a:solidFill>
                <a:latin typeface="Aptos gövde"/>
              </a:rPr>
              <a:t>Göçük tehlikesi</a:t>
            </a:r>
          </a:p>
          <a:p>
            <a:pPr marL="0" indent="0">
              <a:spcBef>
                <a:spcPts val="0"/>
              </a:spcBef>
              <a:buNone/>
            </a:pPr>
            <a:endParaRPr lang="tr-TR" sz="2200" b="1" dirty="0">
              <a:solidFill>
                <a:schemeClr val="accent5"/>
              </a:solidFill>
              <a:latin typeface="Aptos gövde"/>
            </a:endParaRPr>
          </a:p>
          <a:p>
            <a:pPr marL="0" indent="0">
              <a:buNone/>
            </a:pPr>
            <a:r>
              <a:rPr lang="tr-TR" sz="2000" dirty="0">
                <a:latin typeface="Aptos gövde"/>
              </a:rPr>
              <a:t>Göçük Tehlikesine Karşı Alınması Gereken Önlemler</a:t>
            </a:r>
          </a:p>
          <a:p>
            <a:pPr>
              <a:buClr>
                <a:schemeClr val="accent2">
                  <a:lumMod val="75000"/>
                </a:schemeClr>
              </a:buClr>
            </a:pPr>
            <a:r>
              <a:rPr lang="tr-TR" sz="2000" b="1" dirty="0">
                <a:latin typeface="Aptos gövde"/>
              </a:rPr>
              <a:t>Düzenli Denetim ve Kontrol: </a:t>
            </a:r>
            <a:r>
              <a:rPr lang="tr-TR" sz="2000" dirty="0">
                <a:latin typeface="Aptos gövde"/>
              </a:rPr>
              <a:t>Eski </a:t>
            </a:r>
            <a:r>
              <a:rPr lang="tr-TR" sz="2000" dirty="0" err="1">
                <a:latin typeface="Aptos gövde"/>
              </a:rPr>
              <a:t>tahkimatların</a:t>
            </a:r>
            <a:r>
              <a:rPr lang="tr-TR" sz="2000" dirty="0">
                <a:latin typeface="Aptos gövde"/>
              </a:rPr>
              <a:t> düzenli kontrol edilmesi ve güçlendirilmesi.</a:t>
            </a:r>
          </a:p>
          <a:p>
            <a:pPr>
              <a:buClr>
                <a:schemeClr val="accent2">
                  <a:lumMod val="75000"/>
                </a:schemeClr>
              </a:buClr>
            </a:pPr>
            <a:r>
              <a:rPr lang="tr-TR" sz="2000" b="1" dirty="0">
                <a:latin typeface="Aptos gövde"/>
              </a:rPr>
              <a:t>Acil Durum Planlaması: </a:t>
            </a:r>
            <a:r>
              <a:rPr lang="tr-TR" sz="2000" dirty="0">
                <a:latin typeface="Aptos gövde"/>
              </a:rPr>
              <a:t>Maden ocaklarında en az iki çıkış noktası bulunması ve acil durum kaçış yollarının belirlenmesi.</a:t>
            </a:r>
          </a:p>
          <a:p>
            <a:pPr>
              <a:buClr>
                <a:schemeClr val="accent2">
                  <a:lumMod val="75000"/>
                </a:schemeClr>
              </a:buClr>
            </a:pPr>
            <a:r>
              <a:rPr lang="tr-TR" sz="2000" b="1" dirty="0">
                <a:latin typeface="Aptos gövde"/>
              </a:rPr>
              <a:t>Eğitim:</a:t>
            </a:r>
            <a:r>
              <a:rPr lang="tr-TR" sz="2000" dirty="0">
                <a:latin typeface="Aptos gövde"/>
              </a:rPr>
              <a:t> Çalışanların göçük öncesi uyarı işaretlerini (sesler, küçük taş düşmeleri) tanıması ve acil durum tatbikatları yapılması.</a:t>
            </a:r>
          </a:p>
          <a:p>
            <a:pPr>
              <a:buClr>
                <a:schemeClr val="accent2">
                  <a:lumMod val="75000"/>
                </a:schemeClr>
              </a:buClr>
            </a:pPr>
            <a:r>
              <a:rPr lang="tr-TR" sz="2000" b="1" dirty="0">
                <a:latin typeface="Aptos gövde"/>
              </a:rPr>
              <a:t>Sismik İzleme: </a:t>
            </a:r>
            <a:r>
              <a:rPr lang="tr-TR" sz="2000" dirty="0">
                <a:latin typeface="Aptos gövde"/>
              </a:rPr>
              <a:t>Maden sahasındaki yer hareketlerinin takip edilmesi.</a:t>
            </a:r>
          </a:p>
        </p:txBody>
      </p:sp>
    </p:spTree>
    <p:extLst>
      <p:ext uri="{BB962C8B-B14F-4D97-AF65-F5344CB8AC3E}">
        <p14:creationId xmlns:p14="http://schemas.microsoft.com/office/powerpoint/2010/main" val="30164599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856335-C65B-D875-DCD5-8F3EB95E2BD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98C69-AFBD-84AD-C170-3C72BBC38C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60432103-27B9-0BF2-B1B3-583B0D7D9A51}"/>
              </a:ext>
            </a:extLst>
          </p:cNvPr>
          <p:cNvSpPr>
            <a:spLocks noGrp="1"/>
          </p:cNvSpPr>
          <p:nvPr>
            <p:ph type="title"/>
          </p:nvPr>
        </p:nvSpPr>
        <p:spPr>
          <a:xfrm>
            <a:off x="838200" y="365125"/>
            <a:ext cx="10515600" cy="1325563"/>
          </a:xfrm>
        </p:spPr>
        <p:txBody>
          <a:bodyPr>
            <a:normAutofit fontScale="90000"/>
          </a:bodyPr>
          <a:lstStyle/>
          <a:p>
            <a:r>
              <a:rPr lang="tr-TR" sz="4200" b="1" dirty="0">
                <a:latin typeface="Aptos gövde"/>
              </a:rPr>
              <a:t/>
            </a:r>
            <a:br>
              <a:rPr lang="tr-TR" sz="4200" b="1" dirty="0">
                <a:latin typeface="Aptos gövde"/>
              </a:rPr>
            </a:br>
            <a:r>
              <a:rPr lang="tr-TR" b="1" dirty="0">
                <a:latin typeface="Aptos gövde"/>
              </a:rPr>
              <a:t>Maden ocaklarında yeraltı işleri</a:t>
            </a:r>
            <a:r>
              <a:rPr lang="tr-TR" sz="4200" dirty="0">
                <a:latin typeface="Aptos gövde"/>
              </a:rPr>
              <a:t/>
            </a:r>
            <a:br>
              <a:rPr lang="tr-TR" sz="4200" dirty="0">
                <a:latin typeface="Aptos gövde"/>
              </a:rPr>
            </a:br>
            <a:endParaRPr lang="tr-TR" sz="4200" dirty="0"/>
          </a:p>
        </p:txBody>
      </p:sp>
      <p:sp>
        <p:nvSpPr>
          <p:cNvPr id="10" name="sketch line">
            <a:extLst>
              <a:ext uri="{FF2B5EF4-FFF2-40B4-BE49-F238E27FC236}">
                <a16:creationId xmlns:a16="http://schemas.microsoft.com/office/drawing/2014/main" id="{C73459AE-C740-0FD0-5841-5A53A69B86C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78903CF-47F1-3000-A503-A747A058EA54}"/>
              </a:ext>
            </a:extLst>
          </p:cNvPr>
          <p:cNvSpPr>
            <a:spLocks noGrp="1"/>
          </p:cNvSpPr>
          <p:nvPr>
            <p:ph idx="1"/>
          </p:nvPr>
        </p:nvSpPr>
        <p:spPr>
          <a:xfrm>
            <a:off x="838200" y="1929383"/>
            <a:ext cx="10515600" cy="4892041"/>
          </a:xfrm>
        </p:spPr>
        <p:txBody>
          <a:bodyPr>
            <a:normAutofit fontScale="92500" lnSpcReduction="20000"/>
          </a:bodyPr>
          <a:lstStyle/>
          <a:p>
            <a:pPr marL="0" indent="0">
              <a:spcBef>
                <a:spcPts val="0"/>
              </a:spcBef>
              <a:buNone/>
            </a:pPr>
            <a:r>
              <a:rPr lang="tr-TR" sz="2200" b="1" dirty="0">
                <a:solidFill>
                  <a:srgbClr val="00B0F0"/>
                </a:solidFill>
                <a:latin typeface="Aptos gövde"/>
              </a:rPr>
              <a:t>Su baskını</a:t>
            </a:r>
          </a:p>
          <a:p>
            <a:pPr marL="0" indent="0">
              <a:spcBef>
                <a:spcPts val="0"/>
              </a:spcBef>
              <a:buNone/>
            </a:pPr>
            <a:endParaRPr lang="tr-TR" sz="2000" b="1" dirty="0">
              <a:solidFill>
                <a:srgbClr val="00B0F0"/>
              </a:solidFill>
              <a:latin typeface="Aptos gövde"/>
            </a:endParaRPr>
          </a:p>
          <a:p>
            <a:pPr marL="0" indent="0">
              <a:spcBef>
                <a:spcPts val="0"/>
              </a:spcBef>
              <a:buNone/>
            </a:pPr>
            <a:r>
              <a:rPr lang="tr-TR" sz="2000" dirty="0">
                <a:latin typeface="Aptos gövde"/>
              </a:rPr>
              <a:t>   Yeraltı faaliyetlerinde ani su girişiyle oluşan, üretim durması, ekipman kaybı ve ciddi can güvenliği riski (boğulma) yaratan bir tehlikedir. </a:t>
            </a:r>
          </a:p>
          <a:p>
            <a:pPr marL="0" indent="0">
              <a:spcBef>
                <a:spcPts val="0"/>
              </a:spcBef>
              <a:buNone/>
            </a:pPr>
            <a:endParaRPr lang="tr-TR" sz="2000" dirty="0">
              <a:latin typeface="Aptos gövde"/>
            </a:endParaRPr>
          </a:p>
          <a:p>
            <a:pPr marL="0" indent="0">
              <a:spcBef>
                <a:spcPts val="0"/>
              </a:spcBef>
              <a:buNone/>
            </a:pPr>
            <a:r>
              <a:rPr lang="tr-TR" sz="2000" dirty="0">
                <a:solidFill>
                  <a:srgbClr val="00B0F0"/>
                </a:solidFill>
                <a:latin typeface="Aptos gövde"/>
              </a:rPr>
              <a:t>Madenlerde Su Baskını Tehlikesi ve Yönetimi:</a:t>
            </a:r>
          </a:p>
          <a:p>
            <a:pPr marL="0" indent="0">
              <a:spcBef>
                <a:spcPts val="0"/>
              </a:spcBef>
              <a:buNone/>
            </a:pPr>
            <a:endParaRPr lang="tr-TR" sz="2000" dirty="0">
              <a:solidFill>
                <a:srgbClr val="00B0F0"/>
              </a:solidFill>
              <a:latin typeface="Aptos gövde"/>
            </a:endParaRPr>
          </a:p>
          <a:p>
            <a:pPr>
              <a:spcBef>
                <a:spcPts val="0"/>
              </a:spcBef>
              <a:buClr>
                <a:srgbClr val="00B0F0"/>
              </a:buClr>
              <a:buFont typeface="Wingdings" panose="05000000000000000000" pitchFamily="2" charset="2"/>
              <a:buChar char="Ø"/>
            </a:pPr>
            <a:r>
              <a:rPr lang="tr-TR" sz="2000" u="sng" dirty="0">
                <a:latin typeface="Aptos gövde"/>
              </a:rPr>
              <a:t>Tehlikenin Kaynakları: </a:t>
            </a:r>
            <a:r>
              <a:rPr lang="tr-TR" sz="2000" dirty="0">
                <a:latin typeface="Aptos gövde"/>
              </a:rPr>
              <a:t>Eski terk edilmiş ocaklar, yeraltı su yatakları, m</a:t>
            </a:r>
            <a:r>
              <a:rPr lang="sv-SE" sz="2000" dirty="0"/>
              <a:t>adenin su taşıyan tabakalara (akifer) denk gelmesi</a:t>
            </a:r>
            <a:r>
              <a:rPr lang="tr-TR" sz="2000" dirty="0"/>
              <a:t> sonucu, yer kabuğundaki kırıklar ve fay zonları, </a:t>
            </a:r>
            <a:r>
              <a:rPr lang="tr-TR" sz="2000" dirty="0">
                <a:latin typeface="Aptos gövde"/>
              </a:rPr>
              <a:t>geçirimli kayaçlar, yoğun yağışlar veya yakındaki akarsular su baskınına neden olabilir.</a:t>
            </a:r>
          </a:p>
          <a:p>
            <a:pPr marL="0" indent="0">
              <a:spcBef>
                <a:spcPts val="0"/>
              </a:spcBef>
              <a:buClr>
                <a:srgbClr val="00B0F0"/>
              </a:buClr>
              <a:buNone/>
            </a:pPr>
            <a:endParaRPr lang="tr-TR" sz="2000" dirty="0">
              <a:latin typeface="Aptos gövde"/>
            </a:endParaRPr>
          </a:p>
          <a:p>
            <a:pPr>
              <a:spcBef>
                <a:spcPts val="0"/>
              </a:spcBef>
              <a:buClr>
                <a:srgbClr val="00B0F0"/>
              </a:buClr>
              <a:buFont typeface="Wingdings" panose="05000000000000000000" pitchFamily="2" charset="2"/>
              <a:buChar char="Ø"/>
            </a:pPr>
            <a:r>
              <a:rPr lang="tr-TR" sz="2000" u="sng" dirty="0">
                <a:latin typeface="Aptos gövde"/>
              </a:rPr>
              <a:t>Risk Yönetimi ve Önlemler:</a:t>
            </a:r>
          </a:p>
          <a:p>
            <a:pPr marL="0" indent="0">
              <a:spcBef>
                <a:spcPts val="0"/>
              </a:spcBef>
              <a:buClr>
                <a:srgbClr val="00B0F0"/>
              </a:buClr>
              <a:buNone/>
            </a:pPr>
            <a:endParaRPr lang="tr-TR" sz="2000" dirty="0">
              <a:latin typeface="Aptos gövde"/>
            </a:endParaRPr>
          </a:p>
          <a:p>
            <a:pPr>
              <a:spcBef>
                <a:spcPts val="0"/>
              </a:spcBef>
            </a:pPr>
            <a:r>
              <a:rPr lang="tr-TR" sz="2000" b="1" dirty="0">
                <a:latin typeface="Aptos gövde"/>
              </a:rPr>
              <a:t>Haritalandırma:</a:t>
            </a:r>
            <a:r>
              <a:rPr lang="tr-TR" sz="2000" dirty="0">
                <a:latin typeface="Aptos gövde"/>
              </a:rPr>
              <a:t> Eski çalışma yerlerinin ve su taşıyan tabakaların detaylı haritaları çıkarılmalıdır.</a:t>
            </a:r>
            <a:r>
              <a:rPr lang="tr-TR" sz="2000" dirty="0"/>
              <a:t> Yeraltı çalışma planları </a:t>
            </a:r>
            <a:r>
              <a:rPr lang="tr-TR" sz="2000" b="1" dirty="0">
                <a:solidFill>
                  <a:srgbClr val="FF0000"/>
                </a:solidFill>
              </a:rPr>
              <a:t>en geç ayda bir </a:t>
            </a:r>
            <a:r>
              <a:rPr lang="tr-TR" sz="2000" dirty="0"/>
              <a:t>güncelleştirilir ve işyerinde bulundurulur.</a:t>
            </a:r>
            <a:endParaRPr lang="tr-TR" sz="2000" dirty="0">
              <a:latin typeface="Aptos gövde"/>
            </a:endParaRPr>
          </a:p>
          <a:p>
            <a:pPr>
              <a:spcBef>
                <a:spcPts val="0"/>
              </a:spcBef>
            </a:pPr>
            <a:r>
              <a:rPr lang="tr-TR" sz="2000" b="1" dirty="0">
                <a:latin typeface="Aptos gövde"/>
              </a:rPr>
              <a:t>Sondajlı Kontrol: </a:t>
            </a:r>
            <a:r>
              <a:rPr lang="tr-TR" sz="2000" dirty="0">
                <a:latin typeface="Aptos gövde"/>
              </a:rPr>
              <a:t>Riskli bölgelere ilerlemeden önce, çalışma aynasında güvenlik sondajları (delgileri) yapılarak su durumu kontrol edilmelidir.</a:t>
            </a:r>
          </a:p>
          <a:p>
            <a:pPr>
              <a:spcBef>
                <a:spcPts val="0"/>
              </a:spcBef>
            </a:pPr>
            <a:r>
              <a:rPr lang="tr-TR" sz="2000" b="1" dirty="0">
                <a:latin typeface="Aptos gövde"/>
              </a:rPr>
              <a:t>Drenaj Sistemleri: </a:t>
            </a:r>
            <a:r>
              <a:rPr lang="tr-TR" sz="2000" dirty="0">
                <a:latin typeface="Aptos gövde"/>
              </a:rPr>
              <a:t>Su baskınını tahliye edecek güçlü ve yedekli pompa sistemleri kurulmalıdır.</a:t>
            </a:r>
          </a:p>
          <a:p>
            <a:pPr>
              <a:spcBef>
                <a:spcPts val="0"/>
              </a:spcBef>
            </a:pPr>
            <a:r>
              <a:rPr lang="tr-TR" sz="2000" b="1" dirty="0">
                <a:latin typeface="Aptos gövde"/>
              </a:rPr>
              <a:t>İş Sağlığı ve Güvenliği: </a:t>
            </a:r>
            <a:r>
              <a:rPr lang="tr-TR" sz="2000" dirty="0">
                <a:latin typeface="Aptos gövde"/>
              </a:rPr>
              <a:t>Yasal mevzuata göre su baskını ihtimali olan bölgeler için çalışma planı hazırlanmalı, işçiler bu konuda eğitilmelidir.</a:t>
            </a:r>
          </a:p>
        </p:txBody>
      </p:sp>
    </p:spTree>
    <p:extLst>
      <p:ext uri="{BB962C8B-B14F-4D97-AF65-F5344CB8AC3E}">
        <p14:creationId xmlns:p14="http://schemas.microsoft.com/office/powerpoint/2010/main" val="8313191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856335-C65B-D875-DCD5-8F3EB95E2BD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98C69-AFBD-84AD-C170-3C72BBC38C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60432103-27B9-0BF2-B1B3-583B0D7D9A51}"/>
              </a:ext>
            </a:extLst>
          </p:cNvPr>
          <p:cNvSpPr>
            <a:spLocks noGrp="1"/>
          </p:cNvSpPr>
          <p:nvPr>
            <p:ph type="title"/>
          </p:nvPr>
        </p:nvSpPr>
        <p:spPr>
          <a:xfrm>
            <a:off x="838200" y="365125"/>
            <a:ext cx="10515600" cy="1325563"/>
          </a:xfrm>
        </p:spPr>
        <p:txBody>
          <a:bodyPr>
            <a:normAutofit fontScale="90000"/>
          </a:bodyPr>
          <a:lstStyle/>
          <a:p>
            <a:r>
              <a:rPr lang="tr-TR" sz="4200" b="1" dirty="0">
                <a:latin typeface="Aptos gövde"/>
              </a:rPr>
              <a:t/>
            </a:r>
            <a:br>
              <a:rPr lang="tr-TR" sz="4200" b="1" dirty="0">
                <a:latin typeface="Aptos gövde"/>
              </a:rPr>
            </a:br>
            <a:r>
              <a:rPr lang="tr-TR" b="1" dirty="0">
                <a:latin typeface="Aptos gövde"/>
              </a:rPr>
              <a:t>Maden ocaklarında yeraltı işleri</a:t>
            </a:r>
            <a:r>
              <a:rPr lang="tr-TR" sz="4200" dirty="0">
                <a:latin typeface="Aptos gövde"/>
              </a:rPr>
              <a:t/>
            </a:r>
            <a:br>
              <a:rPr lang="tr-TR" sz="4200" dirty="0">
                <a:latin typeface="Aptos gövde"/>
              </a:rPr>
            </a:br>
            <a:endParaRPr lang="tr-TR" sz="4200" dirty="0"/>
          </a:p>
        </p:txBody>
      </p:sp>
      <p:sp>
        <p:nvSpPr>
          <p:cNvPr id="10" name="sketch line">
            <a:extLst>
              <a:ext uri="{FF2B5EF4-FFF2-40B4-BE49-F238E27FC236}">
                <a16:creationId xmlns:a16="http://schemas.microsoft.com/office/drawing/2014/main" id="{C73459AE-C740-0FD0-5841-5A53A69B86C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78903CF-47F1-3000-A503-A747A058EA54}"/>
              </a:ext>
            </a:extLst>
          </p:cNvPr>
          <p:cNvSpPr>
            <a:spLocks noGrp="1"/>
          </p:cNvSpPr>
          <p:nvPr>
            <p:ph idx="1"/>
          </p:nvPr>
        </p:nvSpPr>
        <p:spPr>
          <a:xfrm>
            <a:off x="838200" y="1929383"/>
            <a:ext cx="10515600" cy="4892041"/>
          </a:xfrm>
        </p:spPr>
        <p:txBody>
          <a:bodyPr>
            <a:normAutofit/>
          </a:bodyPr>
          <a:lstStyle/>
          <a:p>
            <a:pPr marL="0" indent="0">
              <a:spcBef>
                <a:spcPts val="0"/>
              </a:spcBef>
              <a:buNone/>
            </a:pPr>
            <a:r>
              <a:rPr lang="tr-TR" sz="2200" b="1" dirty="0">
                <a:solidFill>
                  <a:srgbClr val="00B0F0"/>
                </a:solidFill>
                <a:latin typeface="Aptos gövde"/>
              </a:rPr>
              <a:t>Su baskını</a:t>
            </a:r>
          </a:p>
          <a:p>
            <a:pPr marL="0" indent="0">
              <a:spcBef>
                <a:spcPts val="0"/>
              </a:spcBef>
              <a:buNone/>
            </a:pPr>
            <a:endParaRPr lang="tr-TR" sz="2000" b="1" dirty="0">
              <a:solidFill>
                <a:srgbClr val="00B0F0"/>
              </a:solidFill>
              <a:latin typeface="Aptos gövde"/>
            </a:endParaRPr>
          </a:p>
          <a:p>
            <a:pPr marL="0" indent="0">
              <a:spcBef>
                <a:spcPts val="0"/>
              </a:spcBef>
              <a:buNone/>
            </a:pPr>
            <a:r>
              <a:rPr lang="tr-TR" sz="2000" dirty="0">
                <a:latin typeface="Aptos gövde"/>
              </a:rPr>
              <a:t>   </a:t>
            </a:r>
          </a:p>
        </p:txBody>
      </p:sp>
      <p:pic>
        <p:nvPicPr>
          <p:cNvPr id="4" name="Resim 3"/>
          <p:cNvPicPr>
            <a:picLocks noChangeAspect="1"/>
          </p:cNvPicPr>
          <p:nvPr/>
        </p:nvPicPr>
        <p:blipFill rotWithShape="1">
          <a:blip r:embed="rId3"/>
          <a:srcRect b="2663"/>
          <a:stretch/>
        </p:blipFill>
        <p:spPr>
          <a:xfrm>
            <a:off x="6292419" y="1321717"/>
            <a:ext cx="5715000" cy="5460824"/>
          </a:xfrm>
          <a:prstGeom prst="rect">
            <a:avLst/>
          </a:prstGeom>
        </p:spPr>
      </p:pic>
    </p:spTree>
    <p:extLst>
      <p:ext uri="{BB962C8B-B14F-4D97-AF65-F5344CB8AC3E}">
        <p14:creationId xmlns:p14="http://schemas.microsoft.com/office/powerpoint/2010/main" val="20801562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899C45-2370-1DD3-BFEB-9886B3DF324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7E3F7E-3D69-F836-5758-366308C7761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29C67B18-2FFC-A5EF-C820-57D457B07945}"/>
              </a:ext>
            </a:extLst>
          </p:cNvPr>
          <p:cNvSpPr>
            <a:spLocks noGrp="1"/>
          </p:cNvSpPr>
          <p:nvPr>
            <p:ph type="title"/>
          </p:nvPr>
        </p:nvSpPr>
        <p:spPr>
          <a:xfrm>
            <a:off x="838200" y="365125"/>
            <a:ext cx="10515600" cy="1325563"/>
          </a:xfrm>
        </p:spPr>
        <p:txBody>
          <a:bodyPr>
            <a:normAutofit fontScale="90000"/>
          </a:bodyPr>
          <a:lstStyle/>
          <a:p>
            <a:r>
              <a:rPr lang="tr-TR" sz="4200" b="1" dirty="0">
                <a:latin typeface="Aptos gövde"/>
              </a:rPr>
              <a:t/>
            </a:r>
            <a:br>
              <a:rPr lang="tr-TR" sz="4200" b="1" dirty="0">
                <a:latin typeface="Aptos gövde"/>
              </a:rPr>
            </a:br>
            <a:r>
              <a:rPr lang="tr-TR" b="1" dirty="0">
                <a:latin typeface="Aptos gövde"/>
              </a:rPr>
              <a:t>Maden ocaklarında yeraltı işleri</a:t>
            </a:r>
            <a:r>
              <a:rPr lang="tr-TR" sz="4200" dirty="0">
                <a:latin typeface="Aptos gövde"/>
              </a:rPr>
              <a:t/>
            </a:r>
            <a:br>
              <a:rPr lang="tr-TR" sz="4200" dirty="0">
                <a:latin typeface="Aptos gövde"/>
              </a:rPr>
            </a:br>
            <a:endParaRPr lang="tr-TR" sz="4200" dirty="0"/>
          </a:p>
        </p:txBody>
      </p:sp>
      <p:sp>
        <p:nvSpPr>
          <p:cNvPr id="10" name="sketch line">
            <a:extLst>
              <a:ext uri="{FF2B5EF4-FFF2-40B4-BE49-F238E27FC236}">
                <a16:creationId xmlns:a16="http://schemas.microsoft.com/office/drawing/2014/main" id="{71814C28-07AD-0588-F43F-5A1766C5930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E9DBC796-B47E-6311-7233-0B6698EC8E2E}"/>
              </a:ext>
            </a:extLst>
          </p:cNvPr>
          <p:cNvSpPr>
            <a:spLocks noGrp="1"/>
          </p:cNvSpPr>
          <p:nvPr>
            <p:ph idx="1"/>
          </p:nvPr>
        </p:nvSpPr>
        <p:spPr>
          <a:xfrm>
            <a:off x="838200" y="1929383"/>
            <a:ext cx="10515600" cy="4892041"/>
          </a:xfrm>
        </p:spPr>
        <p:txBody>
          <a:bodyPr>
            <a:normAutofit lnSpcReduction="10000"/>
          </a:bodyPr>
          <a:lstStyle/>
          <a:p>
            <a:pPr marL="0" indent="0">
              <a:spcBef>
                <a:spcPts val="0"/>
              </a:spcBef>
              <a:buNone/>
            </a:pPr>
            <a:r>
              <a:rPr lang="tr-TR" sz="2000" b="1" dirty="0">
                <a:solidFill>
                  <a:srgbClr val="7030A0"/>
                </a:solidFill>
                <a:latin typeface="Aptos gövde"/>
              </a:rPr>
              <a:t>Patlayıcı maddelerle çalışma</a:t>
            </a:r>
          </a:p>
          <a:p>
            <a:pPr marL="0" indent="0">
              <a:spcBef>
                <a:spcPts val="0"/>
              </a:spcBef>
              <a:buNone/>
            </a:pPr>
            <a:endParaRPr lang="tr-TR" sz="2000" b="1" dirty="0">
              <a:solidFill>
                <a:srgbClr val="7030A0"/>
              </a:solidFill>
              <a:latin typeface="Aptos gövde"/>
            </a:endParaRPr>
          </a:p>
          <a:p>
            <a:pPr marL="0" indent="0">
              <a:spcBef>
                <a:spcPts val="0"/>
              </a:spcBef>
              <a:buNone/>
            </a:pPr>
            <a:r>
              <a:rPr lang="tr-TR" sz="2000" dirty="0">
                <a:latin typeface="Aptos gövde"/>
              </a:rPr>
              <a:t>   Yetkili ateşleyiciler nezaretinde, sıkı güvenlik önlemleri (özel depolar, ayrı taşıma, iletken olmayan çubuklar) altında, </a:t>
            </a:r>
            <a:r>
              <a:rPr lang="tr-TR" sz="2000" dirty="0">
                <a:solidFill>
                  <a:srgbClr val="7030A0"/>
                </a:solidFill>
                <a:latin typeface="Aptos gövde"/>
                <a:hlinkClick r:id="rId2">
                  <a:extLst>
                    <a:ext uri="{A12FA001-AC4F-418D-AE19-62706E023703}">
                      <ahyp:hlinkClr xmlns:ahyp="http://schemas.microsoft.com/office/drawing/2018/hyperlinkcolor" xmlns="" val="tx"/>
                    </a:ext>
                  </a:extLst>
                </a:hlinkClick>
              </a:rPr>
              <a:t>Maden İşyerlerinde İş Sağlığı ve Güvenliği Yönetmeliği</a:t>
            </a:r>
            <a:r>
              <a:rPr lang="tr-TR" sz="2000" dirty="0">
                <a:solidFill>
                  <a:srgbClr val="7030A0"/>
                </a:solidFill>
                <a:latin typeface="Aptos gövde"/>
              </a:rPr>
              <a:t> </a:t>
            </a:r>
            <a:r>
              <a:rPr lang="tr-TR" sz="2000" dirty="0">
                <a:latin typeface="Aptos gövde"/>
              </a:rPr>
              <a:t>kurallarına uygun olarak </a:t>
            </a:r>
            <a:r>
              <a:rPr lang="tr-TR" sz="2000" dirty="0">
                <a:solidFill>
                  <a:srgbClr val="7030A0"/>
                </a:solidFill>
                <a:latin typeface="Aptos gövde"/>
                <a:hlinkClick r:id="rId3">
                  <a:extLst>
                    <a:ext uri="{A12FA001-AC4F-418D-AE19-62706E023703}">
                      <ahyp:hlinkClr xmlns:ahyp="http://schemas.microsoft.com/office/drawing/2018/hyperlinkcolor" xmlns="" val="tx"/>
                    </a:ext>
                  </a:extLst>
                </a:hlinkClick>
              </a:rPr>
              <a:t>lağım deliklerinin temizlenip, doldurulması ve ateşlenmesi</a:t>
            </a:r>
            <a:r>
              <a:rPr lang="tr-TR" sz="2000" dirty="0">
                <a:solidFill>
                  <a:srgbClr val="7030A0"/>
                </a:solidFill>
                <a:latin typeface="Aptos gövde"/>
              </a:rPr>
              <a:t> </a:t>
            </a:r>
            <a:r>
              <a:rPr lang="tr-TR" sz="2000" dirty="0">
                <a:latin typeface="Aptos gövde"/>
              </a:rPr>
              <a:t>şeklinde yapılır. Kapsüller ve patlayıcılar ayrı taşınmalı, ateşleme alanı önceden tahliye edilmeli ve yangın önlemleri alınmalıdır.</a:t>
            </a:r>
          </a:p>
          <a:p>
            <a:pPr marL="0" indent="0">
              <a:spcBef>
                <a:spcPts val="0"/>
              </a:spcBef>
              <a:buNone/>
            </a:pPr>
            <a:endParaRPr lang="tr-TR" sz="2000" b="1" dirty="0">
              <a:solidFill>
                <a:srgbClr val="7030A0"/>
              </a:solidFill>
              <a:latin typeface="Aptos gövde"/>
            </a:endParaRPr>
          </a:p>
          <a:p>
            <a:pPr marL="0" indent="0">
              <a:spcBef>
                <a:spcPts val="0"/>
              </a:spcBef>
              <a:buNone/>
            </a:pPr>
            <a:r>
              <a:rPr lang="tr-TR" sz="2000" dirty="0">
                <a:solidFill>
                  <a:srgbClr val="7030A0"/>
                </a:solidFill>
                <a:latin typeface="Aptos gövde"/>
              </a:rPr>
              <a:t>Maden Ocaklarında Patlatma İşlemlerinde Temel Kurallar:</a:t>
            </a:r>
          </a:p>
          <a:p>
            <a:pPr>
              <a:spcBef>
                <a:spcPts val="0"/>
              </a:spcBef>
              <a:buClr>
                <a:srgbClr val="7030A0"/>
              </a:buClr>
              <a:buFont typeface="Wingdings" panose="05000000000000000000" pitchFamily="2" charset="2"/>
              <a:buChar char="Ø"/>
            </a:pPr>
            <a:r>
              <a:rPr lang="tr-TR" sz="2000" dirty="0">
                <a:latin typeface="Aptos gövde"/>
              </a:rPr>
              <a:t>Yetkilendirme: Patlayıcı madde kullanımı sadece ateşleyici belgesine sahip kişilerce veya onların gözetiminde yapılır.</a:t>
            </a:r>
          </a:p>
          <a:p>
            <a:pPr>
              <a:spcBef>
                <a:spcPts val="0"/>
              </a:spcBef>
              <a:buClr>
                <a:srgbClr val="7030A0"/>
              </a:buClr>
              <a:buFont typeface="Wingdings" panose="05000000000000000000" pitchFamily="2" charset="2"/>
              <a:buChar char="Ø"/>
            </a:pPr>
            <a:r>
              <a:rPr lang="tr-TR" sz="2000" dirty="0">
                <a:latin typeface="Aptos gövde"/>
              </a:rPr>
              <a:t>Depolama: Patlayıcı maddeler, 8-30°C arası sıcaklıkta, kilitli ve yeraltında 90 derece dirsekli özel depolarda saklanır.</a:t>
            </a:r>
          </a:p>
          <a:p>
            <a:pPr>
              <a:spcBef>
                <a:spcPts val="0"/>
              </a:spcBef>
              <a:buClr>
                <a:srgbClr val="7030A0"/>
              </a:buClr>
              <a:buFont typeface="Wingdings" panose="05000000000000000000" pitchFamily="2" charset="2"/>
              <a:buChar char="Ø"/>
            </a:pPr>
            <a:r>
              <a:rPr lang="tr-TR" sz="2000" dirty="0">
                <a:latin typeface="Aptos gövde"/>
              </a:rPr>
              <a:t>Taşıma: Kapsüller ve patlayıcı maddeler, aynı kapta bir arada bulundurulamaz ve taşınamaz.</a:t>
            </a:r>
          </a:p>
          <a:p>
            <a:pPr>
              <a:spcBef>
                <a:spcPts val="0"/>
              </a:spcBef>
              <a:buClr>
                <a:srgbClr val="7030A0"/>
              </a:buClr>
              <a:buFont typeface="Wingdings" panose="05000000000000000000" pitchFamily="2" charset="2"/>
              <a:buChar char="Ø"/>
            </a:pPr>
            <a:r>
              <a:rPr lang="tr-TR" sz="2000" dirty="0">
                <a:latin typeface="Aptos gövde"/>
              </a:rPr>
              <a:t>Uygulama: Lağım delikleri temizlenip, sıkılama maddesi ile doldurulur ve iletken olmayan çubuklarla </a:t>
            </a:r>
            <a:r>
              <a:rPr lang="tr-TR" sz="2000" dirty="0" err="1">
                <a:latin typeface="Aptos gövde"/>
              </a:rPr>
              <a:t>sıkılandırılarak</a:t>
            </a:r>
            <a:r>
              <a:rPr lang="tr-TR" sz="2000" dirty="0">
                <a:latin typeface="Aptos gövde"/>
              </a:rPr>
              <a:t> ateşleme yapılır.</a:t>
            </a:r>
          </a:p>
          <a:p>
            <a:pPr>
              <a:spcBef>
                <a:spcPts val="0"/>
              </a:spcBef>
              <a:buClr>
                <a:srgbClr val="7030A0"/>
              </a:buClr>
              <a:buFont typeface="Wingdings" panose="05000000000000000000" pitchFamily="2" charset="2"/>
              <a:buChar char="Ø"/>
            </a:pPr>
            <a:r>
              <a:rPr lang="tr-TR" sz="2000" dirty="0">
                <a:latin typeface="Aptos gövde"/>
              </a:rPr>
              <a:t>Güvenlik: Ateşleme yapılacağı sırada lağım delikleri doldurulur, ateşleyiciler dışında kimse bu işlemi yapamaz.</a:t>
            </a:r>
          </a:p>
        </p:txBody>
      </p:sp>
    </p:spTree>
    <p:extLst>
      <p:ext uri="{BB962C8B-B14F-4D97-AF65-F5344CB8AC3E}">
        <p14:creationId xmlns:p14="http://schemas.microsoft.com/office/powerpoint/2010/main" val="13911193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5728DA-31BE-D404-1DAD-C3FF7B4691F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67BFF4-E9B6-F546-FA07-0AF9969555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DD45ED64-6126-FE32-2E51-BBCD481E3AE6}"/>
              </a:ext>
            </a:extLst>
          </p:cNvPr>
          <p:cNvSpPr>
            <a:spLocks noGrp="1"/>
          </p:cNvSpPr>
          <p:nvPr>
            <p:ph type="title"/>
          </p:nvPr>
        </p:nvSpPr>
        <p:spPr>
          <a:xfrm>
            <a:off x="838200" y="365125"/>
            <a:ext cx="10515600" cy="1325563"/>
          </a:xfrm>
        </p:spPr>
        <p:txBody>
          <a:bodyPr>
            <a:normAutofit fontScale="90000"/>
          </a:bodyPr>
          <a:lstStyle/>
          <a:p>
            <a:r>
              <a:rPr lang="tr-TR" sz="4200" b="1" dirty="0">
                <a:latin typeface="Aptos gövde"/>
              </a:rPr>
              <a:t/>
            </a:r>
            <a:br>
              <a:rPr lang="tr-TR" sz="4200" b="1" dirty="0">
                <a:latin typeface="Aptos gövde"/>
              </a:rPr>
            </a:br>
            <a:r>
              <a:rPr lang="tr-TR" b="1" dirty="0">
                <a:latin typeface="Aptos gövde"/>
              </a:rPr>
              <a:t>Maden ocaklarında yeraltı işleri</a:t>
            </a:r>
            <a:r>
              <a:rPr lang="tr-TR" sz="4200" dirty="0">
                <a:latin typeface="Aptos gövde"/>
              </a:rPr>
              <a:t/>
            </a:r>
            <a:br>
              <a:rPr lang="tr-TR" sz="4200" dirty="0">
                <a:latin typeface="Aptos gövde"/>
              </a:rPr>
            </a:br>
            <a:endParaRPr lang="tr-TR" sz="4200" dirty="0"/>
          </a:p>
        </p:txBody>
      </p:sp>
      <p:sp>
        <p:nvSpPr>
          <p:cNvPr id="10" name="sketch line">
            <a:extLst>
              <a:ext uri="{FF2B5EF4-FFF2-40B4-BE49-F238E27FC236}">
                <a16:creationId xmlns:a16="http://schemas.microsoft.com/office/drawing/2014/main" id="{10836672-A072-F04A-5B60-64099918707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0EF05478-1C7A-3ECE-954E-950DF5919673}"/>
              </a:ext>
            </a:extLst>
          </p:cNvPr>
          <p:cNvSpPr>
            <a:spLocks noGrp="1"/>
          </p:cNvSpPr>
          <p:nvPr>
            <p:ph idx="1"/>
          </p:nvPr>
        </p:nvSpPr>
        <p:spPr>
          <a:xfrm>
            <a:off x="838200" y="1929383"/>
            <a:ext cx="10515600" cy="4892041"/>
          </a:xfrm>
        </p:spPr>
        <p:txBody>
          <a:bodyPr>
            <a:normAutofit lnSpcReduction="10000"/>
          </a:bodyPr>
          <a:lstStyle/>
          <a:p>
            <a:pPr marL="0" indent="0">
              <a:spcBef>
                <a:spcPts val="0"/>
              </a:spcBef>
              <a:buNone/>
            </a:pPr>
            <a:r>
              <a:rPr lang="tr-TR" sz="2000" b="1" dirty="0">
                <a:solidFill>
                  <a:srgbClr val="7030A0"/>
                </a:solidFill>
                <a:latin typeface="Aptos gövde"/>
              </a:rPr>
              <a:t>Patlayıcı madde kullanım yasağı</a:t>
            </a:r>
          </a:p>
          <a:p>
            <a:pPr marL="0" indent="0">
              <a:spcBef>
                <a:spcPts val="0"/>
              </a:spcBef>
              <a:buNone/>
            </a:pPr>
            <a:endParaRPr lang="tr-TR" sz="2000" b="1" dirty="0">
              <a:solidFill>
                <a:srgbClr val="7030A0"/>
              </a:solidFill>
              <a:latin typeface="Aptos gövde"/>
            </a:endParaRPr>
          </a:p>
          <a:p>
            <a:pPr marL="0" indent="0">
              <a:lnSpc>
                <a:spcPct val="150000"/>
              </a:lnSpc>
              <a:spcBef>
                <a:spcPts val="0"/>
              </a:spcBef>
              <a:buNone/>
            </a:pPr>
            <a:r>
              <a:rPr lang="tr-TR" sz="2000" dirty="0">
                <a:latin typeface="Aptos gövde"/>
              </a:rPr>
              <a:t>a) Emniyet lambası veya metan detektörleriyle yapılan ölçümlerde </a:t>
            </a:r>
            <a:r>
              <a:rPr lang="tr-TR" sz="2000" b="1" dirty="0">
                <a:latin typeface="Aptos gövde"/>
              </a:rPr>
              <a:t>% 1 veya daha çok metan </a:t>
            </a:r>
          </a:p>
          <a:p>
            <a:pPr marL="0" indent="0">
              <a:lnSpc>
                <a:spcPct val="150000"/>
              </a:lnSpc>
              <a:spcBef>
                <a:spcPts val="0"/>
              </a:spcBef>
              <a:buNone/>
            </a:pPr>
            <a:r>
              <a:rPr lang="tr-TR" sz="2000" dirty="0">
                <a:latin typeface="Aptos gövde"/>
              </a:rPr>
              <a:t>bulunan kısımlarda, </a:t>
            </a:r>
          </a:p>
          <a:p>
            <a:pPr marL="0" indent="0">
              <a:lnSpc>
                <a:spcPct val="150000"/>
              </a:lnSpc>
              <a:spcBef>
                <a:spcPts val="0"/>
              </a:spcBef>
              <a:buNone/>
            </a:pPr>
            <a:r>
              <a:rPr lang="tr-TR" sz="2000" dirty="0">
                <a:latin typeface="Aptos gövde"/>
              </a:rPr>
              <a:t>b) </a:t>
            </a:r>
            <a:r>
              <a:rPr lang="tr-TR" sz="2000" b="1" dirty="0">
                <a:latin typeface="Aptos gövde"/>
              </a:rPr>
              <a:t>Grizu</a:t>
            </a:r>
            <a:r>
              <a:rPr lang="tr-TR" sz="2000" dirty="0">
                <a:latin typeface="Aptos gövde"/>
              </a:rPr>
              <a:t> </a:t>
            </a:r>
            <a:r>
              <a:rPr lang="tr-TR" sz="2000" b="1" dirty="0">
                <a:latin typeface="Aptos gövde"/>
              </a:rPr>
              <a:t>bulunmas</a:t>
            </a:r>
            <a:r>
              <a:rPr lang="tr-TR" sz="2000" dirty="0">
                <a:latin typeface="Aptos gövde"/>
              </a:rPr>
              <a:t>ı muhtemel yerler, </a:t>
            </a:r>
            <a:r>
              <a:rPr lang="tr-TR" sz="2000" b="1" dirty="0">
                <a:latin typeface="Aptos gövde"/>
              </a:rPr>
              <a:t>grizu kontrolü yapılamayan </a:t>
            </a:r>
            <a:r>
              <a:rPr lang="tr-TR" sz="2000" dirty="0">
                <a:latin typeface="Aptos gövde"/>
              </a:rPr>
              <a:t>eski veya yeni imalat </a:t>
            </a:r>
          </a:p>
          <a:p>
            <a:pPr marL="0" indent="0">
              <a:lnSpc>
                <a:spcPct val="150000"/>
              </a:lnSpc>
              <a:spcBef>
                <a:spcPts val="0"/>
              </a:spcBef>
              <a:buNone/>
            </a:pPr>
            <a:r>
              <a:rPr lang="tr-TR" sz="2000" dirty="0">
                <a:latin typeface="Aptos gövde"/>
              </a:rPr>
              <a:t>boşlukları veya çatlakları olan yerlerde, </a:t>
            </a:r>
          </a:p>
          <a:p>
            <a:pPr marL="0" indent="0">
              <a:lnSpc>
                <a:spcPct val="150000"/>
              </a:lnSpc>
              <a:spcBef>
                <a:spcPts val="0"/>
              </a:spcBef>
              <a:buNone/>
            </a:pPr>
            <a:r>
              <a:rPr lang="tr-TR" sz="2000" dirty="0">
                <a:latin typeface="Aptos gövde"/>
              </a:rPr>
              <a:t>c) Tıkanmış kömür, </a:t>
            </a:r>
            <a:r>
              <a:rPr lang="tr-TR" sz="2000" dirty="0" err="1">
                <a:latin typeface="Aptos gövde"/>
              </a:rPr>
              <a:t>bür</a:t>
            </a:r>
            <a:r>
              <a:rPr lang="tr-TR" sz="2000" dirty="0">
                <a:latin typeface="Aptos gövde"/>
              </a:rPr>
              <a:t> ve siloların açılmasında, </a:t>
            </a:r>
          </a:p>
          <a:p>
            <a:pPr marL="0" indent="0">
              <a:lnSpc>
                <a:spcPct val="150000"/>
              </a:lnSpc>
              <a:spcBef>
                <a:spcPts val="0"/>
              </a:spcBef>
              <a:buNone/>
            </a:pPr>
            <a:r>
              <a:rPr lang="tr-TR" sz="2000" dirty="0">
                <a:latin typeface="Aptos gövde"/>
              </a:rPr>
              <a:t>ç) Kapatılmış yangın barajlarının açılmasında, </a:t>
            </a:r>
          </a:p>
          <a:p>
            <a:pPr marL="0" indent="0">
              <a:lnSpc>
                <a:spcPct val="150000"/>
              </a:lnSpc>
              <a:spcBef>
                <a:spcPts val="0"/>
              </a:spcBef>
              <a:buNone/>
            </a:pPr>
            <a:endParaRPr lang="tr-TR" sz="2000" dirty="0">
              <a:latin typeface="Aptos gövde"/>
            </a:endParaRPr>
          </a:p>
          <a:p>
            <a:pPr marL="0" indent="0">
              <a:spcBef>
                <a:spcPts val="0"/>
              </a:spcBef>
              <a:buNone/>
            </a:pPr>
            <a:r>
              <a:rPr lang="tr-TR" sz="2000" dirty="0">
                <a:latin typeface="Aptos gövde"/>
              </a:rPr>
              <a:t>    </a:t>
            </a:r>
            <a:r>
              <a:rPr lang="tr-TR" sz="2000" u="sng" dirty="0">
                <a:latin typeface="Aptos gövde"/>
              </a:rPr>
              <a:t>patlayıcı madde kullanılmaz</a:t>
            </a:r>
            <a:r>
              <a:rPr lang="tr-TR" sz="2000" dirty="0">
                <a:latin typeface="Aptos gövde"/>
              </a:rPr>
              <a:t>.</a:t>
            </a:r>
          </a:p>
          <a:p>
            <a:pPr marL="0" indent="0">
              <a:spcBef>
                <a:spcPts val="0"/>
              </a:spcBef>
              <a:buNone/>
            </a:pPr>
            <a:endParaRPr lang="tr-TR" sz="2000" b="1" dirty="0">
              <a:solidFill>
                <a:srgbClr val="7030A0"/>
              </a:solidFill>
              <a:latin typeface="Aptos gövde"/>
            </a:endParaRPr>
          </a:p>
          <a:p>
            <a:pPr marL="0" indent="0">
              <a:spcBef>
                <a:spcPts val="0"/>
              </a:spcBef>
              <a:buNone/>
            </a:pPr>
            <a:r>
              <a:rPr lang="tr-TR" sz="2000" dirty="0">
                <a:latin typeface="Aptos gövde"/>
              </a:rPr>
              <a:t>   </a:t>
            </a:r>
          </a:p>
        </p:txBody>
      </p:sp>
    </p:spTree>
    <p:extLst>
      <p:ext uri="{BB962C8B-B14F-4D97-AF65-F5344CB8AC3E}">
        <p14:creationId xmlns:p14="http://schemas.microsoft.com/office/powerpoint/2010/main" val="4015071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7EB7D5-6D04-FB3D-B881-9C42829EA4A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5A465FD-9ABF-3830-113B-73D39C4B82C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a:extLst>
              <a:ext uri="{FF2B5EF4-FFF2-40B4-BE49-F238E27FC236}">
                <a16:creationId xmlns:a16="http://schemas.microsoft.com/office/drawing/2014/main" id="{B4C94B75-FA08-D0D2-4995-9061DFE6FCD0}"/>
              </a:ext>
            </a:extLst>
          </p:cNvPr>
          <p:cNvSpPr>
            <a:spLocks noGrp="1"/>
          </p:cNvSpPr>
          <p:nvPr>
            <p:ph type="title"/>
          </p:nvPr>
        </p:nvSpPr>
        <p:spPr>
          <a:xfrm>
            <a:off x="838200" y="365125"/>
            <a:ext cx="10515600" cy="1325563"/>
          </a:xfrm>
        </p:spPr>
        <p:txBody>
          <a:bodyPr>
            <a:normAutofit fontScale="90000"/>
          </a:bodyPr>
          <a:lstStyle/>
          <a:p>
            <a:r>
              <a:rPr lang="tr-TR" sz="4200" b="1" dirty="0">
                <a:latin typeface="Aptos gövde"/>
              </a:rPr>
              <a:t/>
            </a:r>
            <a:br>
              <a:rPr lang="tr-TR" sz="4200" b="1" dirty="0">
                <a:latin typeface="Aptos gövde"/>
              </a:rPr>
            </a:br>
            <a:r>
              <a:rPr lang="tr-TR" b="1" dirty="0">
                <a:latin typeface="Aptos gövde"/>
              </a:rPr>
              <a:t>Maden ocaklarında yeraltı işleri</a:t>
            </a:r>
            <a:r>
              <a:rPr lang="tr-TR" sz="4200" dirty="0">
                <a:latin typeface="Aptos gövde"/>
              </a:rPr>
              <a:t/>
            </a:r>
            <a:br>
              <a:rPr lang="tr-TR" sz="4200" dirty="0">
                <a:latin typeface="Aptos gövde"/>
              </a:rPr>
            </a:br>
            <a:endParaRPr lang="tr-TR" sz="4200" dirty="0"/>
          </a:p>
        </p:txBody>
      </p:sp>
      <p:sp>
        <p:nvSpPr>
          <p:cNvPr id="10" name="sketch line">
            <a:extLst>
              <a:ext uri="{FF2B5EF4-FFF2-40B4-BE49-F238E27FC236}">
                <a16:creationId xmlns:a16="http://schemas.microsoft.com/office/drawing/2014/main" id="{E1C294CC-B79B-FFA5-B71E-C0992127BF2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91DBF6D-BF7F-6849-0E3A-2AD731E7164E}"/>
              </a:ext>
            </a:extLst>
          </p:cNvPr>
          <p:cNvSpPr>
            <a:spLocks noGrp="1"/>
          </p:cNvSpPr>
          <p:nvPr>
            <p:ph idx="1"/>
          </p:nvPr>
        </p:nvSpPr>
        <p:spPr>
          <a:xfrm>
            <a:off x="838200" y="1929383"/>
            <a:ext cx="10515600" cy="4892041"/>
          </a:xfrm>
        </p:spPr>
        <p:txBody>
          <a:bodyPr>
            <a:normAutofit lnSpcReduction="10000"/>
          </a:bodyPr>
          <a:lstStyle/>
          <a:p>
            <a:pPr marL="0" indent="0">
              <a:spcBef>
                <a:spcPts val="0"/>
              </a:spcBef>
              <a:buNone/>
            </a:pPr>
            <a:r>
              <a:rPr lang="tr-TR" sz="2000" b="1" dirty="0">
                <a:solidFill>
                  <a:srgbClr val="7030A0"/>
                </a:solidFill>
                <a:latin typeface="Aptos gövde"/>
              </a:rPr>
              <a:t>Patlayıcı maddelerle çalışmalarda alınacak önlemler</a:t>
            </a:r>
          </a:p>
          <a:p>
            <a:pPr marL="0" indent="0">
              <a:spcBef>
                <a:spcPts val="0"/>
              </a:spcBef>
              <a:buNone/>
            </a:pPr>
            <a:endParaRPr lang="tr-TR" sz="2000" b="1" dirty="0">
              <a:solidFill>
                <a:srgbClr val="7030A0"/>
              </a:solidFill>
              <a:latin typeface="Aptos gövde"/>
            </a:endParaRPr>
          </a:p>
          <a:p>
            <a:pPr>
              <a:spcBef>
                <a:spcPts val="0"/>
              </a:spcBef>
              <a:buFont typeface="Wingdings" panose="05000000000000000000" pitchFamily="2" charset="2"/>
              <a:buChar char="§"/>
            </a:pPr>
            <a:r>
              <a:rPr lang="tr-TR" sz="2000" dirty="0">
                <a:latin typeface="Aptos gövde"/>
              </a:rPr>
              <a:t>Maden ve taş ocaklarıyla tünel yapımında, ancak, Bakanlığın izin verdiği türden patlayıcı maddeler kullanılır.</a:t>
            </a:r>
          </a:p>
          <a:p>
            <a:pPr>
              <a:spcBef>
                <a:spcPts val="0"/>
              </a:spcBef>
              <a:buFont typeface="Wingdings" panose="05000000000000000000" pitchFamily="2" charset="2"/>
              <a:buChar char="§"/>
            </a:pPr>
            <a:r>
              <a:rPr lang="tr-TR" sz="2000" dirty="0">
                <a:latin typeface="Aptos gövde"/>
              </a:rPr>
              <a:t>Bir patlama olasılığına karşı, patlayıcı madde depolarının karşısına, dirseklerden en az üç metre derinlikte </a:t>
            </a:r>
            <a:r>
              <a:rPr lang="tr-TR" sz="2000" b="1" dirty="0">
                <a:latin typeface="Aptos gövde"/>
              </a:rPr>
              <a:t>hız kesici cepler </a:t>
            </a:r>
            <a:r>
              <a:rPr lang="tr-TR" sz="2000" dirty="0">
                <a:latin typeface="Aptos gövde"/>
              </a:rPr>
              <a:t>yapılmalıdır.</a:t>
            </a:r>
          </a:p>
          <a:p>
            <a:pPr>
              <a:spcBef>
                <a:spcPts val="0"/>
              </a:spcBef>
              <a:buFont typeface="Wingdings" panose="05000000000000000000" pitchFamily="2" charset="2"/>
              <a:buChar char="§"/>
            </a:pPr>
            <a:r>
              <a:rPr lang="tr-TR" sz="2000" dirty="0">
                <a:latin typeface="Aptos gövde"/>
              </a:rPr>
              <a:t>Kapsüllerle diğer patlayıcı maddeler, </a:t>
            </a:r>
            <a:r>
              <a:rPr lang="tr-TR" sz="2000" b="1" dirty="0">
                <a:latin typeface="Aptos gövde"/>
              </a:rPr>
              <a:t>aynı kap içinde bir arada bulundurulamaz </a:t>
            </a:r>
            <a:r>
              <a:rPr lang="tr-TR" sz="2000" dirty="0">
                <a:latin typeface="Aptos gövde"/>
              </a:rPr>
              <a:t>ve taşınamaz.</a:t>
            </a:r>
          </a:p>
          <a:p>
            <a:pPr>
              <a:spcBef>
                <a:spcPts val="0"/>
              </a:spcBef>
              <a:buFont typeface="Wingdings" panose="05000000000000000000" pitchFamily="2" charset="2"/>
              <a:buChar char="§"/>
            </a:pPr>
            <a:r>
              <a:rPr lang="tr-TR" sz="2000" dirty="0">
                <a:latin typeface="Aptos gövde"/>
              </a:rPr>
              <a:t>Ateşleyicinin vücudundaki statik elektriğin boşaltılması için gerekli önlemler alınır. </a:t>
            </a:r>
          </a:p>
          <a:p>
            <a:pPr>
              <a:spcBef>
                <a:spcPts val="0"/>
              </a:spcBef>
              <a:buFont typeface="Wingdings" panose="05000000000000000000" pitchFamily="2" charset="2"/>
              <a:buChar char="§"/>
            </a:pPr>
            <a:r>
              <a:rPr lang="tr-TR" sz="2000" dirty="0">
                <a:latin typeface="Aptos gövde"/>
              </a:rPr>
              <a:t>Bir kişinin taşıyabileceği patlayıcı madde miktarı, </a:t>
            </a:r>
            <a:r>
              <a:rPr lang="tr-TR" sz="2000" b="1" dirty="0">
                <a:latin typeface="Aptos gövde"/>
              </a:rPr>
              <a:t>10 kilogramı </a:t>
            </a:r>
            <a:r>
              <a:rPr lang="tr-TR" sz="2000" dirty="0">
                <a:latin typeface="Aptos gövde"/>
              </a:rPr>
              <a:t>geçemez.</a:t>
            </a:r>
          </a:p>
          <a:p>
            <a:pPr>
              <a:spcBef>
                <a:spcPts val="0"/>
              </a:spcBef>
              <a:buFont typeface="Wingdings" panose="05000000000000000000" pitchFamily="2" charset="2"/>
              <a:buChar char="§"/>
            </a:pPr>
            <a:r>
              <a:rPr lang="tr-TR" sz="2000" dirty="0">
                <a:latin typeface="Aptos gövde"/>
              </a:rPr>
              <a:t>Yanıcı ve parlayıcı gazlar bulunan, tozların yanması ve patlaması tehlikesi olan ocaklarda, </a:t>
            </a:r>
            <a:r>
              <a:rPr lang="tr-TR" sz="2000" b="1" dirty="0">
                <a:latin typeface="Aptos gövde"/>
              </a:rPr>
              <a:t>fitille ateşleme yapılamaz</a:t>
            </a:r>
            <a:r>
              <a:rPr lang="tr-TR" sz="2000" dirty="0">
                <a:latin typeface="Aptos gövde"/>
              </a:rPr>
              <a:t>. </a:t>
            </a:r>
          </a:p>
          <a:p>
            <a:pPr>
              <a:spcBef>
                <a:spcPts val="0"/>
              </a:spcBef>
              <a:buFont typeface="Wingdings" panose="05000000000000000000" pitchFamily="2" charset="2"/>
              <a:buChar char="§"/>
            </a:pPr>
            <a:r>
              <a:rPr lang="tr-TR" sz="2000" dirty="0">
                <a:latin typeface="Aptos gövde"/>
              </a:rPr>
              <a:t>Lağım atıldıktan sonra, </a:t>
            </a:r>
            <a:r>
              <a:rPr lang="tr-TR" sz="2000" b="1" dirty="0">
                <a:latin typeface="Aptos gövde"/>
              </a:rPr>
              <a:t>elektrikli ateşlemede en az 5 dakika</a:t>
            </a:r>
            <a:r>
              <a:rPr lang="tr-TR" sz="2000" dirty="0">
                <a:latin typeface="Aptos gövde"/>
              </a:rPr>
              <a:t>, </a:t>
            </a:r>
            <a:r>
              <a:rPr lang="tr-TR" sz="2000" b="1" dirty="0">
                <a:latin typeface="Aptos gövde"/>
              </a:rPr>
              <a:t>fitil veya benzeri ateşlemede 1 saat geçmeden </a:t>
            </a:r>
            <a:r>
              <a:rPr lang="tr-TR" sz="2000" dirty="0">
                <a:latin typeface="Aptos gövde"/>
              </a:rPr>
              <a:t>ve yetkili kimseler tarafından dikkatle muayene edilip tehlike kalmadığı bildirilmedikçe ateşleme alanına kimsenin girmesine izin verilmez.</a:t>
            </a:r>
          </a:p>
          <a:p>
            <a:pPr>
              <a:spcBef>
                <a:spcPts val="0"/>
              </a:spcBef>
              <a:buFont typeface="Wingdings" panose="05000000000000000000" pitchFamily="2" charset="2"/>
              <a:buChar char="§"/>
            </a:pPr>
            <a:r>
              <a:rPr lang="tr-TR" sz="2000" dirty="0">
                <a:latin typeface="Aptos gövde"/>
              </a:rPr>
              <a:t>Patlayıcı madde </a:t>
            </a:r>
            <a:r>
              <a:rPr lang="tr-TR" sz="2000" b="1" dirty="0">
                <a:latin typeface="Aptos gövde"/>
              </a:rPr>
              <a:t>lağım deliği iyice temizlendikten </a:t>
            </a:r>
            <a:r>
              <a:rPr lang="tr-TR" sz="2000" dirty="0">
                <a:latin typeface="Aptos gövde"/>
              </a:rPr>
              <a:t>ve gerekli hallerde yastık maddesi yerleştirildikten sonra doldurulur ve sıkılandıktan sonra ateşlenir.</a:t>
            </a:r>
          </a:p>
          <a:p>
            <a:pPr>
              <a:spcBef>
                <a:spcPts val="0"/>
              </a:spcBef>
              <a:buFont typeface="Wingdings" panose="05000000000000000000" pitchFamily="2" charset="2"/>
              <a:buChar char="§"/>
            </a:pPr>
            <a:r>
              <a:rPr lang="tr-TR" sz="2000" dirty="0">
                <a:latin typeface="Aptos gövde"/>
              </a:rPr>
              <a:t>Kömür ve kükürt ocaklarında </a:t>
            </a:r>
            <a:r>
              <a:rPr lang="tr-TR" sz="2000" b="1" dirty="0">
                <a:latin typeface="Aptos gövde"/>
              </a:rPr>
              <a:t>alüminyum kovanlı kapsül </a:t>
            </a:r>
            <a:r>
              <a:rPr lang="tr-TR" sz="2000" dirty="0">
                <a:latin typeface="Aptos gövde"/>
              </a:rPr>
              <a:t>kullanılamaz.</a:t>
            </a:r>
            <a:endParaRPr lang="tr-TR" sz="2000" b="1" dirty="0">
              <a:solidFill>
                <a:srgbClr val="7030A0"/>
              </a:solidFill>
              <a:latin typeface="Aptos gövde"/>
            </a:endParaRPr>
          </a:p>
          <a:p>
            <a:pPr marL="0" indent="0">
              <a:spcBef>
                <a:spcPts val="0"/>
              </a:spcBef>
              <a:buNone/>
            </a:pPr>
            <a:endParaRPr lang="tr-TR" sz="2000" b="1" dirty="0">
              <a:solidFill>
                <a:srgbClr val="7030A0"/>
              </a:solidFill>
              <a:latin typeface="Aptos gövde"/>
            </a:endParaRPr>
          </a:p>
          <a:p>
            <a:pPr marL="0" indent="0">
              <a:spcBef>
                <a:spcPts val="0"/>
              </a:spcBef>
              <a:buNone/>
            </a:pPr>
            <a:endParaRPr lang="tr-TR" sz="2000" dirty="0">
              <a:latin typeface="Aptos gövde"/>
            </a:endParaRPr>
          </a:p>
        </p:txBody>
      </p:sp>
    </p:spTree>
    <p:extLst>
      <p:ext uri="{BB962C8B-B14F-4D97-AF65-F5344CB8AC3E}">
        <p14:creationId xmlns:p14="http://schemas.microsoft.com/office/powerpoint/2010/main" val="40477773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1D99A9-B6ED-A298-BE53-E6DF8B6A2E86}"/>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1C7F949A-014C-45ED-94A3-D08B81BFB39B}"/>
              </a:ext>
            </a:extLst>
          </p:cNvPr>
          <p:cNvSpPr>
            <a:spLocks noGrp="1"/>
          </p:cNvSpPr>
          <p:nvPr>
            <p:ph type="title"/>
          </p:nvPr>
        </p:nvSpPr>
        <p:spPr>
          <a:xfrm>
            <a:off x="761840" y="1138265"/>
            <a:ext cx="4544762" cy="1401183"/>
          </a:xfrm>
        </p:spPr>
        <p:txBody>
          <a:bodyPr anchor="t">
            <a:normAutofit fontScale="90000"/>
          </a:bodyPr>
          <a:lstStyle/>
          <a:p>
            <a:r>
              <a:rPr lang="tr-TR" sz="2500" b="1" dirty="0">
                <a:latin typeface="Aptos gövde"/>
              </a:rPr>
              <a:t/>
            </a:r>
            <a:br>
              <a:rPr lang="tr-TR" sz="2500" b="1" dirty="0">
                <a:latin typeface="Aptos gövde"/>
              </a:rPr>
            </a:br>
            <a:r>
              <a:rPr lang="tr-TR" sz="4000" b="1" dirty="0">
                <a:latin typeface="Aptos gövde"/>
              </a:rPr>
              <a:t>Maden ocaklarında yeraltı işleri</a:t>
            </a:r>
            <a:r>
              <a:rPr lang="tr-TR" sz="2500" dirty="0">
                <a:latin typeface="Aptos gövde"/>
              </a:rPr>
              <a:t/>
            </a:r>
            <a:br>
              <a:rPr lang="tr-TR" sz="2500" dirty="0">
                <a:latin typeface="Aptos gövde"/>
              </a:rPr>
            </a:br>
            <a:endParaRPr lang="tr-TR" sz="2500" dirty="0"/>
          </a:p>
        </p:txBody>
      </p:sp>
      <p:cxnSp>
        <p:nvCxnSpPr>
          <p:cNvPr id="15" name="Straight Connector 14">
            <a:extLst>
              <a:ext uri="{FF2B5EF4-FFF2-40B4-BE49-F238E27FC236}">
                <a16:creationId xmlns:a16="http://schemas.microsoft.com/office/drawing/2014/main" id="{FC23E3B9-5ABF-58B3-E2B0-E9A5DAA9003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01F3644F-0F9B-B127-2C44-2238736BD4E3}"/>
              </a:ext>
            </a:extLst>
          </p:cNvPr>
          <p:cNvSpPr>
            <a:spLocks noGrp="1"/>
          </p:cNvSpPr>
          <p:nvPr>
            <p:ph idx="1"/>
          </p:nvPr>
        </p:nvSpPr>
        <p:spPr>
          <a:xfrm>
            <a:off x="761840" y="2951460"/>
            <a:ext cx="4544762" cy="3602935"/>
          </a:xfrm>
        </p:spPr>
        <p:txBody>
          <a:bodyPr>
            <a:normAutofit/>
          </a:bodyPr>
          <a:lstStyle/>
          <a:p>
            <a:pPr marL="0" indent="0">
              <a:spcBef>
                <a:spcPts val="0"/>
              </a:spcBef>
              <a:spcAft>
                <a:spcPts val="600"/>
              </a:spcAft>
              <a:buNone/>
            </a:pPr>
            <a:r>
              <a:rPr lang="tr-TR" sz="2000" b="1" dirty="0">
                <a:solidFill>
                  <a:srgbClr val="C00000"/>
                </a:solidFill>
                <a:latin typeface="Aptos gövde"/>
              </a:rPr>
              <a:t>Hayat hattı</a:t>
            </a:r>
          </a:p>
          <a:p>
            <a:pPr marL="0" indent="0">
              <a:spcBef>
                <a:spcPts val="0"/>
              </a:spcBef>
              <a:spcAft>
                <a:spcPts val="600"/>
              </a:spcAft>
              <a:buNone/>
            </a:pPr>
            <a:endParaRPr lang="tr-TR" sz="2000" b="1" dirty="0">
              <a:latin typeface="Aptos gövde"/>
            </a:endParaRPr>
          </a:p>
          <a:p>
            <a:pPr marL="0" indent="0">
              <a:spcBef>
                <a:spcPts val="0"/>
              </a:spcBef>
              <a:spcAft>
                <a:spcPts val="600"/>
              </a:spcAft>
              <a:buNone/>
            </a:pPr>
            <a:r>
              <a:rPr lang="tr-TR" sz="2000" dirty="0">
                <a:latin typeface="Aptos gövde"/>
              </a:rPr>
              <a:t>   Yangın, patlama veya göçük gibi acil durumlarda çalışanların görüş mesafesinin sıfıra düştüğü, karanlık ve zehirli gazların bulunduğu ortamlarda, </a:t>
            </a:r>
            <a:r>
              <a:rPr lang="tr-TR" sz="2000" b="1" dirty="0">
                <a:latin typeface="Aptos gövde"/>
              </a:rPr>
              <a:t>oksijenli ferdi kurtarıcı değişim/dolum istasyonlarına</a:t>
            </a:r>
            <a:r>
              <a:rPr lang="tr-TR" sz="2000" dirty="0">
                <a:latin typeface="Aptos gövde"/>
              </a:rPr>
              <a:t> veya güvenli çıkışa en hızlı şekilde ulaşmalarını sağlayan rehber hattır</a:t>
            </a:r>
            <a:endParaRPr lang="tr-TR" sz="2000" b="1" dirty="0">
              <a:latin typeface="Aptos gövde"/>
            </a:endParaRPr>
          </a:p>
          <a:p>
            <a:pPr marL="0" indent="0">
              <a:spcBef>
                <a:spcPts val="0"/>
              </a:spcBef>
              <a:spcAft>
                <a:spcPts val="600"/>
              </a:spcAft>
              <a:buNone/>
            </a:pPr>
            <a:endParaRPr lang="tr-TR" sz="2000" dirty="0">
              <a:latin typeface="Aptos gövde"/>
            </a:endParaRPr>
          </a:p>
        </p:txBody>
      </p:sp>
      <p:pic>
        <p:nvPicPr>
          <p:cNvPr id="5" name="Resim 4">
            <a:extLst>
              <a:ext uri="{FF2B5EF4-FFF2-40B4-BE49-F238E27FC236}">
                <a16:creationId xmlns:a16="http://schemas.microsoft.com/office/drawing/2014/main" id="{B10FF57B-97FE-88C1-C22F-71EA09DC988D}"/>
              </a:ext>
            </a:extLst>
          </p:cNvPr>
          <p:cNvPicPr>
            <a:picLocks noChangeAspect="1"/>
          </p:cNvPicPr>
          <p:nvPr/>
        </p:nvPicPr>
        <p:blipFill>
          <a:blip r:embed="rId2"/>
          <a:stretch>
            <a:fillRect/>
          </a:stretch>
        </p:blipFill>
        <p:spPr>
          <a:xfrm>
            <a:off x="6082748" y="2030407"/>
            <a:ext cx="5334160" cy="2798787"/>
          </a:xfrm>
          <a:prstGeom prst="rect">
            <a:avLst/>
          </a:prstGeom>
        </p:spPr>
      </p:pic>
    </p:spTree>
    <p:extLst>
      <p:ext uri="{BB962C8B-B14F-4D97-AF65-F5344CB8AC3E}">
        <p14:creationId xmlns:p14="http://schemas.microsoft.com/office/powerpoint/2010/main" val="16019403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16ACA42-5BDF-AF1F-13C0-9B8F31D94F50}"/>
              </a:ext>
            </a:extLst>
          </p:cNvPr>
          <p:cNvSpPr>
            <a:spLocks noGrp="1"/>
          </p:cNvSpPr>
          <p:nvPr>
            <p:ph type="title"/>
          </p:nvPr>
        </p:nvSpPr>
        <p:spPr>
          <a:xfrm>
            <a:off x="838200" y="365125"/>
            <a:ext cx="10515600" cy="1325563"/>
          </a:xfrm>
        </p:spPr>
        <p:txBody>
          <a:bodyPr>
            <a:normAutofit/>
          </a:bodyPr>
          <a:lstStyle/>
          <a:p>
            <a:r>
              <a:rPr lang="tr-TR" sz="3200" b="1" dirty="0">
                <a:latin typeface="Aptos gövde"/>
              </a:rPr>
              <a:t>Madencilikte yaşanan gerçek kazalar</a:t>
            </a:r>
            <a:endParaRPr lang="tr-TR" sz="3200" b="1"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74888CEA-68A0-0E2A-2237-C8D630B7EC00}"/>
              </a:ext>
            </a:extLst>
          </p:cNvPr>
          <p:cNvSpPr>
            <a:spLocks noGrp="1"/>
          </p:cNvSpPr>
          <p:nvPr>
            <p:ph idx="1"/>
          </p:nvPr>
        </p:nvSpPr>
        <p:spPr>
          <a:xfrm>
            <a:off x="838200" y="1929384"/>
            <a:ext cx="11120718" cy="4910328"/>
          </a:xfrm>
        </p:spPr>
        <p:txBody>
          <a:bodyPr>
            <a:normAutofit fontScale="92500" lnSpcReduction="10000"/>
          </a:bodyPr>
          <a:lstStyle/>
          <a:p>
            <a:pPr>
              <a:spcBef>
                <a:spcPts val="1200"/>
              </a:spcBef>
              <a:spcAft>
                <a:spcPts val="300"/>
              </a:spcAft>
              <a:buNone/>
            </a:pPr>
            <a:r>
              <a:rPr lang="tr-TR" sz="1900" b="1" kern="0" dirty="0">
                <a:solidFill>
                  <a:srgbClr val="C00000"/>
                </a:solidFill>
                <a:effectLst/>
                <a:latin typeface="Aptos gövde"/>
                <a:ea typeface="Times New Roman" panose="02020603050405020304" pitchFamily="18" charset="0"/>
                <a:cs typeface="Times New Roman" panose="02020603050405020304" pitchFamily="18" charset="0"/>
              </a:rPr>
              <a:t>Soma Maden Faciası</a:t>
            </a:r>
            <a:endParaRPr lang="tr-TR" sz="1900" kern="100" dirty="0">
              <a:solidFill>
                <a:srgbClr val="C00000"/>
              </a:solidFill>
              <a:effectLst/>
              <a:latin typeface="Aptos gövde"/>
              <a:ea typeface="Calibri" panose="020F0502020204030204" pitchFamily="34" charset="0"/>
              <a:cs typeface="Times New Roman" panose="02020603050405020304" pitchFamily="18" charset="0"/>
            </a:endParaRPr>
          </a:p>
          <a:p>
            <a:pPr>
              <a:spcAft>
                <a:spcPts val="800"/>
              </a:spcAft>
              <a:buNone/>
            </a:pPr>
            <a:r>
              <a:rPr lang="tr-TR" sz="1800" kern="0" dirty="0">
                <a:effectLst/>
                <a:latin typeface="Aptos gövde"/>
                <a:ea typeface="Times New Roman" panose="02020603050405020304" pitchFamily="18" charset="0"/>
                <a:cs typeface="Times New Roman" panose="02020603050405020304" pitchFamily="18" charset="0"/>
              </a:rPr>
              <a:t>        </a:t>
            </a:r>
            <a:r>
              <a:rPr lang="tr-TR" sz="1900" kern="0" dirty="0">
                <a:effectLst/>
                <a:latin typeface="Aptos gövde"/>
                <a:ea typeface="Times New Roman" panose="02020603050405020304" pitchFamily="18" charset="0"/>
                <a:cs typeface="Times New Roman" panose="02020603050405020304" pitchFamily="18" charset="0"/>
              </a:rPr>
              <a:t>13 Mayıs 2014’te Manisa’nın Soma ilçesinde meydana gelen kömür madeni yangını, Türkiye tarihinin en büyük iş ve madencilik kazasıdır. 301 madencinin hayatını kaybettiği olay, hem ulusal hem uluslararası ölçekte iş güvenliği politikalarının sorgulanmasına yol açtı.</a:t>
            </a:r>
            <a:endParaRPr lang="tr-TR" sz="1900" kern="100" dirty="0">
              <a:effectLst/>
              <a:latin typeface="Aptos gövde"/>
              <a:ea typeface="Calibri" panose="020F0502020204030204" pitchFamily="34" charset="0"/>
              <a:cs typeface="Times New Roman" panose="02020603050405020304" pitchFamily="18" charset="0"/>
            </a:endParaRPr>
          </a:p>
          <a:p>
            <a:pPr>
              <a:spcBef>
                <a:spcPts val="1200"/>
              </a:spcBef>
              <a:spcAft>
                <a:spcPts val="300"/>
              </a:spcAft>
              <a:buNone/>
            </a:pPr>
            <a:r>
              <a:rPr lang="tr-TR" sz="1900" b="1" kern="0" dirty="0">
                <a:effectLst/>
                <a:latin typeface="Aptos gövde"/>
                <a:ea typeface="Times New Roman" panose="02020603050405020304" pitchFamily="18" charset="0"/>
                <a:cs typeface="Times New Roman" panose="02020603050405020304" pitchFamily="18" charset="0"/>
              </a:rPr>
              <a:t>Temel Bilgiler</a:t>
            </a:r>
            <a:endParaRPr lang="tr-TR" sz="1900" kern="100" dirty="0">
              <a:effectLst/>
              <a:latin typeface="Aptos gövde"/>
              <a:ea typeface="Calibri" panose="020F0502020204030204" pitchFamily="34" charset="0"/>
              <a:cs typeface="Times New Roman" panose="02020603050405020304" pitchFamily="18" charset="0"/>
            </a:endParaRPr>
          </a:p>
          <a:p>
            <a:pPr marL="0" lvl="0" indent="0">
              <a:spcBef>
                <a:spcPts val="600"/>
              </a:spcBef>
              <a:spcAft>
                <a:spcPts val="600"/>
              </a:spcAft>
              <a:buSzPts val="1000"/>
              <a:buNone/>
              <a:tabLst>
                <a:tab pos="457200" algn="l"/>
              </a:tabLst>
            </a:pPr>
            <a:r>
              <a:rPr lang="tr-TR" sz="1900" b="1" kern="0" dirty="0">
                <a:effectLst/>
                <a:latin typeface="Aptos gövde"/>
                <a:ea typeface="Times New Roman" panose="02020603050405020304" pitchFamily="18" charset="0"/>
                <a:cs typeface="Times New Roman" panose="02020603050405020304" pitchFamily="18" charset="0"/>
              </a:rPr>
              <a:t>         Tarih:</a:t>
            </a:r>
            <a:r>
              <a:rPr lang="tr-TR" sz="1900" kern="0" dirty="0">
                <a:effectLst/>
                <a:latin typeface="Aptos gövde"/>
                <a:ea typeface="Times New Roman" panose="02020603050405020304" pitchFamily="18" charset="0"/>
                <a:cs typeface="Times New Roman" panose="02020603050405020304" pitchFamily="18" charset="0"/>
              </a:rPr>
              <a:t> 13 Mayıs 2014</a:t>
            </a:r>
            <a:endParaRPr lang="tr-TR" sz="1900" kern="100" dirty="0">
              <a:effectLst/>
              <a:latin typeface="Aptos gövde"/>
              <a:ea typeface="Calibri" panose="020F0502020204030204" pitchFamily="34" charset="0"/>
              <a:cs typeface="Times New Roman" panose="02020603050405020304" pitchFamily="18" charset="0"/>
            </a:endParaRPr>
          </a:p>
          <a:p>
            <a:pPr marL="0" lvl="0" indent="0">
              <a:spcBef>
                <a:spcPts val="600"/>
              </a:spcBef>
              <a:spcAft>
                <a:spcPts val="600"/>
              </a:spcAft>
              <a:buSzPts val="1000"/>
              <a:buNone/>
              <a:tabLst>
                <a:tab pos="457200" algn="l"/>
              </a:tabLst>
            </a:pPr>
            <a:r>
              <a:rPr lang="tr-TR" sz="1900" b="1" kern="0" dirty="0">
                <a:effectLst/>
                <a:latin typeface="Aptos gövde"/>
                <a:ea typeface="Times New Roman" panose="02020603050405020304" pitchFamily="18" charset="0"/>
                <a:cs typeface="Times New Roman" panose="02020603050405020304" pitchFamily="18" charset="0"/>
              </a:rPr>
              <a:t>         Yer:</a:t>
            </a:r>
            <a:r>
              <a:rPr lang="tr-TR" sz="1900" kern="0" dirty="0">
                <a:effectLst/>
                <a:latin typeface="Aptos gövde"/>
                <a:ea typeface="Times New Roman" panose="02020603050405020304" pitchFamily="18" charset="0"/>
                <a:cs typeface="Times New Roman" panose="02020603050405020304" pitchFamily="18" charset="0"/>
              </a:rPr>
              <a:t> Manisa, Soma</a:t>
            </a:r>
            <a:endParaRPr lang="tr-TR" sz="1900" kern="100" dirty="0">
              <a:effectLst/>
              <a:latin typeface="Aptos gövde"/>
              <a:ea typeface="Calibri" panose="020F0502020204030204" pitchFamily="34" charset="0"/>
              <a:cs typeface="Times New Roman" panose="02020603050405020304" pitchFamily="18" charset="0"/>
            </a:endParaRPr>
          </a:p>
          <a:p>
            <a:pPr marL="0" lvl="0" indent="0">
              <a:spcBef>
                <a:spcPts val="600"/>
              </a:spcBef>
              <a:spcAft>
                <a:spcPts val="600"/>
              </a:spcAft>
              <a:buSzPts val="1000"/>
              <a:buNone/>
              <a:tabLst>
                <a:tab pos="457200" algn="l"/>
              </a:tabLst>
            </a:pPr>
            <a:r>
              <a:rPr lang="tr-TR" sz="1900" b="1" kern="0" dirty="0">
                <a:effectLst/>
                <a:latin typeface="Aptos gövde"/>
                <a:ea typeface="Times New Roman" panose="02020603050405020304" pitchFamily="18" charset="0"/>
                <a:cs typeface="Times New Roman" panose="02020603050405020304" pitchFamily="18" charset="0"/>
              </a:rPr>
              <a:t>         Can kaybı:</a:t>
            </a:r>
            <a:r>
              <a:rPr lang="tr-TR" sz="1900" kern="0" dirty="0">
                <a:effectLst/>
                <a:latin typeface="Aptos gövde"/>
                <a:ea typeface="Times New Roman" panose="02020603050405020304" pitchFamily="18" charset="0"/>
                <a:cs typeface="Times New Roman" panose="02020603050405020304" pitchFamily="18" charset="0"/>
              </a:rPr>
              <a:t> 301 madenci</a:t>
            </a:r>
            <a:endParaRPr lang="tr-TR" sz="1900" kern="100" dirty="0">
              <a:effectLst/>
              <a:latin typeface="Aptos gövde"/>
              <a:ea typeface="Calibri" panose="020F0502020204030204" pitchFamily="34" charset="0"/>
              <a:cs typeface="Times New Roman" panose="02020603050405020304" pitchFamily="18" charset="0"/>
            </a:endParaRPr>
          </a:p>
          <a:p>
            <a:pPr marL="0" lvl="0" indent="0">
              <a:spcBef>
                <a:spcPts val="600"/>
              </a:spcBef>
              <a:spcAft>
                <a:spcPts val="600"/>
              </a:spcAft>
              <a:buSzPts val="1000"/>
              <a:buNone/>
              <a:tabLst>
                <a:tab pos="457200" algn="l"/>
              </a:tabLst>
            </a:pPr>
            <a:r>
              <a:rPr lang="tr-TR" sz="1900" b="1" kern="0" dirty="0">
                <a:effectLst/>
                <a:latin typeface="Aptos gövde"/>
                <a:ea typeface="Times New Roman" panose="02020603050405020304" pitchFamily="18" charset="0"/>
                <a:cs typeface="Times New Roman" panose="02020603050405020304" pitchFamily="18" charset="0"/>
              </a:rPr>
              <a:t>         Sebep:</a:t>
            </a:r>
            <a:r>
              <a:rPr lang="tr-TR" sz="1900" kern="0" dirty="0">
                <a:effectLst/>
                <a:latin typeface="Aptos gövde"/>
                <a:ea typeface="Times New Roman" panose="02020603050405020304" pitchFamily="18" charset="0"/>
                <a:cs typeface="Times New Roman" panose="02020603050405020304" pitchFamily="18" charset="0"/>
              </a:rPr>
              <a:t> Kömür damarında kendiliğinden yanma sonucu çıkan yangın</a:t>
            </a:r>
            <a:endParaRPr lang="tr-TR" sz="1900" kern="100" dirty="0">
              <a:effectLst/>
              <a:latin typeface="Aptos gövde"/>
              <a:ea typeface="Calibri" panose="020F0502020204030204" pitchFamily="34" charset="0"/>
              <a:cs typeface="Times New Roman" panose="02020603050405020304" pitchFamily="18" charset="0"/>
            </a:endParaRPr>
          </a:p>
          <a:p>
            <a:pPr marL="0" lvl="0" indent="0">
              <a:spcBef>
                <a:spcPts val="600"/>
              </a:spcBef>
              <a:spcAft>
                <a:spcPts val="600"/>
              </a:spcAft>
              <a:buSzPts val="1000"/>
              <a:buNone/>
              <a:tabLst>
                <a:tab pos="457200" algn="l"/>
              </a:tabLst>
            </a:pPr>
            <a:r>
              <a:rPr lang="tr-TR" sz="1900" b="1" kern="0" dirty="0">
                <a:effectLst/>
                <a:latin typeface="Aptos gövde"/>
                <a:ea typeface="Times New Roman" panose="02020603050405020304" pitchFamily="18" charset="0"/>
                <a:cs typeface="Times New Roman" panose="02020603050405020304" pitchFamily="18" charset="0"/>
              </a:rPr>
              <a:t>         İşletme:</a:t>
            </a:r>
            <a:r>
              <a:rPr lang="tr-TR" sz="1900" kern="0" dirty="0">
                <a:effectLst/>
                <a:latin typeface="Aptos gövde"/>
                <a:ea typeface="Times New Roman" panose="02020603050405020304" pitchFamily="18" charset="0"/>
                <a:cs typeface="Times New Roman" panose="02020603050405020304" pitchFamily="18" charset="0"/>
              </a:rPr>
              <a:t> Soma Kömür İşletmeleri A.Ş.</a:t>
            </a:r>
            <a:endParaRPr lang="tr-TR" sz="1900" kern="100" dirty="0">
              <a:effectLst/>
              <a:latin typeface="Aptos gövde"/>
              <a:ea typeface="Calibri" panose="020F0502020204030204" pitchFamily="34" charset="0"/>
              <a:cs typeface="Times New Roman" panose="02020603050405020304" pitchFamily="18" charset="0"/>
            </a:endParaRPr>
          </a:p>
          <a:p>
            <a:pPr>
              <a:spcBef>
                <a:spcPts val="1200"/>
              </a:spcBef>
              <a:spcAft>
                <a:spcPts val="300"/>
              </a:spcAft>
              <a:buNone/>
            </a:pPr>
            <a:r>
              <a:rPr lang="tr-TR" sz="1900" b="1" kern="0" dirty="0">
                <a:effectLst/>
                <a:latin typeface="Aptos gövde"/>
                <a:ea typeface="Times New Roman" panose="02020603050405020304" pitchFamily="18" charset="0"/>
                <a:cs typeface="Times New Roman" panose="02020603050405020304" pitchFamily="18" charset="0"/>
              </a:rPr>
              <a:t>Olayın Seyri</a:t>
            </a:r>
            <a:endParaRPr lang="tr-TR" sz="1900" kern="100" dirty="0">
              <a:effectLst/>
              <a:latin typeface="Aptos gövde"/>
              <a:ea typeface="Calibri" panose="020F0502020204030204" pitchFamily="34" charset="0"/>
              <a:cs typeface="Times New Roman" panose="02020603050405020304" pitchFamily="18" charset="0"/>
            </a:endParaRPr>
          </a:p>
          <a:p>
            <a:pPr>
              <a:spcAft>
                <a:spcPts val="800"/>
              </a:spcAft>
              <a:buNone/>
            </a:pPr>
            <a:r>
              <a:rPr lang="tr-TR" sz="1900" kern="0" dirty="0">
                <a:effectLst/>
                <a:latin typeface="Aptos gövde"/>
                <a:ea typeface="Times New Roman" panose="02020603050405020304" pitchFamily="18" charset="0"/>
                <a:cs typeface="Times New Roman" panose="02020603050405020304" pitchFamily="18" charset="0"/>
              </a:rPr>
              <a:t>         Vardiya değişimi sırasında yeraltında yaklaşık 787 işçi bulunuyordu. Elektrik panosundan kaynaklandığı düşünülen yangın kısa sürede yayıldı</a:t>
            </a:r>
            <a:r>
              <a:rPr lang="tr-TR" sz="1900" kern="0" dirty="0">
                <a:solidFill>
                  <a:srgbClr val="C00000"/>
                </a:solidFill>
                <a:effectLst/>
                <a:latin typeface="Aptos gövde"/>
                <a:ea typeface="Times New Roman" panose="02020603050405020304" pitchFamily="18" charset="0"/>
                <a:cs typeface="Times New Roman" panose="02020603050405020304" pitchFamily="18" charset="0"/>
              </a:rPr>
              <a:t>, karbonmonoksit zehirlenmesi </a:t>
            </a:r>
            <a:r>
              <a:rPr lang="tr-TR" sz="1900" kern="0" dirty="0">
                <a:effectLst/>
                <a:latin typeface="Aptos gövde"/>
                <a:ea typeface="Times New Roman" panose="02020603050405020304" pitchFamily="18" charset="0"/>
                <a:cs typeface="Times New Roman" panose="02020603050405020304" pitchFamily="18" charset="0"/>
              </a:rPr>
              <a:t>nedeniyle 301 işçi yaşamını yitirdi. Kurtarma çalışmaları günlerce sürdü; Türkiye genelinde üç günlük ulusal yas ilan edildi.</a:t>
            </a:r>
            <a:endParaRPr lang="tr-TR" sz="1900" kern="100" dirty="0">
              <a:effectLst/>
              <a:latin typeface="Aptos gövde"/>
              <a:ea typeface="Calibri" panose="020F0502020204030204" pitchFamily="34" charset="0"/>
              <a:cs typeface="Times New Roman" panose="02020603050405020304" pitchFamily="18" charset="0"/>
            </a:endParaRPr>
          </a:p>
          <a:p>
            <a:pPr marL="0" indent="0">
              <a:buNone/>
            </a:pPr>
            <a:endParaRPr lang="tr-TR" sz="1200" dirty="0"/>
          </a:p>
        </p:txBody>
      </p:sp>
    </p:spTree>
    <p:extLst>
      <p:ext uri="{BB962C8B-B14F-4D97-AF65-F5344CB8AC3E}">
        <p14:creationId xmlns:p14="http://schemas.microsoft.com/office/powerpoint/2010/main" val="1416602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3F8C75-6B61-63CD-1AD9-A4D07F76A21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1439F5B-560B-FFC3-53D5-7F36725D75EA}"/>
              </a:ext>
            </a:extLst>
          </p:cNvPr>
          <p:cNvSpPr>
            <a:spLocks noGrp="1"/>
          </p:cNvSpPr>
          <p:nvPr>
            <p:ph type="title"/>
          </p:nvPr>
        </p:nvSpPr>
        <p:spPr>
          <a:xfrm>
            <a:off x="572493" y="238539"/>
            <a:ext cx="11018520" cy="1012285"/>
          </a:xfrm>
        </p:spPr>
        <p:txBody>
          <a:bodyPr anchor="b">
            <a:normAutofit/>
          </a:bodyPr>
          <a:lstStyle/>
          <a:p>
            <a:r>
              <a:rPr lang="tr-TR" sz="3600" b="1" dirty="0">
                <a:latin typeface="Aptos gövde"/>
              </a:rPr>
              <a:t>Madencilikte yaşanan gerçek kazalar</a:t>
            </a:r>
            <a:endParaRPr lang="tr-TR" sz="3600" b="1" dirty="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CB23CFC2-712E-9D20-E29F-E54A6DF29C0C}"/>
              </a:ext>
            </a:extLst>
          </p:cNvPr>
          <p:cNvSpPr>
            <a:spLocks noGrp="1"/>
          </p:cNvSpPr>
          <p:nvPr>
            <p:ph idx="1"/>
          </p:nvPr>
        </p:nvSpPr>
        <p:spPr>
          <a:xfrm>
            <a:off x="572493" y="2071316"/>
            <a:ext cx="6713552" cy="4119172"/>
          </a:xfrm>
        </p:spPr>
        <p:txBody>
          <a:bodyPr anchor="t">
            <a:normAutofit/>
          </a:bodyPr>
          <a:lstStyle/>
          <a:p>
            <a:pPr marL="0" indent="0">
              <a:buNone/>
            </a:pPr>
            <a:r>
              <a:rPr lang="tr-TR" sz="1800" b="1" dirty="0">
                <a:latin typeface="Aptos gövde"/>
              </a:rPr>
              <a:t>Nedenler ve İhmaller</a:t>
            </a:r>
            <a:endParaRPr lang="tr-TR" sz="1800" dirty="0">
              <a:latin typeface="Aptos gövde"/>
            </a:endParaRPr>
          </a:p>
          <a:p>
            <a:pPr marL="0" indent="0">
              <a:buNone/>
            </a:pPr>
            <a:r>
              <a:rPr lang="tr-TR" sz="1800" dirty="0">
                <a:latin typeface="Aptos gövde"/>
              </a:rPr>
              <a:t>      Türk Mühendis ve Mimar Odaları Birliği (TMMOB) raporuna göre facia, kömürün oksidasyonuyla başlayan yangının yetersiz havalandırma ve güvenlik önlemleri nedeniyle yayılması sonucu gerçekleşti. </a:t>
            </a:r>
          </a:p>
          <a:p>
            <a:pPr marL="0" indent="0">
              <a:buNone/>
            </a:pPr>
            <a:r>
              <a:rPr lang="tr-TR" sz="1800" dirty="0">
                <a:latin typeface="Aptos gövde"/>
              </a:rPr>
              <a:t>     Raporda aşırı üretim baskısı, özelleştirme, taşeronlaşma ve yetersiz denetim başlıca yapısal nedenler olarak belirtildi</a:t>
            </a:r>
            <a:r>
              <a:rPr lang="tr-TR" sz="1800" dirty="0"/>
              <a:t>.</a:t>
            </a:r>
          </a:p>
          <a:p>
            <a:pPr>
              <a:spcAft>
                <a:spcPts val="800"/>
              </a:spcAft>
              <a:buNone/>
            </a:pPr>
            <a:endParaRPr lang="tr-TR" sz="2200" dirty="0"/>
          </a:p>
        </p:txBody>
      </p:sp>
      <p:pic>
        <p:nvPicPr>
          <p:cNvPr id="5" name="Resim 4">
            <a:extLst>
              <a:ext uri="{FF2B5EF4-FFF2-40B4-BE49-F238E27FC236}">
                <a16:creationId xmlns:a16="http://schemas.microsoft.com/office/drawing/2014/main" id="{3CB0186D-2A1D-F834-D418-C876F40A6AE9}"/>
              </a:ext>
            </a:extLst>
          </p:cNvPr>
          <p:cNvPicPr>
            <a:picLocks noChangeAspect="1"/>
          </p:cNvPicPr>
          <p:nvPr/>
        </p:nvPicPr>
        <p:blipFill>
          <a:blip r:embed="rId2"/>
          <a:srcRect l="41713" r="8021"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1972020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FAD705-4755-C9D5-7E9C-D07B28F66D9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715D271-A0F3-DA50-76A4-849BE663BE2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93802E8-ADB9-3517-D481-B6E5E1A4B030}"/>
              </a:ext>
            </a:extLst>
          </p:cNvPr>
          <p:cNvSpPr>
            <a:spLocks noGrp="1"/>
          </p:cNvSpPr>
          <p:nvPr>
            <p:ph type="title"/>
          </p:nvPr>
        </p:nvSpPr>
        <p:spPr>
          <a:xfrm>
            <a:off x="572493" y="238539"/>
            <a:ext cx="11018520" cy="1012285"/>
          </a:xfrm>
        </p:spPr>
        <p:txBody>
          <a:bodyPr anchor="b">
            <a:normAutofit/>
          </a:bodyPr>
          <a:lstStyle/>
          <a:p>
            <a:r>
              <a:rPr lang="tr-TR" sz="3600" b="1" dirty="0">
                <a:latin typeface="Aptos gövde"/>
              </a:rPr>
              <a:t>Madencilikte yaşanan gerçek kazalar</a:t>
            </a:r>
            <a:endParaRPr lang="tr-TR" sz="3600" b="1" dirty="0"/>
          </a:p>
        </p:txBody>
      </p:sp>
      <p:sp>
        <p:nvSpPr>
          <p:cNvPr id="12" name="sketchy line">
            <a:extLst>
              <a:ext uri="{FF2B5EF4-FFF2-40B4-BE49-F238E27FC236}">
                <a16:creationId xmlns:a16="http://schemas.microsoft.com/office/drawing/2014/main" id="{F4BBA4CC-488B-8162-5B8C-BC47A996E8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1A021853-4B1C-83A1-6A0B-40DF87A0DEBF}"/>
              </a:ext>
            </a:extLst>
          </p:cNvPr>
          <p:cNvSpPr>
            <a:spLocks noGrp="1"/>
          </p:cNvSpPr>
          <p:nvPr>
            <p:ph idx="1"/>
          </p:nvPr>
        </p:nvSpPr>
        <p:spPr>
          <a:xfrm>
            <a:off x="572493" y="1976283"/>
            <a:ext cx="10828010" cy="4643177"/>
          </a:xfrm>
        </p:spPr>
        <p:txBody>
          <a:bodyPr anchor="t">
            <a:normAutofit fontScale="92500" lnSpcReduction="20000"/>
          </a:bodyPr>
          <a:lstStyle/>
          <a:p>
            <a:pPr marL="0" indent="0">
              <a:buNone/>
            </a:pPr>
            <a:r>
              <a:rPr lang="tr-TR" sz="1900" b="1" dirty="0">
                <a:solidFill>
                  <a:srgbClr val="C00000"/>
                </a:solidFill>
                <a:latin typeface="Aptos gövde"/>
              </a:rPr>
              <a:t>Kozlu maden faciası</a:t>
            </a:r>
            <a:endParaRPr lang="tr-TR" sz="1900" dirty="0">
              <a:solidFill>
                <a:srgbClr val="C00000"/>
              </a:solidFill>
              <a:latin typeface="Aptos gövde"/>
            </a:endParaRPr>
          </a:p>
          <a:p>
            <a:pPr marL="0" indent="0">
              <a:buNone/>
            </a:pPr>
            <a:r>
              <a:rPr lang="tr-TR" sz="1900" dirty="0">
                <a:latin typeface="Aptos gövde"/>
              </a:rPr>
              <a:t>      Türkiye madencilik tarihinin en ölümcül iş kazalarından biridir ve ülke çapında iş güvenliği politikalarının sorgulanmasına yol açmıştır.</a:t>
            </a:r>
          </a:p>
          <a:p>
            <a:pPr>
              <a:buNone/>
            </a:pPr>
            <a:r>
              <a:rPr lang="tr-TR" sz="1900" b="1" dirty="0">
                <a:latin typeface="Aptos gövde"/>
              </a:rPr>
              <a:t>Temel  Bilgiler</a:t>
            </a:r>
          </a:p>
          <a:p>
            <a:pPr marL="0" indent="0">
              <a:buNone/>
            </a:pPr>
            <a:r>
              <a:rPr lang="tr-TR" sz="1900" b="1" dirty="0">
                <a:latin typeface="Aptos gövde"/>
              </a:rPr>
              <a:t>      Tarih:</a:t>
            </a:r>
            <a:r>
              <a:rPr lang="tr-TR" sz="1900" dirty="0">
                <a:latin typeface="Aptos gövde"/>
              </a:rPr>
              <a:t> 3 Mart 1992 </a:t>
            </a:r>
          </a:p>
          <a:p>
            <a:pPr marL="0" indent="0">
              <a:buNone/>
            </a:pPr>
            <a:r>
              <a:rPr lang="tr-TR" sz="1900" b="1" dirty="0">
                <a:latin typeface="Aptos gövde"/>
              </a:rPr>
              <a:t>      Yer:</a:t>
            </a:r>
            <a:r>
              <a:rPr lang="tr-TR" sz="1900" dirty="0">
                <a:latin typeface="Aptos gövde"/>
              </a:rPr>
              <a:t> Zonguldak – Kozlu taşkömürü ocağı </a:t>
            </a:r>
          </a:p>
          <a:p>
            <a:pPr marL="0" indent="0">
              <a:buNone/>
            </a:pPr>
            <a:r>
              <a:rPr lang="tr-TR" sz="1900" b="1" dirty="0">
                <a:latin typeface="Aptos gövde"/>
              </a:rPr>
              <a:t>      İşletme:</a:t>
            </a:r>
            <a:r>
              <a:rPr lang="tr-TR" sz="1900" dirty="0">
                <a:latin typeface="Aptos gövde"/>
              </a:rPr>
              <a:t> Türkiye Taşkömürü Kurumu </a:t>
            </a:r>
          </a:p>
          <a:p>
            <a:pPr marL="0" indent="0">
              <a:buNone/>
            </a:pPr>
            <a:r>
              <a:rPr lang="tr-TR" sz="1900" b="1" dirty="0">
                <a:latin typeface="Aptos gövde"/>
              </a:rPr>
              <a:t>      Olay türü:</a:t>
            </a:r>
            <a:r>
              <a:rPr lang="tr-TR" sz="1900" dirty="0">
                <a:latin typeface="Aptos gövde"/>
              </a:rPr>
              <a:t> Grizu (metan) patlaması </a:t>
            </a:r>
          </a:p>
          <a:p>
            <a:pPr marL="0" indent="0">
              <a:buNone/>
            </a:pPr>
            <a:r>
              <a:rPr lang="tr-TR" sz="1900" b="1" dirty="0">
                <a:latin typeface="Aptos gövde"/>
              </a:rPr>
              <a:t>      Can kaybı:</a:t>
            </a:r>
            <a:r>
              <a:rPr lang="tr-TR" sz="1900" dirty="0">
                <a:latin typeface="Aptos gövde"/>
              </a:rPr>
              <a:t> 263 madenci</a:t>
            </a:r>
          </a:p>
          <a:p>
            <a:pPr marL="0" indent="0">
              <a:buNone/>
            </a:pPr>
            <a:endParaRPr lang="tr-TR" sz="1900" dirty="0">
              <a:latin typeface="Aptos gövde"/>
            </a:endParaRPr>
          </a:p>
          <a:p>
            <a:pPr marL="0" indent="0">
              <a:buNone/>
            </a:pPr>
            <a:r>
              <a:rPr lang="tr-TR" sz="1900" b="1" dirty="0">
                <a:latin typeface="Aptos gövde"/>
              </a:rPr>
              <a:t>Olayın Gelişimi</a:t>
            </a:r>
          </a:p>
          <a:p>
            <a:pPr marL="0" indent="0">
              <a:buNone/>
            </a:pPr>
            <a:r>
              <a:rPr lang="tr-TR" sz="1900" dirty="0">
                <a:latin typeface="Aptos gövde"/>
              </a:rPr>
              <a:t>    Kaza, sabah saatlerinde Türkiye Taşkömürü Kurumu’na (TTK) bağlı Kozlu müessesesinde, yerin yaklaşık 300 metre altında meydana geldi. Metan gazının birikmesi sonucu oluşan grizu patlaması, ardından gelen ikinci patlamayla geniş bir alanı etkiledi. Kurtarma çalışmaları günlerce sürdü; zorlu koşullar nedeniyle birçok madencinin cenazesine ancak günler sonra ulaşılabildi.</a:t>
            </a:r>
          </a:p>
          <a:p>
            <a:pPr marL="0" indent="0">
              <a:buNone/>
            </a:pPr>
            <a:endParaRPr lang="tr-TR" sz="1800" dirty="0">
              <a:latin typeface="Aptos gövde"/>
            </a:endParaRPr>
          </a:p>
          <a:p>
            <a:pPr marL="0" indent="0">
              <a:buNone/>
            </a:pPr>
            <a:endParaRPr lang="tr-TR" sz="2200" dirty="0"/>
          </a:p>
        </p:txBody>
      </p:sp>
    </p:spTree>
    <p:extLst>
      <p:ext uri="{BB962C8B-B14F-4D97-AF65-F5344CB8AC3E}">
        <p14:creationId xmlns:p14="http://schemas.microsoft.com/office/powerpoint/2010/main" val="7783298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44E14A-F7FB-A2E8-FCBD-A505F2D119D8}"/>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5D37F4E-DDB4-456B-97E0-9937730A03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CDEAA18-A9C8-DC44-C2E1-C173E595778C}"/>
              </a:ext>
            </a:extLst>
          </p:cNvPr>
          <p:cNvSpPr>
            <a:spLocks noGrp="1"/>
          </p:cNvSpPr>
          <p:nvPr>
            <p:ph type="title"/>
          </p:nvPr>
        </p:nvSpPr>
        <p:spPr>
          <a:xfrm>
            <a:off x="572493" y="238539"/>
            <a:ext cx="11018520" cy="998369"/>
          </a:xfrm>
        </p:spPr>
        <p:txBody>
          <a:bodyPr anchor="b">
            <a:normAutofit/>
          </a:bodyPr>
          <a:lstStyle/>
          <a:p>
            <a:r>
              <a:rPr lang="tr-TR" sz="3600" b="1" dirty="0">
                <a:latin typeface="Aptos gövde"/>
              </a:rPr>
              <a:t>Madencilikte yaşanan gerçek kazalar</a:t>
            </a:r>
            <a:endParaRPr lang="tr-TR" sz="3600" b="1" dirty="0"/>
          </a:p>
        </p:txBody>
      </p:sp>
      <p:sp>
        <p:nvSpPr>
          <p:cNvPr id="19"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911959A6-D10D-1EEE-5B58-56D201C299D2}"/>
              </a:ext>
            </a:extLst>
          </p:cNvPr>
          <p:cNvSpPr>
            <a:spLocks noGrp="1"/>
          </p:cNvSpPr>
          <p:nvPr>
            <p:ph idx="1"/>
          </p:nvPr>
        </p:nvSpPr>
        <p:spPr>
          <a:xfrm>
            <a:off x="572493" y="2071316"/>
            <a:ext cx="6713552" cy="4119172"/>
          </a:xfrm>
        </p:spPr>
        <p:txBody>
          <a:bodyPr anchor="t">
            <a:normAutofit/>
          </a:bodyPr>
          <a:lstStyle/>
          <a:p>
            <a:pPr marL="0" indent="0">
              <a:buNone/>
            </a:pPr>
            <a:r>
              <a:rPr lang="tr-TR" sz="2200" b="1" dirty="0">
                <a:solidFill>
                  <a:srgbClr val="C00000"/>
                </a:solidFill>
                <a:latin typeface="Aptos gövde"/>
              </a:rPr>
              <a:t>Kozlu maden faciası</a:t>
            </a:r>
            <a:endParaRPr lang="tr-TR" sz="2200" dirty="0">
              <a:solidFill>
                <a:srgbClr val="C00000"/>
              </a:solidFill>
              <a:latin typeface="Aptos gövde"/>
            </a:endParaRPr>
          </a:p>
          <a:p>
            <a:pPr marL="0" indent="0">
              <a:buNone/>
            </a:pPr>
            <a:r>
              <a:rPr lang="tr-TR" sz="2200" dirty="0">
                <a:solidFill>
                  <a:srgbClr val="C00000"/>
                </a:solidFill>
                <a:latin typeface="Aptos gövde"/>
              </a:rPr>
              <a:t>      </a:t>
            </a:r>
          </a:p>
          <a:p>
            <a:pPr marL="0" indent="0">
              <a:buNone/>
            </a:pPr>
            <a:r>
              <a:rPr lang="tr-TR" sz="2000" b="1" dirty="0">
                <a:latin typeface="Aptos gövde"/>
              </a:rPr>
              <a:t>Nedenleri ve Soruşturma</a:t>
            </a:r>
          </a:p>
          <a:p>
            <a:pPr marL="0" indent="0">
              <a:buNone/>
            </a:pPr>
            <a:r>
              <a:rPr lang="tr-TR" sz="2000" dirty="0">
                <a:latin typeface="Aptos gövde"/>
              </a:rPr>
              <a:t>    Patlamanın temel nedeni, ocakta biriken metan gazının yeterince havalandırılamaması olarak belirlendi. Dönemin raporları, gaz ölçüm ve tahliye sistemlerinde eksiklikler, ekipman bakım yetersizlikleri ve iş güvenliği denetimlerinde ihmaller olduğunu ortaya koydu. Olay sonrası açılan davalarda çeşitli düzeyde yöneticiler hakkında soruşturmalar yürütüldü.</a:t>
            </a:r>
          </a:p>
          <a:p>
            <a:pPr marL="0" indent="0">
              <a:buNone/>
            </a:pPr>
            <a:endParaRPr lang="tr-TR" sz="2200" dirty="0"/>
          </a:p>
        </p:txBody>
      </p:sp>
      <p:pic>
        <p:nvPicPr>
          <p:cNvPr id="7" name="Resim 6">
            <a:extLst>
              <a:ext uri="{FF2B5EF4-FFF2-40B4-BE49-F238E27FC236}">
                <a16:creationId xmlns:a16="http://schemas.microsoft.com/office/drawing/2014/main" id="{30C10779-4101-E0E6-8BED-985802D5A240}"/>
              </a:ext>
            </a:extLst>
          </p:cNvPr>
          <p:cNvPicPr>
            <a:picLocks noChangeAspect="1"/>
          </p:cNvPicPr>
          <p:nvPr/>
        </p:nvPicPr>
        <p:blipFill>
          <a:blip r:embed="rId2"/>
          <a:stretch>
            <a:fillRect/>
          </a:stretch>
        </p:blipFill>
        <p:spPr>
          <a:xfrm>
            <a:off x="7286045" y="2071316"/>
            <a:ext cx="4487573" cy="2839792"/>
          </a:xfrm>
          <a:prstGeom prst="rect">
            <a:avLst/>
          </a:prstGeom>
        </p:spPr>
      </p:pic>
    </p:spTree>
    <p:extLst>
      <p:ext uri="{BB962C8B-B14F-4D97-AF65-F5344CB8AC3E}">
        <p14:creationId xmlns:p14="http://schemas.microsoft.com/office/powerpoint/2010/main" val="7122899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3CE7B8-3732-FD12-85E3-E3256C276B4B}"/>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5751A8C-9AD7-5876-1F2C-993EDE471A8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9E71769-BF9A-BB88-6855-70D6E0C8EF4B}"/>
              </a:ext>
            </a:extLst>
          </p:cNvPr>
          <p:cNvSpPr>
            <a:spLocks noGrp="1"/>
          </p:cNvSpPr>
          <p:nvPr>
            <p:ph type="title"/>
          </p:nvPr>
        </p:nvSpPr>
        <p:spPr>
          <a:xfrm>
            <a:off x="572493" y="238539"/>
            <a:ext cx="11018520" cy="998369"/>
          </a:xfrm>
        </p:spPr>
        <p:txBody>
          <a:bodyPr anchor="b">
            <a:normAutofit/>
          </a:bodyPr>
          <a:lstStyle/>
          <a:p>
            <a:r>
              <a:rPr lang="tr-TR" sz="3600" b="1" dirty="0">
                <a:latin typeface="Aptos gövde"/>
              </a:rPr>
              <a:t>Madencilikte yaşanan gerçek kazalar</a:t>
            </a:r>
            <a:endParaRPr lang="tr-TR" sz="3600" b="1" dirty="0"/>
          </a:p>
        </p:txBody>
      </p:sp>
      <p:sp>
        <p:nvSpPr>
          <p:cNvPr id="19" name="sketchy line">
            <a:extLst>
              <a:ext uri="{FF2B5EF4-FFF2-40B4-BE49-F238E27FC236}">
                <a16:creationId xmlns:a16="http://schemas.microsoft.com/office/drawing/2014/main" id="{B6E5FDE1-D7A0-97B7-20C3-651B93FDA9B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9C6C0CBF-3B74-DCFC-B690-7A9C83740B2F}"/>
              </a:ext>
            </a:extLst>
          </p:cNvPr>
          <p:cNvSpPr>
            <a:spLocks noGrp="1"/>
          </p:cNvSpPr>
          <p:nvPr>
            <p:ph idx="1"/>
          </p:nvPr>
        </p:nvSpPr>
        <p:spPr>
          <a:xfrm>
            <a:off x="572492" y="2071315"/>
            <a:ext cx="10972799" cy="4548145"/>
          </a:xfrm>
        </p:spPr>
        <p:txBody>
          <a:bodyPr anchor="t">
            <a:normAutofit fontScale="62500" lnSpcReduction="20000"/>
          </a:bodyPr>
          <a:lstStyle/>
          <a:p>
            <a:pPr marL="0" indent="0">
              <a:buNone/>
            </a:pPr>
            <a:r>
              <a:rPr lang="tr-TR" b="1" dirty="0">
                <a:solidFill>
                  <a:srgbClr val="C00000"/>
                </a:solidFill>
                <a:latin typeface="Aptos gövde"/>
              </a:rPr>
              <a:t>Şirvan Maden Kazası</a:t>
            </a:r>
            <a:endParaRPr lang="tr-TR" dirty="0">
              <a:solidFill>
                <a:srgbClr val="C00000"/>
              </a:solidFill>
              <a:latin typeface="Aptos gövde"/>
            </a:endParaRPr>
          </a:p>
          <a:p>
            <a:pPr marL="0" indent="0">
              <a:buNone/>
            </a:pPr>
            <a:r>
              <a:rPr lang="tr-TR" dirty="0">
                <a:latin typeface="Aptos gövde"/>
              </a:rPr>
              <a:t>    2016 yılında Türkiye’nin Siirt iline bağlı Şirvan ilçesindeki Maden köyünde meydana gelen bir toprak kayması felaketidir. Bakır madeni sahasında yaşanan bu olay, çok sayıda işçinin hayatını kaybetmesiyle Türkiye madencilik tarihinin en trajik kazalarından biri olarak kayda geçmiştir.</a:t>
            </a:r>
          </a:p>
          <a:p>
            <a:pPr marL="0" indent="0">
              <a:buNone/>
            </a:pPr>
            <a:r>
              <a:rPr lang="tr-TR" b="1" dirty="0">
                <a:latin typeface="Aptos gövde"/>
              </a:rPr>
              <a:t>Temel Bilgiler</a:t>
            </a:r>
            <a:endParaRPr lang="tr-TR" dirty="0">
              <a:latin typeface="Aptos gövde"/>
            </a:endParaRPr>
          </a:p>
          <a:p>
            <a:pPr marL="0" lvl="0" indent="0">
              <a:buNone/>
            </a:pPr>
            <a:r>
              <a:rPr lang="tr-TR" b="1" dirty="0">
                <a:latin typeface="Aptos gövde"/>
              </a:rPr>
              <a:t>     Tarih:</a:t>
            </a:r>
            <a:r>
              <a:rPr lang="tr-TR" dirty="0">
                <a:latin typeface="Aptos gövde"/>
              </a:rPr>
              <a:t> 17 Kasım 2016</a:t>
            </a:r>
          </a:p>
          <a:p>
            <a:pPr marL="0" lvl="0" indent="0">
              <a:buNone/>
            </a:pPr>
            <a:r>
              <a:rPr lang="tr-TR" b="1" dirty="0">
                <a:latin typeface="Aptos gövde"/>
              </a:rPr>
              <a:t>     Yer:</a:t>
            </a:r>
            <a:r>
              <a:rPr lang="tr-TR" dirty="0">
                <a:latin typeface="Aptos gövde"/>
              </a:rPr>
              <a:t> Maden köyü, Şirvan, Siirt</a:t>
            </a:r>
          </a:p>
          <a:p>
            <a:pPr marL="0" lvl="0" indent="0">
              <a:buNone/>
            </a:pPr>
            <a:r>
              <a:rPr lang="tr-TR" b="1" dirty="0">
                <a:latin typeface="Aptos gövde"/>
              </a:rPr>
              <a:t>     Olay türü:</a:t>
            </a:r>
            <a:r>
              <a:rPr lang="tr-TR" dirty="0">
                <a:latin typeface="Aptos gövde"/>
              </a:rPr>
              <a:t> Toprak kayması (heyelan)</a:t>
            </a:r>
          </a:p>
          <a:p>
            <a:pPr marL="0" lvl="0" indent="0">
              <a:buNone/>
            </a:pPr>
            <a:r>
              <a:rPr lang="tr-TR" b="1" dirty="0">
                <a:latin typeface="Aptos gövde"/>
              </a:rPr>
              <a:t>     Can kaybı:</a:t>
            </a:r>
            <a:r>
              <a:rPr lang="tr-TR" dirty="0">
                <a:latin typeface="Aptos gövde"/>
              </a:rPr>
              <a:t> 16 işçi hayatını kaybetti</a:t>
            </a:r>
          </a:p>
          <a:p>
            <a:pPr marL="0" lvl="0" indent="0">
              <a:buNone/>
            </a:pPr>
            <a:r>
              <a:rPr lang="tr-TR" b="1" dirty="0">
                <a:latin typeface="Aptos gövde"/>
              </a:rPr>
              <a:t>     İşletme:</a:t>
            </a:r>
            <a:r>
              <a:rPr lang="tr-TR" dirty="0">
                <a:latin typeface="Aptos gövde"/>
              </a:rPr>
              <a:t> Park Elektrik Üretim Madencilik (Ciner Grubu iştiraki)</a:t>
            </a:r>
          </a:p>
          <a:p>
            <a:pPr marL="0" lvl="0" indent="0">
              <a:buNone/>
            </a:pPr>
            <a:endParaRPr lang="tr-TR" dirty="0">
              <a:latin typeface="Aptos gövde"/>
            </a:endParaRPr>
          </a:p>
          <a:p>
            <a:pPr marL="0" indent="0">
              <a:buNone/>
            </a:pPr>
            <a:r>
              <a:rPr lang="tr-TR" b="1" dirty="0">
                <a:latin typeface="Aptos gövde"/>
              </a:rPr>
              <a:t>Olayın Gelişimi</a:t>
            </a:r>
            <a:endParaRPr lang="tr-TR" dirty="0">
              <a:latin typeface="Aptos gövde"/>
            </a:endParaRPr>
          </a:p>
          <a:p>
            <a:pPr marL="0" indent="0">
              <a:buNone/>
            </a:pPr>
            <a:r>
              <a:rPr lang="tr-TR" dirty="0">
                <a:latin typeface="Aptos gövde"/>
              </a:rPr>
              <a:t>     Yoğun yağışların ardından, bakır madeni sahasında bulunan yamaçların bir kısmı çöktü. Yaklaşık 1,5 milyon metreküp toprak kütlesi maden sahasına kayarak işçilerin çalıştığı alanı tamamen kapladı. İlk günlerde sekiz işçinin cenazesine ulaşılırken, arama kurtarma çalışmaları haftalarca sürdü ve toplamda 16 işçinin cansız bedenine ulaşıldı.</a:t>
            </a:r>
          </a:p>
          <a:p>
            <a:pPr marL="0" indent="0">
              <a:buNone/>
            </a:pPr>
            <a:endParaRPr lang="tr-TR" sz="2200" dirty="0"/>
          </a:p>
        </p:txBody>
      </p:sp>
    </p:spTree>
    <p:extLst>
      <p:ext uri="{BB962C8B-B14F-4D97-AF65-F5344CB8AC3E}">
        <p14:creationId xmlns:p14="http://schemas.microsoft.com/office/powerpoint/2010/main" val="1259766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EBFB71-DDB3-2F49-6719-23A69A64109C}"/>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B831B6F-405A-4B47-B9BB-5CA88F28584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323A320-E593-D33C-A0E1-404FB74294AE}"/>
              </a:ext>
            </a:extLst>
          </p:cNvPr>
          <p:cNvSpPr>
            <a:spLocks noGrp="1"/>
          </p:cNvSpPr>
          <p:nvPr>
            <p:ph type="title"/>
          </p:nvPr>
        </p:nvSpPr>
        <p:spPr>
          <a:xfrm>
            <a:off x="6739128" y="638089"/>
            <a:ext cx="4818888" cy="1476801"/>
          </a:xfrm>
        </p:spPr>
        <p:txBody>
          <a:bodyPr anchor="b">
            <a:normAutofit fontScale="90000"/>
          </a:bodyPr>
          <a:lstStyle/>
          <a:p>
            <a:r>
              <a:rPr lang="tr-TR" sz="3800" b="1">
                <a:latin typeface="Aptos gövde"/>
              </a:rPr>
              <a:t>Madencilikte yaşanan gerçek kazalar</a:t>
            </a:r>
            <a:endParaRPr lang="tr-TR" sz="3800" b="1"/>
          </a:p>
        </p:txBody>
      </p:sp>
      <p:pic>
        <p:nvPicPr>
          <p:cNvPr id="5" name="Resim 4">
            <a:extLst>
              <a:ext uri="{FF2B5EF4-FFF2-40B4-BE49-F238E27FC236}">
                <a16:creationId xmlns:a16="http://schemas.microsoft.com/office/drawing/2014/main" id="{4D311A75-36B9-960C-6D9E-9B93AD3E387C}"/>
              </a:ext>
            </a:extLst>
          </p:cNvPr>
          <p:cNvPicPr>
            <a:picLocks noChangeAspect="1"/>
          </p:cNvPicPr>
          <p:nvPr/>
        </p:nvPicPr>
        <p:blipFill>
          <a:blip r:embed="rId2"/>
          <a:stretch>
            <a:fillRect/>
          </a:stretch>
        </p:blipFill>
        <p:spPr>
          <a:xfrm>
            <a:off x="340063" y="536768"/>
            <a:ext cx="4858933" cy="2672413"/>
          </a:xfrm>
          <a:prstGeom prst="rect">
            <a:avLst/>
          </a:prstGeom>
        </p:spPr>
      </p:pic>
      <p:sp>
        <p:nvSpPr>
          <p:cNvPr id="26"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0B68702-3B12-7E47-C4AF-BD8C3E4E42A8}"/>
              </a:ext>
            </a:extLst>
          </p:cNvPr>
          <p:cNvSpPr>
            <a:spLocks noGrp="1"/>
          </p:cNvSpPr>
          <p:nvPr>
            <p:ph idx="1"/>
          </p:nvPr>
        </p:nvSpPr>
        <p:spPr>
          <a:xfrm>
            <a:off x="6739128" y="2664886"/>
            <a:ext cx="4818888" cy="3550789"/>
          </a:xfrm>
        </p:spPr>
        <p:txBody>
          <a:bodyPr anchor="t">
            <a:normAutofit lnSpcReduction="10000"/>
          </a:bodyPr>
          <a:lstStyle/>
          <a:p>
            <a:pPr marL="0" indent="0">
              <a:buNone/>
            </a:pPr>
            <a:r>
              <a:rPr lang="tr-TR" sz="1900" b="1" dirty="0">
                <a:solidFill>
                  <a:srgbClr val="C00000"/>
                </a:solidFill>
                <a:latin typeface="Aptos gövde"/>
              </a:rPr>
              <a:t>Şirvan Maden Kazası</a:t>
            </a:r>
          </a:p>
          <a:p>
            <a:pPr marL="0" indent="0">
              <a:buNone/>
            </a:pPr>
            <a:endParaRPr lang="tr-TR" sz="1900" dirty="0">
              <a:latin typeface="Aptos gövde"/>
            </a:endParaRPr>
          </a:p>
          <a:p>
            <a:pPr marL="0" indent="0">
              <a:buNone/>
            </a:pPr>
            <a:r>
              <a:rPr lang="tr-TR" sz="1900" b="1" dirty="0">
                <a:latin typeface="Aptos gövde"/>
              </a:rPr>
              <a:t>Nedenler ve Soruşturmalar</a:t>
            </a:r>
            <a:endParaRPr lang="tr-TR" sz="1900" dirty="0">
              <a:latin typeface="Aptos gövde"/>
            </a:endParaRPr>
          </a:p>
          <a:p>
            <a:pPr marL="0" indent="0">
              <a:buNone/>
            </a:pPr>
            <a:r>
              <a:rPr lang="tr-TR" sz="1900" dirty="0">
                <a:latin typeface="Aptos gövde"/>
              </a:rPr>
              <a:t>     İlk bulgular, kazanın doğal bir heyelan sonucu oluştuğunu gösterse de daha sonra yapılan incelemelerde madenin zemin stabilitesinin yeterince değerlendirilmediği ve drenaj sistemlerinin yetersiz olduğu yönünde iddialar ortaya çıktı. Soruşturmalar kapsamında işletme yöneticileri hakkında “taksirle ölüme neden olma” suçlamasıyla davalar açıldı.</a:t>
            </a:r>
          </a:p>
          <a:p>
            <a:pPr marL="0" indent="0">
              <a:buNone/>
            </a:pPr>
            <a:endParaRPr lang="tr-TR" sz="1900" dirty="0"/>
          </a:p>
        </p:txBody>
      </p:sp>
      <p:pic>
        <p:nvPicPr>
          <p:cNvPr id="7" name="Resim 6">
            <a:extLst>
              <a:ext uri="{FF2B5EF4-FFF2-40B4-BE49-F238E27FC236}">
                <a16:creationId xmlns:a16="http://schemas.microsoft.com/office/drawing/2014/main" id="{96E35276-C7FA-3144-DEAF-0C3F1DFF8F41}"/>
              </a:ext>
            </a:extLst>
          </p:cNvPr>
          <p:cNvPicPr>
            <a:picLocks noChangeAspect="1"/>
          </p:cNvPicPr>
          <p:nvPr/>
        </p:nvPicPr>
        <p:blipFill>
          <a:blip r:embed="rId3"/>
          <a:stretch>
            <a:fillRect/>
          </a:stretch>
        </p:blipFill>
        <p:spPr>
          <a:xfrm>
            <a:off x="340063" y="3460686"/>
            <a:ext cx="4858933" cy="3145809"/>
          </a:xfrm>
          <a:prstGeom prst="rect">
            <a:avLst/>
          </a:prstGeom>
        </p:spPr>
      </p:pic>
    </p:spTree>
    <p:extLst>
      <p:ext uri="{BB962C8B-B14F-4D97-AF65-F5344CB8AC3E}">
        <p14:creationId xmlns:p14="http://schemas.microsoft.com/office/powerpoint/2010/main" val="25896814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347749-8DD2-086E-D38E-ECAC2229DBBC}"/>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3CA7AC7-05BB-0B82-CEC3-B31D2A7C6B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E5019B6-37D0-383F-B7FF-0E72E1CC0DDA}"/>
              </a:ext>
            </a:extLst>
          </p:cNvPr>
          <p:cNvSpPr>
            <a:spLocks noGrp="1"/>
          </p:cNvSpPr>
          <p:nvPr>
            <p:ph type="title"/>
          </p:nvPr>
        </p:nvSpPr>
        <p:spPr>
          <a:xfrm>
            <a:off x="572493" y="238539"/>
            <a:ext cx="11018520" cy="998369"/>
          </a:xfrm>
        </p:spPr>
        <p:txBody>
          <a:bodyPr anchor="b">
            <a:normAutofit/>
          </a:bodyPr>
          <a:lstStyle/>
          <a:p>
            <a:r>
              <a:rPr lang="tr-TR" sz="3600" b="1" dirty="0">
                <a:latin typeface="Aptos gövde"/>
              </a:rPr>
              <a:t>Madencilikte yaşanan gerçek kazalar</a:t>
            </a:r>
            <a:endParaRPr lang="tr-TR" sz="3600" b="1" dirty="0"/>
          </a:p>
        </p:txBody>
      </p:sp>
      <p:sp>
        <p:nvSpPr>
          <p:cNvPr id="19" name="sketchy line">
            <a:extLst>
              <a:ext uri="{FF2B5EF4-FFF2-40B4-BE49-F238E27FC236}">
                <a16:creationId xmlns:a16="http://schemas.microsoft.com/office/drawing/2014/main" id="{9F53457F-D45A-B700-0204-69DC6D95F6C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196A5513-01CF-723C-C682-93C4A83B57E2}"/>
              </a:ext>
            </a:extLst>
          </p:cNvPr>
          <p:cNvSpPr>
            <a:spLocks noGrp="1"/>
          </p:cNvSpPr>
          <p:nvPr>
            <p:ph idx="1"/>
          </p:nvPr>
        </p:nvSpPr>
        <p:spPr>
          <a:xfrm>
            <a:off x="572492" y="2071315"/>
            <a:ext cx="10972799" cy="4548145"/>
          </a:xfrm>
        </p:spPr>
        <p:txBody>
          <a:bodyPr anchor="t">
            <a:normAutofit fontScale="55000" lnSpcReduction="20000"/>
          </a:bodyPr>
          <a:lstStyle/>
          <a:p>
            <a:pPr marL="0" indent="0">
              <a:buNone/>
            </a:pPr>
            <a:r>
              <a:rPr lang="tr-TR" b="1" dirty="0">
                <a:solidFill>
                  <a:srgbClr val="C00000"/>
                </a:solidFill>
                <a:latin typeface="Aptos gövde"/>
              </a:rPr>
              <a:t>Ermenek Maden Kazası</a:t>
            </a:r>
            <a:endParaRPr lang="tr-TR" dirty="0">
              <a:solidFill>
                <a:srgbClr val="C00000"/>
              </a:solidFill>
              <a:latin typeface="Aptos gövde"/>
            </a:endParaRPr>
          </a:p>
          <a:p>
            <a:pPr marL="0" indent="0">
              <a:buNone/>
            </a:pPr>
            <a:r>
              <a:rPr lang="tr-TR" dirty="0">
                <a:latin typeface="Aptos gövde"/>
              </a:rPr>
              <a:t>     Ermenek Maden Kazası, 28 Ekim 2014 tarihinde Türkiye’nin Karaman iline bağlı Ermenek ilçesinde meydana gelen kömür madeni faciasıdır. Has Şekerler </a:t>
            </a:r>
            <a:r>
              <a:rPr lang="tr-TR" dirty="0" err="1">
                <a:latin typeface="Aptos gövde"/>
              </a:rPr>
              <a:t>Madencilik’e</a:t>
            </a:r>
            <a:r>
              <a:rPr lang="tr-TR" dirty="0">
                <a:latin typeface="Aptos gövde"/>
              </a:rPr>
              <a:t> ait linyit ocağında su baskını sonucu 18 madenci yer altında mahsur kalmış, olay Türkiye’de iş güvenliği ve madencilik koşullarıyla ilgili tartışmaları yeniden gündeme taşımıştır.</a:t>
            </a:r>
          </a:p>
          <a:p>
            <a:pPr marL="0" indent="0">
              <a:buNone/>
            </a:pPr>
            <a:r>
              <a:rPr lang="tr-TR" b="1" dirty="0">
                <a:latin typeface="Aptos gövde"/>
              </a:rPr>
              <a:t>Temel Bilgiler</a:t>
            </a:r>
            <a:endParaRPr lang="tr-TR" dirty="0">
              <a:latin typeface="Aptos gövde"/>
            </a:endParaRPr>
          </a:p>
          <a:p>
            <a:pPr marL="0" lvl="0" indent="0">
              <a:buNone/>
            </a:pPr>
            <a:r>
              <a:rPr lang="tr-TR" b="1" dirty="0">
                <a:latin typeface="Aptos gövde"/>
              </a:rPr>
              <a:t>     Tarih:</a:t>
            </a:r>
            <a:r>
              <a:rPr lang="tr-TR" dirty="0">
                <a:latin typeface="Aptos gövde"/>
              </a:rPr>
              <a:t> 28 Ekim 2014</a:t>
            </a:r>
          </a:p>
          <a:p>
            <a:pPr marL="0" lvl="0" indent="0">
              <a:buNone/>
            </a:pPr>
            <a:r>
              <a:rPr lang="tr-TR" b="1" dirty="0">
                <a:latin typeface="Aptos gövde"/>
              </a:rPr>
              <a:t>     Yer:</a:t>
            </a:r>
            <a:r>
              <a:rPr lang="tr-TR" dirty="0">
                <a:latin typeface="Aptos gövde"/>
              </a:rPr>
              <a:t> Pamuklu Köyü, Ermenek, Karaman, Türkiye</a:t>
            </a:r>
          </a:p>
          <a:p>
            <a:pPr marL="0" lvl="0" indent="0">
              <a:buNone/>
            </a:pPr>
            <a:r>
              <a:rPr lang="tr-TR" b="1" dirty="0">
                <a:latin typeface="Aptos gövde"/>
              </a:rPr>
              <a:t>     Sebep:</a:t>
            </a:r>
            <a:r>
              <a:rPr lang="tr-TR" dirty="0">
                <a:latin typeface="Aptos gövde"/>
              </a:rPr>
              <a:t> Madende ani su baskını</a:t>
            </a:r>
          </a:p>
          <a:p>
            <a:pPr marL="0" lvl="0" indent="0">
              <a:buNone/>
            </a:pPr>
            <a:r>
              <a:rPr lang="tr-TR" b="1" dirty="0">
                <a:latin typeface="Aptos gövde"/>
              </a:rPr>
              <a:t>     Can kaybı:</a:t>
            </a:r>
            <a:r>
              <a:rPr lang="tr-TR" dirty="0">
                <a:latin typeface="Aptos gövde"/>
              </a:rPr>
              <a:t> 18 madenci</a:t>
            </a:r>
          </a:p>
          <a:p>
            <a:pPr marL="0" lvl="0" indent="0">
              <a:buNone/>
            </a:pPr>
            <a:r>
              <a:rPr lang="tr-TR" b="1" dirty="0">
                <a:latin typeface="Aptos gövde"/>
              </a:rPr>
              <a:t>     İşletmeci şirket:</a:t>
            </a:r>
            <a:r>
              <a:rPr lang="tr-TR" dirty="0">
                <a:latin typeface="Aptos gövde"/>
              </a:rPr>
              <a:t> Has Şekerler Madencilik</a:t>
            </a:r>
          </a:p>
          <a:p>
            <a:pPr marL="0" lvl="0" indent="0">
              <a:buNone/>
            </a:pPr>
            <a:endParaRPr lang="tr-TR" dirty="0">
              <a:latin typeface="Aptos gövde"/>
            </a:endParaRPr>
          </a:p>
          <a:p>
            <a:pPr marL="0" indent="0">
              <a:buNone/>
            </a:pPr>
            <a:r>
              <a:rPr lang="tr-TR" b="1" dirty="0">
                <a:latin typeface="Aptos gövde"/>
              </a:rPr>
              <a:t>Olayın Seyri</a:t>
            </a:r>
            <a:endParaRPr lang="tr-TR" dirty="0">
              <a:latin typeface="Aptos gövde"/>
            </a:endParaRPr>
          </a:p>
          <a:p>
            <a:pPr marL="0" indent="0">
              <a:buNone/>
            </a:pPr>
            <a:r>
              <a:rPr lang="tr-TR" dirty="0">
                <a:latin typeface="Aptos gövde"/>
              </a:rPr>
              <a:t>     Kaza, sabah saatlerinde üretim sürerken yer altına dolan suyun işçileri yakalamasıyla başladı. Yaklaşık 350 bin metreküp eski bir galeriden gelen su, madenin büyük kısmını bastı. Kurtarma çalışmaları günlerce sürdü; ancak zor arazi koşulları ve su tahliyesinin zorluğu nedeniyle tüm işçilere 38 gün sonra ulaşılabildi. Hiçbir madenci sağ kurtarılamadı.</a:t>
            </a:r>
          </a:p>
          <a:p>
            <a:pPr marL="0" indent="0">
              <a:buNone/>
            </a:pPr>
            <a:endParaRPr lang="tr-TR" sz="2200" dirty="0"/>
          </a:p>
        </p:txBody>
      </p:sp>
    </p:spTree>
    <p:extLst>
      <p:ext uri="{BB962C8B-B14F-4D97-AF65-F5344CB8AC3E}">
        <p14:creationId xmlns:p14="http://schemas.microsoft.com/office/powerpoint/2010/main" val="33817753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022878-D466-DCED-41EC-2E95F55C463B}"/>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B831B6F-405A-4B47-B9BB-5CA88F28584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55EFD25-A900-E518-FE2A-88D5AD3E3F07}"/>
              </a:ext>
            </a:extLst>
          </p:cNvPr>
          <p:cNvSpPr>
            <a:spLocks noGrp="1"/>
          </p:cNvSpPr>
          <p:nvPr>
            <p:ph type="title"/>
          </p:nvPr>
        </p:nvSpPr>
        <p:spPr>
          <a:xfrm>
            <a:off x="6739128" y="638089"/>
            <a:ext cx="4818888" cy="1476801"/>
          </a:xfrm>
        </p:spPr>
        <p:txBody>
          <a:bodyPr anchor="b">
            <a:normAutofit/>
          </a:bodyPr>
          <a:lstStyle/>
          <a:p>
            <a:r>
              <a:rPr lang="tr-TR" sz="3200" b="1" dirty="0">
                <a:latin typeface="Aptos gövde"/>
              </a:rPr>
              <a:t>Madencilikte yaşanan gerçek kazalar</a:t>
            </a:r>
            <a:endParaRPr lang="tr-TR" sz="3200" b="1" dirty="0"/>
          </a:p>
        </p:txBody>
      </p:sp>
      <p:pic>
        <p:nvPicPr>
          <p:cNvPr id="5" name="Resim 4">
            <a:extLst>
              <a:ext uri="{FF2B5EF4-FFF2-40B4-BE49-F238E27FC236}">
                <a16:creationId xmlns:a16="http://schemas.microsoft.com/office/drawing/2014/main" id="{B53BF38E-1234-EC6A-F8F2-10BE40B5FEA4}"/>
              </a:ext>
            </a:extLst>
          </p:cNvPr>
          <p:cNvPicPr>
            <a:picLocks noChangeAspect="1"/>
          </p:cNvPicPr>
          <p:nvPr/>
        </p:nvPicPr>
        <p:blipFill>
          <a:blip r:embed="rId2"/>
          <a:stretch>
            <a:fillRect/>
          </a:stretch>
        </p:blipFill>
        <p:spPr>
          <a:xfrm>
            <a:off x="262076" y="1405751"/>
            <a:ext cx="6214977" cy="3495925"/>
          </a:xfrm>
          <a:prstGeom prst="rect">
            <a:avLst/>
          </a:prstGeom>
        </p:spPr>
      </p:pic>
      <p:sp>
        <p:nvSpPr>
          <p:cNvPr id="26"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E6B5F856-83F3-44D4-05D7-C438387C9FA4}"/>
              </a:ext>
            </a:extLst>
          </p:cNvPr>
          <p:cNvSpPr>
            <a:spLocks noGrp="1"/>
          </p:cNvSpPr>
          <p:nvPr>
            <p:ph idx="1"/>
          </p:nvPr>
        </p:nvSpPr>
        <p:spPr>
          <a:xfrm>
            <a:off x="6739128" y="2664886"/>
            <a:ext cx="4818888" cy="3717626"/>
          </a:xfrm>
        </p:spPr>
        <p:txBody>
          <a:bodyPr anchor="t">
            <a:normAutofit/>
          </a:bodyPr>
          <a:lstStyle/>
          <a:p>
            <a:pPr marL="0" indent="0">
              <a:buNone/>
            </a:pPr>
            <a:r>
              <a:rPr lang="tr-TR" sz="1800" b="1" dirty="0">
                <a:solidFill>
                  <a:srgbClr val="C00000"/>
                </a:solidFill>
                <a:latin typeface="Aptos gövde"/>
              </a:rPr>
              <a:t>Ermenek Maden Kazası</a:t>
            </a:r>
          </a:p>
          <a:p>
            <a:pPr marL="0" indent="0">
              <a:buNone/>
            </a:pPr>
            <a:endParaRPr lang="tr-TR" sz="1800" dirty="0">
              <a:latin typeface="Aptos gövde"/>
            </a:endParaRPr>
          </a:p>
          <a:p>
            <a:pPr marL="0" indent="0">
              <a:buNone/>
            </a:pPr>
            <a:r>
              <a:rPr lang="tr-TR" sz="1800" b="1" dirty="0">
                <a:latin typeface="Aptos gövde"/>
              </a:rPr>
              <a:t>Nedenler ve Soruşturmalar</a:t>
            </a:r>
            <a:endParaRPr lang="tr-TR" sz="1800" dirty="0">
              <a:latin typeface="Aptos gövde"/>
            </a:endParaRPr>
          </a:p>
          <a:p>
            <a:pPr marL="0" indent="0">
              <a:buNone/>
            </a:pPr>
            <a:r>
              <a:rPr lang="tr-TR" sz="1800" dirty="0">
                <a:latin typeface="Aptos gövde"/>
              </a:rPr>
              <a:t>     İncelemeler, madenin yetersiz denetimlerle işletildiğini ve eski, su dolu galerilerin haritalandırılmadığını ortaya koydu. </a:t>
            </a:r>
          </a:p>
          <a:p>
            <a:pPr marL="0" indent="0">
              <a:buNone/>
            </a:pPr>
            <a:r>
              <a:rPr lang="tr-TR" sz="1800" dirty="0">
                <a:latin typeface="Aptos gövde"/>
              </a:rPr>
              <a:t>     Şirket yetkilileri hakkında “taksirle ölüme neden olma” suçlamasıyla dava açıldı. Olay, 2014’teki </a:t>
            </a:r>
            <a:r>
              <a:rPr lang="tr-TR" sz="1800" b="1" dirty="0">
                <a:latin typeface="Aptos gövde"/>
              </a:rPr>
              <a:t>Soma Maden </a:t>
            </a:r>
            <a:r>
              <a:rPr lang="tr-TR" sz="1800" b="1" dirty="0" err="1">
                <a:latin typeface="Aptos gövde"/>
              </a:rPr>
              <a:t>Faciası</a:t>
            </a:r>
            <a:r>
              <a:rPr lang="tr-TR" sz="1800" dirty="0" err="1">
                <a:latin typeface="Aptos gövde"/>
              </a:rPr>
              <a:t>’ndan</a:t>
            </a:r>
            <a:r>
              <a:rPr lang="tr-TR" sz="1800" dirty="0">
                <a:latin typeface="Aptos gövde"/>
              </a:rPr>
              <a:t> sadece birkaç ay sonra yaşanması nedeniyle kamuoyunda geniş yankı uyandırdı</a:t>
            </a:r>
            <a:r>
              <a:rPr lang="tr-TR" sz="1700" dirty="0">
                <a:latin typeface="Aptos gövde"/>
              </a:rPr>
              <a:t>.</a:t>
            </a:r>
          </a:p>
          <a:p>
            <a:pPr marL="0" indent="0">
              <a:buNone/>
            </a:pPr>
            <a:r>
              <a:rPr lang="tr-TR" sz="1700" dirty="0">
                <a:latin typeface="Aptos gövde"/>
              </a:rPr>
              <a:t>   </a:t>
            </a:r>
            <a:endParaRPr lang="tr-TR" sz="1700" dirty="0"/>
          </a:p>
        </p:txBody>
      </p:sp>
    </p:spTree>
    <p:extLst>
      <p:ext uri="{BB962C8B-B14F-4D97-AF65-F5344CB8AC3E}">
        <p14:creationId xmlns:p14="http://schemas.microsoft.com/office/powerpoint/2010/main" val="12102486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A0B968-7A50-863B-6DE7-C51B3326D628}"/>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43AA782-23D1-4521-8CAD-47662984AA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03E00DC-8B20-A26E-66F1-BFCDEF5B06DC}"/>
              </a:ext>
            </a:extLst>
          </p:cNvPr>
          <p:cNvSpPr>
            <a:spLocks noGrp="1"/>
          </p:cNvSpPr>
          <p:nvPr>
            <p:ph type="title"/>
          </p:nvPr>
        </p:nvSpPr>
        <p:spPr>
          <a:xfrm>
            <a:off x="630936" y="640080"/>
            <a:ext cx="4818888" cy="1481328"/>
          </a:xfrm>
        </p:spPr>
        <p:txBody>
          <a:bodyPr anchor="b">
            <a:normAutofit/>
          </a:bodyPr>
          <a:lstStyle/>
          <a:p>
            <a:r>
              <a:rPr lang="tr-TR" sz="3600" b="1" dirty="0">
                <a:latin typeface="Aptos gövde"/>
              </a:rPr>
              <a:t>Maden ocaklarında yerüstü işleri</a:t>
            </a:r>
            <a:endParaRPr lang="tr-TR" sz="3600" b="1" dirty="0"/>
          </a:p>
        </p:txBody>
      </p:sp>
      <p:sp>
        <p:nvSpPr>
          <p:cNvPr id="26"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E748398B-05F9-9BF7-A1ED-F01824ADD1ED}"/>
              </a:ext>
            </a:extLst>
          </p:cNvPr>
          <p:cNvSpPr>
            <a:spLocks noGrp="1"/>
          </p:cNvSpPr>
          <p:nvPr>
            <p:ph idx="1"/>
          </p:nvPr>
        </p:nvSpPr>
        <p:spPr>
          <a:xfrm>
            <a:off x="630935" y="2660904"/>
            <a:ext cx="5680217" cy="4197096"/>
          </a:xfrm>
        </p:spPr>
        <p:txBody>
          <a:bodyPr anchor="t">
            <a:normAutofit fontScale="92500" lnSpcReduction="20000"/>
          </a:bodyPr>
          <a:lstStyle/>
          <a:p>
            <a:pPr marL="0" indent="0">
              <a:buNone/>
            </a:pPr>
            <a:r>
              <a:rPr lang="tr-TR" sz="1900" dirty="0">
                <a:latin typeface="Aptos gövde"/>
              </a:rPr>
              <a:t>    Açık işletme madenciliği, dekapaj (örtü kazısı), cevher üretimi, nakliye, zenginleştirme ve idari destek faaliyetlerini kapsar. </a:t>
            </a:r>
          </a:p>
          <a:p>
            <a:pPr marL="0" indent="0">
              <a:buNone/>
            </a:pPr>
            <a:r>
              <a:rPr lang="tr-TR" sz="1900" dirty="0">
                <a:latin typeface="Aptos gövde"/>
              </a:rPr>
              <a:t>    Açık ocaklarda patlatma, kazı-yükleme, pasa sahası yönetimi ve iş güvenliği önlemleri en önemli yer üstü operasyonlarıdır. Bu faaliyetler, yeraltı madenciliğine göre daha güvenli çalışma ortamı sunar.</a:t>
            </a:r>
          </a:p>
          <a:p>
            <a:pPr marL="0" indent="0">
              <a:buNone/>
            </a:pPr>
            <a:endParaRPr lang="tr-TR" sz="1900" dirty="0">
              <a:latin typeface="Aptos gövde"/>
            </a:endParaRPr>
          </a:p>
          <a:p>
            <a:r>
              <a:rPr lang="tr-TR" sz="1900" b="1" dirty="0">
                <a:latin typeface="Aptos gövde"/>
              </a:rPr>
              <a:t>Açık İşletme Üretimi:</a:t>
            </a:r>
            <a:r>
              <a:rPr lang="tr-TR" sz="1900" dirty="0">
                <a:latin typeface="Aptos gövde"/>
              </a:rPr>
              <a:t> Cevher üzerindeki örtü tabakasının (pasa) kaldırılması ve cevherin çıkarılması.</a:t>
            </a:r>
          </a:p>
          <a:p>
            <a:r>
              <a:rPr lang="tr-TR" sz="1900" b="1" dirty="0">
                <a:latin typeface="Aptos gövde"/>
                <a:hlinkClick r:id="rId2"/>
              </a:rPr>
              <a:t>Dekapaj</a:t>
            </a:r>
            <a:r>
              <a:rPr lang="tr-TR" sz="1900" b="1" dirty="0">
                <a:latin typeface="Aptos gövde"/>
              </a:rPr>
              <a:t> Faaliyetleri:</a:t>
            </a:r>
            <a:r>
              <a:rPr lang="tr-TR" sz="1900" dirty="0">
                <a:latin typeface="Aptos gövde"/>
              </a:rPr>
              <a:t> Maden yatağı üzerindeki atık malzemenin kazılması, taşınması ve depolanması.</a:t>
            </a:r>
          </a:p>
          <a:p>
            <a:r>
              <a:rPr lang="tr-TR" sz="1900" b="1" dirty="0">
                <a:latin typeface="Aptos gövde"/>
                <a:hlinkClick r:id="rId3"/>
              </a:rPr>
              <a:t>Kazı-Yükleme</a:t>
            </a:r>
            <a:r>
              <a:rPr lang="tr-TR" sz="1900" b="1" dirty="0">
                <a:latin typeface="Aptos gövde"/>
              </a:rPr>
              <a:t> ve </a:t>
            </a:r>
            <a:r>
              <a:rPr lang="tr-TR" sz="1900" b="1" dirty="0">
                <a:latin typeface="Aptos gövde"/>
                <a:hlinkClick r:id="rId4"/>
              </a:rPr>
              <a:t>Nakliye</a:t>
            </a:r>
            <a:r>
              <a:rPr lang="tr-TR" sz="1900" b="1" dirty="0">
                <a:latin typeface="Aptos gövde"/>
              </a:rPr>
              <a:t>:</a:t>
            </a:r>
            <a:r>
              <a:rPr lang="tr-TR" sz="1900" dirty="0">
                <a:latin typeface="Aptos gövde"/>
              </a:rPr>
              <a:t> Ekskavatörler, iş makineleri ve kamyonlar kullanılarak cevherin cevher hazırlama tesislerine nakliyesi.</a:t>
            </a:r>
          </a:p>
          <a:p>
            <a:pPr marL="0" indent="0">
              <a:buNone/>
            </a:pPr>
            <a:endParaRPr lang="tr-TR" sz="1400" dirty="0"/>
          </a:p>
        </p:txBody>
      </p:sp>
      <p:pic>
        <p:nvPicPr>
          <p:cNvPr id="5" name="Resim 4">
            <a:extLst>
              <a:ext uri="{FF2B5EF4-FFF2-40B4-BE49-F238E27FC236}">
                <a16:creationId xmlns:a16="http://schemas.microsoft.com/office/drawing/2014/main" id="{102835EF-C61D-CBEB-F8CA-816F8CC86EE2}"/>
              </a:ext>
            </a:extLst>
          </p:cNvPr>
          <p:cNvPicPr>
            <a:picLocks noChangeAspect="1"/>
          </p:cNvPicPr>
          <p:nvPr/>
        </p:nvPicPr>
        <p:blipFill>
          <a:blip r:embed="rId5"/>
          <a:stretch>
            <a:fillRect/>
          </a:stretch>
        </p:blipFill>
        <p:spPr>
          <a:xfrm>
            <a:off x="6528834" y="1596062"/>
            <a:ext cx="5029181" cy="3377260"/>
          </a:xfrm>
          <a:prstGeom prst="rect">
            <a:avLst/>
          </a:prstGeom>
        </p:spPr>
      </p:pic>
    </p:spTree>
    <p:extLst>
      <p:ext uri="{BB962C8B-B14F-4D97-AF65-F5344CB8AC3E}">
        <p14:creationId xmlns:p14="http://schemas.microsoft.com/office/powerpoint/2010/main" val="10417214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FFF58A-31A4-D4D1-33DD-2568C58C861B}"/>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7B48BF1-B280-BB20-54FF-17A828C6FD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6B7C4B9-746D-7C0B-FB9A-3A1EA57C1346}"/>
              </a:ext>
            </a:extLst>
          </p:cNvPr>
          <p:cNvSpPr>
            <a:spLocks noGrp="1"/>
          </p:cNvSpPr>
          <p:nvPr>
            <p:ph type="title"/>
          </p:nvPr>
        </p:nvSpPr>
        <p:spPr>
          <a:xfrm>
            <a:off x="572493" y="238539"/>
            <a:ext cx="11018520" cy="998369"/>
          </a:xfrm>
        </p:spPr>
        <p:txBody>
          <a:bodyPr anchor="b">
            <a:normAutofit/>
          </a:bodyPr>
          <a:lstStyle/>
          <a:p>
            <a:r>
              <a:rPr lang="tr-TR" sz="3600" b="1" dirty="0">
                <a:latin typeface="Aptos gövde"/>
              </a:rPr>
              <a:t>Maden ocaklarında yerüstü işleri</a:t>
            </a:r>
            <a:endParaRPr lang="tr-TR" sz="3600" b="1" dirty="0"/>
          </a:p>
        </p:txBody>
      </p:sp>
      <p:sp>
        <p:nvSpPr>
          <p:cNvPr id="19" name="sketchy line">
            <a:extLst>
              <a:ext uri="{FF2B5EF4-FFF2-40B4-BE49-F238E27FC236}">
                <a16:creationId xmlns:a16="http://schemas.microsoft.com/office/drawing/2014/main" id="{532F0C38-7BEE-06FE-87A5-4B2B330AB6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941AE808-F474-287F-E3A9-D7FADBEE541B}"/>
              </a:ext>
            </a:extLst>
          </p:cNvPr>
          <p:cNvSpPr>
            <a:spLocks noGrp="1"/>
          </p:cNvSpPr>
          <p:nvPr>
            <p:ph idx="1"/>
          </p:nvPr>
        </p:nvSpPr>
        <p:spPr>
          <a:xfrm>
            <a:off x="572492" y="2071316"/>
            <a:ext cx="10628907" cy="4119172"/>
          </a:xfrm>
        </p:spPr>
        <p:txBody>
          <a:bodyPr anchor="t">
            <a:normAutofit lnSpcReduction="10000"/>
          </a:bodyPr>
          <a:lstStyle/>
          <a:p>
            <a:pPr marL="0" indent="0">
              <a:buNone/>
            </a:pPr>
            <a:r>
              <a:rPr lang="tr-TR" sz="2200" b="1" dirty="0">
                <a:solidFill>
                  <a:srgbClr val="C00000"/>
                </a:solidFill>
                <a:latin typeface="Aptos gövde"/>
              </a:rPr>
              <a:t>Mermer ocakları</a:t>
            </a:r>
            <a:endParaRPr lang="tr-TR" sz="2200" dirty="0">
              <a:solidFill>
                <a:srgbClr val="C00000"/>
              </a:solidFill>
              <a:latin typeface="Aptos gövde"/>
            </a:endParaRPr>
          </a:p>
          <a:p>
            <a:pPr marL="0" indent="0">
              <a:buNone/>
            </a:pPr>
            <a:r>
              <a:rPr lang="tr-TR" sz="2200" dirty="0">
                <a:solidFill>
                  <a:srgbClr val="C00000"/>
                </a:solidFill>
                <a:latin typeface="Aptos gövde"/>
              </a:rPr>
              <a:t>   </a:t>
            </a:r>
            <a:r>
              <a:rPr lang="tr-TR" sz="2000" dirty="0">
                <a:latin typeface="Aptos gövde"/>
              </a:rPr>
              <a:t>Maden işletmeleri içinde mermer ocakları, hem ekonomik hem de endüstriyel açıdan oldukça önemli bir yere sahiptir. Özellikle Türkiye gibi doğal taş rezervleri bakımından zengin ülkelerde bu önem daha da artmaktadır.</a:t>
            </a:r>
          </a:p>
          <a:p>
            <a:pPr marL="0" indent="0">
              <a:buNone/>
            </a:pPr>
            <a:r>
              <a:rPr lang="tr-TR" sz="2000" dirty="0"/>
              <a:t>  Mermer ocakları, metalik madenlerden farklı olarak </a:t>
            </a:r>
            <a:r>
              <a:rPr lang="tr-TR" sz="2000" b="1" dirty="0"/>
              <a:t>blok üretimi</a:t>
            </a:r>
            <a:r>
              <a:rPr lang="tr-TR" sz="2000" dirty="0"/>
              <a:t> esasına dayanır.</a:t>
            </a:r>
          </a:p>
          <a:p>
            <a:pPr marL="0" indent="0">
              <a:buNone/>
            </a:pPr>
            <a:r>
              <a:rPr lang="tr-TR" sz="2000" dirty="0"/>
              <a:t>  Çevresel etkiler (toz, gürültü, peyzaj bozulması) dikkatle yönetilmelidir.</a:t>
            </a:r>
          </a:p>
          <a:p>
            <a:pPr marL="0" indent="0">
              <a:buNone/>
            </a:pPr>
            <a:r>
              <a:rPr lang="tr-TR" sz="2000" dirty="0">
                <a:latin typeface="Aptos gövde"/>
              </a:rPr>
              <a:t>  </a:t>
            </a:r>
          </a:p>
          <a:p>
            <a:pPr marL="0" indent="0">
              <a:buNone/>
            </a:pPr>
            <a:r>
              <a:rPr lang="tr-TR" sz="2000" dirty="0">
                <a:solidFill>
                  <a:srgbClr val="C00000"/>
                </a:solidFill>
                <a:latin typeface="Aptos gövde"/>
              </a:rPr>
              <a:t> </a:t>
            </a:r>
            <a:r>
              <a:rPr lang="tr-TR" sz="2000" b="1" dirty="0">
                <a:latin typeface="Aptos gövde"/>
              </a:rPr>
              <a:t>Tehlike:</a:t>
            </a:r>
          </a:p>
          <a:p>
            <a:pPr>
              <a:buFont typeface="Wingdings" panose="05000000000000000000" pitchFamily="2" charset="2"/>
              <a:buChar char="Ø"/>
            </a:pPr>
            <a:r>
              <a:rPr lang="tr-TR" sz="2000" dirty="0">
                <a:latin typeface="Aptos gövde"/>
              </a:rPr>
              <a:t>Büyük mermer bloklarının kesim sırasında devrilmesi </a:t>
            </a:r>
          </a:p>
          <a:p>
            <a:pPr>
              <a:buFont typeface="Wingdings" panose="05000000000000000000" pitchFamily="2" charset="2"/>
              <a:buChar char="Ø"/>
            </a:pPr>
            <a:r>
              <a:rPr lang="tr-TR" sz="2000" dirty="0">
                <a:latin typeface="Aptos gövde"/>
              </a:rPr>
              <a:t>Şev stabilitesinin bozulması sonucu kaya düşmesi </a:t>
            </a:r>
          </a:p>
          <a:p>
            <a:pPr marL="0" indent="0">
              <a:buNone/>
            </a:pPr>
            <a:r>
              <a:rPr lang="tr-TR" sz="2000" dirty="0">
                <a:solidFill>
                  <a:srgbClr val="C00000"/>
                </a:solidFill>
                <a:latin typeface="Aptos gövde"/>
              </a:rPr>
              <a:t>  </a:t>
            </a:r>
          </a:p>
          <a:p>
            <a:pPr marL="0" indent="0">
              <a:buNone/>
            </a:pPr>
            <a:endParaRPr lang="tr-TR" sz="2200" dirty="0"/>
          </a:p>
        </p:txBody>
      </p:sp>
    </p:spTree>
    <p:extLst>
      <p:ext uri="{BB962C8B-B14F-4D97-AF65-F5344CB8AC3E}">
        <p14:creationId xmlns:p14="http://schemas.microsoft.com/office/powerpoint/2010/main" val="4888217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DC0C55-1C77-AD32-ECE1-85505EB64FCB}"/>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FDB0461-6E7D-9DC7-75A3-6D816244276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05CA08D-6CFE-8DFC-2808-8E334B54CE81}"/>
              </a:ext>
            </a:extLst>
          </p:cNvPr>
          <p:cNvSpPr>
            <a:spLocks noGrp="1"/>
          </p:cNvSpPr>
          <p:nvPr>
            <p:ph type="title"/>
          </p:nvPr>
        </p:nvSpPr>
        <p:spPr>
          <a:xfrm>
            <a:off x="572493" y="238539"/>
            <a:ext cx="11018520" cy="998369"/>
          </a:xfrm>
        </p:spPr>
        <p:txBody>
          <a:bodyPr anchor="b">
            <a:normAutofit/>
          </a:bodyPr>
          <a:lstStyle/>
          <a:p>
            <a:r>
              <a:rPr lang="tr-TR" sz="3600" b="1" dirty="0">
                <a:latin typeface="Aptos gövde"/>
              </a:rPr>
              <a:t>Maden ocaklarında yerüstü işleri</a:t>
            </a:r>
            <a:endParaRPr lang="tr-TR" sz="3600" b="1" dirty="0"/>
          </a:p>
        </p:txBody>
      </p:sp>
      <p:sp>
        <p:nvSpPr>
          <p:cNvPr id="19" name="sketchy line">
            <a:extLst>
              <a:ext uri="{FF2B5EF4-FFF2-40B4-BE49-F238E27FC236}">
                <a16:creationId xmlns:a16="http://schemas.microsoft.com/office/drawing/2014/main" id="{A2C4E663-8D10-E154-6F78-6E421DF4C10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96A1D324-7D0B-7593-94F5-6AACF273F95B}"/>
              </a:ext>
            </a:extLst>
          </p:cNvPr>
          <p:cNvSpPr>
            <a:spLocks noGrp="1"/>
          </p:cNvSpPr>
          <p:nvPr>
            <p:ph idx="1"/>
          </p:nvPr>
        </p:nvSpPr>
        <p:spPr>
          <a:xfrm>
            <a:off x="572492" y="2071316"/>
            <a:ext cx="10628907" cy="4119172"/>
          </a:xfrm>
        </p:spPr>
        <p:txBody>
          <a:bodyPr anchor="t">
            <a:normAutofit/>
          </a:bodyPr>
          <a:lstStyle/>
          <a:p>
            <a:pPr marL="0" indent="0">
              <a:buNone/>
            </a:pPr>
            <a:r>
              <a:rPr lang="tr-TR" sz="2200" b="1" dirty="0">
                <a:solidFill>
                  <a:srgbClr val="C00000"/>
                </a:solidFill>
                <a:latin typeface="Aptos gövde"/>
              </a:rPr>
              <a:t>Mermer ocakları</a:t>
            </a:r>
            <a:endParaRPr lang="tr-TR" sz="2200" dirty="0">
              <a:solidFill>
                <a:srgbClr val="C00000"/>
              </a:solidFill>
              <a:latin typeface="Aptos gövde"/>
            </a:endParaRPr>
          </a:p>
          <a:p>
            <a:pPr marL="0" indent="0">
              <a:buNone/>
            </a:pPr>
            <a:r>
              <a:rPr lang="tr-TR" sz="2000" b="1" dirty="0">
                <a:latin typeface="Aptos gövde"/>
              </a:rPr>
              <a:t>Önlemler:</a:t>
            </a:r>
          </a:p>
          <a:p>
            <a:pPr>
              <a:buFont typeface="Wingdings" panose="05000000000000000000" pitchFamily="2" charset="2"/>
              <a:buChar char="Ø"/>
            </a:pPr>
            <a:r>
              <a:rPr lang="tr-TR" sz="2000" dirty="0">
                <a:latin typeface="Aptos gövde"/>
              </a:rPr>
              <a:t>Şev açıları mühendislik hesaplarına göre belirlenmeli </a:t>
            </a:r>
          </a:p>
          <a:p>
            <a:pPr marL="0" indent="0">
              <a:buNone/>
            </a:pPr>
            <a:r>
              <a:rPr lang="tr-TR" sz="2000" dirty="0">
                <a:latin typeface="Aptos gövde"/>
              </a:rPr>
              <a:t>    güvenli şev açısı; sert zeminlerde                                     60 derece</a:t>
            </a:r>
          </a:p>
          <a:p>
            <a:pPr marL="0" indent="0">
              <a:buNone/>
            </a:pPr>
            <a:r>
              <a:rPr lang="tr-TR" sz="2000" dirty="0">
                <a:latin typeface="Aptos gövde"/>
              </a:rPr>
              <a:t>                                   yumuşak, kum, dolgu zeminlerde     45 derece</a:t>
            </a:r>
          </a:p>
          <a:p>
            <a:pPr marL="0" indent="0">
              <a:buNone/>
            </a:pPr>
            <a:r>
              <a:rPr lang="tr-TR" sz="2000" dirty="0">
                <a:latin typeface="Aptos gövde"/>
              </a:rPr>
              <a:t>                                   kaygan ve sulu zeminlerde                 30 derece</a:t>
            </a:r>
          </a:p>
          <a:p>
            <a:pPr>
              <a:buFont typeface="Wingdings" panose="05000000000000000000" pitchFamily="2" charset="2"/>
              <a:buChar char="Ø"/>
            </a:pPr>
            <a:r>
              <a:rPr lang="tr-TR" sz="2000" dirty="0">
                <a:latin typeface="Aptos gövde"/>
              </a:rPr>
              <a:t>Blok kesimi kontrollü yapılmalı </a:t>
            </a:r>
          </a:p>
          <a:p>
            <a:pPr>
              <a:buFont typeface="Wingdings" panose="05000000000000000000" pitchFamily="2" charset="2"/>
              <a:buChar char="Ø"/>
            </a:pPr>
            <a:r>
              <a:rPr lang="tr-TR" sz="2000" dirty="0">
                <a:latin typeface="Aptos gövde"/>
              </a:rPr>
              <a:t>Tehlikeli alanlar işaretlenmeli ve izinsiz giriş engellenmeli </a:t>
            </a:r>
          </a:p>
          <a:p>
            <a:pPr>
              <a:buFont typeface="Wingdings" panose="05000000000000000000" pitchFamily="2" charset="2"/>
              <a:buChar char="Ø"/>
            </a:pPr>
            <a:r>
              <a:rPr lang="tr-TR" sz="2000" dirty="0">
                <a:latin typeface="Aptos gövde"/>
              </a:rPr>
              <a:t>İşçilere güvenli mesafe kuralı öğretilmeli</a:t>
            </a:r>
          </a:p>
          <a:p>
            <a:pPr marL="0" indent="0">
              <a:buNone/>
            </a:pPr>
            <a:r>
              <a:rPr lang="tr-TR" sz="2000" dirty="0">
                <a:solidFill>
                  <a:srgbClr val="C00000"/>
                </a:solidFill>
                <a:latin typeface="Aptos gövde"/>
              </a:rPr>
              <a:t>  </a:t>
            </a:r>
          </a:p>
          <a:p>
            <a:pPr marL="0" indent="0">
              <a:buNone/>
            </a:pPr>
            <a:endParaRPr lang="tr-TR" sz="2200" dirty="0"/>
          </a:p>
        </p:txBody>
      </p:sp>
      <p:pic>
        <p:nvPicPr>
          <p:cNvPr id="5" name="Resim 4">
            <a:extLst>
              <a:ext uri="{FF2B5EF4-FFF2-40B4-BE49-F238E27FC236}">
                <a16:creationId xmlns:a16="http://schemas.microsoft.com/office/drawing/2014/main" id="{B01DCAF1-FAE1-C47F-36F1-A76AA3368917}"/>
              </a:ext>
            </a:extLst>
          </p:cNvPr>
          <p:cNvPicPr>
            <a:picLocks noChangeAspect="1"/>
          </p:cNvPicPr>
          <p:nvPr/>
        </p:nvPicPr>
        <p:blipFill>
          <a:blip r:embed="rId2"/>
          <a:stretch>
            <a:fillRect/>
          </a:stretch>
        </p:blipFill>
        <p:spPr>
          <a:xfrm>
            <a:off x="8239124" y="2071315"/>
            <a:ext cx="3667453" cy="2418393"/>
          </a:xfrm>
          <a:prstGeom prst="rect">
            <a:avLst/>
          </a:prstGeom>
        </p:spPr>
      </p:pic>
      <p:pic>
        <p:nvPicPr>
          <p:cNvPr id="7" name="Resim 6">
            <a:extLst>
              <a:ext uri="{FF2B5EF4-FFF2-40B4-BE49-F238E27FC236}">
                <a16:creationId xmlns:a16="http://schemas.microsoft.com/office/drawing/2014/main" id="{F1FA1806-C6D3-7EF1-70CD-35481B748220}"/>
              </a:ext>
            </a:extLst>
          </p:cNvPr>
          <p:cNvPicPr>
            <a:picLocks noChangeAspect="1"/>
          </p:cNvPicPr>
          <p:nvPr/>
        </p:nvPicPr>
        <p:blipFill>
          <a:blip r:embed="rId3"/>
          <a:stretch>
            <a:fillRect/>
          </a:stretch>
        </p:blipFill>
        <p:spPr>
          <a:xfrm>
            <a:off x="8096250" y="4952633"/>
            <a:ext cx="3920451" cy="1608390"/>
          </a:xfrm>
          <a:prstGeom prst="rect">
            <a:avLst/>
          </a:prstGeom>
        </p:spPr>
      </p:pic>
    </p:spTree>
    <p:extLst>
      <p:ext uri="{BB962C8B-B14F-4D97-AF65-F5344CB8AC3E}">
        <p14:creationId xmlns:p14="http://schemas.microsoft.com/office/powerpoint/2010/main" val="2538066555"/>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0818CC8165543A49BD1880865BADD712" ma:contentTypeVersion="7" ma:contentTypeDescription="Yeni belge oluşturun." ma:contentTypeScope="" ma:versionID="448c65ada3b952ea0be358190b5a4f49">
  <xsd:schema xmlns:xsd="http://www.w3.org/2001/XMLSchema" xmlns:xs="http://www.w3.org/2001/XMLSchema" xmlns:p="http://schemas.microsoft.com/office/2006/metadata/properties" xmlns:ns2="90eab9c6-ff60-475d-abbe-26ad8f7ce76f" targetNamespace="http://schemas.microsoft.com/office/2006/metadata/properties" ma:root="true" ma:fieldsID="763dc2b26188336c17a8e338b10ef707" ns2:_="">
    <xsd:import namespace="90eab9c6-ff60-475d-abbe-26ad8f7ce76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eab9c6-ff60-475d-abbe-26ad8f7ce7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261CC25-C3A3-4377-AA57-97AE03E038AD}"/>
</file>

<file path=customXml/itemProps2.xml><?xml version="1.0" encoding="utf-8"?>
<ds:datastoreItem xmlns:ds="http://schemas.openxmlformats.org/officeDocument/2006/customXml" ds:itemID="{82E875AE-8847-4DC5-ABAE-ADCBA8A7D2FC}"/>
</file>

<file path=customXml/itemProps3.xml><?xml version="1.0" encoding="utf-8"?>
<ds:datastoreItem xmlns:ds="http://schemas.openxmlformats.org/officeDocument/2006/customXml" ds:itemID="{32A6D4A9-092D-455A-9532-2D7939F023B8}"/>
</file>

<file path=docProps/app.xml><?xml version="1.0" encoding="utf-8"?>
<Properties xmlns="http://schemas.openxmlformats.org/officeDocument/2006/extended-properties" xmlns:vt="http://schemas.openxmlformats.org/officeDocument/2006/docPropsVTypes">
  <TotalTime>1782</TotalTime>
  <Words>5270</Words>
  <Application>Microsoft Office PowerPoint</Application>
  <PresentationFormat>Geniş ekran</PresentationFormat>
  <Paragraphs>590</Paragraphs>
  <Slides>58</Slides>
  <Notes>10</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58</vt:i4>
      </vt:variant>
    </vt:vector>
  </HeadingPairs>
  <TitlesOfParts>
    <vt:vector size="66" baseType="lpstr">
      <vt:lpstr>Aptos gövde</vt:lpstr>
      <vt:lpstr>Arial</vt:lpstr>
      <vt:lpstr>Calibri</vt:lpstr>
      <vt:lpstr>Calibri Light</vt:lpstr>
      <vt:lpstr>MS Mincho</vt:lpstr>
      <vt:lpstr>Times New Roman</vt:lpstr>
      <vt:lpstr>Wingdings</vt:lpstr>
      <vt:lpstr>Office Teması</vt:lpstr>
      <vt:lpstr>PowerPoint Sunusu</vt:lpstr>
      <vt:lpstr>Maden İşlerinde İSG</vt:lpstr>
      <vt:lpstr>Madencilik nedir?</vt:lpstr>
      <vt:lpstr>Madenlerde en sık görülen tehlikeler</vt:lpstr>
      <vt:lpstr>Maden işlerinde İSG neden önemli ?</vt:lpstr>
      <vt:lpstr>Maden işlerinde İSG neden önemli ?</vt:lpstr>
      <vt:lpstr>Maden işleri İSG neden önemli ?</vt:lpstr>
      <vt:lpstr> İSG mevzuatı ve hukuki sorumluluklar </vt:lpstr>
      <vt:lpstr> İSG mevzuatı ve hukuki sorumluluklar </vt:lpstr>
      <vt:lpstr> İSG mevzuatı ve hukuki sorumluluklar </vt:lpstr>
      <vt:lpstr> İSG mevzuatı ve hukuki sorumluluklar </vt:lpstr>
      <vt:lpstr> İSG mevzuatı ve hukuki sorumluluklar </vt:lpstr>
      <vt:lpstr> İSG mevzuatı ve hukuki sorumluluklar </vt:lpstr>
      <vt:lpstr> İSG mevzuatı ve hukuki sorumluluklar </vt:lpstr>
      <vt:lpstr> Maden Ocakları </vt:lpstr>
      <vt:lpstr>Maden ocaklarında yeraltı işleri</vt:lpstr>
      <vt:lpstr>Maden ocaklarında yeraltı işleri</vt:lpstr>
      <vt:lpstr>PowerPoint Sunusu</vt:lpstr>
      <vt:lpstr>PowerPoint Sunusu</vt:lpstr>
      <vt:lpstr>Maden ocaklarında yeraltı işleri</vt:lpstr>
      <vt:lpstr>Maden ocaklarında yeraltı işleri</vt:lpstr>
      <vt:lpstr>Maden ocaklarında yeraltı işleri</vt:lpstr>
      <vt:lpstr>Maden ocaklarında yeraltı işleri</vt:lpstr>
      <vt:lpstr>Maden ocaklarında yeraltı işleri</vt:lpstr>
      <vt:lpstr>Maden ocaklarında yeraltı işleri</vt:lpstr>
      <vt:lpstr>PowerPoint Sunusu</vt:lpstr>
      <vt:lpstr>Maden ocaklarında yeraltı işleri</vt:lpstr>
      <vt:lpstr>Maden ocaklarında yeraltı işleri</vt:lpstr>
      <vt:lpstr>Maden ocaklarında yeraltı işleri</vt:lpstr>
      <vt:lpstr>Maden ocaklarında yeraltı işleri</vt:lpstr>
      <vt:lpstr>Maden ocaklarında yeraltı işleri</vt:lpstr>
      <vt:lpstr>Maden ocaklarında yeraltı işleri</vt:lpstr>
      <vt:lpstr>PowerPoint Sunusu</vt:lpstr>
      <vt:lpstr>Maden ocaklarında yeraltı işleri</vt:lpstr>
      <vt:lpstr>Maden ocaklarında yeraltı işleri</vt:lpstr>
      <vt:lpstr>Maden ocaklarında yeraltı işleri</vt:lpstr>
      <vt:lpstr>PowerPoint Sunusu</vt:lpstr>
      <vt:lpstr> Maden ocaklarında yeraltı işleri </vt:lpstr>
      <vt:lpstr> Maden ocaklarında yeraltı işleri </vt:lpstr>
      <vt:lpstr> Maden ocaklarında yeraltı işleri </vt:lpstr>
      <vt:lpstr> Maden ocaklarında yeraltı işleri </vt:lpstr>
      <vt:lpstr> Maden ocaklarında yeraltı işleri </vt:lpstr>
      <vt:lpstr> Maden ocaklarında yeraltı işleri </vt:lpstr>
      <vt:lpstr> Maden ocaklarında yeraltı işleri </vt:lpstr>
      <vt:lpstr> Maden ocaklarında yeraltı işleri </vt:lpstr>
      <vt:lpstr> Maden ocaklarında yeraltı işleri </vt:lpstr>
      <vt:lpstr> Maden ocaklarında yeraltı işleri </vt:lpstr>
      <vt:lpstr>Madencilikte yaşanan gerçek kazalar</vt:lpstr>
      <vt:lpstr>Madencilikte yaşanan gerçek kazalar</vt:lpstr>
      <vt:lpstr>Madencilikte yaşanan gerçek kazalar</vt:lpstr>
      <vt:lpstr>Madencilikte yaşanan gerçek kazalar</vt:lpstr>
      <vt:lpstr>Madencilikte yaşanan gerçek kazalar</vt:lpstr>
      <vt:lpstr>Madencilikte yaşanan gerçek kazalar</vt:lpstr>
      <vt:lpstr>Madencilikte yaşanan gerçek kazalar</vt:lpstr>
      <vt:lpstr>Madencilikte yaşanan gerçek kazalar</vt:lpstr>
      <vt:lpstr>Maden ocaklarında yerüstü işleri</vt:lpstr>
      <vt:lpstr>Maden ocaklarında yerüstü işleri</vt:lpstr>
      <vt:lpstr>Maden ocaklarında yerüstü işleri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Beyza samuk</dc:creator>
  <cp:lastModifiedBy>Beyza samuk</cp:lastModifiedBy>
  <cp:revision>84</cp:revision>
  <dcterms:created xsi:type="dcterms:W3CDTF">2026-03-26T09:23:00Z</dcterms:created>
  <dcterms:modified xsi:type="dcterms:W3CDTF">2026-05-05T10:27:11Z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0x0101000818CC8165543A49BD1880865BADD712</vt:lpwstr>
  </property>
</Properties>
</file>