
<file path=[Content_Types].xml><?xml version="1.0" encoding="utf-8"?>
<Types xmlns="http://schemas.openxmlformats.org/package/2006/content-types">
  <Override PartName="/ppt/slides/slide29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36.xml" ContentType="application/vnd.openxmlformats-officedocument.presentationml.slide+xml"/>
  <Override PartName="/ppt/slideLayouts/slideLayout6.xml" ContentType="application/vnd.openxmlformats-officedocument.presentationml.slideLayout+xml"/>
  <Override PartName="/ppt/tags/tag4.xml" ContentType="application/vnd.openxmlformats-officedocument.presentationml.tags+xml"/>
  <Override PartName="/ppt/notesSlides/notesSlide38.xml" ContentType="application/vnd.openxmlformats-officedocument.presentationml.notes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27.xml" ContentType="application/vnd.openxmlformats-officedocument.presentationml.notesSlide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4.xml" ContentType="application/vnd.openxmlformats-officedocument.presentationml.notes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4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tags/tag5.xml" ContentType="application/vnd.openxmlformats-officedocument.presentationml.tags+xml"/>
  <Override PartName="/ppt/notesSlides/notesSlide3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tags/tag3.xml" ContentType="application/vnd.openxmlformats-officedocument.presentationml.tags+xml"/>
  <Override PartName="/ppt/notesSlides/notesSlide1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7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Layouts/slideLayout1.xml" ContentType="application/vnd.openxmlformats-officedocument.presentationml.slideLayout+xml"/>
  <Override PartName="/ppt/tags/tag1.xml" ContentType="application/vnd.openxmlformats-officedocument.presentationml.tags+xml"/>
  <Override PartName="/ppt/notesSlides/notesSlide15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5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notesSlides/notesSlide13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3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6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s/slide38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notesSlides/notesSlide29.xml" ContentType="application/vnd.openxmlformats-officedocument.presentationml.notesSlid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34.xml" ContentType="application/vnd.openxmlformats-officedocument.presentationml.slide+xml"/>
  <Override PartName="/ppt/tags/tag2.xml" ContentType="application/vnd.openxmlformats-officedocument.presentationml.tags+xml"/>
  <Override PartName="/ppt/notesSlides/notesSlide18.xml" ContentType="application/vnd.openxmlformats-officedocument.presentationml.notesSlide+xml"/>
  <Override PartName="/ppt/notesSlides/notesSlide36.xml" ContentType="application/vnd.openxmlformats-officedocument.presentationml.notesSlide+xml"/>
  <Default Extension="wmf" ContentType="image/x-wmf"/>
  <Default Extension="rels" ContentType="application/vnd.openxmlformats-package.relationship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4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75" d="100"/>
          <a:sy n="75" d="100"/>
        </p:scale>
        <p:origin x="-366" y="21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92FAD0AB-26A1-491A-9E59-EED6B81177AA}" type="datetimeFigureOut">
              <a:rPr lang="en-US"/>
              <a:pPr>
                <a:defRPr/>
              </a:pPr>
              <a:t>5/8/2012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2135367A-D980-4089-A393-507C0BF9D3E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5362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56324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1E803502-5121-4FE0-B8A8-A9257325AD77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</a:t>
            </a:fld>
            <a:endParaRPr lang="en-US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7410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57348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780DABBD-DC4D-42EE-B8DA-3881D25F3B74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</a:t>
            </a:fld>
            <a:endParaRPr lang="en-CA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9458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58372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2687F113-A1FA-43D6-93FF-06CA5EB77A28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3</a:t>
            </a:fld>
            <a:endParaRPr lang="en-CA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150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59396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CD5A01C2-2DF1-4422-A652-7B6A403043BC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4</a:t>
            </a:fld>
            <a:endParaRPr lang="en-CA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355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60420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5CAC11A2-95B9-4E22-8315-CFB46116F2D5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5</a:t>
            </a:fld>
            <a:endParaRPr lang="en-CA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5602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61444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0865AC8C-9F02-4D0A-982C-251A0EF507B8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6</a:t>
            </a:fld>
            <a:endParaRPr lang="en-CA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7650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62468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1206B6A4-7C4B-4092-806A-EAAB3DAEC470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7</a:t>
            </a:fld>
            <a:endParaRPr lang="en-CA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9698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63492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19AA73A1-7A8F-4B9F-A90E-8FD09BC5CE4A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8</a:t>
            </a:fld>
            <a:endParaRPr lang="en-CA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174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64516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77934129-1129-4939-B1D0-CA84335165C8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9</a:t>
            </a:fld>
            <a:endParaRPr lang="en-CA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379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65540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9ECAA529-6CA5-481D-B57C-C39AB461DC0B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10</a:t>
            </a:fld>
            <a:endParaRPr lang="en-CA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5842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66564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7CB5B79D-8EC0-4F84-ABE9-60F3F45DE4E6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11</a:t>
            </a:fld>
            <a:endParaRPr lang="en-CA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7890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67588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B363FA96-56A0-4715-A755-C8B5BB74B371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12</a:t>
            </a:fld>
            <a:endParaRPr lang="en-CA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9938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68612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F01A3B04-CD57-4F70-A2D5-CA852E874DF8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13</a:t>
            </a:fld>
            <a:endParaRPr lang="en-CA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19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69636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DAFD5919-D210-46F8-BD85-B6A0E2CE91A0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14</a:t>
            </a:fld>
            <a:endParaRPr lang="en-CA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40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70660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06540543-1E7B-4ED6-95EF-887ED8A5D260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15</a:t>
            </a:fld>
            <a:endParaRPr lang="en-CA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6082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71684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4BE02A3D-5636-48C7-8D73-8314F2349785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16</a:t>
            </a:fld>
            <a:endParaRPr lang="en-CA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8130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72708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4D933FED-2BFF-4A36-BB9E-2B675A75673D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17</a:t>
            </a:fld>
            <a:endParaRPr lang="en-CA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0178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73732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C9648F28-FEF9-4C52-BF9F-FD9AAB68CAE4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18</a:t>
            </a:fld>
            <a:endParaRPr lang="en-CA" smtClean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222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74756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BAF12277-EB9F-4EB8-80E6-5E1C7018CC2F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19</a:t>
            </a:fld>
            <a:endParaRPr lang="en-CA" smtClean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427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75780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DBCA5EE9-4ED1-4877-B061-0522AF3602BE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20</a:t>
            </a:fld>
            <a:endParaRPr lang="en-CA" smtClean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2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76804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1DDD438C-A08D-42CC-AD11-DE4F028024C8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21</a:t>
            </a:fld>
            <a:endParaRPr lang="en-CA" smtClean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8370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77828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6B234A29-1BBC-45B8-A443-A8DF51C95500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22</a:t>
            </a:fld>
            <a:endParaRPr lang="en-CA" smtClean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7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0418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78852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73EE0672-91BC-4033-8E22-354674147CAB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23</a:t>
            </a:fld>
            <a:endParaRPr lang="en-CA" smtClean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5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246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79876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6F0E5AFE-AB3B-4614-8F02-CC5F24F74455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24</a:t>
            </a:fld>
            <a:endParaRPr lang="en-CA" smtClean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3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80900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DC3EF85C-8DC9-4157-A64F-F3FE65D9C930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25</a:t>
            </a:fld>
            <a:endParaRPr lang="en-CA" smtClean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1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6562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81924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22BF8005-EC25-4B3A-B613-EDFCA40207A4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26</a:t>
            </a:fld>
            <a:endParaRPr lang="en-CA" smtClean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09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8610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82948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4FBE71E3-8C1F-405E-9C38-F77DBC836C02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27</a:t>
            </a:fld>
            <a:endParaRPr lang="en-CA" smtClean="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7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0658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83972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9F6DFCE6-2F9C-41D1-B0BD-E5BF36437B9B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28</a:t>
            </a:fld>
            <a:endParaRPr lang="en-CA" smtClean="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5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270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84996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C4C32903-1783-48FE-8DFD-CAE5DB39B2C2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29</a:t>
            </a:fld>
            <a:endParaRPr lang="en-CA" smtClean="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3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475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86020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768FEE40-E8D3-40B2-969D-9DB6B6E9167A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30</a:t>
            </a:fld>
            <a:endParaRPr lang="en-CA" smtClean="0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1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6802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87044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71A2C782-1C1B-4EFB-AC33-953218D05138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31</a:t>
            </a:fld>
            <a:endParaRPr lang="en-CA" smtClean="0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49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8850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88068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F2F18A50-D6A6-48C6-A221-6F5F40441D1E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32</a:t>
            </a:fld>
            <a:endParaRPr lang="en-CA" smtClean="0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7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0898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89092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47B1D2AE-9B2F-4459-9A69-B1FE004CB21F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33</a:t>
            </a:fld>
            <a:endParaRPr lang="en-CA" smtClean="0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5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294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90116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1DD6BC92-32B7-4A54-8202-259F8B842FBA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34</a:t>
            </a:fld>
            <a:endParaRPr lang="en-CA" smtClean="0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3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499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91140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87D7B54B-B82D-404C-8936-1693DE1AAC44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35</a:t>
            </a:fld>
            <a:endParaRPr lang="en-CA" smtClean="0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1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7042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92164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A87104DE-4E63-48B1-A831-79237FEA75AC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36</a:t>
            </a:fld>
            <a:endParaRPr lang="en-CA" smtClean="0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89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9090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93188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16BB5D5D-8C3C-43F8-A7C4-D7C4055564B3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37</a:t>
            </a:fld>
            <a:endParaRPr lang="en-CA" smtClean="0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7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1138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94212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C3B9899E-7978-474B-B9C2-91173E9C841D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38</a:t>
            </a:fld>
            <a:endParaRPr lang="en-CA" smtClean="0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5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31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95236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D44E10B0-E6D0-4C5C-8104-EB574F61224B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39</a:t>
            </a:fld>
            <a:endParaRPr lang="en-CA" smtClean="0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3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52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96260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04E3333A-12D3-4781-A7E2-7470FCBF0605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40</a:t>
            </a:fld>
            <a:endParaRPr lang="en-CA" smtClean="0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1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7282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97284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C0A877E1-12AC-4671-8307-3E13FE42B550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41</a:t>
            </a:fld>
            <a:endParaRPr lang="en-CA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0B7A9AA-BF6C-42AB-BDB4-CD05670DB477}" type="datetime1">
              <a:rPr lang="en-US"/>
              <a:pPr>
                <a:defRPr/>
              </a:pPr>
              <a:t>5/8/2012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r>
              <a:rPr lang="en-US"/>
              <a:t>Copyright © </a:t>
            </a:r>
            <a:r>
              <a:rPr lang="en-US" smtClean="0"/>
              <a:t>2012 </a:t>
            </a:r>
            <a:r>
              <a:rPr lang="en-US"/>
              <a:t>Pearson Addison-Wesley. All rights reserved.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3-</a:t>
            </a:r>
            <a:fld id="{5E4EE21D-02AD-4CC4-BD2C-DCBCF616475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6"/>
          <p:cNvSpPr>
            <a:spLocks noGrp="1"/>
          </p:cNvSpPr>
          <p:nvPr>
            <p:ph type="dt" sz="half" idx="10"/>
          </p:nvPr>
        </p:nvSpPr>
        <p:spPr>
          <a:xfrm>
            <a:off x="4876800" y="6324600"/>
            <a:ext cx="9144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77C5843-68FC-46FF-874D-0559277E3D3C}" type="datetime1">
              <a:rPr lang="en-US"/>
              <a:pPr>
                <a:defRPr/>
              </a:pPr>
              <a:t>5/8/2012</a:t>
            </a:fld>
            <a:endParaRPr lang="en-US" dirty="0"/>
          </a:p>
        </p:txBody>
      </p:sp>
      <p:sp>
        <p:nvSpPr>
          <p:cNvPr id="5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3-</a:t>
            </a:r>
            <a:fld id="{13A9DD62-9DF6-41BE-A3AD-B0C177A548F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6" name="Footer Placeholder 8"/>
          <p:cNvSpPr>
            <a:spLocks noGrp="1"/>
          </p:cNvSpPr>
          <p:nvPr>
            <p:ph type="ftr" sz="quarter" idx="12"/>
          </p:nvPr>
        </p:nvSpPr>
        <p:spPr>
          <a:xfrm>
            <a:off x="457200" y="6340475"/>
            <a:ext cx="4343400" cy="365125"/>
          </a:xfrm>
        </p:spPr>
        <p:txBody>
          <a:bodyPr/>
          <a:lstStyle>
            <a:lvl1pPr>
              <a:defRPr dirty="0"/>
            </a:lvl1pPr>
          </a:lstStyle>
          <a:p>
            <a:pPr>
              <a:defRPr/>
            </a:pPr>
            <a:r>
              <a:rPr lang="en-US"/>
              <a:t>Copyright © </a:t>
            </a:r>
            <a:r>
              <a:rPr lang="en-US" smtClean="0"/>
              <a:t>2012 </a:t>
            </a:r>
            <a:r>
              <a:rPr lang="en-US"/>
              <a:t>Pearson Addison-Wesley. All rights reserved.</a:t>
            </a:r>
            <a:endParaRPr lang="en-CA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855B89-D7E6-48FF-BC02-F45FDB77B941}" type="datetime1">
              <a:rPr lang="en-US"/>
              <a:pPr>
                <a:defRPr/>
              </a:pPr>
              <a:t>5/8/2012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r>
              <a:rPr lang="en-US"/>
              <a:t>Copyright © </a:t>
            </a:r>
            <a:r>
              <a:rPr lang="en-US" smtClean="0"/>
              <a:t>2012 </a:t>
            </a:r>
            <a:r>
              <a:rPr lang="en-US"/>
              <a:t>Pearson Addison-Wesley. All rights reserved.</a:t>
            </a:r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3-</a:t>
            </a:r>
            <a:fld id="{75808C3E-059D-49B5-AEFE-88B74656BF5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9A1D4B9-99C2-45BA-A24F-C82B9E119C7A}" type="datetime1">
              <a:rPr lang="en-US"/>
              <a:pPr>
                <a:defRPr/>
              </a:pPr>
              <a:t>5/8/2012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r>
              <a:rPr lang="en-US"/>
              <a:t>Copyright © </a:t>
            </a:r>
            <a:r>
              <a:rPr lang="en-US" smtClean="0"/>
              <a:t>2012 </a:t>
            </a:r>
            <a:r>
              <a:rPr lang="en-US"/>
              <a:t>Pearson Addison-Wesley. All rights reserved.</a:t>
            </a:r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3-</a:t>
            </a:r>
            <a:fld id="{BD8C8397-8B80-4ECE-859F-0F6DE513BB1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9BC5A47-B18C-420C-85BD-B2FD0C4F050A}" type="datetime1">
              <a:rPr lang="en-US"/>
              <a:pPr>
                <a:defRPr/>
              </a:pPr>
              <a:t>5/8/2012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r>
              <a:rPr lang="en-US"/>
              <a:t>Copyright © </a:t>
            </a:r>
            <a:r>
              <a:rPr lang="en-US" smtClean="0"/>
              <a:t>2012 </a:t>
            </a:r>
            <a:r>
              <a:rPr lang="en-US"/>
              <a:t>Pearson Addison-Wesley. All rights reserved.</a:t>
            </a:r>
            <a:endParaRPr lang="en-C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3-</a:t>
            </a:r>
            <a:fld id="{F2B1FDD5-705C-4A69-8D89-E84097E1959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CA181A3-46CE-49A2-A55A-B7213D71BAE0}" type="datetime1">
              <a:rPr lang="en-US"/>
              <a:pPr>
                <a:defRPr/>
              </a:pPr>
              <a:t>5/8/2012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r>
              <a:rPr lang="en-US"/>
              <a:t>Copyright © </a:t>
            </a:r>
            <a:r>
              <a:rPr lang="en-US" smtClean="0"/>
              <a:t>2012 </a:t>
            </a:r>
            <a:r>
              <a:rPr lang="en-US"/>
              <a:t>Pearson Addison-Wesley. All rights reserved.</a:t>
            </a:r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3-</a:t>
            </a:r>
            <a:fld id="{434E35A7-2CD6-4D8A-B2EB-BC59E7DE3EE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4B2CFD-1710-449B-9621-E255155CE99C}" type="datetime1">
              <a:rPr lang="en-US"/>
              <a:pPr>
                <a:defRPr/>
              </a:pPr>
              <a:t>5/8/2012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r>
              <a:rPr lang="en-US"/>
              <a:t>Copyright © </a:t>
            </a:r>
            <a:r>
              <a:rPr lang="en-US" smtClean="0"/>
              <a:t>2012 </a:t>
            </a:r>
            <a:r>
              <a:rPr lang="en-US"/>
              <a:t>Pearson Addison-Wesley. All rights reserved.</a:t>
            </a:r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3-</a:t>
            </a:r>
            <a:fld id="{49AD7220-9F16-426E-96DD-D7B9446298A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58D1D84-9049-4EC6-B9DB-7CFA39037389}" type="datetime1">
              <a:rPr lang="en-US"/>
              <a:pPr>
                <a:defRPr/>
              </a:pPr>
              <a:t>5/8/2012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r>
              <a:rPr lang="en-US"/>
              <a:t>Copyright © </a:t>
            </a:r>
            <a:r>
              <a:rPr lang="en-US" smtClean="0"/>
              <a:t>2012 </a:t>
            </a:r>
            <a:r>
              <a:rPr lang="en-US"/>
              <a:t>Pearson Addison-Wesley. All rights reserved.</a:t>
            </a:r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3-</a:t>
            </a:r>
            <a:fld id="{83EEA020-2D4C-4BC2-883E-17849421155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10198DA-1E4D-4CA8-95CA-76183705C124}" type="datetime1">
              <a:rPr lang="en-US"/>
              <a:pPr>
                <a:defRPr/>
              </a:pPr>
              <a:t>5/8/2012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r>
              <a:rPr lang="en-US"/>
              <a:t>Copyright © </a:t>
            </a:r>
            <a:r>
              <a:rPr lang="en-US" smtClean="0"/>
              <a:t>2012 </a:t>
            </a:r>
            <a:r>
              <a:rPr lang="en-US"/>
              <a:t>Pearson Addison-Wesley. All rights reserved.</a:t>
            </a:r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3-</a:t>
            </a:r>
            <a:fld id="{D8F6C3C5-4CBC-4B71-BE69-0FD7C62583F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DC3C15-0D80-455F-BBB1-9314E9CA2901}" type="datetime1">
              <a:rPr lang="en-US"/>
              <a:pPr>
                <a:defRPr/>
              </a:pPr>
              <a:t>5/8/2012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r>
              <a:rPr lang="en-US"/>
              <a:t>Copyright © </a:t>
            </a:r>
            <a:r>
              <a:rPr lang="en-US" smtClean="0"/>
              <a:t>2012 </a:t>
            </a:r>
            <a:r>
              <a:rPr lang="en-US"/>
              <a:t>Pearson Addison-Wesley. All rights reserved.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3-</a:t>
            </a:r>
            <a:fld id="{04FF3A34-978B-4A6E-A485-084EE892AA0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4A54409-401B-4A0F-8E28-2A7DB67AE75C}" type="datetime1">
              <a:rPr lang="en-US"/>
              <a:pPr>
                <a:defRPr/>
              </a:pPr>
              <a:t>5/8/2012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r>
              <a:rPr lang="en-US"/>
              <a:t>Copyright © </a:t>
            </a:r>
            <a:r>
              <a:rPr lang="en-US" smtClean="0"/>
              <a:t>2012 </a:t>
            </a:r>
            <a:r>
              <a:rPr lang="en-US"/>
              <a:t>Pearson Addison-Wesley. All rights reserved.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3-</a:t>
            </a:r>
            <a:fld id="{8D7A662A-497F-46C6-89B9-ED8C69D62C8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648200" y="6340475"/>
            <a:ext cx="914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27604903-2071-4CC3-9CF2-0C548EA5B0D2}" type="datetime1">
              <a:rPr lang="en-US"/>
              <a:pPr>
                <a:defRPr/>
              </a:pPr>
              <a:t>5/8/2012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7200" y="6356350"/>
            <a:ext cx="411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sz="1200" dirty="0">
                <a:solidFill>
                  <a:srgbClr val="898989"/>
                </a:solidFill>
                <a:latin typeface="Calibri" pitchFamily="34" charset="0"/>
                <a:cs typeface="+mn-cs"/>
              </a:defRPr>
            </a:lvl1pPr>
          </a:lstStyle>
          <a:p>
            <a:pPr>
              <a:defRPr/>
            </a:pPr>
            <a:r>
              <a:rPr lang="en-US"/>
              <a:t>Copyright © </a:t>
            </a:r>
            <a:r>
              <a:rPr lang="en-US" smtClean="0"/>
              <a:t>2012 </a:t>
            </a:r>
            <a:r>
              <a:rPr lang="en-US"/>
              <a:t>Pearson Addison-Wesley. All rights reserved.</a:t>
            </a:r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r>
              <a:rPr lang="en-US"/>
              <a:t>1-</a:t>
            </a:r>
            <a:fld id="{218AC9BE-2004-480B-AE04-80A84D1B22C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1031" name="Picture 2"/>
          <p:cNvPicPr>
            <a:picLocks noChangeAspect="1" noChangeArrowheads="1"/>
          </p:cNvPicPr>
          <p:nvPr userDrawn="1"/>
        </p:nvPicPr>
        <p:blipFill>
          <a:blip r:embed="rId13"/>
          <a:srcRect/>
          <a:stretch>
            <a:fillRect/>
          </a:stretch>
        </p:blipFill>
        <p:spPr bwMode="auto">
          <a:xfrm>
            <a:off x="0" y="0"/>
            <a:ext cx="169863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</p:sldLayoutIdLst>
  <p:hf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1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2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3.xml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4.xml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5.xml"/><Relationship Id="rId4" Type="http://schemas.openxmlformats.org/officeDocument/2006/relationships/image" Target="../media/image9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Title 1"/>
          <p:cNvSpPr>
            <a:spLocks noGrp="1"/>
          </p:cNvSpPr>
          <p:nvPr>
            <p:ph type="ctrTitle"/>
          </p:nvPr>
        </p:nvSpPr>
        <p:spPr>
          <a:xfrm>
            <a:off x="5638800" y="457200"/>
            <a:ext cx="3276600" cy="1470025"/>
          </a:xfrm>
        </p:spPr>
        <p:txBody>
          <a:bodyPr/>
          <a:lstStyle/>
          <a:p>
            <a:pPr eaLnBrk="1" hangingPunct="1"/>
            <a:r>
              <a:rPr lang="en-US" smtClean="0"/>
              <a:t>Chapter 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638800" y="1905000"/>
            <a:ext cx="3352800" cy="1752600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dirty="0" smtClean="0"/>
              <a:t>Function Basics</a:t>
            </a:r>
            <a:endParaRPr lang="en-US" dirty="0"/>
          </a:p>
        </p:txBody>
      </p:sp>
      <p:pic>
        <p:nvPicPr>
          <p:cNvPr id="14341" name="Picture 6" descr="http://vig-fp.prenhall.com/bigcovers/013283071X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52400" y="0"/>
            <a:ext cx="5545138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4343" name="Picture 10" descr="DG_Bar_Blue_USLetter_RGB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0" y="6324600"/>
            <a:ext cx="91440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Learning Objectives</a:t>
            </a:r>
          </a:p>
        </p:txBody>
      </p:sp>
      <p:sp>
        <p:nvSpPr>
          <p:cNvPr id="1638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lang="en-US" sz="2800" smtClean="0"/>
              <a:t>Predefined Functions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Those that return a value and those that don’t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lang="en-US" sz="2800" smtClean="0"/>
              <a:t>Programmer-defined Functions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Defining, Declaring, Calling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Recursive Functions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lang="en-US" sz="2800" smtClean="0"/>
              <a:t>Scope Rules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Local variables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Global constants and global variables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Blocks, nested scopes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3-</a:t>
            </a:r>
            <a:fld id="{68E958F4-DD2F-447F-9D08-1B0810EAB9C4}" type="slidenum">
              <a:rPr lang="en-US"/>
              <a:pPr>
                <a:defRPr/>
              </a:pPr>
              <a:t>2</a:t>
            </a:fld>
            <a:endParaRPr lang="en-US"/>
          </a:p>
        </p:txBody>
      </p:sp>
      <p:sp>
        <p:nvSpPr>
          <p:cNvPr id="16388" name="Footer Placeholder 8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 Introduction to Functions</a:t>
            </a:r>
          </a:p>
        </p:txBody>
      </p:sp>
      <p:sp>
        <p:nvSpPr>
          <p:cNvPr id="1843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z="2800" smtClean="0"/>
              <a:t>Building Blocks of Programs</a:t>
            </a:r>
          </a:p>
          <a:p>
            <a:pPr eaLnBrk="1" hangingPunct="1">
              <a:spcBef>
                <a:spcPct val="50000"/>
              </a:spcBef>
            </a:pPr>
            <a:r>
              <a:rPr lang="en-US" sz="2800" smtClean="0"/>
              <a:t>Other terminology in other languages:</a:t>
            </a:r>
          </a:p>
          <a:p>
            <a:pPr lvl="1" eaLnBrk="1" hangingPunct="1"/>
            <a:r>
              <a:rPr lang="en-US" sz="2400" smtClean="0"/>
              <a:t>Procedures, subprograms, methods</a:t>
            </a:r>
          </a:p>
          <a:p>
            <a:pPr lvl="1" eaLnBrk="1" hangingPunct="1"/>
            <a:r>
              <a:rPr lang="en-US" sz="2400" smtClean="0"/>
              <a:t>In C++: functions</a:t>
            </a:r>
          </a:p>
          <a:p>
            <a:pPr eaLnBrk="1" hangingPunct="1">
              <a:spcBef>
                <a:spcPct val="50000"/>
              </a:spcBef>
            </a:pPr>
            <a:r>
              <a:rPr lang="en-US" sz="2800" smtClean="0"/>
              <a:t>I-P-O</a:t>
            </a:r>
          </a:p>
          <a:p>
            <a:pPr lvl="1" eaLnBrk="1" hangingPunct="1"/>
            <a:r>
              <a:rPr lang="en-US" sz="2400" smtClean="0"/>
              <a:t>Input – Process – Output</a:t>
            </a:r>
          </a:p>
          <a:p>
            <a:pPr lvl="1" eaLnBrk="1" hangingPunct="1"/>
            <a:r>
              <a:rPr lang="en-US" sz="2400" smtClean="0"/>
              <a:t>Basic subparts to any program</a:t>
            </a:r>
          </a:p>
          <a:p>
            <a:pPr lvl="1" eaLnBrk="1" hangingPunct="1"/>
            <a:r>
              <a:rPr lang="en-US" sz="2400" smtClean="0"/>
              <a:t>Use functions for these "pieces"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3-</a:t>
            </a:r>
            <a:fld id="{3A6A56D6-474D-4E70-9916-C5B1CB9702AB}" type="slidenum">
              <a:rPr lang="en-US"/>
              <a:pPr>
                <a:defRPr/>
              </a:pPr>
              <a:t>3</a:t>
            </a:fld>
            <a:endParaRPr lang="en-US"/>
          </a:p>
        </p:txBody>
      </p:sp>
      <p:sp>
        <p:nvSpPr>
          <p:cNvPr id="18436" name="Footer Placeholder 8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Predefined Functions</a:t>
            </a:r>
          </a:p>
        </p:txBody>
      </p:sp>
      <p:sp>
        <p:nvSpPr>
          <p:cNvPr id="2048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mtClean="0"/>
              <a:t>Libraries full of functions for our use!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lang="en-US" smtClean="0"/>
              <a:t>Two types:</a:t>
            </a:r>
          </a:p>
          <a:p>
            <a:pPr lvl="1" eaLnBrk="1" hangingPunct="1">
              <a:lnSpc>
                <a:spcPct val="90000"/>
              </a:lnSpc>
            </a:pPr>
            <a:r>
              <a:rPr lang="en-US" smtClean="0"/>
              <a:t>Those that return a value</a:t>
            </a:r>
          </a:p>
          <a:p>
            <a:pPr lvl="1" eaLnBrk="1" hangingPunct="1">
              <a:lnSpc>
                <a:spcPct val="90000"/>
              </a:lnSpc>
            </a:pPr>
            <a:r>
              <a:rPr lang="en-US" smtClean="0"/>
              <a:t>Those that do not (void)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lang="en-US" smtClean="0"/>
              <a:t>Must "#include" appropriate library</a:t>
            </a:r>
          </a:p>
          <a:p>
            <a:pPr lvl="1" eaLnBrk="1" hangingPunct="1">
              <a:lnSpc>
                <a:spcPct val="90000"/>
              </a:lnSpc>
            </a:pPr>
            <a:r>
              <a:rPr lang="en-US" smtClean="0"/>
              <a:t>e.g.,</a:t>
            </a:r>
          </a:p>
          <a:p>
            <a:pPr lvl="2" eaLnBrk="1" hangingPunct="1">
              <a:lnSpc>
                <a:spcPct val="90000"/>
              </a:lnSpc>
            </a:pPr>
            <a:r>
              <a:rPr lang="en-US" smtClean="0"/>
              <a:t>&lt;cmath&gt;, &lt;cstdlib&gt; (Original "C" libraries)</a:t>
            </a:r>
          </a:p>
          <a:p>
            <a:pPr lvl="2" eaLnBrk="1" hangingPunct="1">
              <a:lnSpc>
                <a:spcPct val="90000"/>
              </a:lnSpc>
            </a:pPr>
            <a:r>
              <a:rPr lang="en-US" smtClean="0"/>
              <a:t>&lt;iostream&gt; (for cout, cin) 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3-</a:t>
            </a:r>
            <a:fld id="{62C92CCF-45F7-4707-B736-BCD55F269D65}" type="slidenum">
              <a:rPr lang="en-US"/>
              <a:pPr>
                <a:defRPr/>
              </a:pPr>
              <a:t>4</a:t>
            </a:fld>
            <a:endParaRPr lang="en-US"/>
          </a:p>
        </p:txBody>
      </p:sp>
      <p:sp>
        <p:nvSpPr>
          <p:cNvPr id="20484" name="Footer Placeholder 8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Using Predefined Functions</a:t>
            </a:r>
          </a:p>
        </p:txBody>
      </p:sp>
      <p:sp>
        <p:nvSpPr>
          <p:cNvPr id="4812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 rtlCol="0">
            <a:normAutofit lnSpcReduction="10000"/>
          </a:bodyPr>
          <a:lstStyle/>
          <a:p>
            <a:pPr eaLnBrk="1" fontAlgn="auto" hangingPunct="1">
              <a:lnSpc>
                <a:spcPct val="90000"/>
              </a:lnSpc>
              <a:spcAft>
                <a:spcPts val="0"/>
              </a:spcAft>
              <a:buFont typeface="Arial" pitchFamily="34" charset="0"/>
              <a:buChar char="•"/>
              <a:tabLst>
                <a:tab pos="1712913" algn="l"/>
                <a:tab pos="2289175" algn="l"/>
              </a:tabLst>
              <a:defRPr/>
            </a:pPr>
            <a:r>
              <a:rPr lang="en-US" sz="2800"/>
              <a:t>Math functions very plentiful</a:t>
            </a:r>
          </a:p>
          <a:p>
            <a:pPr lvl="1" eaLnBrk="1" fontAlgn="auto" hangingPunct="1">
              <a:lnSpc>
                <a:spcPct val="90000"/>
              </a:lnSpc>
              <a:spcAft>
                <a:spcPts val="0"/>
              </a:spcAft>
              <a:buFont typeface="Arial" pitchFamily="34" charset="0"/>
              <a:buChar char="–"/>
              <a:tabLst>
                <a:tab pos="1712913" algn="l"/>
                <a:tab pos="2289175" algn="l"/>
              </a:tabLst>
              <a:defRPr/>
            </a:pPr>
            <a:r>
              <a:rPr lang="en-US" sz="2400"/>
              <a:t>Found in library &lt;cmath.h&gt;</a:t>
            </a:r>
          </a:p>
          <a:p>
            <a:pPr lvl="1" eaLnBrk="1" fontAlgn="auto" hangingPunct="1">
              <a:lnSpc>
                <a:spcPct val="90000"/>
              </a:lnSpc>
              <a:spcAft>
                <a:spcPts val="0"/>
              </a:spcAft>
              <a:buFont typeface="Arial" pitchFamily="34" charset="0"/>
              <a:buChar char="–"/>
              <a:tabLst>
                <a:tab pos="1712913" algn="l"/>
                <a:tab pos="2289175" algn="l"/>
              </a:tabLst>
              <a:defRPr/>
            </a:pPr>
            <a:r>
              <a:rPr lang="en-US" sz="2400"/>
              <a:t>Most return a value (the "answer")</a:t>
            </a:r>
          </a:p>
          <a:p>
            <a:pPr eaLnBrk="1" fontAlgn="auto" hangingPunct="1">
              <a:lnSpc>
                <a:spcPct val="90000"/>
              </a:lnSpc>
              <a:spcAft>
                <a:spcPts val="0"/>
              </a:spcAft>
              <a:buFont typeface="Arial" pitchFamily="34" charset="0"/>
              <a:buChar char="•"/>
              <a:tabLst>
                <a:tab pos="1712913" algn="l"/>
                <a:tab pos="2289175" algn="l"/>
              </a:tabLst>
              <a:defRPr/>
            </a:pPr>
            <a:r>
              <a:rPr lang="en-US" sz="2800"/>
              <a:t>Example: theRoot = sqrt(9.0);</a:t>
            </a:r>
          </a:p>
          <a:p>
            <a:pPr lvl="1" eaLnBrk="1" fontAlgn="auto" hangingPunct="1">
              <a:lnSpc>
                <a:spcPct val="90000"/>
              </a:lnSpc>
              <a:spcAft>
                <a:spcPts val="0"/>
              </a:spcAft>
              <a:buFont typeface="Arial" pitchFamily="34" charset="0"/>
              <a:buChar char="–"/>
              <a:tabLst>
                <a:tab pos="1712913" algn="l"/>
                <a:tab pos="2289175" algn="l"/>
              </a:tabLst>
              <a:defRPr/>
            </a:pPr>
            <a:r>
              <a:rPr lang="en-US" sz="2400"/>
              <a:t>Components:</a:t>
            </a:r>
            <a:br>
              <a:rPr lang="en-US" sz="2400"/>
            </a:br>
            <a:r>
              <a:rPr lang="en-US" sz="2400"/>
              <a:t>sqrt =		name of library function</a:t>
            </a:r>
            <a:br>
              <a:rPr lang="en-US" sz="2400"/>
            </a:br>
            <a:r>
              <a:rPr lang="en-US" sz="2400"/>
              <a:t>theRoot =	variable used to assign "answer" to</a:t>
            </a:r>
            <a:br>
              <a:rPr lang="en-US" sz="2400"/>
            </a:br>
            <a:r>
              <a:rPr lang="en-US" sz="2400"/>
              <a:t>9.0 =		argument or "starting input" for function</a:t>
            </a:r>
          </a:p>
          <a:p>
            <a:pPr lvl="1" eaLnBrk="1" fontAlgn="auto" hangingPunct="1">
              <a:lnSpc>
                <a:spcPct val="90000"/>
              </a:lnSpc>
              <a:spcAft>
                <a:spcPts val="0"/>
              </a:spcAft>
              <a:buFont typeface="Arial" pitchFamily="34" charset="0"/>
              <a:buChar char="–"/>
              <a:tabLst>
                <a:tab pos="1712913" algn="l"/>
                <a:tab pos="2289175" algn="l"/>
              </a:tabLst>
              <a:defRPr/>
            </a:pPr>
            <a:r>
              <a:rPr lang="en-US" sz="2400"/>
              <a:t>In I-P-O:</a:t>
            </a:r>
          </a:p>
          <a:p>
            <a:pPr lvl="2" eaLnBrk="1" fontAlgn="auto" hangingPunct="1">
              <a:lnSpc>
                <a:spcPct val="90000"/>
              </a:lnSpc>
              <a:spcAft>
                <a:spcPts val="0"/>
              </a:spcAft>
              <a:buFont typeface="Arial" pitchFamily="34" charset="0"/>
              <a:buChar char="•"/>
              <a:tabLst>
                <a:tab pos="1712913" algn="l"/>
                <a:tab pos="2289175" algn="l"/>
              </a:tabLst>
              <a:defRPr/>
            </a:pPr>
            <a:r>
              <a:rPr lang="en-US" sz="2000"/>
              <a:t>I =	9.0</a:t>
            </a:r>
          </a:p>
          <a:p>
            <a:pPr lvl="2" eaLnBrk="1" fontAlgn="auto" hangingPunct="1">
              <a:lnSpc>
                <a:spcPct val="90000"/>
              </a:lnSpc>
              <a:spcAft>
                <a:spcPts val="0"/>
              </a:spcAft>
              <a:buFont typeface="Arial" pitchFamily="34" charset="0"/>
              <a:buChar char="•"/>
              <a:tabLst>
                <a:tab pos="1712913" algn="l"/>
                <a:tab pos="2289175" algn="l"/>
              </a:tabLst>
              <a:defRPr/>
            </a:pPr>
            <a:r>
              <a:rPr lang="en-US" sz="2000"/>
              <a:t>P =	"compute the square root"</a:t>
            </a:r>
          </a:p>
          <a:p>
            <a:pPr lvl="2" eaLnBrk="1" fontAlgn="auto" hangingPunct="1">
              <a:lnSpc>
                <a:spcPct val="90000"/>
              </a:lnSpc>
              <a:spcAft>
                <a:spcPts val="0"/>
              </a:spcAft>
              <a:buFont typeface="Arial" pitchFamily="34" charset="0"/>
              <a:buChar char="•"/>
              <a:tabLst>
                <a:tab pos="1712913" algn="l"/>
                <a:tab pos="2289175" algn="l"/>
              </a:tabLst>
              <a:defRPr/>
            </a:pPr>
            <a:r>
              <a:rPr lang="en-US" sz="2000"/>
              <a:t>O =	3, which is returned &amp; assigned to theRoot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3-</a:t>
            </a:r>
            <a:fld id="{3916C60D-B0A9-4ABA-85CE-6EEABDC1C76B}" type="slidenum">
              <a:rPr lang="en-US"/>
              <a:pPr>
                <a:defRPr/>
              </a:pPr>
              <a:t>5</a:t>
            </a:fld>
            <a:endParaRPr lang="en-US"/>
          </a:p>
        </p:txBody>
      </p:sp>
      <p:sp>
        <p:nvSpPr>
          <p:cNvPr id="22532" name="Footer Placeholder 8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The Function Call</a:t>
            </a:r>
          </a:p>
        </p:txBody>
      </p:sp>
      <p:sp>
        <p:nvSpPr>
          <p:cNvPr id="2457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z="2800" smtClean="0"/>
              <a:t>Back to this assignment:</a:t>
            </a:r>
            <a:br>
              <a:rPr lang="en-US" sz="2800" smtClean="0"/>
            </a:br>
            <a:r>
              <a:rPr lang="en-US" sz="2800" smtClean="0"/>
              <a:t>	theRoot = sqrt(9.0);</a:t>
            </a:r>
          </a:p>
          <a:p>
            <a:pPr lvl="1" eaLnBrk="1" hangingPunct="1">
              <a:spcBef>
                <a:spcPct val="50000"/>
              </a:spcBef>
            </a:pPr>
            <a:r>
              <a:rPr lang="en-US" sz="2400" smtClean="0"/>
              <a:t>The expression "sqrt(9.0)" is known as a</a:t>
            </a:r>
            <a:br>
              <a:rPr lang="en-US" sz="2400" smtClean="0"/>
            </a:br>
            <a:r>
              <a:rPr lang="en-US" sz="2400" smtClean="0"/>
              <a:t>function </a:t>
            </a:r>
            <a:r>
              <a:rPr lang="en-US" sz="2400" i="1" smtClean="0"/>
              <a:t>call</a:t>
            </a:r>
            <a:r>
              <a:rPr lang="en-US" sz="2400" smtClean="0"/>
              <a:t>, or function </a:t>
            </a:r>
            <a:r>
              <a:rPr lang="en-US" sz="2400" i="1" smtClean="0"/>
              <a:t>invocation</a:t>
            </a:r>
          </a:p>
          <a:p>
            <a:pPr lvl="1" eaLnBrk="1" hangingPunct="1">
              <a:spcBef>
                <a:spcPct val="50000"/>
              </a:spcBef>
            </a:pPr>
            <a:r>
              <a:rPr lang="en-US" sz="2400" smtClean="0"/>
              <a:t>The argument in a function call (9.0) can be a</a:t>
            </a:r>
            <a:br>
              <a:rPr lang="en-US" sz="2400" smtClean="0"/>
            </a:br>
            <a:r>
              <a:rPr lang="en-US" sz="2400" smtClean="0"/>
              <a:t>literal, a variable, or an expression</a:t>
            </a:r>
          </a:p>
          <a:p>
            <a:pPr lvl="1" eaLnBrk="1" hangingPunct="1">
              <a:spcBef>
                <a:spcPct val="50000"/>
              </a:spcBef>
            </a:pPr>
            <a:r>
              <a:rPr lang="en-US" sz="2400" smtClean="0"/>
              <a:t>The call itself can be part of an expression:</a:t>
            </a:r>
          </a:p>
          <a:p>
            <a:pPr lvl="2" eaLnBrk="1" hangingPunct="1"/>
            <a:r>
              <a:rPr lang="en-US" sz="2000" smtClean="0"/>
              <a:t>bonus = sqrt(sales)/10;</a:t>
            </a:r>
          </a:p>
          <a:p>
            <a:pPr lvl="2" eaLnBrk="1" hangingPunct="1"/>
            <a:r>
              <a:rPr lang="en-US" sz="2000" smtClean="0"/>
              <a:t>A function call is allowed wherever it’s legal to use</a:t>
            </a:r>
            <a:br>
              <a:rPr lang="en-US" sz="2000" smtClean="0"/>
            </a:br>
            <a:r>
              <a:rPr lang="en-US" sz="2000" smtClean="0"/>
              <a:t>an expression of the function’s return type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3-</a:t>
            </a:r>
            <a:fld id="{7F149C78-4E61-46F7-B040-C3071FA7BD8D}" type="slidenum">
              <a:rPr lang="en-US"/>
              <a:pPr>
                <a:defRPr/>
              </a:pPr>
              <a:t>6</a:t>
            </a:fld>
            <a:endParaRPr lang="en-US"/>
          </a:p>
        </p:txBody>
      </p:sp>
      <p:sp>
        <p:nvSpPr>
          <p:cNvPr id="24580" name="Footer Placeholder 8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332" name="Rectangle 4"/>
          <p:cNvSpPr>
            <a:spLocks noGrp="1" noChangeArrowheads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200"/>
              <a:t>A Larger Example: </a:t>
            </a:r>
            <a:br>
              <a:rPr lang="en-US" sz="3200"/>
            </a:br>
            <a:r>
              <a:rPr lang="en-US" sz="3200" b="1"/>
              <a:t>Display 3.1  </a:t>
            </a:r>
            <a:r>
              <a:rPr lang="en-US" sz="3200"/>
              <a:t>A Predefined Function That Returns a Value (1 of 2)</a:t>
            </a:r>
          </a:p>
        </p:txBody>
      </p:sp>
      <p:pic>
        <p:nvPicPr>
          <p:cNvPr id="26626" name="Picture 5" descr="C:\WINDOWS\Desktop\Oh_type\sacitch_C++_ppt\gif\savitchc03d01_1of2.gif"/>
          <p:cNvPicPr preferRelativeResize="0"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4"/>
          <a:srcRect/>
          <a:stretch>
            <a:fillRect/>
          </a:stretch>
        </p:blipFill>
        <p:spPr bwMode="auto">
          <a:xfrm>
            <a:off x="1028700" y="1752600"/>
            <a:ext cx="7772400" cy="39957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3-</a:t>
            </a:r>
            <a:fld id="{46533E65-C9B8-481A-A520-13BCA050CABD}" type="slidenum">
              <a:rPr lang="en-US"/>
              <a:pPr>
                <a:defRPr/>
              </a:pPr>
              <a:t>7</a:t>
            </a:fld>
            <a:endParaRPr lang="en-US"/>
          </a:p>
        </p:txBody>
      </p:sp>
      <p:sp>
        <p:nvSpPr>
          <p:cNvPr id="26628" name="Footer Placeholder 8"/>
          <p:cNvSpPr>
            <a:spLocks noGrp="1"/>
          </p:cNvSpPr>
          <p:nvPr>
            <p:ph type="ftr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147" name="Rectangle 3"/>
          <p:cNvSpPr>
            <a:spLocks noGrp="1" noChangeArrowheads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200"/>
              <a:t>A Larger Example: </a:t>
            </a:r>
            <a:br>
              <a:rPr lang="en-US" sz="3200"/>
            </a:br>
            <a:r>
              <a:rPr lang="en-US" sz="3200" b="1"/>
              <a:t>Display 3.1  </a:t>
            </a:r>
            <a:r>
              <a:rPr lang="en-US" sz="3200"/>
              <a:t>A Predefined Function That Returns a Value (2 of 2)</a:t>
            </a:r>
          </a:p>
        </p:txBody>
      </p:sp>
      <p:pic>
        <p:nvPicPr>
          <p:cNvPr id="28674" name="Picture 4" descr="C:\WINDOWS\Desktop\Oh_type\sacitch_C++_ppt\gif\savitchc03d01_2of2.gif"/>
          <p:cNvPicPr preferRelativeResize="0"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4"/>
          <a:srcRect/>
          <a:stretch>
            <a:fillRect/>
          </a:stretch>
        </p:blipFill>
        <p:spPr bwMode="auto">
          <a:xfrm>
            <a:off x="1028700" y="1866900"/>
            <a:ext cx="7772400" cy="3890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3-</a:t>
            </a:r>
            <a:fld id="{D23DA7EA-1E00-4EFD-B855-AA74D4414DB6}" type="slidenum">
              <a:rPr lang="en-US"/>
              <a:pPr>
                <a:defRPr/>
              </a:pPr>
              <a:t>8</a:t>
            </a:fld>
            <a:endParaRPr lang="en-US"/>
          </a:p>
        </p:txBody>
      </p:sp>
      <p:sp>
        <p:nvSpPr>
          <p:cNvPr id="28676" name="Footer Placeholder 8"/>
          <p:cNvSpPr>
            <a:spLocks noGrp="1"/>
          </p:cNvSpPr>
          <p:nvPr>
            <p:ph type="ftr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More Predefined Functions</a:t>
            </a:r>
          </a:p>
        </p:txBody>
      </p:sp>
      <p:sp>
        <p:nvSpPr>
          <p:cNvPr id="3072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tabLst>
                <a:tab pos="2347913" algn="l"/>
              </a:tabLst>
            </a:pPr>
            <a:r>
              <a:rPr lang="en-US" sz="2800" smtClean="0"/>
              <a:t>#include &lt;cstdlib&gt;</a:t>
            </a:r>
          </a:p>
          <a:p>
            <a:pPr lvl="1" eaLnBrk="1" hangingPunct="1">
              <a:spcBef>
                <a:spcPct val="50000"/>
              </a:spcBef>
              <a:tabLst>
                <a:tab pos="2347913" algn="l"/>
              </a:tabLst>
            </a:pPr>
            <a:r>
              <a:rPr lang="en-US" sz="2400" smtClean="0"/>
              <a:t>Library contains functions like:</a:t>
            </a:r>
          </a:p>
          <a:p>
            <a:pPr lvl="2" eaLnBrk="1" hangingPunct="1">
              <a:tabLst>
                <a:tab pos="2347913" algn="l"/>
              </a:tabLst>
            </a:pPr>
            <a:r>
              <a:rPr lang="en-US" sz="2000" smtClean="0"/>
              <a:t>abs()	// Returns absolute value of an int</a:t>
            </a:r>
          </a:p>
          <a:p>
            <a:pPr lvl="2" eaLnBrk="1" hangingPunct="1">
              <a:tabLst>
                <a:tab pos="2347913" algn="l"/>
              </a:tabLst>
            </a:pPr>
            <a:r>
              <a:rPr lang="en-US" sz="2000" smtClean="0"/>
              <a:t>labs()	// Returns absolute value of a long int</a:t>
            </a:r>
          </a:p>
          <a:p>
            <a:pPr lvl="2" eaLnBrk="1" hangingPunct="1">
              <a:tabLst>
                <a:tab pos="2347913" algn="l"/>
              </a:tabLst>
            </a:pPr>
            <a:r>
              <a:rPr lang="en-US" sz="2000" smtClean="0"/>
              <a:t>*fabs()	// Returns absolute value of a float</a:t>
            </a:r>
          </a:p>
          <a:p>
            <a:pPr lvl="1" eaLnBrk="1" hangingPunct="1">
              <a:spcBef>
                <a:spcPct val="50000"/>
              </a:spcBef>
              <a:tabLst>
                <a:tab pos="2347913" algn="l"/>
              </a:tabLst>
            </a:pPr>
            <a:r>
              <a:rPr lang="en-US" sz="2400" smtClean="0"/>
              <a:t>*fabs() is actually in library &lt;cmath&gt;!</a:t>
            </a:r>
          </a:p>
          <a:p>
            <a:pPr lvl="2" eaLnBrk="1" hangingPunct="1">
              <a:tabLst>
                <a:tab pos="2347913" algn="l"/>
              </a:tabLst>
            </a:pPr>
            <a:r>
              <a:rPr lang="en-US" sz="2000" smtClean="0"/>
              <a:t>Can be confusing</a:t>
            </a:r>
          </a:p>
          <a:p>
            <a:pPr lvl="2" eaLnBrk="1" hangingPunct="1">
              <a:tabLst>
                <a:tab pos="2347913" algn="l"/>
              </a:tabLst>
            </a:pPr>
            <a:r>
              <a:rPr lang="en-US" sz="2000" smtClean="0"/>
              <a:t>Remember: libraries were added after C++ was</a:t>
            </a:r>
            <a:br>
              <a:rPr lang="en-US" sz="2000" smtClean="0"/>
            </a:br>
            <a:r>
              <a:rPr lang="en-US" sz="2000" smtClean="0"/>
              <a:t>"born," in incremental phases</a:t>
            </a:r>
          </a:p>
          <a:p>
            <a:pPr lvl="2" eaLnBrk="1" hangingPunct="1">
              <a:tabLst>
                <a:tab pos="2347913" algn="l"/>
              </a:tabLst>
            </a:pPr>
            <a:r>
              <a:rPr lang="en-US" sz="2000" smtClean="0"/>
              <a:t>Refer to appendices/manuals for details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3-</a:t>
            </a:r>
            <a:fld id="{F8A970D7-7E57-498D-946A-6A66C86D2F93}" type="slidenum">
              <a:rPr lang="en-US"/>
              <a:pPr>
                <a:defRPr/>
              </a:pPr>
              <a:t>9</a:t>
            </a:fld>
            <a:endParaRPr lang="en-US"/>
          </a:p>
        </p:txBody>
      </p:sp>
      <p:sp>
        <p:nvSpPr>
          <p:cNvPr id="30724" name="Footer Placeholder 8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More Math Functions</a:t>
            </a:r>
          </a:p>
        </p:txBody>
      </p:sp>
      <p:sp>
        <p:nvSpPr>
          <p:cNvPr id="3277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z="2800" smtClean="0"/>
              <a:t>pow(x, y)</a:t>
            </a:r>
          </a:p>
          <a:p>
            <a:pPr lvl="1" eaLnBrk="1" hangingPunct="1"/>
            <a:r>
              <a:rPr lang="en-US" sz="2400" smtClean="0"/>
              <a:t>Returns x to the power y</a:t>
            </a:r>
            <a:br>
              <a:rPr lang="en-US" sz="2400" smtClean="0"/>
            </a:br>
            <a:r>
              <a:rPr lang="en-US" sz="2400" smtClean="0"/>
              <a:t>double result, x = 3.0, y = 2.0;</a:t>
            </a:r>
            <a:br>
              <a:rPr lang="en-US" sz="2400" smtClean="0"/>
            </a:br>
            <a:r>
              <a:rPr lang="en-US" sz="2400" smtClean="0"/>
              <a:t>result = pow(x, y);</a:t>
            </a:r>
            <a:br>
              <a:rPr lang="en-US" sz="2400" smtClean="0"/>
            </a:br>
            <a:r>
              <a:rPr lang="en-US" sz="2400" smtClean="0"/>
              <a:t>cout &lt;&lt; result;</a:t>
            </a:r>
          </a:p>
          <a:p>
            <a:pPr lvl="2" eaLnBrk="1" hangingPunct="1"/>
            <a:r>
              <a:rPr lang="en-US" sz="2000" smtClean="0"/>
              <a:t>Here 9.0 is displayed since 3.0</a:t>
            </a:r>
            <a:r>
              <a:rPr lang="en-US" sz="2000" baseline="30000" smtClean="0"/>
              <a:t>2.0</a:t>
            </a:r>
            <a:r>
              <a:rPr lang="en-US" sz="2000" smtClean="0"/>
              <a:t> = 9.0</a:t>
            </a:r>
          </a:p>
          <a:p>
            <a:pPr eaLnBrk="1" hangingPunct="1">
              <a:spcBef>
                <a:spcPct val="50000"/>
              </a:spcBef>
            </a:pPr>
            <a:r>
              <a:rPr lang="en-US" sz="2800" smtClean="0"/>
              <a:t>Notice this function receives two arguments</a:t>
            </a:r>
          </a:p>
          <a:p>
            <a:pPr lvl="1" eaLnBrk="1" hangingPunct="1"/>
            <a:r>
              <a:rPr lang="en-US" sz="2400" smtClean="0"/>
              <a:t>A function can have any number of arguments, of varying data types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3-</a:t>
            </a:r>
            <a:fld id="{4D96F90F-1DE4-49E7-A695-95F2F554B090}" type="slidenum">
              <a:rPr lang="en-US"/>
              <a:pPr>
                <a:defRPr/>
              </a:pPr>
              <a:t>10</a:t>
            </a:fld>
            <a:endParaRPr lang="en-US"/>
          </a:p>
        </p:txBody>
      </p:sp>
      <p:sp>
        <p:nvSpPr>
          <p:cNvPr id="32772" name="Footer Placeholder 8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817" name="Picture 4" descr="C:\WINDOWS\Desktop\Oh_type\sacitch_C++_ppt\gif\savitchc03d02_1of2.gif"/>
          <p:cNvPicPr preferRelativeResize="0"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4"/>
          <a:srcRect/>
          <a:stretch>
            <a:fillRect/>
          </a:stretch>
        </p:blipFill>
        <p:spPr bwMode="auto">
          <a:xfrm>
            <a:off x="1200150" y="1646238"/>
            <a:ext cx="7431088" cy="4449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86406" name="Rectangle 6"/>
          <p:cNvSpPr>
            <a:spLocks noGrp="1" noChangeArrowheads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200"/>
              <a:t>Even More Math Functions: </a:t>
            </a:r>
            <a:br>
              <a:rPr lang="en-US" sz="3200"/>
            </a:br>
            <a:r>
              <a:rPr lang="en-US" sz="3200" b="1"/>
              <a:t>Display 3.2  </a:t>
            </a:r>
            <a:r>
              <a:rPr lang="en-US" sz="3200"/>
              <a:t>Some Predefined </a:t>
            </a:r>
            <a:br>
              <a:rPr lang="en-US" sz="3200"/>
            </a:br>
            <a:r>
              <a:rPr lang="en-US" sz="3200"/>
              <a:t>Functions (1 of 2)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3-</a:t>
            </a:r>
            <a:fld id="{4A94BF7B-4A95-469F-9FAA-23F5425AE12F}" type="slidenum">
              <a:rPr lang="en-US"/>
              <a:pPr>
                <a:defRPr/>
              </a:pPr>
              <a:t>11</a:t>
            </a:fld>
            <a:endParaRPr lang="en-US"/>
          </a:p>
        </p:txBody>
      </p:sp>
      <p:sp>
        <p:nvSpPr>
          <p:cNvPr id="34820" name="Footer Placeholder 8"/>
          <p:cNvSpPr>
            <a:spLocks noGrp="1"/>
          </p:cNvSpPr>
          <p:nvPr>
            <p:ph type="ftr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195" name="Rectangle 3"/>
          <p:cNvSpPr>
            <a:spLocks noGrp="1" noChangeArrowheads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200"/>
              <a:t>Even More Math Functions: </a:t>
            </a:r>
            <a:br>
              <a:rPr lang="en-US" sz="3200"/>
            </a:br>
            <a:r>
              <a:rPr lang="en-US" sz="3200" b="1"/>
              <a:t>Display 3.2  </a:t>
            </a:r>
            <a:r>
              <a:rPr lang="en-US" sz="3200"/>
              <a:t>Some Predefined </a:t>
            </a:r>
            <a:br>
              <a:rPr lang="en-US" sz="3200"/>
            </a:br>
            <a:r>
              <a:rPr lang="en-US" sz="3200"/>
              <a:t>Functions (2 of 2)</a:t>
            </a:r>
          </a:p>
        </p:txBody>
      </p:sp>
      <p:pic>
        <p:nvPicPr>
          <p:cNvPr id="36866" name="Picture 4" descr="C:\WINDOWS\Desktop\Oh_type\sacitch_C++_ppt\gif\savitchc03d02_2of2.gif"/>
          <p:cNvPicPr preferRelativeResize="0"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4"/>
          <a:srcRect/>
          <a:stretch>
            <a:fillRect/>
          </a:stretch>
        </p:blipFill>
        <p:spPr bwMode="auto">
          <a:xfrm>
            <a:off x="1042988" y="2057400"/>
            <a:ext cx="7772400" cy="3521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3-</a:t>
            </a:r>
            <a:fld id="{D5A29F66-1037-4540-8F38-C4192AAE5D75}" type="slidenum">
              <a:rPr lang="en-US"/>
              <a:pPr>
                <a:defRPr/>
              </a:pPr>
              <a:t>12</a:t>
            </a:fld>
            <a:endParaRPr lang="en-US"/>
          </a:p>
        </p:txBody>
      </p:sp>
      <p:sp>
        <p:nvSpPr>
          <p:cNvPr id="36868" name="Footer Placeholder 8"/>
          <p:cNvSpPr>
            <a:spLocks noGrp="1"/>
          </p:cNvSpPr>
          <p:nvPr>
            <p:ph type="ftr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Predefined Void Functions</a:t>
            </a:r>
          </a:p>
        </p:txBody>
      </p:sp>
      <p:sp>
        <p:nvSpPr>
          <p:cNvPr id="3891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z="2800" smtClean="0"/>
              <a:t>No returned value</a:t>
            </a:r>
          </a:p>
          <a:p>
            <a:pPr eaLnBrk="1" hangingPunct="1"/>
            <a:r>
              <a:rPr lang="en-US" sz="2800" smtClean="0"/>
              <a:t>Performs an action, but sends no "answer"</a:t>
            </a:r>
          </a:p>
          <a:p>
            <a:pPr eaLnBrk="1" hangingPunct="1"/>
            <a:r>
              <a:rPr lang="en-US" sz="2800" smtClean="0"/>
              <a:t>When called, it’s a statement itself</a:t>
            </a:r>
          </a:p>
          <a:p>
            <a:pPr lvl="1" eaLnBrk="1" hangingPunct="1"/>
            <a:r>
              <a:rPr lang="en-US" sz="2400" smtClean="0"/>
              <a:t>exit(1);	// No return value, so not assigned</a:t>
            </a:r>
          </a:p>
          <a:p>
            <a:pPr lvl="2" eaLnBrk="1" hangingPunct="1"/>
            <a:r>
              <a:rPr lang="en-US" sz="2000" smtClean="0"/>
              <a:t>This call terminates program</a:t>
            </a:r>
          </a:p>
          <a:p>
            <a:pPr lvl="2" eaLnBrk="1" hangingPunct="1"/>
            <a:r>
              <a:rPr lang="en-US" sz="2000" smtClean="0"/>
              <a:t>void functions can still have arguments</a:t>
            </a:r>
          </a:p>
          <a:p>
            <a:pPr eaLnBrk="1" hangingPunct="1"/>
            <a:r>
              <a:rPr lang="en-US" sz="2800" smtClean="0"/>
              <a:t>All aspects same as functions that "return</a:t>
            </a:r>
            <a:br>
              <a:rPr lang="en-US" sz="2800" smtClean="0"/>
            </a:br>
            <a:r>
              <a:rPr lang="en-US" sz="2800" smtClean="0"/>
              <a:t>a value"</a:t>
            </a:r>
          </a:p>
          <a:p>
            <a:pPr lvl="1" eaLnBrk="1" hangingPunct="1"/>
            <a:r>
              <a:rPr lang="en-US" sz="2400" smtClean="0"/>
              <a:t>They just don’t return a value!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3-</a:t>
            </a:r>
            <a:fld id="{1BFE37D2-C284-4626-BBBF-F3DFC32FC60D}" type="slidenum">
              <a:rPr lang="en-US"/>
              <a:pPr>
                <a:defRPr/>
              </a:pPr>
              <a:t>13</a:t>
            </a:fld>
            <a:endParaRPr lang="en-US"/>
          </a:p>
        </p:txBody>
      </p:sp>
      <p:sp>
        <p:nvSpPr>
          <p:cNvPr id="38916" name="Footer Placeholder 8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Random Number Generator</a:t>
            </a:r>
          </a:p>
        </p:txBody>
      </p:sp>
      <p:sp>
        <p:nvSpPr>
          <p:cNvPr id="4096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04888" y="1524000"/>
            <a:ext cx="7815262" cy="4437063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800" smtClean="0"/>
              <a:t>Return "randomly chosen" number</a:t>
            </a:r>
          </a:p>
          <a:p>
            <a:pPr eaLnBrk="1" hangingPunct="1">
              <a:lnSpc>
                <a:spcPct val="90000"/>
              </a:lnSpc>
            </a:pPr>
            <a:r>
              <a:rPr lang="en-US" sz="2800" smtClean="0"/>
              <a:t>Used for simulations, games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rand()</a:t>
            </a:r>
          </a:p>
          <a:p>
            <a:pPr lvl="2" eaLnBrk="1" hangingPunct="1">
              <a:lnSpc>
                <a:spcPct val="90000"/>
              </a:lnSpc>
            </a:pPr>
            <a:r>
              <a:rPr lang="en-US" sz="2000" smtClean="0"/>
              <a:t>Takes no arguments</a:t>
            </a:r>
          </a:p>
          <a:p>
            <a:pPr lvl="2" eaLnBrk="1" hangingPunct="1">
              <a:lnSpc>
                <a:spcPct val="90000"/>
              </a:lnSpc>
            </a:pPr>
            <a:r>
              <a:rPr lang="en-US" sz="2000" smtClean="0"/>
              <a:t>Returns value between 0 &amp; RAND_MAX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Scaling</a:t>
            </a:r>
          </a:p>
          <a:p>
            <a:pPr lvl="2" eaLnBrk="1" hangingPunct="1">
              <a:lnSpc>
                <a:spcPct val="90000"/>
              </a:lnSpc>
            </a:pPr>
            <a:r>
              <a:rPr lang="en-US" sz="2000" smtClean="0"/>
              <a:t>Squeezes random number into smaller range </a:t>
            </a:r>
            <a:br>
              <a:rPr lang="en-US" sz="2000" smtClean="0"/>
            </a:br>
            <a:r>
              <a:rPr lang="en-US" sz="2000" smtClean="0"/>
              <a:t>rand() % 6</a:t>
            </a:r>
          </a:p>
          <a:p>
            <a:pPr lvl="2" eaLnBrk="1" hangingPunct="1">
              <a:lnSpc>
                <a:spcPct val="90000"/>
              </a:lnSpc>
            </a:pPr>
            <a:r>
              <a:rPr lang="en-US" sz="2000" smtClean="0"/>
              <a:t>Returns random value between 0 &amp; 5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Shifting</a:t>
            </a:r>
            <a:br>
              <a:rPr lang="en-US" sz="2400" smtClean="0"/>
            </a:br>
            <a:r>
              <a:rPr lang="en-US" sz="2400" smtClean="0"/>
              <a:t>rand() % 6 + 1</a:t>
            </a:r>
          </a:p>
          <a:p>
            <a:pPr lvl="2" eaLnBrk="1" hangingPunct="1">
              <a:lnSpc>
                <a:spcPct val="90000"/>
              </a:lnSpc>
            </a:pPr>
            <a:r>
              <a:rPr lang="en-US" sz="2000" smtClean="0"/>
              <a:t>Shifts range between 1 &amp; 6 (e.g., die roll)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3-</a:t>
            </a:r>
            <a:fld id="{A02F76EA-4466-41FE-AB91-EE0322626D48}" type="slidenum">
              <a:rPr lang="en-US"/>
              <a:pPr>
                <a:defRPr/>
              </a:pPr>
              <a:t>14</a:t>
            </a:fld>
            <a:endParaRPr lang="en-US"/>
          </a:p>
        </p:txBody>
      </p:sp>
      <p:sp>
        <p:nvSpPr>
          <p:cNvPr id="40964" name="Footer Placeholder 8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Random Number Seed</a:t>
            </a:r>
          </a:p>
        </p:txBody>
      </p:sp>
      <p:sp>
        <p:nvSpPr>
          <p:cNvPr id="4301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z="2400" smtClean="0"/>
              <a:t>Pseudorandom numbers</a:t>
            </a:r>
          </a:p>
          <a:p>
            <a:pPr lvl="1" eaLnBrk="1" hangingPunct="1"/>
            <a:r>
              <a:rPr lang="en-US" sz="2000" smtClean="0"/>
              <a:t>Calls to rand() produce given "sequence"</a:t>
            </a:r>
            <a:br>
              <a:rPr lang="en-US" sz="2000" smtClean="0"/>
            </a:br>
            <a:r>
              <a:rPr lang="en-US" sz="2000" smtClean="0"/>
              <a:t>of random numbers</a:t>
            </a:r>
          </a:p>
          <a:p>
            <a:pPr eaLnBrk="1" hangingPunct="1">
              <a:spcBef>
                <a:spcPct val="60000"/>
              </a:spcBef>
            </a:pPr>
            <a:r>
              <a:rPr lang="en-US" sz="2400" smtClean="0"/>
              <a:t>Use "seed" to alter sequence</a:t>
            </a:r>
            <a:br>
              <a:rPr lang="en-US" sz="2400" smtClean="0"/>
            </a:br>
            <a:r>
              <a:rPr lang="en-US" sz="2400" smtClean="0"/>
              <a:t>srand(seed_value);</a:t>
            </a:r>
          </a:p>
          <a:p>
            <a:pPr lvl="1" eaLnBrk="1" hangingPunct="1"/>
            <a:r>
              <a:rPr lang="en-US" sz="2000" smtClean="0"/>
              <a:t>void function</a:t>
            </a:r>
          </a:p>
          <a:p>
            <a:pPr lvl="1" eaLnBrk="1" hangingPunct="1"/>
            <a:r>
              <a:rPr lang="en-US" sz="2000" smtClean="0"/>
              <a:t>Receives one argument, the "seed"</a:t>
            </a:r>
          </a:p>
          <a:p>
            <a:pPr lvl="1" eaLnBrk="1" hangingPunct="1"/>
            <a:r>
              <a:rPr lang="en-US" sz="2000" smtClean="0"/>
              <a:t>Can use any seed value, including system time:</a:t>
            </a:r>
            <a:br>
              <a:rPr lang="en-US" sz="2000" smtClean="0"/>
            </a:br>
            <a:r>
              <a:rPr lang="en-US" sz="2000" smtClean="0"/>
              <a:t>srand(time(0));</a:t>
            </a:r>
          </a:p>
          <a:p>
            <a:pPr lvl="1" eaLnBrk="1" hangingPunct="1"/>
            <a:r>
              <a:rPr lang="en-US" sz="2000" smtClean="0"/>
              <a:t>time() returns system time as numeric value</a:t>
            </a:r>
          </a:p>
          <a:p>
            <a:pPr lvl="1" eaLnBrk="1" hangingPunct="1"/>
            <a:r>
              <a:rPr lang="en-US" sz="2000" smtClean="0"/>
              <a:t>Library &lt;time&gt; contains time() functions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3-</a:t>
            </a:r>
            <a:fld id="{354F3CA6-B9F0-4895-9C94-6631F9466386}" type="slidenum">
              <a:rPr lang="en-US"/>
              <a:pPr>
                <a:defRPr/>
              </a:pPr>
              <a:t>15</a:t>
            </a:fld>
            <a:endParaRPr lang="en-US"/>
          </a:p>
        </p:txBody>
      </p:sp>
      <p:sp>
        <p:nvSpPr>
          <p:cNvPr id="43012" name="Footer Placeholder 8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Random Examples</a:t>
            </a:r>
          </a:p>
        </p:txBody>
      </p:sp>
      <p:sp>
        <p:nvSpPr>
          <p:cNvPr id="4505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z="2800" smtClean="0"/>
              <a:t>Random double between 0.0 &amp; 1.0:</a:t>
            </a:r>
            <a:br>
              <a:rPr lang="en-US" sz="2800" smtClean="0"/>
            </a:br>
            <a:r>
              <a:rPr lang="en-US" sz="2000" smtClean="0"/>
              <a:t>(RAND_MAX – rand())/static_cast&lt;double&gt;(RAND_MAX)</a:t>
            </a:r>
          </a:p>
          <a:p>
            <a:pPr lvl="1" eaLnBrk="1" hangingPunct="1"/>
            <a:r>
              <a:rPr lang="en-US" sz="2400" smtClean="0"/>
              <a:t>Type cast used to force double-precision division</a:t>
            </a:r>
          </a:p>
          <a:p>
            <a:pPr eaLnBrk="1" hangingPunct="1">
              <a:spcBef>
                <a:spcPct val="50000"/>
              </a:spcBef>
            </a:pPr>
            <a:r>
              <a:rPr lang="en-US" sz="2800" smtClean="0"/>
              <a:t>Random int between 1 &amp; 6:</a:t>
            </a:r>
            <a:br>
              <a:rPr lang="en-US" sz="2800" smtClean="0"/>
            </a:br>
            <a:r>
              <a:rPr lang="en-US" sz="2800" smtClean="0"/>
              <a:t>rand() % 6 + 1</a:t>
            </a:r>
          </a:p>
          <a:p>
            <a:pPr lvl="1" eaLnBrk="1" hangingPunct="1"/>
            <a:r>
              <a:rPr lang="en-US" sz="2400" smtClean="0"/>
              <a:t>"%" is modulus operator (remainder)</a:t>
            </a:r>
          </a:p>
          <a:p>
            <a:pPr eaLnBrk="1" hangingPunct="1">
              <a:spcBef>
                <a:spcPct val="50000"/>
              </a:spcBef>
            </a:pPr>
            <a:r>
              <a:rPr lang="en-US" sz="2800" smtClean="0"/>
              <a:t>Random int between 10 &amp; 20:</a:t>
            </a:r>
            <a:br>
              <a:rPr lang="en-US" sz="2800" smtClean="0"/>
            </a:br>
            <a:r>
              <a:rPr lang="en-US" sz="2800" smtClean="0"/>
              <a:t>rand() % 10 + 10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3-</a:t>
            </a:r>
            <a:fld id="{9120761C-87B9-47BF-9CC9-A64BF47C67DF}" type="slidenum">
              <a:rPr lang="en-US"/>
              <a:pPr>
                <a:defRPr/>
              </a:pPr>
              <a:t>16</a:t>
            </a:fld>
            <a:endParaRPr lang="en-US"/>
          </a:p>
        </p:txBody>
      </p:sp>
      <p:sp>
        <p:nvSpPr>
          <p:cNvPr id="45060" name="Footer Placeholder 8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Programmer-Defined Functions</a:t>
            </a:r>
          </a:p>
        </p:txBody>
      </p:sp>
      <p:sp>
        <p:nvSpPr>
          <p:cNvPr id="4710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mtClean="0"/>
              <a:t>Write your own functions!</a:t>
            </a:r>
          </a:p>
          <a:p>
            <a:pPr eaLnBrk="1" hangingPunct="1">
              <a:lnSpc>
                <a:spcPct val="90000"/>
              </a:lnSpc>
            </a:pPr>
            <a:r>
              <a:rPr lang="en-US" smtClean="0"/>
              <a:t>Building blocks of programs</a:t>
            </a:r>
          </a:p>
          <a:p>
            <a:pPr lvl="1" eaLnBrk="1" hangingPunct="1">
              <a:lnSpc>
                <a:spcPct val="90000"/>
              </a:lnSpc>
            </a:pPr>
            <a:r>
              <a:rPr lang="en-US" smtClean="0"/>
              <a:t>Divide &amp; Conquer</a:t>
            </a:r>
          </a:p>
          <a:p>
            <a:pPr lvl="1" eaLnBrk="1" hangingPunct="1">
              <a:lnSpc>
                <a:spcPct val="90000"/>
              </a:lnSpc>
            </a:pPr>
            <a:r>
              <a:rPr lang="en-US" smtClean="0"/>
              <a:t>Readability</a:t>
            </a:r>
          </a:p>
          <a:p>
            <a:pPr lvl="1" eaLnBrk="1" hangingPunct="1">
              <a:lnSpc>
                <a:spcPct val="90000"/>
              </a:lnSpc>
            </a:pPr>
            <a:r>
              <a:rPr lang="en-US" smtClean="0"/>
              <a:t>Re-use</a:t>
            </a:r>
          </a:p>
          <a:p>
            <a:pPr eaLnBrk="1" hangingPunct="1">
              <a:lnSpc>
                <a:spcPct val="90000"/>
              </a:lnSpc>
            </a:pPr>
            <a:r>
              <a:rPr lang="en-US" smtClean="0"/>
              <a:t>Your "definition" can go in either:</a:t>
            </a:r>
          </a:p>
          <a:p>
            <a:pPr lvl="1" eaLnBrk="1" hangingPunct="1">
              <a:lnSpc>
                <a:spcPct val="90000"/>
              </a:lnSpc>
            </a:pPr>
            <a:r>
              <a:rPr lang="en-US" smtClean="0"/>
              <a:t>Same file as main()</a:t>
            </a:r>
          </a:p>
          <a:p>
            <a:pPr lvl="1" eaLnBrk="1" hangingPunct="1">
              <a:lnSpc>
                <a:spcPct val="90000"/>
              </a:lnSpc>
            </a:pPr>
            <a:r>
              <a:rPr lang="en-US" smtClean="0"/>
              <a:t>Separate file so others can use it, too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3-</a:t>
            </a:r>
            <a:fld id="{C2F698DE-5B95-4538-AD22-DC4D2136EC45}" type="slidenum">
              <a:rPr lang="en-US"/>
              <a:pPr>
                <a:defRPr/>
              </a:pPr>
              <a:t>17</a:t>
            </a:fld>
            <a:endParaRPr lang="en-US"/>
          </a:p>
        </p:txBody>
      </p:sp>
      <p:sp>
        <p:nvSpPr>
          <p:cNvPr id="47108" name="Footer Placeholder 8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Components of Function Use</a:t>
            </a:r>
          </a:p>
        </p:txBody>
      </p:sp>
      <p:sp>
        <p:nvSpPr>
          <p:cNvPr id="4915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mtClean="0"/>
              <a:t>3 Pieces to using functions:</a:t>
            </a:r>
          </a:p>
          <a:p>
            <a:pPr lvl="1" eaLnBrk="1" hangingPunct="1">
              <a:lnSpc>
                <a:spcPct val="90000"/>
              </a:lnSpc>
            </a:pPr>
            <a:r>
              <a:rPr lang="en-US" smtClean="0"/>
              <a:t>Function Declaration/prototype</a:t>
            </a:r>
          </a:p>
          <a:p>
            <a:pPr lvl="2" eaLnBrk="1" hangingPunct="1">
              <a:lnSpc>
                <a:spcPct val="90000"/>
              </a:lnSpc>
            </a:pPr>
            <a:r>
              <a:rPr lang="en-US" smtClean="0"/>
              <a:t>Information for compiler</a:t>
            </a:r>
          </a:p>
          <a:p>
            <a:pPr lvl="2" eaLnBrk="1" hangingPunct="1">
              <a:lnSpc>
                <a:spcPct val="90000"/>
              </a:lnSpc>
            </a:pPr>
            <a:r>
              <a:rPr lang="en-US" smtClean="0"/>
              <a:t>To properly interpret calls</a:t>
            </a:r>
          </a:p>
          <a:p>
            <a:pPr lvl="1" eaLnBrk="1" hangingPunct="1">
              <a:lnSpc>
                <a:spcPct val="90000"/>
              </a:lnSpc>
            </a:pPr>
            <a:r>
              <a:rPr lang="en-US" smtClean="0"/>
              <a:t>Function Definition</a:t>
            </a:r>
          </a:p>
          <a:p>
            <a:pPr lvl="2" eaLnBrk="1" hangingPunct="1">
              <a:lnSpc>
                <a:spcPct val="90000"/>
              </a:lnSpc>
            </a:pPr>
            <a:r>
              <a:rPr lang="en-US" smtClean="0"/>
              <a:t>Actual implementation/code for what </a:t>
            </a:r>
            <a:br>
              <a:rPr lang="en-US" smtClean="0"/>
            </a:br>
            <a:r>
              <a:rPr lang="en-US" smtClean="0"/>
              <a:t>function does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smtClean="0"/>
              <a:t>Function Call</a:t>
            </a:r>
          </a:p>
          <a:p>
            <a:pPr lvl="2" eaLnBrk="1" hangingPunct="1">
              <a:lnSpc>
                <a:spcPct val="90000"/>
              </a:lnSpc>
            </a:pPr>
            <a:r>
              <a:rPr lang="en-US" smtClean="0"/>
              <a:t>Transfer control to function 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3-</a:t>
            </a:r>
            <a:fld id="{F6EB14F7-6C96-4460-B2B7-ADCA9E471740}" type="slidenum">
              <a:rPr lang="en-US"/>
              <a:pPr>
                <a:defRPr/>
              </a:pPr>
              <a:t>18</a:t>
            </a:fld>
            <a:endParaRPr lang="en-US"/>
          </a:p>
        </p:txBody>
      </p:sp>
      <p:sp>
        <p:nvSpPr>
          <p:cNvPr id="49156" name="Footer Placeholder 8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Function Declaration</a:t>
            </a:r>
          </a:p>
        </p:txBody>
      </p:sp>
      <p:sp>
        <p:nvSpPr>
          <p:cNvPr id="4935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04888" y="1524000"/>
            <a:ext cx="7815262" cy="4437063"/>
          </a:xfrm>
        </p:spPr>
        <p:txBody>
          <a:bodyPr rtlCol="0">
            <a:normAutofit lnSpcReduction="10000"/>
          </a:bodyPr>
          <a:lstStyle/>
          <a:p>
            <a:pPr eaLnBrk="1" fontAlgn="auto" hangingPunct="1">
              <a:lnSpc>
                <a:spcPct val="90000"/>
              </a:lnSpc>
              <a:spcAft>
                <a:spcPts val="0"/>
              </a:spcAft>
              <a:buFont typeface="Arial" pitchFamily="34" charset="0"/>
              <a:buChar char="•"/>
              <a:tabLst>
                <a:tab pos="3656013" algn="l"/>
              </a:tabLst>
              <a:defRPr/>
            </a:pPr>
            <a:r>
              <a:rPr lang="en-US" sz="2800"/>
              <a:t>Also called function prototoype</a:t>
            </a:r>
          </a:p>
          <a:p>
            <a:pPr eaLnBrk="1" fontAlgn="auto" hangingPunct="1">
              <a:lnSpc>
                <a:spcPct val="90000"/>
              </a:lnSpc>
              <a:spcAft>
                <a:spcPts val="0"/>
              </a:spcAft>
              <a:buFont typeface="Arial" pitchFamily="34" charset="0"/>
              <a:buChar char="•"/>
              <a:tabLst>
                <a:tab pos="3656013" algn="l"/>
              </a:tabLst>
              <a:defRPr/>
            </a:pPr>
            <a:r>
              <a:rPr lang="en-US" sz="2800"/>
              <a:t>An "informational" declaration for compiler</a:t>
            </a:r>
          </a:p>
          <a:p>
            <a:pPr eaLnBrk="1" fontAlgn="auto" hangingPunct="1">
              <a:lnSpc>
                <a:spcPct val="90000"/>
              </a:lnSpc>
              <a:spcAft>
                <a:spcPts val="0"/>
              </a:spcAft>
              <a:buFont typeface="Arial" pitchFamily="34" charset="0"/>
              <a:buChar char="•"/>
              <a:tabLst>
                <a:tab pos="3656013" algn="l"/>
              </a:tabLst>
              <a:defRPr/>
            </a:pPr>
            <a:r>
              <a:rPr lang="en-US" sz="2800"/>
              <a:t>Tells compiler how to interpret calls</a:t>
            </a:r>
          </a:p>
          <a:p>
            <a:pPr lvl="1" eaLnBrk="1" fontAlgn="auto" hangingPunct="1">
              <a:lnSpc>
                <a:spcPct val="90000"/>
              </a:lnSpc>
              <a:spcAft>
                <a:spcPts val="0"/>
              </a:spcAft>
              <a:buFont typeface="Arial" pitchFamily="34" charset="0"/>
              <a:buChar char="–"/>
              <a:tabLst>
                <a:tab pos="3656013" algn="l"/>
              </a:tabLst>
              <a:defRPr/>
            </a:pPr>
            <a:r>
              <a:rPr lang="en-US" sz="2400"/>
              <a:t>Syntax:</a:t>
            </a:r>
            <a:br>
              <a:rPr lang="en-US" sz="2400"/>
            </a:br>
            <a:r>
              <a:rPr lang="en-US" sz="2400"/>
              <a:t>&lt;return_type&gt; FnName(&lt;formal-parameter-list&gt;);</a:t>
            </a:r>
          </a:p>
          <a:p>
            <a:pPr lvl="1" eaLnBrk="1" fontAlgn="auto" hangingPunct="1">
              <a:lnSpc>
                <a:spcPct val="90000"/>
              </a:lnSpc>
              <a:spcAft>
                <a:spcPts val="0"/>
              </a:spcAft>
              <a:buFont typeface="Arial" pitchFamily="34" charset="0"/>
              <a:buChar char="–"/>
              <a:tabLst>
                <a:tab pos="3656013" algn="l"/>
              </a:tabLst>
              <a:defRPr/>
            </a:pPr>
            <a:r>
              <a:rPr lang="en-US" sz="2400"/>
              <a:t>Example:</a:t>
            </a:r>
            <a:br>
              <a:rPr lang="en-US" sz="2400"/>
            </a:br>
            <a:r>
              <a:rPr lang="en-US" sz="2400"/>
              <a:t>double totalCost(	int numberParameter,</a:t>
            </a:r>
            <a:br>
              <a:rPr lang="en-US" sz="2400"/>
            </a:br>
            <a:r>
              <a:rPr lang="en-US" sz="2400"/>
              <a:t>	double priceParameter);</a:t>
            </a:r>
          </a:p>
          <a:p>
            <a:pPr eaLnBrk="1" fontAlgn="auto" hangingPunct="1">
              <a:lnSpc>
                <a:spcPct val="90000"/>
              </a:lnSpc>
              <a:spcAft>
                <a:spcPts val="0"/>
              </a:spcAft>
              <a:buFont typeface="Arial" pitchFamily="34" charset="0"/>
              <a:buChar char="•"/>
              <a:tabLst>
                <a:tab pos="3656013" algn="l"/>
              </a:tabLst>
              <a:defRPr/>
            </a:pPr>
            <a:r>
              <a:rPr lang="en-US" sz="2800"/>
              <a:t>Placed before any calls</a:t>
            </a:r>
          </a:p>
          <a:p>
            <a:pPr lvl="1" eaLnBrk="1" fontAlgn="auto" hangingPunct="1">
              <a:lnSpc>
                <a:spcPct val="90000"/>
              </a:lnSpc>
              <a:spcAft>
                <a:spcPts val="0"/>
              </a:spcAft>
              <a:buFont typeface="Arial" pitchFamily="34" charset="0"/>
              <a:buChar char="–"/>
              <a:tabLst>
                <a:tab pos="3656013" algn="l"/>
              </a:tabLst>
              <a:defRPr/>
            </a:pPr>
            <a:r>
              <a:rPr lang="en-US" sz="2400"/>
              <a:t>In declaration space of main()</a:t>
            </a:r>
          </a:p>
          <a:p>
            <a:pPr lvl="1" eaLnBrk="1" fontAlgn="auto" hangingPunct="1">
              <a:lnSpc>
                <a:spcPct val="90000"/>
              </a:lnSpc>
              <a:spcAft>
                <a:spcPts val="0"/>
              </a:spcAft>
              <a:buFont typeface="Arial" pitchFamily="34" charset="0"/>
              <a:buChar char="–"/>
              <a:tabLst>
                <a:tab pos="3656013" algn="l"/>
              </a:tabLst>
              <a:defRPr/>
            </a:pPr>
            <a:r>
              <a:rPr lang="en-US" sz="2400"/>
              <a:t>Or above main() in global space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3-</a:t>
            </a:r>
            <a:fld id="{AF4CFA26-26AF-4D30-B2B5-1C1F817358F8}" type="slidenum">
              <a:rPr lang="en-US"/>
              <a:pPr>
                <a:defRPr/>
              </a:pPr>
              <a:t>19</a:t>
            </a:fld>
            <a:endParaRPr lang="en-US"/>
          </a:p>
        </p:txBody>
      </p:sp>
      <p:sp>
        <p:nvSpPr>
          <p:cNvPr id="51204" name="Footer Placeholder 8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Function Definition</a:t>
            </a:r>
          </a:p>
        </p:txBody>
      </p:sp>
      <p:sp>
        <p:nvSpPr>
          <p:cNvPr id="5325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400" smtClean="0"/>
              <a:t>Implementation of function</a:t>
            </a:r>
          </a:p>
          <a:p>
            <a:pPr eaLnBrk="1" hangingPunct="1">
              <a:lnSpc>
                <a:spcPct val="90000"/>
              </a:lnSpc>
            </a:pPr>
            <a:r>
              <a:rPr lang="en-US" sz="2400" smtClean="0"/>
              <a:t>Just like implementing function main()</a:t>
            </a:r>
          </a:p>
          <a:p>
            <a:pPr eaLnBrk="1" hangingPunct="1">
              <a:lnSpc>
                <a:spcPct val="90000"/>
              </a:lnSpc>
            </a:pPr>
            <a:r>
              <a:rPr lang="en-US" sz="2400" smtClean="0"/>
              <a:t>Example:</a:t>
            </a:r>
            <a:br>
              <a:rPr lang="en-US" sz="2400" smtClean="0"/>
            </a:br>
            <a:r>
              <a:rPr lang="en-US" sz="2400" smtClean="0"/>
              <a:t>double totalCost(		int numberParameter,</a:t>
            </a:r>
            <a:br>
              <a:rPr lang="en-US" sz="2400" smtClean="0"/>
            </a:br>
            <a:r>
              <a:rPr lang="en-US" sz="2400" smtClean="0"/>
              <a:t>				double priceParameter)</a:t>
            </a:r>
            <a:br>
              <a:rPr lang="en-US" sz="2400" smtClean="0"/>
            </a:br>
            <a:r>
              <a:rPr lang="en-US" sz="2400" smtClean="0"/>
              <a:t>{</a:t>
            </a:r>
            <a:br>
              <a:rPr lang="en-US" sz="2400" smtClean="0"/>
            </a:br>
            <a:r>
              <a:rPr lang="en-US" sz="2400" smtClean="0"/>
              <a:t>	const double TAXRATE = 0.05;</a:t>
            </a:r>
            <a:br>
              <a:rPr lang="en-US" sz="2400" smtClean="0"/>
            </a:br>
            <a:r>
              <a:rPr lang="en-US" sz="2400" smtClean="0"/>
              <a:t>	double subTotal;</a:t>
            </a:r>
            <a:br>
              <a:rPr lang="en-US" sz="2400" smtClean="0"/>
            </a:br>
            <a:r>
              <a:rPr lang="en-US" sz="2400" smtClean="0"/>
              <a:t>	subtotal = priceParameter * numberParameter;</a:t>
            </a:r>
            <a:br>
              <a:rPr lang="en-US" sz="2400" smtClean="0"/>
            </a:br>
            <a:r>
              <a:rPr lang="en-US" sz="2400" smtClean="0"/>
              <a:t>	return (subtotal + subtotal * TAXRATE);</a:t>
            </a:r>
            <a:br>
              <a:rPr lang="en-US" sz="2400" smtClean="0"/>
            </a:br>
            <a:r>
              <a:rPr lang="en-US" sz="2400" smtClean="0"/>
              <a:t>}</a:t>
            </a:r>
          </a:p>
          <a:p>
            <a:pPr eaLnBrk="1" hangingPunct="1">
              <a:lnSpc>
                <a:spcPct val="90000"/>
              </a:lnSpc>
            </a:pPr>
            <a:r>
              <a:rPr lang="en-US" sz="2400" smtClean="0"/>
              <a:t>Notice proper indenting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3-</a:t>
            </a:r>
            <a:fld id="{B30E4D27-9EA8-4058-B182-2C4310B309B1}" type="slidenum">
              <a:rPr lang="en-US"/>
              <a:pPr>
                <a:defRPr/>
              </a:pPr>
              <a:t>20</a:t>
            </a:fld>
            <a:endParaRPr lang="en-US"/>
          </a:p>
        </p:txBody>
      </p:sp>
      <p:sp>
        <p:nvSpPr>
          <p:cNvPr id="53252" name="Footer Placeholder 8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Function Definition Placement</a:t>
            </a:r>
          </a:p>
        </p:txBody>
      </p:sp>
      <p:sp>
        <p:nvSpPr>
          <p:cNvPr id="5529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800" smtClean="0"/>
              <a:t>Placed after function main()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NOT "inside" function main()!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lang="en-US" sz="2800" smtClean="0"/>
              <a:t>Functions are "equals"; no function is ever</a:t>
            </a:r>
            <a:br>
              <a:rPr lang="en-US" sz="2800" smtClean="0"/>
            </a:br>
            <a:r>
              <a:rPr lang="en-US" sz="2800" smtClean="0"/>
              <a:t>"part" of another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lang="en-US" sz="2800" smtClean="0"/>
              <a:t>Formal parameters in definition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"Placeholders" for data sent in</a:t>
            </a:r>
          </a:p>
          <a:p>
            <a:pPr lvl="2" eaLnBrk="1" hangingPunct="1">
              <a:lnSpc>
                <a:spcPct val="90000"/>
              </a:lnSpc>
            </a:pPr>
            <a:r>
              <a:rPr lang="en-US" sz="2000" smtClean="0"/>
              <a:t>"Variable name" used to refer to data in definition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lang="en-US" sz="2800" smtClean="0"/>
              <a:t>return statement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Sends data back to caller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3-</a:t>
            </a:r>
            <a:fld id="{92C45C59-BCD3-45DC-9D18-2A5CABF93AE7}" type="slidenum">
              <a:rPr lang="en-US"/>
              <a:pPr>
                <a:defRPr/>
              </a:pPr>
              <a:t>21</a:t>
            </a:fld>
            <a:endParaRPr lang="en-US"/>
          </a:p>
        </p:txBody>
      </p:sp>
      <p:sp>
        <p:nvSpPr>
          <p:cNvPr id="55300" name="Footer Placeholder 8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Function Call</a:t>
            </a:r>
          </a:p>
        </p:txBody>
      </p:sp>
      <p:sp>
        <p:nvSpPr>
          <p:cNvPr id="5734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800" smtClean="0"/>
              <a:t>Just like calling predefined function</a:t>
            </a:r>
            <a:br>
              <a:rPr lang="en-US" sz="2800" smtClean="0"/>
            </a:br>
            <a:r>
              <a:rPr lang="en-US" sz="2800" smtClean="0"/>
              <a:t>bill = totalCost(number, price);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lang="en-US" sz="2800" smtClean="0"/>
              <a:t>Recall: totalCost returns double value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Assigned to variable named "bill"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lang="en-US" sz="2800" smtClean="0"/>
              <a:t>Arguments here: number, price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Recall arguments can be literals, variables,</a:t>
            </a:r>
            <a:br>
              <a:rPr lang="en-US" sz="2400" smtClean="0"/>
            </a:br>
            <a:r>
              <a:rPr lang="en-US" sz="2400" smtClean="0"/>
              <a:t>expressions, or combination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In function call, arguments often called </a:t>
            </a:r>
            <a:br>
              <a:rPr lang="en-US" sz="2400" smtClean="0"/>
            </a:br>
            <a:r>
              <a:rPr lang="en-US" sz="2400" smtClean="0"/>
              <a:t>"actual arguments"</a:t>
            </a:r>
          </a:p>
          <a:p>
            <a:pPr lvl="2" eaLnBrk="1" hangingPunct="1">
              <a:lnSpc>
                <a:spcPct val="90000"/>
              </a:lnSpc>
            </a:pPr>
            <a:r>
              <a:rPr lang="en-US" sz="2000" smtClean="0"/>
              <a:t>Because they contain the "actual data" being sent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3-</a:t>
            </a:r>
            <a:fld id="{70B749A5-F8DE-4A27-9A81-690D75ECF5D2}" type="slidenum">
              <a:rPr lang="en-US"/>
              <a:pPr>
                <a:defRPr/>
              </a:pPr>
              <a:t>22</a:t>
            </a:fld>
            <a:endParaRPr lang="en-US"/>
          </a:p>
        </p:txBody>
      </p:sp>
      <p:sp>
        <p:nvSpPr>
          <p:cNvPr id="57348" name="Footer Placeholder 8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666" name="Rectangle 2"/>
          <p:cNvSpPr>
            <a:spLocks noGrp="1" noChangeArrowheads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200" dirty="0"/>
              <a:t>Function Example: </a:t>
            </a:r>
            <a:br>
              <a:rPr lang="en-US" sz="3200" dirty="0"/>
            </a:br>
            <a:r>
              <a:rPr lang="en-US" sz="3200" b="1" dirty="0"/>
              <a:t>Display 3.5</a:t>
            </a:r>
            <a:r>
              <a:rPr lang="en-US" sz="3200" dirty="0"/>
              <a:t>  A Function </a:t>
            </a:r>
            <a:r>
              <a:rPr lang="en-US" sz="3200" dirty="0" smtClean="0"/>
              <a:t>to Calculate Total Cost (</a:t>
            </a:r>
            <a:r>
              <a:rPr lang="en-US" sz="3200" dirty="0"/>
              <a:t>1 of 2)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3-</a:t>
            </a:r>
            <a:fld id="{D1CA7829-94A6-429E-8729-6F5186EBCADA}" type="slidenum">
              <a:rPr lang="en-US"/>
              <a:pPr>
                <a:defRPr/>
              </a:pPr>
              <a:t>23</a:t>
            </a:fld>
            <a:endParaRPr lang="en-US"/>
          </a:p>
        </p:txBody>
      </p:sp>
      <p:sp>
        <p:nvSpPr>
          <p:cNvPr id="59395" name="Footer Placeholder 8"/>
          <p:cNvSpPr>
            <a:spLocks noGrp="1"/>
          </p:cNvSpPr>
          <p:nvPr>
            <p:ph type="ftr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  <p:pic>
        <p:nvPicPr>
          <p:cNvPr id="59396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62000" y="1752600"/>
            <a:ext cx="7770813" cy="4400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med">
    <p:wipe dir="r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339" name="Rectangle 3"/>
          <p:cNvSpPr>
            <a:spLocks noGrp="1" noChangeArrowheads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200" dirty="0"/>
              <a:t>Function Example: </a:t>
            </a:r>
            <a:br>
              <a:rPr lang="en-US" sz="3200" dirty="0"/>
            </a:br>
            <a:r>
              <a:rPr lang="en-US" sz="3200" b="1" dirty="0"/>
              <a:t>Display 3.5</a:t>
            </a:r>
            <a:r>
              <a:rPr lang="en-US" sz="3200" dirty="0"/>
              <a:t>  A Function to Calculate Total Cost (1 of 2)</a:t>
            </a:r>
          </a:p>
        </p:txBody>
      </p:sp>
      <p:pic>
        <p:nvPicPr>
          <p:cNvPr id="61442" name="Picture 4" descr="C:\WINDOWS\Desktop\Oh_type\sacitch_C++_ppt\gif\savitchc03d05_2of2.gif"/>
          <p:cNvPicPr preferRelativeResize="0"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4"/>
          <a:srcRect/>
          <a:stretch>
            <a:fillRect/>
          </a:stretch>
        </p:blipFill>
        <p:spPr bwMode="auto">
          <a:xfrm>
            <a:off x="1741488" y="1738313"/>
            <a:ext cx="6316662" cy="4776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3-</a:t>
            </a:r>
            <a:fld id="{BCCC08DF-34DA-455E-AB82-EA7A207B3DC3}" type="slidenum">
              <a:rPr lang="en-US"/>
              <a:pPr>
                <a:defRPr/>
              </a:pPr>
              <a:t>24</a:t>
            </a:fld>
            <a:endParaRPr lang="en-US"/>
          </a:p>
        </p:txBody>
      </p:sp>
      <p:sp>
        <p:nvSpPr>
          <p:cNvPr id="61444" name="Footer Placeholder 8"/>
          <p:cNvSpPr>
            <a:spLocks noGrp="1"/>
          </p:cNvSpPr>
          <p:nvPr>
            <p:ph type="ftr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8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Alternative Function Declaration</a:t>
            </a:r>
          </a:p>
        </p:txBody>
      </p:sp>
      <p:sp>
        <p:nvSpPr>
          <p:cNvPr id="6349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800" smtClean="0"/>
              <a:t>Recall: Function declaration is "information"</a:t>
            </a:r>
            <a:br>
              <a:rPr lang="en-US" sz="2800" smtClean="0"/>
            </a:br>
            <a:r>
              <a:rPr lang="en-US" sz="2800" smtClean="0"/>
              <a:t>for compiler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lang="en-US" sz="2800" smtClean="0"/>
              <a:t>Compiler only needs to know:</a:t>
            </a:r>
          </a:p>
          <a:p>
            <a:pPr lvl="2" eaLnBrk="1" hangingPunct="1">
              <a:lnSpc>
                <a:spcPct val="90000"/>
              </a:lnSpc>
            </a:pPr>
            <a:r>
              <a:rPr lang="en-US" sz="2000" smtClean="0"/>
              <a:t>Return type</a:t>
            </a:r>
          </a:p>
          <a:p>
            <a:pPr lvl="2" eaLnBrk="1" hangingPunct="1">
              <a:lnSpc>
                <a:spcPct val="90000"/>
              </a:lnSpc>
            </a:pPr>
            <a:r>
              <a:rPr lang="en-US" sz="2000" smtClean="0"/>
              <a:t>Function name</a:t>
            </a:r>
          </a:p>
          <a:p>
            <a:pPr lvl="2" eaLnBrk="1" hangingPunct="1">
              <a:lnSpc>
                <a:spcPct val="90000"/>
              </a:lnSpc>
            </a:pPr>
            <a:r>
              <a:rPr lang="en-US" sz="2000" smtClean="0"/>
              <a:t>Parameter list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lang="en-US" sz="2800" smtClean="0"/>
              <a:t>Formal parameter names not needed:</a:t>
            </a:r>
            <a:br>
              <a:rPr lang="en-US" sz="2800" smtClean="0"/>
            </a:br>
            <a:r>
              <a:rPr lang="en-US" sz="2800" smtClean="0"/>
              <a:t>double totalCost(int, double);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Still "should" put in formal parameter names</a:t>
            </a:r>
          </a:p>
          <a:p>
            <a:pPr lvl="2" eaLnBrk="1" hangingPunct="1">
              <a:lnSpc>
                <a:spcPct val="90000"/>
              </a:lnSpc>
            </a:pPr>
            <a:r>
              <a:rPr lang="en-US" sz="2000" smtClean="0"/>
              <a:t>Improves readability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3-</a:t>
            </a:r>
            <a:fld id="{9BF412A3-E957-4A3B-B98E-903F3F6D98A4}" type="slidenum">
              <a:rPr lang="en-US"/>
              <a:pPr>
                <a:defRPr/>
              </a:pPr>
              <a:t>25</a:t>
            </a:fld>
            <a:endParaRPr lang="en-US"/>
          </a:p>
        </p:txBody>
      </p:sp>
      <p:sp>
        <p:nvSpPr>
          <p:cNvPr id="63492" name="Footer Placeholder 8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Parameter vs. Argument</a:t>
            </a:r>
          </a:p>
        </p:txBody>
      </p:sp>
      <p:sp>
        <p:nvSpPr>
          <p:cNvPr id="6553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800" smtClean="0"/>
              <a:t>Terms often used interchangeably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lang="en-US" sz="2800" smtClean="0"/>
              <a:t>Formal parameters/arguments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In function declaration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In function definition’s header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lang="en-US" sz="2800" smtClean="0"/>
              <a:t>Actual parameters/arguments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In function call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lang="en-US" sz="2800" smtClean="0"/>
              <a:t>Technically parameter is "formal" piece</a:t>
            </a:r>
            <a:br>
              <a:rPr lang="en-US" sz="2800" smtClean="0"/>
            </a:br>
            <a:r>
              <a:rPr lang="en-US" sz="2800" smtClean="0"/>
              <a:t>while argument is "actual" piece*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*Terms not always used this way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3-</a:t>
            </a:r>
            <a:fld id="{08218B05-450D-4047-BAF9-F5C985C11DEE}" type="slidenum">
              <a:rPr lang="en-US"/>
              <a:pPr>
                <a:defRPr/>
              </a:pPr>
              <a:t>26</a:t>
            </a:fld>
            <a:endParaRPr lang="en-US"/>
          </a:p>
        </p:txBody>
      </p:sp>
      <p:sp>
        <p:nvSpPr>
          <p:cNvPr id="65540" name="Footer Placeholder 8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Functions Calling Functions</a:t>
            </a:r>
          </a:p>
        </p:txBody>
      </p:sp>
      <p:sp>
        <p:nvSpPr>
          <p:cNvPr id="6758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04888" y="1524000"/>
            <a:ext cx="7815262" cy="4437063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800" smtClean="0"/>
              <a:t>We’re already doing this!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main() IS a function!</a:t>
            </a:r>
          </a:p>
          <a:p>
            <a:pPr eaLnBrk="1" hangingPunct="1">
              <a:lnSpc>
                <a:spcPct val="90000"/>
              </a:lnSpc>
            </a:pPr>
            <a:r>
              <a:rPr lang="en-US" sz="2800" smtClean="0"/>
              <a:t>Only requirement: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Function’s declaration must appear first</a:t>
            </a:r>
          </a:p>
          <a:p>
            <a:pPr eaLnBrk="1" hangingPunct="1">
              <a:lnSpc>
                <a:spcPct val="90000"/>
              </a:lnSpc>
            </a:pPr>
            <a:r>
              <a:rPr lang="en-US" sz="2800" smtClean="0"/>
              <a:t>Function’s definition typically elsewhere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After main()"s definition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Or in separate file</a:t>
            </a:r>
          </a:p>
          <a:p>
            <a:pPr eaLnBrk="1" hangingPunct="1">
              <a:lnSpc>
                <a:spcPct val="90000"/>
              </a:lnSpc>
            </a:pPr>
            <a:r>
              <a:rPr lang="en-US" sz="2800" smtClean="0"/>
              <a:t>Common for functions to call many other</a:t>
            </a:r>
            <a:br>
              <a:rPr lang="en-US" sz="2800" smtClean="0"/>
            </a:br>
            <a:r>
              <a:rPr lang="en-US" sz="2800" smtClean="0"/>
              <a:t>functions</a:t>
            </a:r>
          </a:p>
          <a:p>
            <a:pPr eaLnBrk="1" hangingPunct="1">
              <a:lnSpc>
                <a:spcPct val="90000"/>
              </a:lnSpc>
            </a:pPr>
            <a:r>
              <a:rPr lang="en-US" sz="2800" smtClean="0"/>
              <a:t>Function can even call itself </a:t>
            </a:r>
            <a:r>
              <a:rPr lang="en-US" sz="2800" smtClean="0">
                <a:sym typeface="Wingdings" pitchFamily="2" charset="2"/>
              </a:rPr>
              <a:t></a:t>
            </a:r>
            <a:r>
              <a:rPr lang="en-US" sz="2800" smtClean="0"/>
              <a:t> "Recursion"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3-</a:t>
            </a:r>
            <a:fld id="{07156C93-32DB-4B13-AE57-045F69DFAB11}" type="slidenum">
              <a:rPr lang="en-US"/>
              <a:pPr>
                <a:defRPr/>
              </a:pPr>
              <a:t>27</a:t>
            </a:fld>
            <a:endParaRPr lang="en-US"/>
          </a:p>
        </p:txBody>
      </p:sp>
      <p:sp>
        <p:nvSpPr>
          <p:cNvPr id="67588" name="Footer Placeholder 8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Boolean Return-Type Functions</a:t>
            </a:r>
          </a:p>
        </p:txBody>
      </p:sp>
      <p:sp>
        <p:nvSpPr>
          <p:cNvPr id="6963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spcBef>
                <a:spcPct val="50000"/>
              </a:spcBef>
            </a:pPr>
            <a:r>
              <a:rPr lang="en-US" sz="2400" smtClean="0"/>
              <a:t>Return-type can be any valid type</a:t>
            </a:r>
          </a:p>
          <a:p>
            <a:pPr lvl="1" eaLnBrk="1" hangingPunct="1">
              <a:spcBef>
                <a:spcPct val="50000"/>
              </a:spcBef>
            </a:pPr>
            <a:r>
              <a:rPr lang="en-US" sz="2000" smtClean="0"/>
              <a:t>Given function declaration/prototype:</a:t>
            </a:r>
            <a:br>
              <a:rPr lang="en-US" sz="2000" smtClean="0"/>
            </a:br>
            <a:r>
              <a:rPr lang="en-US" sz="2000" smtClean="0"/>
              <a:t>bool appropriate(int rate);</a:t>
            </a:r>
          </a:p>
          <a:p>
            <a:pPr lvl="1" eaLnBrk="1" hangingPunct="1">
              <a:spcBef>
                <a:spcPct val="50000"/>
              </a:spcBef>
            </a:pPr>
            <a:r>
              <a:rPr lang="en-US" sz="2000" smtClean="0"/>
              <a:t>And function’s definition:</a:t>
            </a:r>
            <a:br>
              <a:rPr lang="en-US" sz="2000" smtClean="0"/>
            </a:br>
            <a:r>
              <a:rPr lang="en-US" sz="2000" smtClean="0"/>
              <a:t>bool appropriate (int rate)</a:t>
            </a:r>
            <a:br>
              <a:rPr lang="en-US" sz="2000" smtClean="0"/>
            </a:br>
            <a:r>
              <a:rPr lang="en-US" sz="2000" smtClean="0"/>
              <a:t>{</a:t>
            </a:r>
            <a:br>
              <a:rPr lang="en-US" sz="2000" smtClean="0"/>
            </a:br>
            <a:r>
              <a:rPr lang="en-US" sz="2000" smtClean="0"/>
              <a:t>		return (((rate&gt;=10)&amp;&amp;(rate&lt;20))||(rate==0);</a:t>
            </a:r>
            <a:br>
              <a:rPr lang="en-US" sz="2000" smtClean="0"/>
            </a:br>
            <a:r>
              <a:rPr lang="en-US" sz="2000" smtClean="0"/>
              <a:t>}</a:t>
            </a:r>
          </a:p>
          <a:p>
            <a:pPr lvl="1" eaLnBrk="1" hangingPunct="1">
              <a:spcBef>
                <a:spcPct val="50000"/>
              </a:spcBef>
            </a:pPr>
            <a:r>
              <a:rPr lang="en-US" sz="2000" smtClean="0"/>
              <a:t>Returns "true" or "false"</a:t>
            </a:r>
          </a:p>
          <a:p>
            <a:pPr lvl="1" eaLnBrk="1" hangingPunct="1">
              <a:spcBef>
                <a:spcPct val="50000"/>
              </a:spcBef>
            </a:pPr>
            <a:r>
              <a:rPr lang="en-US" sz="2000" smtClean="0"/>
              <a:t>Function call, from some other function:</a:t>
            </a:r>
            <a:br>
              <a:rPr lang="en-US" sz="2000" smtClean="0"/>
            </a:br>
            <a:r>
              <a:rPr lang="en-US" sz="2000" smtClean="0"/>
              <a:t>if (appropriate(entered_rate))</a:t>
            </a:r>
            <a:br>
              <a:rPr lang="en-US" sz="2000" smtClean="0"/>
            </a:br>
            <a:r>
              <a:rPr lang="en-US" sz="2000" smtClean="0"/>
              <a:t>     cout &lt;&lt; "Rate is valid\n";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3-</a:t>
            </a:r>
            <a:fld id="{97AF05F5-88E5-4A24-A56E-D1B354CF2E2A}" type="slidenum">
              <a:rPr lang="en-US"/>
              <a:pPr>
                <a:defRPr/>
              </a:pPr>
              <a:t>28</a:t>
            </a:fld>
            <a:endParaRPr lang="en-US"/>
          </a:p>
        </p:txBody>
      </p:sp>
      <p:sp>
        <p:nvSpPr>
          <p:cNvPr id="69636" name="Footer Placeholder 8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Declaring Void Functions</a:t>
            </a:r>
          </a:p>
        </p:txBody>
      </p:sp>
      <p:sp>
        <p:nvSpPr>
          <p:cNvPr id="7168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mtClean="0"/>
              <a:t>Similar to functions returning a value</a:t>
            </a:r>
          </a:p>
          <a:p>
            <a:pPr eaLnBrk="1" hangingPunct="1"/>
            <a:r>
              <a:rPr lang="en-US" smtClean="0"/>
              <a:t>Return type specified as "void"</a:t>
            </a:r>
          </a:p>
          <a:p>
            <a:pPr eaLnBrk="1" hangingPunct="1"/>
            <a:r>
              <a:rPr lang="en-US" smtClean="0"/>
              <a:t>Example:</a:t>
            </a:r>
          </a:p>
          <a:p>
            <a:pPr lvl="1" eaLnBrk="1" hangingPunct="1"/>
            <a:r>
              <a:rPr lang="en-US" smtClean="0"/>
              <a:t>Function declaration/prototype:</a:t>
            </a:r>
            <a:br>
              <a:rPr lang="en-US" smtClean="0"/>
            </a:br>
            <a:r>
              <a:rPr lang="en-US" smtClean="0"/>
              <a:t>void showResults(     double fDegrees, </a:t>
            </a:r>
            <a:br>
              <a:rPr lang="en-US" smtClean="0"/>
            </a:br>
            <a:r>
              <a:rPr lang="en-US" smtClean="0"/>
              <a:t>				 double cDegrees);</a:t>
            </a:r>
          </a:p>
          <a:p>
            <a:pPr lvl="2" eaLnBrk="1" hangingPunct="1"/>
            <a:r>
              <a:rPr lang="en-US" smtClean="0"/>
              <a:t>Return-type is "void" </a:t>
            </a:r>
          </a:p>
          <a:p>
            <a:pPr lvl="2" eaLnBrk="1" hangingPunct="1"/>
            <a:r>
              <a:rPr lang="en-US" smtClean="0"/>
              <a:t>Nothing is returned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3-</a:t>
            </a:r>
            <a:fld id="{3DA8064B-7B32-41C8-B16E-DA1722EF2510}" type="slidenum">
              <a:rPr lang="en-US"/>
              <a:pPr>
                <a:defRPr/>
              </a:pPr>
              <a:t>29</a:t>
            </a:fld>
            <a:endParaRPr lang="en-US"/>
          </a:p>
        </p:txBody>
      </p:sp>
      <p:sp>
        <p:nvSpPr>
          <p:cNvPr id="71684" name="Footer Placeholder 8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2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Declaring Void Functions</a:t>
            </a:r>
          </a:p>
        </p:txBody>
      </p:sp>
      <p:sp>
        <p:nvSpPr>
          <p:cNvPr id="7373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04888" y="1600200"/>
            <a:ext cx="7910512" cy="4437063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400" smtClean="0"/>
              <a:t>Function definition:</a:t>
            </a:r>
            <a:br>
              <a:rPr lang="en-US" sz="2400" smtClean="0"/>
            </a:br>
            <a:r>
              <a:rPr lang="en-US" sz="2400" smtClean="0"/>
              <a:t>void showResults(double fDegrees, double cDegrees)</a:t>
            </a:r>
            <a:br>
              <a:rPr lang="en-US" sz="2400" smtClean="0"/>
            </a:br>
            <a:r>
              <a:rPr lang="en-US" sz="2400" smtClean="0"/>
              <a:t>{</a:t>
            </a:r>
            <a:br>
              <a:rPr lang="en-US" sz="2400" smtClean="0"/>
            </a:br>
            <a:r>
              <a:rPr lang="en-US" sz="2400" smtClean="0"/>
              <a:t>	cout.setf(ios::fixed);</a:t>
            </a:r>
            <a:br>
              <a:rPr lang="en-US" sz="2400" smtClean="0"/>
            </a:br>
            <a:r>
              <a:rPr lang="en-US" sz="2400" smtClean="0"/>
              <a:t>	cout.setf(ios::showpoint);</a:t>
            </a:r>
            <a:br>
              <a:rPr lang="en-US" sz="2400" smtClean="0"/>
            </a:br>
            <a:r>
              <a:rPr lang="en-US" sz="2400" smtClean="0"/>
              <a:t>	cout.precision(1);</a:t>
            </a:r>
            <a:br>
              <a:rPr lang="en-US" sz="2400" smtClean="0"/>
            </a:br>
            <a:r>
              <a:rPr lang="en-US" sz="2400" smtClean="0"/>
              <a:t>	cout 	&lt;&lt; fDegrees</a:t>
            </a:r>
            <a:br>
              <a:rPr lang="en-US" sz="2400" smtClean="0"/>
            </a:br>
            <a:r>
              <a:rPr lang="en-US" sz="2400" smtClean="0"/>
              <a:t>		&lt;&lt; " degrees fahrenheit equals \n"</a:t>
            </a:r>
            <a:br>
              <a:rPr lang="en-US" sz="2400" smtClean="0"/>
            </a:br>
            <a:r>
              <a:rPr lang="en-US" sz="2400" smtClean="0"/>
              <a:t>		&lt;&lt; cDegrees &lt;&lt; " degrees celsius.\n";</a:t>
            </a:r>
            <a:br>
              <a:rPr lang="en-US" sz="2400" smtClean="0"/>
            </a:br>
            <a:r>
              <a:rPr lang="en-US" sz="2400" smtClean="0"/>
              <a:t>}</a:t>
            </a:r>
          </a:p>
          <a:p>
            <a:pPr eaLnBrk="1" hangingPunct="1">
              <a:lnSpc>
                <a:spcPct val="90000"/>
              </a:lnSpc>
            </a:pPr>
            <a:r>
              <a:rPr lang="en-US" sz="2400" smtClean="0"/>
              <a:t>Notice: no return statement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000" smtClean="0"/>
              <a:t>Optional for void functions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3-</a:t>
            </a:r>
            <a:fld id="{89429916-39B1-4B69-8706-F28C8BC03DB2}" type="slidenum">
              <a:rPr lang="en-US"/>
              <a:pPr>
                <a:defRPr/>
              </a:pPr>
              <a:t>30</a:t>
            </a:fld>
            <a:endParaRPr lang="en-US"/>
          </a:p>
        </p:txBody>
      </p:sp>
      <p:sp>
        <p:nvSpPr>
          <p:cNvPr id="73732" name="Footer Placeholder 8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Calling Void Functions</a:t>
            </a:r>
          </a:p>
        </p:txBody>
      </p:sp>
      <p:sp>
        <p:nvSpPr>
          <p:cNvPr id="7577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800" smtClean="0"/>
              <a:t>Same as calling predefined void functions</a:t>
            </a:r>
          </a:p>
          <a:p>
            <a:pPr eaLnBrk="1" hangingPunct="1">
              <a:lnSpc>
                <a:spcPct val="90000"/>
              </a:lnSpc>
            </a:pPr>
            <a:r>
              <a:rPr lang="en-US" sz="2800" smtClean="0"/>
              <a:t>From some other function, like main():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showResults(degreesF, degreesC);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showResults(32.5, 0.3);</a:t>
            </a:r>
          </a:p>
          <a:p>
            <a:pPr eaLnBrk="1" hangingPunct="1">
              <a:lnSpc>
                <a:spcPct val="90000"/>
              </a:lnSpc>
            </a:pPr>
            <a:r>
              <a:rPr lang="en-US" sz="2800" smtClean="0"/>
              <a:t>Notice no assignment, since no </a:t>
            </a:r>
            <a:br>
              <a:rPr lang="en-US" sz="2800" smtClean="0"/>
            </a:br>
            <a:r>
              <a:rPr lang="en-US" sz="2800" smtClean="0"/>
              <a:t>value returned</a:t>
            </a:r>
          </a:p>
          <a:p>
            <a:pPr eaLnBrk="1" hangingPunct="1">
              <a:lnSpc>
                <a:spcPct val="90000"/>
              </a:lnSpc>
            </a:pPr>
            <a:r>
              <a:rPr lang="en-US" sz="2800" smtClean="0"/>
              <a:t>Actual arguments (degreesF, degreesC)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Passed to function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Function is called to "do it’s job" with the </a:t>
            </a:r>
            <a:br>
              <a:rPr lang="en-US" sz="2400" smtClean="0"/>
            </a:br>
            <a:r>
              <a:rPr lang="en-US" sz="2400" smtClean="0"/>
              <a:t>data passed in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3-</a:t>
            </a:r>
            <a:fld id="{4B2F5854-9DB1-44B9-9995-46CDD11F8F3E}" type="slidenum">
              <a:rPr lang="en-US"/>
              <a:pPr>
                <a:defRPr/>
              </a:pPr>
              <a:t>31</a:t>
            </a:fld>
            <a:endParaRPr lang="en-US"/>
          </a:p>
        </p:txBody>
      </p:sp>
      <p:sp>
        <p:nvSpPr>
          <p:cNvPr id="75780" name="Footer Placeholder 8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More on Return Statements</a:t>
            </a:r>
          </a:p>
        </p:txBody>
      </p:sp>
      <p:sp>
        <p:nvSpPr>
          <p:cNvPr id="7782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z="2800" smtClean="0"/>
              <a:t>Transfers control back to "calling" function</a:t>
            </a:r>
          </a:p>
          <a:p>
            <a:pPr lvl="1" eaLnBrk="1" hangingPunct="1"/>
            <a:r>
              <a:rPr lang="en-US" sz="2400" smtClean="0"/>
              <a:t>For return type other than void, MUST have</a:t>
            </a:r>
            <a:br>
              <a:rPr lang="en-US" sz="2400" smtClean="0"/>
            </a:br>
            <a:r>
              <a:rPr lang="en-US" sz="2400" smtClean="0"/>
              <a:t>return statement</a:t>
            </a:r>
          </a:p>
          <a:p>
            <a:pPr lvl="1" eaLnBrk="1" hangingPunct="1"/>
            <a:r>
              <a:rPr lang="en-US" sz="2400" smtClean="0"/>
              <a:t>Typically the LAST statement in </a:t>
            </a:r>
            <a:br>
              <a:rPr lang="en-US" sz="2400" smtClean="0"/>
            </a:br>
            <a:r>
              <a:rPr lang="en-US" sz="2400" smtClean="0"/>
              <a:t>function definition</a:t>
            </a:r>
          </a:p>
          <a:p>
            <a:pPr eaLnBrk="1" hangingPunct="1">
              <a:spcBef>
                <a:spcPct val="50000"/>
              </a:spcBef>
            </a:pPr>
            <a:r>
              <a:rPr lang="en-US" sz="2800" smtClean="0"/>
              <a:t>return statement optional for void functions</a:t>
            </a:r>
          </a:p>
          <a:p>
            <a:pPr lvl="1" eaLnBrk="1" hangingPunct="1"/>
            <a:r>
              <a:rPr lang="en-US" sz="2400" smtClean="0"/>
              <a:t>Closing } would implicitly return control from</a:t>
            </a:r>
            <a:br>
              <a:rPr lang="en-US" sz="2400" smtClean="0"/>
            </a:br>
            <a:r>
              <a:rPr lang="en-US" sz="2400" smtClean="0"/>
              <a:t>void function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3-</a:t>
            </a:r>
            <a:fld id="{049B87C4-1D86-4187-9EEE-7F5E6D840F37}" type="slidenum">
              <a:rPr lang="en-US"/>
              <a:pPr>
                <a:defRPr/>
              </a:pPr>
              <a:t>32</a:t>
            </a:fld>
            <a:endParaRPr lang="en-US"/>
          </a:p>
        </p:txBody>
      </p:sp>
      <p:sp>
        <p:nvSpPr>
          <p:cNvPr id="77828" name="Footer Placeholder 8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Preconditions and Postconditions</a:t>
            </a:r>
          </a:p>
        </p:txBody>
      </p:sp>
      <p:sp>
        <p:nvSpPr>
          <p:cNvPr id="7987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z="2800" smtClean="0"/>
              <a:t>Similar to "I-P-O" discussion</a:t>
            </a:r>
          </a:p>
          <a:p>
            <a:pPr eaLnBrk="1" hangingPunct="1">
              <a:spcBef>
                <a:spcPct val="50000"/>
              </a:spcBef>
            </a:pPr>
            <a:r>
              <a:rPr lang="en-US" sz="2800" smtClean="0"/>
              <a:t>Comment function declaration:</a:t>
            </a:r>
            <a:br>
              <a:rPr lang="en-US" sz="2800" smtClean="0"/>
            </a:br>
            <a:r>
              <a:rPr lang="en-US" sz="2000" smtClean="0"/>
              <a:t>void showInterest(double balance, double rate);</a:t>
            </a:r>
            <a:br>
              <a:rPr lang="en-US" sz="2000" smtClean="0"/>
            </a:br>
            <a:r>
              <a:rPr lang="en-US" sz="2000" smtClean="0"/>
              <a:t>//Precondition: balance is nonnegative account balance</a:t>
            </a:r>
            <a:br>
              <a:rPr lang="en-US" sz="2000" smtClean="0"/>
            </a:br>
            <a:r>
              <a:rPr lang="en-US" sz="2000" smtClean="0"/>
              <a:t>//		rate is interest rate as percentage</a:t>
            </a:r>
            <a:br>
              <a:rPr lang="en-US" sz="2000" smtClean="0"/>
            </a:br>
            <a:r>
              <a:rPr lang="en-US" sz="2000" smtClean="0"/>
              <a:t>//Postcondition: amount of interest on given balance,</a:t>
            </a:r>
            <a:br>
              <a:rPr lang="en-US" sz="2000" smtClean="0"/>
            </a:br>
            <a:r>
              <a:rPr lang="en-US" sz="2000" smtClean="0"/>
              <a:t>//		at given rate …</a:t>
            </a:r>
          </a:p>
          <a:p>
            <a:pPr eaLnBrk="1" hangingPunct="1">
              <a:spcBef>
                <a:spcPct val="50000"/>
              </a:spcBef>
            </a:pPr>
            <a:r>
              <a:rPr lang="en-US" sz="2800" smtClean="0"/>
              <a:t>Often called Inputs &amp; Outputs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3-</a:t>
            </a:r>
            <a:fld id="{3E8C4F97-604E-481B-9141-BC0B87B678D1}" type="slidenum">
              <a:rPr lang="en-US"/>
              <a:pPr>
                <a:defRPr/>
              </a:pPr>
              <a:t>33</a:t>
            </a:fld>
            <a:endParaRPr lang="en-US"/>
          </a:p>
        </p:txBody>
      </p:sp>
      <p:sp>
        <p:nvSpPr>
          <p:cNvPr id="79876" name="Footer Placeholder 8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main(): "Special"</a:t>
            </a:r>
          </a:p>
        </p:txBody>
      </p:sp>
      <p:sp>
        <p:nvSpPr>
          <p:cNvPr id="8192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800" smtClean="0"/>
              <a:t>Recall: main() IS a function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lang="en-US" sz="2800" smtClean="0"/>
              <a:t>"Special" in that: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One and only one function called main()</a:t>
            </a:r>
            <a:br>
              <a:rPr lang="en-US" sz="2400" smtClean="0"/>
            </a:br>
            <a:r>
              <a:rPr lang="en-US" sz="2400" smtClean="0"/>
              <a:t>will exist in a program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lang="en-US" sz="2800" smtClean="0"/>
              <a:t>Who calls main()?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Operating system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Tradition holds it should have return statement</a:t>
            </a:r>
          </a:p>
          <a:p>
            <a:pPr lvl="2" eaLnBrk="1" hangingPunct="1">
              <a:lnSpc>
                <a:spcPct val="90000"/>
              </a:lnSpc>
            </a:pPr>
            <a:r>
              <a:rPr lang="en-US" sz="2000" smtClean="0"/>
              <a:t>Value returned to "caller" </a:t>
            </a:r>
            <a:r>
              <a:rPr lang="en-US" sz="2000" smtClean="0">
                <a:sym typeface="Wingdings" pitchFamily="2" charset="2"/>
              </a:rPr>
              <a:t></a:t>
            </a:r>
            <a:r>
              <a:rPr lang="en-US" sz="2000" smtClean="0"/>
              <a:t> Here: operating system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Should return "int" or "void"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3-</a:t>
            </a:r>
            <a:fld id="{5AEA91AD-55A1-4648-A5F0-E0A7F1C07965}" type="slidenum">
              <a:rPr lang="en-US"/>
              <a:pPr>
                <a:defRPr/>
              </a:pPr>
              <a:t>34</a:t>
            </a:fld>
            <a:endParaRPr lang="en-US"/>
          </a:p>
        </p:txBody>
      </p:sp>
      <p:sp>
        <p:nvSpPr>
          <p:cNvPr id="81924" name="Footer Placeholder 8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6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Scope Rules</a:t>
            </a:r>
          </a:p>
        </p:txBody>
      </p:sp>
      <p:sp>
        <p:nvSpPr>
          <p:cNvPr id="8397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400" smtClean="0"/>
              <a:t>Local variables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000" smtClean="0"/>
              <a:t>Declared inside body of given function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000" smtClean="0"/>
              <a:t>Available only within that function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lang="en-US" sz="2400" smtClean="0"/>
              <a:t>Can have variables with same names declared in different functions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000" smtClean="0"/>
              <a:t>Scope is local: "that function is it’s scope"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lang="en-US" sz="2400" smtClean="0"/>
              <a:t>Local variables preferred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000" smtClean="0"/>
              <a:t>Maintain individual control over data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000" smtClean="0"/>
              <a:t>Need to know basis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000" smtClean="0"/>
              <a:t>Functions should declare whatever local data needed to "do their job"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3-</a:t>
            </a:r>
            <a:fld id="{67F3A9AE-7ACB-4A6B-9790-CD6B930BF802}" type="slidenum">
              <a:rPr lang="en-US"/>
              <a:pPr>
                <a:defRPr/>
              </a:pPr>
              <a:t>35</a:t>
            </a:fld>
            <a:endParaRPr lang="en-US"/>
          </a:p>
        </p:txBody>
      </p:sp>
      <p:sp>
        <p:nvSpPr>
          <p:cNvPr id="83972" name="Footer Placeholder 8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Procedural Abstraction</a:t>
            </a:r>
          </a:p>
        </p:txBody>
      </p:sp>
      <p:sp>
        <p:nvSpPr>
          <p:cNvPr id="8601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800" smtClean="0"/>
              <a:t>Need to know "what" function does, not</a:t>
            </a:r>
            <a:br>
              <a:rPr lang="en-US" sz="2800" smtClean="0"/>
            </a:br>
            <a:r>
              <a:rPr lang="en-US" sz="2800" smtClean="0"/>
              <a:t>"how" it does it!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lang="en-US" sz="2800" smtClean="0"/>
              <a:t>Think "black box"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Device you know how to use, but not it’s</a:t>
            </a:r>
            <a:br>
              <a:rPr lang="en-US" sz="2400" smtClean="0"/>
            </a:br>
            <a:r>
              <a:rPr lang="en-US" sz="2400" smtClean="0"/>
              <a:t>method of operation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lang="en-US" sz="2800" smtClean="0"/>
              <a:t>Implement functions like black box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User of function only needs: declaration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Does NOT need function definition</a:t>
            </a:r>
          </a:p>
          <a:p>
            <a:pPr lvl="2" eaLnBrk="1" hangingPunct="1">
              <a:lnSpc>
                <a:spcPct val="90000"/>
              </a:lnSpc>
            </a:pPr>
            <a:r>
              <a:rPr lang="en-US" sz="2000" smtClean="0"/>
              <a:t>Called Information Hiding</a:t>
            </a:r>
          </a:p>
          <a:p>
            <a:pPr lvl="2" eaLnBrk="1" hangingPunct="1">
              <a:lnSpc>
                <a:spcPct val="90000"/>
              </a:lnSpc>
            </a:pPr>
            <a:r>
              <a:rPr lang="en-US" sz="2000" smtClean="0"/>
              <a:t>Hide details of "how" function does it’s job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3-</a:t>
            </a:r>
            <a:fld id="{26DCF762-15BF-4C56-A731-A88A75625037}" type="slidenum">
              <a:rPr lang="en-US"/>
              <a:pPr>
                <a:defRPr/>
              </a:pPr>
              <a:t>36</a:t>
            </a:fld>
            <a:endParaRPr lang="en-US"/>
          </a:p>
        </p:txBody>
      </p:sp>
      <p:sp>
        <p:nvSpPr>
          <p:cNvPr id="86020" name="Footer Placeholder 8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978" name="Rectangle 2"/>
          <p:cNvSpPr>
            <a:spLocks noGrp="1" noChangeArrowheads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600"/>
              <a:t>Global Constants </a:t>
            </a:r>
            <a:br>
              <a:rPr lang="en-US" sz="3600"/>
            </a:br>
            <a:r>
              <a:rPr lang="en-US" sz="3600"/>
              <a:t>and Global Variables</a:t>
            </a:r>
          </a:p>
        </p:txBody>
      </p:sp>
      <p:sp>
        <p:nvSpPr>
          <p:cNvPr id="8806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z="2400" smtClean="0"/>
              <a:t>Declared "outside" function body</a:t>
            </a:r>
          </a:p>
          <a:p>
            <a:pPr lvl="1" eaLnBrk="1" hangingPunct="1"/>
            <a:r>
              <a:rPr lang="en-US" sz="2000" smtClean="0"/>
              <a:t>Global to all functions in that file</a:t>
            </a:r>
          </a:p>
          <a:p>
            <a:pPr eaLnBrk="1" hangingPunct="1">
              <a:spcBef>
                <a:spcPct val="50000"/>
              </a:spcBef>
            </a:pPr>
            <a:r>
              <a:rPr lang="en-US" sz="2400" smtClean="0"/>
              <a:t>Declared "inside" function body</a:t>
            </a:r>
          </a:p>
          <a:p>
            <a:pPr lvl="1" eaLnBrk="1" hangingPunct="1"/>
            <a:r>
              <a:rPr lang="en-US" sz="2000" smtClean="0"/>
              <a:t>Local to that function</a:t>
            </a:r>
          </a:p>
          <a:p>
            <a:pPr eaLnBrk="1" hangingPunct="1">
              <a:spcBef>
                <a:spcPct val="50000"/>
              </a:spcBef>
            </a:pPr>
            <a:r>
              <a:rPr lang="en-US" sz="2400" smtClean="0"/>
              <a:t>Global declarations typical for constants:</a:t>
            </a:r>
          </a:p>
          <a:p>
            <a:pPr lvl="1" eaLnBrk="1" hangingPunct="1"/>
            <a:r>
              <a:rPr lang="en-US" sz="2000" smtClean="0"/>
              <a:t>const double TAXRATE = 0.05;</a:t>
            </a:r>
          </a:p>
          <a:p>
            <a:pPr lvl="1" eaLnBrk="1" hangingPunct="1"/>
            <a:r>
              <a:rPr lang="en-US" sz="2000" smtClean="0"/>
              <a:t>Declare globally so all functions have scope</a:t>
            </a:r>
          </a:p>
          <a:p>
            <a:pPr eaLnBrk="1" hangingPunct="1">
              <a:spcBef>
                <a:spcPct val="50000"/>
              </a:spcBef>
            </a:pPr>
            <a:r>
              <a:rPr lang="en-US" sz="2400" smtClean="0"/>
              <a:t>Global variables?</a:t>
            </a:r>
          </a:p>
          <a:p>
            <a:pPr lvl="1" eaLnBrk="1" hangingPunct="1"/>
            <a:r>
              <a:rPr lang="en-US" sz="2000" smtClean="0"/>
              <a:t>Possible, but SELDOM-USED</a:t>
            </a:r>
          </a:p>
          <a:p>
            <a:pPr lvl="1" eaLnBrk="1" hangingPunct="1"/>
            <a:r>
              <a:rPr lang="en-US" sz="2000" smtClean="0"/>
              <a:t>Dangerous: no control over usage!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3-</a:t>
            </a:r>
            <a:fld id="{575AD195-AD7E-4F57-BA20-4690A859BFCA}" type="slidenum">
              <a:rPr lang="en-US"/>
              <a:pPr>
                <a:defRPr/>
              </a:pPr>
              <a:t>37</a:t>
            </a:fld>
            <a:endParaRPr lang="en-US"/>
          </a:p>
        </p:txBody>
      </p:sp>
      <p:sp>
        <p:nvSpPr>
          <p:cNvPr id="88068" name="Footer Placeholder 8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Blocks</a:t>
            </a:r>
          </a:p>
        </p:txBody>
      </p:sp>
      <p:sp>
        <p:nvSpPr>
          <p:cNvPr id="9011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z="2400" smtClean="0"/>
              <a:t>Declare data inside compound statement</a:t>
            </a:r>
          </a:p>
          <a:p>
            <a:pPr lvl="1" eaLnBrk="1" hangingPunct="1"/>
            <a:r>
              <a:rPr lang="en-US" sz="2000" smtClean="0"/>
              <a:t>Called a "block"</a:t>
            </a:r>
          </a:p>
          <a:p>
            <a:pPr lvl="1" eaLnBrk="1" hangingPunct="1"/>
            <a:r>
              <a:rPr lang="en-US" sz="2000" smtClean="0"/>
              <a:t>Has "block-scope"</a:t>
            </a:r>
          </a:p>
          <a:p>
            <a:pPr eaLnBrk="1" hangingPunct="1">
              <a:spcBef>
                <a:spcPct val="50000"/>
              </a:spcBef>
            </a:pPr>
            <a:r>
              <a:rPr lang="en-US" sz="2400" smtClean="0"/>
              <a:t>Note: all function definitions are blocks!</a:t>
            </a:r>
          </a:p>
          <a:p>
            <a:pPr lvl="1" eaLnBrk="1" hangingPunct="1"/>
            <a:r>
              <a:rPr lang="en-US" sz="2000" smtClean="0"/>
              <a:t>This provides local "function-scope"</a:t>
            </a:r>
          </a:p>
          <a:p>
            <a:pPr eaLnBrk="1" hangingPunct="1">
              <a:spcBef>
                <a:spcPct val="50000"/>
              </a:spcBef>
            </a:pPr>
            <a:r>
              <a:rPr lang="en-US" sz="2400" smtClean="0"/>
              <a:t>Loop blocks:</a:t>
            </a:r>
            <a:br>
              <a:rPr lang="en-US" sz="2400" smtClean="0"/>
            </a:br>
            <a:r>
              <a:rPr lang="en-US" sz="2400" smtClean="0"/>
              <a:t>for (int ctr=0;ctr&lt;10;ctr++)</a:t>
            </a:r>
            <a:br>
              <a:rPr lang="en-US" sz="2400" smtClean="0"/>
            </a:br>
            <a:r>
              <a:rPr lang="en-US" sz="2400" smtClean="0"/>
              <a:t>{</a:t>
            </a:r>
            <a:br>
              <a:rPr lang="en-US" sz="2400" smtClean="0"/>
            </a:br>
            <a:r>
              <a:rPr lang="en-US" sz="2400" smtClean="0"/>
              <a:t>	sum+=ctr;</a:t>
            </a:r>
            <a:br>
              <a:rPr lang="en-US" sz="2400" smtClean="0"/>
            </a:br>
            <a:r>
              <a:rPr lang="en-US" sz="2400" smtClean="0"/>
              <a:t>}</a:t>
            </a:r>
          </a:p>
          <a:p>
            <a:pPr lvl="1" eaLnBrk="1" hangingPunct="1"/>
            <a:r>
              <a:rPr lang="en-US" sz="2000" smtClean="0"/>
              <a:t>Variable ctr has scope in loop body block only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3-</a:t>
            </a:r>
            <a:fld id="{72ADECF1-FC6B-40F1-942A-2AC76CAA3416}" type="slidenum">
              <a:rPr lang="en-US"/>
              <a:pPr>
                <a:defRPr/>
              </a:pPr>
              <a:t>38</a:t>
            </a:fld>
            <a:endParaRPr lang="en-US"/>
          </a:p>
        </p:txBody>
      </p:sp>
      <p:sp>
        <p:nvSpPr>
          <p:cNvPr id="90116" name="Footer Placeholder 8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Nested Scope</a:t>
            </a:r>
          </a:p>
        </p:txBody>
      </p:sp>
      <p:sp>
        <p:nvSpPr>
          <p:cNvPr id="9216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spcBef>
                <a:spcPct val="50000"/>
              </a:spcBef>
            </a:pPr>
            <a:r>
              <a:rPr lang="en-US" smtClean="0"/>
              <a:t>Same name variables declared in</a:t>
            </a:r>
            <a:br>
              <a:rPr lang="en-US" smtClean="0"/>
            </a:br>
            <a:r>
              <a:rPr lang="en-US" smtClean="0"/>
              <a:t>multiple blocks</a:t>
            </a:r>
          </a:p>
          <a:p>
            <a:pPr eaLnBrk="1" hangingPunct="1">
              <a:spcBef>
                <a:spcPct val="50000"/>
              </a:spcBef>
            </a:pPr>
            <a:r>
              <a:rPr lang="en-US" smtClean="0"/>
              <a:t>Very legal; scope is "block-scope"</a:t>
            </a:r>
          </a:p>
          <a:p>
            <a:pPr lvl="1" eaLnBrk="1" hangingPunct="1"/>
            <a:r>
              <a:rPr lang="en-US" smtClean="0"/>
              <a:t>No ambiguity</a:t>
            </a:r>
          </a:p>
          <a:p>
            <a:pPr lvl="1" eaLnBrk="1" hangingPunct="1"/>
            <a:r>
              <a:rPr lang="en-US" smtClean="0"/>
              <a:t>Each name is distinct within its scope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3-</a:t>
            </a:r>
            <a:fld id="{CD744E1B-2C86-41B8-8BE1-4F8BC12A0251}" type="slidenum">
              <a:rPr lang="en-US"/>
              <a:pPr>
                <a:defRPr/>
              </a:pPr>
              <a:t>39</a:t>
            </a:fld>
            <a:endParaRPr lang="en-US"/>
          </a:p>
        </p:txBody>
      </p:sp>
      <p:sp>
        <p:nvSpPr>
          <p:cNvPr id="92164" name="Footer Placeholder 8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0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Summary 1</a:t>
            </a:r>
          </a:p>
        </p:txBody>
      </p:sp>
      <p:sp>
        <p:nvSpPr>
          <p:cNvPr id="9421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z="2800" smtClean="0"/>
              <a:t>Two kinds of functions:</a:t>
            </a:r>
          </a:p>
          <a:p>
            <a:pPr lvl="1" eaLnBrk="1" hangingPunct="1"/>
            <a:r>
              <a:rPr lang="en-US" sz="2400" smtClean="0"/>
              <a:t>"Return-a-value" and void functions</a:t>
            </a:r>
          </a:p>
          <a:p>
            <a:pPr eaLnBrk="1" hangingPunct="1">
              <a:spcBef>
                <a:spcPct val="50000"/>
              </a:spcBef>
            </a:pPr>
            <a:r>
              <a:rPr lang="en-US" sz="2800" smtClean="0"/>
              <a:t>Functions should be "black boxes"</a:t>
            </a:r>
          </a:p>
          <a:p>
            <a:pPr lvl="1" eaLnBrk="1" hangingPunct="1"/>
            <a:r>
              <a:rPr lang="en-US" sz="2400" smtClean="0"/>
              <a:t>Hide "how" details</a:t>
            </a:r>
          </a:p>
          <a:p>
            <a:pPr lvl="1" eaLnBrk="1" hangingPunct="1"/>
            <a:r>
              <a:rPr lang="en-US" sz="2400" smtClean="0"/>
              <a:t>Declare own local data</a:t>
            </a:r>
          </a:p>
          <a:p>
            <a:pPr eaLnBrk="1" hangingPunct="1">
              <a:spcBef>
                <a:spcPct val="50000"/>
              </a:spcBef>
            </a:pPr>
            <a:r>
              <a:rPr lang="en-US" sz="2800" smtClean="0"/>
              <a:t>Function declarations should self-document</a:t>
            </a:r>
          </a:p>
          <a:p>
            <a:pPr lvl="1" eaLnBrk="1" hangingPunct="1"/>
            <a:r>
              <a:rPr lang="en-US" sz="2400" smtClean="0"/>
              <a:t>Provide pre- &amp; post-conditions in comments</a:t>
            </a:r>
          </a:p>
          <a:p>
            <a:pPr lvl="1" eaLnBrk="1" hangingPunct="1"/>
            <a:r>
              <a:rPr lang="en-US" sz="2400" smtClean="0"/>
              <a:t>Provide all "caller" needs for use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3-</a:t>
            </a:r>
            <a:fld id="{AAF47925-1780-4955-AD3B-34AC8F8D1D69}" type="slidenum">
              <a:rPr lang="en-US"/>
              <a:pPr>
                <a:defRPr/>
              </a:pPr>
              <a:t>40</a:t>
            </a:fld>
            <a:endParaRPr lang="en-US"/>
          </a:p>
        </p:txBody>
      </p:sp>
      <p:sp>
        <p:nvSpPr>
          <p:cNvPr id="94212" name="Footer Placeholder 8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Summary 2</a:t>
            </a:r>
          </a:p>
        </p:txBody>
      </p:sp>
      <p:sp>
        <p:nvSpPr>
          <p:cNvPr id="9625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800" smtClean="0"/>
              <a:t>Local data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Declared in function definition</a:t>
            </a:r>
          </a:p>
          <a:p>
            <a:pPr eaLnBrk="1" hangingPunct="1">
              <a:lnSpc>
                <a:spcPct val="90000"/>
              </a:lnSpc>
              <a:spcBef>
                <a:spcPct val="40000"/>
              </a:spcBef>
            </a:pPr>
            <a:r>
              <a:rPr lang="en-US" sz="2800" smtClean="0"/>
              <a:t>Global data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Declared above function definitions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OK for constants, not for variables</a:t>
            </a:r>
          </a:p>
          <a:p>
            <a:pPr eaLnBrk="1" hangingPunct="1">
              <a:lnSpc>
                <a:spcPct val="90000"/>
              </a:lnSpc>
              <a:spcBef>
                <a:spcPct val="40000"/>
              </a:spcBef>
            </a:pPr>
            <a:r>
              <a:rPr lang="en-US" sz="2800" smtClean="0"/>
              <a:t>Parameters/Arguments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Formal: In function declaration and definition</a:t>
            </a:r>
          </a:p>
          <a:p>
            <a:pPr lvl="2" eaLnBrk="1" hangingPunct="1">
              <a:lnSpc>
                <a:spcPct val="90000"/>
              </a:lnSpc>
            </a:pPr>
            <a:r>
              <a:rPr lang="en-US" sz="2000" smtClean="0"/>
              <a:t>Placeholder for incoming data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Actual: In function call</a:t>
            </a:r>
          </a:p>
          <a:p>
            <a:pPr lvl="2" eaLnBrk="1" hangingPunct="1">
              <a:lnSpc>
                <a:spcPct val="90000"/>
              </a:lnSpc>
            </a:pPr>
            <a:r>
              <a:rPr lang="en-US" sz="2000" smtClean="0"/>
              <a:t>Actual data passed to function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3-</a:t>
            </a:r>
            <a:fld id="{7A1A0511-8385-40DB-BC45-55E7BB500CC7}" type="slidenum">
              <a:rPr lang="en-US"/>
              <a:pPr>
                <a:defRPr/>
              </a:pPr>
              <a:t>41</a:t>
            </a:fld>
            <a:endParaRPr lang="en-US"/>
          </a:p>
        </p:txBody>
      </p:sp>
      <p:sp>
        <p:nvSpPr>
          <p:cNvPr id="96260" name="Footer Placeholder 8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IW_TYPE_IMAGE" val="Text Box 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IW_TYPE_IMAGE" val="Text Box 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IW_TYPE_IMAGE" val="Text Box 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IW_TYPE_IMAGE" val="Text Box 3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IW_TYPE_IMAGE" val="Text Box 3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54</TotalTime>
  <Words>1885</Words>
  <Application>Microsoft Office PowerPoint</Application>
  <PresentationFormat>On-screen Show (4:3)</PresentationFormat>
  <Paragraphs>410</Paragraphs>
  <Slides>41</Slides>
  <Notes>41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Design Template</vt:lpstr>
      </vt:variant>
      <vt:variant>
        <vt:i4>12</vt:i4>
      </vt:variant>
      <vt:variant>
        <vt:lpstr>Slide Titles</vt:lpstr>
      </vt:variant>
      <vt:variant>
        <vt:i4>41</vt:i4>
      </vt:variant>
    </vt:vector>
  </HeadingPairs>
  <TitlesOfParts>
    <vt:vector size="56" baseType="lpstr">
      <vt:lpstr>Arial</vt:lpstr>
      <vt:lpstr>Calibri</vt:lpstr>
      <vt:lpstr>Wingdings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Chapter 3</vt:lpstr>
      <vt:lpstr>Learning Objectives</vt:lpstr>
      <vt:lpstr> Introduction to Functions</vt:lpstr>
      <vt:lpstr>Predefined Functions</vt:lpstr>
      <vt:lpstr>Using Predefined Functions</vt:lpstr>
      <vt:lpstr>The Function Call</vt:lpstr>
      <vt:lpstr>A Larger Example:  Display 3.1  A Predefined Function That Returns a Value (1 of 2)</vt:lpstr>
      <vt:lpstr>A Larger Example:  Display 3.1  A Predefined Function That Returns a Value (2 of 2)</vt:lpstr>
      <vt:lpstr>More Predefined Functions</vt:lpstr>
      <vt:lpstr>More Math Functions</vt:lpstr>
      <vt:lpstr>Even More Math Functions:  Display 3.2  Some Predefined  Functions (1 of 2)</vt:lpstr>
      <vt:lpstr>Even More Math Functions:  Display 3.2  Some Predefined  Functions (2 of 2)</vt:lpstr>
      <vt:lpstr>Predefined Void Functions</vt:lpstr>
      <vt:lpstr>Random Number Generator</vt:lpstr>
      <vt:lpstr>Random Number Seed</vt:lpstr>
      <vt:lpstr>Random Examples</vt:lpstr>
      <vt:lpstr>Programmer-Defined Functions</vt:lpstr>
      <vt:lpstr>Components of Function Use</vt:lpstr>
      <vt:lpstr>Function Declaration</vt:lpstr>
      <vt:lpstr>Function Definition</vt:lpstr>
      <vt:lpstr>Function Definition Placement</vt:lpstr>
      <vt:lpstr>Function Call</vt:lpstr>
      <vt:lpstr>Function Example:  Display 3.5  A Function to Calculate Total Cost (1 of 2)</vt:lpstr>
      <vt:lpstr>Function Example:  Display 3.5  A Function to Calculate Total Cost (1 of 2)</vt:lpstr>
      <vt:lpstr>Alternative Function Declaration</vt:lpstr>
      <vt:lpstr>Parameter vs. Argument</vt:lpstr>
      <vt:lpstr>Functions Calling Functions</vt:lpstr>
      <vt:lpstr>Boolean Return-Type Functions</vt:lpstr>
      <vt:lpstr>Declaring Void Functions</vt:lpstr>
      <vt:lpstr>Declaring Void Functions</vt:lpstr>
      <vt:lpstr>Calling Void Functions</vt:lpstr>
      <vt:lpstr>More on Return Statements</vt:lpstr>
      <vt:lpstr>Preconditions and Postconditions</vt:lpstr>
      <vt:lpstr>main(): "Special"</vt:lpstr>
      <vt:lpstr>Scope Rules</vt:lpstr>
      <vt:lpstr>Procedural Abstraction</vt:lpstr>
      <vt:lpstr>Global Constants  and Global Variables</vt:lpstr>
      <vt:lpstr>Blocks</vt:lpstr>
      <vt:lpstr>Nested Scope</vt:lpstr>
      <vt:lpstr>Summary 1</vt:lpstr>
      <vt:lpstr>Summary 2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Kenrick</dc:creator>
  <cp:lastModifiedBy>usnidem</cp:lastModifiedBy>
  <cp:revision>20</cp:revision>
  <dcterms:created xsi:type="dcterms:W3CDTF">2006-08-16T00:00:00Z</dcterms:created>
  <dcterms:modified xsi:type="dcterms:W3CDTF">2012-05-08T14:06:10Z</dcterms:modified>
</cp:coreProperties>
</file>