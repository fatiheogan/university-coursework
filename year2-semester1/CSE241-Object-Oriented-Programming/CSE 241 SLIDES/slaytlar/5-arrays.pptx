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4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5.xml" ContentType="application/vnd.openxmlformats-officedocument.presentationml.tags+xml"/>
  <Override PartName="/ppt/notesSlides/notesSlide30.xml" ContentType="application/vnd.openxmlformats-officedocument.presentationml.notesSlide+xml"/>
  <Override PartName="/ppt/tags/tag6.xml" ContentType="application/vnd.openxmlformats-officedocument.presentationml.tags+xml"/>
  <Override PartName="/ppt/notesSlides/notesSlide31.xml" ContentType="application/vnd.openxmlformats-officedocument.presentationml.notesSlide+xml"/>
  <Override PartName="/ppt/tags/tag7.xml" ContentType="application/vnd.openxmlformats-officedocument.presentationml.tags+xml"/>
  <Override PartName="/ppt/notesSlides/notesSlide32.xml" ContentType="application/vnd.openxmlformats-officedocument.presentationml.notesSlide+xml"/>
  <Override PartName="/ppt/tags/tag8.xml" ContentType="application/vnd.openxmlformats-officedocument.presentationml.tags+xml"/>
  <Override PartName="/ppt/notesSlides/notesSlide33.xml" ContentType="application/vnd.openxmlformats-officedocument.presentationml.notesSlide+xml"/>
  <Override PartName="/ppt/tags/tag9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0.xml" ContentType="application/vnd.openxmlformats-officedocument.presentationml.tags+xml"/>
  <Override PartName="/ppt/notesSlides/notesSlide37.xml" ContentType="application/vnd.openxmlformats-officedocument.presentationml.notesSlide+xml"/>
  <Override PartName="/ppt/tags/tag11.xml" ContentType="application/vnd.openxmlformats-officedocument.presentationml.tags+xml"/>
  <Override PartName="/ppt/notesSlides/notesSlide38.xml" ContentType="application/vnd.openxmlformats-officedocument.presentationml.notesSlide+xml"/>
  <Override PartName="/ppt/tags/tag12.xml" ContentType="application/vnd.openxmlformats-officedocument.presentationml.tags+xml"/>
  <Override PartName="/ppt/notesSlides/notesSlide39.xml" ContentType="application/vnd.openxmlformats-officedocument.presentationml.notesSlide+xml"/>
  <Override PartName="/ppt/tags/tag13.xml" ContentType="application/vnd.openxmlformats-officedocument.presentationml.tags+xml"/>
  <Override PartName="/ppt/notesSlides/notesSlide40.xml" ContentType="application/vnd.openxmlformats-officedocument.presentationml.notesSlide+xml"/>
  <Override PartName="/ppt/tags/tag14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15.xml" ContentType="application/vnd.openxmlformats-officedocument.presentationml.tags+xml"/>
  <Override PartName="/ppt/notesSlides/notesSlide43.xml" ContentType="application/vnd.openxmlformats-officedocument.presentationml.notesSlide+xml"/>
  <Override PartName="/ppt/tags/tag16.xml" ContentType="application/vnd.openxmlformats-officedocument.presentationml.tags+xml"/>
  <Override PartName="/ppt/notesSlides/notesSlide44.xml" ContentType="application/vnd.openxmlformats-officedocument.presentationml.notesSlide+xml"/>
  <Override PartName="/ppt/tags/tag17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2"/>
    <p:restoredTop sz="94678"/>
  </p:normalViewPr>
  <p:slideViewPr>
    <p:cSldViewPr>
      <p:cViewPr>
        <p:scale>
          <a:sx n="157" d="100"/>
          <a:sy n="157" d="100"/>
        </p:scale>
        <p:origin x="1264" y="-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4C7D441-4E96-4C95-9ABA-48FBA111A3C2}" type="datetimeFigureOut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D5DD4ED-4310-4CCF-9B17-F2F6109167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B180BCD-465B-4617-8D7E-0D8826174BD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0B404E-E082-468F-AA93-AAA2711AE03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ECF60D-613B-4309-B6AC-9D6F7E7ABAF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7921BD-34A0-4E99-9555-6F7189FEA7B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596861C-4D0E-400B-9D65-94ED7BFE64B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00F26E-DE0D-4A7A-B94F-1861372C45C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85A519-3474-449D-8416-FE3CE887EB3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BB598A-1E1A-47E9-88EA-BB8834465F1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78DBD9-F2D1-4316-90C2-FE71CB291BF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9923D0F-107E-4AF8-B81F-8FA8F1537DE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0034C7-3B28-4D5B-AF74-BAA783D9C7C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69AFF03-8DB7-481A-817E-12AC6EA7749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8A24A98-7FED-46EA-8AC0-8787C55F25B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5280F0-B939-4454-A0EE-13143371852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54D4BE-87E6-4892-88B2-0A9B176CE38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9E9A490-46EF-4CEE-881A-51FE2976942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DCFBF9-7353-49F6-961F-699CC17B1F3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12935E-BA0F-493A-9862-F393D7087F7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DFDCA8D-83A6-41F0-91ED-97379A69D05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455A92-35E4-4E9B-AED7-BE590B6C841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FF94572-8457-4647-B011-83FA42C8176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416872-591E-4335-BF39-75B7C2A8509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2957DE-8815-47DE-8996-87CAE451553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A0883B-F841-4306-9A3A-D66D8C76093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4BA979-7AD1-497B-A619-92ED46E88F4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332CC9-1083-4BFA-B92E-D5AD6F26523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297CA1-DC58-4A75-A1DA-D6B533BEEDF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08F033-DD79-41FA-81A8-689ADE036B2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ED53120-4CDC-4432-8156-FA041CED1F7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41AAC6-F515-4242-948A-138B58C211B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41FE7AF-1A2D-456E-82F7-8BA08308F18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00250A-8AB8-407D-994F-DC4863D4C08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7A763D-6C53-492C-9C93-A62ECB891A1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00E55B-25EE-4927-B87C-49C542A2BFA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B10BF3-D74B-435D-9625-04E177FA3A6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289749-7BF9-4293-9433-0653C9BCD75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81C1CC3-191D-48EA-887D-6B63D5C2B97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FB1F4F3-8789-47D3-9420-F7508BB1891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658CD0-B5C0-4E57-B2C3-77467AA676A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9DCCD4-9795-4892-8064-CA5585830E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2908EFC-4ED0-42A6-A19A-B51BCAFD0BF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A045D9-8EA8-457D-B723-8FB6A3FF00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CA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515C63-A65E-49CE-8086-3A39B0CF9DF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CA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35AD419-4F21-4A2E-8AFA-7D8FBA5CC0C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CA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9AA645-5604-4964-9CEF-883D2C13AFF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CA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D6AB071-B981-4D71-9324-00D28A3870D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CA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D84DBC-0C00-47FB-80DF-4C55D501081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CA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1DE020-7DBA-4958-AC55-1A18558DED1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CA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A706CD2-EC85-40BF-9576-8DCB9E456B2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49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A3036-5D9E-4A2D-BE17-91C7D4A2C53D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653E4DE9-DD59-4D44-AC4F-1FF7FA0834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2158E-05C6-4AEC-98A9-BCA3990CA50E}" type="datetime1">
              <a:rPr lang="en-US"/>
              <a:pPr>
                <a:defRPr/>
              </a:pPr>
              <a:t>10/16/23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DB3538E0-2050-4C45-8854-E0D08830D4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F7AC2-4CC5-4644-9CC4-C671B19EBBEC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0D9D2966-6E5B-45EC-AE47-4C99C9C340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C6C45-59B1-4593-9304-7DCFFECFE10C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62820096-71BE-4FC1-A168-FC470ED8B8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36473-1214-41F8-A8D3-A409E528294D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E0C08A44-59AE-4008-83C2-53D5CD2D55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23ADE-D97F-4611-8D7E-ED733A047749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AECA8789-F8D7-4E96-B10F-0622E9905F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9A3ED-EF58-460A-BCE0-3F36B04FACEB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819539A2-CE6C-48F9-9FA7-393C8EC1F4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1164EC-5389-4F5A-A43D-D5E4AAE7B3FF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DC8AD1CF-8F88-4E25-A400-73AB932AB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13CC1-5DF4-4C78-AE82-34641E13CD9C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8842C659-621C-4BF4-B7BF-0658337B4A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1C3145-6690-4837-8E07-281823EF8469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13478106-630A-4846-9D25-8B4EA9ACE2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BDD4F-3D62-439E-A714-B50713C248A5}" type="datetime1">
              <a:rPr lang="en-US"/>
              <a:pPr>
                <a:defRPr/>
              </a:pPr>
              <a:t>10/16/23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5-</a:t>
            </a:r>
            <a:fld id="{7CA082C6-FF1F-4C79-8CD9-DEEB7B650A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3491DF6-D251-43FD-9DC6-CC5BFE320B81}" type="datetime1">
              <a:rPr lang="en-US"/>
              <a:pPr>
                <a:defRPr/>
              </a:pPr>
              <a:t>10/16/23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FC2B311A-D45B-4FFD-919C-BB2B1CCEF1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4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/>
              <a:t>Chapter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Arrays</a:t>
            </a:r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Introduction to Arrays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Declaring and referencing arrays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For-loops and arrays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Arrays in memory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Arrays in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Arrays as function arguments, return values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Programming with Arrays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Partially Filled Arrays, searching, sorting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Multidimensional Arrays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3254C920-774F-49EC-B24E-9926A6C6E5F6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 to Arrays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Array definition: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 collection of data of same type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First "aggregate" data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Means "grouping"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int, float, double, char are  simple data types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Used for lists of like items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Test scores, temperatures, names,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Avoids declaring multiple simple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Can manipulate "list" as one entity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4730F90-1C43-4104-A357-E8636CA41635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Declaring Arrays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Declare the array </a:t>
            </a:r>
            <a:r>
              <a:rPr lang="en-US" sz="2800">
                <a:sym typeface="Wingdings" pitchFamily="2" charset="2"/>
              </a:rPr>
              <a:t></a:t>
            </a:r>
            <a:r>
              <a:rPr lang="en-US" sz="2800"/>
              <a:t> allocates memory</a:t>
            </a:r>
            <a:br>
              <a:rPr lang="en-US" sz="2800"/>
            </a:br>
            <a:r>
              <a:rPr lang="en-US" sz="2800"/>
              <a:t>int score[5];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Declares array of 5 integers named "score"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Similar to declaring five variables:</a:t>
            </a:r>
            <a:br>
              <a:rPr lang="en-US" sz="2400"/>
            </a:br>
            <a:r>
              <a:rPr lang="en-US" sz="2400"/>
              <a:t>int score[0], score[1], score[2], score[3], score[4]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Individual parts called many things: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Indexed or subscripted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"Elements" of the array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Value in brackets called index or subscript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Numbered from 0 to size - 1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220F15E6-CFF6-4FA6-A03D-C888E3B23F93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Accessing Arrays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Access using index/subscript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cout &lt;&lt; score[3];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Note two uses of brackets: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In declaration, specifies SIZE of array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Anywhere else, specifies a subscript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Size, subscript need not be literal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int score[MAX_SCORES];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score[n+1] = 99;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If n is 2, identical to: score[3]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28211147-BAD7-4F49-9CD0-4F6067E4D901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Array Usage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Powerful storage mechanism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/>
              <a:t>Can issue command like:</a:t>
            </a:r>
          </a:p>
          <a:p>
            <a:pPr lvl="1" eaLnBrk="1" hangingPunct="1"/>
            <a:r>
              <a:rPr lang="en-US" sz="2400"/>
              <a:t>"Do this to i</a:t>
            </a:r>
            <a:r>
              <a:rPr lang="en-US" sz="2400" baseline="30000"/>
              <a:t>th</a:t>
            </a:r>
            <a:r>
              <a:rPr lang="en-US" sz="2400"/>
              <a:t> indexed variable"</a:t>
            </a:r>
            <a:br>
              <a:rPr lang="en-US" sz="2400"/>
            </a:br>
            <a:r>
              <a:rPr lang="en-US" sz="2400"/>
              <a:t>where i is computed by program</a:t>
            </a:r>
          </a:p>
          <a:p>
            <a:pPr lvl="1" eaLnBrk="1" hangingPunct="1"/>
            <a:r>
              <a:rPr lang="en-US" sz="2400"/>
              <a:t>"Display all elements of array score"</a:t>
            </a:r>
          </a:p>
          <a:p>
            <a:pPr lvl="1" eaLnBrk="1" hangingPunct="1"/>
            <a:r>
              <a:rPr lang="en-US" sz="2400"/>
              <a:t>"Fill elements of array score from user input"</a:t>
            </a:r>
          </a:p>
          <a:p>
            <a:pPr lvl="1" eaLnBrk="1" hangingPunct="1"/>
            <a:r>
              <a:rPr lang="en-US" sz="2400"/>
              <a:t>"Find highest value in array score"</a:t>
            </a:r>
          </a:p>
          <a:p>
            <a:pPr lvl="1" eaLnBrk="1" hangingPunct="1"/>
            <a:r>
              <a:rPr lang="en-US" sz="2400"/>
              <a:t>"Find lowest value in array score"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B830EFA8-90E8-428C-A274-74745C4A810D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4" descr="C:\WINDOWS\Desktop\Oh_type\sacitch_C++_ppt\gif\savitchc05d01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85850" y="1752600"/>
            <a:ext cx="763905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/>
              <a:t>Array Program Example: </a:t>
            </a:r>
            <a:br>
              <a:rPr lang="en-US" sz="3000"/>
            </a:br>
            <a:r>
              <a:rPr lang="en-US" sz="3000" b="1"/>
              <a:t>Display 5.1  </a:t>
            </a:r>
            <a:r>
              <a:rPr lang="en-US" sz="3000"/>
              <a:t>Program Using an Array (1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192B1D6F-CDBD-43F9-A2EF-1FE244271E4C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/>
              <a:t>Array Program Example: </a:t>
            </a:r>
            <a:br>
              <a:rPr lang="en-US" sz="3000"/>
            </a:br>
            <a:r>
              <a:rPr lang="en-US" sz="3000" b="1"/>
              <a:t>Display 5.1  </a:t>
            </a:r>
            <a:r>
              <a:rPr lang="en-US" sz="3000"/>
              <a:t>Program Using an Array (2 of 2)</a:t>
            </a:r>
          </a:p>
        </p:txBody>
      </p:sp>
      <p:pic>
        <p:nvPicPr>
          <p:cNvPr id="28674" name="Picture 4" descr="C:\WINDOWS\Desktop\Oh_type\sacitch_C++_ppt\gif\savitchc05d01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95400" y="1670050"/>
            <a:ext cx="7239000" cy="452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163715B-7A54-4144-97C0-AC70603FA797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for-loops with Arrays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Natural counting loop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Naturally works well "counting through" elements</a:t>
            </a:r>
            <a:br>
              <a:rPr lang="en-US" sz="2400"/>
            </a:br>
            <a:r>
              <a:rPr lang="en-US" sz="2400"/>
              <a:t>of an array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Example:</a:t>
            </a:r>
            <a:br>
              <a:rPr lang="en-US" sz="2800"/>
            </a:br>
            <a:r>
              <a:rPr lang="en-US" sz="2800"/>
              <a:t>for (idx = 0; idx&lt;5; idx++)</a:t>
            </a:r>
            <a:br>
              <a:rPr lang="en-US" sz="2800"/>
            </a:br>
            <a:r>
              <a:rPr lang="en-US" sz="2800"/>
              <a:t>{</a:t>
            </a:r>
            <a:br>
              <a:rPr lang="en-US" sz="2800"/>
            </a:br>
            <a:r>
              <a:rPr lang="en-US" sz="2800"/>
              <a:t>	cout &lt;&lt; score[idx] &lt;&lt; "off by "</a:t>
            </a:r>
            <a:br>
              <a:rPr lang="en-US" sz="2800"/>
            </a:br>
            <a:r>
              <a:rPr lang="en-US" sz="2800"/>
              <a:t>		&lt;&lt; max – score[idx] &lt;&lt; endl;</a:t>
            </a:r>
            <a:br>
              <a:rPr lang="en-US" sz="2800"/>
            </a:br>
            <a:r>
              <a:rPr lang="en-US" sz="280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Loop control variable (idx) counts from 0 –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7DE51CB2-E486-463A-8721-857AC5665BB3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Major Array Pitfall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Array indexes always start with zero!</a:t>
            </a:r>
          </a:p>
          <a:p>
            <a:pPr eaLnBrk="1" hangingPunct="1"/>
            <a:r>
              <a:rPr lang="en-US"/>
              <a:t>Zero is "first" number to computer</a:t>
            </a:r>
            <a:br>
              <a:rPr lang="en-US"/>
            </a:br>
            <a:r>
              <a:rPr lang="en-US"/>
              <a:t>scientists</a:t>
            </a:r>
          </a:p>
          <a:p>
            <a:pPr eaLnBrk="1" hangingPunct="1"/>
            <a:r>
              <a:rPr lang="en-US"/>
              <a:t>C++ will "let" you go beyond range</a:t>
            </a:r>
          </a:p>
          <a:p>
            <a:pPr lvl="1" eaLnBrk="1" hangingPunct="1"/>
            <a:r>
              <a:rPr lang="en-US"/>
              <a:t>Unpredictable results</a:t>
            </a:r>
          </a:p>
          <a:p>
            <a:pPr lvl="1" eaLnBrk="1" hangingPunct="1"/>
            <a:r>
              <a:rPr lang="en-US"/>
              <a:t>Compiler will not detect these errors!</a:t>
            </a:r>
          </a:p>
          <a:p>
            <a:pPr eaLnBrk="1" hangingPunct="1"/>
            <a:r>
              <a:rPr lang="en-US"/>
              <a:t>Up to programmer to "stay in range"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12155294-5CB0-4AA9-B3DA-91A1009D25FF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Major Array Pitfall Example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Indexes range from 0 to (array_size – 1)</a:t>
            </a:r>
          </a:p>
          <a:p>
            <a:pPr lvl="1" eaLnBrk="1" hangingPunct="1"/>
            <a:r>
              <a:rPr lang="en-US" sz="2400"/>
              <a:t>Example:</a:t>
            </a:r>
            <a:br>
              <a:rPr lang="en-US" sz="2400"/>
            </a:br>
            <a:r>
              <a:rPr lang="en-US" sz="2400"/>
              <a:t>double temperature[24]; 	// 24 is array size</a:t>
            </a:r>
            <a:br>
              <a:rPr lang="en-US" sz="2400"/>
            </a:br>
            <a:r>
              <a:rPr lang="en-US" sz="2400"/>
              <a:t>// Declares array of 24 double values called</a:t>
            </a:r>
            <a:br>
              <a:rPr lang="en-US" sz="2400"/>
            </a:br>
            <a:r>
              <a:rPr lang="en-US" sz="2400"/>
              <a:t>temperature</a:t>
            </a:r>
          </a:p>
          <a:p>
            <a:pPr lvl="2" eaLnBrk="1" hangingPunct="1"/>
            <a:r>
              <a:rPr lang="en-US" sz="2000"/>
              <a:t>They are indexed as:</a:t>
            </a:r>
            <a:br>
              <a:rPr lang="en-US" sz="2000"/>
            </a:br>
            <a:r>
              <a:rPr lang="en-US" sz="2000"/>
              <a:t>temperature[0], temperature[1] … temperature[23]</a:t>
            </a:r>
          </a:p>
          <a:p>
            <a:pPr lvl="1" eaLnBrk="1" hangingPunct="1"/>
            <a:r>
              <a:rPr lang="en-US" sz="2400"/>
              <a:t>Common mistake:</a:t>
            </a:r>
            <a:br>
              <a:rPr lang="en-US" sz="2400"/>
            </a:br>
            <a:r>
              <a:rPr lang="en-US" sz="2400"/>
              <a:t>temperature[24] = 5;</a:t>
            </a:r>
          </a:p>
          <a:p>
            <a:pPr lvl="2" eaLnBrk="1" hangingPunct="1"/>
            <a:r>
              <a:rPr lang="en-US" sz="2000"/>
              <a:t>Index 24 is "out of range"!</a:t>
            </a:r>
          </a:p>
          <a:p>
            <a:pPr lvl="2" eaLnBrk="1" hangingPunct="1"/>
            <a:r>
              <a:rPr lang="en-US" sz="2000"/>
              <a:t>No warning, possibly disastrous results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6CDFCD8C-DF88-4591-8018-A84BFF525C23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Defined Constant as Array Size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Always use defined/named constant for</a:t>
            </a:r>
            <a:br>
              <a:rPr lang="en-US" sz="2800"/>
            </a:br>
            <a:r>
              <a:rPr lang="en-US" sz="2800"/>
              <a:t>array size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/>
              <a:t>Example:</a:t>
            </a:r>
            <a:br>
              <a:rPr lang="en-US" sz="2800"/>
            </a:br>
            <a:r>
              <a:rPr lang="en-US" sz="2800"/>
              <a:t>const int NUMBER_OF_STUDENTS = 5;</a:t>
            </a:r>
            <a:br>
              <a:rPr lang="en-US" sz="2800"/>
            </a:br>
            <a:r>
              <a:rPr lang="en-US" sz="2800"/>
              <a:t>int score[NUMBER_OF_STUDENTS];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/>
              <a:t>Improves readability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/>
              <a:t>Improves versatility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/>
              <a:t>Improves maintainability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FE39B81E-4600-4668-B2E1-556970293AF0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Uses of Defined Constant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969250" cy="4437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Use everywhere size of array is needed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In for-loop for traversal:</a:t>
            </a:r>
            <a:br>
              <a:rPr lang="en-US" sz="2400"/>
            </a:br>
            <a:r>
              <a:rPr lang="en-US" sz="2000"/>
              <a:t>for (idx = 0; idx &lt; NUMBER_OF_STUDENTS; idx++)</a:t>
            </a:r>
            <a:br>
              <a:rPr lang="en-US" sz="2000"/>
            </a:br>
            <a:r>
              <a:rPr lang="en-US" sz="2000"/>
              <a:t>{</a:t>
            </a:r>
            <a:br>
              <a:rPr lang="en-US" sz="2000"/>
            </a:br>
            <a:r>
              <a:rPr lang="en-US" sz="2000"/>
              <a:t>     // Manipulate array</a:t>
            </a:r>
            <a:br>
              <a:rPr lang="en-US" sz="2000"/>
            </a:br>
            <a:r>
              <a:rPr lang="en-US" sz="200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In calculations involving size:</a:t>
            </a:r>
            <a:br>
              <a:rPr lang="en-US" sz="2400"/>
            </a:br>
            <a:r>
              <a:rPr lang="en-US" sz="2400"/>
              <a:t>lastIndex = (NUMBER_OF_STUDENTS – 1);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When passing array to functions (later)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If size changes </a:t>
            </a:r>
            <a:r>
              <a:rPr lang="en-US" sz="2800">
                <a:sym typeface="Wingdings" pitchFamily="2" charset="2"/>
              </a:rPr>
              <a:t></a:t>
            </a:r>
            <a:r>
              <a:rPr lang="en-US" sz="2800"/>
              <a:t> requires only ONE change in program!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671852D0-1CF7-430C-B2A0-92EFCE4807D0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Arrays in Memory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Recall simple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Allocated memory in an "address"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/>
              <a:t>Array declarations allocate memory for</a:t>
            </a:r>
            <a:br>
              <a:rPr lang="en-US"/>
            </a:br>
            <a:r>
              <a:rPr lang="en-US"/>
              <a:t>entire array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/>
              <a:t>Sequentially-allocated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Means addresses allocated "back-to-back"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Allows indexing calculations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Simple "addition" from array beginning (index 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574A8191-B373-4701-80A7-D119CBC53C8A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8" y="133350"/>
            <a:ext cx="7815262" cy="838200"/>
          </a:xfrm>
        </p:spPr>
        <p:txBody>
          <a:bodyPr/>
          <a:lstStyle/>
          <a:p>
            <a:pPr eaLnBrk="1" hangingPunct="1"/>
            <a:r>
              <a:rPr lang="en-US"/>
              <a:t>An Array in Memory</a:t>
            </a:r>
          </a:p>
        </p:txBody>
      </p:sp>
      <p:pic>
        <p:nvPicPr>
          <p:cNvPr id="43010" name="Picture 4" descr="C:\WINDOWS\Desktop\Oh_type\sacitch_C++_ppt\gif\savitchc05d0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743075" y="1128713"/>
            <a:ext cx="6029325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0FC1CB8-5B63-4105-9DA4-2CCA1E788774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Initializing Arrays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As simple variables can be initialized at</a:t>
            </a:r>
            <a:br>
              <a:rPr lang="en-US" sz="2800"/>
            </a:br>
            <a:r>
              <a:rPr lang="en-US" sz="2800"/>
              <a:t>declaration:</a:t>
            </a:r>
            <a:br>
              <a:rPr lang="en-US" sz="2800"/>
            </a:br>
            <a:r>
              <a:rPr lang="en-US" sz="2800"/>
              <a:t>int price = 0;	// 0 is initial value</a:t>
            </a:r>
          </a:p>
          <a:p>
            <a:pPr eaLnBrk="1" hangingPunct="1"/>
            <a:r>
              <a:rPr lang="en-US" sz="2800"/>
              <a:t>Arrays can as well:</a:t>
            </a:r>
            <a:br>
              <a:rPr lang="en-US" sz="2800"/>
            </a:br>
            <a:r>
              <a:rPr lang="en-US" sz="2800"/>
              <a:t>int children[3] = {2, 12, 1};</a:t>
            </a:r>
          </a:p>
          <a:p>
            <a:pPr lvl="1" eaLnBrk="1" hangingPunct="1"/>
            <a:r>
              <a:rPr lang="en-US" sz="2400"/>
              <a:t>Equivalent to following:</a:t>
            </a:r>
            <a:br>
              <a:rPr lang="en-US" sz="2400"/>
            </a:br>
            <a:r>
              <a:rPr lang="en-US" sz="2400"/>
              <a:t>int children[3];</a:t>
            </a:r>
            <a:br>
              <a:rPr lang="en-US" sz="2400"/>
            </a:br>
            <a:r>
              <a:rPr lang="en-US" sz="2400"/>
              <a:t>children[0] = 2;</a:t>
            </a:r>
            <a:br>
              <a:rPr lang="en-US" sz="2400"/>
            </a:br>
            <a:r>
              <a:rPr lang="en-US" sz="2400"/>
              <a:t>children[1] = 12;</a:t>
            </a:r>
            <a:br>
              <a:rPr lang="en-US" sz="2400"/>
            </a:br>
            <a:r>
              <a:rPr lang="en-US" sz="2400"/>
              <a:t>children[2] = 1;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9A6D2518-4C2A-4654-862A-47DCC3303DAA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Auto-Initializing Arrays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If fewer values than size supplied: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Fills from beginning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Fills "rest" with zero of array base type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/>
              <a:t>If array-size is left out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Declares array with size required based on</a:t>
            </a:r>
            <a:br>
              <a:rPr lang="en-US"/>
            </a:br>
            <a:r>
              <a:rPr lang="en-US"/>
              <a:t>number of initialization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Example:</a:t>
            </a:r>
            <a:br>
              <a:rPr lang="en-US"/>
            </a:br>
            <a:r>
              <a:rPr lang="en-US"/>
              <a:t>int b[] = {5, 12, 11};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Allocates array b to size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39D50A0E-0CFD-4C5E-A50E-A68E984D93D4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Arrays in Functions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As arguments to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Indexed variables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An individual "element" of an array can be </a:t>
            </a:r>
            <a:br>
              <a:rPr lang="en-US"/>
            </a:br>
            <a:r>
              <a:rPr lang="en-US"/>
              <a:t>function parameter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Entire arrays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All array elements can be passed as </a:t>
            </a:r>
            <a:br>
              <a:rPr lang="en-US"/>
            </a:br>
            <a:r>
              <a:rPr lang="en-US"/>
              <a:t>"one entity"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/>
              <a:t>As return value from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Can be done </a:t>
            </a:r>
            <a:r>
              <a:rPr lang="en-US">
                <a:sym typeface="Wingdings" pitchFamily="2" charset="2"/>
              </a:rPr>
              <a:t></a:t>
            </a:r>
            <a:r>
              <a:rPr lang="en-US"/>
              <a:t> chapter 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931894F3-CB19-491D-8FDF-0AB7F87A0840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Indexed Variables as Arguments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/>
              <a:t>Indexed variable handled same as simple</a:t>
            </a:r>
            <a:br>
              <a:rPr lang="en-US" sz="2800"/>
            </a:br>
            <a:r>
              <a:rPr lang="en-US" sz="2800"/>
              <a:t>variable of array base type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/>
              <a:t>Given this function declaration:</a:t>
            </a:r>
            <a:br>
              <a:rPr lang="en-US" sz="2800"/>
            </a:br>
            <a:r>
              <a:rPr lang="en-US" sz="2800"/>
              <a:t>void myFunction(double par1);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/>
              <a:t>And these declarations:</a:t>
            </a:r>
            <a:br>
              <a:rPr lang="en-US" sz="2800"/>
            </a:br>
            <a:r>
              <a:rPr lang="en-US" sz="2800"/>
              <a:t>int i;  double n, a[10];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/>
              <a:t>Can make these function calls:</a:t>
            </a:r>
            <a:br>
              <a:rPr lang="en-US" sz="2800"/>
            </a:br>
            <a:r>
              <a:rPr lang="en-US" sz="2800"/>
              <a:t>myFunction(i);	// i is converted to double</a:t>
            </a:r>
            <a:br>
              <a:rPr lang="en-US" sz="2800"/>
            </a:br>
            <a:r>
              <a:rPr lang="en-US" sz="2800"/>
              <a:t>myFunction(a[3]);	// a[3] is double</a:t>
            </a:r>
            <a:br>
              <a:rPr lang="en-US" sz="2800"/>
            </a:br>
            <a:r>
              <a:rPr lang="en-US" sz="2800"/>
              <a:t>myFunction(n);	// n is double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9E6F6A1A-63DC-4BBB-A606-9C6A5942B75E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Subtlety of Indexing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Consider:</a:t>
            </a:r>
            <a:br>
              <a:rPr lang="en-US" dirty="0"/>
            </a:br>
            <a:r>
              <a:rPr lang="en-US" dirty="0" err="1"/>
              <a:t>myFunction</a:t>
            </a:r>
            <a:r>
              <a:rPr lang="en-US" dirty="0"/>
              <a:t>(a[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lvl="1" eaLnBrk="1" hangingPunct="1"/>
            <a:r>
              <a:rPr lang="en-US" dirty="0"/>
              <a:t>Value of </a:t>
            </a:r>
            <a:r>
              <a:rPr lang="en-US" dirty="0" err="1"/>
              <a:t>i</a:t>
            </a:r>
            <a:r>
              <a:rPr lang="en-US" dirty="0"/>
              <a:t> is determined first</a:t>
            </a:r>
          </a:p>
          <a:p>
            <a:pPr lvl="2" eaLnBrk="1" hangingPunct="1"/>
            <a:r>
              <a:rPr lang="en-US" dirty="0"/>
              <a:t>It determines which indexed variable is sent</a:t>
            </a:r>
          </a:p>
          <a:p>
            <a:pPr lvl="1" eaLnBrk="1" hangingPunct="1"/>
            <a:r>
              <a:rPr lang="en-US" dirty="0" err="1"/>
              <a:t>myFunction</a:t>
            </a:r>
            <a:r>
              <a:rPr lang="en-US" dirty="0"/>
              <a:t>(a[</a:t>
            </a:r>
            <a:r>
              <a:rPr lang="en-US" dirty="0" err="1"/>
              <a:t>i</a:t>
            </a:r>
            <a:r>
              <a:rPr lang="en-US" dirty="0"/>
              <a:t>*5]);</a:t>
            </a:r>
          </a:p>
          <a:p>
            <a:pPr lvl="1" eaLnBrk="1" hangingPunct="1"/>
            <a:r>
              <a:rPr lang="en-US" dirty="0"/>
              <a:t>Perfectly legal, from compiler’s view</a:t>
            </a:r>
          </a:p>
          <a:p>
            <a:pPr lvl="1" eaLnBrk="1" hangingPunct="1"/>
            <a:r>
              <a:rPr lang="en-US" dirty="0"/>
              <a:t>Programmer responsible for staying</a:t>
            </a:r>
            <a:br>
              <a:rPr lang="en-US" dirty="0"/>
            </a:br>
            <a:r>
              <a:rPr lang="en-US" dirty="0"/>
              <a:t>"in-bounds" of array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10A6203F-E2B3-44D7-98D5-B2491A5934DB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Entire Arrays as Arguments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Formal parameter can be entire array</a:t>
            </a:r>
          </a:p>
          <a:p>
            <a:pPr lvl="1" eaLnBrk="1" hangingPunct="1"/>
            <a:r>
              <a:rPr lang="en-US" dirty="0"/>
              <a:t>Argument then passed in function call</a:t>
            </a:r>
            <a:br>
              <a:rPr lang="en-US" dirty="0"/>
            </a:br>
            <a:r>
              <a:rPr lang="en-US" dirty="0"/>
              <a:t>is array name</a:t>
            </a:r>
          </a:p>
          <a:p>
            <a:pPr lvl="1" eaLnBrk="1" hangingPunct="1"/>
            <a:r>
              <a:rPr lang="en-US" dirty="0"/>
              <a:t>Called "array parameter"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Send size of array as well</a:t>
            </a:r>
          </a:p>
          <a:p>
            <a:pPr lvl="1" eaLnBrk="1" hangingPunct="1"/>
            <a:r>
              <a:rPr lang="en-US" dirty="0"/>
              <a:t>Typically done as second parameter</a:t>
            </a:r>
          </a:p>
          <a:p>
            <a:pPr lvl="1" eaLnBrk="1" hangingPunct="1"/>
            <a:r>
              <a:rPr lang="en-US" dirty="0"/>
              <a:t>Simple int type formal parameter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951B9FC2-AECA-49F4-8D12-F62961577D87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5" descr="C:\WINDOWS\Desktop\Oh_type\sacitch_C++_ppt\gif\savitchc05d0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600200"/>
            <a:ext cx="7772400" cy="450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6" name="Rectangle 7"/>
          <p:cNvSpPr>
            <a:spLocks noGrp="1" noChangeArrowheads="1"/>
          </p:cNvSpPr>
          <p:nvPr>
            <p:ph type="title"/>
          </p:nvPr>
        </p:nvSpPr>
        <p:spPr>
          <a:xfrm>
            <a:off x="1004888" y="193675"/>
            <a:ext cx="7986712" cy="1143000"/>
          </a:xfrm>
        </p:spPr>
        <p:txBody>
          <a:bodyPr/>
          <a:lstStyle/>
          <a:p>
            <a:pPr eaLnBrk="1" hangingPunct="1"/>
            <a:r>
              <a:rPr lang="en-US" sz="2800"/>
              <a:t>Entire Array as Argument Example: </a:t>
            </a:r>
            <a:br>
              <a:rPr lang="en-US" sz="2800"/>
            </a:br>
            <a:r>
              <a:rPr lang="en-US" sz="2800" b="1"/>
              <a:t>Display 5.3</a:t>
            </a:r>
            <a:r>
              <a:rPr lang="en-US" sz="2800"/>
              <a:t>  Function with an Array Parameter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7689E53E-5628-47CA-84E3-729E460F0FD5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Entire Array as Argument Example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Given previous example:</a:t>
            </a:r>
          </a:p>
          <a:p>
            <a:pPr eaLnBrk="1" hangingPunct="1"/>
            <a:r>
              <a:rPr lang="en-US" dirty="0"/>
              <a:t>In some main() function definition,</a:t>
            </a:r>
            <a:br>
              <a:rPr lang="en-US" dirty="0"/>
            </a:br>
            <a:r>
              <a:rPr lang="en-US" dirty="0"/>
              <a:t>consider this calls:</a:t>
            </a:r>
            <a:br>
              <a:rPr lang="en-US" dirty="0"/>
            </a:br>
            <a:r>
              <a:rPr lang="en-US" dirty="0"/>
              <a:t>	int score[5], </a:t>
            </a:r>
            <a:r>
              <a:rPr lang="en-US" dirty="0" err="1"/>
              <a:t>numberOfScores</a:t>
            </a:r>
            <a:r>
              <a:rPr lang="en-US" dirty="0"/>
              <a:t> = 5;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fillup</a:t>
            </a:r>
            <a:r>
              <a:rPr lang="en-US" dirty="0"/>
              <a:t>(score, </a:t>
            </a:r>
            <a:r>
              <a:rPr lang="en-US" dirty="0" err="1"/>
              <a:t>numberOfScores</a:t>
            </a:r>
            <a:r>
              <a:rPr lang="en-US" dirty="0"/>
              <a:t>);</a:t>
            </a:r>
          </a:p>
          <a:p>
            <a:pPr lvl="3" eaLnBrk="1" hangingPunct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argument is entire array</a:t>
            </a:r>
          </a:p>
          <a:p>
            <a:pPr lvl="3" eaLnBrk="1" hangingPunct="1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argument is integer value</a:t>
            </a:r>
          </a:p>
          <a:p>
            <a:pPr lvl="1" eaLnBrk="1" hangingPunct="1"/>
            <a:r>
              <a:rPr lang="en-US" dirty="0"/>
              <a:t>Note no brackets in array argument!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8DC05E9-CE08-4815-BA31-F699E39CCF54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Array as Argument: How?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What’s really passed?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Think of array as 3 "pieces"</a:t>
            </a:r>
          </a:p>
          <a:p>
            <a:pPr lvl="1" eaLnBrk="1" hangingPunct="1"/>
            <a:r>
              <a:rPr lang="en-US" sz="2400" dirty="0"/>
              <a:t>Address of first indexed variable (</a:t>
            </a:r>
            <a:r>
              <a:rPr lang="en-US" sz="2400" dirty="0" err="1"/>
              <a:t>arrName</a:t>
            </a:r>
            <a:r>
              <a:rPr lang="en-US" sz="2400" dirty="0"/>
              <a:t>[0])</a:t>
            </a:r>
          </a:p>
          <a:p>
            <a:pPr lvl="1" eaLnBrk="1" hangingPunct="1"/>
            <a:r>
              <a:rPr lang="en-US" sz="2400" dirty="0"/>
              <a:t>Array base type</a:t>
            </a:r>
          </a:p>
          <a:p>
            <a:pPr lvl="1" eaLnBrk="1" hangingPunct="1"/>
            <a:r>
              <a:rPr lang="en-US" sz="2400" dirty="0"/>
              <a:t>Size of array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Only 1</a:t>
            </a:r>
            <a:r>
              <a:rPr lang="en-US" sz="2800" baseline="30000" dirty="0"/>
              <a:t>st</a:t>
            </a:r>
            <a:r>
              <a:rPr lang="en-US" sz="2800" dirty="0"/>
              <a:t> piece is passed!</a:t>
            </a:r>
          </a:p>
          <a:p>
            <a:pPr lvl="1" eaLnBrk="1" hangingPunct="1"/>
            <a:r>
              <a:rPr lang="en-US" sz="2400" dirty="0"/>
              <a:t>Just the beginning address of array</a:t>
            </a:r>
          </a:p>
          <a:p>
            <a:pPr lvl="1" eaLnBrk="1" hangingPunct="1"/>
            <a:r>
              <a:rPr lang="en-US" sz="2400" dirty="0"/>
              <a:t>Very similar to "pass-by-reference"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DD6150E2-744A-4305-8309-8BA9BA60B626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xfrm>
            <a:off x="488576" y="24288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Array Parameters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May seem strange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No brackets in array argument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Must send size separately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One nice property: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Can use SAME function to fill any size array!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Exemplifies "re-use" properties of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/>
              <a:t>int score[5], time[10];</a:t>
            </a:r>
            <a:br>
              <a:rPr lang="en-US" sz="2400" dirty="0"/>
            </a:br>
            <a:r>
              <a:rPr lang="en-US" sz="2400" dirty="0" err="1"/>
              <a:t>fillUp</a:t>
            </a:r>
            <a:r>
              <a:rPr lang="en-US" sz="2400" dirty="0"/>
              <a:t>(score, 5);</a:t>
            </a:r>
            <a:br>
              <a:rPr lang="en-US" sz="2400" dirty="0"/>
            </a:br>
            <a:r>
              <a:rPr lang="en-US" sz="2400" dirty="0" err="1"/>
              <a:t>fillUp</a:t>
            </a:r>
            <a:r>
              <a:rPr lang="en-US" sz="2400" dirty="0"/>
              <a:t>(time, 10);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B31BEA75-4A09-4D3F-817E-C3314821A8A0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const Parameter Modifier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Recall: array parameter actually passes</a:t>
            </a:r>
            <a:br>
              <a:rPr lang="en-US" sz="2800"/>
            </a:br>
            <a:r>
              <a:rPr lang="en-US" sz="2800"/>
              <a:t>address of 1</a:t>
            </a:r>
            <a:r>
              <a:rPr lang="en-US" sz="2800" baseline="30000"/>
              <a:t>st</a:t>
            </a:r>
            <a:r>
              <a:rPr lang="en-US" sz="2800"/>
              <a:t> 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Similar to pass-by-reference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Function can then modify array!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Often desirable, sometimes not!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/>
              <a:t>Protect array contents from modification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Use "const" modifier before array parameter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Called "constant array parameter"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Tells compiler to "not allow" modifications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F3029655-479A-4A94-9355-D6AFADACA3F9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Functions that Return an Array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/>
              <a:t>Functions cannot return arrays same way simple types are returned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Requires use of a "pointer"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Will be discussed in chapter 10…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7862A310-E199-4DC0-9727-5CFE21AC55D5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Programming with Arrays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Plenty of uses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/>
              <a:t>Partially-filled arrays</a:t>
            </a:r>
          </a:p>
          <a:p>
            <a:pPr lvl="2" eaLnBrk="1" hangingPunct="1"/>
            <a:r>
              <a:rPr lang="en-US"/>
              <a:t>Must be declared some "max size"</a:t>
            </a:r>
          </a:p>
          <a:p>
            <a:pPr lvl="1" eaLnBrk="1" hangingPunct="1">
              <a:spcBef>
                <a:spcPct val="50000"/>
              </a:spcBef>
            </a:pPr>
            <a:r>
              <a:rPr lang="en-US"/>
              <a:t>Sorting</a:t>
            </a:r>
          </a:p>
          <a:p>
            <a:pPr lvl="1" eaLnBrk="1" hangingPunct="1">
              <a:spcBef>
                <a:spcPct val="50000"/>
              </a:spcBef>
            </a:pPr>
            <a:r>
              <a:rPr lang="en-US"/>
              <a:t>Searching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087D2DAC-61EA-4E8C-9656-2A76BE0E9FBF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Partially-filled Arrays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Difficult to know exact array size needed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Must declare to be largest possible size</a:t>
            </a:r>
          </a:p>
          <a:p>
            <a:pPr lvl="1" eaLnBrk="1" hangingPunct="1">
              <a:spcBef>
                <a:spcPct val="40000"/>
              </a:spcBef>
            </a:pPr>
            <a:r>
              <a:rPr lang="en-US"/>
              <a:t>Must then keep "track" of valid data in array</a:t>
            </a:r>
          </a:p>
          <a:p>
            <a:pPr lvl="1" eaLnBrk="1" hangingPunct="1">
              <a:spcBef>
                <a:spcPct val="40000"/>
              </a:spcBef>
            </a:pPr>
            <a:r>
              <a:rPr lang="en-US"/>
              <a:t>Additional "tracking" variable needed</a:t>
            </a:r>
          </a:p>
          <a:p>
            <a:pPr lvl="2" eaLnBrk="1" hangingPunct="1"/>
            <a:r>
              <a:rPr lang="en-US"/>
              <a:t>int numberUsed;</a:t>
            </a:r>
          </a:p>
          <a:p>
            <a:pPr lvl="2" eaLnBrk="1" hangingPunct="1"/>
            <a:r>
              <a:rPr lang="en-US"/>
              <a:t>Tracks current number of elements in array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AC17F6F4-5020-4078-ACD5-40078B5F7753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29" name="Picture 4" descr="C:\WINDOWS\Desktop\Oh_type\sacitch_C++_ppt\gif\savitchc05d05_1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181100" y="1531938"/>
            <a:ext cx="7448550" cy="4583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Partially-filled Arrays Example: </a:t>
            </a:r>
            <a:br>
              <a:rPr lang="en-US" sz="3200"/>
            </a:br>
            <a:r>
              <a:rPr lang="en-US" sz="3200" b="1"/>
              <a:t>Display 5.5</a:t>
            </a:r>
            <a:r>
              <a:rPr lang="en-US" sz="3200"/>
              <a:t>  Partially Filled Array (1 of 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221BBC6A-1EA7-446F-90D5-8A5918E20FCB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7" name="Picture 3" descr="C:\WINDOWS\Desktop\Oh_type\sacitch_C++_ppt\gif\savitchc05d05_2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841500"/>
            <a:ext cx="7772400" cy="318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Partially-filled Arrays Example: </a:t>
            </a:r>
            <a:br>
              <a:rPr lang="en-US" sz="3200"/>
            </a:br>
            <a:r>
              <a:rPr lang="en-US" sz="3200" b="1"/>
              <a:t>Display 5.5</a:t>
            </a:r>
            <a:r>
              <a:rPr lang="en-US" sz="3200"/>
              <a:t>  Partially Filled Array (2 of 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6BB2369E-1422-4281-96B3-4667E182FAC0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Partially-filled Arrays Example: </a:t>
            </a:r>
            <a:br>
              <a:rPr lang="en-US" sz="3200"/>
            </a:br>
            <a:r>
              <a:rPr lang="en-US" sz="3200" b="1"/>
              <a:t>Display 5.5</a:t>
            </a:r>
            <a:r>
              <a:rPr lang="en-US" sz="3200"/>
              <a:t>  Partially Filled Array (3 of 5)</a:t>
            </a:r>
          </a:p>
        </p:txBody>
      </p:sp>
      <p:pic>
        <p:nvPicPr>
          <p:cNvPr id="77826" name="Picture 4" descr="C:\WINDOWS\Desktop\Oh_type\sacitch_C++_ppt\gif\savitchc05d05_3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838200" y="1905000"/>
            <a:ext cx="7772400" cy="357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07085C33-EC19-44CE-9A94-3EA674AD1D4B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Partially-filled Arrays Example: </a:t>
            </a:r>
            <a:br>
              <a:rPr lang="en-US" sz="3200"/>
            </a:br>
            <a:r>
              <a:rPr lang="en-US" sz="3200" b="1"/>
              <a:t>Display 5.5</a:t>
            </a:r>
            <a:r>
              <a:rPr lang="en-US" sz="3200"/>
              <a:t>  Partially Filled Array (4 of 5)</a:t>
            </a:r>
          </a:p>
        </p:txBody>
      </p:sp>
      <p:pic>
        <p:nvPicPr>
          <p:cNvPr id="79874" name="Picture 4" descr="C:\WINDOWS\Desktop\Oh_type\sacitch_C++_ppt\gif\savitchc05d05_4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04888" y="1828800"/>
            <a:ext cx="77724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3950EF6-F37D-4D3B-9994-D2CFD3FC6A00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Partially-filled Arrays Example: </a:t>
            </a:r>
            <a:br>
              <a:rPr lang="en-US" sz="3200"/>
            </a:br>
            <a:r>
              <a:rPr lang="en-US" sz="3200" b="1"/>
              <a:t>Display 5.5</a:t>
            </a:r>
            <a:r>
              <a:rPr lang="en-US" sz="3200"/>
              <a:t>  Partially Filled Array (5 of 5)</a:t>
            </a:r>
          </a:p>
        </p:txBody>
      </p:sp>
      <p:pic>
        <p:nvPicPr>
          <p:cNvPr id="81922" name="Picture 4" descr="C:\WINDOWS\Desktop\Oh_type\sacitch_C++_ppt\gif\savitchc05d05_5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600200" y="1522413"/>
            <a:ext cx="6559550" cy="490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CAC9975-AB50-4682-88E8-4620B40D22E5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Global Constants vs. Parameters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Constants typically made "global"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Declared above main()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/>
              <a:t>Functions then have scope to array</a:t>
            </a:r>
            <a:br>
              <a:rPr lang="en-US"/>
            </a:br>
            <a:r>
              <a:rPr lang="en-US"/>
              <a:t>size constant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No need to send as parameter then?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Technically yes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Why should we anyway?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Function definition might be in separate file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Function might be used by other programs!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DE9459AA-B6C5-40D1-A01E-FC91D2E55908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Searching an Array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/>
              <a:t>Very typical use of arrays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Display 5.6 next slide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343FC9AC-D500-431D-B811-7573404E6C0E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4" descr="C:\WINDOWS\Desktop\Oh_type\sacitch_C++_ppt\gif\savitchc05d06_1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3938" y="1847850"/>
            <a:ext cx="7772400" cy="377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0374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5.6  </a:t>
            </a:r>
            <a:br>
              <a:rPr lang="en-US" sz="3600" b="1"/>
            </a:br>
            <a:r>
              <a:rPr lang="en-US" sz="3600"/>
              <a:t>Searching an Array (1 of 4)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C227EC66-8275-4C6D-B91C-DD1F612248FD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7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5.6  </a:t>
            </a:r>
            <a:br>
              <a:rPr lang="en-US" sz="3600" b="1"/>
            </a:br>
            <a:r>
              <a:rPr lang="en-US" sz="3600"/>
              <a:t>Searching an Array (2 of 4)</a:t>
            </a:r>
          </a:p>
        </p:txBody>
      </p:sp>
      <p:pic>
        <p:nvPicPr>
          <p:cNvPr id="90114" name="Picture 6" descr="C:\WINDOWS\Desktop\Oh_type\sacitch_C++_ppt\gif\savitchc05d06_2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20800" y="1581150"/>
            <a:ext cx="7175500" cy="477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8FB45F1C-5BFB-4985-A8FA-EF4C0CD8DD5B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5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5.6  </a:t>
            </a:r>
            <a:br>
              <a:rPr lang="en-US" sz="3600" b="1"/>
            </a:br>
            <a:r>
              <a:rPr lang="en-US" sz="3600"/>
              <a:t>Searching an Array (3 of 4)</a:t>
            </a:r>
          </a:p>
        </p:txBody>
      </p:sp>
      <p:pic>
        <p:nvPicPr>
          <p:cNvPr id="92162" name="Picture 4" descr="C:\WINDOWS\Desktop\Oh_type\sacitch_C++_ppt\gif\savitchc05d06_3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609600" y="1524000"/>
            <a:ext cx="7772400" cy="422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2A1EF330-1187-453F-A896-24A2131575E8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9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5.6  </a:t>
            </a:r>
            <a:br>
              <a:rPr lang="en-US" sz="3600" b="1"/>
            </a:br>
            <a:r>
              <a:rPr lang="en-US" sz="3600"/>
              <a:t>Searching an Array (4 of 4)</a:t>
            </a:r>
          </a:p>
        </p:txBody>
      </p:sp>
      <p:pic>
        <p:nvPicPr>
          <p:cNvPr id="94210" name="Picture 4" descr="C:\WINDOWS\Desktop\Oh_type\sacitch_C++_ppt\gif\savitchc05d06_4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49375" y="1600200"/>
            <a:ext cx="7099300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C63E1D28-E643-4233-9DFD-6AAF7A88CB81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421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Sorting an Array: </a:t>
            </a:r>
            <a:br>
              <a:rPr lang="en-US" sz="3600"/>
            </a:br>
            <a:r>
              <a:rPr lang="en-US" sz="3600" b="1"/>
              <a:t>Display 5.7</a:t>
            </a:r>
            <a:r>
              <a:rPr lang="en-US" sz="3600"/>
              <a:t>  Selection Short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1447800"/>
          </a:xfrm>
        </p:spPr>
        <p:txBody>
          <a:bodyPr/>
          <a:lstStyle/>
          <a:p>
            <a:pPr eaLnBrk="1" hangingPunct="1"/>
            <a:r>
              <a:rPr lang="en-US"/>
              <a:t>Selection Sort Algorithm</a:t>
            </a:r>
          </a:p>
          <a:p>
            <a:pPr eaLnBrk="1" hangingPunct="1"/>
            <a:endParaRPr lang="en-US"/>
          </a:p>
        </p:txBody>
      </p:sp>
      <p:pic>
        <p:nvPicPr>
          <p:cNvPr id="96259" name="Picture 4" descr="C:\WINDOWS\Desktop\Oh_type\sacitch_C++_ppt\gif\savitchc05d07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03338" y="2286000"/>
            <a:ext cx="7191375" cy="409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44651BF9-ED74-433E-B540-49B623267E84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96261" name="Footer Placeholder 7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5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Sorting an Array Example: </a:t>
            </a:r>
            <a:br>
              <a:rPr lang="en-US" sz="3600"/>
            </a:br>
            <a:r>
              <a:rPr lang="en-US" sz="3600" b="1"/>
              <a:t>Display 5.8</a:t>
            </a:r>
            <a:r>
              <a:rPr lang="en-US" sz="3600"/>
              <a:t>  Sorting an Array (1 of 4)</a:t>
            </a:r>
          </a:p>
        </p:txBody>
      </p:sp>
      <p:pic>
        <p:nvPicPr>
          <p:cNvPr id="98306" name="Picture 6" descr="savitchc05d08_1of4.gif                                         000528B5backup                         BE98102B: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9325" y="1981200"/>
            <a:ext cx="7927975" cy="322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ACC0FE1E-7885-4AE1-ABAC-B8245C35047B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9830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9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Sorting an Array Example: </a:t>
            </a:r>
            <a:br>
              <a:rPr lang="en-US" sz="3600"/>
            </a:br>
            <a:r>
              <a:rPr lang="en-US" sz="3600" b="1"/>
              <a:t>Display 5.8</a:t>
            </a:r>
            <a:r>
              <a:rPr lang="en-US" sz="3600"/>
              <a:t>  Sorting an Array (2 of 4)</a:t>
            </a:r>
          </a:p>
        </p:txBody>
      </p:sp>
      <p:pic>
        <p:nvPicPr>
          <p:cNvPr id="100354" name="Picture 6" descr="C:\WINDOWS\Desktop\Oh_type\sacitch_C++_ppt\gif\savitchc05d08_2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522413" y="1619250"/>
            <a:ext cx="675163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A8AA485E-EA77-4FDD-9B75-AF3784BACED7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10035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3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Sorting an Array Example: </a:t>
            </a:r>
            <a:br>
              <a:rPr lang="en-US" sz="3600"/>
            </a:br>
            <a:r>
              <a:rPr lang="en-US" sz="3600" b="1"/>
              <a:t>Display 5.8</a:t>
            </a:r>
            <a:r>
              <a:rPr lang="en-US" sz="3600"/>
              <a:t>  Sorting an Array (3 of 4)</a:t>
            </a:r>
          </a:p>
        </p:txBody>
      </p:sp>
      <p:pic>
        <p:nvPicPr>
          <p:cNvPr id="102402" name="Picture 6" descr="C:\WINDOWS\Desktop\Oh_type\sacitch_C++_ppt\gif\savitchc05d08_3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3938" y="1673225"/>
            <a:ext cx="7772400" cy="446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10DF8F45-7B24-4310-A6E5-146F142A2540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10240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5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Sorting an Array Example: </a:t>
            </a:r>
            <a:br>
              <a:rPr lang="en-US" sz="3600"/>
            </a:br>
            <a:r>
              <a:rPr lang="en-US" sz="3600" b="1"/>
              <a:t>Display 5.8</a:t>
            </a:r>
            <a:r>
              <a:rPr lang="en-US" sz="3600"/>
              <a:t>  Sorting an Array (4 of 4)</a:t>
            </a:r>
          </a:p>
        </p:txBody>
      </p:sp>
      <p:pic>
        <p:nvPicPr>
          <p:cNvPr id="104450" name="Picture 4" descr="C:\WINDOWS\Desktop\Oh_type\sacitch_C++_ppt\gif\savitchc05d08_4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866900" y="1454150"/>
            <a:ext cx="6091238" cy="506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FEA1C1C3-51F6-4C18-9A62-8BC88BE380EA}" type="slidenum">
              <a:rPr lang="en-US"/>
              <a:pPr>
                <a:defRPr/>
              </a:pPr>
              <a:t>45</a:t>
            </a:fld>
            <a:endParaRPr lang="en-US"/>
          </a:p>
        </p:txBody>
      </p:sp>
      <p:sp>
        <p:nvSpPr>
          <p:cNvPr id="10445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Multidimensional Arrays</a:t>
            </a:r>
          </a:p>
        </p:txBody>
      </p:sp>
      <p:sp>
        <p:nvSpPr>
          <p:cNvPr id="1064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Arrays with more than one index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char page[30][100];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Two indexes: An "array of arrays"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Visualize as:</a:t>
            </a:r>
            <a:br>
              <a:rPr lang="en-US"/>
            </a:br>
            <a:r>
              <a:rPr lang="en-US"/>
              <a:t>page[0][0], page[0][1], …, page[0][99]</a:t>
            </a:r>
            <a:br>
              <a:rPr lang="en-US"/>
            </a:br>
            <a:r>
              <a:rPr lang="en-US"/>
              <a:t>page[1][0], page[1][1], …, page[1][99]</a:t>
            </a:r>
            <a:br>
              <a:rPr lang="en-US"/>
            </a:br>
            <a:r>
              <a:rPr lang="en-US"/>
              <a:t>…</a:t>
            </a:r>
            <a:br>
              <a:rPr lang="en-US"/>
            </a:br>
            <a:r>
              <a:rPr lang="en-US"/>
              <a:t>page[29][0], page[29][1], …, page[29][99]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/>
              <a:t>C++ allows any number of indexes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Typically no more than two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816C52D4-BBFD-47B2-9832-BAFCE479A176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1065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Multidimensional Array Parameters</a:t>
            </a:r>
          </a:p>
        </p:txBody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Similar to one-dimensional array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1</a:t>
            </a:r>
            <a:r>
              <a:rPr lang="en-US" sz="2000" baseline="30000"/>
              <a:t>st</a:t>
            </a:r>
            <a:r>
              <a:rPr lang="en-US" sz="2000"/>
              <a:t> dimension size not given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Provided as second parameter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2</a:t>
            </a:r>
            <a:r>
              <a:rPr lang="en-US" sz="2000" baseline="30000"/>
              <a:t>nd</a:t>
            </a:r>
            <a:r>
              <a:rPr lang="en-US" sz="2000"/>
              <a:t> dimension size IS given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/>
              <a:t>Example:</a:t>
            </a:r>
            <a:br>
              <a:rPr lang="en-US" sz="2400"/>
            </a:br>
            <a:r>
              <a:rPr lang="en-US" sz="2000"/>
              <a:t>void DisplayPage(const char p[][100], int sizeDimension1)</a:t>
            </a:r>
            <a:br>
              <a:rPr lang="en-US" sz="2000"/>
            </a:br>
            <a:r>
              <a:rPr lang="en-US" sz="2000"/>
              <a:t>{</a:t>
            </a:r>
            <a:br>
              <a:rPr lang="en-US" sz="2000"/>
            </a:br>
            <a:r>
              <a:rPr lang="en-US" sz="2000"/>
              <a:t>	for (int index1=0; index1&lt;sizeDimension1; index1++)</a:t>
            </a:r>
            <a:br>
              <a:rPr lang="en-US" sz="2000"/>
            </a:br>
            <a:r>
              <a:rPr lang="en-US" sz="2000"/>
              <a:t>	{</a:t>
            </a:r>
            <a:br>
              <a:rPr lang="en-US" sz="2000"/>
            </a:br>
            <a:r>
              <a:rPr lang="en-US" sz="2000"/>
              <a:t>		for (int index2=0; index2 &lt; 100; index2++)</a:t>
            </a:r>
            <a:br>
              <a:rPr lang="en-US" sz="2000"/>
            </a:br>
            <a:r>
              <a:rPr lang="en-US" sz="2000"/>
              <a:t>			cout &lt;&lt; p[index1][index2];</a:t>
            </a:r>
            <a:br>
              <a:rPr lang="en-US" sz="2000"/>
            </a:br>
            <a:r>
              <a:rPr lang="en-US" sz="2000"/>
              <a:t>		cout &lt;&lt; endl;</a:t>
            </a:r>
            <a:br>
              <a:rPr lang="en-US" sz="2000"/>
            </a:br>
            <a:r>
              <a:rPr lang="en-US" sz="2000"/>
              <a:t>	}</a:t>
            </a:r>
            <a:br>
              <a:rPr lang="en-US" sz="2000"/>
            </a:br>
            <a:r>
              <a:rPr lang="en-US" sz="200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AB41DA91-AC30-4063-826E-A1945293361A}" type="slidenum">
              <a:rPr lang="en-US"/>
              <a:pPr>
                <a:defRPr/>
              </a:pPr>
              <a:t>47</a:t>
            </a:fld>
            <a:endParaRPr lang="en-US"/>
          </a:p>
        </p:txBody>
      </p:sp>
      <p:sp>
        <p:nvSpPr>
          <p:cNvPr id="1085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1</a:t>
            </a:r>
          </a:p>
        </p:txBody>
      </p:sp>
      <p:sp>
        <p:nvSpPr>
          <p:cNvPr id="1105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/>
              <a:t>Array is collection of "same type" data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/>
              <a:t>Indexed variables of array used just like</a:t>
            </a:r>
            <a:br>
              <a:rPr lang="en-US"/>
            </a:br>
            <a:r>
              <a:rPr lang="en-US"/>
              <a:t>any other simple variables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/>
              <a:t>for-loop "natural" way to traverse arrays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/>
              <a:t>Programmer responsible for staying</a:t>
            </a:r>
            <a:br>
              <a:rPr lang="en-US"/>
            </a:br>
            <a:r>
              <a:rPr lang="en-US"/>
              <a:t>"in bounds" of array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/>
              <a:t>Array parameter is "new" kind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Similar to call-by-reference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8F7B24BA-FC11-4FE0-B94A-B9D9EB59307F}" type="slidenum">
              <a:rPr lang="en-US"/>
              <a:pPr>
                <a:defRPr/>
              </a:pPr>
              <a:t>48</a:t>
            </a:fld>
            <a:endParaRPr lang="en-US"/>
          </a:p>
        </p:txBody>
      </p:sp>
      <p:sp>
        <p:nvSpPr>
          <p:cNvPr id="1105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2</a:t>
            </a:r>
          </a:p>
        </p:txBody>
      </p:sp>
      <p:sp>
        <p:nvSpPr>
          <p:cNvPr id="1126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Array elements stored sequentially</a:t>
            </a:r>
          </a:p>
          <a:p>
            <a:pPr lvl="1" eaLnBrk="1" hangingPunct="1"/>
            <a:r>
              <a:rPr lang="en-US" sz="2400"/>
              <a:t>"Contiguous" portion of memory</a:t>
            </a:r>
          </a:p>
          <a:p>
            <a:pPr lvl="1" eaLnBrk="1" hangingPunct="1"/>
            <a:r>
              <a:rPr lang="en-US" sz="2400"/>
              <a:t>Only address of 1</a:t>
            </a:r>
            <a:r>
              <a:rPr lang="en-US" sz="2400" baseline="30000"/>
              <a:t>st</a:t>
            </a:r>
            <a:r>
              <a:rPr lang="en-US" sz="2400"/>
              <a:t> element is passed to 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/>
              <a:t>Partially-filled arrays </a:t>
            </a:r>
            <a:r>
              <a:rPr lang="en-US" sz="2800">
                <a:sym typeface="Wingdings" pitchFamily="2" charset="2"/>
              </a:rPr>
              <a:t></a:t>
            </a:r>
            <a:r>
              <a:rPr lang="en-US" sz="2800"/>
              <a:t> more tracking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/>
              <a:t>Constant array parameters</a:t>
            </a:r>
          </a:p>
          <a:p>
            <a:pPr lvl="1" eaLnBrk="1" hangingPunct="1"/>
            <a:r>
              <a:rPr lang="en-US" sz="2400"/>
              <a:t> Prevent modification of array contents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/>
              <a:t>Multidimensional arrays</a:t>
            </a:r>
          </a:p>
          <a:p>
            <a:pPr lvl="1" eaLnBrk="1" hangingPunct="1"/>
            <a:r>
              <a:rPr lang="en-US" sz="2400"/>
              <a:t>Create "array of arrays"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85F65A99-9535-4636-8259-8AB82C81A024}" type="slidenum">
              <a:rPr lang="en-US"/>
              <a:pPr>
                <a:defRPr/>
              </a:pPr>
              <a:t>49</a:t>
            </a:fld>
            <a:endParaRPr lang="en-US"/>
          </a:p>
        </p:txBody>
      </p:sp>
      <p:sp>
        <p:nvSpPr>
          <p:cNvPr id="1126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2533</Words>
  <Application>Microsoft Macintosh PowerPoint</Application>
  <PresentationFormat>Ekran Gösterisi (4:3)</PresentationFormat>
  <Paragraphs>381</Paragraphs>
  <Slides>49</Slides>
  <Notes>49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Chapter 5</vt:lpstr>
      <vt:lpstr>Learning Objectives</vt:lpstr>
      <vt:lpstr>Introduction to Arrays</vt:lpstr>
      <vt:lpstr>Declaring Arrays</vt:lpstr>
      <vt:lpstr>Accessing Arrays</vt:lpstr>
      <vt:lpstr>Array Usage</vt:lpstr>
      <vt:lpstr>Array Program Example:  Display 5.1  Program Using an Array (1 of 2)</vt:lpstr>
      <vt:lpstr>Array Program Example:  Display 5.1  Program Using an Array (2 of 2)</vt:lpstr>
      <vt:lpstr>for-loops with Arrays</vt:lpstr>
      <vt:lpstr>Major Array Pitfall</vt:lpstr>
      <vt:lpstr>Major Array Pitfall Example</vt:lpstr>
      <vt:lpstr>Defined Constant as Array Size</vt:lpstr>
      <vt:lpstr>Uses of Defined Constant</vt:lpstr>
      <vt:lpstr>Arrays in Memory</vt:lpstr>
      <vt:lpstr>An Array in Memory</vt:lpstr>
      <vt:lpstr>Initializing Arrays</vt:lpstr>
      <vt:lpstr>Auto-Initializing Arrays</vt:lpstr>
      <vt:lpstr>Arrays in Functions</vt:lpstr>
      <vt:lpstr>Indexed Variables as Arguments</vt:lpstr>
      <vt:lpstr>Subtlety of Indexing</vt:lpstr>
      <vt:lpstr>Entire Arrays as Arguments</vt:lpstr>
      <vt:lpstr>Entire Array as Argument Example:  Display 5.3  Function with an Array Parameter</vt:lpstr>
      <vt:lpstr>Entire Array as Argument Example</vt:lpstr>
      <vt:lpstr>Array as Argument: How?</vt:lpstr>
      <vt:lpstr>Array Parameters</vt:lpstr>
      <vt:lpstr>The const Parameter Modifier</vt:lpstr>
      <vt:lpstr>Functions that Return an Array</vt:lpstr>
      <vt:lpstr>Programming with Arrays</vt:lpstr>
      <vt:lpstr>Partially-filled Arrays</vt:lpstr>
      <vt:lpstr>Partially-filled Arrays Example:  Display 5.5  Partially Filled Array (1 of 5)</vt:lpstr>
      <vt:lpstr>Partially-filled Arrays Example:  Display 5.5  Partially Filled Array (2 of 5)</vt:lpstr>
      <vt:lpstr>Partially-filled Arrays Example:  Display 5.5  Partially Filled Array (3 of 5)</vt:lpstr>
      <vt:lpstr>Partially-filled Arrays Example:  Display 5.5  Partially Filled Array (4 of 5)</vt:lpstr>
      <vt:lpstr>Partially-filled Arrays Example:  Display 5.5  Partially Filled Array (5 of 5)</vt:lpstr>
      <vt:lpstr>Global Constants vs. Parameters</vt:lpstr>
      <vt:lpstr>Searching an Array</vt:lpstr>
      <vt:lpstr>Display 5.6   Searching an Array (1 of 4)</vt:lpstr>
      <vt:lpstr>Display 5.6   Searching an Array (2 of 4)</vt:lpstr>
      <vt:lpstr>Display 5.6   Searching an Array (3 of 4)</vt:lpstr>
      <vt:lpstr>Display 5.6   Searching an Array (4 of 4)</vt:lpstr>
      <vt:lpstr>Sorting an Array:  Display 5.7  Selection Short</vt:lpstr>
      <vt:lpstr>Sorting an Array Example:  Display 5.8  Sorting an Array (1 of 4)</vt:lpstr>
      <vt:lpstr>Sorting an Array Example:  Display 5.8  Sorting an Array (2 of 4)</vt:lpstr>
      <vt:lpstr>Sorting an Array Example:  Display 5.8  Sorting an Array (3 of 4)</vt:lpstr>
      <vt:lpstr>Sorting an Array Example:  Display 5.8  Sorting an Array (4 of 4)</vt:lpstr>
      <vt:lpstr>Multidimensional Arrays</vt:lpstr>
      <vt:lpstr>Multidimensional Array Parameters</vt:lpstr>
      <vt:lpstr>Summary 1</vt:lpstr>
      <vt:lpstr>Summary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YUSUF EMRE KILIÇER</cp:lastModifiedBy>
  <cp:revision>19</cp:revision>
  <dcterms:created xsi:type="dcterms:W3CDTF">2006-08-16T00:00:00Z</dcterms:created>
  <dcterms:modified xsi:type="dcterms:W3CDTF">2023-10-16T12:03:32Z</dcterms:modified>
</cp:coreProperties>
</file>