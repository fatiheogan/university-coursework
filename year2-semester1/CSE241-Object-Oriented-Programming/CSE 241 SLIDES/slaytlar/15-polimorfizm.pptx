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AB4BC18-FE93-448A-A3BD-559A6B71AB9E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A2C9F3-362F-40D9-9CE0-3D8ADB19F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71C200F-9D6C-4C3B-92EF-EF263F837A6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1CDE75-3F30-471B-9D2C-8DCCAA7B3B7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419B33-5AAE-40B7-8ADE-4BB341D34C1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33DC07-4708-4DCD-ACFF-5468E5C6CC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05B391-CD11-412C-854C-412C75CCF3F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E2DABF-7EBC-43A8-B8B5-412F4A7CDD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5755E0-0416-4298-B7AC-264EF855B0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B30663-7942-4108-883C-F01D1952779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AA32C2-F53F-48E8-8F4A-F31FC2A36C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881851-AAFE-42C6-AC89-0702D6E9F0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A04641-AC9A-498F-A120-2748D1D382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8652BC-B2C1-4486-A935-4C4BD8DDEB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17AD52-4578-4777-9814-A340664365D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5951264-BE87-4289-95ED-0AB1714C37F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9F46CD-1677-4B57-89EF-C91215E7978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CD41A6-5790-40CE-ADA5-5C10EB27357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63C64D-2060-4DC4-AC66-41600A1A624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E649FF-73A5-4313-9ACD-5656BB812A4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DE1D35-C846-421C-B2E5-5897226658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1FD930-6F81-4DF9-871C-3D0F68106A5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191BB9-B0CB-49BE-92F4-2DFA0D113C2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40F400-0080-4D28-B482-77A35D628D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A67DDA0-1F4C-4576-AA5A-3275CF72468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DB1941-E3DA-4161-9069-A7685DF5AF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BB34BE-7201-4D4B-B82C-D388F974E3E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5CA904-2996-449D-98FB-F558828CBF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5E8A73-666E-43CA-A10C-8F48C981D6E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525CBB-FCD2-4ADD-AC03-C228F59E7F9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7B853A-7CE3-44EE-AD36-3E1EA14CFAC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8A25EC-A5A3-4A55-97B5-B669DFA883A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C4C2FF-2CD7-476B-B5D9-BCD56E33E4B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1133CB-4FE9-454F-8B50-83E236DE996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63F64B-7591-4C4C-8772-C9D42752D05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DB7EFF-541C-45E7-B228-B939BA9B2E4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C848CE-008D-4B20-B76E-EDF9FDCDE9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D79B35-39F2-4129-ADC8-446AE540D6D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8D5312-BA92-4E76-A57B-DCB8F9DB49D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BD05C-59A4-408D-8C72-ADC04E97A23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50523A7A-3B6B-4CAD-B29C-1624E44AC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B918F-1B94-411A-A2E5-4B0B01B0D300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A320AC99-BAC0-4456-898C-2540AFF95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DD1F7-C5F4-4D90-9DEC-AC523584890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6FEE1E16-526F-4762-8DAC-771DC6953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C9662-E357-4015-BE49-CDB9DD191EA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097DD522-DF0F-4AAC-87C0-2D1359BD7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88793-D15D-45FC-843B-9FBC351DACB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1331607E-F258-452A-920C-4A2284D7E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D9782-6DD8-4459-BA65-9A62FEF4760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FA6AA1E6-E098-467E-BA01-FF148F97ED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9E5D-6EB9-460D-ADFE-2E4B7FD870E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007C900F-693B-44AE-BD60-0BF36E8D10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7F6C9-A740-469D-AFC1-435A2FF5DA12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A10CCCF3-A588-4A96-8AD7-7A701F6791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53785-4DE6-4D0C-80CE-FF490E9B9D3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C92675CA-5883-410C-9ACD-27CC7FD87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0D41F-7DED-458B-B7F9-E9D51012DCA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9AA612EB-58F0-46F6-B572-CA5F5E10C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E5E21-E190-4051-9440-DA0A7817A63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15-</a:t>
            </a:r>
            <a:fld id="{2999C30A-EB08-4F9E-8B32-AFF98EED13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3E84F4C-0479-4ECC-8C65-A4DB653F8C34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DF37B16C-7B22-4F21-B172-EA000D9324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/>
              <a:t>Polymorphism </a:t>
            </a:r>
            <a:r>
              <a:rPr lang="en-US" dirty="0" smtClean="0"/>
              <a:t>and Virtual Functions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Virtual Function Basics</a:t>
            </a:r>
          </a:p>
          <a:p>
            <a:pPr lvl="1" eaLnBrk="1" hangingPunct="1"/>
            <a:r>
              <a:rPr lang="en-US" sz="2400" smtClean="0"/>
              <a:t>Late binding</a:t>
            </a:r>
          </a:p>
          <a:p>
            <a:pPr lvl="1" eaLnBrk="1" hangingPunct="1"/>
            <a:r>
              <a:rPr lang="en-US" sz="2400" smtClean="0"/>
              <a:t>Implementing virtual functions</a:t>
            </a:r>
          </a:p>
          <a:p>
            <a:pPr lvl="1" eaLnBrk="1" hangingPunct="1"/>
            <a:r>
              <a:rPr lang="en-US" sz="2400" smtClean="0"/>
              <a:t>When to use a virtual function</a:t>
            </a:r>
          </a:p>
          <a:p>
            <a:pPr lvl="1" eaLnBrk="1" hangingPunct="1"/>
            <a:r>
              <a:rPr lang="en-US" sz="2400" smtClean="0"/>
              <a:t>Abstract classes and pure virtual functions</a:t>
            </a:r>
          </a:p>
          <a:p>
            <a:pPr eaLnBrk="1" hangingPunct="1"/>
            <a:r>
              <a:rPr lang="en-US" sz="2800" smtClean="0"/>
              <a:t>Pointers and Virtual Functions</a:t>
            </a:r>
          </a:p>
          <a:p>
            <a:pPr lvl="1" eaLnBrk="1" hangingPunct="1"/>
            <a:r>
              <a:rPr lang="en-US" sz="2400" smtClean="0"/>
              <a:t>Extended type compatibility</a:t>
            </a:r>
          </a:p>
          <a:p>
            <a:pPr lvl="1" eaLnBrk="1" hangingPunct="1"/>
            <a:r>
              <a:rPr lang="en-US" sz="2400" smtClean="0"/>
              <a:t>Downcasting and upcasting</a:t>
            </a:r>
          </a:p>
          <a:p>
            <a:pPr lvl="1" eaLnBrk="1" hangingPunct="1"/>
            <a:r>
              <a:rPr lang="en-US" sz="2400" smtClean="0"/>
              <a:t>C++ "under the hood" with virtual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93BBDB3D-B651-44B2-B94B-062A4800491C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Function Basics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Polymorphism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Associating many meanings to one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Virtual functions provide this capability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Fundamental principle of object-oriented</a:t>
            </a:r>
            <a:br>
              <a:rPr lang="en-US" sz="2400" smtClean="0"/>
            </a:br>
            <a:r>
              <a:rPr lang="en-US" sz="2400" smtClean="0"/>
              <a:t>programming!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Virtual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Existing in "essence" though not in fact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Virtual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"used" before it’s "defined"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3CE1320A-BF21-4DDD-8953-16B5DB67329D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Figures Example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Best explained by example: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Classes for several kinds of figures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Rectangles, circles, ovals,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Each figure an object of different class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Rectangle data: height, width, center point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Circle data: center point, radius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All derive from one parent-class: Figure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Require function: draw()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Different instructions for each figure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15BC117D-D1C5-4D2C-BDB8-9B77053AF92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Figures Example 2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Each class needs different </a:t>
            </a:r>
            <a:r>
              <a:rPr lang="en-US" i="1" smtClean="0"/>
              <a:t>draw</a:t>
            </a:r>
            <a:r>
              <a:rPr lang="en-US" smtClean="0"/>
              <a:t> function</a:t>
            </a:r>
          </a:p>
          <a:p>
            <a:pPr eaLnBrk="1" hangingPunct="1"/>
            <a:r>
              <a:rPr lang="en-US" smtClean="0"/>
              <a:t>Can be called "draw" in each class, so:</a:t>
            </a:r>
            <a:br>
              <a:rPr lang="en-US" smtClean="0"/>
            </a:br>
            <a:r>
              <a:rPr lang="en-US" sz="2800" smtClean="0"/>
              <a:t>Rectangle r;</a:t>
            </a:r>
            <a:br>
              <a:rPr lang="en-US" sz="2800" smtClean="0"/>
            </a:br>
            <a:r>
              <a:rPr lang="en-US" sz="2800" smtClean="0"/>
              <a:t>Circle c;</a:t>
            </a:r>
            <a:br>
              <a:rPr lang="en-US" sz="2800" smtClean="0"/>
            </a:br>
            <a:r>
              <a:rPr lang="en-US" sz="2800" smtClean="0"/>
              <a:t>r.draw();  //Calls Rectangle class’s draw</a:t>
            </a:r>
            <a:br>
              <a:rPr lang="en-US" sz="2800" smtClean="0"/>
            </a:br>
            <a:r>
              <a:rPr lang="en-US" sz="2800" smtClean="0"/>
              <a:t>c.draw(); //Calls Circle class’s draw</a:t>
            </a:r>
          </a:p>
          <a:p>
            <a:pPr eaLnBrk="1" hangingPunct="1"/>
            <a:r>
              <a:rPr lang="en-US" smtClean="0"/>
              <a:t>Nothing new here yet…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1DBB240D-6FF5-4916-BC1B-53EF7CE208E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Figures Example: center()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z="2800" smtClean="0"/>
              <a:t>Parent class Figure contains functions</a:t>
            </a:r>
            <a:br>
              <a:rPr lang="en-US" sz="2800" smtClean="0"/>
            </a:br>
            <a:r>
              <a:rPr lang="en-US" sz="2800" smtClean="0"/>
              <a:t>that apply to "all" figures; consider:</a:t>
            </a:r>
            <a:br>
              <a:rPr lang="en-US" sz="2800" smtClean="0"/>
            </a:br>
            <a:r>
              <a:rPr lang="en-US" sz="2800" smtClean="0"/>
              <a:t>center(): moves a figure to center of screen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Erases 1</a:t>
            </a:r>
            <a:r>
              <a:rPr lang="en-US" sz="2400" baseline="30000" smtClean="0"/>
              <a:t>st</a:t>
            </a:r>
            <a:r>
              <a:rPr lang="en-US" sz="2400" smtClean="0"/>
              <a:t>, then re-draws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So Figure::center() would use function draw()</a:t>
            </a:r>
            <a:br>
              <a:rPr lang="en-US" sz="2400" smtClean="0"/>
            </a:br>
            <a:r>
              <a:rPr lang="en-US" sz="2400" smtClean="0"/>
              <a:t>to re-draw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Complications!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z="2000" smtClean="0"/>
              <a:t>Which draw() function?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z="2000" smtClean="0"/>
              <a:t>From which class?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F855D43C-FF85-472A-AC12-0B603811D37C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Figures Example: New Figure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Consider new kind of figure comes along:</a:t>
            </a:r>
            <a:br>
              <a:rPr lang="en-US" sz="2400" smtClean="0"/>
            </a:br>
            <a:r>
              <a:rPr lang="en-US" sz="2000" smtClean="0"/>
              <a:t>Triangle class</a:t>
            </a:r>
            <a:br>
              <a:rPr lang="en-US" sz="2000" smtClean="0"/>
            </a:br>
            <a:r>
              <a:rPr lang="en-US" sz="2000" smtClean="0"/>
              <a:t>	derived from Figure class</a:t>
            </a:r>
          </a:p>
          <a:p>
            <a:pPr eaLnBrk="1" hangingPunct="1"/>
            <a:r>
              <a:rPr lang="en-US" sz="2400" smtClean="0"/>
              <a:t>Function center() inherited from Figure</a:t>
            </a:r>
          </a:p>
          <a:p>
            <a:pPr lvl="1" eaLnBrk="1" hangingPunct="1"/>
            <a:r>
              <a:rPr lang="en-US" sz="2000" smtClean="0"/>
              <a:t>Will it work for triangles?</a:t>
            </a:r>
          </a:p>
          <a:p>
            <a:pPr lvl="1" eaLnBrk="1" hangingPunct="1"/>
            <a:r>
              <a:rPr lang="en-US" sz="2000" smtClean="0"/>
              <a:t>It uses draw(), which is different for each figure!</a:t>
            </a:r>
          </a:p>
          <a:p>
            <a:pPr lvl="1" eaLnBrk="1" hangingPunct="1"/>
            <a:r>
              <a:rPr lang="en-US" sz="2000" smtClean="0"/>
              <a:t>It will use Figure::draw()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won’t work for triangles</a:t>
            </a:r>
          </a:p>
          <a:p>
            <a:pPr eaLnBrk="1" hangingPunct="1"/>
            <a:r>
              <a:rPr lang="en-US" sz="2400" smtClean="0"/>
              <a:t>Want inherited function center() to use function</a:t>
            </a:r>
            <a:br>
              <a:rPr lang="en-US" sz="2400" smtClean="0"/>
            </a:br>
            <a:r>
              <a:rPr lang="en-US" sz="2400" smtClean="0"/>
              <a:t>Triangle::draw() NOT function Figure::draw()</a:t>
            </a:r>
          </a:p>
          <a:p>
            <a:pPr lvl="1" eaLnBrk="1" hangingPunct="1"/>
            <a:r>
              <a:rPr lang="en-US" sz="2000" smtClean="0"/>
              <a:t>But class Triangle wasn’t even WRITTEN when</a:t>
            </a:r>
            <a:br>
              <a:rPr lang="en-US" sz="2000" smtClean="0"/>
            </a:br>
            <a:r>
              <a:rPr lang="en-US" sz="2000" smtClean="0"/>
              <a:t>Figure::center() was!  Doesn’t know "triangles"!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47B5D0A6-6533-4847-BB25-7D6EABA39C8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Figures Example: Virtual!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Virtual functions are the answer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Tells compiler: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"Don’t know how function is implemented"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"Wait until used in program"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"Then get implementation from object</a:t>
            </a:r>
            <a:br>
              <a:rPr lang="en-US" smtClean="0"/>
            </a:br>
            <a:r>
              <a:rPr lang="en-US" smtClean="0"/>
              <a:t>instance"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Called late binding or dynamic binding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Virtual functions implement late binding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57BE902C-38AC-4C94-B234-4BF4F6472946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Virtual Functions: Another Example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Bigger example best to demonstrate</a:t>
            </a:r>
          </a:p>
          <a:p>
            <a:pPr eaLnBrk="1" hangingPunct="1"/>
            <a:r>
              <a:rPr lang="en-US" smtClean="0"/>
              <a:t>Record-keeping program for automotive</a:t>
            </a:r>
            <a:br>
              <a:rPr lang="en-US" smtClean="0"/>
            </a:br>
            <a:r>
              <a:rPr lang="en-US" smtClean="0"/>
              <a:t>parts store</a:t>
            </a:r>
          </a:p>
          <a:p>
            <a:pPr lvl="1" eaLnBrk="1" hangingPunct="1"/>
            <a:r>
              <a:rPr lang="en-US" smtClean="0"/>
              <a:t>Track sales</a:t>
            </a:r>
          </a:p>
          <a:p>
            <a:pPr lvl="1" eaLnBrk="1" hangingPunct="1"/>
            <a:r>
              <a:rPr lang="en-US" smtClean="0"/>
              <a:t>Don’t know all sales yet</a:t>
            </a:r>
          </a:p>
          <a:p>
            <a:pPr lvl="1" eaLnBrk="1" hangingPunct="1"/>
            <a:r>
              <a:rPr lang="en-US" smtClean="0"/>
              <a:t>1</a:t>
            </a:r>
            <a:r>
              <a:rPr lang="en-US" baseline="30000" smtClean="0"/>
              <a:t>st</a:t>
            </a:r>
            <a:r>
              <a:rPr lang="en-US" smtClean="0"/>
              <a:t> only regular retail sales</a:t>
            </a:r>
          </a:p>
          <a:p>
            <a:pPr lvl="1" eaLnBrk="1" hangingPunct="1"/>
            <a:r>
              <a:rPr lang="en-US" smtClean="0"/>
              <a:t>Later: Discount sales, mail-order, etc.</a:t>
            </a:r>
          </a:p>
          <a:p>
            <a:pPr lvl="2" eaLnBrk="1" hangingPunct="1"/>
            <a:r>
              <a:rPr lang="en-US" smtClean="0"/>
              <a:t>Depend on other factors besides just price, tax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EF66C8A3-1F24-441A-B370-201AABB56896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Functions: Auto Parts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Program must: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Compute daily gross sales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Calculate largest/smallest sales of day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Perhaps average sale for day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All come from individual bills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many functions for computing bills will</a:t>
            </a:r>
            <a:br>
              <a:rPr lang="en-US" sz="2400" smtClean="0"/>
            </a:br>
            <a:r>
              <a:rPr lang="en-US" sz="2400" smtClean="0"/>
              <a:t>be added "later"!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When different types of sales added!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So function for "computing a bill" will </a:t>
            </a:r>
            <a:br>
              <a:rPr lang="en-US" sz="2800" smtClean="0"/>
            </a:br>
            <a:r>
              <a:rPr lang="en-US" sz="2800" smtClean="0"/>
              <a:t>be virtual!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BDA5AE85-470A-4202-9952-C3F983B5945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Sale Definition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class Sale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public:</a:t>
            </a:r>
            <a:br>
              <a:rPr lang="en-US" sz="2800" smtClean="0"/>
            </a:br>
            <a:r>
              <a:rPr lang="en-US" sz="2800" smtClean="0"/>
              <a:t>	Sale();</a:t>
            </a:r>
            <a:br>
              <a:rPr lang="en-US" sz="2800" smtClean="0"/>
            </a:br>
            <a:r>
              <a:rPr lang="en-US" sz="2800" smtClean="0"/>
              <a:t>	Sale(double thePrice);</a:t>
            </a:r>
            <a:br>
              <a:rPr lang="en-US" sz="2800" smtClean="0"/>
            </a:br>
            <a:r>
              <a:rPr lang="en-US" sz="2800" smtClean="0"/>
              <a:t>	double getPrice() const;</a:t>
            </a:r>
            <a:br>
              <a:rPr lang="en-US" sz="2800" smtClean="0"/>
            </a:br>
            <a:r>
              <a:rPr lang="en-US" sz="2800" smtClean="0"/>
              <a:t>	</a:t>
            </a:r>
            <a:r>
              <a:rPr lang="en-US" sz="2800" b="1" i="1" smtClean="0"/>
              <a:t>virtual</a:t>
            </a:r>
            <a:r>
              <a:rPr lang="en-US" sz="2800" smtClean="0"/>
              <a:t> double bill() const;</a:t>
            </a:r>
            <a:br>
              <a:rPr lang="en-US" sz="2800" smtClean="0"/>
            </a:br>
            <a:r>
              <a:rPr lang="en-US" sz="2800" smtClean="0"/>
              <a:t>	double savings(const Sale&amp; other) const;</a:t>
            </a:r>
            <a:br>
              <a:rPr lang="en-US" sz="2800" smtClean="0"/>
            </a:br>
            <a:r>
              <a:rPr lang="en-US" sz="2800" smtClean="0"/>
              <a:t>private:</a:t>
            </a:r>
            <a:br>
              <a:rPr lang="en-US" sz="2800" smtClean="0"/>
            </a:br>
            <a:r>
              <a:rPr lang="en-US" sz="2800" smtClean="0"/>
              <a:t>	double price;</a:t>
            </a:r>
            <a:br>
              <a:rPr lang="en-US" sz="2800" smtClean="0"/>
            </a:br>
            <a:r>
              <a:rPr lang="en-US" sz="2800" smtClean="0"/>
              <a:t>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B1BEA473-0DDE-4604-89D1-2300B1B7BDD0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Member Functions </a:t>
            </a:r>
            <a:br>
              <a:rPr lang="en-US" sz="3600"/>
            </a:br>
            <a:r>
              <a:rPr lang="en-US" sz="3600"/>
              <a:t>savings and operator &lt;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double Sale::savings(const Sale&amp; other) const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return (bill() – other.bill());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bool operator &lt; (	const Sale&amp; first,</a:t>
            </a:r>
            <a:br>
              <a:rPr lang="en-US" sz="2800" smtClean="0"/>
            </a:br>
            <a:r>
              <a:rPr lang="en-US" sz="2800" smtClean="0"/>
              <a:t>				const Sale&amp; second)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return (first.bill() &lt; second.bill());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smtClean="0"/>
              <a:t>Notice BOTH use member function bill()!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F067585C-F256-42C2-A391-46CBE7A962AC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 Sale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Represents sales of single item with no</a:t>
            </a:r>
            <a:br>
              <a:rPr lang="en-US" sz="2800" smtClean="0"/>
            </a:br>
            <a:r>
              <a:rPr lang="en-US" sz="2800" smtClean="0"/>
              <a:t>added discounts or charges.</a:t>
            </a:r>
          </a:p>
          <a:p>
            <a:pPr eaLnBrk="1" hangingPunct="1"/>
            <a:r>
              <a:rPr lang="en-US" sz="2800" smtClean="0"/>
              <a:t>Notice reserved word "virtual" in</a:t>
            </a:r>
            <a:br>
              <a:rPr lang="en-US" sz="2800" smtClean="0"/>
            </a:br>
            <a:r>
              <a:rPr lang="en-US" sz="2800" smtClean="0"/>
              <a:t>declaration of member function </a:t>
            </a:r>
            <a:r>
              <a:rPr lang="en-US" sz="2800" i="1" smtClean="0"/>
              <a:t>bill</a:t>
            </a:r>
            <a:endParaRPr lang="en-US" sz="2800" smtClean="0"/>
          </a:p>
          <a:p>
            <a:pPr lvl="1" eaLnBrk="1" hangingPunct="1"/>
            <a:r>
              <a:rPr lang="en-US" sz="2400" smtClean="0"/>
              <a:t>Impact: Later, derived classes of Sale can</a:t>
            </a:r>
            <a:br>
              <a:rPr lang="en-US" sz="2400" smtClean="0"/>
            </a:br>
            <a:r>
              <a:rPr lang="en-US" sz="2400" smtClean="0"/>
              <a:t>define THEIR versions of function bill</a:t>
            </a:r>
          </a:p>
          <a:p>
            <a:pPr lvl="1" eaLnBrk="1" hangingPunct="1"/>
            <a:r>
              <a:rPr lang="en-US" sz="2400" smtClean="0"/>
              <a:t>Other member functions of Sale will use</a:t>
            </a:r>
            <a:br>
              <a:rPr lang="en-US" sz="2400" smtClean="0"/>
            </a:br>
            <a:r>
              <a:rPr lang="en-US" sz="2400" smtClean="0"/>
              <a:t>version based on object of derived class!</a:t>
            </a:r>
          </a:p>
          <a:p>
            <a:pPr lvl="1" eaLnBrk="1" hangingPunct="1"/>
            <a:r>
              <a:rPr lang="en-US" sz="2400" smtClean="0"/>
              <a:t>They won’t automatically use Sale’s version!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B3594211-ECB9-4B39-8E7B-F665D60D2739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Derived Class DiscountSale Defined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class DiscountSale   :  public Sale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DiscountSale();</a:t>
            </a:r>
            <a:br>
              <a:rPr lang="en-US" sz="2400" smtClean="0"/>
            </a:br>
            <a:r>
              <a:rPr lang="en-US" sz="2400" smtClean="0"/>
              <a:t>	DiscountSale(	double thePrice,</a:t>
            </a:r>
            <a:br>
              <a:rPr lang="en-US" sz="2400" smtClean="0"/>
            </a:br>
            <a:r>
              <a:rPr lang="en-US" sz="2400" smtClean="0"/>
              <a:t>				double the Discount);</a:t>
            </a:r>
            <a:br>
              <a:rPr lang="en-US" sz="2400" smtClean="0"/>
            </a:br>
            <a:r>
              <a:rPr lang="en-US" sz="2400" smtClean="0"/>
              <a:t>	double getDiscount() const;</a:t>
            </a:r>
            <a:br>
              <a:rPr lang="en-US" sz="2400" smtClean="0"/>
            </a:br>
            <a:r>
              <a:rPr lang="en-US" sz="2400" smtClean="0"/>
              <a:t>	void setDiscount(double newDiscount);</a:t>
            </a:r>
            <a:br>
              <a:rPr lang="en-US" sz="2400" smtClean="0"/>
            </a:br>
            <a:r>
              <a:rPr lang="en-US" sz="2400" smtClean="0"/>
              <a:t>	double bill() const;</a:t>
            </a:r>
            <a:br>
              <a:rPr lang="en-US" sz="2400" smtClean="0"/>
            </a:br>
            <a:r>
              <a:rPr lang="en-US" sz="2400" smtClean="0"/>
              <a:t>private:</a:t>
            </a:r>
            <a:br>
              <a:rPr lang="en-US" sz="2400" smtClean="0"/>
            </a:br>
            <a:r>
              <a:rPr lang="en-US" sz="2400" smtClean="0"/>
              <a:t>	double discount;</a:t>
            </a:r>
            <a:br>
              <a:rPr lang="en-US" sz="2400" smtClean="0"/>
            </a:br>
            <a:r>
              <a:rPr lang="en-US" sz="2400" smtClean="0"/>
              <a:t>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2B7904B6-06C2-44D0-9D1D-2B41177ACFC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DiscountSale’s Implementation </a:t>
            </a:r>
            <a:br>
              <a:rPr lang="en-US" sz="3600" smtClean="0"/>
            </a:br>
            <a:r>
              <a:rPr lang="en-US" sz="3600" smtClean="0"/>
              <a:t>of bill()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double DiscountSale::bill() const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double fraction = discount/100;</a:t>
            </a:r>
            <a:br>
              <a:rPr lang="en-US" sz="2800" smtClean="0"/>
            </a:br>
            <a:r>
              <a:rPr lang="en-US" sz="2800" smtClean="0"/>
              <a:t>	return (1 – fraction)*getPrice();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Qualifier "virtual" does not go in actual</a:t>
            </a:r>
            <a:br>
              <a:rPr lang="en-US" sz="2800" smtClean="0"/>
            </a:br>
            <a:r>
              <a:rPr lang="en-US" sz="2800" smtClean="0"/>
              <a:t>function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"Automatically" virtual in 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Declaration (in interface) not required to have</a:t>
            </a:r>
            <a:br>
              <a:rPr lang="en-US" sz="2400" smtClean="0"/>
            </a:br>
            <a:r>
              <a:rPr lang="en-US" sz="2400" smtClean="0"/>
              <a:t>"virtual" keyword either (but usually does)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EAEA5BC5-1B42-4EE6-A69F-866D99D7CF9D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DiscountSale’s Implementation </a:t>
            </a:r>
            <a:br>
              <a:rPr lang="en-US" sz="3600" smtClean="0"/>
            </a:br>
            <a:r>
              <a:rPr lang="en-US" sz="3600" smtClean="0"/>
              <a:t>of bill()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function in base class:</a:t>
            </a:r>
          </a:p>
          <a:p>
            <a:pPr lvl="1" eaLnBrk="1" hangingPunct="1"/>
            <a:r>
              <a:rPr lang="en-US" smtClean="0"/>
              <a:t>"Automatically" virtual in derived class</a:t>
            </a:r>
          </a:p>
          <a:p>
            <a:pPr eaLnBrk="1" hangingPunct="1"/>
            <a:r>
              <a:rPr lang="en-US" smtClean="0"/>
              <a:t>Derived class declaration (in interface)</a:t>
            </a:r>
          </a:p>
          <a:p>
            <a:pPr lvl="1" eaLnBrk="1" hangingPunct="1"/>
            <a:r>
              <a:rPr lang="en-US" smtClean="0"/>
              <a:t>Not required to have "virtual" keyword</a:t>
            </a:r>
          </a:p>
          <a:p>
            <a:pPr lvl="1" eaLnBrk="1" hangingPunct="1"/>
            <a:r>
              <a:rPr lang="en-US" smtClean="0"/>
              <a:t>But typically included anyway, </a:t>
            </a:r>
            <a:br>
              <a:rPr lang="en-US" smtClean="0"/>
            </a:br>
            <a:r>
              <a:rPr lang="en-US" smtClean="0"/>
              <a:t>for readability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85508188-287D-41DD-BA61-43D6803D3F0D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 DiscountSale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DiscountSale’s member function bill()</a:t>
            </a:r>
            <a:br>
              <a:rPr lang="en-US" smtClean="0"/>
            </a:br>
            <a:r>
              <a:rPr lang="en-US" smtClean="0"/>
              <a:t>implemented differently than Sale’s</a:t>
            </a:r>
          </a:p>
          <a:p>
            <a:pPr lvl="1" eaLnBrk="1" hangingPunct="1"/>
            <a:r>
              <a:rPr lang="en-US" smtClean="0"/>
              <a:t>Particular to "discounts"</a:t>
            </a:r>
          </a:p>
          <a:p>
            <a:pPr eaLnBrk="1" hangingPunct="1"/>
            <a:r>
              <a:rPr lang="en-US" smtClean="0"/>
              <a:t>Member functions </a:t>
            </a:r>
            <a:r>
              <a:rPr lang="en-US" i="1" smtClean="0"/>
              <a:t>savings </a:t>
            </a:r>
            <a:r>
              <a:rPr lang="en-US" smtClean="0"/>
              <a:t>and "&lt;"</a:t>
            </a:r>
          </a:p>
          <a:p>
            <a:pPr lvl="1" eaLnBrk="1" hangingPunct="1"/>
            <a:r>
              <a:rPr lang="en-US" smtClean="0"/>
              <a:t>Will use this definition of bill() for all objects</a:t>
            </a:r>
            <a:br>
              <a:rPr lang="en-US" smtClean="0"/>
            </a:br>
            <a:r>
              <a:rPr lang="en-US" smtClean="0"/>
              <a:t>of DiscountSale class!</a:t>
            </a:r>
          </a:p>
          <a:p>
            <a:pPr lvl="1" eaLnBrk="1" hangingPunct="1"/>
            <a:r>
              <a:rPr lang="en-US" smtClean="0"/>
              <a:t>Instead of "defaulting" to version defined in</a:t>
            </a:r>
            <a:br>
              <a:rPr lang="en-US" smtClean="0"/>
            </a:br>
            <a:r>
              <a:rPr lang="en-US" smtClean="0"/>
              <a:t>Sales class!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CC2874EF-F7CB-48C0-A0B6-999C5B4C10A0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Virtual: Wow!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 class Sale written long before</a:t>
            </a:r>
            <a:br>
              <a:rPr lang="en-US" sz="2800" smtClean="0"/>
            </a:br>
            <a:r>
              <a:rPr lang="en-US" sz="2800" smtClean="0"/>
              <a:t>derived class DiscountSale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Members savings and "&lt;" compiled before</a:t>
            </a:r>
            <a:br>
              <a:rPr lang="en-US" sz="2400" smtClean="0"/>
            </a:br>
            <a:r>
              <a:rPr lang="en-US" sz="2400" smtClean="0"/>
              <a:t>even had ideas of a DiscountSale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Yet in a call like:</a:t>
            </a:r>
            <a:br>
              <a:rPr lang="en-US" sz="2800" smtClean="0"/>
            </a:br>
            <a:r>
              <a:rPr lang="en-US" sz="2400" smtClean="0"/>
              <a:t>DiscountSale d1, d2;</a:t>
            </a:r>
            <a:br>
              <a:rPr lang="en-US" sz="2400" smtClean="0"/>
            </a:br>
            <a:r>
              <a:rPr lang="en-US" sz="2400" smtClean="0"/>
              <a:t>d1.savings(d2);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 in savings() to function bill() knows to</a:t>
            </a:r>
            <a:br>
              <a:rPr lang="en-US" sz="2400" smtClean="0"/>
            </a:br>
            <a:r>
              <a:rPr lang="en-US" sz="2400" smtClean="0"/>
              <a:t>use definition of bill() from DiscountSale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Powerful!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F797D06C-4263-459B-975D-C173DE4F65DB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Virtual: How?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To write C++ programs: </a:t>
            </a:r>
          </a:p>
          <a:p>
            <a:pPr lvl="1" eaLnBrk="1" hangingPunct="1"/>
            <a:r>
              <a:rPr lang="en-US" sz="2400" smtClean="0"/>
              <a:t>Assume it happens by "magic"!</a:t>
            </a:r>
          </a:p>
          <a:p>
            <a:pPr eaLnBrk="1" hangingPunct="1"/>
            <a:r>
              <a:rPr lang="en-US" sz="2800" smtClean="0"/>
              <a:t>But explanation involves late binding</a:t>
            </a:r>
          </a:p>
          <a:p>
            <a:pPr lvl="1" eaLnBrk="1" hangingPunct="1"/>
            <a:r>
              <a:rPr lang="en-US" sz="2400" smtClean="0"/>
              <a:t>Virtual functions implement late binding</a:t>
            </a:r>
          </a:p>
          <a:p>
            <a:pPr lvl="1" eaLnBrk="1" hangingPunct="1"/>
            <a:r>
              <a:rPr lang="en-US" sz="2400" smtClean="0"/>
              <a:t>Tells compiler to "wait" until function is used in</a:t>
            </a:r>
            <a:br>
              <a:rPr lang="en-US" sz="2400" smtClean="0"/>
            </a:br>
            <a:r>
              <a:rPr lang="en-US" sz="2400" smtClean="0"/>
              <a:t>program</a:t>
            </a:r>
          </a:p>
          <a:p>
            <a:pPr lvl="1" eaLnBrk="1" hangingPunct="1"/>
            <a:r>
              <a:rPr lang="en-US" sz="2400" smtClean="0"/>
              <a:t>Decide which definition to use based on</a:t>
            </a:r>
            <a:br>
              <a:rPr lang="en-US" sz="2400" smtClean="0"/>
            </a:br>
            <a:r>
              <a:rPr lang="en-US" sz="2400" smtClean="0"/>
              <a:t>calling object</a:t>
            </a:r>
          </a:p>
          <a:p>
            <a:pPr eaLnBrk="1" hangingPunct="1"/>
            <a:r>
              <a:rPr lang="en-US" sz="2800" smtClean="0"/>
              <a:t>Very important OOP principle!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4EC0AF1B-0DBC-4B30-A492-0D7E085FA91D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Overriding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Virtual function definition changed in a</a:t>
            </a:r>
            <a:br>
              <a:rPr lang="en-US" smtClean="0"/>
            </a:br>
            <a:r>
              <a:rPr lang="en-US" smtClean="0"/>
              <a:t>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We say it’s been "overidden"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Similar to redefined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Recall: for standard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Virtual functions changed: </a:t>
            </a:r>
            <a:r>
              <a:rPr lang="en-US" b="1" i="1" smtClean="0"/>
              <a:t>overridden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Non-virtual functions changed: </a:t>
            </a:r>
            <a:r>
              <a:rPr lang="en-US" b="1" i="1" smtClean="0"/>
              <a:t>redefined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181138D1-6273-4457-9D93-87514AFB5CA0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Functions: Why Not All?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Clear advantages to virtual functions as </a:t>
            </a:r>
            <a:br>
              <a:rPr lang="en-US" sz="2800" smtClean="0"/>
            </a:br>
            <a:r>
              <a:rPr lang="en-US" sz="2800" smtClean="0"/>
              <a:t>we’ve seen</a:t>
            </a:r>
          </a:p>
          <a:p>
            <a:pPr eaLnBrk="1" hangingPunct="1"/>
            <a:r>
              <a:rPr lang="en-US" sz="2800" smtClean="0"/>
              <a:t>One major disadvantage: overhead!</a:t>
            </a:r>
          </a:p>
          <a:p>
            <a:pPr lvl="1" eaLnBrk="1" hangingPunct="1"/>
            <a:r>
              <a:rPr lang="en-US" sz="2400" smtClean="0"/>
              <a:t>Uses more storage</a:t>
            </a:r>
          </a:p>
          <a:p>
            <a:pPr lvl="1" eaLnBrk="1" hangingPunct="1"/>
            <a:r>
              <a:rPr lang="en-US" sz="2400" smtClean="0"/>
              <a:t>Late binding is "on the fly", so programs run slower</a:t>
            </a:r>
          </a:p>
          <a:p>
            <a:pPr eaLnBrk="1" hangingPunct="1"/>
            <a:r>
              <a:rPr lang="en-US" sz="2800" smtClean="0"/>
              <a:t>So if virtual functions not needed, should</a:t>
            </a:r>
            <a:br>
              <a:rPr lang="en-US" sz="2800" smtClean="0"/>
            </a:br>
            <a:r>
              <a:rPr lang="en-US" sz="2800" smtClean="0"/>
              <a:t>not be used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A071EFCD-CED2-453A-8128-069D54FA4CF3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Pure Virtual Functions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Base class might not have "meaningful"</a:t>
            </a:r>
            <a:br>
              <a:rPr lang="en-US" sz="2800" smtClean="0"/>
            </a:br>
            <a:r>
              <a:rPr lang="en-US" sz="2800" smtClean="0"/>
              <a:t>definition for some of it’s members!</a:t>
            </a:r>
          </a:p>
          <a:p>
            <a:pPr lvl="1" eaLnBrk="1" hangingPunct="1"/>
            <a:r>
              <a:rPr lang="en-US" sz="2400" smtClean="0"/>
              <a:t>It’s purpose solely for others to derive from</a:t>
            </a:r>
          </a:p>
          <a:p>
            <a:pPr eaLnBrk="1" hangingPunct="1"/>
            <a:r>
              <a:rPr lang="en-US" sz="2800" smtClean="0"/>
              <a:t>Recall class Figure</a:t>
            </a:r>
          </a:p>
          <a:p>
            <a:pPr lvl="1" eaLnBrk="1" hangingPunct="1"/>
            <a:r>
              <a:rPr lang="en-US" sz="2400" smtClean="0"/>
              <a:t>All figures are objects of derived classes</a:t>
            </a:r>
          </a:p>
          <a:p>
            <a:pPr lvl="2" eaLnBrk="1" hangingPunct="1"/>
            <a:r>
              <a:rPr lang="en-US" sz="2000" smtClean="0"/>
              <a:t>Rectangles, circles, triangles, etc.</a:t>
            </a:r>
          </a:p>
          <a:p>
            <a:pPr lvl="1" eaLnBrk="1" hangingPunct="1"/>
            <a:r>
              <a:rPr lang="en-US" sz="2400" smtClean="0"/>
              <a:t>Class Figure has no idea how to draw!</a:t>
            </a:r>
          </a:p>
          <a:p>
            <a:pPr eaLnBrk="1" hangingPunct="1"/>
            <a:r>
              <a:rPr lang="en-US" sz="2800" smtClean="0"/>
              <a:t>Make it a pure virtual function:</a:t>
            </a:r>
            <a:br>
              <a:rPr lang="en-US" sz="2800" smtClean="0"/>
            </a:br>
            <a:r>
              <a:rPr lang="en-US" sz="2800" smtClean="0"/>
              <a:t>virtual void draw() = 0;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08F43D80-AB83-4EAD-A658-C385C16507DD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Abstract Base Classes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610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Pure virtual functions require no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Forces all derived classes to define "their</a:t>
            </a:r>
            <a:br>
              <a:rPr lang="en-US" sz="2400" smtClean="0"/>
            </a:br>
            <a:r>
              <a:rPr lang="en-US" sz="2400" smtClean="0"/>
              <a:t>own" version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Class with one or more pure virtual</a:t>
            </a:r>
            <a:br>
              <a:rPr lang="en-US" sz="2800" smtClean="0"/>
            </a:br>
            <a:r>
              <a:rPr lang="en-US" sz="2800" smtClean="0"/>
              <a:t>functions is: abstract base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only be used as base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 objects can ever be created from 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Since it doesn’t have complete "definitions" of all</a:t>
            </a:r>
            <a:br>
              <a:rPr lang="en-US" sz="2000" smtClean="0"/>
            </a:br>
            <a:r>
              <a:rPr lang="en-US" sz="2000" smtClean="0"/>
              <a:t>it’s members!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If derived class fails to define all pure’s: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It’s an abstract base class too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CBA98266-2F9B-43CF-A5FC-4DD1026D19AA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Extended Type Compatibility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Given: </a:t>
            </a:r>
            <a:br>
              <a:rPr lang="en-US" smtClean="0"/>
            </a:br>
            <a:r>
              <a:rPr lang="en-US" smtClean="0"/>
              <a:t>Derived is derived class of Base</a:t>
            </a:r>
          </a:p>
          <a:p>
            <a:pPr lvl="1" eaLnBrk="1" hangingPunct="1"/>
            <a:r>
              <a:rPr lang="en-US" smtClean="0"/>
              <a:t>Derived objects can be assigned to objects</a:t>
            </a:r>
            <a:br>
              <a:rPr lang="en-US" smtClean="0"/>
            </a:br>
            <a:r>
              <a:rPr lang="en-US" smtClean="0"/>
              <a:t>of type Base</a:t>
            </a:r>
          </a:p>
          <a:p>
            <a:pPr lvl="1" eaLnBrk="1" hangingPunct="1"/>
            <a:r>
              <a:rPr lang="en-US" smtClean="0"/>
              <a:t>But NOT the other way!</a:t>
            </a:r>
          </a:p>
          <a:p>
            <a:pPr eaLnBrk="1" hangingPunct="1"/>
            <a:r>
              <a:rPr lang="en-US" smtClean="0"/>
              <a:t>Consider previous example:</a:t>
            </a:r>
          </a:p>
          <a:p>
            <a:pPr lvl="1" eaLnBrk="1" hangingPunct="1"/>
            <a:r>
              <a:rPr lang="en-US" smtClean="0"/>
              <a:t>A DiscountSale "is a" Sale, but reverse </a:t>
            </a:r>
            <a:br>
              <a:rPr lang="en-US" smtClean="0"/>
            </a:br>
            <a:r>
              <a:rPr lang="en-US" smtClean="0"/>
              <a:t>not true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CBA99320-9A5C-49BB-859C-1681671676E2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Extended Type </a:t>
            </a:r>
            <a:br>
              <a:rPr lang="en-US" sz="3600" smtClean="0"/>
            </a:br>
            <a:r>
              <a:rPr lang="en-US" sz="3600" smtClean="0"/>
              <a:t>Compatibility Example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class Pet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string name;</a:t>
            </a:r>
            <a:br>
              <a:rPr lang="en-US" sz="2400" smtClean="0"/>
            </a:br>
            <a:r>
              <a:rPr lang="en-US" sz="2400" smtClean="0"/>
              <a:t>	virtual void print() const;</a:t>
            </a:r>
            <a:br>
              <a:rPr lang="en-US" sz="2400" smtClean="0"/>
            </a:br>
            <a:r>
              <a:rPr lang="en-US" sz="2400" smtClean="0"/>
              <a:t>};</a:t>
            </a:r>
            <a:br>
              <a:rPr lang="en-US" sz="2400" smtClean="0"/>
            </a:br>
            <a:r>
              <a:rPr lang="en-US" sz="2400" smtClean="0"/>
              <a:t>class Dog : public Pet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string breed;</a:t>
            </a:r>
            <a:br>
              <a:rPr lang="en-US" sz="2400" smtClean="0"/>
            </a:br>
            <a:r>
              <a:rPr lang="en-US" sz="2400" smtClean="0"/>
              <a:t>	virtual void print() const;</a:t>
            </a:r>
            <a:br>
              <a:rPr lang="en-US" sz="2400" smtClean="0"/>
            </a:br>
            <a:r>
              <a:rPr lang="en-US" sz="2400" smtClean="0"/>
              <a:t>};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1455384D-8690-4725-86D0-FEB751A0B44F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Classes Pet and Dog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Now given declarations:</a:t>
            </a:r>
            <a:br>
              <a:rPr lang="en-US" smtClean="0"/>
            </a:br>
            <a:r>
              <a:rPr lang="en-US" smtClean="0"/>
              <a:t>Dog vdog;</a:t>
            </a:r>
            <a:br>
              <a:rPr lang="en-US" smtClean="0"/>
            </a:br>
            <a:r>
              <a:rPr lang="en-US" smtClean="0"/>
              <a:t>Pet vpet;</a:t>
            </a:r>
          </a:p>
          <a:p>
            <a:pPr eaLnBrk="1" hangingPunct="1"/>
            <a:r>
              <a:rPr lang="en-US" smtClean="0"/>
              <a:t>Notice member variables name and breed are public!  </a:t>
            </a:r>
          </a:p>
          <a:p>
            <a:pPr lvl="1" eaLnBrk="1" hangingPunct="1"/>
            <a:r>
              <a:rPr lang="en-US" smtClean="0"/>
              <a:t>For example purposes only!  Not typical!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79C4EA2A-B8C8-472E-A76C-4B5063DAEF2F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Classes Pet and Dog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Anything that "is a" dog "is a" pet:</a:t>
            </a:r>
          </a:p>
          <a:p>
            <a:pPr lvl="1" eaLnBrk="1" hangingPunct="1"/>
            <a:r>
              <a:rPr lang="en-US" smtClean="0"/>
              <a:t>vdog.name = "Tiny";</a:t>
            </a:r>
            <a:br>
              <a:rPr lang="en-US" smtClean="0"/>
            </a:br>
            <a:r>
              <a:rPr lang="en-US" smtClean="0"/>
              <a:t>vdog.breed = "Great Dane";</a:t>
            </a:r>
            <a:br>
              <a:rPr lang="en-US" smtClean="0"/>
            </a:br>
            <a:r>
              <a:rPr lang="en-US" smtClean="0"/>
              <a:t>vpet = vdog;</a:t>
            </a:r>
          </a:p>
          <a:p>
            <a:pPr lvl="1" eaLnBrk="1" hangingPunct="1"/>
            <a:r>
              <a:rPr lang="en-US" smtClean="0"/>
              <a:t>These are allowable</a:t>
            </a:r>
          </a:p>
          <a:p>
            <a:pPr eaLnBrk="1" hangingPunct="1"/>
            <a:r>
              <a:rPr lang="en-US" smtClean="0"/>
              <a:t>Can assign values to parent-types, but</a:t>
            </a:r>
            <a:br>
              <a:rPr lang="en-US" smtClean="0"/>
            </a:br>
            <a:r>
              <a:rPr lang="en-US" smtClean="0"/>
              <a:t>not reverse</a:t>
            </a:r>
          </a:p>
          <a:p>
            <a:pPr lvl="1" eaLnBrk="1" hangingPunct="1"/>
            <a:r>
              <a:rPr lang="en-US" smtClean="0"/>
              <a:t>A pet "is not a" dog (not necessarily)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E23D57A3-CBF9-4641-86B2-9BEEB574AE09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Slicing Problem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Notice value assigned to vpet "loses" it’s</a:t>
            </a:r>
            <a:br>
              <a:rPr lang="en-US" sz="2800" smtClean="0"/>
            </a:br>
            <a:r>
              <a:rPr lang="en-US" sz="2800" smtClean="0"/>
              <a:t>breed field!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cout &lt;&lt; vpet.breed;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Produces ERROR msg!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slicing problem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Might seem appropriate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Dog was moved to Pet variable, so it should</a:t>
            </a:r>
            <a:br>
              <a:rPr lang="en-US" sz="2400" smtClean="0"/>
            </a:br>
            <a:r>
              <a:rPr lang="en-US" sz="2400" smtClean="0"/>
              <a:t>be treated like a Pet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And therefore not have "dog" properties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Makes for interesting philosphical debate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6CD6B95A-1E65-49E3-A19D-93C3CDB6CE29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Slicing Problem Fix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 C++, slicing problem is nuisance</a:t>
            </a:r>
          </a:p>
          <a:p>
            <a:pPr lvl="1" eaLnBrk="1" hangingPunct="1"/>
            <a:r>
              <a:rPr lang="en-US" smtClean="0"/>
              <a:t>It still "is a" Great Dane named Tiny</a:t>
            </a:r>
          </a:p>
          <a:p>
            <a:pPr lvl="1" eaLnBrk="1" hangingPunct="1"/>
            <a:r>
              <a:rPr lang="en-US" smtClean="0"/>
              <a:t>We’d like to refer to it’s breed even if it’s been treated as a Pet</a:t>
            </a:r>
          </a:p>
          <a:p>
            <a:pPr eaLnBrk="1" hangingPunct="1"/>
            <a:r>
              <a:rPr lang="en-US" smtClean="0"/>
              <a:t>Can do so with pointers to </a:t>
            </a:r>
            <a:br>
              <a:rPr lang="en-US" smtClean="0"/>
            </a:br>
            <a:r>
              <a:rPr lang="en-US" smtClean="0"/>
              <a:t>dynamic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DCFBA189-3EA1-4318-87E6-3CD66C663D82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Slicing Problem Example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Pet *ppet;</a:t>
            </a:r>
            <a:br>
              <a:rPr lang="en-US" smtClean="0"/>
            </a:br>
            <a:r>
              <a:rPr lang="en-US" smtClean="0"/>
              <a:t>Dog *pdog;</a:t>
            </a:r>
            <a:br>
              <a:rPr lang="en-US" smtClean="0"/>
            </a:br>
            <a:r>
              <a:rPr lang="en-US" smtClean="0"/>
              <a:t>pdog = new Dog;</a:t>
            </a:r>
            <a:br>
              <a:rPr lang="en-US" smtClean="0"/>
            </a:br>
            <a:r>
              <a:rPr lang="en-US" smtClean="0"/>
              <a:t>pdog-&gt;name = "Tiny";</a:t>
            </a:r>
            <a:br>
              <a:rPr lang="en-US" smtClean="0"/>
            </a:br>
            <a:r>
              <a:rPr lang="en-US" smtClean="0"/>
              <a:t>pdog-&gt;breed = "Great Dane";</a:t>
            </a:r>
            <a:br>
              <a:rPr lang="en-US" smtClean="0"/>
            </a:br>
            <a:r>
              <a:rPr lang="en-US" smtClean="0"/>
              <a:t>ppet = pdog;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Cannot access breed field of object</a:t>
            </a:r>
            <a:br>
              <a:rPr lang="en-US" smtClean="0"/>
            </a:br>
            <a:r>
              <a:rPr lang="en-US" smtClean="0"/>
              <a:t>pointed to by ppet:</a:t>
            </a:r>
            <a:br>
              <a:rPr lang="en-US" smtClean="0"/>
            </a:br>
            <a:r>
              <a:rPr lang="en-US" smtClean="0"/>
              <a:t>cout &lt;&lt; ppet-&gt;breed;	//ILLEGAL!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D688977E-68E7-43DF-94C4-229E7010FDDA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Slicing Problem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Must use virtual member function:</a:t>
            </a:r>
            <a:br>
              <a:rPr lang="en-US" smtClean="0"/>
            </a:br>
            <a:r>
              <a:rPr lang="en-US" smtClean="0"/>
              <a:t>ppet-&gt;print();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Calls print member function in Dog class!</a:t>
            </a:r>
          </a:p>
          <a:p>
            <a:pPr lvl="2" eaLnBrk="1" hangingPunct="1">
              <a:spcBef>
                <a:spcPct val="40000"/>
              </a:spcBef>
            </a:pPr>
            <a:r>
              <a:rPr lang="en-US" smtClean="0"/>
              <a:t>Because it’s virtual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C++ "waits" to see what object pointer ppet is actually pointing to before "binding" 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9C173801-DEF2-4DE1-B52A-538E8A4A5879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Virtual Destructors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Recall: destructors needed to de-allocate</a:t>
            </a:r>
            <a:br>
              <a:rPr lang="en-US" sz="2800" smtClean="0"/>
            </a:br>
            <a:r>
              <a:rPr lang="en-US" sz="2800" smtClean="0"/>
              <a:t>dynamically allocated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Base *pBase = new Derived;</a:t>
            </a:r>
            <a:br>
              <a:rPr lang="en-US" sz="2400" smtClean="0"/>
            </a:br>
            <a:r>
              <a:rPr lang="en-US" sz="2400" smtClean="0"/>
              <a:t>…</a:t>
            </a:r>
            <a:br>
              <a:rPr lang="en-US" sz="2400" smtClean="0"/>
            </a:br>
            <a:r>
              <a:rPr lang="en-US" sz="2400" smtClean="0"/>
              <a:t>delete pBase;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Would call base class destructor even though</a:t>
            </a:r>
            <a:br>
              <a:rPr lang="en-US" sz="2400" smtClean="0"/>
            </a:br>
            <a:r>
              <a:rPr lang="en-US" sz="2400" smtClean="0"/>
              <a:t>pointing to Derived class object!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Making destructor </a:t>
            </a:r>
            <a:r>
              <a:rPr lang="en-US" sz="2400" b="1" i="1" smtClean="0"/>
              <a:t>virtual</a:t>
            </a:r>
            <a:r>
              <a:rPr lang="en-US" sz="2400" smtClean="0"/>
              <a:t> fixes this!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Good policy for all destructors to be virtual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5C55EB5F-6607-4F39-AE05-8F2E4DCE9FE4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Casting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Pet vpet;</a:t>
            </a:r>
            <a:br>
              <a:rPr lang="en-US" sz="2400" smtClean="0"/>
            </a:br>
            <a:r>
              <a:rPr lang="en-US" sz="2400" smtClean="0"/>
              <a:t>Dog vdog;</a:t>
            </a:r>
            <a:br>
              <a:rPr lang="en-US" sz="2400" smtClean="0"/>
            </a:br>
            <a:r>
              <a:rPr lang="en-US" sz="2400" smtClean="0"/>
              <a:t>…</a:t>
            </a:r>
            <a:br>
              <a:rPr lang="en-US" sz="2400" smtClean="0"/>
            </a:br>
            <a:r>
              <a:rPr lang="en-US" sz="2400" smtClean="0"/>
              <a:t>vdog = static_cast&lt;Dog&gt;(vpet);  //ILLEGAL!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Can’t cast a pet to be a dog, but:</a:t>
            </a:r>
            <a:br>
              <a:rPr lang="en-US" sz="2800" smtClean="0"/>
            </a:br>
            <a:r>
              <a:rPr lang="en-US" sz="2400" smtClean="0"/>
              <a:t>vpet = vdog;	// Legal!</a:t>
            </a:r>
            <a:br>
              <a:rPr lang="en-US" sz="2400" smtClean="0"/>
            </a:br>
            <a:r>
              <a:rPr lang="en-US" sz="2400" smtClean="0"/>
              <a:t>vpet = static_cast&lt;Pet&gt;(vdog);  //Also legal!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Upcasting is OK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From descendant type to ancestor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C78A109E-9A8D-4794-8329-8B898AF0F98E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Downcasting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Downcasting dangerous!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Casting from ancestor type to descended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Assumes information is "added"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done with dynamic_cast:</a:t>
            </a:r>
            <a:br>
              <a:rPr lang="en-US" sz="2400" smtClean="0"/>
            </a:br>
            <a:r>
              <a:rPr lang="en-US" sz="2400" smtClean="0"/>
              <a:t>Pet *ppet;</a:t>
            </a:r>
            <a:br>
              <a:rPr lang="en-US" sz="2400" smtClean="0"/>
            </a:br>
            <a:r>
              <a:rPr lang="en-US" sz="2400" smtClean="0"/>
              <a:t>ppet = new Dog;</a:t>
            </a:r>
            <a:br>
              <a:rPr lang="en-US" sz="2400" smtClean="0"/>
            </a:br>
            <a:r>
              <a:rPr lang="en-US" sz="2400" smtClean="0"/>
              <a:t>Dog *pdog = dynamic_cast&lt;Dog*&gt;(ppet);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Legal, but dangerous!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Downcasting rarely done due to pitfalls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Must track all information to be added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member functions must be virtual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6F04908B-5D68-4A47-8E69-4F2B205B1678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Inner Workings of Virtual Functions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Don’t need to know how to use it!</a:t>
            </a:r>
          </a:p>
          <a:p>
            <a:pPr lvl="1" eaLnBrk="1" hangingPunct="1"/>
            <a:r>
              <a:rPr lang="en-US" sz="2400" smtClean="0"/>
              <a:t>Principle of information hiding</a:t>
            </a:r>
          </a:p>
          <a:p>
            <a:pPr eaLnBrk="1" hangingPunct="1"/>
            <a:r>
              <a:rPr lang="en-US" sz="2800" smtClean="0"/>
              <a:t>Virtual function table</a:t>
            </a:r>
          </a:p>
          <a:p>
            <a:pPr lvl="1" eaLnBrk="1" hangingPunct="1"/>
            <a:r>
              <a:rPr lang="en-US" sz="2400" smtClean="0"/>
              <a:t>Compiler creates it</a:t>
            </a:r>
          </a:p>
          <a:p>
            <a:pPr lvl="1" eaLnBrk="1" hangingPunct="1"/>
            <a:r>
              <a:rPr lang="en-US" sz="2400" smtClean="0"/>
              <a:t>Has pointers for each virtual member function</a:t>
            </a:r>
          </a:p>
          <a:p>
            <a:pPr lvl="1" eaLnBrk="1" hangingPunct="1"/>
            <a:r>
              <a:rPr lang="en-US" sz="2400" smtClean="0"/>
              <a:t>Points to location of correct code for that function</a:t>
            </a:r>
          </a:p>
          <a:p>
            <a:pPr eaLnBrk="1" hangingPunct="1"/>
            <a:r>
              <a:rPr lang="en-US" sz="2800" smtClean="0"/>
              <a:t>Objects of such classes also have pointer</a:t>
            </a:r>
          </a:p>
          <a:p>
            <a:pPr lvl="1" eaLnBrk="1" hangingPunct="1"/>
            <a:r>
              <a:rPr lang="en-US" sz="2400" smtClean="0"/>
              <a:t>Points to virtual function table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BB962608-08D3-4F09-8393-68B75949D718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Late binding delays decision of which</a:t>
            </a:r>
            <a:br>
              <a:rPr lang="en-US" smtClean="0"/>
            </a:br>
            <a:r>
              <a:rPr lang="en-US" smtClean="0"/>
              <a:t>member function is called until runtime</a:t>
            </a:r>
          </a:p>
          <a:p>
            <a:pPr lvl="1" eaLnBrk="1" hangingPunct="1"/>
            <a:r>
              <a:rPr lang="en-US" smtClean="0"/>
              <a:t>In C++, virtual functions use late binding</a:t>
            </a:r>
          </a:p>
          <a:p>
            <a:pPr eaLnBrk="1" hangingPunct="1"/>
            <a:r>
              <a:rPr lang="en-US" smtClean="0"/>
              <a:t>Pure virtual functions have no definition</a:t>
            </a:r>
          </a:p>
          <a:p>
            <a:pPr lvl="1" eaLnBrk="1" hangingPunct="1"/>
            <a:r>
              <a:rPr lang="en-US" smtClean="0"/>
              <a:t>Classes with at least one are abstract</a:t>
            </a:r>
          </a:p>
          <a:p>
            <a:pPr lvl="1" eaLnBrk="1" hangingPunct="1"/>
            <a:r>
              <a:rPr lang="en-US" smtClean="0"/>
              <a:t>No objects can be created from </a:t>
            </a:r>
            <a:br>
              <a:rPr lang="en-US" smtClean="0"/>
            </a:br>
            <a:r>
              <a:rPr lang="en-US" smtClean="0"/>
              <a:t>abstract class</a:t>
            </a:r>
          </a:p>
          <a:p>
            <a:pPr lvl="1" eaLnBrk="1" hangingPunct="1"/>
            <a:r>
              <a:rPr lang="en-US" smtClean="0"/>
              <a:t>Used strictly as base for others to derive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0E037E64-D7EE-4E47-93D3-862FE71063E3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Derived class objects can be assigned to</a:t>
            </a:r>
            <a:br>
              <a:rPr lang="en-US" sz="2800" smtClean="0"/>
            </a:br>
            <a:r>
              <a:rPr lang="en-US" sz="2800" smtClean="0"/>
              <a:t>base class objects</a:t>
            </a:r>
          </a:p>
          <a:p>
            <a:pPr lvl="1" eaLnBrk="1" hangingPunct="1"/>
            <a:r>
              <a:rPr lang="en-US" sz="2400" smtClean="0"/>
              <a:t>Base class members are lost; slicing problem</a:t>
            </a:r>
          </a:p>
          <a:p>
            <a:pPr eaLnBrk="1" hangingPunct="1"/>
            <a:r>
              <a:rPr lang="en-US" sz="2800" smtClean="0"/>
              <a:t>Pointer assignments and dynamic objects</a:t>
            </a:r>
          </a:p>
          <a:p>
            <a:pPr lvl="1" eaLnBrk="1" hangingPunct="1"/>
            <a:r>
              <a:rPr lang="en-US" sz="2400" smtClean="0"/>
              <a:t>Allow "fix" to slicing problem</a:t>
            </a:r>
          </a:p>
          <a:p>
            <a:pPr eaLnBrk="1" hangingPunct="1"/>
            <a:r>
              <a:rPr lang="en-US" sz="2800" smtClean="0"/>
              <a:t>Make all destructors virtual</a:t>
            </a:r>
          </a:p>
          <a:p>
            <a:pPr lvl="1" eaLnBrk="1" hangingPunct="1"/>
            <a:r>
              <a:rPr lang="en-US" sz="2400" smtClean="0"/>
              <a:t>Good programming practice</a:t>
            </a:r>
          </a:p>
          <a:p>
            <a:pPr lvl="1" eaLnBrk="1" hangingPunct="1"/>
            <a:r>
              <a:rPr lang="en-US" sz="2400" smtClean="0"/>
              <a:t>Ensures memory correctly de-allocated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</a:t>
            </a:r>
            <a:fld id="{6AEF0B26-AB97-42B9-AC8D-688BFEF020AA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1816</Words>
  <Application>Microsoft Office PowerPoint</Application>
  <PresentationFormat>On-screen Show (4:3)</PresentationFormat>
  <Paragraphs>344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15</vt:lpstr>
      <vt:lpstr>Learning Objectives</vt:lpstr>
      <vt:lpstr>Virtual Function Basics</vt:lpstr>
      <vt:lpstr>Figures Example</vt:lpstr>
      <vt:lpstr>Figures Example 2</vt:lpstr>
      <vt:lpstr>Figures Example: center()</vt:lpstr>
      <vt:lpstr>Figures Example: New Figure</vt:lpstr>
      <vt:lpstr>Figures Example: Virtual!</vt:lpstr>
      <vt:lpstr>Virtual Functions: Another Example</vt:lpstr>
      <vt:lpstr>Virtual Functions: Auto Parts</vt:lpstr>
      <vt:lpstr>Class Sale Definition</vt:lpstr>
      <vt:lpstr>Member Functions  savings and operator &lt;</vt:lpstr>
      <vt:lpstr>Class Sale</vt:lpstr>
      <vt:lpstr>Derived Class DiscountSale Defined</vt:lpstr>
      <vt:lpstr>DiscountSale’s Implementation  of bill()</vt:lpstr>
      <vt:lpstr>DiscountSale’s Implementation  of bill()</vt:lpstr>
      <vt:lpstr>Derived Class DiscountSale</vt:lpstr>
      <vt:lpstr>Virtual: Wow!</vt:lpstr>
      <vt:lpstr>Virtual: How?</vt:lpstr>
      <vt:lpstr>Overriding</vt:lpstr>
      <vt:lpstr>Virtual Functions: Why Not All?</vt:lpstr>
      <vt:lpstr>Pure Virtual Functions</vt:lpstr>
      <vt:lpstr>Abstract Base Classes</vt:lpstr>
      <vt:lpstr>Extended Type Compatibility</vt:lpstr>
      <vt:lpstr>Extended Type  Compatibility Example</vt:lpstr>
      <vt:lpstr>Classes Pet and Dog</vt:lpstr>
      <vt:lpstr>Using Classes Pet and Dog</vt:lpstr>
      <vt:lpstr>Slicing Problem</vt:lpstr>
      <vt:lpstr>Slicing Problem Fix</vt:lpstr>
      <vt:lpstr>Slicing Problem Example</vt:lpstr>
      <vt:lpstr>Slicing Problem Example</vt:lpstr>
      <vt:lpstr>Virtual Destructors</vt:lpstr>
      <vt:lpstr>Casting</vt:lpstr>
      <vt:lpstr>Downcasting</vt:lpstr>
      <vt:lpstr>Inner Workings of Virtual Functions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2012-05-08T14:09:03Z</dcterms:modified>
</cp:coreProperties>
</file>