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tags/tag5.xml" ContentType="application/vnd.openxmlformats-officedocument.presentationml.tags+xml"/>
  <Override PartName="/ppt/notesSlides/notesSlide39.xml" ContentType="application/vnd.openxmlformats-officedocument.presentationml.notesSlide+xml"/>
  <Override PartName="/ppt/notesSlides/notesSlide48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ags/tag3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3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1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tags/tag2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1" d="100"/>
          <a:sy n="101" d="100"/>
        </p:scale>
        <p:origin x="834" y="14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7DDDD490-6339-47BB-A542-2F5F30B8C12D}" type="datetimeFigureOut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A1458166-735C-4E38-B759-1AF38F843D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A72983F-B66A-4793-BFFF-776B84012687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FEB4A03-65CB-4364-93C1-E67A005B673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CA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B05223E-5968-4555-8E83-B6BFB55F136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CA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CF51B6E-A5D9-4338-8831-C310393683C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CA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33D2441-DE58-402A-A705-9829F540A8F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CA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B35F8A7-14BD-408C-8D52-71763B7DC01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CA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B04DD12-F7AA-49FB-9381-8ECFD0BFE6E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CA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64C7931-60CD-4953-86C9-AE6FB4D47E9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CA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C277EF8-E564-4CF5-B76D-12447E582D0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CA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0B77464-FBB9-47DC-AE38-9724253FFE8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CA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DF93608-C961-4277-B5E3-7EC090E7AC7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CA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EDAB2DF-3713-4B26-A0A1-3E96493B489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CA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015E9F-FE1E-4670-95E3-AD0B1815794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CA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FB5127B-A5BF-4D13-BFC0-FB2ACD6A6FA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CA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113D836-F934-445A-886B-365808036F6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CA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64460F4-49A3-4F3C-AEE1-12A9A7BC0AC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CA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D91D568-D60C-4E5D-B225-FB881113260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CA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F2084AB-E62B-4666-9BE9-8D6DA28C942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n-CA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CEBE347-E828-453B-9708-202E79B9D4C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en-CA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24900FD-859A-4AD2-9259-0BE6C54594C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n-CA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39C8172-C31F-426D-B53A-3A15974BF45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CA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445C9AA-BBE8-47D9-B629-89F302FFC57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en-CA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009A9B2-E72C-4092-9BCF-1BCACC9A6B9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en-CA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93F58DA-E20B-4231-937B-D4D525370F3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en-CA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FAE2B75-9CA4-42BD-9864-0B10C02EFA2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CA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7628056-07F0-4511-B6E0-7FB7D567892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26</a:t>
            </a:fld>
            <a:endParaRPr lang="en-CA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52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FEB2C4B-5203-41E2-86B9-83C89778805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27</a:t>
            </a:fld>
            <a:endParaRPr lang="en-CA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6F49BDC-A9F2-4A47-9C42-2E650B40BAA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28</a:t>
            </a:fld>
            <a:endParaRPr lang="en-CA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14042A6-97B9-44E6-B965-7521090D021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29</a:t>
            </a:fld>
            <a:endParaRPr lang="en-CA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83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647182D-CDCB-469D-A4B8-921CFC20882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30</a:t>
            </a:fld>
            <a:endParaRPr lang="en-CA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93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B98778D-557E-4DD0-AF20-1E51B204459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31</a:t>
            </a:fld>
            <a:endParaRPr lang="en-CA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0262A27-9716-4ED5-B7D3-880BB040277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32</a:t>
            </a:fld>
            <a:endParaRPr lang="en-CA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13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49541E1-EB42-415E-892B-BDB27A74738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33</a:t>
            </a:fld>
            <a:endParaRPr lang="en-CA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24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D6719B8-8696-4B29-826F-0E2080D42BD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34</a:t>
            </a:fld>
            <a:endParaRPr lang="en-CA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34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7236D1C-1E9B-474B-B7E9-39F846D1C16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35</a:t>
            </a:fld>
            <a:endParaRPr lang="en-CA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473A959-C87A-43B8-85A6-20283272FF5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36</a:t>
            </a:fld>
            <a:endParaRPr lang="en-CA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54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9F76157-E335-4161-AA53-F070DB5BE2A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37</a:t>
            </a:fld>
            <a:endParaRPr lang="en-CA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65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D24E44B-ADD9-40FB-8B7D-A275F063B98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38</a:t>
            </a:fld>
            <a:endParaRPr lang="en-CA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1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75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5D1020B-6F8C-4E58-B879-500EA7B1D30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39</a:t>
            </a:fld>
            <a:endParaRPr lang="en-CA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52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85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048766B-65FD-4D67-BB1C-8F553566990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40</a:t>
            </a:fld>
            <a:endParaRPr lang="en-CA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95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5A904FC-7A79-4881-A8A7-E66C6A6B079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41</a:t>
            </a:fld>
            <a:endParaRPr lang="en-CA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3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105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467E59-0288-475B-BC61-02B1B9C6DC5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42</a:t>
            </a:fld>
            <a:endParaRPr lang="en-CA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13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116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93FB17B-9AF2-4E86-9125-0B736CD2915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43</a:t>
            </a:fld>
            <a:endParaRPr lang="en-CA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4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126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3C8DA2E-761A-407C-AF2F-8C4AE6A0696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44</a:t>
            </a:fld>
            <a:endParaRPr lang="en-CA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54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136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8DD2E94-B1C2-4C21-9481-C8930424E7A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45</a:t>
            </a:fld>
            <a:endParaRPr lang="en-CA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5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146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2623412-986A-412C-8420-09C93B3F195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46</a:t>
            </a:fld>
            <a:endParaRPr lang="en-CA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95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157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56505FC-FA77-4D53-9CA5-7D625B02A14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47</a:t>
            </a:fld>
            <a:endParaRPr lang="en-CA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16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167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4806B9D-DC85-442A-A027-34E12067ED9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48</a:t>
            </a:fld>
            <a:endParaRPr lang="en-CA" smtClean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6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177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73E4E33-A9F0-4783-851C-24EAC41FA3A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49</a:t>
            </a:fld>
            <a:endParaRPr lang="en-CA" smtClean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57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187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560D789-64CD-4283-A874-9A7098423C7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50</a:t>
            </a:fld>
            <a:endParaRPr lang="en-CA" smtClean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7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198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28ECDA6-79EC-42FC-89D2-C7AC59A17E3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51</a:t>
            </a:fld>
            <a:endParaRPr lang="en-CA" smtClean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98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208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9A21431-4913-408A-80A5-16D8565EA90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52</a:t>
            </a:fld>
            <a:endParaRPr lang="en-CA" smtClean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8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218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B39A973-0198-4ACF-B3CA-42BA521D151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53</a:t>
            </a:fld>
            <a:endParaRPr lang="en-CA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AAEE43-8E65-4372-9A02-49C870AC55B9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10-</a:t>
            </a:r>
            <a:fld id="{8A63D694-1159-484A-95CA-1B84FC766D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4876800" y="6324600"/>
            <a:ext cx="914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731544-C404-44FB-919E-D56B473F7559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10-</a:t>
            </a:r>
            <a:fld id="{06D7DEE0-E4B2-4A81-8F1F-90723A1CE0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>
          <a:xfrm>
            <a:off x="457200" y="6340475"/>
            <a:ext cx="4343400" cy="3651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3537F0-6BB4-4E5C-8B21-226EC24DD7FD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10-</a:t>
            </a:r>
            <a:fld id="{C16934DF-9067-4D4E-AB59-69CB1B54B8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224FDC-AB2B-45BA-B57A-24E15AB4D2CC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10-</a:t>
            </a:r>
            <a:fld id="{17F9446C-8C40-4570-B114-F1A9DA20FF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406BE6-96FD-432A-B457-DF7CEE034C81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10-</a:t>
            </a:r>
            <a:fld id="{24051EA3-8FCE-4168-9086-C28C54EAAD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6D768B-902E-4E71-84CE-AE1993857DC5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10-</a:t>
            </a:r>
            <a:fld id="{2B41E6EC-E209-4188-AEA1-651DF9EAFD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B435FC-86AE-40AE-91D9-51E4567FD47C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10-</a:t>
            </a:r>
            <a:fld id="{32B5BCB2-F430-4100-9C0C-027773D117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1A92B9-E6FA-4B12-8557-B11D442D1B7F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10-</a:t>
            </a:r>
            <a:fld id="{588BA79B-DC16-446F-9EF9-8299A0E772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64B7A8-9DC4-49E4-8F24-C71CDB5B640A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10-</a:t>
            </a:r>
            <a:fld id="{C04E4F94-D8E3-4661-8EF0-ED1B1210B5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A6669-6A92-410C-A175-0234B13BD9D6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10-</a:t>
            </a:r>
            <a:fld id="{95ED5497-0D04-4922-B834-181501DFCA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9E585D-413E-4055-BBEF-FF8A23107736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10-</a:t>
            </a:r>
            <a:fld id="{12FB1743-C514-4A98-812D-5E6A11E00A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648200" y="6340475"/>
            <a:ext cx="9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37A03B9-09F4-4F22-BDDE-D8364FC9DFB8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dirty="0">
                <a:solidFill>
                  <a:srgbClr val="898989"/>
                </a:solidFill>
                <a:latin typeface="Calibri" pitchFamily="34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1-</a:t>
            </a:r>
            <a:fld id="{3DBB17C1-77E6-4097-A340-265FA6F8A4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Picture 2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16986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>
            <a:spLocks noGrp="1"/>
          </p:cNvSpPr>
          <p:nvPr>
            <p:ph type="ctrTitle"/>
          </p:nvPr>
        </p:nvSpPr>
        <p:spPr>
          <a:xfrm>
            <a:off x="5638800" y="457200"/>
            <a:ext cx="3276600" cy="1470025"/>
          </a:xfrm>
        </p:spPr>
        <p:txBody>
          <a:bodyPr/>
          <a:lstStyle/>
          <a:p>
            <a:pPr eaLnBrk="1" hangingPunct="1"/>
            <a:r>
              <a:rPr lang="en-US" smtClean="0"/>
              <a:t>Chapter 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38800" y="1905000"/>
            <a:ext cx="3352800" cy="1752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/>
              <a:t>Pointers and Dynamic Arrays</a:t>
            </a:r>
            <a:endParaRPr lang="en-US" dirty="0"/>
          </a:p>
        </p:txBody>
      </p:sp>
      <p:pic>
        <p:nvPicPr>
          <p:cNvPr id="14341" name="Picture 6" descr="http://vig-fp.prenhall.com/bigcovers/013283071X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0"/>
            <a:ext cx="554513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3" name="Picture 10" descr="DG_Bar_Blue_USLetter_RGB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632460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Learning Objectives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Pointers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Pointer variables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Memory management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Dynamic Arrays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Creating and using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Pointer arithmetic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Classes, Pointers, Dynamic Arrays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The </a:t>
            </a:r>
            <a:r>
              <a:rPr lang="en-US" sz="2400" i="1" smtClean="0"/>
              <a:t>this</a:t>
            </a:r>
            <a:r>
              <a:rPr lang="en-US" sz="2400" smtClean="0"/>
              <a:t> pointer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Destructors, copy constructors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D8BA10E2-C38C-4585-AB0D-A65534EF9487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1638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Pointer Introduction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Pointer definition: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Memory address of a variable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Recall: memory divided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Numbered memory locations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Addresses used as name for variable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You’ve used pointers already!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Call-by-reference parameters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Address of actual argument was passed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75F921BA-AB34-41F4-8883-BC9A6B85AC93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1843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Pointer Variables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Pointers are "typed"</a:t>
            </a:r>
          </a:p>
          <a:p>
            <a:pPr lvl="1" eaLnBrk="1" hangingPunct="1"/>
            <a:r>
              <a:rPr lang="en-US" sz="2400" smtClean="0"/>
              <a:t>Can store pointer in variable</a:t>
            </a:r>
          </a:p>
          <a:p>
            <a:pPr lvl="1" eaLnBrk="1" hangingPunct="1"/>
            <a:r>
              <a:rPr lang="en-US" sz="2400" smtClean="0"/>
              <a:t>Not int, double, etc.</a:t>
            </a:r>
          </a:p>
          <a:p>
            <a:pPr lvl="2" eaLnBrk="1" hangingPunct="1"/>
            <a:r>
              <a:rPr lang="en-US" sz="2000" smtClean="0"/>
              <a:t>Instead: A POINTER to int, double, etc.!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Example:</a:t>
            </a:r>
            <a:br>
              <a:rPr lang="en-US" sz="2800" smtClean="0"/>
            </a:br>
            <a:r>
              <a:rPr lang="en-US" sz="2800" smtClean="0"/>
              <a:t>double *p;</a:t>
            </a:r>
          </a:p>
          <a:p>
            <a:pPr lvl="1" eaLnBrk="1" hangingPunct="1"/>
            <a:r>
              <a:rPr lang="en-US" sz="2400" smtClean="0"/>
              <a:t>p is declared a "pointer to double" variable</a:t>
            </a:r>
          </a:p>
          <a:p>
            <a:pPr lvl="1" eaLnBrk="1" hangingPunct="1"/>
            <a:r>
              <a:rPr lang="en-US" sz="2400" smtClean="0"/>
              <a:t>Can hold pointers to variables of type double</a:t>
            </a:r>
          </a:p>
          <a:p>
            <a:pPr lvl="2" eaLnBrk="1" hangingPunct="1"/>
            <a:r>
              <a:rPr lang="en-US" sz="2000" smtClean="0"/>
              <a:t>Not other types! (unless typecast, but could be dangerous)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755C3E47-6B39-4E14-A8CA-F1F27A2C36B3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2048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Declaring Pointer Variables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Pointers declared like other types</a:t>
            </a:r>
          </a:p>
          <a:p>
            <a:pPr lvl="1" eaLnBrk="1" hangingPunct="1"/>
            <a:r>
              <a:rPr lang="en-US" smtClean="0"/>
              <a:t>Add "*" before variable name</a:t>
            </a:r>
          </a:p>
          <a:p>
            <a:pPr lvl="1" eaLnBrk="1" hangingPunct="1"/>
            <a:r>
              <a:rPr lang="en-US" smtClean="0"/>
              <a:t>Produces "pointer to" that type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"*" must be before each variable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int *p1, *p2, v1, v2;</a:t>
            </a:r>
          </a:p>
          <a:p>
            <a:pPr lvl="1" eaLnBrk="1" hangingPunct="1"/>
            <a:r>
              <a:rPr lang="en-US" smtClean="0"/>
              <a:t>p1, p2 hold pointers to int variables</a:t>
            </a:r>
          </a:p>
          <a:p>
            <a:pPr lvl="1" eaLnBrk="1" hangingPunct="1"/>
            <a:r>
              <a:rPr lang="en-US" smtClean="0"/>
              <a:t>v1, v2 are ordinary int variables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BB49269B-57D3-41AC-BB99-58BACDA918CA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2253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Addresses and Numbers</a:t>
            </a:r>
          </a:p>
        </p:txBody>
      </p:sp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888" y="1600200"/>
            <a:ext cx="7815262" cy="46101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Pointer is an address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Address is an integer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Pointer is NOT an integer!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Not crazy </a:t>
            </a:r>
            <a:r>
              <a:rPr lang="en-US" smtClean="0">
                <a:sym typeface="Wingdings" pitchFamily="2" charset="2"/>
              </a:rPr>
              <a:t></a:t>
            </a:r>
            <a:r>
              <a:rPr lang="en-US" smtClean="0"/>
              <a:t> abstraction!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C++ forces pointers be used as</a:t>
            </a:r>
            <a:br>
              <a:rPr lang="en-US" smtClean="0"/>
            </a:br>
            <a:r>
              <a:rPr lang="en-US" smtClean="0"/>
              <a:t>addresses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Cannot be used as numbers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Even though it "is a" number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5BC2B4B3-E604-4F90-A08F-0ACC60C0CFC5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2458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Pointing</a:t>
            </a:r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Terminology, view</a:t>
            </a:r>
          </a:p>
          <a:p>
            <a:pPr lvl="1" eaLnBrk="1" hangingPunct="1"/>
            <a:r>
              <a:rPr lang="en-US" smtClean="0"/>
              <a:t>Talk of "pointing", not "addresses"</a:t>
            </a:r>
          </a:p>
          <a:p>
            <a:pPr lvl="1" eaLnBrk="1" hangingPunct="1"/>
            <a:r>
              <a:rPr lang="en-US" smtClean="0"/>
              <a:t>Pointer variable "points to" ordinary variable</a:t>
            </a:r>
          </a:p>
          <a:p>
            <a:pPr lvl="1" eaLnBrk="1" hangingPunct="1"/>
            <a:r>
              <a:rPr lang="en-US" smtClean="0"/>
              <a:t>Leave "address" talk out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Makes visualization clearer</a:t>
            </a:r>
          </a:p>
          <a:p>
            <a:pPr lvl="1" eaLnBrk="1" hangingPunct="1"/>
            <a:r>
              <a:rPr lang="en-US" smtClean="0"/>
              <a:t>"See" memory references</a:t>
            </a:r>
          </a:p>
          <a:p>
            <a:pPr lvl="2" eaLnBrk="1" hangingPunct="1"/>
            <a:r>
              <a:rPr lang="en-US" smtClean="0"/>
              <a:t>Arrows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E5D7447B-9F5E-4ED7-B7C1-92FB939AFFC5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2662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Pointing to …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int *p1, *p2, v1, v2;</a:t>
            </a:r>
            <a:br>
              <a:rPr lang="en-US" sz="2800" smtClean="0"/>
            </a:br>
            <a:r>
              <a:rPr lang="en-US" sz="2800" smtClean="0"/>
              <a:t>p1 = &amp;v1;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Sets pointer variable p1 to "point to" int </a:t>
            </a:r>
            <a:br>
              <a:rPr lang="en-US" sz="2400" smtClean="0"/>
            </a:br>
            <a:r>
              <a:rPr lang="en-US" sz="2400" smtClean="0"/>
              <a:t>variable v1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Operator, &amp;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Determines "address of" variable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Read like: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"p1 equals address of v1"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Or "p1 points to v1"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21CEF86C-2F51-4D81-B5FF-4BE08B5F89F9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2867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Pointing to …</a:t>
            </a:r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Recall:</a:t>
            </a:r>
            <a:br>
              <a:rPr lang="en-US" sz="2800" smtClean="0"/>
            </a:br>
            <a:r>
              <a:rPr lang="en-US" sz="2400" smtClean="0"/>
              <a:t>int *p1, *p2, v1, v2;</a:t>
            </a:r>
            <a:br>
              <a:rPr lang="en-US" sz="2400" smtClean="0"/>
            </a:br>
            <a:r>
              <a:rPr lang="en-US" sz="2400" smtClean="0"/>
              <a:t>p1 = &amp;v1;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Two ways to refer to v1 now: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Variable v1 itself:</a:t>
            </a:r>
            <a:br>
              <a:rPr lang="en-US" sz="2400" smtClean="0"/>
            </a:br>
            <a:r>
              <a:rPr lang="en-US" sz="2400" smtClean="0"/>
              <a:t>cout &lt;&lt; v1;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Via pointer p1:</a:t>
            </a:r>
            <a:br>
              <a:rPr lang="en-US" sz="2400" smtClean="0"/>
            </a:br>
            <a:r>
              <a:rPr lang="en-US" sz="2400" smtClean="0"/>
              <a:t>cout *p1;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Dereference operator, *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Pointer variable "derereferenced"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Means: "Get data that p1 points to"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1FE7C95C-35FD-465E-8F49-507B939BD338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3072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"Pointing to" Example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Consider:</a:t>
            </a:r>
            <a:br>
              <a:rPr lang="en-US" sz="2800" smtClean="0"/>
            </a:br>
            <a:r>
              <a:rPr lang="en-US" sz="2400" smtClean="0"/>
              <a:t>v1 = 0;</a:t>
            </a:r>
            <a:br>
              <a:rPr lang="en-US" sz="2400" smtClean="0"/>
            </a:br>
            <a:r>
              <a:rPr lang="en-US" sz="2400" smtClean="0"/>
              <a:t>p1 = &amp;v1;</a:t>
            </a:r>
            <a:br>
              <a:rPr lang="en-US" sz="2400" smtClean="0"/>
            </a:br>
            <a:r>
              <a:rPr lang="en-US" sz="2400" smtClean="0"/>
              <a:t>*p1 = 42;</a:t>
            </a:r>
            <a:br>
              <a:rPr lang="en-US" sz="2400" smtClean="0"/>
            </a:br>
            <a:r>
              <a:rPr lang="en-US" sz="2400" smtClean="0"/>
              <a:t>cout &lt;&lt; v1 &lt;&lt; endl;</a:t>
            </a:r>
            <a:br>
              <a:rPr lang="en-US" sz="2400" smtClean="0"/>
            </a:br>
            <a:r>
              <a:rPr lang="en-US" sz="2400" smtClean="0"/>
              <a:t>cout &lt;&lt; *p1 &lt;&lt; endl;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Produces output:</a:t>
            </a:r>
            <a:br>
              <a:rPr lang="en-US" sz="2800" smtClean="0"/>
            </a:br>
            <a:r>
              <a:rPr lang="en-US" sz="2800" smtClean="0"/>
              <a:t>42</a:t>
            </a:r>
            <a:br>
              <a:rPr lang="en-US" sz="2800" smtClean="0"/>
            </a:br>
            <a:r>
              <a:rPr lang="en-US" sz="2800" smtClean="0"/>
              <a:t>42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p1 and v1 refer to same variable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3A8DD5CA-A7BD-4D9D-BD23-817C6AD16F48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3277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&amp; Operator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"address of" operator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Also used to specify call-by-reference</a:t>
            </a:r>
            <a:br>
              <a:rPr lang="en-US" smtClean="0"/>
            </a:br>
            <a:r>
              <a:rPr lang="en-US" smtClean="0"/>
              <a:t>parameter</a:t>
            </a:r>
          </a:p>
          <a:p>
            <a:pPr lvl="1" eaLnBrk="1" hangingPunct="1"/>
            <a:r>
              <a:rPr lang="en-US" smtClean="0"/>
              <a:t>No coincidence!</a:t>
            </a:r>
          </a:p>
          <a:p>
            <a:pPr lvl="1" eaLnBrk="1" hangingPunct="1"/>
            <a:r>
              <a:rPr lang="en-US" smtClean="0"/>
              <a:t>Recall: call-by-reference parameters pass</a:t>
            </a:r>
            <a:br>
              <a:rPr lang="en-US" smtClean="0"/>
            </a:br>
            <a:r>
              <a:rPr lang="en-US" smtClean="0"/>
              <a:t>"address of" the actual argument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Operator’s two uses are closely related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BB2DE746-A70F-4339-B3EA-2936D9AE3495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3482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Pointer Assignments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Pointer variables can be "assigned":</a:t>
            </a:r>
            <a:br>
              <a:rPr lang="en-US" smtClean="0"/>
            </a:br>
            <a:r>
              <a:rPr lang="en-US" sz="2800" smtClean="0"/>
              <a:t>int *p1, *p2;</a:t>
            </a:r>
            <a:br>
              <a:rPr lang="en-US" sz="2800" smtClean="0"/>
            </a:br>
            <a:r>
              <a:rPr lang="en-US" sz="2800" smtClean="0"/>
              <a:t>p2 = p1;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Assigns one pointer to another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"Make p2 point to where p1 points"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Do not confuse with:</a:t>
            </a:r>
            <a:br>
              <a:rPr lang="en-US" smtClean="0"/>
            </a:br>
            <a:r>
              <a:rPr lang="en-US" sz="2800" smtClean="0"/>
              <a:t>*p1 = *p2;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Assigns "value pointed to" by p1, to "value</a:t>
            </a:r>
            <a:br>
              <a:rPr lang="en-US" smtClean="0"/>
            </a:br>
            <a:r>
              <a:rPr lang="en-US" smtClean="0"/>
              <a:t>pointed to" by p2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606D37DA-82D9-44AA-912D-97E97A9DA306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3686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smtClean="0"/>
              <a:t>Pointer Assignments Graphic: </a:t>
            </a:r>
            <a:br>
              <a:rPr lang="en-US" sz="3000" smtClean="0"/>
            </a:br>
            <a:r>
              <a:rPr lang="en-US" sz="3000" b="1" smtClean="0"/>
              <a:t>Display 10.1</a:t>
            </a:r>
            <a:r>
              <a:rPr lang="en-US" sz="3000" smtClean="0"/>
              <a:t>  Uses of the Assignment Operator with Pointer Variables</a:t>
            </a:r>
          </a:p>
        </p:txBody>
      </p:sp>
      <p:pic>
        <p:nvPicPr>
          <p:cNvPr id="38914" name="Picture 5" descr="C:\WINDOWS\Desktop\Oh_type\sacitch_C++_ppt\gif\savitchc10d01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200150" y="1690688"/>
            <a:ext cx="7504113" cy="461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C2B739A7-37D7-4378-AD63-9D69DA366F55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38916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new Operator</a:t>
            </a:r>
          </a:p>
        </p:txBody>
      </p:sp>
      <p:sp>
        <p:nvSpPr>
          <p:cNvPr id="409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888" y="1600200"/>
            <a:ext cx="7815262" cy="45910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Since pointers can refer to variables…</a:t>
            </a:r>
          </a:p>
          <a:p>
            <a:pPr lvl="1"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z="2400" smtClean="0"/>
              <a:t>No "real" need to have a standard identifier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Can dynamically allocate variables</a:t>
            </a:r>
          </a:p>
          <a:p>
            <a:pPr lvl="1"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z="2400" smtClean="0"/>
              <a:t>Operator </a:t>
            </a:r>
            <a:r>
              <a:rPr lang="en-US" sz="2400" i="1" smtClean="0"/>
              <a:t>new</a:t>
            </a:r>
            <a:r>
              <a:rPr lang="en-US" sz="2400" smtClean="0"/>
              <a:t> creates variables</a:t>
            </a:r>
          </a:p>
          <a:p>
            <a:pPr lvl="2"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z="2000" smtClean="0"/>
              <a:t>No identifiers to refer to them</a:t>
            </a:r>
          </a:p>
          <a:p>
            <a:pPr lvl="2"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z="2000" smtClean="0"/>
              <a:t>Just a pointer!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p1 = new int;</a:t>
            </a:r>
          </a:p>
          <a:p>
            <a:pPr lvl="1"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z="2400" smtClean="0"/>
              <a:t>Creates new "nameless" variable, and</a:t>
            </a:r>
            <a:br>
              <a:rPr lang="en-US" sz="2400" smtClean="0"/>
            </a:br>
            <a:r>
              <a:rPr lang="en-US" sz="2400" smtClean="0"/>
              <a:t>assigns p1 to "point to" it</a:t>
            </a:r>
          </a:p>
          <a:p>
            <a:pPr lvl="1"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z="2400" smtClean="0"/>
              <a:t>Can access with *p1</a:t>
            </a:r>
          </a:p>
          <a:p>
            <a:pPr lvl="2"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z="2000" smtClean="0"/>
              <a:t>Use just like ordinary variable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DDBD20FC-2EE5-4BAF-AC99-C06DA9E9A7A8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4096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09" name="Picture 5" descr="C:\WINDOWS\Desktop\Oh_type\sacitch_C++_ppt\gif\savitchc10d02_2of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301750" y="1671638"/>
            <a:ext cx="7213600" cy="4710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010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smtClean="0"/>
              <a:t>Basic Pointer Manipulations Example: </a:t>
            </a:r>
            <a:br>
              <a:rPr lang="en-US" sz="3000" smtClean="0"/>
            </a:br>
            <a:r>
              <a:rPr lang="en-US" sz="3000" b="1" smtClean="0"/>
              <a:t>Display 10.2</a:t>
            </a:r>
            <a:r>
              <a:rPr lang="en-US" sz="3000" smtClean="0"/>
              <a:t>  Basic Pointer </a:t>
            </a:r>
            <a:br>
              <a:rPr lang="en-US" sz="3000" smtClean="0"/>
            </a:br>
            <a:r>
              <a:rPr lang="en-US" sz="3000" smtClean="0"/>
              <a:t>Manipulations (1 of 2)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2772A825-9907-48B3-84AA-4F6D18EF6268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43012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smtClean="0"/>
              <a:t>Basic Pointer Manipulations Example: </a:t>
            </a:r>
            <a:br>
              <a:rPr lang="en-US" sz="3000" smtClean="0"/>
            </a:br>
            <a:r>
              <a:rPr lang="en-US" sz="3000" b="1" smtClean="0"/>
              <a:t>Display 10.2</a:t>
            </a:r>
            <a:r>
              <a:rPr lang="en-US" sz="3000" smtClean="0"/>
              <a:t>  Basic Pointer </a:t>
            </a:r>
            <a:br>
              <a:rPr lang="en-US" sz="3000" smtClean="0"/>
            </a:br>
            <a:r>
              <a:rPr lang="en-US" sz="3000" smtClean="0"/>
              <a:t>Manipulations (2 of 2)</a:t>
            </a:r>
          </a:p>
        </p:txBody>
      </p:sp>
      <p:pic>
        <p:nvPicPr>
          <p:cNvPr id="45058" name="Picture 5" descr="C:\WINDOWS\Desktop\Oh_type\sacitch_C++_ppt\gif\savitchc10d02_1of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028700" y="1828800"/>
            <a:ext cx="7772400" cy="434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A4A84EE9-CC3B-4062-B0C9-2F160EDE96D1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45060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6"/>
          <p:cNvSpPr>
            <a:spLocks noGrp="1" noChangeArrowheads="1"/>
          </p:cNvSpPr>
          <p:nvPr>
            <p:ph type="title"/>
          </p:nvPr>
        </p:nvSpPr>
        <p:spPr>
          <a:xfrm>
            <a:off x="914400" y="228600"/>
            <a:ext cx="2863850" cy="3235325"/>
          </a:xfrm>
        </p:spPr>
        <p:txBody>
          <a:bodyPr/>
          <a:lstStyle/>
          <a:p>
            <a:pPr eaLnBrk="1" hangingPunct="1"/>
            <a:r>
              <a:rPr lang="en-US" sz="3000" smtClean="0"/>
              <a:t>Basic Pointer Manipulations Graphic: </a:t>
            </a:r>
            <a:br>
              <a:rPr lang="en-US" sz="3000" smtClean="0"/>
            </a:br>
            <a:r>
              <a:rPr lang="en-US" sz="3000" b="1" smtClean="0"/>
              <a:t>Display 10.3  </a:t>
            </a:r>
            <a:r>
              <a:rPr lang="en-US" sz="3000" smtClean="0"/>
              <a:t>Explanation of Display 10.2</a:t>
            </a:r>
          </a:p>
        </p:txBody>
      </p:sp>
      <p:pic>
        <p:nvPicPr>
          <p:cNvPr id="47106" name="Picture 7" descr="C:\WINDOWS\Desktop\Oh_type\sacitch_C++_ppt\gif\savitchc10d03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3733800" y="495300"/>
            <a:ext cx="5199063" cy="582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A569A951-B0B3-4723-9AD4-81AFC59A58C9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47108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More on new Operator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888" y="1600200"/>
            <a:ext cx="7815262" cy="46672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Creates new dynamic variable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smtClean="0"/>
              <a:t>Returns pointer to the new variable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smtClean="0"/>
              <a:t>If type is class type:</a:t>
            </a:r>
          </a:p>
          <a:p>
            <a:pPr lvl="1"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z="2400" smtClean="0"/>
              <a:t>Constructor is called for new object</a:t>
            </a:r>
          </a:p>
          <a:p>
            <a:pPr lvl="1"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z="2400" smtClean="0"/>
              <a:t>Can invoke different constructor with</a:t>
            </a:r>
            <a:br>
              <a:rPr lang="en-US" sz="2400" smtClean="0"/>
            </a:br>
            <a:r>
              <a:rPr lang="en-US" sz="2400" smtClean="0"/>
              <a:t>initializer arguments:</a:t>
            </a:r>
            <a:br>
              <a:rPr lang="en-US" sz="2400" smtClean="0"/>
            </a:br>
            <a:r>
              <a:rPr lang="en-US" sz="2000" smtClean="0"/>
              <a:t>MyClass *mcPtr;</a:t>
            </a:r>
            <a:br>
              <a:rPr lang="en-US" sz="2000" smtClean="0"/>
            </a:br>
            <a:r>
              <a:rPr lang="en-US" sz="2000" smtClean="0"/>
              <a:t>mcPtr = new MyClass(32.0, 17);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smtClean="0"/>
              <a:t>Can still initialize non-class types:</a:t>
            </a:r>
            <a:br>
              <a:rPr lang="en-US" sz="2800" smtClean="0"/>
            </a:br>
            <a:r>
              <a:rPr lang="en-US" sz="2400" smtClean="0"/>
              <a:t>int *n;</a:t>
            </a:r>
            <a:br>
              <a:rPr lang="en-US" sz="2400" smtClean="0"/>
            </a:br>
            <a:r>
              <a:rPr lang="en-US" sz="2400" smtClean="0"/>
              <a:t>n = new int(17);	//Initializes *n to 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D68AED6D-266D-48D4-B4AF-9B50DB12DC95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4915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Pointers and Functions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Pointers are full-fledged types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Can be used just like other types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Can be function parameters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Can be returned from functions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Example:</a:t>
            </a:r>
            <a:br>
              <a:rPr lang="en-US" sz="2800" smtClean="0"/>
            </a:br>
            <a:r>
              <a:rPr lang="en-US" sz="2800" smtClean="0"/>
              <a:t>int* findOtherPointer(int* p);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This function declaration: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Has "pointer to an int" parameter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Returns "pointer to an int" variable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6EB19A48-D419-4F87-B60F-55904F1DD97F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5120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Memory Management</a:t>
            </a:r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Heap</a:t>
            </a:r>
          </a:p>
          <a:p>
            <a:pPr lvl="1" eaLnBrk="1" hangingPunct="1"/>
            <a:r>
              <a:rPr lang="en-US" sz="2400" smtClean="0"/>
              <a:t>Also called "freestore"</a:t>
            </a:r>
          </a:p>
          <a:p>
            <a:pPr lvl="1" eaLnBrk="1" hangingPunct="1"/>
            <a:r>
              <a:rPr lang="en-US" sz="2400" smtClean="0"/>
              <a:t>Reserved for dynamically-allocated variables</a:t>
            </a:r>
          </a:p>
          <a:p>
            <a:pPr lvl="1" eaLnBrk="1" hangingPunct="1"/>
            <a:r>
              <a:rPr lang="en-US" sz="2400" smtClean="0"/>
              <a:t>All new dynamic variables consume memory</a:t>
            </a:r>
            <a:br>
              <a:rPr lang="en-US" sz="2400" smtClean="0"/>
            </a:br>
            <a:r>
              <a:rPr lang="en-US" sz="2400" smtClean="0"/>
              <a:t>in freestore</a:t>
            </a:r>
          </a:p>
          <a:p>
            <a:pPr lvl="2" eaLnBrk="1" hangingPunct="1"/>
            <a:r>
              <a:rPr lang="en-US" sz="2000" smtClean="0"/>
              <a:t>If too many </a:t>
            </a:r>
            <a:r>
              <a:rPr lang="en-US" sz="2000" smtClean="0">
                <a:sym typeface="Wingdings" pitchFamily="2" charset="2"/>
              </a:rPr>
              <a:t></a:t>
            </a:r>
            <a:r>
              <a:rPr lang="en-US" sz="2000" smtClean="0"/>
              <a:t> could use all freestore memory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Future "new" operations will fail if freestore</a:t>
            </a:r>
            <a:br>
              <a:rPr lang="en-US" sz="2800" smtClean="0"/>
            </a:br>
            <a:r>
              <a:rPr lang="en-US" sz="2800" smtClean="0"/>
              <a:t>is "full"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C0F1F291-5006-4F24-9CBA-81DE33608AFC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5325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Checking new Success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Older compilers: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Test if null returned by call to </a:t>
            </a:r>
            <a:r>
              <a:rPr lang="en-US" i="1" smtClean="0"/>
              <a:t>new:</a:t>
            </a: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int *p;</a:t>
            </a:r>
            <a:br>
              <a:rPr lang="en-US" smtClean="0"/>
            </a:br>
            <a:r>
              <a:rPr lang="en-US" smtClean="0"/>
              <a:t>p = new int;</a:t>
            </a:r>
            <a:br>
              <a:rPr lang="en-US" smtClean="0"/>
            </a:br>
            <a:r>
              <a:rPr lang="en-US" smtClean="0"/>
              <a:t>if (p == NULL)</a:t>
            </a:r>
            <a:br>
              <a:rPr lang="en-US" smtClean="0"/>
            </a:br>
            <a:r>
              <a:rPr lang="en-US" smtClean="0"/>
              <a:t>{</a:t>
            </a:r>
            <a:br>
              <a:rPr lang="en-US" smtClean="0"/>
            </a:br>
            <a:r>
              <a:rPr lang="en-US" smtClean="0"/>
              <a:t>     cout &lt;&lt; "Error: Insufficient memory.\n";</a:t>
            </a:r>
            <a:br>
              <a:rPr lang="en-US" smtClean="0"/>
            </a:br>
            <a:r>
              <a:rPr lang="en-US" smtClean="0"/>
              <a:t>     exit(1);</a:t>
            </a:r>
            <a:br>
              <a:rPr lang="en-US" smtClean="0"/>
            </a:br>
            <a:r>
              <a:rPr lang="en-US" smtClean="0"/>
              <a:t>}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If new succeeded, program continues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D25F0813-E694-405C-8B20-0EC24AB85B0C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5530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new Success – New Compiler</a:t>
            </a:r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Newer compilers:</a:t>
            </a:r>
          </a:p>
          <a:p>
            <a:pPr lvl="1" eaLnBrk="1" hangingPunct="1"/>
            <a:r>
              <a:rPr lang="en-US" smtClean="0"/>
              <a:t>If new operation fails:</a:t>
            </a:r>
          </a:p>
          <a:p>
            <a:pPr lvl="2" eaLnBrk="1" hangingPunct="1"/>
            <a:r>
              <a:rPr lang="en-US" smtClean="0"/>
              <a:t>Program terminates automatically</a:t>
            </a:r>
          </a:p>
          <a:p>
            <a:pPr lvl="2" eaLnBrk="1" hangingPunct="1"/>
            <a:r>
              <a:rPr lang="en-US" smtClean="0"/>
              <a:t>Produces error message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Still good practice to use NULL check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1BC88AC7-6392-4695-B6C6-AE0EA0B46FA2}" type="slidenum">
              <a:rPr lang="en-US"/>
              <a:pPr>
                <a:defRPr/>
              </a:pPr>
              <a:t>22</a:t>
            </a:fld>
            <a:endParaRPr lang="en-US"/>
          </a:p>
        </p:txBody>
      </p:sp>
      <p:sp>
        <p:nvSpPr>
          <p:cNvPr id="5734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Freestore Size</a:t>
            </a:r>
          </a:p>
        </p:txBody>
      </p:sp>
      <p:sp>
        <p:nvSpPr>
          <p:cNvPr id="593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Varies with implementations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Typically large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Most programs won’t use all memory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Memory management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Still good practice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Solid software engineering principle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Memory IS finite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Regardless of how much there is!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AED1BA9A-52F9-43E5-9CBC-62143F48E97B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5939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delete Operator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De-allocate dynamic memory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400" smtClean="0"/>
              <a:t>When no longer needed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400" smtClean="0"/>
              <a:t>Returns memory to freestore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400" smtClean="0"/>
              <a:t>Example:</a:t>
            </a:r>
            <a:br>
              <a:rPr lang="en-US" sz="2400" smtClean="0"/>
            </a:br>
            <a:r>
              <a:rPr lang="en-US" sz="2000" smtClean="0"/>
              <a:t>int *p;</a:t>
            </a:r>
            <a:br>
              <a:rPr lang="en-US" sz="2000" smtClean="0"/>
            </a:br>
            <a:r>
              <a:rPr lang="en-US" sz="2000" smtClean="0"/>
              <a:t>p = new int(5);</a:t>
            </a:r>
            <a:br>
              <a:rPr lang="en-US" sz="2000" smtClean="0"/>
            </a:br>
            <a:r>
              <a:rPr lang="en-US" sz="2000" smtClean="0"/>
              <a:t>… //Some processing…</a:t>
            </a:r>
            <a:br>
              <a:rPr lang="en-US" sz="2000" smtClean="0"/>
            </a:br>
            <a:r>
              <a:rPr lang="en-US" sz="2000" smtClean="0"/>
              <a:t>delete p;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400" smtClean="0"/>
              <a:t>De-allocates dynamic memory "pointed to by</a:t>
            </a:r>
            <a:br>
              <a:rPr lang="en-US" sz="2400" smtClean="0"/>
            </a:br>
            <a:r>
              <a:rPr lang="en-US" sz="2400" smtClean="0"/>
              <a:t>pointer p"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Literally "destroys"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4CD2A4AA-C63D-4EDB-8A7C-9C9231D4561C}" type="slidenum">
              <a:rPr lang="en-US"/>
              <a:pPr>
                <a:defRPr/>
              </a:pPr>
              <a:t>24</a:t>
            </a:fld>
            <a:endParaRPr lang="en-US"/>
          </a:p>
        </p:txBody>
      </p:sp>
      <p:sp>
        <p:nvSpPr>
          <p:cNvPr id="6144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Dangling Pointers</a:t>
            </a:r>
          </a:p>
        </p:txBody>
      </p:sp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delete p;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Destroys dynamic memory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But p still points there!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Called "dangling pointer"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If p is then dereferenced ( *p )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Unpredicatable results!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Often disastrous!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Avoid dangling pointers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Assign pointer to NULL after delete:</a:t>
            </a:r>
            <a:br>
              <a:rPr lang="en-US" sz="2400" smtClean="0"/>
            </a:br>
            <a:r>
              <a:rPr lang="en-US" sz="2000" smtClean="0"/>
              <a:t>delete p;</a:t>
            </a:r>
            <a:br>
              <a:rPr lang="en-US" sz="2000" smtClean="0"/>
            </a:br>
            <a:r>
              <a:rPr lang="en-US" sz="2000" smtClean="0"/>
              <a:t>p = NULL;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AED4142C-5E25-49C7-A456-B4929851BC58}" type="slidenum">
              <a:rPr lang="en-US"/>
              <a:pPr>
                <a:defRPr/>
              </a:pPr>
              <a:t>25</a:t>
            </a:fld>
            <a:endParaRPr lang="en-US"/>
          </a:p>
        </p:txBody>
      </p:sp>
      <p:sp>
        <p:nvSpPr>
          <p:cNvPr id="6349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Dynamic and Automatic Variables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Dynamic variables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Created with new operator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Created and destroyed while program runs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Local variables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Declared within function definition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Not dynamic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Created when function is called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Destroyed when function call completes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Often called "automatic" variables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Properties controlled for you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47CC4657-320D-40AF-B383-F9E6988A5F5C}" type="slidenum">
              <a:rPr lang="en-US"/>
              <a:pPr>
                <a:defRPr/>
              </a:pPr>
              <a:t>26</a:t>
            </a:fld>
            <a:endParaRPr lang="en-US"/>
          </a:p>
        </p:txBody>
      </p:sp>
      <p:sp>
        <p:nvSpPr>
          <p:cNvPr id="6554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Define Pointer Types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Can "name" pointer types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To be able to declare pointers like other</a:t>
            </a:r>
            <a:br>
              <a:rPr lang="en-US" sz="2800" smtClean="0"/>
            </a:br>
            <a:r>
              <a:rPr lang="en-US" sz="2800" smtClean="0"/>
              <a:t>variables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Eliminate need for "*" in pointer declaration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typedef int* IntPtr;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Defines a "new type" alias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Consider these declarations:</a:t>
            </a:r>
            <a:br>
              <a:rPr lang="en-US" sz="2400" smtClean="0"/>
            </a:br>
            <a:r>
              <a:rPr lang="en-US" sz="2400" smtClean="0"/>
              <a:t>IntPtr p;</a:t>
            </a:r>
            <a:br>
              <a:rPr lang="en-US" sz="2400" smtClean="0"/>
            </a:br>
            <a:r>
              <a:rPr lang="en-US" sz="2400" smtClean="0"/>
              <a:t>int *p;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The two are equivalent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B41D3FA6-9E48-4A82-96C9-002610D3A842}" type="slidenum">
              <a:rPr lang="en-US"/>
              <a:pPr>
                <a:defRPr/>
              </a:pPr>
              <a:t>27</a:t>
            </a:fld>
            <a:endParaRPr lang="en-US"/>
          </a:p>
        </p:txBody>
      </p:sp>
      <p:sp>
        <p:nvSpPr>
          <p:cNvPr id="6758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Pitfall: Call-by-value Pointers</a:t>
            </a:r>
          </a:p>
        </p:txBody>
      </p:sp>
      <p:sp>
        <p:nvSpPr>
          <p:cNvPr id="696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Behavior subtle and troublesome</a:t>
            </a:r>
          </a:p>
          <a:p>
            <a:pPr lvl="1" eaLnBrk="1" hangingPunct="1"/>
            <a:r>
              <a:rPr lang="en-US" smtClean="0"/>
              <a:t>If function changes pointer parameter </a:t>
            </a:r>
            <a:br>
              <a:rPr lang="en-US" smtClean="0"/>
            </a:br>
            <a:r>
              <a:rPr lang="en-US" smtClean="0"/>
              <a:t>itself </a:t>
            </a:r>
            <a:r>
              <a:rPr lang="en-US" smtClean="0">
                <a:sym typeface="Wingdings" pitchFamily="2" charset="2"/>
              </a:rPr>
              <a:t></a:t>
            </a:r>
            <a:r>
              <a:rPr lang="en-US" smtClean="0"/>
              <a:t> only change is to local copy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Best illustrated with example…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BAD2946C-EB84-4F14-ABF8-135933BCBDCE}" type="slidenum">
              <a:rPr lang="en-US"/>
              <a:pPr>
                <a:defRPr/>
              </a:pPr>
              <a:t>28</a:t>
            </a:fld>
            <a:endParaRPr lang="en-US"/>
          </a:p>
        </p:txBody>
      </p:sp>
      <p:sp>
        <p:nvSpPr>
          <p:cNvPr id="6963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1" name="Picture 4" descr="C:\WINDOWS\Desktop\Oh_type\sacitch_C++_ppt\gif\savitchc10d04_1of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123950" y="1695450"/>
            <a:ext cx="7599363" cy="451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68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smtClean="0"/>
              <a:t>Call-by-value Pointers Example: </a:t>
            </a:r>
            <a:br>
              <a:rPr lang="en-US" sz="3000" smtClean="0"/>
            </a:br>
            <a:r>
              <a:rPr lang="en-US" sz="3000" b="1" smtClean="0"/>
              <a:t>Display 10.4</a:t>
            </a:r>
            <a:r>
              <a:rPr lang="en-US" sz="3000" smtClean="0"/>
              <a:t>  A Call-by-Value Pointer Parameter (1 of 2)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B23DEE36-7592-4058-8032-D6C155168072}" type="slidenum">
              <a:rPr lang="en-US"/>
              <a:pPr>
                <a:defRPr/>
              </a:pPr>
              <a:t>29</a:t>
            </a:fld>
            <a:endParaRPr lang="en-US"/>
          </a:p>
        </p:txBody>
      </p:sp>
      <p:sp>
        <p:nvSpPr>
          <p:cNvPr id="71684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29" name="Picture 6" descr="C:\WINDOWS\Desktop\Oh_type\sacitch_C++_ppt\gif\savitchc10d04_2of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028700" y="1754188"/>
            <a:ext cx="7772400" cy="434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3730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smtClean="0"/>
              <a:t>Call-by-value Pointers Example: </a:t>
            </a:r>
            <a:br>
              <a:rPr lang="en-US" sz="3000" smtClean="0"/>
            </a:br>
            <a:r>
              <a:rPr lang="en-US" sz="3000" b="1" smtClean="0"/>
              <a:t>Display 10.4</a:t>
            </a:r>
            <a:r>
              <a:rPr lang="en-US" sz="3000" smtClean="0"/>
              <a:t>  A Call-by-Value Pointer Parameter (2 of 2)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69236CBF-234C-4D09-9E6D-B6152C87E021}" type="slidenum">
              <a:rPr lang="en-US"/>
              <a:pPr>
                <a:defRPr/>
              </a:pPr>
              <a:t>30</a:t>
            </a:fld>
            <a:endParaRPr lang="en-US"/>
          </a:p>
        </p:txBody>
      </p:sp>
      <p:sp>
        <p:nvSpPr>
          <p:cNvPr id="73732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/>
              <a:t>Call-by-value Pointers Graphic: </a:t>
            </a:r>
            <a:br>
              <a:rPr lang="en-US" sz="3200" smtClean="0"/>
            </a:br>
            <a:r>
              <a:rPr lang="en-US" sz="3000" b="1" smtClean="0"/>
              <a:t>Display 10.5  </a:t>
            </a:r>
            <a:r>
              <a:rPr lang="en-US" sz="3200" smtClean="0"/>
              <a:t>The Function Call sneaky(p); </a:t>
            </a:r>
          </a:p>
        </p:txBody>
      </p:sp>
      <p:pic>
        <p:nvPicPr>
          <p:cNvPr id="75778" name="Picture 4" descr="C:\WINDOWS\Desktop\Oh_type\sacitch_C++_ppt\gif\savitchc10d05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011238" y="1831975"/>
            <a:ext cx="7772400" cy="388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AC5DED3E-AAD4-4DED-9D2D-1CD2FDD18B55}" type="slidenum">
              <a:rPr lang="en-US"/>
              <a:pPr>
                <a:defRPr/>
              </a:pPr>
              <a:t>31</a:t>
            </a:fld>
            <a:endParaRPr lang="en-US"/>
          </a:p>
        </p:txBody>
      </p:sp>
      <p:sp>
        <p:nvSpPr>
          <p:cNvPr id="75780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Dynamic Arrays</a:t>
            </a:r>
          </a:p>
        </p:txBody>
      </p:sp>
      <p:sp>
        <p:nvSpPr>
          <p:cNvPr id="778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Array variables</a:t>
            </a:r>
          </a:p>
          <a:p>
            <a:pPr lvl="1" eaLnBrk="1" hangingPunct="1"/>
            <a:r>
              <a:rPr lang="en-US" smtClean="0"/>
              <a:t>Really pointer variables!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Standard array</a:t>
            </a:r>
          </a:p>
          <a:p>
            <a:pPr lvl="1" eaLnBrk="1" hangingPunct="1"/>
            <a:r>
              <a:rPr lang="en-US" smtClean="0"/>
              <a:t>Fixed size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Dynamic array</a:t>
            </a:r>
          </a:p>
          <a:p>
            <a:pPr lvl="1" eaLnBrk="1" hangingPunct="1"/>
            <a:r>
              <a:rPr lang="en-US" smtClean="0"/>
              <a:t>Size not specified at programming time</a:t>
            </a:r>
          </a:p>
          <a:p>
            <a:pPr lvl="1" eaLnBrk="1" hangingPunct="1"/>
            <a:r>
              <a:rPr lang="en-US" smtClean="0"/>
              <a:t>Determined while program running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B3D26F53-458A-4E15-B4F9-0166FB32C04B}" type="slidenum">
              <a:rPr lang="en-US"/>
              <a:pPr>
                <a:defRPr/>
              </a:pPr>
              <a:t>32</a:t>
            </a:fld>
            <a:endParaRPr lang="en-US"/>
          </a:p>
        </p:txBody>
      </p:sp>
      <p:sp>
        <p:nvSpPr>
          <p:cNvPr id="7782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Array Variables</a:t>
            </a:r>
          </a:p>
        </p:txBody>
      </p:sp>
      <p:sp>
        <p:nvSpPr>
          <p:cNvPr id="798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Recall: arrays stored in memory</a:t>
            </a:r>
            <a:br>
              <a:rPr lang="en-US" sz="2800" smtClean="0"/>
            </a:br>
            <a:r>
              <a:rPr lang="en-US" sz="2800" smtClean="0"/>
              <a:t>addresses, sequentially</a:t>
            </a:r>
          </a:p>
          <a:p>
            <a:pPr lvl="1" eaLnBrk="1" hangingPunct="1"/>
            <a:r>
              <a:rPr lang="en-US" sz="2400" smtClean="0"/>
              <a:t>Array variable "refers to" first indexed variable</a:t>
            </a:r>
          </a:p>
          <a:p>
            <a:pPr lvl="1" eaLnBrk="1" hangingPunct="1"/>
            <a:r>
              <a:rPr lang="en-US" sz="2400" smtClean="0"/>
              <a:t>So array variable is a kind of pointer variable!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Example:</a:t>
            </a:r>
            <a:br>
              <a:rPr lang="en-US" sz="2800" smtClean="0"/>
            </a:br>
            <a:r>
              <a:rPr lang="en-US" sz="2800" smtClean="0"/>
              <a:t>int a[10];</a:t>
            </a:r>
            <a:br>
              <a:rPr lang="en-US" sz="2800" smtClean="0"/>
            </a:br>
            <a:r>
              <a:rPr lang="en-US" sz="2800" smtClean="0"/>
              <a:t>int * p;</a:t>
            </a:r>
          </a:p>
          <a:p>
            <a:pPr lvl="1" eaLnBrk="1" hangingPunct="1"/>
            <a:r>
              <a:rPr lang="en-US" sz="2400" smtClean="0"/>
              <a:t>a and p are both pointer variables!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08C55A56-80D5-4908-8C1B-4AD4317B4974}" type="slidenum">
              <a:rPr lang="en-US"/>
              <a:pPr>
                <a:defRPr/>
              </a:pPr>
              <a:t>33</a:t>
            </a:fld>
            <a:endParaRPr lang="en-US"/>
          </a:p>
        </p:txBody>
      </p:sp>
      <p:sp>
        <p:nvSpPr>
          <p:cNvPr id="7987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Array Variables </a:t>
            </a:r>
            <a:r>
              <a:rPr lang="en-US" smtClean="0">
                <a:sym typeface="Wingdings" pitchFamily="2" charset="2"/>
              </a:rPr>
              <a:t></a:t>
            </a:r>
            <a:r>
              <a:rPr lang="en-US" smtClean="0"/>
              <a:t> Pointers</a:t>
            </a:r>
          </a:p>
        </p:txBody>
      </p:sp>
      <p:sp>
        <p:nvSpPr>
          <p:cNvPr id="819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888" y="1524000"/>
            <a:ext cx="7815262" cy="46878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mtClean="0"/>
              <a:t>Recall previous example:</a:t>
            </a:r>
            <a:br>
              <a:rPr lang="en-US" smtClean="0"/>
            </a:br>
            <a:r>
              <a:rPr lang="en-US" sz="2400" smtClean="0"/>
              <a:t>int a[10];</a:t>
            </a:r>
            <a:br>
              <a:rPr lang="en-US" sz="2400" smtClean="0"/>
            </a:br>
            <a:r>
              <a:rPr lang="en-US" sz="2400" smtClean="0"/>
              <a:t>typedef int* IntPtr;</a:t>
            </a:r>
            <a:br>
              <a:rPr lang="en-US" sz="2400" smtClean="0"/>
            </a:br>
            <a:r>
              <a:rPr lang="en-US" sz="2400" smtClean="0"/>
              <a:t>IntPtr p;</a:t>
            </a:r>
          </a:p>
          <a:p>
            <a:pPr eaLnBrk="1" hangingPunct="1">
              <a:lnSpc>
                <a:spcPct val="90000"/>
              </a:lnSpc>
              <a:spcBef>
                <a:spcPct val="35000"/>
              </a:spcBef>
            </a:pPr>
            <a:r>
              <a:rPr lang="en-US" smtClean="0"/>
              <a:t>a and p are pointer variables</a:t>
            </a:r>
          </a:p>
          <a:p>
            <a:pPr lvl="1"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mtClean="0"/>
              <a:t>Can perform assignments:</a:t>
            </a:r>
            <a:br>
              <a:rPr lang="en-US" smtClean="0"/>
            </a:br>
            <a:r>
              <a:rPr lang="en-US" smtClean="0"/>
              <a:t>p = a;	// Legal.</a:t>
            </a:r>
          </a:p>
          <a:p>
            <a:pPr lvl="2"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mtClean="0"/>
              <a:t>p now points where a points</a:t>
            </a:r>
          </a:p>
          <a:p>
            <a:pPr lvl="3"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mtClean="0"/>
              <a:t>To first indexed variable of array a</a:t>
            </a:r>
          </a:p>
          <a:p>
            <a:pPr lvl="1"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mtClean="0"/>
              <a:t>a = p;	// ILLEGAL!</a:t>
            </a:r>
          </a:p>
          <a:p>
            <a:pPr lvl="2"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mtClean="0"/>
              <a:t>Array pointer is CONSTANT pointer!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A82A34DF-C1A5-4484-9ABD-F6ECFF542FC7}" type="slidenum">
              <a:rPr lang="en-US"/>
              <a:pPr>
                <a:defRPr/>
              </a:pPr>
              <a:t>34</a:t>
            </a:fld>
            <a:endParaRPr lang="en-US"/>
          </a:p>
        </p:txBody>
      </p:sp>
      <p:sp>
        <p:nvSpPr>
          <p:cNvPr id="8192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Array Variables </a:t>
            </a:r>
            <a:r>
              <a:rPr lang="en-US" smtClean="0">
                <a:sym typeface="Wingdings" pitchFamily="2" charset="2"/>
              </a:rPr>
              <a:t></a:t>
            </a:r>
            <a:r>
              <a:rPr lang="en-US" smtClean="0"/>
              <a:t> Pointers</a:t>
            </a:r>
          </a:p>
        </p:txBody>
      </p:sp>
      <p:sp>
        <p:nvSpPr>
          <p:cNvPr id="839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Array variable</a:t>
            </a:r>
            <a:br>
              <a:rPr lang="en-US" sz="2800" smtClean="0"/>
            </a:br>
            <a:r>
              <a:rPr lang="en-US" sz="2800" smtClean="0"/>
              <a:t>int a[10];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MORE than a pointer variable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"const int *" type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Array was allocated in memory already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Variable </a:t>
            </a:r>
            <a:r>
              <a:rPr lang="en-US" sz="2400" i="1" smtClean="0"/>
              <a:t>a</a:t>
            </a:r>
            <a:r>
              <a:rPr lang="en-US" sz="2400" smtClean="0"/>
              <a:t> MUST point there…always!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Cannot be changed!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In contrast to ordinary pointers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Which can (&amp; typically do) change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A4D920B7-BADC-4EE4-A3E4-3045D2BAC8FB}" type="slidenum">
              <a:rPr lang="en-US"/>
              <a:pPr>
                <a:defRPr/>
              </a:pPr>
              <a:t>35</a:t>
            </a:fld>
            <a:endParaRPr lang="en-US"/>
          </a:p>
        </p:txBody>
      </p:sp>
      <p:sp>
        <p:nvSpPr>
          <p:cNvPr id="8397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Dynamic Arrays</a:t>
            </a:r>
          </a:p>
        </p:txBody>
      </p:sp>
      <p:sp>
        <p:nvSpPr>
          <p:cNvPr id="860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888" y="1600200"/>
            <a:ext cx="7815262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Array limitations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Must specify size first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May not know until program runs!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Must "estimate" maximum size needed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Sometimes OK, sometimes not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"Wastes" memory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Dynamic arrays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Can grow and shrink as needed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0B30DBBE-5120-49F4-955D-233D3C51752E}" type="slidenum">
              <a:rPr lang="en-US"/>
              <a:pPr>
                <a:defRPr/>
              </a:pPr>
              <a:t>36</a:t>
            </a:fld>
            <a:endParaRPr lang="en-US"/>
          </a:p>
        </p:txBody>
      </p:sp>
      <p:sp>
        <p:nvSpPr>
          <p:cNvPr id="8602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Creating Dynamic Arrays</a:t>
            </a:r>
          </a:p>
        </p:txBody>
      </p:sp>
      <p:sp>
        <p:nvSpPr>
          <p:cNvPr id="880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Very simple!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Use new operator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Dynamically allocate with pointer variable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Treat like standard arrays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Example:</a:t>
            </a:r>
            <a:br>
              <a:rPr lang="en-US" sz="2800" smtClean="0"/>
            </a:br>
            <a:r>
              <a:rPr lang="en-US" sz="2400" smtClean="0"/>
              <a:t>typedef double * DoublePtr;</a:t>
            </a:r>
            <a:br>
              <a:rPr lang="en-US" sz="2400" smtClean="0"/>
            </a:br>
            <a:r>
              <a:rPr lang="en-US" sz="2400" smtClean="0"/>
              <a:t>DoublePtr d;</a:t>
            </a:r>
            <a:br>
              <a:rPr lang="en-US" sz="2400" smtClean="0"/>
            </a:br>
            <a:r>
              <a:rPr lang="en-US" sz="2400" smtClean="0"/>
              <a:t>d = new double[10];    //Size in brackets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Creates dynamically allocated array variable </a:t>
            </a:r>
            <a:r>
              <a:rPr lang="en-US" sz="2400" i="1" smtClean="0"/>
              <a:t>d</a:t>
            </a:r>
            <a:r>
              <a:rPr lang="en-US" sz="2400" smtClean="0"/>
              <a:t>,</a:t>
            </a:r>
            <a:br>
              <a:rPr lang="en-US" sz="2400" smtClean="0"/>
            </a:br>
            <a:r>
              <a:rPr lang="en-US" sz="2400" smtClean="0"/>
              <a:t>with ten elements, base type double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5D43CA41-0E3C-4B0C-8432-44BAA2E26C01}" type="slidenum">
              <a:rPr lang="en-US"/>
              <a:pPr>
                <a:defRPr/>
              </a:pPr>
              <a:t>37</a:t>
            </a:fld>
            <a:endParaRPr lang="en-US"/>
          </a:p>
        </p:txBody>
      </p:sp>
      <p:sp>
        <p:nvSpPr>
          <p:cNvPr id="8806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Deleting Dynamic Arrays</a:t>
            </a:r>
          </a:p>
        </p:txBody>
      </p:sp>
      <p:sp>
        <p:nvSpPr>
          <p:cNvPr id="901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Allocated dynamically at run-time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So should be destroyed at run-time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Simple again.  Recall Example:</a:t>
            </a:r>
            <a:br>
              <a:rPr lang="en-US" sz="2800" smtClean="0"/>
            </a:br>
            <a:r>
              <a:rPr lang="en-US" sz="2400" smtClean="0"/>
              <a:t>d = new double[10];</a:t>
            </a:r>
            <a:br>
              <a:rPr lang="en-US" sz="2400" smtClean="0"/>
            </a:br>
            <a:r>
              <a:rPr lang="en-US" sz="2400" smtClean="0"/>
              <a:t>… //Processing</a:t>
            </a:r>
            <a:br>
              <a:rPr lang="en-US" sz="2400" smtClean="0"/>
            </a:br>
            <a:r>
              <a:rPr lang="en-US" sz="2400" smtClean="0"/>
              <a:t>delete [] d;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De-allocates all memory for dynamic array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Brackets indicate "array" is there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Recall: </a:t>
            </a:r>
            <a:r>
              <a:rPr lang="en-US" sz="2400" i="1" smtClean="0"/>
              <a:t>d</a:t>
            </a:r>
            <a:r>
              <a:rPr lang="en-US" sz="2400" smtClean="0"/>
              <a:t> still points there!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Should set d = NULL;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ABF3744D-02B3-4B99-9B2B-7F5B385515BC}" type="slidenum">
              <a:rPr lang="en-US"/>
              <a:pPr>
                <a:defRPr/>
              </a:pPr>
              <a:t>38</a:t>
            </a:fld>
            <a:endParaRPr lang="en-US"/>
          </a:p>
        </p:txBody>
      </p:sp>
      <p:sp>
        <p:nvSpPr>
          <p:cNvPr id="9011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Function that Returns an Array</a:t>
            </a:r>
          </a:p>
        </p:txBody>
      </p:sp>
      <p:sp>
        <p:nvSpPr>
          <p:cNvPr id="921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Array type NOT allowed as return-type </a:t>
            </a:r>
            <a:br>
              <a:rPr lang="en-US" sz="2800" smtClean="0"/>
            </a:br>
            <a:r>
              <a:rPr lang="en-US" sz="2800" smtClean="0"/>
              <a:t>of function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Example:</a:t>
            </a:r>
            <a:br>
              <a:rPr lang="en-US" sz="2800" smtClean="0"/>
            </a:br>
            <a:r>
              <a:rPr lang="en-US" sz="2800" smtClean="0"/>
              <a:t>int [] someFunction();   // ILLEGAL!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Instead return pointer to array base type:</a:t>
            </a:r>
            <a:br>
              <a:rPr lang="en-US" sz="2800" smtClean="0"/>
            </a:br>
            <a:r>
              <a:rPr lang="en-US" sz="2800" smtClean="0"/>
              <a:t>int* someFunction();  // LEGAL!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B898ACDE-D7C3-4100-B216-07F131845F24}" type="slidenum">
              <a:rPr lang="en-US"/>
              <a:pPr>
                <a:defRPr/>
              </a:pPr>
              <a:t>39</a:t>
            </a:fld>
            <a:endParaRPr lang="en-US"/>
          </a:p>
        </p:txBody>
      </p:sp>
      <p:sp>
        <p:nvSpPr>
          <p:cNvPr id="9216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Pointer Arithmetic</a:t>
            </a:r>
          </a:p>
        </p:txBody>
      </p:sp>
      <p:sp>
        <p:nvSpPr>
          <p:cNvPr id="942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Can perform arithmetic on pointers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"Address" arithmetic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Example:</a:t>
            </a:r>
            <a:br>
              <a:rPr lang="en-US" sz="2800" smtClean="0"/>
            </a:br>
            <a:r>
              <a:rPr lang="en-US" sz="2400" smtClean="0"/>
              <a:t>typedef double* DoublePtr;</a:t>
            </a:r>
            <a:br>
              <a:rPr lang="en-US" sz="2400" smtClean="0"/>
            </a:br>
            <a:r>
              <a:rPr lang="en-US" sz="2400" smtClean="0"/>
              <a:t>DoublePtr d;</a:t>
            </a:r>
            <a:br>
              <a:rPr lang="en-US" sz="2400" smtClean="0"/>
            </a:br>
            <a:r>
              <a:rPr lang="en-US" sz="2400" smtClean="0"/>
              <a:t>d = new double[10];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d contains address of d[0]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d + 1 evaluates to address of d[1]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d + 2 evaluates to address of d[2]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Equates to "address" at these locations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A48DB18E-4635-45A7-96DB-A8DB8325221B}" type="slidenum">
              <a:rPr lang="en-US"/>
              <a:pPr>
                <a:defRPr/>
              </a:pPr>
              <a:t>40</a:t>
            </a:fld>
            <a:endParaRPr lang="en-US"/>
          </a:p>
        </p:txBody>
      </p:sp>
      <p:sp>
        <p:nvSpPr>
          <p:cNvPr id="9421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Alternative Array Manipulation</a:t>
            </a:r>
          </a:p>
        </p:txBody>
      </p:sp>
      <p:sp>
        <p:nvSpPr>
          <p:cNvPr id="962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888" y="1504950"/>
            <a:ext cx="7815262" cy="47640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Use pointer arithmetic!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"Step thru" array  without indexing:</a:t>
            </a:r>
            <a:br>
              <a:rPr lang="en-US" sz="2800" smtClean="0"/>
            </a:br>
            <a:r>
              <a:rPr lang="en-US" sz="2400" smtClean="0"/>
              <a:t>for (int i = 0; i &lt; arraySize; i++)</a:t>
            </a:r>
            <a:br>
              <a:rPr lang="en-US" sz="2400" smtClean="0"/>
            </a:br>
            <a:r>
              <a:rPr lang="en-US" sz="2400" smtClean="0"/>
              <a:t>	cout &lt;&lt; *(d + I) &lt;&lt; " " ;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Equivalent to:</a:t>
            </a:r>
            <a:br>
              <a:rPr lang="en-US" sz="2800" smtClean="0"/>
            </a:br>
            <a:r>
              <a:rPr lang="en-US" sz="2400" smtClean="0"/>
              <a:t>for (int i = 0; i &lt; arraySize; i++)</a:t>
            </a:r>
            <a:br>
              <a:rPr lang="en-US" sz="2400" smtClean="0"/>
            </a:br>
            <a:r>
              <a:rPr lang="en-US" sz="2400" smtClean="0"/>
              <a:t>	cout &lt;&lt; d[I] &lt;&lt; " " ;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Only addition/subtraction on pointers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No multiplication, division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Can use ++ and -- on pointers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D0343B50-8094-4025-9156-548FE295249F}" type="slidenum">
              <a:rPr lang="en-US"/>
              <a:pPr>
                <a:defRPr/>
              </a:pPr>
              <a:t>41</a:t>
            </a:fld>
            <a:endParaRPr lang="en-US"/>
          </a:p>
        </p:txBody>
      </p:sp>
      <p:sp>
        <p:nvSpPr>
          <p:cNvPr id="9626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Multidimensional Dynamic Arrays</a:t>
            </a:r>
          </a:p>
        </p:txBody>
      </p:sp>
      <p:sp>
        <p:nvSpPr>
          <p:cNvPr id="983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888" y="1504950"/>
            <a:ext cx="7815262" cy="47259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Yes we can!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Recall: "arrays of arrays"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Type definitions help "see it":</a:t>
            </a:r>
            <a:br>
              <a:rPr lang="en-US" sz="2800" smtClean="0"/>
            </a:br>
            <a:r>
              <a:rPr lang="en-US" sz="2400" smtClean="0"/>
              <a:t>typedef int* IntArrayPtr;</a:t>
            </a:r>
            <a:br>
              <a:rPr lang="en-US" sz="2400" smtClean="0"/>
            </a:br>
            <a:r>
              <a:rPr lang="en-US" sz="2400" smtClean="0"/>
              <a:t>IntArrayPtr *m = new IntArrayPtr[3];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Creates array of three pointers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Make each allocate array of 4 ints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for (int i = 0; i &lt; 3; i++)</a:t>
            </a:r>
            <a:br>
              <a:rPr lang="en-US" sz="2800" smtClean="0"/>
            </a:br>
            <a:r>
              <a:rPr lang="en-US" sz="2800" smtClean="0"/>
              <a:t>	m[i] = new int[4];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Results in three-by-four dynamic array!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C605646F-10E1-4670-84B7-3B2093F6D339}" type="slidenum">
              <a:rPr lang="en-US"/>
              <a:pPr>
                <a:defRPr/>
              </a:pPr>
              <a:t>42</a:t>
            </a:fld>
            <a:endParaRPr lang="en-US"/>
          </a:p>
        </p:txBody>
      </p:sp>
      <p:sp>
        <p:nvSpPr>
          <p:cNvPr id="9830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Back to Classes</a:t>
            </a:r>
          </a:p>
        </p:txBody>
      </p:sp>
      <p:sp>
        <p:nvSpPr>
          <p:cNvPr id="1003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888" y="1387475"/>
            <a:ext cx="7815262" cy="46497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The -&gt; operator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Shorthand notation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smtClean="0"/>
              <a:t>Combines dereference operator, *, and</a:t>
            </a:r>
            <a:br>
              <a:rPr lang="en-US" sz="2800" smtClean="0"/>
            </a:br>
            <a:r>
              <a:rPr lang="en-US" sz="2800" smtClean="0"/>
              <a:t>dot operator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smtClean="0"/>
              <a:t>Specifies member of class "pointed to"</a:t>
            </a:r>
            <a:br>
              <a:rPr lang="en-US" sz="2800" smtClean="0"/>
            </a:br>
            <a:r>
              <a:rPr lang="en-US" sz="2800" smtClean="0"/>
              <a:t>by given pointer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smtClean="0"/>
              <a:t>Example:</a:t>
            </a:r>
            <a:br>
              <a:rPr lang="en-US" sz="2800" smtClean="0"/>
            </a:br>
            <a:r>
              <a:rPr lang="en-US" sz="2400" smtClean="0"/>
              <a:t>MyClass *p;</a:t>
            </a:r>
            <a:br>
              <a:rPr lang="en-US" sz="2400" smtClean="0"/>
            </a:br>
            <a:r>
              <a:rPr lang="en-US" sz="2400" smtClean="0"/>
              <a:t>p = new MyClass;</a:t>
            </a:r>
            <a:br>
              <a:rPr lang="en-US" sz="2400" smtClean="0"/>
            </a:br>
            <a:r>
              <a:rPr lang="en-US" sz="2400" smtClean="0"/>
              <a:t>p-&gt;grade = "A";   Equivalent to:</a:t>
            </a:r>
            <a:br>
              <a:rPr lang="en-US" sz="2400" smtClean="0"/>
            </a:br>
            <a:r>
              <a:rPr lang="en-US" sz="2400" smtClean="0"/>
              <a:t>(*p).grade = "A";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AB05E6A2-1639-4978-A876-3C71A502F649}" type="slidenum">
              <a:rPr lang="en-US"/>
              <a:pPr>
                <a:defRPr/>
              </a:pPr>
              <a:t>43</a:t>
            </a:fld>
            <a:endParaRPr lang="en-US"/>
          </a:p>
        </p:txBody>
      </p:sp>
      <p:sp>
        <p:nvSpPr>
          <p:cNvPr id="10035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this Pointer</a:t>
            </a:r>
          </a:p>
        </p:txBody>
      </p:sp>
      <p:sp>
        <p:nvSpPr>
          <p:cNvPr id="1024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888" y="1349375"/>
            <a:ext cx="7815262" cy="46878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z="2800" smtClean="0"/>
              <a:t>Member function definitions might need to refer to calling object</a:t>
            </a:r>
          </a:p>
          <a:p>
            <a:pPr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z="2800" smtClean="0"/>
              <a:t>Use predefined </a:t>
            </a:r>
            <a:r>
              <a:rPr lang="en-US" sz="2800" i="1" smtClean="0"/>
              <a:t>this</a:t>
            </a:r>
            <a:r>
              <a:rPr lang="en-US" sz="2800" smtClean="0"/>
              <a:t> pointer </a:t>
            </a:r>
          </a:p>
          <a:p>
            <a:pPr lvl="1"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z="2400" smtClean="0"/>
              <a:t>Automatically points to calling object:</a:t>
            </a:r>
            <a:br>
              <a:rPr lang="en-US" sz="2400" smtClean="0"/>
            </a:br>
            <a:r>
              <a:rPr lang="en-US" sz="2000" smtClean="0"/>
              <a:t>Class Simple</a:t>
            </a:r>
            <a:br>
              <a:rPr lang="en-US" sz="2000" smtClean="0"/>
            </a:br>
            <a:r>
              <a:rPr lang="en-US" sz="2000" smtClean="0"/>
              <a:t>{</a:t>
            </a:r>
            <a:br>
              <a:rPr lang="en-US" sz="2000" smtClean="0"/>
            </a:br>
            <a:r>
              <a:rPr lang="en-US" sz="2000" smtClean="0"/>
              <a:t>public:</a:t>
            </a:r>
            <a:br>
              <a:rPr lang="en-US" sz="2000" smtClean="0"/>
            </a:br>
            <a:r>
              <a:rPr lang="en-US" sz="2000" smtClean="0"/>
              <a:t>	void showStuff() const;</a:t>
            </a:r>
            <a:br>
              <a:rPr lang="en-US" sz="2000" smtClean="0"/>
            </a:br>
            <a:r>
              <a:rPr lang="en-US" sz="2000" smtClean="0"/>
              <a:t>private:</a:t>
            </a:r>
            <a:br>
              <a:rPr lang="en-US" sz="2000" smtClean="0"/>
            </a:br>
            <a:r>
              <a:rPr lang="en-US" sz="2000" smtClean="0"/>
              <a:t>	int stuff;</a:t>
            </a:r>
            <a:br>
              <a:rPr lang="en-US" sz="2000" smtClean="0"/>
            </a:br>
            <a:r>
              <a:rPr lang="en-US" sz="2000" smtClean="0"/>
              <a:t>};</a:t>
            </a:r>
          </a:p>
          <a:p>
            <a:pPr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z="2800" smtClean="0"/>
              <a:t>Two ways for member functions to access:</a:t>
            </a:r>
            <a:br>
              <a:rPr lang="en-US" sz="2800" smtClean="0"/>
            </a:br>
            <a:r>
              <a:rPr lang="en-US" sz="2400" smtClean="0"/>
              <a:t>cout &lt;&lt; stuff;</a:t>
            </a:r>
            <a:br>
              <a:rPr lang="en-US" sz="2400" smtClean="0"/>
            </a:br>
            <a:r>
              <a:rPr lang="en-US" sz="2400" smtClean="0"/>
              <a:t>cout &lt;&lt; this-&gt;stuff;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947AC543-6EBC-440A-B32A-9ECC2DC97BE6}" type="slidenum">
              <a:rPr lang="en-US"/>
              <a:pPr>
                <a:defRPr/>
              </a:pPr>
              <a:t>44</a:t>
            </a:fld>
            <a:endParaRPr lang="en-US"/>
          </a:p>
        </p:txBody>
      </p:sp>
      <p:sp>
        <p:nvSpPr>
          <p:cNvPr id="10240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Overloading Assignment Operator</a:t>
            </a:r>
          </a:p>
        </p:txBody>
      </p:sp>
      <p:sp>
        <p:nvSpPr>
          <p:cNvPr id="1044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Assignment operator returns reference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So assignment "chains" are possible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e.g., a = b = c;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Sets a and b equal to c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Operator must return "same type" as it’s</a:t>
            </a:r>
            <a:br>
              <a:rPr lang="en-US" smtClean="0"/>
            </a:br>
            <a:r>
              <a:rPr lang="en-US" smtClean="0"/>
              <a:t>left-hand side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To allow chains to work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The </a:t>
            </a:r>
            <a:r>
              <a:rPr lang="en-US" i="1" smtClean="0"/>
              <a:t>this</a:t>
            </a:r>
            <a:r>
              <a:rPr lang="en-US" smtClean="0"/>
              <a:t> pointer will help with this!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8F14C2AB-CC77-4A4E-B82B-52762F916672}" type="slidenum">
              <a:rPr lang="en-US"/>
              <a:pPr>
                <a:defRPr/>
              </a:pPr>
              <a:t>45</a:t>
            </a:fld>
            <a:endParaRPr lang="en-US"/>
          </a:p>
        </p:txBody>
      </p:sp>
      <p:sp>
        <p:nvSpPr>
          <p:cNvPr id="10445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Overloading Assignment Operator</a:t>
            </a:r>
          </a:p>
        </p:txBody>
      </p:sp>
      <p:sp>
        <p:nvSpPr>
          <p:cNvPr id="1064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Recall: Assignment operator must be</a:t>
            </a:r>
            <a:br>
              <a:rPr lang="en-US" sz="2800" smtClean="0"/>
            </a:br>
            <a:r>
              <a:rPr lang="en-US" sz="2800" smtClean="0"/>
              <a:t>member of the class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It has one parameter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Left-operand is calling object</a:t>
            </a:r>
            <a:br>
              <a:rPr lang="en-US" sz="2400" smtClean="0"/>
            </a:br>
            <a:r>
              <a:rPr lang="en-US" sz="2400" smtClean="0"/>
              <a:t>s1 = s2;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Think of like: s1.=(s2);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s1 = s2 = s3;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Requires (s1 = s2) = s3;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So (s1 = s2) must return object of s1"s type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And pass to " = s3";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5FBB1CAA-49DA-4D9D-B3F1-4D4ECC199C60}" type="slidenum">
              <a:rPr lang="en-US"/>
              <a:pPr>
                <a:defRPr/>
              </a:pPr>
              <a:t>46</a:t>
            </a:fld>
            <a:endParaRPr lang="en-US"/>
          </a:p>
        </p:txBody>
      </p:sp>
      <p:sp>
        <p:nvSpPr>
          <p:cNvPr id="10650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Overloaded = Operator Definition</a:t>
            </a:r>
          </a:p>
        </p:txBody>
      </p:sp>
      <p:sp>
        <p:nvSpPr>
          <p:cNvPr id="1085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888" y="1427163"/>
            <a:ext cx="7815262" cy="47259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smtClean="0"/>
              <a:t>Uses string Class example:</a:t>
            </a:r>
            <a:br>
              <a:rPr lang="en-US" sz="2400" smtClean="0"/>
            </a:br>
            <a:r>
              <a:rPr lang="en-US" sz="2000" smtClean="0"/>
              <a:t>StringClass&amp; StringClass::operator=(const StringClass&amp; rtSide)</a:t>
            </a:r>
            <a:br>
              <a:rPr lang="en-US" sz="2000" smtClean="0"/>
            </a:br>
            <a:r>
              <a:rPr lang="en-US" sz="2000" smtClean="0"/>
              <a:t>{</a:t>
            </a:r>
            <a:br>
              <a:rPr lang="en-US" sz="2000" smtClean="0"/>
            </a:br>
            <a:r>
              <a:rPr lang="en-US" sz="2000" smtClean="0"/>
              <a:t>	if (this == &amp;rtSide)	// if right side same as left side</a:t>
            </a:r>
            <a:br>
              <a:rPr lang="en-US" sz="2000" smtClean="0"/>
            </a:br>
            <a:r>
              <a:rPr lang="en-US" sz="2000" smtClean="0"/>
              <a:t>		return *this;</a:t>
            </a:r>
            <a:br>
              <a:rPr lang="en-US" sz="2000" smtClean="0"/>
            </a:br>
            <a:r>
              <a:rPr lang="en-US" sz="2000" smtClean="0"/>
              <a:t>	else</a:t>
            </a:r>
            <a:br>
              <a:rPr lang="en-US" sz="2000" smtClean="0"/>
            </a:br>
            <a:r>
              <a:rPr lang="en-US" sz="2000" smtClean="0"/>
              <a:t>	{</a:t>
            </a:r>
            <a:br>
              <a:rPr lang="en-US" sz="2000" smtClean="0"/>
            </a:br>
            <a:r>
              <a:rPr lang="en-US" sz="2000" smtClean="0"/>
              <a:t>		capacity = rtSide.length;</a:t>
            </a:r>
            <a:br>
              <a:rPr lang="en-US" sz="2000" smtClean="0"/>
            </a:br>
            <a:r>
              <a:rPr lang="en-US" sz="2000" smtClean="0"/>
              <a:t>		length</a:t>
            </a:r>
            <a:br>
              <a:rPr lang="en-US" sz="2000" smtClean="0"/>
            </a:br>
            <a:r>
              <a:rPr lang="en-US" sz="2000" smtClean="0"/>
              <a:t>		length = rtSide.length;</a:t>
            </a:r>
            <a:br>
              <a:rPr lang="en-US" sz="2000" smtClean="0"/>
            </a:br>
            <a:r>
              <a:rPr lang="en-US" sz="2000" smtClean="0"/>
              <a:t>		delete [] a;</a:t>
            </a:r>
            <a:br>
              <a:rPr lang="en-US" sz="2000" smtClean="0"/>
            </a:br>
            <a:r>
              <a:rPr lang="en-US" sz="2000" smtClean="0"/>
              <a:t>		a = new char[capacity];</a:t>
            </a:r>
            <a:br>
              <a:rPr lang="en-US" sz="2000" smtClean="0"/>
            </a:br>
            <a:r>
              <a:rPr lang="en-US" sz="2000" smtClean="0"/>
              <a:t>		for (int I = 0; I &lt; length; I++)</a:t>
            </a:r>
            <a:br>
              <a:rPr lang="en-US" sz="2000" smtClean="0"/>
            </a:br>
            <a:r>
              <a:rPr lang="en-US" sz="2000" smtClean="0"/>
              <a:t>			a[I] = rtSide.a[I];</a:t>
            </a:r>
            <a:br>
              <a:rPr lang="en-US" sz="2000" smtClean="0"/>
            </a:br>
            <a:r>
              <a:rPr lang="en-US" sz="2000" smtClean="0"/>
              <a:t>		return *this;</a:t>
            </a:r>
            <a:br>
              <a:rPr lang="en-US" sz="2000" smtClean="0"/>
            </a:br>
            <a:r>
              <a:rPr lang="en-US" sz="2000" smtClean="0"/>
              <a:t>	}</a:t>
            </a:r>
            <a:br>
              <a:rPr lang="en-US" sz="2000" smtClean="0"/>
            </a:br>
            <a:r>
              <a:rPr lang="en-US" sz="2000" smtClean="0"/>
              <a:t>}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C7B9BEA0-92B2-4F41-B4AB-C31942FED553}" type="slidenum">
              <a:rPr lang="en-US"/>
              <a:pPr>
                <a:defRPr/>
              </a:pPr>
              <a:t>47</a:t>
            </a:fld>
            <a:endParaRPr lang="en-US"/>
          </a:p>
        </p:txBody>
      </p:sp>
      <p:sp>
        <p:nvSpPr>
          <p:cNvPr id="10854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Shallow and Deep Copies</a:t>
            </a:r>
          </a:p>
        </p:txBody>
      </p:sp>
      <p:sp>
        <p:nvSpPr>
          <p:cNvPr id="1105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Shallow copy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Assignment copies only member variable</a:t>
            </a:r>
            <a:br>
              <a:rPr lang="en-US" sz="2400" smtClean="0"/>
            </a:br>
            <a:r>
              <a:rPr lang="en-US" sz="2400" smtClean="0"/>
              <a:t>contents over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Default assignment and copy constructors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Deep copy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Pointers, dynamic memory involved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Must dereference pointer variables to</a:t>
            </a:r>
            <a:br>
              <a:rPr lang="en-US" sz="2400" smtClean="0"/>
            </a:br>
            <a:r>
              <a:rPr lang="en-US" sz="2400" smtClean="0"/>
              <a:t>"get to" data for copying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Write your own assignment overload and</a:t>
            </a:r>
            <a:br>
              <a:rPr lang="en-US" sz="2400" smtClean="0"/>
            </a:br>
            <a:r>
              <a:rPr lang="en-US" sz="2400" smtClean="0"/>
              <a:t>copy constructor in this case!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69894E18-08FA-46A6-ADEA-529CF89ED67B}" type="slidenum">
              <a:rPr lang="en-US"/>
              <a:pPr>
                <a:defRPr/>
              </a:pPr>
              <a:t>48</a:t>
            </a:fld>
            <a:endParaRPr lang="en-US"/>
          </a:p>
        </p:txBody>
      </p:sp>
      <p:sp>
        <p:nvSpPr>
          <p:cNvPr id="11059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Destructor Need</a:t>
            </a:r>
          </a:p>
        </p:txBody>
      </p:sp>
      <p:sp>
        <p:nvSpPr>
          <p:cNvPr id="1126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Dynamically-allocated variables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Do not go away until "deleted"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If pointers are only private member data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They dynamically allocate "real" data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In constructor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Must have means to "deallocate" when</a:t>
            </a:r>
            <a:br>
              <a:rPr lang="en-US" smtClean="0"/>
            </a:br>
            <a:r>
              <a:rPr lang="en-US" smtClean="0"/>
              <a:t>object is destroyed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Answer: destructor!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847B86BA-2C0D-4C17-9E16-25B54F24DC11}" type="slidenum">
              <a:rPr lang="en-US"/>
              <a:pPr>
                <a:defRPr/>
              </a:pPr>
              <a:t>49</a:t>
            </a:fld>
            <a:endParaRPr lang="en-US"/>
          </a:p>
        </p:txBody>
      </p:sp>
      <p:sp>
        <p:nvSpPr>
          <p:cNvPr id="11264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Destructors</a:t>
            </a:r>
          </a:p>
        </p:txBody>
      </p:sp>
      <p:sp>
        <p:nvSpPr>
          <p:cNvPr id="1146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Opposite of constructor</a:t>
            </a:r>
          </a:p>
          <a:p>
            <a:pPr lvl="1" eaLnBrk="1" hangingPunct="1"/>
            <a:r>
              <a:rPr lang="en-US" sz="2400" smtClean="0"/>
              <a:t>Automatically called when object is out-of-scope</a:t>
            </a:r>
          </a:p>
          <a:p>
            <a:pPr lvl="1" eaLnBrk="1" hangingPunct="1"/>
            <a:r>
              <a:rPr lang="en-US" sz="2400" smtClean="0"/>
              <a:t>Default version only removes ordinary</a:t>
            </a:r>
            <a:br>
              <a:rPr lang="en-US" sz="2400" smtClean="0"/>
            </a:br>
            <a:r>
              <a:rPr lang="en-US" sz="2400" smtClean="0"/>
              <a:t>variables, not dynamic variables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Defined like constructor, just add ~</a:t>
            </a:r>
          </a:p>
          <a:p>
            <a:pPr lvl="1" eaLnBrk="1" hangingPunct="1"/>
            <a:r>
              <a:rPr lang="en-US" sz="2400" smtClean="0"/>
              <a:t>MyClass::~MyClass()</a:t>
            </a:r>
            <a:br>
              <a:rPr lang="en-US" sz="2400" smtClean="0"/>
            </a:br>
            <a:r>
              <a:rPr lang="en-US" sz="2400" smtClean="0"/>
              <a:t>{</a:t>
            </a:r>
            <a:br>
              <a:rPr lang="en-US" sz="2400" smtClean="0"/>
            </a:br>
            <a:r>
              <a:rPr lang="en-US" sz="2400" smtClean="0"/>
              <a:t>	//Perform delete clean-up duties</a:t>
            </a:r>
            <a:br>
              <a:rPr lang="en-US" sz="2400" smtClean="0"/>
            </a:br>
            <a:r>
              <a:rPr lang="en-US" sz="2400" smtClean="0"/>
              <a:t>}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E2BE56A3-2BAE-4BF3-9D7B-E1560470FE85}" type="slidenum">
              <a:rPr lang="en-US"/>
              <a:pPr>
                <a:defRPr/>
              </a:pPr>
              <a:t>50</a:t>
            </a:fld>
            <a:endParaRPr lang="en-US"/>
          </a:p>
        </p:txBody>
      </p:sp>
      <p:sp>
        <p:nvSpPr>
          <p:cNvPr id="11469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Copy Constructors</a:t>
            </a:r>
          </a:p>
        </p:txBody>
      </p:sp>
      <p:sp>
        <p:nvSpPr>
          <p:cNvPr id="1167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 eaLnBrk="1" hangingPunct="1"/>
            <a:r>
              <a:rPr lang="en-US" sz="2400" smtClean="0"/>
              <a:t>Automatically called when:</a:t>
            </a:r>
          </a:p>
          <a:p>
            <a:pPr marL="914400" lvl="1" indent="-457200" eaLnBrk="1" hangingPunct="1">
              <a:buFont typeface="Times" pitchFamily="18" charset="0"/>
              <a:buAutoNum type="arabicPeriod"/>
            </a:pPr>
            <a:r>
              <a:rPr lang="en-US" sz="2000" smtClean="0"/>
              <a:t>Class object declared and initialized to other object</a:t>
            </a:r>
          </a:p>
          <a:p>
            <a:pPr marL="914400" lvl="1" indent="-457200" eaLnBrk="1" hangingPunct="1">
              <a:buFont typeface="Times" pitchFamily="18" charset="0"/>
              <a:buAutoNum type="arabicPeriod"/>
            </a:pPr>
            <a:r>
              <a:rPr lang="en-US" sz="2000" smtClean="0"/>
              <a:t>When function returns class type object</a:t>
            </a:r>
          </a:p>
          <a:p>
            <a:pPr marL="914400" lvl="1" indent="-457200" eaLnBrk="1" hangingPunct="1">
              <a:buFont typeface="Times" pitchFamily="18" charset="0"/>
              <a:buAutoNum type="arabicPeriod"/>
            </a:pPr>
            <a:r>
              <a:rPr lang="en-US" sz="2000" smtClean="0"/>
              <a:t>When argument of class type is "plugged in"</a:t>
            </a:r>
            <a:br>
              <a:rPr lang="en-US" sz="2000" smtClean="0"/>
            </a:br>
            <a:r>
              <a:rPr lang="en-US" sz="2000" smtClean="0"/>
              <a:t>as actual argument to call-by-value parameter</a:t>
            </a:r>
          </a:p>
          <a:p>
            <a:pPr marL="533400" indent="-533400" eaLnBrk="1" hangingPunct="1">
              <a:spcBef>
                <a:spcPct val="50000"/>
              </a:spcBef>
            </a:pPr>
            <a:r>
              <a:rPr lang="en-US" sz="2400" smtClean="0"/>
              <a:t>Requires "temporary copy" of object</a:t>
            </a:r>
          </a:p>
          <a:p>
            <a:pPr marL="914400" lvl="1" indent="-457200" eaLnBrk="1" hangingPunct="1"/>
            <a:r>
              <a:rPr lang="en-US" sz="2000" smtClean="0"/>
              <a:t>Copy constructor creates it</a:t>
            </a:r>
          </a:p>
          <a:p>
            <a:pPr marL="533400" indent="-533400" eaLnBrk="1" hangingPunct="1">
              <a:spcBef>
                <a:spcPct val="50000"/>
              </a:spcBef>
            </a:pPr>
            <a:r>
              <a:rPr lang="en-US" sz="2400" smtClean="0"/>
              <a:t>Default copy constructor</a:t>
            </a:r>
          </a:p>
          <a:p>
            <a:pPr marL="914400" lvl="1" indent="-457200" eaLnBrk="1" hangingPunct="1"/>
            <a:r>
              <a:rPr lang="en-US" sz="2000" smtClean="0"/>
              <a:t>Like default "=", performs member-wise copy</a:t>
            </a:r>
          </a:p>
          <a:p>
            <a:pPr marL="533400" indent="-533400" eaLnBrk="1" hangingPunct="1">
              <a:spcBef>
                <a:spcPct val="50000"/>
              </a:spcBef>
            </a:pPr>
            <a:r>
              <a:rPr lang="en-US" sz="2400" smtClean="0"/>
              <a:t>Pointers </a:t>
            </a:r>
            <a:r>
              <a:rPr lang="en-US" sz="2400" smtClean="0">
                <a:sym typeface="Wingdings" pitchFamily="2" charset="2"/>
              </a:rPr>
              <a:t></a:t>
            </a:r>
            <a:r>
              <a:rPr lang="en-US" sz="2400" smtClean="0"/>
              <a:t> write own copy constructor!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B263716E-7996-4AB6-AC0B-33A302E75506}" type="slidenum">
              <a:rPr lang="en-US"/>
              <a:pPr>
                <a:defRPr/>
              </a:pPr>
              <a:t>51</a:t>
            </a:fld>
            <a:endParaRPr lang="en-US"/>
          </a:p>
        </p:txBody>
      </p:sp>
      <p:sp>
        <p:nvSpPr>
          <p:cNvPr id="11674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Summary 1</a:t>
            </a:r>
          </a:p>
        </p:txBody>
      </p:sp>
      <p:sp>
        <p:nvSpPr>
          <p:cNvPr id="1187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Pointer is memory address</a:t>
            </a:r>
          </a:p>
          <a:p>
            <a:pPr lvl="1" eaLnBrk="1" hangingPunct="1"/>
            <a:r>
              <a:rPr lang="en-US" sz="2400" smtClean="0"/>
              <a:t>Provides indirect reference to variable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Dynamic variables</a:t>
            </a:r>
          </a:p>
          <a:p>
            <a:pPr lvl="1" eaLnBrk="1" hangingPunct="1"/>
            <a:r>
              <a:rPr lang="en-US" sz="2400" smtClean="0"/>
              <a:t>Created and destroyed while program runs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Freestore</a:t>
            </a:r>
          </a:p>
          <a:p>
            <a:pPr lvl="1" eaLnBrk="1" hangingPunct="1"/>
            <a:r>
              <a:rPr lang="en-US" sz="2400" smtClean="0"/>
              <a:t>Memory storage for dynamic variables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Dynamically allocated arrays</a:t>
            </a:r>
          </a:p>
          <a:p>
            <a:pPr lvl="1" eaLnBrk="1" hangingPunct="1"/>
            <a:r>
              <a:rPr lang="en-US" sz="2400" smtClean="0"/>
              <a:t>Size determined as program runs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FD3D4639-82DE-4A91-BE0A-1779CE1A9A73}" type="slidenum">
              <a:rPr lang="en-US"/>
              <a:pPr>
                <a:defRPr/>
              </a:pPr>
              <a:t>52</a:t>
            </a:fld>
            <a:endParaRPr lang="en-US"/>
          </a:p>
        </p:txBody>
      </p:sp>
      <p:sp>
        <p:nvSpPr>
          <p:cNvPr id="11878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Summary 2</a:t>
            </a:r>
          </a:p>
        </p:txBody>
      </p:sp>
      <p:sp>
        <p:nvSpPr>
          <p:cNvPr id="1208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Class destructor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Special member function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Automatically destroys objects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Copy constructor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Single argument member function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Called automatically when temp copy needed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Assignment operator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Must be overloaded as member function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Returns reference for chaining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10-</a:t>
            </a:r>
            <a:fld id="{D040CC5A-1FC3-4099-81B3-7F1C2A454097}" type="slidenum">
              <a:rPr lang="en-US"/>
              <a:pPr>
                <a:defRPr/>
              </a:pPr>
              <a:t>53</a:t>
            </a:fld>
            <a:endParaRPr lang="en-US"/>
          </a:p>
        </p:txBody>
      </p:sp>
      <p:sp>
        <p:nvSpPr>
          <p:cNvPr id="12083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2259</Words>
  <Application>Microsoft Office PowerPoint</Application>
  <PresentationFormat>On-screen Show (4:3)</PresentationFormat>
  <Paragraphs>506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Design Template</vt:lpstr>
      </vt:variant>
      <vt:variant>
        <vt:i4>12</vt:i4>
      </vt:variant>
      <vt:variant>
        <vt:lpstr>Slide Titles</vt:lpstr>
      </vt:variant>
      <vt:variant>
        <vt:i4>53</vt:i4>
      </vt:variant>
    </vt:vector>
  </HeadingPairs>
  <TitlesOfParts>
    <vt:vector size="69" baseType="lpstr">
      <vt:lpstr>Arial</vt:lpstr>
      <vt:lpstr>Calibri</vt:lpstr>
      <vt:lpstr>Wingdings</vt:lpstr>
      <vt:lpstr>Times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Chapter 10</vt:lpstr>
      <vt:lpstr>Learning Objectives</vt:lpstr>
      <vt:lpstr>Pointer Introduction</vt:lpstr>
      <vt:lpstr>Pointer Variables</vt:lpstr>
      <vt:lpstr>Declaring Pointer Variables</vt:lpstr>
      <vt:lpstr>Addresses and Numbers</vt:lpstr>
      <vt:lpstr>Pointing</vt:lpstr>
      <vt:lpstr>Pointing to …</vt:lpstr>
      <vt:lpstr>Pointing to …</vt:lpstr>
      <vt:lpstr>"Pointing to" Example</vt:lpstr>
      <vt:lpstr>&amp; Operator</vt:lpstr>
      <vt:lpstr>Pointer Assignments</vt:lpstr>
      <vt:lpstr>Pointer Assignments Graphic:  Display 10.1  Uses of the Assignment Operator with Pointer Variables</vt:lpstr>
      <vt:lpstr>The new Operator</vt:lpstr>
      <vt:lpstr>Basic Pointer Manipulations Example:  Display 10.2  Basic Pointer  Manipulations (1 of 2)</vt:lpstr>
      <vt:lpstr>Basic Pointer Manipulations Example:  Display 10.2  Basic Pointer  Manipulations (2 of 2)</vt:lpstr>
      <vt:lpstr>Basic Pointer Manipulations Graphic:  Display 10.3  Explanation of Display 10.2</vt:lpstr>
      <vt:lpstr>More on new Operator</vt:lpstr>
      <vt:lpstr>Pointers and Functions</vt:lpstr>
      <vt:lpstr>Memory Management</vt:lpstr>
      <vt:lpstr>Checking new Success</vt:lpstr>
      <vt:lpstr>new Success – New Compiler</vt:lpstr>
      <vt:lpstr>Freestore Size</vt:lpstr>
      <vt:lpstr>delete Operator</vt:lpstr>
      <vt:lpstr>Dangling Pointers</vt:lpstr>
      <vt:lpstr>Dynamic and Automatic Variables</vt:lpstr>
      <vt:lpstr>Define Pointer Types</vt:lpstr>
      <vt:lpstr>Pitfall: Call-by-value Pointers</vt:lpstr>
      <vt:lpstr>Call-by-value Pointers Example:  Display 10.4  A Call-by-Value Pointer Parameter (1 of 2)</vt:lpstr>
      <vt:lpstr>Call-by-value Pointers Example:  Display 10.4  A Call-by-Value Pointer Parameter (2 of 2)</vt:lpstr>
      <vt:lpstr>Call-by-value Pointers Graphic:  Display 10.5  The Function Call sneaky(p); </vt:lpstr>
      <vt:lpstr>Dynamic Arrays</vt:lpstr>
      <vt:lpstr>Array Variables</vt:lpstr>
      <vt:lpstr>Array Variables  Pointers</vt:lpstr>
      <vt:lpstr>Array Variables  Pointers</vt:lpstr>
      <vt:lpstr>Dynamic Arrays</vt:lpstr>
      <vt:lpstr>Creating Dynamic Arrays</vt:lpstr>
      <vt:lpstr>Deleting Dynamic Arrays</vt:lpstr>
      <vt:lpstr>Function that Returns an Array</vt:lpstr>
      <vt:lpstr>Pointer Arithmetic</vt:lpstr>
      <vt:lpstr>Alternative Array Manipulation</vt:lpstr>
      <vt:lpstr>Multidimensional Dynamic Arrays</vt:lpstr>
      <vt:lpstr>Back to Classes</vt:lpstr>
      <vt:lpstr>The this Pointer</vt:lpstr>
      <vt:lpstr>Overloading Assignment Operator</vt:lpstr>
      <vt:lpstr>Overloading Assignment Operator</vt:lpstr>
      <vt:lpstr>Overloaded = Operator Definition</vt:lpstr>
      <vt:lpstr>Shallow and Deep Copies</vt:lpstr>
      <vt:lpstr>Destructor Need</vt:lpstr>
      <vt:lpstr>Destructors</vt:lpstr>
      <vt:lpstr>Copy Constructors</vt:lpstr>
      <vt:lpstr>Summary 1</vt:lpstr>
      <vt:lpstr>Summary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Kenrick</dc:creator>
  <cp:lastModifiedBy>usnidem</cp:lastModifiedBy>
  <cp:revision>17</cp:revision>
  <dcterms:created xsi:type="dcterms:W3CDTF">2006-08-16T00:00:00Z</dcterms:created>
  <dcterms:modified xsi:type="dcterms:W3CDTF">2012-05-08T14:08:08Z</dcterms:modified>
</cp:coreProperties>
</file>