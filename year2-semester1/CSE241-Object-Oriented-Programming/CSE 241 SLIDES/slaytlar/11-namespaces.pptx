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tags/tag2.xml" ContentType="application/vnd.openxmlformats-officedocument.presentationml.tags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1.xml" ContentType="application/vnd.openxmlformats-officedocument.presentationml.tags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1" d="100"/>
          <a:sy n="101" d="100"/>
        </p:scale>
        <p:origin x="834" y="14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23AAC66-1BC8-43ED-84F0-E1C006ACB393}" type="datetimeFigureOut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CD6C79B-82B8-4A16-82CB-211B7E43D9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DD7EF50-946F-487C-92AB-3D301DE6BB6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5E2A631-B563-4893-A610-3BD8D222760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CA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D15DFD2-A096-4FDA-A842-892443BC6E5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1AFD6A5-CC80-4C06-8552-25539C2827B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131574-404B-4F73-9BE6-85E446BC7EB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4877B75-F546-47E0-9236-8C47EA3A071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FF51961-38BE-4BCE-B4A9-3E60AFDB751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4C83D15-8DAF-4F71-97F4-3B47A3EFE72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DDAC601-79EF-40CB-8F72-FDA41DBA42F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528D819-F538-44B5-A20A-9483875421E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6B1711C-8F42-40F8-80EB-1CFE6A2D729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75333DF-6986-4C45-9DB0-08EA47E5E72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E864354-D986-4BF9-BE0B-3A4A529FA36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D9FAD5-FB29-432D-9A17-A6844996BD8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F3EEF44-3BC1-4D50-95DD-0C1A6C84186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24EF6C0-5F80-4F9D-8742-AE2CC90D732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C52CF26-F1F1-4A10-A542-56F2D3ADF7E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6DC65E8-4005-40C1-BE54-F08756731A2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1E091FE-2FBF-4C3E-9FB4-D430BD6B4F1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DDBA2ED-017C-4542-B582-1DF7FAF3E1E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FF9DFCB-28C8-429B-B8C1-56AC11DC6CE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C29E873-BEFE-4779-8551-2C499EB3A45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11A0732-4B99-4EDC-A3E8-DAAB62F0A45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4E2159D-C09C-45B0-8806-7257BF2B49A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CA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7329240-57AD-40B8-AD4F-B71CB478964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626C5F-DCEB-4EF9-82EB-CE7E6BF9136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41AD867-4A02-430A-AC53-1E58366F038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CA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D67A9D6-1780-45DE-9E5C-D4EB3196C25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CA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CEA6D98-3889-4710-987F-076A737B846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CA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DC7BCA-5D27-407D-97A3-00F2E48BEDB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CA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CA9FB84-DE69-41A2-ABF4-4006A85B057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264B010-4A11-4645-9FB5-90B333E6F8C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A40E72-5426-4398-A9E2-8F02657F880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CA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F3F1EB-4E1E-40F1-B54F-BD033393C0AD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11-</a:t>
            </a:r>
            <a:fld id="{E97D36EA-AD87-4C8D-8E81-ABFFE3F9FC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876800" y="6324600"/>
            <a:ext cx="914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49A6D1-81C8-47CF-AC8E-4E29CC84B05A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11-</a:t>
            </a:r>
            <a:fld id="{E2CE21FE-6E23-4920-A443-AD3DA9C74C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57200" y="6340475"/>
            <a:ext cx="43434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DF058A-DFA4-4129-B598-CF87F884A0AE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11-</a:t>
            </a:r>
            <a:fld id="{9F3B9176-91B4-4A61-B50A-FD0F18DB49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FE0BC9-C6B7-4BF5-8020-3E154609B72F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11-</a:t>
            </a:r>
            <a:fld id="{0FBD2C97-3290-432F-83A2-81C4B45DD1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94D08D-5317-4585-94FB-1D711CA3A048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11-</a:t>
            </a:r>
            <a:fld id="{152CB1D9-93C5-4EDE-AC6C-284CC7A5AA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6D50BA-6215-4BE7-9F6A-6CCC64AA5751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11-</a:t>
            </a:r>
            <a:fld id="{627CE6F3-CD96-4B31-869A-1018E9AA45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26518-2493-4FD8-8F9A-7645EA5E12FB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11-</a:t>
            </a:r>
            <a:fld id="{293B73B9-A9CE-4473-B0EE-8C86445FD2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88EA35-7BCC-489E-8C39-F4C1292AC321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11-</a:t>
            </a:r>
            <a:fld id="{B6D277EF-1DA2-4E9D-A271-812BDFD9A9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B43ABF-0C90-42F1-80FA-17D3D1091060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11-</a:t>
            </a:r>
            <a:fld id="{A6BFEF89-C057-416F-B66E-7D145560C4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2841EC-4D4F-4C6E-BC19-063FD938919D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11-</a:t>
            </a:r>
            <a:fld id="{BC1B8F91-D72C-4167-80AC-8C486597A8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06F367-AE47-4BAB-9E0F-357680CA6117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11-</a:t>
            </a:r>
            <a:fld id="{C7608744-42CB-455C-A47F-1E00C90C3F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482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AB3709A-2C64-4B9A-AC63-16FEEB10E9D4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5DFAACA9-1F73-4323-B7F4-0FC73028CF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5638800" y="457200"/>
            <a:ext cx="3276600" cy="1470025"/>
          </a:xfrm>
        </p:spPr>
        <p:txBody>
          <a:bodyPr/>
          <a:lstStyle/>
          <a:p>
            <a:pPr eaLnBrk="1" hangingPunct="1"/>
            <a:r>
              <a:rPr lang="en-US" smtClean="0"/>
              <a:t>Chapter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1905000"/>
            <a:ext cx="3352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Separate Compilation </a:t>
            </a:r>
            <a:br>
              <a:rPr lang="en-US" dirty="0" smtClean="0"/>
            </a:br>
            <a:r>
              <a:rPr lang="en-US" dirty="0" smtClean="0"/>
              <a:t>and Namespaces</a:t>
            </a:r>
            <a:endParaRPr lang="en-US" dirty="0"/>
          </a:p>
        </p:txBody>
      </p:sp>
      <p:pic>
        <p:nvPicPr>
          <p:cNvPr id="14341" name="Picture 6" descr="http://vig-fp.prenhall.com/bigcovers/013283071X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5263" y="7938"/>
            <a:ext cx="554513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10" descr="DG_Bar_Blue_USLetter_RG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Separate Compilation</a:t>
            </a:r>
          </a:p>
          <a:p>
            <a:pPr lvl="1" eaLnBrk="1" hangingPunct="1"/>
            <a:r>
              <a:rPr lang="en-US" sz="2400" smtClean="0"/>
              <a:t>Encapsulation reviewed</a:t>
            </a:r>
          </a:p>
          <a:p>
            <a:pPr lvl="1" eaLnBrk="1" hangingPunct="1"/>
            <a:r>
              <a:rPr lang="en-US" sz="2400" smtClean="0"/>
              <a:t>Header and implementation files</a:t>
            </a:r>
          </a:p>
          <a:p>
            <a:pPr eaLnBrk="1" hangingPunct="1"/>
            <a:r>
              <a:rPr lang="en-US" sz="2800" smtClean="0"/>
              <a:t>Namespaces</a:t>
            </a:r>
          </a:p>
          <a:p>
            <a:pPr lvl="1" eaLnBrk="1" hangingPunct="1"/>
            <a:r>
              <a:rPr lang="en-US" sz="2400" smtClean="0"/>
              <a:t>using directives</a:t>
            </a:r>
          </a:p>
          <a:p>
            <a:pPr lvl="1" eaLnBrk="1" hangingPunct="1"/>
            <a:r>
              <a:rPr lang="en-US" sz="2400" smtClean="0"/>
              <a:t>Qualifying names</a:t>
            </a:r>
          </a:p>
          <a:p>
            <a:pPr lvl="1" eaLnBrk="1" hangingPunct="1"/>
            <a:r>
              <a:rPr lang="en-US" sz="2400" smtClean="0"/>
              <a:t>Unnamed namespaces</a:t>
            </a:r>
          </a:p>
          <a:p>
            <a:pPr lvl="1" eaLnBrk="1" hangingPunct="1"/>
            <a:r>
              <a:rPr lang="en-US" sz="2400" smtClean="0"/>
              <a:t>Hiding helping functions</a:t>
            </a:r>
          </a:p>
          <a:p>
            <a:pPr lvl="1" eaLnBrk="1" hangingPunct="1"/>
            <a:r>
              <a:rPr lang="en-US" sz="2400" smtClean="0"/>
              <a:t>Nested namespaces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F651D398-2C9A-479B-8A02-E51CBF10B972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63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Separate Compilation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Program Parts</a:t>
            </a:r>
          </a:p>
          <a:p>
            <a:pPr lvl="1" eaLnBrk="1" hangingPunct="1"/>
            <a:r>
              <a:rPr lang="en-US" sz="2400" smtClean="0"/>
              <a:t>Kept in separate files</a:t>
            </a:r>
          </a:p>
          <a:p>
            <a:pPr lvl="1" eaLnBrk="1" hangingPunct="1"/>
            <a:r>
              <a:rPr lang="en-US" sz="2400" smtClean="0"/>
              <a:t>Compiled separately</a:t>
            </a:r>
          </a:p>
          <a:p>
            <a:pPr lvl="1" eaLnBrk="1" hangingPunct="1"/>
            <a:r>
              <a:rPr lang="en-US" sz="2400" smtClean="0"/>
              <a:t>Linked together before program runs</a:t>
            </a:r>
          </a:p>
          <a:p>
            <a:pPr eaLnBrk="1" hangingPunct="1"/>
            <a:r>
              <a:rPr lang="en-US" sz="2800" smtClean="0"/>
              <a:t>Class definitions</a:t>
            </a:r>
          </a:p>
          <a:p>
            <a:pPr lvl="1" eaLnBrk="1" hangingPunct="1"/>
            <a:r>
              <a:rPr lang="en-US" sz="2400" smtClean="0"/>
              <a:t>Separate from "using" programs</a:t>
            </a:r>
          </a:p>
          <a:p>
            <a:pPr lvl="1" eaLnBrk="1" hangingPunct="1"/>
            <a:r>
              <a:rPr lang="en-US" sz="2400" smtClean="0"/>
              <a:t>Build library of classes</a:t>
            </a:r>
          </a:p>
          <a:p>
            <a:pPr lvl="2" eaLnBrk="1" hangingPunct="1"/>
            <a:r>
              <a:rPr lang="en-US" sz="2000" smtClean="0"/>
              <a:t>Re-used by many different programs</a:t>
            </a:r>
          </a:p>
          <a:p>
            <a:pPr lvl="2" eaLnBrk="1" hangingPunct="1"/>
            <a:r>
              <a:rPr lang="en-US" sz="2000" smtClean="0"/>
              <a:t>Just like predefined libraries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259FA3D5-FB29-446C-A344-2B8CE1F6CB04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84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 Separation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Class Independence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Separate class definition/specification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Called "interface"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Separate class implementation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Place in two files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If implementation changes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only that</a:t>
            </a:r>
            <a:br>
              <a:rPr lang="en-US" smtClean="0"/>
            </a:br>
            <a:r>
              <a:rPr lang="en-US" smtClean="0"/>
              <a:t>file need be changed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Class specification need not change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"User" programs need not change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55776B9E-1D06-49EC-8D98-BD2537B26C02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04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Encapsulation Reviewed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Encapsulation principle:</a:t>
            </a:r>
          </a:p>
          <a:p>
            <a:pPr lvl="1" eaLnBrk="1" hangingPunct="1"/>
            <a:r>
              <a:rPr lang="en-US" smtClean="0"/>
              <a:t>Separate how class is used by programmer</a:t>
            </a:r>
            <a:br>
              <a:rPr lang="en-US" smtClean="0"/>
            </a:br>
            <a:r>
              <a:rPr lang="en-US" smtClean="0"/>
              <a:t>from details of class’s implementation</a:t>
            </a:r>
          </a:p>
          <a:p>
            <a:pPr eaLnBrk="1" hangingPunct="1"/>
            <a:r>
              <a:rPr lang="en-US" smtClean="0"/>
              <a:t>"Complete" separation</a:t>
            </a:r>
          </a:p>
          <a:p>
            <a:pPr lvl="1" eaLnBrk="1" hangingPunct="1"/>
            <a:r>
              <a:rPr lang="en-US" smtClean="0"/>
              <a:t>Change to implementation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NO impact on</a:t>
            </a:r>
            <a:br>
              <a:rPr lang="en-US" smtClean="0"/>
            </a:br>
            <a:r>
              <a:rPr lang="en-US" smtClean="0"/>
              <a:t>any other programs</a:t>
            </a:r>
          </a:p>
          <a:p>
            <a:pPr eaLnBrk="1" hangingPunct="1"/>
            <a:r>
              <a:rPr lang="en-US" smtClean="0"/>
              <a:t>Basic OOP principle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8CA274EF-BDF5-4670-BF13-F9F69FE42CB1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Encapsulation Rules</a:t>
            </a:r>
          </a:p>
        </p:txBody>
      </p:sp>
      <p:sp>
        <p:nvSpPr>
          <p:cNvPr id="24578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 sz="2800" smtClean="0">
                <a:sym typeface="Wingdings" pitchFamily="2" charset="2"/>
              </a:rPr>
              <a:t>Rules to ensure separation:</a:t>
            </a:r>
          </a:p>
          <a:p>
            <a:pPr marL="914400" lvl="1" indent="-457200" eaLnBrk="1" hangingPunct="1">
              <a:lnSpc>
                <a:spcPct val="90000"/>
              </a:lnSpc>
              <a:spcBef>
                <a:spcPct val="50000"/>
              </a:spcBef>
              <a:buFont typeface="Times" pitchFamily="18" charset="0"/>
              <a:buAutoNum type="arabicPeriod"/>
            </a:pPr>
            <a:r>
              <a:rPr lang="en-US" sz="2400" smtClean="0">
                <a:sym typeface="Wingdings" pitchFamily="2" charset="2"/>
              </a:rPr>
              <a:t>All member variables should be private</a:t>
            </a:r>
          </a:p>
          <a:p>
            <a:pPr marL="914400" lvl="1" indent="-457200" eaLnBrk="1" hangingPunct="1">
              <a:lnSpc>
                <a:spcPct val="90000"/>
              </a:lnSpc>
              <a:spcBef>
                <a:spcPct val="50000"/>
              </a:spcBef>
              <a:buFont typeface="Times" pitchFamily="18" charset="0"/>
              <a:buAutoNum type="arabicPeriod"/>
            </a:pPr>
            <a:r>
              <a:rPr lang="en-US" sz="2400" smtClean="0">
                <a:sym typeface="Wingdings" pitchFamily="2" charset="2"/>
              </a:rPr>
              <a:t>Basic class operations should be:</a:t>
            </a:r>
          </a:p>
          <a:p>
            <a:pPr marL="1295400" lvl="2" indent="-381000" eaLnBrk="1" hangingPunct="1">
              <a:lnSpc>
                <a:spcPct val="90000"/>
              </a:lnSpc>
            </a:pPr>
            <a:r>
              <a:rPr lang="en-US" sz="2000" smtClean="0">
                <a:sym typeface="Wingdings" pitchFamily="2" charset="2"/>
              </a:rPr>
              <a:t>Public member functions</a:t>
            </a:r>
          </a:p>
          <a:p>
            <a:pPr marL="1295400" lvl="2" indent="-381000" eaLnBrk="1" hangingPunct="1">
              <a:lnSpc>
                <a:spcPct val="90000"/>
              </a:lnSpc>
            </a:pPr>
            <a:r>
              <a:rPr lang="en-US" sz="2000" smtClean="0">
                <a:sym typeface="Wingdings" pitchFamily="2" charset="2"/>
              </a:rPr>
              <a:t>Friend or ordinary functions</a:t>
            </a:r>
          </a:p>
          <a:p>
            <a:pPr marL="1295400" lvl="2" indent="-381000" eaLnBrk="1" hangingPunct="1">
              <a:lnSpc>
                <a:spcPct val="90000"/>
              </a:lnSpc>
            </a:pPr>
            <a:r>
              <a:rPr lang="en-US" sz="2000" smtClean="0">
                <a:sym typeface="Wingdings" pitchFamily="2" charset="2"/>
              </a:rPr>
              <a:t>Overloaded operators</a:t>
            </a:r>
          </a:p>
          <a:p>
            <a:pPr marL="914400" lvl="1" indent="-457200" eaLnBrk="1" hangingPunct="1">
              <a:lnSpc>
                <a:spcPct val="90000"/>
              </a:lnSpc>
              <a:buFont typeface="Symbol" pitchFamily="18" charset="2"/>
              <a:buNone/>
            </a:pPr>
            <a:r>
              <a:rPr lang="en-US" sz="2400" smtClean="0">
                <a:sym typeface="Wingdings" pitchFamily="2" charset="2"/>
              </a:rPr>
              <a:t>	Group class definition and prototypes together</a:t>
            </a:r>
          </a:p>
          <a:p>
            <a:pPr marL="1295400" lvl="2" indent="-381000" eaLnBrk="1" hangingPunct="1">
              <a:lnSpc>
                <a:spcPct val="90000"/>
              </a:lnSpc>
            </a:pPr>
            <a:r>
              <a:rPr lang="en-US" sz="2000" smtClean="0">
                <a:sym typeface="Wingdings" pitchFamily="2" charset="2"/>
              </a:rPr>
              <a:t>Called "interface" for class</a:t>
            </a:r>
          </a:p>
          <a:p>
            <a:pPr marL="914400" lvl="1" indent="-457200" eaLnBrk="1" hangingPunct="1">
              <a:lnSpc>
                <a:spcPct val="90000"/>
              </a:lnSpc>
              <a:spcBef>
                <a:spcPct val="50000"/>
              </a:spcBef>
              <a:buFont typeface="Times" pitchFamily="18" charset="0"/>
              <a:buAutoNum type="arabicPeriod" startAt="3"/>
            </a:pPr>
            <a:r>
              <a:rPr lang="en-US" sz="2400" smtClean="0">
                <a:sym typeface="Wingdings" pitchFamily="2" charset="2"/>
              </a:rPr>
              <a:t>Make class implementation unavailable to</a:t>
            </a:r>
            <a:br>
              <a:rPr lang="en-US" sz="2400" smtClean="0">
                <a:sym typeface="Wingdings" pitchFamily="2" charset="2"/>
              </a:rPr>
            </a:br>
            <a:r>
              <a:rPr lang="en-US" sz="2400" smtClean="0">
                <a:sym typeface="Wingdings" pitchFamily="2" charset="2"/>
              </a:rPr>
              <a:t>users of class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D951FB35-25D6-422D-A10F-416DF2FB2F56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45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More Class Separation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Interface File</a:t>
            </a:r>
          </a:p>
          <a:p>
            <a:pPr lvl="1" eaLnBrk="1" hangingPunct="1"/>
            <a:r>
              <a:rPr lang="en-US" smtClean="0"/>
              <a:t>Contains class definition with function and</a:t>
            </a:r>
            <a:br>
              <a:rPr lang="en-US" smtClean="0"/>
            </a:br>
            <a:r>
              <a:rPr lang="en-US" smtClean="0"/>
              <a:t>operator declarations/prototypes</a:t>
            </a:r>
          </a:p>
          <a:p>
            <a:pPr lvl="1" eaLnBrk="1" hangingPunct="1"/>
            <a:r>
              <a:rPr lang="en-US" smtClean="0"/>
              <a:t>Users "see" this</a:t>
            </a:r>
          </a:p>
          <a:p>
            <a:pPr lvl="1" eaLnBrk="1" hangingPunct="1"/>
            <a:r>
              <a:rPr lang="en-US" smtClean="0"/>
              <a:t>Separate compilation unit</a:t>
            </a:r>
          </a:p>
          <a:p>
            <a:pPr eaLnBrk="1" hangingPunct="1"/>
            <a:r>
              <a:rPr lang="en-US" smtClean="0"/>
              <a:t>Implementation File</a:t>
            </a:r>
          </a:p>
          <a:p>
            <a:pPr lvl="1" eaLnBrk="1" hangingPunct="1"/>
            <a:r>
              <a:rPr lang="en-US" smtClean="0"/>
              <a:t>Contains member function definitions</a:t>
            </a:r>
          </a:p>
          <a:p>
            <a:pPr lvl="1" eaLnBrk="1" hangingPunct="1"/>
            <a:r>
              <a:rPr lang="en-US" smtClean="0"/>
              <a:t>Separate compilation unit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2B3294CF-9A0E-4A45-957D-1D1889A499A3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 Header Files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Class interface always in header file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Use .h naming convention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Programs that use class will "include" 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#include "myclass.h"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Quotes indicate you wrote header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Find it in "your" working directory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Recall library includes, e.g., &lt;iostream&gt;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&lt; &gt; indicate predefined library header file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Find it in library directory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6C24E3AB-61AE-4F54-AB99-DD747F4E3936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86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 Implementation Files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Class implementation in .cpp file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Typically give interface file and implementation file same name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myclass.h and myclass.cpp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All class’s member function defined here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Implementation file must #include class’s </a:t>
            </a:r>
            <a:br>
              <a:rPr lang="en-US" sz="2400" smtClean="0"/>
            </a:br>
            <a:r>
              <a:rPr lang="en-US" sz="2400" smtClean="0"/>
              <a:t>header file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.cpp files in general, typically contain</a:t>
            </a:r>
            <a:br>
              <a:rPr lang="en-US" sz="2800" smtClean="0"/>
            </a:br>
            <a:r>
              <a:rPr lang="en-US" sz="2800" smtClean="0"/>
              <a:t>executable code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e.g., Function definitions, including main()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7DB78083-38B6-440C-94B2-4FD2707C1833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07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 Files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Class header file #included by: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Implementation file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Program file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Often called "application file" or "driver file"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Organization of files is system dependent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Typical IDE has "project" or "workspace"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Implementation files "combined" here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Header files still "#included"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EED931A4-CE46-47D2-8955-C2DD78A27700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Multiple Compiles of Header Files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Header files</a:t>
            </a:r>
          </a:p>
          <a:p>
            <a:pPr lvl="1" eaLnBrk="1" hangingPunct="1"/>
            <a:r>
              <a:rPr lang="en-US" sz="2400" smtClean="0"/>
              <a:t>Typically included multiple times</a:t>
            </a:r>
          </a:p>
          <a:p>
            <a:pPr lvl="2" eaLnBrk="1" hangingPunct="1"/>
            <a:r>
              <a:rPr lang="en-US" sz="2000" smtClean="0"/>
              <a:t>e.g., class interface included by class implementation and program file</a:t>
            </a:r>
          </a:p>
          <a:p>
            <a:pPr lvl="1" eaLnBrk="1" hangingPunct="1"/>
            <a:r>
              <a:rPr lang="en-US" sz="2400" smtClean="0"/>
              <a:t>Must only be compiled once!</a:t>
            </a:r>
          </a:p>
          <a:p>
            <a:pPr lvl="1" eaLnBrk="1" hangingPunct="1"/>
            <a:r>
              <a:rPr lang="en-US" sz="2400" smtClean="0"/>
              <a:t>No guarantee "which #include" in which file,</a:t>
            </a:r>
            <a:br>
              <a:rPr lang="en-US" sz="2400" smtClean="0"/>
            </a:br>
            <a:r>
              <a:rPr lang="en-US" sz="2400" smtClean="0"/>
              <a:t>compiler might see first</a:t>
            </a:r>
          </a:p>
          <a:p>
            <a:pPr eaLnBrk="1" hangingPunct="1"/>
            <a:r>
              <a:rPr lang="en-US" sz="2800" smtClean="0"/>
              <a:t>Use preprocessor</a:t>
            </a:r>
          </a:p>
          <a:p>
            <a:pPr lvl="1" eaLnBrk="1" hangingPunct="1"/>
            <a:r>
              <a:rPr lang="en-US" sz="2400" smtClean="0"/>
              <a:t>Tell compiler to include header only once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B42FC2D1-8556-4AE0-B831-790CB985E623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482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Using #ifndef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Header file structure: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#ifndef FNAME_H</a:t>
            </a:r>
            <a:br>
              <a:rPr lang="en-US" sz="2400" smtClean="0"/>
            </a:br>
            <a:r>
              <a:rPr lang="en-US" sz="2400" smtClean="0"/>
              <a:t>#define FNAME_H</a:t>
            </a:r>
            <a:br>
              <a:rPr lang="en-US" sz="2400" smtClean="0"/>
            </a:br>
            <a:r>
              <a:rPr lang="en-US" sz="2400" smtClean="0"/>
              <a:t>… //Contents of header file</a:t>
            </a:r>
            <a:br>
              <a:rPr lang="en-US" sz="2400" smtClean="0"/>
            </a:br>
            <a:r>
              <a:rPr lang="en-US" sz="2400" smtClean="0"/>
              <a:t>…</a:t>
            </a:r>
            <a:br>
              <a:rPr lang="en-US" sz="2400" smtClean="0"/>
            </a:br>
            <a:r>
              <a:rPr lang="en-US" sz="2400" smtClean="0"/>
              <a:t>#endif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FNAME typically name of file for </a:t>
            </a:r>
            <a:br>
              <a:rPr lang="en-US" sz="2800" smtClean="0"/>
            </a:br>
            <a:r>
              <a:rPr lang="en-US" sz="2800" smtClean="0"/>
              <a:t>consistency, readability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This syntax avoids multiple definitions</a:t>
            </a:r>
            <a:br>
              <a:rPr lang="en-US" sz="2800" smtClean="0"/>
            </a:br>
            <a:r>
              <a:rPr lang="en-US" sz="2800" smtClean="0"/>
              <a:t>of header file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DA1E88AF-8E7E-4ED9-B185-895835100F2D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68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Other Library Files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Libraries not just for classes</a:t>
            </a:r>
          </a:p>
          <a:p>
            <a:pPr eaLnBrk="1" hangingPunct="1"/>
            <a:r>
              <a:rPr lang="en-US" smtClean="0"/>
              <a:t>Related functions</a:t>
            </a:r>
          </a:p>
          <a:p>
            <a:pPr lvl="1" eaLnBrk="1" hangingPunct="1"/>
            <a:r>
              <a:rPr lang="en-US" smtClean="0"/>
              <a:t>Prototypes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 header file</a:t>
            </a:r>
          </a:p>
          <a:p>
            <a:pPr lvl="1" eaLnBrk="1" hangingPunct="1"/>
            <a:r>
              <a:rPr lang="en-US" smtClean="0"/>
              <a:t>Definitions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implementation file</a:t>
            </a:r>
          </a:p>
          <a:p>
            <a:pPr eaLnBrk="1" hangingPunct="1"/>
            <a:r>
              <a:rPr lang="en-US" smtClean="0"/>
              <a:t>Other type definitions</a:t>
            </a:r>
          </a:p>
          <a:p>
            <a:pPr lvl="1" eaLnBrk="1" hangingPunct="1"/>
            <a:r>
              <a:rPr lang="en-US" smtClean="0"/>
              <a:t>structs, simple typedefs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header file</a:t>
            </a:r>
          </a:p>
          <a:p>
            <a:pPr lvl="1" eaLnBrk="1" hangingPunct="1"/>
            <a:r>
              <a:rPr lang="en-US" smtClean="0"/>
              <a:t>Constant declarations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header file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8F94778-A996-4EB0-8B3A-7A24A093C240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389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Namespaces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Namespace defined:</a:t>
            </a:r>
            <a:br>
              <a:rPr lang="en-US" sz="2800" smtClean="0"/>
            </a:br>
            <a:r>
              <a:rPr lang="en-US" sz="2800" smtClean="0"/>
              <a:t>A collection of name definitions</a:t>
            </a:r>
          </a:p>
          <a:p>
            <a:pPr lvl="1" eaLnBrk="1" hangingPunct="1"/>
            <a:r>
              <a:rPr lang="en-US" sz="2400" smtClean="0"/>
              <a:t>Class definitions</a:t>
            </a:r>
          </a:p>
          <a:p>
            <a:pPr lvl="1" eaLnBrk="1" hangingPunct="1"/>
            <a:r>
              <a:rPr lang="en-US" sz="2400" smtClean="0"/>
              <a:t>Variable declarations</a:t>
            </a:r>
          </a:p>
          <a:p>
            <a:pPr eaLnBrk="1" hangingPunct="1"/>
            <a:r>
              <a:rPr lang="en-US" sz="2800" smtClean="0"/>
              <a:t>Programs use many classes, functions</a:t>
            </a:r>
          </a:p>
          <a:p>
            <a:pPr lvl="1" eaLnBrk="1" hangingPunct="1"/>
            <a:r>
              <a:rPr lang="en-US" sz="2400" smtClean="0"/>
              <a:t>Commonly have same names</a:t>
            </a:r>
          </a:p>
          <a:p>
            <a:pPr lvl="1" eaLnBrk="1" hangingPunct="1"/>
            <a:r>
              <a:rPr lang="en-US" sz="2400" smtClean="0"/>
              <a:t>Namespaces deal with this</a:t>
            </a:r>
          </a:p>
          <a:p>
            <a:pPr lvl="1" eaLnBrk="1" hangingPunct="1"/>
            <a:r>
              <a:rPr lang="en-US" sz="2400" smtClean="0"/>
              <a:t>Can be "on" or "off"</a:t>
            </a:r>
          </a:p>
          <a:p>
            <a:pPr lvl="2" eaLnBrk="1" hangingPunct="1"/>
            <a:r>
              <a:rPr lang="en-US" sz="2000" smtClean="0"/>
              <a:t>If names might conflict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turn off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9583EF3D-84F9-481A-90EC-9320C2B769F6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9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using Directive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using namespace std;</a:t>
            </a:r>
          </a:p>
          <a:p>
            <a:pPr lvl="1" eaLnBrk="1" hangingPunct="1"/>
            <a:r>
              <a:rPr lang="en-US" smtClean="0"/>
              <a:t>Makes all definitions in std namespace</a:t>
            </a:r>
            <a:br>
              <a:rPr lang="en-US" smtClean="0"/>
            </a:br>
            <a:r>
              <a:rPr lang="en-US" smtClean="0"/>
              <a:t>available</a:t>
            </a:r>
          </a:p>
          <a:p>
            <a:pPr eaLnBrk="1" hangingPunct="1"/>
            <a:r>
              <a:rPr lang="en-US" smtClean="0"/>
              <a:t>Why might you NOT want this?</a:t>
            </a:r>
          </a:p>
          <a:p>
            <a:pPr lvl="1" eaLnBrk="1" hangingPunct="1"/>
            <a:r>
              <a:rPr lang="en-US" smtClean="0"/>
              <a:t>Can make cout, cin have non-standard</a:t>
            </a:r>
            <a:br>
              <a:rPr lang="en-US" smtClean="0"/>
            </a:br>
            <a:r>
              <a:rPr lang="en-US" smtClean="0"/>
              <a:t>meaning</a:t>
            </a:r>
          </a:p>
          <a:p>
            <a:pPr lvl="2" eaLnBrk="1" hangingPunct="1"/>
            <a:r>
              <a:rPr lang="en-US" smtClean="0"/>
              <a:t>Perhaps a need to redefine cout, cin</a:t>
            </a:r>
          </a:p>
          <a:p>
            <a:pPr lvl="1" eaLnBrk="1" hangingPunct="1"/>
            <a:r>
              <a:rPr lang="en-US" smtClean="0"/>
              <a:t>Can redefine any others	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E93B84A9-828F-4338-ABD8-E2FC0B5CA800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301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Namespace std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We’ve used namespace std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Contains all names defined in many standard library files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Example:</a:t>
            </a:r>
            <a:br>
              <a:rPr lang="en-US" sz="2800" smtClean="0"/>
            </a:br>
            <a:r>
              <a:rPr lang="en-US" sz="2800" smtClean="0"/>
              <a:t>#include &lt;iostream&gt;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Places all name definitions (cin, cout, etc.)</a:t>
            </a:r>
            <a:br>
              <a:rPr lang="en-US" sz="2400" smtClean="0"/>
            </a:br>
            <a:r>
              <a:rPr lang="en-US" sz="2400" smtClean="0"/>
              <a:t>into std namespace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Program doesn’t know names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Must specify this namespace for program</a:t>
            </a:r>
            <a:br>
              <a:rPr lang="en-US" sz="2400" smtClean="0"/>
            </a:br>
            <a:r>
              <a:rPr lang="en-US" sz="2400" smtClean="0"/>
              <a:t>to access names	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0E6C84FC-218D-40FC-A145-E74CF42A7B0B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506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Global Namespace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All code goes in some namespace</a:t>
            </a:r>
          </a:p>
          <a:p>
            <a:pPr eaLnBrk="1" hangingPunct="1"/>
            <a:r>
              <a:rPr lang="en-US" smtClean="0"/>
              <a:t>Unless specified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global namespace</a:t>
            </a:r>
          </a:p>
          <a:p>
            <a:pPr lvl="1" eaLnBrk="1" hangingPunct="1"/>
            <a:r>
              <a:rPr lang="en-US" smtClean="0"/>
              <a:t>No need for using directive</a:t>
            </a:r>
          </a:p>
          <a:p>
            <a:pPr lvl="1" eaLnBrk="1" hangingPunct="1"/>
            <a:r>
              <a:rPr lang="en-US" smtClean="0"/>
              <a:t>Global namespace always available</a:t>
            </a:r>
          </a:p>
          <a:p>
            <a:pPr lvl="1" eaLnBrk="1" hangingPunct="1"/>
            <a:r>
              <a:rPr lang="en-US" smtClean="0"/>
              <a:t>Implied "automatic" using directive	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2E6020-E5EB-4AD6-B4A6-62D9A8B86ECA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710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Multiple Names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Multiple namespaces</a:t>
            </a:r>
          </a:p>
          <a:p>
            <a:pPr lvl="1" eaLnBrk="1" hangingPunct="1"/>
            <a:r>
              <a:rPr lang="en-US" smtClean="0"/>
              <a:t>e.g., global, and std typically used</a:t>
            </a:r>
          </a:p>
          <a:p>
            <a:pPr eaLnBrk="1" hangingPunct="1"/>
            <a:r>
              <a:rPr lang="en-US" smtClean="0"/>
              <a:t>What if name defined in both?</a:t>
            </a:r>
          </a:p>
          <a:p>
            <a:pPr lvl="1" eaLnBrk="1" hangingPunct="1"/>
            <a:r>
              <a:rPr lang="en-US" smtClean="0"/>
              <a:t>Error</a:t>
            </a:r>
          </a:p>
          <a:p>
            <a:pPr lvl="1" eaLnBrk="1" hangingPunct="1"/>
            <a:r>
              <a:rPr lang="en-US" smtClean="0"/>
              <a:t>Can still use both namespaces</a:t>
            </a:r>
          </a:p>
          <a:p>
            <a:pPr lvl="1" eaLnBrk="1" hangingPunct="1"/>
            <a:r>
              <a:rPr lang="en-US" smtClean="0"/>
              <a:t>Must specify which namespace used at</a:t>
            </a:r>
            <a:br>
              <a:rPr lang="en-US" smtClean="0"/>
            </a:br>
            <a:r>
              <a:rPr lang="en-US" smtClean="0"/>
              <a:t>what time	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6B790060-5E6B-4160-8568-0F3A4B695CA3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915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Specifying Namespaces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Given namespaces NS1, NS2</a:t>
            </a:r>
          </a:p>
          <a:p>
            <a:pPr lvl="1" eaLnBrk="1" hangingPunct="1">
              <a:spcBef>
                <a:spcPct val="35000"/>
              </a:spcBef>
            </a:pPr>
            <a:r>
              <a:rPr lang="en-US" sz="2400" smtClean="0"/>
              <a:t>Both have void function myFunction()</a:t>
            </a:r>
            <a:br>
              <a:rPr lang="en-US" sz="2400" smtClean="0"/>
            </a:br>
            <a:r>
              <a:rPr lang="en-US" sz="2400" smtClean="0"/>
              <a:t>defined differently</a:t>
            </a:r>
          </a:p>
          <a:p>
            <a:pPr lvl="1" eaLnBrk="1" hangingPunct="1">
              <a:buFont typeface="Symbol" pitchFamily="18" charset="2"/>
              <a:buNone/>
            </a:pPr>
            <a:r>
              <a:rPr lang="en-US" sz="2000" smtClean="0"/>
              <a:t>	{</a:t>
            </a:r>
            <a:br>
              <a:rPr lang="en-US" sz="2000" smtClean="0"/>
            </a:br>
            <a:r>
              <a:rPr lang="en-US" sz="2000" smtClean="0"/>
              <a:t>     using namespace NS1;</a:t>
            </a:r>
            <a:br>
              <a:rPr lang="en-US" sz="2000" smtClean="0"/>
            </a:br>
            <a:r>
              <a:rPr lang="en-US" sz="2000" smtClean="0"/>
              <a:t>     myFunction();</a:t>
            </a:r>
            <a:br>
              <a:rPr lang="en-US" sz="2000" smtClean="0"/>
            </a:br>
            <a:r>
              <a:rPr lang="en-US" sz="2000" smtClean="0"/>
              <a:t>}</a:t>
            </a:r>
            <a:br>
              <a:rPr lang="en-US" sz="2000" smtClean="0"/>
            </a:br>
            <a:r>
              <a:rPr lang="en-US" sz="2000" smtClean="0"/>
              <a:t>{</a:t>
            </a:r>
            <a:br>
              <a:rPr lang="en-US" sz="2000" smtClean="0"/>
            </a:br>
            <a:r>
              <a:rPr lang="en-US" sz="2000" smtClean="0"/>
              <a:t>     using namespace NS2;</a:t>
            </a:r>
            <a:br>
              <a:rPr lang="en-US" sz="2000" smtClean="0"/>
            </a:br>
            <a:r>
              <a:rPr lang="en-US" sz="2000" smtClean="0"/>
              <a:t>     myFunction();</a:t>
            </a:r>
            <a:br>
              <a:rPr lang="en-US" sz="2000" smtClean="0"/>
            </a:br>
            <a:r>
              <a:rPr lang="en-US" sz="2000" smtClean="0"/>
              <a:t>}</a:t>
            </a:r>
          </a:p>
          <a:p>
            <a:pPr lvl="1" eaLnBrk="1" hangingPunct="1">
              <a:spcBef>
                <a:spcPct val="35000"/>
              </a:spcBef>
            </a:pPr>
            <a:r>
              <a:rPr lang="en-US" sz="2000" smtClean="0"/>
              <a:t>using directive has block-scope	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31C5F5B4-624A-4525-BBDD-CD99B470C4D6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20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Creating a Namespace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Use namespace grouping:</a:t>
            </a:r>
            <a:br>
              <a:rPr lang="en-US" sz="2800" smtClean="0"/>
            </a:br>
            <a:r>
              <a:rPr lang="en-US" sz="2400" smtClean="0"/>
              <a:t>namespace Name_Space_Name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Some_Code</a:t>
            </a:r>
            <a:br>
              <a:rPr lang="en-US" sz="2400" smtClean="0"/>
            </a:br>
            <a:r>
              <a:rPr lang="en-US" sz="2400" smtClean="0"/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Places all names defined in Some_Code</a:t>
            </a:r>
            <a:br>
              <a:rPr lang="en-US" sz="2800" smtClean="0"/>
            </a:br>
            <a:r>
              <a:rPr lang="en-US" sz="2400" smtClean="0"/>
              <a:t>into namespace Name_Space_Name	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Can then be made available:</a:t>
            </a:r>
            <a:br>
              <a:rPr lang="en-US" sz="2800" smtClean="0"/>
            </a:br>
            <a:r>
              <a:rPr lang="en-US" sz="2400" smtClean="0"/>
              <a:t>using namespace Name_Space_Name</a:t>
            </a:r>
            <a:endParaRPr lang="en-US" sz="280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F30BFAE3-949C-463C-82AC-D4C0CC387802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325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Creating a Namespace Example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Function declaration:</a:t>
            </a:r>
            <a:br>
              <a:rPr lang="en-US" sz="2400" smtClean="0"/>
            </a:br>
            <a:r>
              <a:rPr lang="en-US" sz="2000" smtClean="0"/>
              <a:t>namespace Space1</a:t>
            </a:r>
            <a:br>
              <a:rPr lang="en-US" sz="2000" smtClean="0"/>
            </a:br>
            <a:r>
              <a:rPr lang="en-US" sz="2000" smtClean="0"/>
              <a:t>{</a:t>
            </a:r>
            <a:br>
              <a:rPr lang="en-US" sz="2000" smtClean="0"/>
            </a:br>
            <a:r>
              <a:rPr lang="en-US" sz="2000" smtClean="0"/>
              <a:t>	void greeting();</a:t>
            </a:r>
            <a:br>
              <a:rPr lang="en-US" sz="2000" smtClean="0"/>
            </a:br>
            <a:r>
              <a:rPr lang="en-US" sz="2000" smtClean="0"/>
              <a:t>}</a:t>
            </a:r>
            <a:endParaRPr lang="en-US" sz="2400" smtClean="0"/>
          </a:p>
          <a:p>
            <a:pPr eaLnBrk="1" hangingPunct="1"/>
            <a:r>
              <a:rPr lang="en-US" sz="2400" smtClean="0"/>
              <a:t>Function definition:</a:t>
            </a:r>
            <a:br>
              <a:rPr lang="en-US" sz="2400" smtClean="0"/>
            </a:br>
            <a:r>
              <a:rPr lang="en-US" sz="2000" smtClean="0"/>
              <a:t>namespace Space1</a:t>
            </a:r>
            <a:br>
              <a:rPr lang="en-US" sz="2000" smtClean="0"/>
            </a:br>
            <a:r>
              <a:rPr lang="en-US" sz="2000" smtClean="0"/>
              <a:t>{</a:t>
            </a:r>
            <a:br>
              <a:rPr lang="en-US" sz="2000" smtClean="0"/>
            </a:br>
            <a:r>
              <a:rPr lang="en-US" sz="2000" smtClean="0"/>
              <a:t>	void greeting()</a:t>
            </a:r>
            <a:br>
              <a:rPr lang="en-US" sz="2000" smtClean="0"/>
            </a:br>
            <a:r>
              <a:rPr lang="en-US" sz="2000" smtClean="0"/>
              <a:t>	{</a:t>
            </a:r>
            <a:br>
              <a:rPr lang="en-US" sz="2000" smtClean="0"/>
            </a:br>
            <a:r>
              <a:rPr lang="en-US" sz="2000" smtClean="0"/>
              <a:t>		cout &lt;&lt; "Hello from namespace Space1.\n";</a:t>
            </a:r>
            <a:br>
              <a:rPr lang="en-US" sz="2000" smtClean="0"/>
            </a:br>
            <a:r>
              <a:rPr lang="en-US" sz="2000" smtClean="0"/>
              <a:t>	}</a:t>
            </a:r>
            <a:br>
              <a:rPr lang="en-US" sz="2000" smtClean="0"/>
            </a:br>
            <a:r>
              <a:rPr lang="en-US" sz="2000" smtClean="0"/>
              <a:t>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38076F38-BA90-4E51-AB42-5FF6AA8BC37E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530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using Declarations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Can specify individual names </a:t>
            </a:r>
            <a:br>
              <a:rPr lang="en-US" sz="2800" smtClean="0"/>
            </a:br>
            <a:r>
              <a:rPr lang="en-US" sz="2800" smtClean="0"/>
              <a:t>from namespace</a:t>
            </a:r>
          </a:p>
          <a:p>
            <a:pPr eaLnBrk="1" hangingPunct="1"/>
            <a:r>
              <a:rPr lang="en-US" sz="2800" smtClean="0"/>
              <a:t>Consider:</a:t>
            </a:r>
            <a:br>
              <a:rPr lang="en-US" sz="2800" smtClean="0"/>
            </a:br>
            <a:r>
              <a:rPr lang="en-US" sz="2400" smtClean="0"/>
              <a:t>Namespaces NS1, NS2 exist</a:t>
            </a:r>
            <a:br>
              <a:rPr lang="en-US" sz="2400" smtClean="0"/>
            </a:br>
            <a:r>
              <a:rPr lang="en-US" sz="2400" smtClean="0"/>
              <a:t>Each have functions fun1(), fun(2)</a:t>
            </a:r>
          </a:p>
          <a:p>
            <a:pPr lvl="1" eaLnBrk="1" hangingPunct="1"/>
            <a:r>
              <a:rPr lang="en-US" sz="2400" smtClean="0"/>
              <a:t>Declaration syntax:</a:t>
            </a:r>
            <a:br>
              <a:rPr lang="en-US" sz="2400" smtClean="0"/>
            </a:br>
            <a:r>
              <a:rPr lang="en-US" sz="2400" smtClean="0"/>
              <a:t>using Name_Space::One_Name;</a:t>
            </a:r>
          </a:p>
          <a:p>
            <a:pPr lvl="1" eaLnBrk="1" hangingPunct="1"/>
            <a:r>
              <a:rPr lang="en-US" sz="2400" smtClean="0"/>
              <a:t>Specify which name from each:</a:t>
            </a:r>
            <a:br>
              <a:rPr lang="en-US" sz="2400" smtClean="0"/>
            </a:br>
            <a:r>
              <a:rPr lang="en-US" sz="2400" smtClean="0"/>
              <a:t>using NS1::fun1;</a:t>
            </a:r>
            <a:br>
              <a:rPr lang="en-US" sz="2400" smtClean="0"/>
            </a:br>
            <a:r>
              <a:rPr lang="en-US" sz="2400" smtClean="0"/>
              <a:t>using NS2::fun2;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635464CD-3B09-4397-B26D-47065281E2FF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5734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using Definitions and Declarations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Differences: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using declaration</a:t>
            </a:r>
          </a:p>
          <a:p>
            <a:pPr lvl="2" eaLnBrk="1" hangingPunct="1"/>
            <a:r>
              <a:rPr lang="en-US" smtClean="0"/>
              <a:t>Makes ONE name in namespace available</a:t>
            </a:r>
          </a:p>
          <a:p>
            <a:pPr lvl="2" eaLnBrk="1" hangingPunct="1"/>
            <a:r>
              <a:rPr lang="en-US" smtClean="0"/>
              <a:t>Introduces names so no other uses of name </a:t>
            </a:r>
            <a:br>
              <a:rPr lang="en-US" smtClean="0"/>
            </a:br>
            <a:r>
              <a:rPr lang="en-US" smtClean="0"/>
              <a:t>are allowed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using directive</a:t>
            </a:r>
          </a:p>
          <a:p>
            <a:pPr lvl="2" eaLnBrk="1" hangingPunct="1"/>
            <a:r>
              <a:rPr lang="en-US" smtClean="0"/>
              <a:t>Makes ALL names in namespace available</a:t>
            </a:r>
          </a:p>
          <a:p>
            <a:pPr lvl="2" eaLnBrk="1" hangingPunct="1"/>
            <a:r>
              <a:rPr lang="en-US" smtClean="0"/>
              <a:t>Only "potentially" introduces names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0D60548F-4A11-4D28-B082-6CC1C8BBBBFB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939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Qualifying Names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Can specify where name comes from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Use "qualifier" and scope-resolution operator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Used if only intend one use (or few)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NS1::fun1();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Specifies that fun() comes from namespace</a:t>
            </a:r>
            <a:br>
              <a:rPr lang="en-US" sz="2400" smtClean="0"/>
            </a:br>
            <a:r>
              <a:rPr lang="en-US" sz="2400" smtClean="0"/>
              <a:t>NS1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Especially useful for parameters:</a:t>
            </a:r>
            <a:br>
              <a:rPr lang="en-US" sz="2800" smtClean="0"/>
            </a:br>
            <a:r>
              <a:rPr lang="en-US" sz="2400" smtClean="0"/>
              <a:t>int getInput(std::istream inputStream);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Parameter found in istream’s std namespace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Eliminates need for using directive or declaration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B9CE4155-643B-4C94-9106-9CAD2B6C9814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144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Naming Namespaces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Include unique string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Like last name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Reduces chance of other namespaces</a:t>
            </a:r>
            <a:br>
              <a:rPr lang="en-US" sz="2800" smtClean="0"/>
            </a:br>
            <a:r>
              <a:rPr lang="en-US" sz="2800" smtClean="0"/>
              <a:t>with same name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Often multiple programmers write</a:t>
            </a:r>
            <a:br>
              <a:rPr lang="en-US" sz="2800" smtClean="0"/>
            </a:br>
            <a:r>
              <a:rPr lang="en-US" sz="2800" smtClean="0"/>
              <a:t>namespaces for same program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Must have distinct names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Without 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multiple definitions of same name</a:t>
            </a:r>
            <a:br>
              <a:rPr lang="en-US" sz="2400" smtClean="0"/>
            </a:br>
            <a:r>
              <a:rPr lang="en-US" sz="2400" smtClean="0"/>
              <a:t>in same scope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Results in error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E8D694D2-FDF2-41DF-845B-F6CEF3A614D2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349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Class Namespace Example: </a:t>
            </a:r>
            <a:br>
              <a:rPr lang="en-US" sz="3000" smtClean="0"/>
            </a:br>
            <a:r>
              <a:rPr lang="en-US" sz="3000" b="1" smtClean="0"/>
              <a:t>Display 11.6</a:t>
            </a:r>
            <a:r>
              <a:rPr lang="en-US" sz="3000" smtClean="0"/>
              <a:t>  Placing a Class </a:t>
            </a:r>
            <a:br>
              <a:rPr lang="en-US" sz="3000" smtClean="0"/>
            </a:br>
            <a:r>
              <a:rPr lang="en-US" sz="3000" smtClean="0"/>
              <a:t>in a Namespace (Header File) </a:t>
            </a:r>
          </a:p>
        </p:txBody>
      </p:sp>
      <p:pic>
        <p:nvPicPr>
          <p:cNvPr id="65538" name="Picture 5" descr="C:\WINDOWS\Desktop\Oh_type\sacitch_C++_ppt\gif\savitchc11d06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390650" y="1682750"/>
            <a:ext cx="6983413" cy="4792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2419A47A-C6EE-4046-895A-5B2D09F0AE4A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5540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Class Namespace Example: </a:t>
            </a:r>
            <a:br>
              <a:rPr lang="en-US" sz="3000" smtClean="0"/>
            </a:br>
            <a:r>
              <a:rPr lang="en-US" sz="3000" b="1" smtClean="0"/>
              <a:t>Display 11.7</a:t>
            </a:r>
            <a:r>
              <a:rPr lang="en-US" sz="3000" smtClean="0"/>
              <a:t>  Placing a Class </a:t>
            </a:r>
            <a:br>
              <a:rPr lang="en-US" sz="3000" smtClean="0"/>
            </a:br>
            <a:r>
              <a:rPr lang="en-US" sz="3000" smtClean="0"/>
              <a:t>in a Namespace (Implementation File) </a:t>
            </a:r>
          </a:p>
        </p:txBody>
      </p:sp>
      <p:pic>
        <p:nvPicPr>
          <p:cNvPr id="67586" name="Picture 6" descr="C:\WINDOWS\Desktop\Oh_type\sacitch_C++_ppt\gif\savitchc11d07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12825" y="1771650"/>
            <a:ext cx="7772400" cy="4208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7472C80-4107-4BA0-96B9-47DC38AB339B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758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Unnamed Namespaces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Compilation unit defined: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 file, along with all files #included in file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Every compilation unit has unnamed namespace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Written same way, but with no name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All names are then local to compilation unit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Use unnamed namespace to keep </a:t>
            </a:r>
            <a:br>
              <a:rPr lang="en-US" sz="2800" smtClean="0"/>
            </a:br>
            <a:r>
              <a:rPr lang="en-US" sz="2800" smtClean="0"/>
              <a:t>things "local"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Scope of unnamed namespace is </a:t>
            </a:r>
            <a:br>
              <a:rPr lang="en-US" sz="2800" smtClean="0"/>
            </a:br>
            <a:r>
              <a:rPr lang="en-US" sz="2800" smtClean="0"/>
              <a:t>compilation unit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575E00E5-8BAE-493C-8840-BF0408EB5826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96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Global vs. Unnamed Namespaces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Not same</a:t>
            </a:r>
          </a:p>
          <a:p>
            <a:pPr eaLnBrk="1" hangingPunct="1"/>
            <a:r>
              <a:rPr lang="en-US" smtClean="0"/>
              <a:t>Global namespace:</a:t>
            </a:r>
          </a:p>
          <a:p>
            <a:pPr lvl="1" eaLnBrk="1" hangingPunct="1"/>
            <a:r>
              <a:rPr lang="en-US" smtClean="0"/>
              <a:t>No namespace grouping at all</a:t>
            </a:r>
          </a:p>
          <a:p>
            <a:pPr lvl="1" eaLnBrk="1" hangingPunct="1"/>
            <a:r>
              <a:rPr lang="en-US" smtClean="0"/>
              <a:t>Global scope</a:t>
            </a:r>
          </a:p>
          <a:p>
            <a:pPr eaLnBrk="1" hangingPunct="1"/>
            <a:r>
              <a:rPr lang="en-US" smtClean="0"/>
              <a:t>Unnamed namespace:</a:t>
            </a:r>
          </a:p>
          <a:p>
            <a:pPr lvl="1" eaLnBrk="1" hangingPunct="1"/>
            <a:r>
              <a:rPr lang="en-US" smtClean="0"/>
              <a:t>Has namespace grouping, just no name</a:t>
            </a:r>
          </a:p>
          <a:p>
            <a:pPr lvl="1" eaLnBrk="1" hangingPunct="1"/>
            <a:r>
              <a:rPr lang="en-US" smtClean="0"/>
              <a:t>Local scope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37F2DACB-0AAF-4285-988B-897CD4596874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16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Nested Namespaces</a:t>
            </a:r>
          </a:p>
        </p:txBody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Legal to nest namespaces</a:t>
            </a:r>
            <a:br>
              <a:rPr lang="en-US" sz="2800" smtClean="0"/>
            </a:br>
            <a:r>
              <a:rPr lang="en-US" sz="2400" smtClean="0"/>
              <a:t>namespace S1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namespace S2</a:t>
            </a:r>
            <a:br>
              <a:rPr lang="en-US" sz="2400" smtClean="0"/>
            </a:br>
            <a:r>
              <a:rPr lang="en-US" sz="2400" smtClean="0"/>
              <a:t>	{</a:t>
            </a:r>
            <a:br>
              <a:rPr lang="en-US" sz="2400" smtClean="0"/>
            </a:br>
            <a:r>
              <a:rPr lang="en-US" sz="2400" smtClean="0"/>
              <a:t>		void sample()</a:t>
            </a:r>
            <a:br>
              <a:rPr lang="en-US" sz="2400" smtClean="0"/>
            </a:br>
            <a:r>
              <a:rPr lang="en-US" sz="2400" smtClean="0"/>
              <a:t>		{</a:t>
            </a:r>
            <a:br>
              <a:rPr lang="en-US" sz="2400" smtClean="0"/>
            </a:br>
            <a:r>
              <a:rPr lang="en-US" sz="2400" smtClean="0"/>
              <a:t>			…</a:t>
            </a:r>
            <a:br>
              <a:rPr lang="en-US" sz="2400" smtClean="0"/>
            </a:br>
            <a:r>
              <a:rPr lang="en-US" sz="2400" smtClean="0"/>
              <a:t>		}</a:t>
            </a:r>
            <a:br>
              <a:rPr lang="en-US" sz="2400" smtClean="0"/>
            </a:br>
            <a:r>
              <a:rPr lang="en-US" sz="2400" smtClean="0"/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Qualify names twice: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S1::S2::sample();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6D3288CE-DEFE-4F6C-A996-D7F1697C224B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737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Hiding Helping Functions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Recall helping function: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Low-level utility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Not for public use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Two ways to hide: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Make private member function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If function naturally takes calling object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Place in class implementation’s unnamed namespace!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If function needs no calling object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Makes cleaner code (no qualifiers)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439DF0F5-7CB6-401A-A864-9B53054436CC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57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1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Can separate class definition and implementation </a:t>
            </a:r>
            <a:r>
              <a:rPr lang="en-US" sz="2800" smtClean="0">
                <a:sym typeface="Wingdings" pitchFamily="2" charset="2"/>
              </a:rPr>
              <a:t></a:t>
            </a:r>
            <a:r>
              <a:rPr lang="en-US" sz="2800" smtClean="0"/>
              <a:t> separate files</a:t>
            </a:r>
          </a:p>
          <a:p>
            <a:pPr lvl="1" eaLnBrk="1" hangingPunct="1"/>
            <a:r>
              <a:rPr lang="en-US" sz="2400" smtClean="0"/>
              <a:t>Separate compilation units</a:t>
            </a:r>
          </a:p>
          <a:p>
            <a:pPr eaLnBrk="1" hangingPunct="1"/>
            <a:r>
              <a:rPr lang="en-US" sz="2800" smtClean="0"/>
              <a:t>Namespace is a collection of name definitions</a:t>
            </a:r>
          </a:p>
          <a:p>
            <a:pPr eaLnBrk="1" hangingPunct="1"/>
            <a:r>
              <a:rPr lang="en-US" sz="2800" smtClean="0"/>
              <a:t>Three ways to use name from namespace:</a:t>
            </a:r>
          </a:p>
          <a:p>
            <a:pPr lvl="1" eaLnBrk="1" hangingPunct="1"/>
            <a:r>
              <a:rPr lang="en-US" sz="2400" smtClean="0"/>
              <a:t>Using directive</a:t>
            </a:r>
          </a:p>
          <a:p>
            <a:pPr lvl="1" eaLnBrk="1" hangingPunct="1"/>
            <a:r>
              <a:rPr lang="en-US" sz="2400" smtClean="0"/>
              <a:t>Using declaration</a:t>
            </a:r>
          </a:p>
          <a:p>
            <a:pPr lvl="1" eaLnBrk="1" hangingPunct="1"/>
            <a:r>
              <a:rPr lang="en-US" sz="2400" smtClean="0"/>
              <a:t>Qualifying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FA16062F-DA0F-41A9-A344-08128D994381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782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2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Namespace definitions are placed</a:t>
            </a:r>
            <a:br>
              <a:rPr lang="en-US" smtClean="0"/>
            </a:br>
            <a:r>
              <a:rPr lang="en-US" smtClean="0"/>
              <a:t>inside namespace groupings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Unnamed namespace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Used for local name definitions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Scope is compilation unit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Global namespace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Items not in a namespace grouping at all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Global scope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2696E2DE-E76C-422B-9954-89922167C514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798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1350</Words>
  <Application>Microsoft Office PowerPoint</Application>
  <PresentationFormat>On-screen Show (4:3)</PresentationFormat>
  <Paragraphs>326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Design Template</vt:lpstr>
      </vt:variant>
      <vt:variant>
        <vt:i4>12</vt:i4>
      </vt:variant>
      <vt:variant>
        <vt:lpstr>Slide Titles</vt:lpstr>
      </vt:variant>
      <vt:variant>
        <vt:i4>33</vt:i4>
      </vt:variant>
    </vt:vector>
  </HeadingPairs>
  <TitlesOfParts>
    <vt:vector size="50" baseType="lpstr">
      <vt:lpstr>Arial</vt:lpstr>
      <vt:lpstr>Calibri</vt:lpstr>
      <vt:lpstr>Wingdings</vt:lpstr>
      <vt:lpstr>Times</vt:lpstr>
      <vt:lpstr>Symbol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Chapter 11</vt:lpstr>
      <vt:lpstr>Learning Objectives</vt:lpstr>
      <vt:lpstr>Separate Compilation</vt:lpstr>
      <vt:lpstr>Class Separation</vt:lpstr>
      <vt:lpstr>Encapsulation Reviewed</vt:lpstr>
      <vt:lpstr>Encapsulation Rules</vt:lpstr>
      <vt:lpstr>More Class Separation</vt:lpstr>
      <vt:lpstr>Class Header Files</vt:lpstr>
      <vt:lpstr>Class Implementation Files</vt:lpstr>
      <vt:lpstr>Class Files</vt:lpstr>
      <vt:lpstr>Multiple Compiles of Header Files</vt:lpstr>
      <vt:lpstr>Using #ifndef</vt:lpstr>
      <vt:lpstr>Other Library Files</vt:lpstr>
      <vt:lpstr>Namespaces</vt:lpstr>
      <vt:lpstr>using Directive</vt:lpstr>
      <vt:lpstr>Namespace std</vt:lpstr>
      <vt:lpstr>Global Namespace</vt:lpstr>
      <vt:lpstr>Multiple Names</vt:lpstr>
      <vt:lpstr>Specifying Namespaces</vt:lpstr>
      <vt:lpstr>Creating a Namespace</vt:lpstr>
      <vt:lpstr>Creating a Namespace Example</vt:lpstr>
      <vt:lpstr>using Declarations</vt:lpstr>
      <vt:lpstr>using Definitions and Declarations</vt:lpstr>
      <vt:lpstr>Qualifying Names</vt:lpstr>
      <vt:lpstr>Naming Namespaces</vt:lpstr>
      <vt:lpstr>Class Namespace Example:  Display 11.6  Placing a Class  in a Namespace (Header File) </vt:lpstr>
      <vt:lpstr>Class Namespace Example:  Display 11.7  Placing a Class  in a Namespace (Implementation File) </vt:lpstr>
      <vt:lpstr>Unnamed Namespaces</vt:lpstr>
      <vt:lpstr>Global vs. Unnamed Namespaces</vt:lpstr>
      <vt:lpstr>Nested Namespaces</vt:lpstr>
      <vt:lpstr>Hiding Helping Functions</vt:lpstr>
      <vt:lpstr>Summary 1</vt:lpstr>
      <vt:lpstr>Summary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Kenrick</dc:creator>
  <cp:lastModifiedBy>usnidem</cp:lastModifiedBy>
  <cp:revision>16</cp:revision>
  <dcterms:created xsi:type="dcterms:W3CDTF">2006-08-16T00:00:00Z</dcterms:created>
  <dcterms:modified xsi:type="dcterms:W3CDTF">2012-05-08T14:08:21Z</dcterms:modified>
</cp:coreProperties>
</file>