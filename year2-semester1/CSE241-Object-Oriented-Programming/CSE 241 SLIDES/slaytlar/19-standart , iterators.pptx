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03" r:id="rId28"/>
    <p:sldId id="304" r:id="rId29"/>
    <p:sldId id="282" r:id="rId30"/>
    <p:sldId id="306" r:id="rId31"/>
    <p:sldId id="307" r:id="rId32"/>
    <p:sldId id="308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5040F3E-F83C-4CAF-8209-4C96D9CD0D57}" type="datetimeFigureOut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E9A835E-DE4C-4E4C-9430-4193DD870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197AF4F-E016-43C9-B50E-D57C7CABAED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A7B0A5-8525-4982-984D-88A41D5BAAF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416A4C-793F-4784-BAC9-3700F0B07C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566D26-8819-4C35-A0F6-46C68B454E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4ED48A-9D92-4F92-860C-224C803A276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2EB0FE-3B71-498D-9E5A-A06663B13F4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22BEAD-7C85-4BDC-A5C8-4646B812DE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66C1C7-3009-4014-BCA3-B0D12E594C1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FBC7CF-7DA3-4831-938C-CBB0EFCBA9C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F29C43-8690-4CE1-AFDE-0E9AAE9D45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0296F7-C338-48E9-ADB7-E2B73F53EF7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C9AD91-F617-4416-A056-D6640EDB8C1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559511-BE31-409B-8B81-426EFC1FB2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590A8B-609C-4501-B17A-7E34B34F47C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A8B067-836A-4D7F-B926-9CE088C17CF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EF1D3FE-0677-45C7-9511-E309506CB17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6FEF9-6D06-4CC7-B6DF-D89C85BA7D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050A69-C702-4629-8C1A-808092AA4F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67B43E5-FF76-4131-B97A-3605986C375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C2A45A-9458-42BF-BFA4-FB86A12167C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A15C351-B120-4352-B6F2-6DA1FE3267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314735-9887-44D4-90DC-15E92660A0D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79E23F-A875-4DF1-9E04-BA1DC408BB5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08317D-1200-467A-B6C9-F0B967EA60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9368F8-6C04-4E3C-A81C-9857B6CB9EF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DCA8C8-9987-4EBF-8E3A-DE05CB280C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6C6B08-B455-4021-B8FC-3D409B031B6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A60101-AA67-4B59-8790-9CE988A1F10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5419C1-8A53-4859-9076-D5E4C2FCA19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6CC5E7-1E2B-46B9-A5FF-7F972DA9B01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07181B-1232-47B1-AC61-760E8E046C9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0C0CD4-9C26-4B23-AD91-99729320D58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3D7198-43AE-4D87-951B-528BC2DBE1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DD056B-2E7E-492B-974E-9BBE929A9E7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790542-52E2-4B19-A749-8941788BCC8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B8A71F-64C8-4035-92A3-2CD4F72B392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88D944-97C7-4609-9A32-932102FE59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7B04CF-9D77-4301-A510-5032C7AECF9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CA966D-572A-4291-9947-2865DE243E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4C9F54-EA3C-4FED-A57D-DF0972B5DD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B0FEB8-5E72-4FBC-B8C8-3BFB522311F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1ED795-2DFF-4431-A6BF-D99F2A23FAB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6486811-3097-4699-99E1-5ABAF61EDA0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D591BA-4C1E-4C9F-8249-2B17642B643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315EBF-93DF-47F8-9F77-A25E96361B8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C77864-E3AE-4E79-962D-81A2F6F1E14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1E9D0E-1A4E-485E-A9FE-57589A7302D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060A7A-4F93-4D4F-B11D-09B0B2BD381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06859A-46A8-4DB1-A442-D140A65790E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498E07-77DD-4990-825D-EB97AA53D5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CA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FB44E7-0E10-420B-AA05-2192374B952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CA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1A2058-2B7E-42F3-8F13-83E0D72C0FF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57A07-8E4B-43FD-B22A-D6C8FFC558F9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8A951081-9786-48CE-9781-A4BA3EB966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DF65F-1777-457F-A0A3-409989110E20}" type="datetime1">
              <a:rPr lang="en-US"/>
              <a:pPr>
                <a:defRPr/>
              </a:pPr>
              <a:t>1/1/24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84219D18-5D10-4E4C-9DDA-CA2F8F9BA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1B7DD-1647-4A5B-B309-B4A2938B11E6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B8D87607-027A-4B62-AA38-94ED02E196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50820-9DA6-431F-A2B8-0CFC3EE6533E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5E7F8058-2C4D-4751-863E-BA1535451C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D270A-E780-4011-8576-07DA4E5472B2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AD134437-E583-480D-9CCC-A1142D3E39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33F61-6CD4-4636-9341-D4FA8D96E950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BC10969B-0EE4-4227-BB67-978291301C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26272D-CD64-42B4-873A-4BA6F14A3FF5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FF218394-61D3-4449-8DE9-D9F936C749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30FC1-D3EB-4ADA-9065-17F806C174CB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A2D4E7FE-940A-4E0E-8F5C-DF4747C3ED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646F1-F36F-4C26-9EEE-A5C966B242F4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33A8E056-6548-490B-A844-8791DEA396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FAA48-DA52-42CB-A34C-840F2FA2629F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7A7D90D1-A5C5-4894-B1C7-F1764873B1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CC396-ACE7-4830-AA9C-7CDB393646EE}" type="datetime1">
              <a:rPr lang="en-US"/>
              <a:pPr>
                <a:defRPr/>
              </a:pPr>
              <a:t>1/1/24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19-</a:t>
            </a:r>
            <a:fld id="{8C5458AF-EB22-48B4-8C3F-973D13E612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0ECF309-62DE-4BCC-A11A-91FF1C9601DE}" type="datetime1">
              <a:rPr lang="en-US"/>
              <a:pPr>
                <a:defRPr/>
              </a:pPr>
              <a:t>1/1/24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1660E8F2-23E0-486F-ABF8-7915FE9041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/>
              <a:t>Chapter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Standard Template Library</a:t>
            </a:r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Iterators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Constant and mutable iterators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Reverse iterators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Containers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Sequential containers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Container adapters stack and 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Associative Containers set and map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Generic 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Big-O notation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Sequence, set, and sorting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90D47895-A768-4D77-9976-9F5DDF3FD2F9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Introduction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Recall stack and queue data structures</a:t>
            </a:r>
          </a:p>
          <a:p>
            <a:pPr lvl="1" eaLnBrk="1" hangingPunct="1"/>
            <a:r>
              <a:rPr lang="en-US" sz="2400"/>
              <a:t>We created our own</a:t>
            </a:r>
          </a:p>
          <a:p>
            <a:pPr lvl="1" eaLnBrk="1" hangingPunct="1"/>
            <a:r>
              <a:rPr lang="en-US" sz="2400"/>
              <a:t>Large collection of standard data structures exists</a:t>
            </a:r>
          </a:p>
          <a:p>
            <a:pPr lvl="1" eaLnBrk="1" hangingPunct="1"/>
            <a:r>
              <a:rPr lang="en-US" sz="2400"/>
              <a:t>Make sense to have standard portable</a:t>
            </a:r>
            <a:br>
              <a:rPr lang="en-US" sz="2400"/>
            </a:br>
            <a:r>
              <a:rPr lang="en-US" sz="2400"/>
              <a:t>implementations of them!</a:t>
            </a:r>
          </a:p>
          <a:p>
            <a:pPr eaLnBrk="1" hangingPunct="1"/>
            <a:r>
              <a:rPr lang="en-US" sz="2800"/>
              <a:t>Standard Template Library (STL)</a:t>
            </a:r>
          </a:p>
          <a:p>
            <a:pPr lvl="1" eaLnBrk="1" hangingPunct="1"/>
            <a:r>
              <a:rPr lang="en-US" sz="2400"/>
              <a:t>Includes libraries for all such data structures</a:t>
            </a:r>
          </a:p>
          <a:p>
            <a:pPr lvl="2" eaLnBrk="1" hangingPunct="1"/>
            <a:r>
              <a:rPr lang="en-US" sz="2000"/>
              <a:t>Like container classes: stacks and queues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A5476C18-DB4B-4806-B477-2816465DE4BF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Iterators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Recall: generalization of a pointer</a:t>
            </a:r>
          </a:p>
          <a:p>
            <a:pPr lvl="1" eaLnBrk="1" hangingPunct="1"/>
            <a:r>
              <a:rPr lang="en-US" sz="2400"/>
              <a:t>Typically even implemented with pointer!</a:t>
            </a:r>
          </a:p>
          <a:p>
            <a:pPr eaLnBrk="1" hangingPunct="1"/>
            <a:r>
              <a:rPr lang="en-US" sz="2800"/>
              <a:t>"Abstraction" of iterators</a:t>
            </a:r>
          </a:p>
          <a:p>
            <a:pPr lvl="1" eaLnBrk="1" hangingPunct="1"/>
            <a:r>
              <a:rPr lang="en-US" sz="2400"/>
              <a:t>Designed to hide details of implementation</a:t>
            </a:r>
          </a:p>
          <a:p>
            <a:pPr lvl="1" eaLnBrk="1" hangingPunct="1"/>
            <a:r>
              <a:rPr lang="en-US" sz="2400"/>
              <a:t>Provide uniform interface across different</a:t>
            </a:r>
            <a:br>
              <a:rPr lang="en-US" sz="2400"/>
            </a:br>
            <a:r>
              <a:rPr lang="en-US" sz="2400"/>
              <a:t>container classes</a:t>
            </a:r>
          </a:p>
          <a:p>
            <a:pPr eaLnBrk="1" hangingPunct="1"/>
            <a:r>
              <a:rPr lang="en-US" sz="2800"/>
              <a:t>Each container class has "own" iterator type</a:t>
            </a:r>
          </a:p>
          <a:p>
            <a:pPr lvl="1" eaLnBrk="1" hangingPunct="1"/>
            <a:r>
              <a:rPr lang="en-US" sz="2400"/>
              <a:t>Similar to how each data type has own</a:t>
            </a:r>
            <a:br>
              <a:rPr lang="en-US" sz="2400"/>
            </a:br>
            <a:r>
              <a:rPr lang="en-US" sz="2400"/>
              <a:t>pointer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DDAA612-A954-43CC-9520-A0555686E0AA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Manipulating Iterators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Recall using overloaded operators:</a:t>
            </a:r>
          </a:p>
          <a:p>
            <a:pPr lvl="1" eaLnBrk="1" hangingPunct="1"/>
            <a:r>
              <a:rPr lang="en-US" sz="2400"/>
              <a:t>++, --, ==, !=</a:t>
            </a:r>
          </a:p>
          <a:p>
            <a:pPr lvl="1" eaLnBrk="1" hangingPunct="1"/>
            <a:r>
              <a:rPr lang="en-US" sz="2400"/>
              <a:t>*</a:t>
            </a:r>
          </a:p>
          <a:p>
            <a:pPr lvl="2" eaLnBrk="1" hangingPunct="1"/>
            <a:r>
              <a:rPr lang="en-US" sz="2000"/>
              <a:t>So if p is an iterator variable, *p gives access to data</a:t>
            </a:r>
            <a:br>
              <a:rPr lang="en-US" sz="2000"/>
            </a:br>
            <a:r>
              <a:rPr lang="en-US" sz="2000"/>
              <a:t>pointed to by p</a:t>
            </a:r>
          </a:p>
          <a:p>
            <a:pPr eaLnBrk="1" hangingPunct="1"/>
            <a:r>
              <a:rPr lang="en-US" sz="2800"/>
              <a:t>Vector template class</a:t>
            </a:r>
          </a:p>
          <a:p>
            <a:pPr lvl="1" eaLnBrk="1" hangingPunct="1"/>
            <a:r>
              <a:rPr lang="en-US" sz="2400"/>
              <a:t>Has all above overloads</a:t>
            </a:r>
          </a:p>
          <a:p>
            <a:pPr lvl="1" eaLnBrk="1" hangingPunct="1"/>
            <a:r>
              <a:rPr lang="en-US" sz="2400"/>
              <a:t>Also has members begin() and end()</a:t>
            </a:r>
            <a:br>
              <a:rPr lang="en-US" sz="2400"/>
            </a:br>
            <a:r>
              <a:rPr lang="en-US" sz="2400"/>
              <a:t>c.begin();	//Returns iterator for 1</a:t>
            </a:r>
            <a:r>
              <a:rPr lang="en-US" sz="2400" baseline="30000"/>
              <a:t>st</a:t>
            </a:r>
            <a:r>
              <a:rPr lang="en-US" sz="2400"/>
              <a:t> item in c</a:t>
            </a:r>
            <a:br>
              <a:rPr lang="en-US" sz="2400"/>
            </a:br>
            <a:r>
              <a:rPr lang="en-US" sz="2400"/>
              <a:t>c.end();		//Returns "test" value for end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DB4B1D7-537E-4B77-BBF2-450F40417331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Cycling with Iterators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Recall cycling ability:</a:t>
            </a:r>
            <a:br>
              <a:rPr lang="en-US"/>
            </a:br>
            <a:r>
              <a:rPr lang="en-US" sz="2800"/>
              <a:t>for (p=c.begin();p!=c.end();p++)</a:t>
            </a:r>
            <a:br>
              <a:rPr lang="en-US" sz="2800"/>
            </a:br>
            <a:r>
              <a:rPr lang="en-US" sz="2800"/>
              <a:t>	process *p	//*p is current data item</a:t>
            </a:r>
          </a:p>
          <a:p>
            <a:pPr eaLnBrk="1" hangingPunct="1"/>
            <a:r>
              <a:rPr lang="en-US"/>
              <a:t>Big picture so far…</a:t>
            </a:r>
          </a:p>
          <a:p>
            <a:pPr eaLnBrk="1" hangingPunct="1"/>
            <a:r>
              <a:rPr lang="en-US"/>
              <a:t>Keep in mind:</a:t>
            </a:r>
          </a:p>
          <a:p>
            <a:pPr lvl="1" eaLnBrk="1" hangingPunct="1"/>
            <a:r>
              <a:rPr lang="en-US"/>
              <a:t>Each container type in STL has own iterator types</a:t>
            </a:r>
          </a:p>
          <a:p>
            <a:pPr lvl="2" eaLnBrk="1" hangingPunct="1"/>
            <a:r>
              <a:rPr lang="en-US"/>
              <a:t>Even though they’re all used similarly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1D27CEB-A8F3-43C8-A305-99EB5518EF63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19.1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Iterators Used with a Vector 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F4679E0D-8B23-43E1-8FE8-EF87DFDC4F41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26628" name="TextBox 7"/>
          <p:cNvSpPr txBox="1">
            <a:spLocks noChangeArrowheads="1"/>
          </p:cNvSpPr>
          <p:nvPr/>
        </p:nvSpPr>
        <p:spPr bwMode="auto">
          <a:xfrm>
            <a:off x="609600" y="1443038"/>
            <a:ext cx="7551738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	//Program to demonstrate STL iterators.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	#include &lt;iostream&gt;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	#include &lt;vector&gt;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	using std::cout;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	using std::endl;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6	using std::vector;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7	int main( 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8	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9	    vector&lt;int&gt; container;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	    for (int i = 1; i &lt;= 4; i++)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	        container.push_back(i);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	    cout &lt;&lt; "Here is what is in the container:\n";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	    vector&lt;int&gt;::iterator p;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	    for (p = container.begin( ); p != container.end( ); p++)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	        cout &lt;&lt; *p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	    cout &lt;&lt; "Setting entries to 0:\n";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	    for (p = container.begin( ); p != container.end( ); p++)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	         *p = 0;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9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19.1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Iterators Used with a Vector (2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97394594-6FC9-4280-A28B-BE70E8AC832F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5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28676" name="Rectangle 7"/>
          <p:cNvSpPr>
            <a:spLocks noChangeArrowheads="1"/>
          </p:cNvSpPr>
          <p:nvPr/>
        </p:nvSpPr>
        <p:spPr bwMode="auto">
          <a:xfrm>
            <a:off x="533400" y="1600200"/>
            <a:ext cx="81534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	    cout &lt;&lt; "Container now contains:\n";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21	    for (p = container.begin( ); p != 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		   container.end( ); p++)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22	        cout &lt;&lt; *p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23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24	    return 0;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25	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3962400"/>
            <a:ext cx="4572000" cy="17541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1" cap="all" dirty="0">
                <a:latin typeface="Arial" pitchFamily="34" charset="0"/>
                <a:cs typeface="+mn-cs"/>
              </a:rPr>
              <a:t>Sample Dialogue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+mn-cs"/>
              </a:rPr>
              <a:t>Here is what is in the container: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+mn-cs"/>
              </a:rPr>
              <a:t>1 2 3 4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+mn-cs"/>
              </a:rPr>
              <a:t>Setting entries to 0: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+mn-cs"/>
              </a:rPr>
              <a:t>Container now contains: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+mn-cs"/>
              </a:rPr>
              <a:t>0 </a:t>
            </a:r>
            <a:r>
              <a:rPr lang="en-US" dirty="0" err="1">
                <a:latin typeface="Arial" pitchFamily="34" charset="0"/>
                <a:cs typeface="+mn-cs"/>
              </a:rPr>
              <a:t>0</a:t>
            </a:r>
            <a:r>
              <a:rPr lang="en-US" dirty="0">
                <a:latin typeface="Arial" pitchFamily="34" charset="0"/>
                <a:cs typeface="+mn-cs"/>
              </a:rPr>
              <a:t> </a:t>
            </a:r>
            <a:r>
              <a:rPr lang="en-US" dirty="0" err="1">
                <a:latin typeface="Arial" pitchFamily="34" charset="0"/>
                <a:cs typeface="+mn-cs"/>
              </a:rPr>
              <a:t>0</a:t>
            </a:r>
            <a:r>
              <a:rPr lang="en-US" dirty="0">
                <a:latin typeface="Arial" pitchFamily="34" charset="0"/>
                <a:cs typeface="+mn-cs"/>
              </a:rPr>
              <a:t> </a:t>
            </a:r>
            <a:r>
              <a:rPr lang="en-US" dirty="0" err="1">
                <a:latin typeface="Arial" pitchFamily="34" charset="0"/>
                <a:cs typeface="+mn-cs"/>
              </a:rPr>
              <a:t>0</a:t>
            </a:r>
            <a:endParaRPr lang="en-US" dirty="0">
              <a:latin typeface="Arial" pitchFamily="34" charset="0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Vector Iterator Types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Iterators for vectors of ints are of type:</a:t>
            </a:r>
            <a:br>
              <a:rPr lang="en-US"/>
            </a:br>
            <a:r>
              <a:rPr lang="en-US"/>
              <a:t>	std::vector&lt;int&gt;::iterator</a:t>
            </a:r>
          </a:p>
          <a:p>
            <a:pPr eaLnBrk="1" hangingPunct="1"/>
            <a:r>
              <a:rPr lang="en-US"/>
              <a:t>Iterators for lists of ints are of type:</a:t>
            </a:r>
            <a:br>
              <a:rPr lang="en-US"/>
            </a:br>
            <a:r>
              <a:rPr lang="en-US"/>
              <a:t>	std::list&lt;int&gt;::iterator</a:t>
            </a:r>
          </a:p>
          <a:p>
            <a:pPr eaLnBrk="1" hangingPunct="1">
              <a:spcBef>
                <a:spcPct val="100000"/>
              </a:spcBef>
            </a:pPr>
            <a:r>
              <a:rPr lang="en-US"/>
              <a:t>Vector is in std namespace, so need:</a:t>
            </a:r>
            <a:br>
              <a:rPr lang="en-US"/>
            </a:br>
            <a:r>
              <a:rPr lang="en-US"/>
              <a:t>using std::vector&lt;int&gt;::iterator;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F8AD4A3-1D96-424D-9E00-A46B2C6AEC3F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Kinds of Iterators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Different containers </a:t>
            </a:r>
            <a:r>
              <a:rPr lang="en-US">
                <a:sym typeface="Wingdings" pitchFamily="2" charset="2"/>
              </a:rPr>
              <a:t></a:t>
            </a:r>
            <a:r>
              <a:rPr lang="en-US"/>
              <a:t> different iterators</a:t>
            </a:r>
          </a:p>
          <a:p>
            <a:pPr eaLnBrk="1" hangingPunct="1"/>
            <a:r>
              <a:rPr lang="en-US"/>
              <a:t>Vector iterators</a:t>
            </a:r>
          </a:p>
          <a:p>
            <a:pPr lvl="1" eaLnBrk="1" hangingPunct="1"/>
            <a:r>
              <a:rPr lang="en-US"/>
              <a:t>Most "general" form</a:t>
            </a:r>
          </a:p>
          <a:p>
            <a:pPr lvl="1" eaLnBrk="1" hangingPunct="1"/>
            <a:r>
              <a:rPr lang="en-US"/>
              <a:t>All operations work with vector iterators</a:t>
            </a:r>
          </a:p>
          <a:p>
            <a:pPr lvl="1" eaLnBrk="1" hangingPunct="1"/>
            <a:r>
              <a:rPr lang="en-US"/>
              <a:t>Vector container great for iterator examples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1874150-F7EB-4B55-B270-5D1EE674787B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/>
              <a:t>Random Access: </a:t>
            </a:r>
            <a:br>
              <a:rPr lang="en-US" sz="3000"/>
            </a:br>
            <a:r>
              <a:rPr lang="en-US" sz="3000" b="1"/>
              <a:t>Display 19.2  </a:t>
            </a:r>
            <a:r>
              <a:rPr lang="en-US" sz="3000"/>
              <a:t>Bidirectional and </a:t>
            </a:r>
            <a:br>
              <a:rPr lang="en-US" sz="3000"/>
            </a:br>
            <a:r>
              <a:rPr lang="en-US" sz="3000"/>
              <a:t>Random-Access Iterator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33337CD-3952-44E2-852F-6190CDCB341C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1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pic>
        <p:nvPicPr>
          <p:cNvPr id="34820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600200"/>
            <a:ext cx="6732588" cy="467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Iterator Classifications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Forward iterators: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++ works on iterator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Bidirectional iterators: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Both ++ and – work on iterator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Random-access iterators: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++, --, and random access all work </a:t>
            </a:r>
            <a:br>
              <a:rPr lang="en-US"/>
            </a:br>
            <a:r>
              <a:rPr lang="en-US"/>
              <a:t>with iterator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These are "kinds" of iterators, not types!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89F94B87-10FC-4E28-AE60-E9BDE109B1E7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Constant and Mutable Iterators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Dereferencing operator’s behavior dictates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Constant iterator: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* produces read-only version of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Can use *p to assign to variable or output,</a:t>
            </a:r>
            <a:br>
              <a:rPr lang="en-US" sz="2400" dirty="0"/>
            </a:br>
            <a:r>
              <a:rPr lang="en-US" sz="2400" dirty="0"/>
              <a:t>but cannot change element in container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E.g., *p = &lt;anything&gt;; is illegal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Mutable iterator: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*p can be assigned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Changes corresponding element in container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i.e.: *p returns an </a:t>
            </a:r>
            <a:r>
              <a:rPr lang="en-US" sz="2400" dirty="0" err="1"/>
              <a:t>lvalue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7131B6DD-2BC0-4B43-AFA4-59509E3861FB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Reverse Iterators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To cycle elements in reverse order</a:t>
            </a:r>
          </a:p>
          <a:p>
            <a:pPr lvl="1" eaLnBrk="1" hangingPunct="1"/>
            <a:r>
              <a:rPr lang="en-US" sz="2400"/>
              <a:t>Requires container with bidirectional iterators</a:t>
            </a:r>
          </a:p>
          <a:p>
            <a:pPr eaLnBrk="1" hangingPunct="1"/>
            <a:r>
              <a:rPr lang="en-US" sz="2800"/>
              <a:t>Might consider:</a:t>
            </a:r>
            <a:br>
              <a:rPr lang="en-US" sz="2800"/>
            </a:br>
            <a:r>
              <a:rPr lang="en-US" sz="2400"/>
              <a:t>iterator p;</a:t>
            </a:r>
            <a:br>
              <a:rPr lang="en-US" sz="2400"/>
            </a:br>
            <a:r>
              <a:rPr lang="en-US" sz="2400"/>
              <a:t>for (p=container.end();p!=container.begin(); p--)</a:t>
            </a:r>
            <a:br>
              <a:rPr lang="en-US" sz="2400"/>
            </a:br>
            <a:r>
              <a:rPr lang="en-US" sz="2400"/>
              <a:t>	cout &lt;&lt; *p &lt;&lt; " " ;</a:t>
            </a:r>
          </a:p>
          <a:p>
            <a:pPr lvl="1" eaLnBrk="1" hangingPunct="1"/>
            <a:r>
              <a:rPr lang="en-US" sz="2400"/>
              <a:t>But recall: end() is just "sentinel", begin() not!</a:t>
            </a:r>
          </a:p>
          <a:p>
            <a:pPr lvl="1" eaLnBrk="1" hangingPunct="1"/>
            <a:r>
              <a:rPr lang="en-US" sz="2400"/>
              <a:t>Might work on some systems, but not most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6E3ACB25-C577-4A3E-963C-6413A842A67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Reverse Iterators Correct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To correctly cycle elements in reverse</a:t>
            </a:r>
            <a:br>
              <a:rPr lang="en-US" sz="2800" dirty="0"/>
            </a:br>
            <a:r>
              <a:rPr lang="en-US" sz="2800" dirty="0"/>
              <a:t>order:</a:t>
            </a:r>
            <a:br>
              <a:rPr lang="en-US" sz="2800" dirty="0"/>
            </a:br>
            <a:r>
              <a:rPr lang="en-US" sz="2400" dirty="0" err="1"/>
              <a:t>reverse_iterator</a:t>
            </a:r>
            <a:r>
              <a:rPr lang="en-US" sz="2400" dirty="0"/>
              <a:t> p;</a:t>
            </a:r>
            <a:br>
              <a:rPr lang="en-US" sz="2400" dirty="0"/>
            </a:br>
            <a:r>
              <a:rPr lang="en-US" sz="2400" dirty="0"/>
              <a:t>for (</a:t>
            </a:r>
            <a:r>
              <a:rPr lang="en-US" sz="2400" dirty="0" err="1"/>
              <a:t>rp</a:t>
            </a:r>
            <a:r>
              <a:rPr lang="en-US" sz="2400" dirty="0"/>
              <a:t>=</a:t>
            </a:r>
            <a:r>
              <a:rPr lang="en-US" sz="2400" dirty="0" err="1"/>
              <a:t>container.rbegin</a:t>
            </a:r>
            <a:r>
              <a:rPr lang="en-US" sz="2400" dirty="0"/>
              <a:t>();</a:t>
            </a:r>
            <a:r>
              <a:rPr lang="en-US" sz="2400" dirty="0" err="1"/>
              <a:t>rp</a:t>
            </a:r>
            <a:r>
              <a:rPr lang="en-US" sz="2400" dirty="0"/>
              <a:t>!=</a:t>
            </a:r>
            <a:r>
              <a:rPr lang="en-US" sz="2400" dirty="0" err="1"/>
              <a:t>container.rend</a:t>
            </a:r>
            <a:r>
              <a:rPr lang="en-US" sz="2400" dirty="0"/>
              <a:t>(); </a:t>
            </a:r>
            <a:r>
              <a:rPr lang="en-US" sz="2400" dirty="0" err="1"/>
              <a:t>rp</a:t>
            </a:r>
            <a:r>
              <a:rPr lang="en-US" sz="2400" dirty="0"/>
              <a:t>++)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 err="1"/>
              <a:t>cout</a:t>
            </a:r>
            <a:r>
              <a:rPr lang="en-US" sz="2400" dirty="0"/>
              <a:t> &lt;&lt; *</a:t>
            </a:r>
            <a:r>
              <a:rPr lang="en-US" sz="2400" dirty="0" err="1"/>
              <a:t>rp</a:t>
            </a:r>
            <a:r>
              <a:rPr lang="en-US" sz="2400" dirty="0"/>
              <a:t> &lt;&lt; " " ;</a:t>
            </a:r>
          </a:p>
          <a:p>
            <a:pPr eaLnBrk="1" hangingPunct="1"/>
            <a:r>
              <a:rPr lang="en-US" sz="2800" dirty="0" err="1"/>
              <a:t>rbegin</a:t>
            </a:r>
            <a:r>
              <a:rPr lang="en-US" sz="2800" dirty="0"/>
              <a:t>()</a:t>
            </a:r>
          </a:p>
          <a:p>
            <a:pPr lvl="1" eaLnBrk="1" hangingPunct="1"/>
            <a:r>
              <a:rPr lang="en-US" sz="2400" dirty="0"/>
              <a:t>Returns iterator at last element</a:t>
            </a:r>
          </a:p>
          <a:p>
            <a:pPr eaLnBrk="1" hangingPunct="1"/>
            <a:r>
              <a:rPr lang="en-US" sz="2800" dirty="0"/>
              <a:t>rend(</a:t>
            </a:r>
            <a:r>
              <a:rPr lang="en-US" sz="2800"/>
              <a:t>xd)</a:t>
            </a:r>
          </a:p>
          <a:p>
            <a:pPr lvl="1" eaLnBrk="1" hangingPunct="1"/>
            <a:r>
              <a:rPr lang="en-US" sz="2400" dirty="0"/>
              <a:t>Returns sentinel "end" marker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62C8A664-B87F-4141-8644-877DB95EB991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Compiler Problems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Some compilers problematic with iterator</a:t>
            </a:r>
            <a:br>
              <a:rPr lang="en-US" sz="2800"/>
            </a:br>
            <a:r>
              <a:rPr lang="en-US" sz="2800"/>
              <a:t>declarations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Consider our usage:</a:t>
            </a:r>
            <a:br>
              <a:rPr lang="en-US" sz="2800"/>
            </a:br>
            <a:r>
              <a:rPr lang="en-US" sz="2400"/>
              <a:t>using std::vector&lt;char&gt;::iterator;</a:t>
            </a:r>
            <a:br>
              <a:rPr lang="en-US" sz="2400"/>
            </a:br>
            <a:r>
              <a:rPr lang="en-US" sz="2400"/>
              <a:t>…</a:t>
            </a:r>
            <a:br>
              <a:rPr lang="en-US" sz="2400"/>
            </a:br>
            <a:r>
              <a:rPr lang="en-US" sz="2400"/>
              <a:t>iterator p;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Alternatively:</a:t>
            </a:r>
            <a:br>
              <a:rPr lang="en-US" sz="2800"/>
            </a:br>
            <a:r>
              <a:rPr lang="en-US" sz="2400"/>
              <a:t>std::vector&lt;char&gt;::iterator p;</a:t>
            </a:r>
            <a:endParaRPr lang="en-US" sz="28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And others…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Try various forms if compiler problematic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C5A9760-4C32-4803-BC2F-DA4DE3CE8DF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Containers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Container classes in STL</a:t>
            </a:r>
          </a:p>
          <a:p>
            <a:pPr lvl="1" eaLnBrk="1" hangingPunct="1"/>
            <a:r>
              <a:rPr lang="en-US" sz="2000"/>
              <a:t>Different kinds of data structures</a:t>
            </a:r>
          </a:p>
          <a:p>
            <a:pPr lvl="1" eaLnBrk="1" hangingPunct="1"/>
            <a:r>
              <a:rPr lang="en-US" sz="2000"/>
              <a:t>Like lists, queues, stacks</a:t>
            </a:r>
          </a:p>
          <a:p>
            <a:pPr eaLnBrk="1" hangingPunct="1"/>
            <a:r>
              <a:rPr lang="en-US" sz="2400"/>
              <a:t>Each is template class with parameter for particular data type to be stored</a:t>
            </a:r>
          </a:p>
          <a:p>
            <a:pPr lvl="1" eaLnBrk="1" hangingPunct="1"/>
            <a:r>
              <a:rPr lang="en-US" sz="2000"/>
              <a:t>e.g., Lists of ints, doubles or myClass types</a:t>
            </a:r>
          </a:p>
          <a:p>
            <a:pPr eaLnBrk="1" hangingPunct="1"/>
            <a:r>
              <a:rPr lang="en-US" sz="2400"/>
              <a:t>Each has own iterators</a:t>
            </a:r>
          </a:p>
          <a:p>
            <a:pPr lvl="1" eaLnBrk="1" hangingPunct="1"/>
            <a:r>
              <a:rPr lang="en-US" sz="2000"/>
              <a:t>One might have bidirectional, another might just have forward iterators</a:t>
            </a:r>
          </a:p>
          <a:p>
            <a:pPr eaLnBrk="1" hangingPunct="1"/>
            <a:r>
              <a:rPr lang="en-US" sz="2400"/>
              <a:t>But all operators and members have same meaning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F5CF0C09-4675-4243-8441-4ACA372CC11A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Sequential Containers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Arranges list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element, next element, … to last element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Linked list is sequential container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Earlier linked lists were "singly linked lists"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One link per node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STL has no "singly linked list"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Only "doubly linked list": template class </a:t>
            </a:r>
            <a:r>
              <a:rPr lang="en-US" i="1"/>
              <a:t>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A988089-6266-4F0E-95A1-096B099E9F2E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Display 19.4  </a:t>
            </a:r>
            <a:r>
              <a:rPr lang="en-US"/>
              <a:t>Two Kinds of Lists</a:t>
            </a:r>
          </a:p>
        </p:txBody>
      </p:sp>
      <p:pic>
        <p:nvPicPr>
          <p:cNvPr id="51202" name="Picture 4" descr="C:\WINDOWS\Desktop\Oh_type\sacitch_C++_ppt\gif\savitchc19d0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358900" y="1447800"/>
            <a:ext cx="7078663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CAAA42C7-F531-4719-AF46-4DAEEC6CB1A9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19.5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Using the list Template Class(1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D99D60D-214A-468A-8537-78D1A33E3B79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1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53252" name="Rectangle 7"/>
          <p:cNvSpPr>
            <a:spLocks noChangeArrowheads="1"/>
          </p:cNvSpPr>
          <p:nvPr/>
        </p:nvSpPr>
        <p:spPr bwMode="auto">
          <a:xfrm>
            <a:off x="533400" y="1600200"/>
            <a:ext cx="83820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	//Program to demonstrate the STL template class list.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	#include &lt;iostream&gt;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	#include &lt;list&gt;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	using std::cout;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	using std::endl;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6	using std::list;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7	int main( 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8	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9	    list&lt;int&gt; listObject;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	    for (int i = 1; i &lt;= 3; i++)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	        listObject.push_back(i);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	    cout &lt;&lt; "List contains:\n";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	    list&lt;int&gt;::iterator iter;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	    for (iter = listObject.begin( ); iter != listObject.end( 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	 iter++)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	        cout &lt;&lt; *iter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19.5</a:t>
            </a:r>
            <a:r>
              <a:rPr lang="en-US" sz="3600"/>
              <a:t>  </a:t>
            </a:r>
            <a:br>
              <a:rPr lang="en-US" sz="3600"/>
            </a:br>
            <a:r>
              <a:rPr lang="en-US" sz="3600"/>
              <a:t>Using the list Template Class(2 of 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609163DB-74DB-44CB-894D-A3A09D6DD8B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29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55300" name="Rectangle 7"/>
          <p:cNvSpPr>
            <a:spLocks noChangeArrowheads="1"/>
          </p:cNvSpPr>
          <p:nvPr/>
        </p:nvSpPr>
        <p:spPr bwMode="auto">
          <a:xfrm>
            <a:off x="533400" y="1600200"/>
            <a:ext cx="83820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	    cout &lt;&lt; "Setting all entries to 0:\n";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	    for (iter = listObject.begin( ); iter != listObject.end( 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		 iter++)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	        *iter = 0;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	    cout &lt;&lt; "List now contains:\n";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21	    for (iter = listObject.begin( ); iter != listObject.end( 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		 iter++)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22	        cout &lt;&lt; *iter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23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24	    return 0;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25	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SAMPLE DIALOGUE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List contains: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1 2 3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Setting all entries to 0: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List now contains: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0 0 0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Container Adapters stack and queue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Container adapters are template classes</a:t>
            </a:r>
          </a:p>
          <a:p>
            <a:pPr lvl="1" eaLnBrk="1" hangingPunct="1"/>
            <a:r>
              <a:rPr lang="en-US" sz="2400"/>
              <a:t>Implemented "on top of" other classes</a:t>
            </a:r>
          </a:p>
          <a:p>
            <a:pPr eaLnBrk="1" hangingPunct="1"/>
            <a:r>
              <a:rPr lang="en-US" sz="2800"/>
              <a:t>Example:</a:t>
            </a:r>
            <a:br>
              <a:rPr lang="en-US" sz="2800"/>
            </a:br>
            <a:r>
              <a:rPr lang="en-US" sz="2400" i="1"/>
              <a:t>stack</a:t>
            </a:r>
            <a:r>
              <a:rPr lang="en-US" sz="2400"/>
              <a:t> template class by default implemented on</a:t>
            </a:r>
            <a:br>
              <a:rPr lang="en-US" sz="2400"/>
            </a:br>
            <a:r>
              <a:rPr lang="en-US" sz="2400"/>
              <a:t>top of </a:t>
            </a:r>
            <a:r>
              <a:rPr lang="en-US" sz="2400" i="1"/>
              <a:t>deque</a:t>
            </a:r>
            <a:r>
              <a:rPr lang="en-US" sz="2400"/>
              <a:t> template class</a:t>
            </a:r>
          </a:p>
          <a:p>
            <a:pPr lvl="1" eaLnBrk="1" hangingPunct="1"/>
            <a:r>
              <a:rPr lang="en-US" sz="2400"/>
              <a:t>Buried in stack’s implementation is deque where all data resides</a:t>
            </a:r>
          </a:p>
          <a:p>
            <a:pPr eaLnBrk="1" hangingPunct="1"/>
            <a:r>
              <a:rPr lang="en-US" sz="2800"/>
              <a:t>Others:</a:t>
            </a:r>
            <a:br>
              <a:rPr lang="en-US" sz="2800"/>
            </a:br>
            <a:r>
              <a:rPr lang="en-US" sz="2800"/>
              <a:t>queue, priority_queue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FCFA2E65-DAAE-4D14-99D0-A06BA5396C69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Specifying Container Adapters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Adapter template classes have "default"</a:t>
            </a:r>
            <a:br>
              <a:rPr lang="en-US" sz="2800"/>
            </a:br>
            <a:r>
              <a:rPr lang="en-US" sz="2800"/>
              <a:t>containers underneath</a:t>
            </a:r>
          </a:p>
          <a:p>
            <a:pPr lvl="1" eaLnBrk="1" hangingPunct="1"/>
            <a:r>
              <a:rPr lang="en-US" sz="2400"/>
              <a:t>But can specify different underlying container</a:t>
            </a:r>
          </a:p>
          <a:p>
            <a:pPr lvl="1" eaLnBrk="1" hangingPunct="1"/>
            <a:r>
              <a:rPr lang="en-US" sz="2400"/>
              <a:t>Examples:</a:t>
            </a:r>
            <a:br>
              <a:rPr lang="en-US" sz="2400"/>
            </a:br>
            <a:r>
              <a:rPr lang="en-US" sz="2400"/>
              <a:t>stack template class 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 any sequence container</a:t>
            </a:r>
            <a:br>
              <a:rPr lang="en-US" sz="2400"/>
            </a:br>
            <a:r>
              <a:rPr lang="en-US" sz="2400"/>
              <a:t>priority_queue 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 default is vector, could be others</a:t>
            </a:r>
          </a:p>
          <a:p>
            <a:pPr eaLnBrk="1" hangingPunct="1"/>
            <a:r>
              <a:rPr lang="en-US" sz="2800"/>
              <a:t>Implementing Example:</a:t>
            </a:r>
            <a:br>
              <a:rPr lang="en-US" sz="2800"/>
            </a:br>
            <a:r>
              <a:rPr lang="en-US" sz="2800"/>
              <a:t>stack&lt;int, vector&lt;int&gt; &gt;</a:t>
            </a:r>
          </a:p>
          <a:p>
            <a:pPr lvl="1" eaLnBrk="1" hangingPunct="1"/>
            <a:endParaRPr lang="en-US" sz="2400"/>
          </a:p>
          <a:p>
            <a:pPr lvl="1" eaLnBrk="1" hangingPunct="1"/>
            <a:r>
              <a:rPr lang="en-US" sz="2400"/>
              <a:t>Makes vector underlying container for stack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2E3398D3-53F7-438F-A32F-9D613801A371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59397" name="TextBox 1"/>
          <p:cNvSpPr txBox="1">
            <a:spLocks noChangeArrowheads="1"/>
          </p:cNvSpPr>
          <p:nvPr/>
        </p:nvSpPr>
        <p:spPr bwMode="auto">
          <a:xfrm>
            <a:off x="4495800" y="5183188"/>
            <a:ext cx="2686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Note space between &gt; &gt;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068763" y="5033963"/>
            <a:ext cx="381000" cy="2809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Associative Containers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Associative container: simple database</a:t>
            </a:r>
          </a:p>
          <a:p>
            <a:pPr eaLnBrk="1" hangingPunct="1"/>
            <a:r>
              <a:rPr lang="en-US"/>
              <a:t>Store data</a:t>
            </a:r>
          </a:p>
          <a:p>
            <a:pPr lvl="1" eaLnBrk="1" hangingPunct="1"/>
            <a:r>
              <a:rPr lang="en-US"/>
              <a:t>Each data item has key</a:t>
            </a:r>
          </a:p>
          <a:p>
            <a:pPr eaLnBrk="1" hangingPunct="1"/>
            <a:r>
              <a:rPr lang="en-US"/>
              <a:t>Example:</a:t>
            </a:r>
            <a:br>
              <a:rPr lang="en-US"/>
            </a:br>
            <a:r>
              <a:rPr lang="en-US"/>
              <a:t>data: employee’s record as struct</a:t>
            </a:r>
            <a:br>
              <a:rPr lang="en-US"/>
            </a:br>
            <a:r>
              <a:rPr lang="en-US"/>
              <a:t>key: employee’s SSN</a:t>
            </a:r>
          </a:p>
          <a:p>
            <a:pPr lvl="1" eaLnBrk="1" hangingPunct="1"/>
            <a:r>
              <a:rPr lang="en-US"/>
              <a:t>Items retrieved based on 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551A19D8-FDA9-4385-AF53-219004876B4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set Template Class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Simplest container possible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Stores elements without repetition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1</a:t>
            </a:r>
            <a:r>
              <a:rPr lang="en-US" sz="2800" baseline="30000"/>
              <a:t>st</a:t>
            </a:r>
            <a:r>
              <a:rPr lang="en-US" sz="2800"/>
              <a:t> insertion places element in set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Each element is own key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Capabilities: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Add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Delete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Ask if element is in set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6DD3565B-9E19-4D69-BB66-717A6C4A9ED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set Template Class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Designed to be efficient</a:t>
            </a:r>
          </a:p>
          <a:p>
            <a:pPr lvl="1" eaLnBrk="1" hangingPunct="1">
              <a:spcBef>
                <a:spcPct val="50000"/>
              </a:spcBef>
            </a:pPr>
            <a:r>
              <a:rPr lang="en-US"/>
              <a:t>Stores values in sorted order</a:t>
            </a:r>
          </a:p>
          <a:p>
            <a:pPr lvl="1" eaLnBrk="1" hangingPunct="1">
              <a:spcBef>
                <a:spcPct val="50000"/>
              </a:spcBef>
            </a:pPr>
            <a:r>
              <a:rPr lang="en-US"/>
              <a:t>Can specify order:</a:t>
            </a:r>
            <a:br>
              <a:rPr lang="en-US"/>
            </a:br>
            <a:r>
              <a:rPr lang="en-US"/>
              <a:t>set&lt;T, </a:t>
            </a:r>
            <a:r>
              <a:rPr lang="en-US" i="1"/>
              <a:t>Ordering</a:t>
            </a:r>
            <a:r>
              <a:rPr lang="en-US"/>
              <a:t>&gt; s;</a:t>
            </a:r>
          </a:p>
          <a:p>
            <a:pPr lvl="2" eaLnBrk="1" hangingPunct="1">
              <a:spcBef>
                <a:spcPct val="35000"/>
              </a:spcBef>
            </a:pPr>
            <a:r>
              <a:rPr lang="en-US"/>
              <a:t>Ordering is well-behaved ordering relation that</a:t>
            </a:r>
            <a:br>
              <a:rPr lang="en-US"/>
            </a:br>
            <a:r>
              <a:rPr lang="en-US"/>
              <a:t>returns bool</a:t>
            </a:r>
          </a:p>
          <a:p>
            <a:pPr lvl="2" eaLnBrk="1" hangingPunct="1">
              <a:spcBef>
                <a:spcPct val="35000"/>
              </a:spcBef>
            </a:pPr>
            <a:r>
              <a:rPr lang="en-US"/>
              <a:t>None specified: use &lt; relational operator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C9A0663A-AE87-4D2A-975F-A45DA408B075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Using the set Template Class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D00AF6D0-63E6-4312-B1AA-41ECA2B1809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758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67588" name="Rectangle 5"/>
          <p:cNvSpPr>
            <a:spLocks noChangeArrowheads="1"/>
          </p:cNvSpPr>
          <p:nvPr/>
        </p:nvSpPr>
        <p:spPr bwMode="auto">
          <a:xfrm>
            <a:off x="533400" y="1447800"/>
            <a:ext cx="8382000" cy="519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	//Program to demonstrate use of the set template class.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	#include &lt;iostream&gt;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	#include &lt;set&gt;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	using std::cout;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	using std::endl;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6	using std::set;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7	int main( 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8	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9	    set&lt;char&gt; s;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	    s.insert(’A’);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	    s.insert(’D’);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	    s.insert(’D’);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	    s.insert(’C’);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	    s.insert(’C’);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	    s.insert(’B’);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	    cout &lt;&lt; "The set contains:\n";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	    set&lt;char&gt;::const_iterator p;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	    for (p = s.begin( ); p != s.end( ); p++)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	    cout &lt;&lt; *p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Using the set Template Class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508151A0-A89A-432E-89DE-85366183E4F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963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69636" name="Rectangle 5"/>
          <p:cNvSpPr>
            <a:spLocks noChangeArrowheads="1"/>
          </p:cNvSpPr>
          <p:nvPr/>
        </p:nvSpPr>
        <p:spPr bwMode="auto">
          <a:xfrm>
            <a:off x="533400" y="1600200"/>
            <a:ext cx="83820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21        cout &lt;&lt; "Set contains 'C':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22        if (s.find('C')==s.end( ))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23           cout &lt;&lt; " no "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24        else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26           cout &lt;&lt; " yes "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27	    cout &lt;&lt; "Removing C.\n";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28	    s.erase(’C’);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29	    for (p = s.begin( ); p != s.end( ); p++)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30	    cout &lt;&lt; *p &lt;&lt; "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31	    cout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32        cout &lt;&lt; "Set contains 'C': 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33        if (s.find('C')==s.end( ))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34            cout &lt;&lt; " no "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35        else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36            cout &lt;&lt; " yes "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37	    return 0;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38	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637" name="Rectangle 6"/>
          <p:cNvSpPr>
            <a:spLocks noChangeArrowheads="1"/>
          </p:cNvSpPr>
          <p:nvPr/>
        </p:nvSpPr>
        <p:spPr bwMode="auto">
          <a:xfrm>
            <a:off x="5791200" y="4038600"/>
            <a:ext cx="2667000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SAMPLE DIALOGUE</a:t>
            </a:r>
          </a:p>
          <a:p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The set contains: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A B C D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Set contains 'C':  yes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Removing C.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A B D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Set contains 'C':  no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Map Template Class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function given as set of ordered pairs</a:t>
            </a:r>
          </a:p>
          <a:p>
            <a:pPr lvl="1" eaLnBrk="1" hangingPunct="1"/>
            <a:r>
              <a:rPr lang="en-US"/>
              <a:t>For each value first, at most one value</a:t>
            </a:r>
            <a:br>
              <a:rPr lang="en-US"/>
            </a:br>
            <a:r>
              <a:rPr lang="en-US"/>
              <a:t>second in map</a:t>
            </a:r>
          </a:p>
          <a:p>
            <a:pPr eaLnBrk="1" hangingPunct="1"/>
            <a:r>
              <a:rPr lang="en-US"/>
              <a:t>Example map declaration:</a:t>
            </a:r>
            <a:br>
              <a:rPr lang="en-US"/>
            </a:br>
            <a:r>
              <a:rPr lang="en-US"/>
              <a:t>map&lt;string, int&gt; numberMap;</a:t>
            </a:r>
          </a:p>
          <a:p>
            <a:pPr eaLnBrk="1" hangingPunct="1"/>
            <a:r>
              <a:rPr lang="en-US"/>
              <a:t>Can use [ ] notation to access the map</a:t>
            </a:r>
          </a:p>
          <a:p>
            <a:pPr lvl="1" eaLnBrk="1" hangingPunct="1"/>
            <a:r>
              <a:rPr lang="en-US"/>
              <a:t>For both storage and retrieval</a:t>
            </a:r>
          </a:p>
          <a:p>
            <a:pPr eaLnBrk="1" hangingPunct="1"/>
            <a:r>
              <a:rPr lang="en-US"/>
              <a:t>Stores in sorted order, like set</a:t>
            </a:r>
          </a:p>
          <a:p>
            <a:pPr lvl="1" eaLnBrk="1" hangingPunct="1"/>
            <a:r>
              <a:rPr lang="en-US"/>
              <a:t>Second value can have no ordering impact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6CE5853-F072-479B-AE20-20A33B8F33F4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Using the map Template Class (1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F0E9AAD2-82C1-4538-BC8B-C2894374BB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73731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533400" y="1447800"/>
            <a:ext cx="8382000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	//Program to demonstrate use of the map template class.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2	#include &lt;iostream&gt;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3 	#include &lt;map&gt;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4	#include &lt;string&gt;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5	using std::cout;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6	using std::endl;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7	using std::map;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8	using std::string;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 9	int main( 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	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	    map&lt;string, string&gt; planets;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	    planets["Mercury"] = "Hot planet";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	    planets["Venus"] = "Atmosphere of sulfuric acid";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	    planets["Earth"] = "Home";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	    planets["Mars"] = "The Red Planet";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	    planets["Jupiter"] = "Largest planet in our solar system";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	    planets["Saturn"] = "Has rings";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	    planets["Uranus"] = "Tilts on its side";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	    planets["Neptune"] = "1500 mile per hour winds";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	    planets["Pluto"] = "Dwarf planet";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Using the map Template Class (2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943A9A02-268A-4FBA-AB68-A91CF0F493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5779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533400" y="1676400"/>
            <a:ext cx="83820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21	    cout &lt;&lt; "Entry for Mercury - " &lt;&lt; planets["Mercury"]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22	            &lt;&lt; endl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23	    if (planets.find("Mercury") != planets.end())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24	        cout &lt;&lt; "Mercury is in the map."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25	    if (planets.find("Ceres") == planets.end())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26	        cout &lt;&lt; "Ceres is not in the map." &lt;&lt; endl &lt;&lt; endl;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27	    cout &lt;&lt; "Iterating through all planets: "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28	    map&lt;string, string&gt;::const_iterator iter;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29	    for (iter = planets.begin(); iter != planets.end(); iter++)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30	  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31	        cout &lt;&lt; iter-&gt;first &lt;&lt; " - " &lt;&lt; iter-&gt;second &lt;&lt; 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32	    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The iterator will output the map in order sorted by the key.  In this case the output will be listed alphabetically by planet. 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33	    return 0;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34	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Using the map Template Class (3 of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D706CA2D-AD54-4EF8-893F-F458A0B0156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7827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77828" name="Rectangle 5"/>
          <p:cNvSpPr>
            <a:spLocks noChangeArrowheads="1"/>
          </p:cNvSpPr>
          <p:nvPr/>
        </p:nvSpPr>
        <p:spPr bwMode="auto">
          <a:xfrm>
            <a:off x="533400" y="1447800"/>
            <a:ext cx="8382000" cy="398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>
                <a:latin typeface="Courier New" pitchFamily="49" charset="0"/>
                <a:cs typeface="Courier New" pitchFamily="49" charset="0"/>
              </a:rPr>
              <a:t>SAMPLE DIALOGUE</a:t>
            </a:r>
          </a:p>
          <a:p>
            <a:endParaRPr lang="en-US" sz="16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Entry for Mercury - Hot planet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Mercury is in the map.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Ceres is not in the map.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Iterating through all planets: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Earth - Home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Jupiter - Largest planet in our solar system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Mars - The Red Planet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Mercury - Hot planet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Neptune - 1500 mile per hour winds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Pluto - Dwarf planet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Saturn - Has rings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Uranus - Tilts on its side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Venus - Atmosphere of sulfuric acid 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Efficiency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STL designed with efficiency as </a:t>
            </a:r>
            <a:br>
              <a:rPr lang="en-US" sz="2800"/>
            </a:br>
            <a:r>
              <a:rPr lang="en-US" sz="2800"/>
              <a:t>important consideration</a:t>
            </a:r>
          </a:p>
          <a:p>
            <a:pPr lvl="1" eaLnBrk="1" hangingPunct="1"/>
            <a:r>
              <a:rPr lang="en-US" sz="2400"/>
              <a:t>Strives to be optimally efficient</a:t>
            </a:r>
          </a:p>
          <a:p>
            <a:pPr eaLnBrk="1" hangingPunct="1"/>
            <a:r>
              <a:rPr lang="en-US" sz="2800"/>
              <a:t>Example: set, map elements stored in</a:t>
            </a:r>
            <a:br>
              <a:rPr lang="en-US" sz="2800"/>
            </a:br>
            <a:r>
              <a:rPr lang="en-US" sz="2800"/>
              <a:t>sorted order for fast searches</a:t>
            </a:r>
          </a:p>
          <a:p>
            <a:pPr eaLnBrk="1" hangingPunct="1"/>
            <a:r>
              <a:rPr lang="en-US" sz="2800"/>
              <a:t>Template class member functions:</a:t>
            </a:r>
          </a:p>
          <a:p>
            <a:pPr lvl="1" eaLnBrk="1" hangingPunct="1"/>
            <a:r>
              <a:rPr lang="en-US" sz="2400"/>
              <a:t>Guaranteed maximum running time</a:t>
            </a:r>
          </a:p>
          <a:p>
            <a:pPr lvl="1" eaLnBrk="1" hangingPunct="1"/>
            <a:r>
              <a:rPr lang="en-US" sz="2400"/>
              <a:t>Called "Big-O" notation, an "efficiency"-rating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939E5627-519C-4827-A83E-A89DE45DFAD9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Generic Algorithms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Basic template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Recall algorithm 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Set of instructions for performing a task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Can be represented in any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Typically thought of in "pseudocode"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Considered "abstraction" of code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Gives important details, but not find code details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STL’s algorithms in template functions: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Certain details provided only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Therefore considered "generic algorithms"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A2080BC3-A771-4146-8222-8DE2CF9D9196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Running Times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How fast is program?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"Seconds"?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Consider: large input? .. small input?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Produce "table"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Based on input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Table called "function" in math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With arguments and return values!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Argument is input size:</a:t>
            </a:r>
            <a:br>
              <a:rPr lang="en-US" sz="2400"/>
            </a:br>
            <a:r>
              <a:rPr lang="en-US" sz="2400"/>
              <a:t>T(10), T(10,000), …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Function T is called "running time"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35DBEAAF-449F-46C2-8955-EBA80CEE0805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/>
              <a:t>Table for Running Time Function: </a:t>
            </a:r>
            <a:br>
              <a:rPr lang="en-US" sz="3000"/>
            </a:br>
            <a:r>
              <a:rPr lang="en-US" sz="3000" b="1"/>
              <a:t>Display 19.15  </a:t>
            </a:r>
            <a:r>
              <a:rPr lang="en-US" sz="3000"/>
              <a:t>Some Values </a:t>
            </a:r>
            <a:br>
              <a:rPr lang="en-US" sz="3000"/>
            </a:br>
            <a:r>
              <a:rPr lang="en-US" sz="3000"/>
              <a:t>of a Running Time Function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E34BFD7C-504E-4A02-8348-7E368C4FB61D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1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pic>
        <p:nvPicPr>
          <p:cNvPr id="8602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0538" y="2124075"/>
            <a:ext cx="8161337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Consider Sorting Program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Faster on smaller input set?</a:t>
            </a:r>
          </a:p>
          <a:p>
            <a:pPr lvl="1" eaLnBrk="1" hangingPunct="1"/>
            <a:r>
              <a:rPr lang="en-US"/>
              <a:t>Perhaps</a:t>
            </a:r>
          </a:p>
          <a:p>
            <a:pPr lvl="1" eaLnBrk="1" hangingPunct="1"/>
            <a:r>
              <a:rPr lang="en-US"/>
              <a:t>Might depend on "state" of set</a:t>
            </a:r>
          </a:p>
          <a:p>
            <a:pPr lvl="2" eaLnBrk="1" hangingPunct="1"/>
            <a:r>
              <a:rPr lang="en-US"/>
              <a:t>"Mostly" sorted already?</a:t>
            </a:r>
          </a:p>
          <a:p>
            <a:pPr eaLnBrk="1" hangingPunct="1"/>
            <a:r>
              <a:rPr lang="en-US"/>
              <a:t>Consider worst-case running time</a:t>
            </a:r>
          </a:p>
          <a:p>
            <a:pPr lvl="1" eaLnBrk="1" hangingPunct="1"/>
            <a:r>
              <a:rPr lang="en-US"/>
              <a:t>T(N) is time taken by "hardest" list</a:t>
            </a:r>
          </a:p>
          <a:p>
            <a:pPr lvl="2" eaLnBrk="1" hangingPunct="1"/>
            <a:r>
              <a:rPr lang="en-US"/>
              <a:t>List that takes longest to 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3FBA87E7-63D7-4F20-87C5-C7D9C157B794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Counting Operations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T(N) given by formula, such as:</a:t>
            </a:r>
            <a:br>
              <a:rPr lang="en-US"/>
            </a:br>
            <a:r>
              <a:rPr lang="en-US"/>
              <a:t>T(N) = 5N + 5</a:t>
            </a:r>
          </a:p>
          <a:p>
            <a:pPr lvl="1" eaLnBrk="1" hangingPunct="1"/>
            <a:r>
              <a:rPr lang="en-US"/>
              <a:t>"On inputs of size N program runs for</a:t>
            </a:r>
            <a:br>
              <a:rPr lang="en-US"/>
            </a:br>
            <a:r>
              <a:rPr lang="en-US"/>
              <a:t>5N + 5 time units"</a:t>
            </a:r>
          </a:p>
          <a:p>
            <a:pPr eaLnBrk="1" hangingPunct="1"/>
            <a:r>
              <a:rPr lang="en-US"/>
              <a:t>Must be "computer-independent"</a:t>
            </a:r>
          </a:p>
          <a:p>
            <a:pPr lvl="1" eaLnBrk="1" hangingPunct="1"/>
            <a:r>
              <a:rPr lang="en-US"/>
              <a:t>Doesn’t matter how "fast" computers are</a:t>
            </a:r>
          </a:p>
          <a:p>
            <a:pPr lvl="1" eaLnBrk="1" hangingPunct="1"/>
            <a:r>
              <a:rPr lang="en-US"/>
              <a:t>Can’t count "time"</a:t>
            </a:r>
          </a:p>
          <a:p>
            <a:pPr lvl="1" eaLnBrk="1" hangingPunct="1"/>
            <a:r>
              <a:rPr lang="en-US"/>
              <a:t>Instead count "operations"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550AA59B-3CD0-49D7-8EFF-84206F69AD2C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Counting Operations Example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int I = 0;</a:t>
            </a:r>
            <a:br>
              <a:rPr lang="en-US" sz="2400"/>
            </a:br>
            <a:r>
              <a:rPr lang="en-US" sz="2400"/>
              <a:t>bool found = false;</a:t>
            </a:r>
            <a:br>
              <a:rPr lang="en-US" sz="2400"/>
            </a:br>
            <a:r>
              <a:rPr lang="en-US" sz="2400"/>
              <a:t>while (( I &lt; N) &amp;&amp; !found)</a:t>
            </a:r>
            <a:br>
              <a:rPr lang="en-US" sz="2400"/>
            </a:br>
            <a:r>
              <a:rPr lang="en-US" sz="2400"/>
              <a:t>	  if (a[I] == target)</a:t>
            </a:r>
            <a:br>
              <a:rPr lang="en-US" sz="2400"/>
            </a:br>
            <a:r>
              <a:rPr lang="en-US" sz="2400"/>
              <a:t>		found = true;</a:t>
            </a:r>
            <a:br>
              <a:rPr lang="en-US" sz="2400"/>
            </a:br>
            <a:r>
              <a:rPr lang="en-US" sz="2400"/>
              <a:t>	  else</a:t>
            </a:r>
            <a:br>
              <a:rPr lang="en-US" sz="2400"/>
            </a:br>
            <a:r>
              <a:rPr lang="en-US" sz="2400"/>
              <a:t>		I++;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5 operations per loop iteration:</a:t>
            </a:r>
            <a:br>
              <a:rPr lang="en-US" sz="2400"/>
            </a:br>
            <a:r>
              <a:rPr lang="en-US" sz="2400"/>
              <a:t>&lt;, &amp;&amp;, !, [ ], ==, ++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After N iterations, final three: &lt;, &amp;&amp;, !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So: 6N+5 operations when target not found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B94C1D5-6B94-4254-8530-3DEC696D9952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Big-O Notation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Recall: 6N+5 operations in "worst-case"</a:t>
            </a:r>
          </a:p>
          <a:p>
            <a:pPr eaLnBrk="1" hangingPunct="1"/>
            <a:r>
              <a:rPr lang="en-US" sz="2800"/>
              <a:t>Expressed in "Big-O" notation</a:t>
            </a:r>
          </a:p>
          <a:p>
            <a:pPr lvl="1" eaLnBrk="1" hangingPunct="1">
              <a:spcBef>
                <a:spcPct val="35000"/>
              </a:spcBef>
            </a:pPr>
            <a:r>
              <a:rPr lang="en-US" sz="2400"/>
              <a:t>Some constant "c" factor where</a:t>
            </a:r>
            <a:br>
              <a:rPr lang="en-US" sz="2400"/>
            </a:br>
            <a:r>
              <a:rPr lang="en-US" sz="2400"/>
              <a:t>c(6N+5) is actual running time</a:t>
            </a:r>
          </a:p>
          <a:p>
            <a:pPr lvl="2" eaLnBrk="1" hangingPunct="1"/>
            <a:r>
              <a:rPr lang="en-US" sz="2000"/>
              <a:t>c different on different systems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400"/>
              <a:t>We say code runs in time O(6N+5)</a:t>
            </a:r>
          </a:p>
          <a:p>
            <a:pPr lvl="1"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400"/>
              <a:t>But typically only consider "highest term"</a:t>
            </a:r>
          </a:p>
          <a:p>
            <a:pPr lvl="2" eaLnBrk="1" hangingPunct="1"/>
            <a:r>
              <a:rPr lang="en-US" sz="2000"/>
              <a:t>Term with highest exponent</a:t>
            </a:r>
          </a:p>
          <a:p>
            <a:pPr lvl="1" eaLnBrk="1" hangingPunct="1">
              <a:spcBef>
                <a:spcPct val="35000"/>
              </a:spcBef>
            </a:pPr>
            <a:r>
              <a:rPr lang="en-US" sz="2400"/>
              <a:t>O(N)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294D39F5-10FA-432B-9823-325C72D70AD5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Big-O Terminology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Linear running time: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O(N)—directly proportional to input size N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Quadratic running time: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O(N</a:t>
            </a:r>
            <a:r>
              <a:rPr lang="en-US" baseline="30000"/>
              <a:t>2</a:t>
            </a:r>
            <a:r>
              <a:rPr lang="en-US"/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Logarithmic running time: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O(log N)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Typically "log base 2"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Very fast algorithms!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8568702B-A57A-4858-A9A9-21045C3BB85C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19.16  </a:t>
            </a:r>
            <a:br>
              <a:rPr lang="en-US" sz="3600" b="1"/>
            </a:br>
            <a:r>
              <a:rPr lang="en-US" sz="3600"/>
              <a:t>Comparison of Running Times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C682EAB7-6A12-4C5D-99E8-1EDA45983986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830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pic>
        <p:nvPicPr>
          <p:cNvPr id="9830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447800"/>
            <a:ext cx="5695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Container Access Running Times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O(1) - constant operation always: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Vector inserts to front or back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deque inserts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list inserts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O(N)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Insert or delete of arbitrary element in vector</a:t>
            </a:r>
            <a:br>
              <a:rPr lang="en-US" sz="2400"/>
            </a:br>
            <a:r>
              <a:rPr lang="en-US" sz="2400"/>
              <a:t>or deque (N is number of elements)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O(log 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set or map finding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F021FE92-BB0D-4DC4-ABC5-7FDDD34374E5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003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Nonmodifying Sequence Algorithms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Template functions operating </a:t>
            </a:r>
            <a:br>
              <a:rPr lang="en-US"/>
            </a:br>
            <a:r>
              <a:rPr lang="en-US"/>
              <a:t>on containers</a:t>
            </a:r>
          </a:p>
          <a:p>
            <a:pPr lvl="1" eaLnBrk="1" hangingPunct="1"/>
            <a:r>
              <a:rPr lang="en-US"/>
              <a:t>NO modification of container contents</a:t>
            </a:r>
          </a:p>
          <a:p>
            <a:pPr eaLnBrk="1" hangingPunct="1"/>
            <a:r>
              <a:rPr lang="en-US"/>
              <a:t>Generic find function</a:t>
            </a:r>
          </a:p>
          <a:p>
            <a:pPr lvl="1" eaLnBrk="1" hangingPunct="1"/>
            <a:r>
              <a:rPr lang="en-US"/>
              <a:t>Typical example</a:t>
            </a:r>
          </a:p>
          <a:p>
            <a:pPr lvl="1" eaLnBrk="1" hangingPunct="1"/>
            <a:r>
              <a:rPr lang="en-US"/>
              <a:t>Can be used with any STL sequence</a:t>
            </a:r>
            <a:br>
              <a:rPr lang="en-US"/>
            </a:br>
            <a:r>
              <a:rPr lang="en-US"/>
              <a:t>container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B1A103E7-0028-4392-A02F-351A58EDFDAB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024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19.17  </a:t>
            </a:r>
            <a:br>
              <a:rPr lang="en-US" sz="3600" b="1"/>
            </a:br>
            <a:r>
              <a:rPr lang="en-US" sz="3600"/>
              <a:t>The Generic find Function (1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264A1887-06D7-4496-9270-72E52539C5C5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104451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104452" name="Rectangle 7"/>
          <p:cNvSpPr>
            <a:spLocks noChangeArrowheads="1"/>
          </p:cNvSpPr>
          <p:nvPr/>
        </p:nvSpPr>
        <p:spPr bwMode="auto">
          <a:xfrm>
            <a:off x="533400" y="1600200"/>
            <a:ext cx="8382000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	//Program to demonstrate use of the generic find function. 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	#include &lt;iostream&gt;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3	#include &lt;vector&gt;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4	#include &lt;algorithm&gt;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5	using std::cin;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6	using std::cout;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7	using std::endl;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8	using std::vector;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9	using std::find;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10	int main( 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11	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12	    vector&lt;char&gt; line;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13	    cout &lt;&lt; "Enter a line of text:\n";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14	    char next;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15	    cin.get(next);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16	    while (next != ’\n’)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17	    {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18	        line.push_back(next);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19	        cin.get(next);</a:t>
            </a:r>
          </a:p>
          <a:p>
            <a:r>
              <a:rPr lang="en-US" sz="1400" b="1">
                <a:latin typeface="Courier New" pitchFamily="49" charset="0"/>
                <a:cs typeface="Courier New" pitchFamily="49" charset="0"/>
              </a:rPr>
              <a:t>20	    }</a:t>
            </a:r>
          </a:p>
          <a:p>
            <a:endParaRPr lang="en-US" sz="14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19.17</a:t>
            </a:r>
            <a:br>
              <a:rPr lang="en-US" sz="3600" b="1"/>
            </a:br>
            <a:r>
              <a:rPr lang="en-US" sz="3600"/>
              <a:t>The Generic find Function (2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4EA1845D-F5BA-4712-94F5-F7C6B5CE3CAF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649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1600200"/>
            <a:ext cx="8382000" cy="4772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21	    vector&lt;char&gt;::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const_iterator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where;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22	    where = find(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line.begin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),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line.end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), ’e’);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23	    //where is located at the first occurrence of ’e’ in v.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24	    vector&lt;char&gt;::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const_iterator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p;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25	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"You entered the following before you entered your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		 first e:\n";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26	    for (p 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line.begin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 p != where; p++)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27	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*p;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28	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29	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"You entered the following after that:\n";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30	    for (p = where; p !=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line.end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( ); p++)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31	    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*p;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32	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33	    </a:t>
            </a:r>
            <a:r>
              <a:rPr lang="en-US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&lt;&lt; "End of demonstration.\n";</a:t>
            </a: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34	    return 0;</a:t>
            </a:r>
          </a:p>
          <a:p>
            <a:pPr marL="342900" indent="-342900">
              <a:buFontTx/>
              <a:buAutoNum type="arabicPlain" startAt="35"/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>
              <a:buFontTx/>
              <a:buAutoNum type="arabicPlain" startAt="35"/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If find does not find what it is looking for, it returns its second argument.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Display 19.17 </a:t>
            </a:r>
            <a:br>
              <a:rPr lang="en-US" sz="3600" b="1"/>
            </a:br>
            <a:r>
              <a:rPr lang="en-US" sz="3600"/>
              <a:t>The Generic find Function (3 of 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279B8C79-D51A-4AD4-9B46-CF9CFBECFA28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08547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1600200"/>
            <a:ext cx="8382000" cy="43465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cap="all" dirty="0">
                <a:latin typeface="Arial" pitchFamily="34" charset="0"/>
                <a:cs typeface="+mn-cs"/>
              </a:rPr>
              <a:t>Sample Dialogue	1</a:t>
            </a:r>
          </a:p>
          <a:p>
            <a:pPr>
              <a:defRPr/>
            </a:pPr>
            <a:endParaRPr lang="en-US" sz="1400" dirty="0">
              <a:latin typeface="Arial" pitchFamily="34" charset="0"/>
              <a:cs typeface="+mn-cs"/>
            </a:endParaRP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Enter a line of text</a:t>
            </a:r>
          </a:p>
          <a:p>
            <a:pPr>
              <a:defRPr/>
            </a:pPr>
            <a:r>
              <a:rPr lang="en-US" sz="1400" b="1" dirty="0">
                <a:latin typeface="Arial" pitchFamily="34" charset="0"/>
                <a:cs typeface="+mn-cs"/>
              </a:rPr>
              <a:t>A line of text.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You entered the following before you entered your first e: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A </a:t>
            </a:r>
            <a:r>
              <a:rPr lang="en-US" sz="1400" dirty="0" err="1">
                <a:latin typeface="Arial" pitchFamily="34" charset="0"/>
                <a:cs typeface="+mn-cs"/>
              </a:rPr>
              <a:t>lin</a:t>
            </a:r>
            <a:endParaRPr lang="en-US" sz="1400" dirty="0">
              <a:latin typeface="Arial" pitchFamily="34" charset="0"/>
              <a:cs typeface="+mn-cs"/>
            </a:endParaRP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You entered the following after that: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e of text.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End of demonstration.</a:t>
            </a:r>
          </a:p>
          <a:p>
            <a:pPr>
              <a:defRPr/>
            </a:pPr>
            <a:endParaRPr lang="en-US" sz="1400" b="1" cap="all" dirty="0">
              <a:latin typeface="Arial" pitchFamily="34" charset="0"/>
              <a:cs typeface="+mn-cs"/>
            </a:endParaRPr>
          </a:p>
          <a:p>
            <a:pPr>
              <a:defRPr/>
            </a:pPr>
            <a:endParaRPr lang="en-US" sz="1400" b="1" cap="all" dirty="0">
              <a:latin typeface="Arial" pitchFamily="34" charset="0"/>
              <a:cs typeface="+mn-cs"/>
            </a:endParaRPr>
          </a:p>
          <a:p>
            <a:pPr>
              <a:defRPr/>
            </a:pPr>
            <a:r>
              <a:rPr lang="en-US" sz="1400" b="1" cap="all" dirty="0">
                <a:latin typeface="Arial" pitchFamily="34" charset="0"/>
                <a:cs typeface="+mn-cs"/>
              </a:rPr>
              <a:t>Sample Dialogue	2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Enter a line of text</a:t>
            </a:r>
          </a:p>
          <a:p>
            <a:pPr>
              <a:defRPr/>
            </a:pPr>
            <a:r>
              <a:rPr lang="en-US" sz="1400" b="1" dirty="0">
                <a:latin typeface="Arial" pitchFamily="34" charset="0"/>
                <a:cs typeface="+mn-cs"/>
              </a:rPr>
              <a:t>I will not!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You entered the following before you entered your first e: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I will not!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You entered the following after that: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 </a:t>
            </a:r>
          </a:p>
          <a:p>
            <a:pPr>
              <a:defRPr/>
            </a:pPr>
            <a:r>
              <a:rPr lang="en-US" sz="1400" dirty="0">
                <a:latin typeface="Arial" pitchFamily="34" charset="0"/>
                <a:cs typeface="+mn-cs"/>
              </a:rPr>
              <a:t>End of demonstration.</a:t>
            </a:r>
          </a:p>
          <a:p>
            <a:pPr>
              <a:defRPr/>
            </a:pP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Modifying Sequence Algorithms</a:t>
            </a:r>
          </a:p>
        </p:txBody>
      </p:sp>
      <p:sp>
        <p:nvSpPr>
          <p:cNvPr id="1105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STL functions that change </a:t>
            </a:r>
            <a:br>
              <a:rPr lang="en-US"/>
            </a:br>
            <a:r>
              <a:rPr lang="en-US"/>
              <a:t>container contents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Recall: adding/removing elements from</a:t>
            </a:r>
            <a:br>
              <a:rPr lang="en-US"/>
            </a:br>
            <a:r>
              <a:rPr lang="en-US"/>
              <a:t>containers can affect other iterators!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list, slist guarantee no iterator 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vector, deque make NO such guarantee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Always watch which iterators are </a:t>
            </a:r>
            <a:br>
              <a:rPr lang="en-US"/>
            </a:br>
            <a:r>
              <a:rPr lang="en-US"/>
              <a:t>assured to be changed/unchanged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951BADEC-1158-4A79-BE54-E56A89790000}" type="slidenum">
              <a:rPr lang="en-US"/>
              <a:pPr>
                <a:defRPr/>
              </a:pPr>
              <a:t>48</a:t>
            </a:fld>
            <a:endParaRPr lang="en-US"/>
          </a:p>
        </p:txBody>
      </p:sp>
      <p:sp>
        <p:nvSpPr>
          <p:cNvPr id="1105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Set Algorithms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STL generic set operation functions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All assume containers stored in </a:t>
            </a:r>
            <a:br>
              <a:rPr lang="en-US"/>
            </a:br>
            <a:r>
              <a:rPr lang="en-US"/>
              <a:t>sorted order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Containers set, map, multiset, multimap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DO store in sorted order, so all set functions apply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Others, like vector, are not sorted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Should not use set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A54D7E91-D6E5-491E-836B-21E28A4405F0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1126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Sorting Algorithms</a:t>
            </a:r>
          </a:p>
        </p:txBody>
      </p:sp>
      <p:sp>
        <p:nvSpPr>
          <p:cNvPr id="1146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61963" indent="-461963" eaLnBrk="1" hangingPunct="1"/>
            <a:r>
              <a:rPr lang="en-US"/>
              <a:t>STL contains two template functions:</a:t>
            </a:r>
          </a:p>
          <a:p>
            <a:pPr marL="1109663" lvl="1" indent="-533400" eaLnBrk="1" hangingPunct="1">
              <a:buFont typeface="Times" pitchFamily="18" charset="0"/>
              <a:buAutoNum type="arabicPeriod"/>
            </a:pPr>
            <a:r>
              <a:rPr lang="en-US"/>
              <a:t>sort range of elements</a:t>
            </a:r>
          </a:p>
          <a:p>
            <a:pPr marL="1109663" lvl="1" indent="-533400" eaLnBrk="1" hangingPunct="1">
              <a:buFont typeface="Times" pitchFamily="18" charset="0"/>
              <a:buAutoNum type="arabicPeriod"/>
            </a:pPr>
            <a:r>
              <a:rPr lang="en-US"/>
              <a:t>merge two sorted ranges of elements</a:t>
            </a:r>
          </a:p>
          <a:p>
            <a:pPr marL="461963" indent="-461963" eaLnBrk="1" hangingPunct="1"/>
            <a:r>
              <a:rPr lang="en-US"/>
              <a:t>Guaranteed running time O(N log N)</a:t>
            </a:r>
          </a:p>
          <a:p>
            <a:pPr marL="1109663" lvl="1" indent="-533400" eaLnBrk="1" hangingPunct="1"/>
            <a:r>
              <a:rPr lang="en-US"/>
              <a:t>No sort can be faster</a:t>
            </a:r>
          </a:p>
          <a:p>
            <a:pPr marL="1109663" lvl="1" indent="-533400" eaLnBrk="1" hangingPunct="1"/>
            <a:r>
              <a:rPr lang="en-US"/>
              <a:t>Function guarantees fastest possible sort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BC09C531-2F70-4269-88DC-16143504CE70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1146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1</a:t>
            </a:r>
          </a:p>
        </p:txBody>
      </p:sp>
      <p:sp>
        <p:nvSpPr>
          <p:cNvPr id="1167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Iterator is "generalization" of a pointer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Used to move through elements of container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Container classes with iterators have: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Member functions end() and begin() to </a:t>
            </a:r>
            <a:br>
              <a:rPr lang="en-US" sz="2400"/>
            </a:br>
            <a:r>
              <a:rPr lang="en-US" sz="2400"/>
              <a:t>assist cycling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Main kinds of iterators: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Forward, bi-directional, random-access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Given constant iterator p, *p is read-only version of element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C2CEA583-1A47-4BD9-A405-88E6FE45E168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1167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2</a:t>
            </a:r>
          </a:p>
        </p:txBody>
      </p:sp>
      <p:sp>
        <p:nvSpPr>
          <p:cNvPr id="1187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Given mutable iterator p </a:t>
            </a:r>
            <a:r>
              <a:rPr lang="en-US" sz="2400">
                <a:sym typeface="Wingdings" pitchFamily="2" charset="2"/>
              </a:rPr>
              <a:t></a:t>
            </a:r>
            <a:r>
              <a:rPr lang="en-US" sz="2400"/>
              <a:t> *p can be assigned value</a:t>
            </a:r>
          </a:p>
          <a:p>
            <a:pPr eaLnBrk="1" hangingPunct="1"/>
            <a:r>
              <a:rPr lang="en-US" sz="2400"/>
              <a:t>Bidirectional container has reverse iterators allowing reverse cycling</a:t>
            </a:r>
          </a:p>
          <a:p>
            <a:pPr eaLnBrk="1" hangingPunct="1"/>
            <a:r>
              <a:rPr lang="en-US" sz="2400"/>
              <a:t>Main STL containers: list, vector, deque</a:t>
            </a:r>
          </a:p>
          <a:p>
            <a:pPr lvl="1" eaLnBrk="1" hangingPunct="1"/>
            <a:r>
              <a:rPr lang="en-US" sz="2000"/>
              <a:t>stack, queue: container adapter classes</a:t>
            </a:r>
          </a:p>
          <a:p>
            <a:pPr eaLnBrk="1" hangingPunct="1"/>
            <a:r>
              <a:rPr lang="en-US" sz="2400"/>
              <a:t>set, map, multiset, multimap containers store in sorted order</a:t>
            </a:r>
          </a:p>
          <a:p>
            <a:pPr eaLnBrk="1" hangingPunct="1"/>
            <a:r>
              <a:rPr lang="en-US" sz="2400"/>
              <a:t>STL implements generic algorithms</a:t>
            </a:r>
          </a:p>
          <a:p>
            <a:pPr lvl="1" eaLnBrk="1" hangingPunct="1"/>
            <a:r>
              <a:rPr lang="en-US" sz="2000"/>
              <a:t>Provide maximum running time guarantees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19-</a:t>
            </a:r>
            <a:fld id="{00634F8C-68EB-4522-B1A4-9AB777F5F5D5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1187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cs typeface="Arial" charset="0"/>
              </a:rPr>
              <a:t>Copyright © 2012 Pearson Addison-Wesley. All rights reserved.</a:t>
            </a:r>
            <a:endParaRPr lang="en-CA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4512</Words>
  <Application>Microsoft Macintosh PowerPoint</Application>
  <PresentationFormat>Ekran Gösterisi (4:3)</PresentationFormat>
  <Paragraphs>684</Paragraphs>
  <Slides>52</Slides>
  <Notes>52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52</vt:i4>
      </vt:variant>
    </vt:vector>
  </HeadingPairs>
  <TitlesOfParts>
    <vt:vector size="58" baseType="lpstr">
      <vt:lpstr>Arial</vt:lpstr>
      <vt:lpstr>Calibri</vt:lpstr>
      <vt:lpstr>Courier New</vt:lpstr>
      <vt:lpstr>Times</vt:lpstr>
      <vt:lpstr>Wingdings</vt:lpstr>
      <vt:lpstr>Office Theme</vt:lpstr>
      <vt:lpstr>Chapter 19</vt:lpstr>
      <vt:lpstr>Learning Objectives</vt:lpstr>
      <vt:lpstr>Introduction</vt:lpstr>
      <vt:lpstr>Iterators</vt:lpstr>
      <vt:lpstr>Manipulating Iterators</vt:lpstr>
      <vt:lpstr>Cycling with Iterators</vt:lpstr>
      <vt:lpstr>Display 19.1   Iterators Used with a Vector (1 of 2)</vt:lpstr>
      <vt:lpstr>Display 19.1   Iterators Used with a Vector (2 of 2)</vt:lpstr>
      <vt:lpstr>Vector Iterator Types</vt:lpstr>
      <vt:lpstr>Kinds of Iterators</vt:lpstr>
      <vt:lpstr>Random Access:  Display 19.2  Bidirectional and  Random-Access Iterator Use</vt:lpstr>
      <vt:lpstr>Iterator Classifications</vt:lpstr>
      <vt:lpstr>Constant and Mutable Iterators</vt:lpstr>
      <vt:lpstr>Reverse Iterators</vt:lpstr>
      <vt:lpstr>Reverse Iterators Correct</vt:lpstr>
      <vt:lpstr>Compiler Problems</vt:lpstr>
      <vt:lpstr>Containers</vt:lpstr>
      <vt:lpstr>Sequential Containers</vt:lpstr>
      <vt:lpstr>Display 19.4  Two Kinds of Lists</vt:lpstr>
      <vt:lpstr>Display 19.5   Using the list Template Class(1 of 2)</vt:lpstr>
      <vt:lpstr>Display 19.5   Using the list Template Class(2 of 2)</vt:lpstr>
      <vt:lpstr>Container Adapters stack and queue</vt:lpstr>
      <vt:lpstr>Specifying Container Adapters</vt:lpstr>
      <vt:lpstr>Associative Containers</vt:lpstr>
      <vt:lpstr>set Template Class</vt:lpstr>
      <vt:lpstr>More set Template Class</vt:lpstr>
      <vt:lpstr>Program Using the set Template Class (1 of 2)</vt:lpstr>
      <vt:lpstr>Program Using the set Template Class (2 of 2)</vt:lpstr>
      <vt:lpstr>Map Template Class</vt:lpstr>
      <vt:lpstr>Program Using the map Template Class (1 of 3)</vt:lpstr>
      <vt:lpstr>Program Using the map Template Class (2 of 3)</vt:lpstr>
      <vt:lpstr>Program Using the map Template Class (3 of 3)</vt:lpstr>
      <vt:lpstr>Efficiency</vt:lpstr>
      <vt:lpstr>Generic Algorithms</vt:lpstr>
      <vt:lpstr>Running Times</vt:lpstr>
      <vt:lpstr>Table for Running Time Function:  Display 19.15  Some Values  of a Running Time Function</vt:lpstr>
      <vt:lpstr>Consider Sorting Program</vt:lpstr>
      <vt:lpstr>Counting Operations</vt:lpstr>
      <vt:lpstr>Counting Operations Example</vt:lpstr>
      <vt:lpstr>Big-O Notation</vt:lpstr>
      <vt:lpstr>Big-O Terminology</vt:lpstr>
      <vt:lpstr>Display 19.16   Comparison of Running Times</vt:lpstr>
      <vt:lpstr>Container Access Running Times</vt:lpstr>
      <vt:lpstr>Nonmodifying Sequence Algorithms</vt:lpstr>
      <vt:lpstr>Display 19.17   The Generic find Function (1 of 3)</vt:lpstr>
      <vt:lpstr>Display 19.17 The Generic find Function (2 of 3)</vt:lpstr>
      <vt:lpstr>Display 19.17  The Generic find Function (3 of 3)</vt:lpstr>
      <vt:lpstr>Modifying Sequence Algorithms</vt:lpstr>
      <vt:lpstr>Set Algorithms</vt:lpstr>
      <vt:lpstr>Sorting Algorithms</vt:lpstr>
      <vt:lpstr>Summary 1</vt:lpstr>
      <vt:lpstr>Summary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YUSUF EMRE KILIÇER</cp:lastModifiedBy>
  <cp:revision>20</cp:revision>
  <dcterms:created xsi:type="dcterms:W3CDTF">2006-08-16T00:00:00Z</dcterms:created>
  <dcterms:modified xsi:type="dcterms:W3CDTF">2024-01-01T19:03:42Z</dcterms:modified>
</cp:coreProperties>
</file>