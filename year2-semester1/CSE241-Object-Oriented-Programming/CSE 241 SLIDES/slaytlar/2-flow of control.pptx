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tags/tag3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tags/tag2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8" r:id="rId42"/>
    <p:sldId id="299" r:id="rId43"/>
    <p:sldId id="300" r:id="rId44"/>
    <p:sldId id="301" r:id="rId45"/>
    <p:sldId id="302" r:id="rId46"/>
    <p:sldId id="296" r:id="rId47"/>
    <p:sldId id="297" r:id="rId4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36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F54FA6F8-57FA-4A98-87C8-2AC7279A0A70}" type="datetimeFigureOut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8173CBB-B719-459C-938C-17EFB4691F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8E77956-9923-4072-B1E4-C43CC344E4AA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BDD73CB-1130-4B1E-9516-61542806A38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CA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687DAB1-D630-458D-8D21-C1D15E68C29D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CA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6BEFCEC-01F4-4FAC-AB44-0702C3C616B9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CA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5361278-D997-450E-8C11-2894BA120DE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CA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26B52E3-461B-4115-8284-EF400CB55B1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CA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C70B753-C795-491A-B320-427DC6F0AA23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CA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C7C7601-DC6C-4357-9F0F-C0DCE543308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CA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59B5F9E-5526-44B1-82E7-7C2813446EA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CA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860EA54-2EB2-4734-8FC8-DD28545491B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CA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4092581-3C3E-480E-BEA2-21C9E47A2A1C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en-CA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2712833-4247-4FC1-8FAA-8C44FBC663D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en-CA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6CA105E-AA76-437E-8C39-C2C25DBF5A57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en-CA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68C3693-321F-4B60-A9C4-18441D7E4E8C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en-CA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C42ABC1-D1E6-4B3D-8329-8D98FF8FE3F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n-CA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0434FA6-4498-415B-B636-9B34316458D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en-CA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16C1FFC-A0E6-40D4-84A4-40C6EE2D7936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en-CA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70DF2D6-33AB-43A9-833B-B9BA89751683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18</a:t>
            </a:fld>
            <a:endParaRPr lang="en-CA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18B35BC-21F1-4208-8C0B-8994B4567189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</a:t>
            </a:fld>
            <a:endParaRPr lang="en-CA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13A92A9-B0DC-49EB-92FB-9DBABEC7529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</a:t>
            </a:fld>
            <a:endParaRPr lang="en-CA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F06A1A2-E1E2-4ABB-8CA8-24DDA5218E2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21</a:t>
            </a:fld>
            <a:endParaRPr lang="en-CA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2A091FF-A032-47E5-AE00-1CF5D5E6D4D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22</a:t>
            </a:fld>
            <a:endParaRPr lang="en-CA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D068673-3C4C-4C46-A760-17B6354A16F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23</a:t>
            </a:fld>
            <a:endParaRPr lang="en-CA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5B28DAD-4D03-4B29-82C3-3DF5DAEE5CF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24</a:t>
            </a:fld>
            <a:endParaRPr lang="en-CA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5D92744-5DD0-414F-9CA1-B8D7E116A6B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25</a:t>
            </a:fld>
            <a:endParaRPr lang="en-CA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5F4AC61-896A-487E-A887-6A1CAE33FB0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26</a:t>
            </a:fld>
            <a:endParaRPr lang="en-CA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4A97473-FEE7-4A6C-BAAA-28EC1B83B23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27</a:t>
            </a:fld>
            <a:endParaRPr lang="en-CA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B3F75DD-6DBB-4E32-8EF5-7C851A81365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28</a:t>
            </a:fld>
            <a:endParaRPr lang="en-CA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66F96F8-0010-4123-A144-4805C0D5BDD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29</a:t>
            </a:fld>
            <a:endParaRPr lang="en-CA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ADCE0BB-F0F2-4E3B-BF36-8012BBE032EC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30</a:t>
            </a:fld>
            <a:endParaRPr lang="en-CA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8984AE1-167D-44B0-BCA3-3DD57BB2E38A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31</a:t>
            </a:fld>
            <a:endParaRPr lang="en-CA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890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CA8F0B3-D0E5-43F3-819A-DB00B578175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32</a:t>
            </a:fld>
            <a:endParaRPr lang="en-CA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89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011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E483F1D-110F-4856-B7BF-176B0421AF1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33</a:t>
            </a:fld>
            <a:endParaRPr lang="en-CA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294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CEE54DD-0FCD-4305-8C17-72F3C8C5A4F8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34</a:t>
            </a:fld>
            <a:endParaRPr lang="en-CA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99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21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E60D6ED-CC60-4266-A0F7-B40EDC6B1054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35</a:t>
            </a:fld>
            <a:endParaRPr lang="en-CA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31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3D5C4CE-619A-4306-B4D6-7412F33E6EA5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36</a:t>
            </a:fld>
            <a:endParaRPr lang="en-CA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421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F363922-6901-4FC5-80E5-47F3D9D3A312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37</a:t>
            </a:fld>
            <a:endParaRPr lang="en-CA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113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523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5F35F0F-1CCC-4869-BFC6-E964474850EB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38</a:t>
            </a:fld>
            <a:endParaRPr lang="en-CA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31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626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8C29A6C-4AC6-4699-BC7B-F8B4120CC8C1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39</a:t>
            </a:fld>
            <a:endParaRPr lang="en-CA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52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728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4CC469C-3E4A-4FE0-B898-9E44FA40AFED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40</a:t>
            </a:fld>
            <a:endParaRPr lang="en-CA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830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82AA31B-FA3D-4DB3-A3AD-15A4F784D6FE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46</a:t>
            </a:fld>
            <a:endParaRPr lang="en-CA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4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9933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67F738C-157F-4BB7-AFCC-AE532E1A8D9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47</a:t>
            </a:fld>
            <a:endParaRPr lang="en-CA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D09101-C220-40CE-9916-74E20AAB1221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2-</a:t>
            </a:r>
            <a:fld id="{F85D07E0-45F8-4184-9E34-00D6E1125F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>
          <a:xfrm>
            <a:off x="4876800" y="6324600"/>
            <a:ext cx="914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280DE1-64A8-41DA-8BF7-A894CFED1D3F}" type="datetime1">
              <a:rPr lang="en-US"/>
              <a:pPr>
                <a:defRPr/>
              </a:pPr>
              <a:t>5/8/2012</a:t>
            </a:fld>
            <a:endParaRPr lang="en-US" dirty="0"/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2-</a:t>
            </a:r>
            <a:fld id="{138A3813-C02B-4D7F-ADF0-F6BBE42A13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2"/>
          </p:nvPr>
        </p:nvSpPr>
        <p:spPr>
          <a:xfrm>
            <a:off x="457200" y="6340475"/>
            <a:ext cx="4343400" cy="365125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0EC6A6-6EE8-4EB7-B931-9A2FBE249060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2-</a:t>
            </a:r>
            <a:fld id="{B39827D8-BB98-48DD-98E1-46294104A5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5F77A0-8715-448E-80F3-3F3C7B542B2E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2-</a:t>
            </a:r>
            <a:fld id="{1AD13644-D4BC-45FD-AE0E-2604AE2914F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3C55B6-5625-45D6-9FC9-0BE9C999E7F8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2-</a:t>
            </a:r>
            <a:fld id="{7AB40309-E1E5-40B4-AC9E-B1DF1D20C0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2580D2-4FE4-48A0-BCBA-C5F1DA5AC11B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2-</a:t>
            </a:r>
            <a:fld id="{3A342849-9669-4A5A-A4A4-663799A963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2D1922-737B-4485-A683-6AE81CF3CBE5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2-</a:t>
            </a:r>
            <a:fld id="{0E176CE7-C4E2-4EE8-9D6B-AFBB6EA458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BDC0A0-1C8B-4229-9EAA-B888388A92DA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2-</a:t>
            </a:r>
            <a:fld id="{05065B72-BAC4-4FF5-A1B5-43E66E7356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B38E02-E523-414D-B46A-291D67DBF26F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2-</a:t>
            </a:r>
            <a:fld id="{3237386A-857B-4638-9327-02B07131C8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FC15AF-0B25-4196-9F3F-B1589F00604A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2-</a:t>
            </a:r>
            <a:fld id="{AE841A40-6F0E-42EF-9149-FC100956ED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D1AFD5-7EAD-4186-90AC-EEF31A0B9578}" type="datetime1">
              <a:rPr lang="en-US"/>
              <a:pPr>
                <a:defRPr/>
              </a:pPr>
              <a:t>5/8/2012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2-</a:t>
            </a:r>
            <a:fld id="{39E4A09F-80E6-4C1D-8CFC-49A6F3211E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648200" y="6340475"/>
            <a:ext cx="91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C9AB81D-0498-415A-ADE6-C31CAEAC0639}" type="datetime1">
              <a:rPr lang="en-US"/>
              <a:pPr>
                <a:defRPr/>
              </a:pPr>
              <a:t>5/8/2012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356350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dirty="0">
                <a:solidFill>
                  <a:srgbClr val="898989"/>
                </a:solidFill>
                <a:latin typeface="Calibri" pitchFamily="34" charset="0"/>
                <a:cs typeface="+mn-cs"/>
              </a:defRPr>
            </a:lvl1pPr>
          </a:lstStyle>
          <a:p>
            <a:pPr>
              <a:defRPr/>
            </a:pPr>
            <a:r>
              <a:rPr lang="en-US"/>
              <a:t>Copyright © </a:t>
            </a:r>
            <a:r>
              <a:rPr lang="en-US" smtClean="0"/>
              <a:t>2012 </a:t>
            </a:r>
            <a:r>
              <a:rPr lang="en-US"/>
              <a:t>Pearson Addison-Wesley. All rights reserved.</a:t>
            </a: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1-</a:t>
            </a:r>
            <a:fld id="{32E90FDD-E694-4CE8-B6E5-CECE431F56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1" name="Picture 2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169863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6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8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9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0.xml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1.xml"/><Relationship Id="rId4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/>
          <p:cNvSpPr>
            <a:spLocks noGrp="1"/>
          </p:cNvSpPr>
          <p:nvPr>
            <p:ph type="ctrTitle"/>
          </p:nvPr>
        </p:nvSpPr>
        <p:spPr>
          <a:xfrm>
            <a:off x="5638800" y="457200"/>
            <a:ext cx="3276600" cy="1470025"/>
          </a:xfrm>
        </p:spPr>
        <p:txBody>
          <a:bodyPr/>
          <a:lstStyle/>
          <a:p>
            <a:pPr eaLnBrk="1" hangingPunct="1"/>
            <a:r>
              <a:rPr lang="en-US" smtClean="0"/>
              <a:t>Chapter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38800" y="1905000"/>
            <a:ext cx="3352800" cy="17526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 smtClean="0"/>
              <a:t>Flow of Control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dirty="0"/>
          </a:p>
        </p:txBody>
      </p:sp>
      <p:pic>
        <p:nvPicPr>
          <p:cNvPr id="14341" name="Picture 6" descr="http://vig-fp.prenhall.com/bigcovers/013283071X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9863" y="0"/>
            <a:ext cx="5545137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4" name="Picture 10" descr="DG_Bar_Blue_USLetter_RGB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6324600"/>
            <a:ext cx="9144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Learning Objectives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Boolean Expressions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Building, Evaluating &amp; Precedence Rules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Branching Mechanisms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if-else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switch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Nesting if-else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Loops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While, do-while, for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Nesting loops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Introduction to File Input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2-</a:t>
            </a:r>
            <a:fld id="{7B611C6C-BAF1-4050-B4C9-8371205B29EF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16388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/>
              <a:t>Boolean Expressions:</a:t>
            </a:r>
            <a:br>
              <a:rPr lang="en-US" sz="3600"/>
            </a:br>
            <a:r>
              <a:rPr lang="en-US" sz="3600" b="1"/>
              <a:t>Display 2.1</a:t>
            </a:r>
            <a:r>
              <a:rPr lang="en-US" sz="3600"/>
              <a:t>  Comparison Operators</a:t>
            </a:r>
            <a:endParaRPr lang="en-US"/>
          </a:p>
        </p:txBody>
      </p:sp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Logical Operators</a:t>
            </a:r>
          </a:p>
          <a:p>
            <a:pPr lvl="1" eaLnBrk="1" hangingPunct="1"/>
            <a:r>
              <a:rPr lang="en-US" sz="2400" smtClean="0"/>
              <a:t>Logical AND  (&amp;&amp;)</a:t>
            </a:r>
          </a:p>
          <a:p>
            <a:pPr lvl="1" eaLnBrk="1" hangingPunct="1"/>
            <a:r>
              <a:rPr lang="en-US" sz="2400" smtClean="0"/>
              <a:t>Logical OR (||)</a:t>
            </a:r>
          </a:p>
        </p:txBody>
      </p:sp>
      <p:pic>
        <p:nvPicPr>
          <p:cNvPr id="18435" name="Picture 4" descr="C:\WINDOWS\Desktop\Oh_type\sacitch_C++_ppt\gif\savitchc02d01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800225" y="3132138"/>
            <a:ext cx="6143625" cy="3303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2-</a:t>
            </a:r>
            <a:fld id="{F6203836-F4F6-4AC5-AD1B-9EB08E89A072}" type="slidenum">
              <a:rPr lang="en-US"/>
              <a:pPr>
                <a:defRPr/>
              </a:pPr>
              <a:t>3</a:t>
            </a:fld>
            <a:endParaRPr lang="en-US"/>
          </a:p>
        </p:txBody>
      </p:sp>
      <p:sp>
        <p:nvSpPr>
          <p:cNvPr id="18437" name="Footer Placeholder 9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Evaluating Boolean Expressions</a:t>
            </a:r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Data type bool</a:t>
            </a:r>
          </a:p>
          <a:p>
            <a:pPr lvl="1" eaLnBrk="1" hangingPunct="1"/>
            <a:r>
              <a:rPr lang="en-US" smtClean="0"/>
              <a:t>Returns true or false</a:t>
            </a:r>
          </a:p>
          <a:p>
            <a:pPr lvl="1" eaLnBrk="1" hangingPunct="1"/>
            <a:r>
              <a:rPr lang="en-US" smtClean="0"/>
              <a:t>true, false are predefined library consts</a:t>
            </a:r>
          </a:p>
          <a:p>
            <a:pPr eaLnBrk="1" hangingPunct="1">
              <a:spcBef>
                <a:spcPct val="60000"/>
              </a:spcBef>
            </a:pPr>
            <a:r>
              <a:rPr lang="en-US" smtClean="0"/>
              <a:t>Truth tables</a:t>
            </a:r>
          </a:p>
          <a:p>
            <a:pPr lvl="1" eaLnBrk="1" hangingPunct="1"/>
            <a:r>
              <a:rPr lang="en-US" smtClean="0"/>
              <a:t>Display 2.2 next slide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2-</a:t>
            </a:r>
            <a:fld id="{9C5A7743-B3AF-4ABF-A9C7-3C5C1215B8CF}" type="slidenum">
              <a:rPr lang="en-US"/>
              <a:pPr>
                <a:defRPr/>
              </a:pPr>
              <a:t>4</a:t>
            </a:fld>
            <a:endParaRPr lang="en-US"/>
          </a:p>
        </p:txBody>
      </p:sp>
      <p:sp>
        <p:nvSpPr>
          <p:cNvPr id="20484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62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/>
              <a:t>Evaluating Boolean Expressions: </a:t>
            </a:r>
            <a:r>
              <a:rPr lang="en-US" sz="3600" b="1"/>
              <a:t>Display 2.2  </a:t>
            </a:r>
            <a:r>
              <a:rPr lang="en-US" sz="3600"/>
              <a:t>Truth Tables</a:t>
            </a:r>
          </a:p>
        </p:txBody>
      </p:sp>
      <p:pic>
        <p:nvPicPr>
          <p:cNvPr id="22530" name="Picture 4" descr="C:\WINDOWS\Desktop\Oh_type\sacitch_C++_ppt\gif\savitchc02d02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641475" y="1482725"/>
            <a:ext cx="6461125" cy="4973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2-</a:t>
            </a:r>
            <a:fld id="{36052AF2-73A4-4E8A-BCF0-116F633F7F5E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22532" name="Footer Placeholder 8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/>
              <a:t>Display 2.3  </a:t>
            </a:r>
            <a:br>
              <a:rPr lang="en-US" sz="3600" b="1"/>
            </a:br>
            <a:r>
              <a:rPr lang="en-US" sz="3600"/>
              <a:t>Precedence of Operators (1 of 4)</a:t>
            </a:r>
          </a:p>
        </p:txBody>
      </p:sp>
      <p:pic>
        <p:nvPicPr>
          <p:cNvPr id="24578" name="Picture 4" descr="C:\WINDOWS\Desktop\Oh_type\sacitch_C++_ppt\gif\savitchc02d03_1of4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430338" y="1422400"/>
            <a:ext cx="6880225" cy="5002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2-</a:t>
            </a:r>
            <a:fld id="{611C4C10-4941-4F9E-A6BD-E00F90B56C2C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24580" name="Footer Placeholder 8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614" name="Rectangle 6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/>
              <a:t>Display 2.3  </a:t>
            </a:r>
            <a:br>
              <a:rPr lang="en-US" sz="3600" b="1"/>
            </a:br>
            <a:r>
              <a:rPr lang="en-US" sz="3600"/>
              <a:t>Precedence of Operators (2 of 4)</a:t>
            </a:r>
          </a:p>
        </p:txBody>
      </p:sp>
      <p:pic>
        <p:nvPicPr>
          <p:cNvPr id="26626" name="Picture 7" descr="C:\WINDOWS\Desktop\Oh_type\sacitch_C++_ppt\gif\savitchc02d03_2of4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990600" y="2133600"/>
            <a:ext cx="7772400" cy="2963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2-</a:t>
            </a:r>
            <a:fld id="{77CC50CD-93C3-4B08-8F3F-A136FDF76C08}" type="slidenum">
              <a:rPr 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26628" name="Footer Placeholder 8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23" name="Rectangle 3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/>
              <a:t>Display 2.3  </a:t>
            </a:r>
            <a:br>
              <a:rPr lang="en-US" sz="3600" b="1"/>
            </a:br>
            <a:r>
              <a:rPr lang="en-US" sz="3600"/>
              <a:t>Precedence of Operators (3 of 4)</a:t>
            </a:r>
          </a:p>
        </p:txBody>
      </p:sp>
      <p:pic>
        <p:nvPicPr>
          <p:cNvPr id="28674" name="Picture 4" descr="C:\WINDOWS\Desktop\Oh_type\sacitch_C++_ppt\gif\savitchc02d03_3of4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984250" y="1658938"/>
            <a:ext cx="7891463" cy="427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2-</a:t>
            </a:r>
            <a:fld id="{8F65A443-6715-4B4A-8FB6-7A7E7E43F316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28676" name="Footer Placeholder 8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7" name="Rectangle 3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/>
              <a:t>Display 2.3  </a:t>
            </a:r>
            <a:br>
              <a:rPr lang="en-US" sz="3600" b="1"/>
            </a:br>
            <a:r>
              <a:rPr lang="en-US" sz="3600"/>
              <a:t>Precedence of Operators (4 of 4)</a:t>
            </a:r>
          </a:p>
        </p:txBody>
      </p:sp>
      <p:pic>
        <p:nvPicPr>
          <p:cNvPr id="30722" name="Picture 4" descr="C:\WINDOWS\Desktop\Oh_type\sacitch_C++_ppt\gif\savitchc02d03_4of4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990600" y="1936750"/>
            <a:ext cx="7772400" cy="370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2-</a:t>
            </a:r>
            <a:fld id="{C5473AC6-405F-4024-87AB-6502C345CCD1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30724" name="Footer Placeholder 8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Precedence Examples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25000"/>
              </a:spcBef>
            </a:pPr>
            <a:r>
              <a:rPr lang="en-US" sz="2800" smtClean="0"/>
              <a:t>Arithmetic before logical</a:t>
            </a:r>
          </a:p>
          <a:p>
            <a:pPr lvl="1" eaLnBrk="1" hangingPunct="1">
              <a:lnSpc>
                <a:spcPct val="90000"/>
              </a:lnSpc>
              <a:spcBef>
                <a:spcPct val="25000"/>
              </a:spcBef>
            </a:pPr>
            <a:r>
              <a:rPr lang="en-US" sz="2400" smtClean="0"/>
              <a:t>x + 1 &gt; 2 || x + 1 &lt; -3 means:</a:t>
            </a:r>
          </a:p>
          <a:p>
            <a:pPr lvl="2" eaLnBrk="1" hangingPunct="1">
              <a:lnSpc>
                <a:spcPct val="90000"/>
              </a:lnSpc>
              <a:spcBef>
                <a:spcPct val="25000"/>
              </a:spcBef>
            </a:pPr>
            <a:r>
              <a:rPr lang="en-US" sz="2000" smtClean="0"/>
              <a:t>(x + 1) &gt; 2  || (x + 1) &lt; -3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Short-circuit evaluation</a:t>
            </a:r>
          </a:p>
          <a:p>
            <a:pPr lvl="1" eaLnBrk="1" hangingPunct="1">
              <a:lnSpc>
                <a:spcPct val="90000"/>
              </a:lnSpc>
              <a:spcBef>
                <a:spcPct val="25000"/>
              </a:spcBef>
            </a:pPr>
            <a:r>
              <a:rPr lang="en-US" sz="2400" smtClean="0"/>
              <a:t>(x &gt;= 0) &amp;&amp; (y &gt; 1)</a:t>
            </a:r>
          </a:p>
          <a:p>
            <a:pPr lvl="1" eaLnBrk="1" hangingPunct="1">
              <a:lnSpc>
                <a:spcPct val="90000"/>
              </a:lnSpc>
              <a:spcBef>
                <a:spcPct val="25000"/>
              </a:spcBef>
            </a:pPr>
            <a:r>
              <a:rPr lang="en-US" sz="2400" smtClean="0"/>
              <a:t>Be careful with increment operators!</a:t>
            </a:r>
          </a:p>
          <a:p>
            <a:pPr lvl="2" eaLnBrk="1" hangingPunct="1">
              <a:lnSpc>
                <a:spcPct val="90000"/>
              </a:lnSpc>
              <a:spcBef>
                <a:spcPct val="25000"/>
              </a:spcBef>
            </a:pPr>
            <a:r>
              <a:rPr lang="en-US" sz="2000" smtClean="0"/>
              <a:t>(x &gt; 1) &amp;&amp; (y++)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Integers as boolean values</a:t>
            </a:r>
          </a:p>
          <a:p>
            <a:pPr lvl="1" eaLnBrk="1" hangingPunct="1">
              <a:lnSpc>
                <a:spcPct val="90000"/>
              </a:lnSpc>
              <a:spcBef>
                <a:spcPct val="25000"/>
              </a:spcBef>
            </a:pPr>
            <a:r>
              <a:rPr lang="en-US" sz="2400" smtClean="0"/>
              <a:t>All non-zero values </a:t>
            </a:r>
            <a:r>
              <a:rPr lang="en-US" sz="2400" smtClean="0">
                <a:sym typeface="Wingdings" pitchFamily="2" charset="2"/>
              </a:rPr>
              <a:t></a:t>
            </a:r>
            <a:r>
              <a:rPr lang="en-US" sz="2400" smtClean="0"/>
              <a:t> true</a:t>
            </a:r>
          </a:p>
          <a:p>
            <a:pPr lvl="1" eaLnBrk="1" hangingPunct="1">
              <a:lnSpc>
                <a:spcPct val="90000"/>
              </a:lnSpc>
              <a:spcBef>
                <a:spcPct val="25000"/>
              </a:spcBef>
            </a:pPr>
            <a:r>
              <a:rPr lang="en-US" sz="2400" smtClean="0"/>
              <a:t>Zero value </a:t>
            </a:r>
            <a:r>
              <a:rPr lang="en-US" sz="2400" smtClean="0">
                <a:sym typeface="Wingdings" pitchFamily="2" charset="2"/>
              </a:rPr>
              <a:t></a:t>
            </a:r>
            <a:r>
              <a:rPr lang="en-US" sz="2400" smtClean="0"/>
              <a:t> false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2-</a:t>
            </a:r>
            <a:fld id="{29F3649D-2B3C-4031-8C00-1533A2A69856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32772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Branching Mechanisms</a:t>
            </a:r>
          </a:p>
        </p:txBody>
      </p:sp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if-else statements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smtClean="0"/>
              <a:t>Choice of two alternate statements based</a:t>
            </a:r>
            <a:br>
              <a:rPr lang="en-US" smtClean="0"/>
            </a:br>
            <a:r>
              <a:rPr lang="en-US" smtClean="0"/>
              <a:t>on condition expression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smtClean="0"/>
              <a:t>Example:</a:t>
            </a:r>
            <a:br>
              <a:rPr lang="en-US" smtClean="0"/>
            </a:br>
            <a:r>
              <a:rPr lang="en-US" smtClean="0"/>
              <a:t>if (hrs &gt; 40)</a:t>
            </a:r>
            <a:br>
              <a:rPr lang="en-US" smtClean="0"/>
            </a:br>
            <a:r>
              <a:rPr lang="en-US" smtClean="0"/>
              <a:t>	grossPay = rate*40 + 1.5*rate*(hrs-40);</a:t>
            </a:r>
            <a:br>
              <a:rPr lang="en-US" smtClean="0"/>
            </a:br>
            <a:r>
              <a:rPr lang="en-US" smtClean="0"/>
              <a:t>else</a:t>
            </a:r>
            <a:br>
              <a:rPr lang="en-US" smtClean="0"/>
            </a:br>
            <a:r>
              <a:rPr lang="en-US" smtClean="0"/>
              <a:t>	grossPay = rate*hrs;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2-</a:t>
            </a:r>
            <a:fld id="{665FA1CC-9C74-499F-B169-F9541991A3F8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34820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if-else Statement Syntax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Formal syntax:</a:t>
            </a:r>
            <a:br>
              <a:rPr lang="en-US" sz="2800" smtClean="0"/>
            </a:br>
            <a:r>
              <a:rPr lang="en-US" sz="2800" smtClean="0"/>
              <a:t>if (&lt;boolean_expression&gt;)</a:t>
            </a:r>
            <a:br>
              <a:rPr lang="en-US" sz="2800" smtClean="0"/>
            </a:br>
            <a:r>
              <a:rPr lang="en-US" sz="2800" smtClean="0"/>
              <a:t>	&lt;yes_statement&gt;</a:t>
            </a:r>
            <a:br>
              <a:rPr lang="en-US" sz="2800" smtClean="0"/>
            </a:br>
            <a:r>
              <a:rPr lang="en-US" sz="2800" smtClean="0"/>
              <a:t>else</a:t>
            </a:r>
            <a:br>
              <a:rPr lang="en-US" sz="2800" smtClean="0"/>
            </a:br>
            <a:r>
              <a:rPr lang="en-US" sz="2800" smtClean="0"/>
              <a:t>	&lt;no_statement&gt;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Note each alternative is only </a:t>
            </a:r>
            <a:br>
              <a:rPr lang="en-US" sz="2800" smtClean="0"/>
            </a:br>
            <a:r>
              <a:rPr lang="en-US" sz="2800" smtClean="0"/>
              <a:t>ONE statement!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To have multiple statements execute in</a:t>
            </a:r>
            <a:br>
              <a:rPr lang="en-US" sz="2800" smtClean="0"/>
            </a:br>
            <a:r>
              <a:rPr lang="en-US" sz="2800" smtClean="0"/>
              <a:t>either branch </a:t>
            </a:r>
            <a:r>
              <a:rPr lang="en-US" sz="2800" smtClean="0">
                <a:sym typeface="Wingdings" pitchFamily="2" charset="2"/>
              </a:rPr>
              <a:t></a:t>
            </a:r>
            <a:r>
              <a:rPr lang="en-US" sz="2800" smtClean="0"/>
              <a:t> use compound statement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2-</a:t>
            </a:r>
            <a:fld id="{06676E81-7261-48CA-B690-8FC9457AA71E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36868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 Compound/Block Statement</a:t>
            </a:r>
          </a:p>
        </p:txBody>
      </p:sp>
      <p:sp>
        <p:nvSpPr>
          <p:cNvPr id="389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Only "get" one statement per branch</a:t>
            </a:r>
          </a:p>
          <a:p>
            <a:pPr eaLnBrk="1" hangingPunct="1">
              <a:spcBef>
                <a:spcPct val="50000"/>
              </a:spcBef>
            </a:pPr>
            <a:r>
              <a:rPr lang="en-US" smtClean="0"/>
              <a:t>Must use compound statement {  }</a:t>
            </a:r>
            <a:br>
              <a:rPr lang="en-US" smtClean="0"/>
            </a:br>
            <a:r>
              <a:rPr lang="en-US" smtClean="0"/>
              <a:t>for multiples</a:t>
            </a:r>
          </a:p>
          <a:p>
            <a:pPr lvl="1" eaLnBrk="1" hangingPunct="1"/>
            <a:r>
              <a:rPr lang="en-US" smtClean="0"/>
              <a:t>Also called a "block" stmt</a:t>
            </a:r>
          </a:p>
          <a:p>
            <a:pPr eaLnBrk="1" hangingPunct="1">
              <a:spcBef>
                <a:spcPct val="50000"/>
              </a:spcBef>
            </a:pPr>
            <a:r>
              <a:rPr lang="en-US" smtClean="0"/>
              <a:t>Each block should have block statement</a:t>
            </a:r>
          </a:p>
          <a:p>
            <a:pPr lvl="1" eaLnBrk="1" hangingPunct="1"/>
            <a:r>
              <a:rPr lang="en-US" smtClean="0"/>
              <a:t>Even if just one statement</a:t>
            </a:r>
          </a:p>
          <a:p>
            <a:pPr lvl="1" eaLnBrk="1" hangingPunct="1"/>
            <a:r>
              <a:rPr lang="en-US" smtClean="0"/>
              <a:t>Enhances readability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2-</a:t>
            </a:r>
            <a:fld id="{38C7C7A9-A85B-4384-83D8-60273377CBBF}" type="slidenum">
              <a:rPr lang="en-US"/>
              <a:pPr>
                <a:defRPr/>
              </a:pPr>
              <a:t>13</a:t>
            </a:fld>
            <a:endParaRPr lang="en-US"/>
          </a:p>
        </p:txBody>
      </p:sp>
      <p:sp>
        <p:nvSpPr>
          <p:cNvPr id="38916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Compound Statement in Action</a:t>
            </a:r>
          </a:p>
        </p:txBody>
      </p:sp>
      <p:sp>
        <p:nvSpPr>
          <p:cNvPr id="409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Note indenting in this example:</a:t>
            </a:r>
            <a:br>
              <a:rPr lang="en-US" sz="2800" smtClean="0"/>
            </a:br>
            <a:r>
              <a:rPr lang="en-US" sz="2800" smtClean="0"/>
              <a:t>if (myScore &gt; yourScore)</a:t>
            </a:r>
            <a:br>
              <a:rPr lang="en-US" sz="2800" smtClean="0"/>
            </a:br>
            <a:r>
              <a:rPr lang="en-US" sz="2800" smtClean="0"/>
              <a:t>{</a:t>
            </a:r>
            <a:br>
              <a:rPr lang="en-US" sz="2800" smtClean="0"/>
            </a:br>
            <a:r>
              <a:rPr lang="en-US" sz="2800" smtClean="0"/>
              <a:t>	cout &lt;&lt; "I win!\n";</a:t>
            </a:r>
            <a:br>
              <a:rPr lang="en-US" sz="2800" smtClean="0"/>
            </a:br>
            <a:r>
              <a:rPr lang="en-US" sz="2800" smtClean="0"/>
              <a:t>	wager = wager + 100;</a:t>
            </a:r>
            <a:br>
              <a:rPr lang="en-US" sz="2800" smtClean="0"/>
            </a:br>
            <a:r>
              <a:rPr lang="en-US" sz="2800" smtClean="0"/>
              <a:t>}</a:t>
            </a:r>
            <a:br>
              <a:rPr lang="en-US" sz="2800" smtClean="0"/>
            </a:br>
            <a:r>
              <a:rPr lang="en-US" sz="2800" smtClean="0"/>
              <a:t>else</a:t>
            </a:r>
            <a:br>
              <a:rPr lang="en-US" sz="2800" smtClean="0"/>
            </a:br>
            <a:r>
              <a:rPr lang="en-US" sz="2800" smtClean="0"/>
              <a:t>{</a:t>
            </a:r>
            <a:br>
              <a:rPr lang="en-US" sz="2800" smtClean="0"/>
            </a:br>
            <a:r>
              <a:rPr lang="en-US" sz="2800" smtClean="0"/>
              <a:t>	cout &lt;&lt; "I wish these were golf scores.\n";</a:t>
            </a:r>
            <a:br>
              <a:rPr lang="en-US" sz="2800" smtClean="0"/>
            </a:br>
            <a:r>
              <a:rPr lang="en-US" sz="2800" smtClean="0"/>
              <a:t>	wager = 0;</a:t>
            </a:r>
            <a:br>
              <a:rPr lang="en-US" sz="2800" smtClean="0"/>
            </a:br>
            <a:r>
              <a:rPr lang="en-US" sz="2800" smtClean="0"/>
              <a:t>}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2-</a:t>
            </a:r>
            <a:fld id="{4C1BD475-3940-41F7-83BA-63DBD651A780}" type="slidenum">
              <a:rPr lang="en-US"/>
              <a:pPr>
                <a:defRPr/>
              </a:pPr>
              <a:t>14</a:t>
            </a:fld>
            <a:endParaRPr lang="en-US"/>
          </a:p>
        </p:txBody>
      </p:sp>
      <p:sp>
        <p:nvSpPr>
          <p:cNvPr id="40964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Common Pitfalls</a:t>
            </a:r>
          </a:p>
        </p:txBody>
      </p:sp>
      <p:sp>
        <p:nvSpPr>
          <p:cNvPr id="430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Operator "=" vs. operator "=="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One means "assignment" (=)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One means "equality" (==)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VERY different in C++!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Example:</a:t>
            </a:r>
            <a:br>
              <a:rPr lang="en-US" smtClean="0"/>
            </a:br>
            <a:r>
              <a:rPr lang="en-US" smtClean="0"/>
              <a:t>if (x = 12)  </a:t>
            </a:r>
            <a:r>
              <a:rPr lang="en-US" smtClean="0">
                <a:sym typeface="Wingdings" pitchFamily="2" charset="2"/>
              </a:rPr>
              <a:t></a:t>
            </a:r>
            <a:r>
              <a:rPr lang="en-US" smtClean="0"/>
              <a:t>Note operator used!</a:t>
            </a:r>
            <a:br>
              <a:rPr lang="en-US" smtClean="0"/>
            </a:br>
            <a:r>
              <a:rPr lang="en-US" smtClean="0"/>
              <a:t>     Do_Something</a:t>
            </a:r>
            <a:br>
              <a:rPr lang="en-US" smtClean="0"/>
            </a:br>
            <a:r>
              <a:rPr lang="en-US" smtClean="0"/>
              <a:t>else</a:t>
            </a:r>
            <a:br>
              <a:rPr lang="en-US" smtClean="0"/>
            </a:br>
            <a:r>
              <a:rPr lang="en-US" smtClean="0"/>
              <a:t>     Do_Something_Else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2-</a:t>
            </a:r>
            <a:fld id="{F8985BD5-F3C3-4CAF-8550-EEB0B717CFE4}" type="slidenum">
              <a:rPr 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43012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 Optional else</a:t>
            </a:r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else clause is optional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sz="2400" smtClean="0"/>
              <a:t>If, in the false branch (else), you want "nothing" to happen, leave it out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sz="2400" smtClean="0"/>
              <a:t>Example:</a:t>
            </a:r>
            <a:br>
              <a:rPr lang="en-US" sz="2400" smtClean="0"/>
            </a:br>
            <a:r>
              <a:rPr lang="en-US" sz="2400" smtClean="0"/>
              <a:t>if (sales &gt;= minimum)</a:t>
            </a:r>
            <a:br>
              <a:rPr lang="en-US" sz="2400" smtClean="0"/>
            </a:br>
            <a:r>
              <a:rPr lang="en-US" sz="2400" smtClean="0"/>
              <a:t>     salary = salary + bonus;</a:t>
            </a:r>
            <a:br>
              <a:rPr lang="en-US" sz="2400" smtClean="0"/>
            </a:br>
            <a:r>
              <a:rPr lang="en-US" sz="2400" smtClean="0"/>
              <a:t>cout &lt;&lt; "Salary = %" &lt;&lt; salary;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sz="2400" smtClean="0"/>
              <a:t>Note: nothing to do for false condition, so there is no else clause!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sz="2400" smtClean="0"/>
              <a:t>Execution continues with cout statement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2-</a:t>
            </a:r>
            <a:fld id="{E8E8447C-CC8B-4D5D-BA55-23277077CE01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45060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Nested Statements</a:t>
            </a:r>
          </a:p>
        </p:txBody>
      </p:sp>
      <p:sp>
        <p:nvSpPr>
          <p:cNvPr id="4710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if-else statements contain smaller statements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400" smtClean="0"/>
              <a:t>Compound or simple statements (we’ve seen)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400" smtClean="0"/>
              <a:t>Can also contain any statement at all, including another if-else stmt!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400" smtClean="0"/>
              <a:t>Example:</a:t>
            </a:r>
            <a:br>
              <a:rPr lang="en-US" sz="2400" smtClean="0"/>
            </a:br>
            <a:r>
              <a:rPr lang="en-US" sz="2400" smtClean="0"/>
              <a:t>if (speed &gt; 55)</a:t>
            </a:r>
            <a:br>
              <a:rPr lang="en-US" sz="2400" smtClean="0"/>
            </a:br>
            <a:r>
              <a:rPr lang="en-US" sz="2400" smtClean="0"/>
              <a:t>     if (speed &gt; 80)</a:t>
            </a:r>
            <a:br>
              <a:rPr lang="en-US" sz="2400" smtClean="0"/>
            </a:br>
            <a:r>
              <a:rPr lang="en-US" sz="2400" smtClean="0"/>
              <a:t>          cout &lt;&lt; "You’re really speeding!";</a:t>
            </a:r>
            <a:br>
              <a:rPr lang="en-US" sz="2400" smtClean="0"/>
            </a:br>
            <a:r>
              <a:rPr lang="en-US" sz="2400" smtClean="0"/>
              <a:t>     else</a:t>
            </a:r>
            <a:br>
              <a:rPr lang="en-US" sz="2400" smtClean="0"/>
            </a:br>
            <a:r>
              <a:rPr lang="en-US" sz="2400" smtClean="0"/>
              <a:t>          cout &lt;&lt; "You’re speeding.";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Note proper indenting!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2-</a:t>
            </a:r>
            <a:fld id="{25C8A9AD-B86C-4ACE-886C-1BD5313FC7F7}" type="slidenum">
              <a:rPr lang="en-US"/>
              <a:pPr>
                <a:defRPr/>
              </a:pPr>
              <a:t>17</a:t>
            </a:fld>
            <a:endParaRPr lang="en-US"/>
          </a:p>
        </p:txBody>
      </p:sp>
      <p:sp>
        <p:nvSpPr>
          <p:cNvPr id="47108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Multiway if-else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4888" y="1600200"/>
            <a:ext cx="7815262" cy="1828800"/>
          </a:xfrm>
        </p:spPr>
        <p:txBody>
          <a:bodyPr/>
          <a:lstStyle/>
          <a:p>
            <a:pPr eaLnBrk="1" hangingPunct="1"/>
            <a:r>
              <a:rPr lang="en-US" sz="2800" smtClean="0"/>
              <a:t>Not new, just different indenting</a:t>
            </a:r>
          </a:p>
          <a:p>
            <a:pPr eaLnBrk="1" hangingPunct="1"/>
            <a:r>
              <a:rPr lang="en-US" sz="2800" smtClean="0"/>
              <a:t>Avoids "excessive" indenting</a:t>
            </a:r>
          </a:p>
          <a:p>
            <a:pPr lvl="1" eaLnBrk="1" hangingPunct="1"/>
            <a:r>
              <a:rPr lang="en-US" sz="2400" smtClean="0"/>
              <a:t>Syntax:</a:t>
            </a:r>
          </a:p>
        </p:txBody>
      </p:sp>
      <p:pic>
        <p:nvPicPr>
          <p:cNvPr id="49155" name="Picture 4" descr="C:\WINDOWS\Desktop\Oh_type\sacitch_C++_ppt\gif\savitchc02d_p63_1of2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752600" y="3276600"/>
            <a:ext cx="6248400" cy="2932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2-</a:t>
            </a:r>
            <a:fld id="{552C6F73-F4E0-4A58-B5FF-A839284F8EA6}" type="slidenum">
              <a:rPr lang="en-US"/>
              <a:pPr>
                <a:defRPr/>
              </a:pPr>
              <a:t>18</a:t>
            </a:fld>
            <a:endParaRPr lang="en-US"/>
          </a:p>
        </p:txBody>
      </p:sp>
      <p:sp>
        <p:nvSpPr>
          <p:cNvPr id="49157" name="Footer Placeholder 9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Multiway if-else Example</a:t>
            </a:r>
          </a:p>
        </p:txBody>
      </p:sp>
      <p:pic>
        <p:nvPicPr>
          <p:cNvPr id="51202" name="Picture 4" descr="C:\WINDOWS\Desktop\Oh_type\sacitch_C++_ppt\gif\savitchc02d_p63_2of2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990600" y="1905000"/>
            <a:ext cx="7772400" cy="3513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2-</a:t>
            </a:r>
            <a:fld id="{6E361995-9C46-413D-BBA5-C4B974079D7C}" type="slidenum">
              <a:rPr lang="en-US"/>
              <a:pPr>
                <a:defRPr/>
              </a:pPr>
              <a:t>19</a:t>
            </a:fld>
            <a:endParaRPr lang="en-US"/>
          </a:p>
        </p:txBody>
      </p:sp>
      <p:sp>
        <p:nvSpPr>
          <p:cNvPr id="51204" name="Footer Placeholder 8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 switch Statement</a:t>
            </a:r>
          </a:p>
        </p:txBody>
      </p:sp>
      <p:sp>
        <p:nvSpPr>
          <p:cNvPr id="532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smtClean="0"/>
              <a:t>A statement for controlling multiple branches</a:t>
            </a:r>
          </a:p>
          <a:p>
            <a:pPr eaLnBrk="1" hangingPunct="1">
              <a:spcBef>
                <a:spcPct val="50000"/>
              </a:spcBef>
            </a:pPr>
            <a:r>
              <a:rPr lang="en-US" smtClean="0"/>
              <a:t>Can do the same thing with if statements but sometimes switch is more convenient</a:t>
            </a:r>
          </a:p>
          <a:p>
            <a:pPr eaLnBrk="1" hangingPunct="1">
              <a:spcBef>
                <a:spcPct val="50000"/>
              </a:spcBef>
            </a:pPr>
            <a:r>
              <a:rPr lang="en-US" smtClean="0"/>
              <a:t>Uses controlling expression which returns bool data type (true or false)</a:t>
            </a:r>
          </a:p>
          <a:p>
            <a:pPr eaLnBrk="1" hangingPunct="1">
              <a:spcBef>
                <a:spcPct val="50000"/>
              </a:spcBef>
            </a:pPr>
            <a:r>
              <a:rPr lang="en-US" smtClean="0"/>
              <a:t>Syntax:</a:t>
            </a:r>
          </a:p>
          <a:p>
            <a:pPr lvl="1" eaLnBrk="1" hangingPunct="1"/>
            <a:r>
              <a:rPr lang="en-US" smtClean="0"/>
              <a:t>Next slide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2-</a:t>
            </a:r>
            <a:fld id="{40BFDB44-B4EB-45EA-8CFE-FBFC6A4AE35E}" type="slidenum">
              <a:rPr lang="en-US"/>
              <a:pPr>
                <a:defRPr/>
              </a:pPr>
              <a:t>20</a:t>
            </a:fld>
            <a:endParaRPr lang="en-US"/>
          </a:p>
        </p:txBody>
      </p:sp>
      <p:sp>
        <p:nvSpPr>
          <p:cNvPr id="53252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switch Statement Syntax</a:t>
            </a:r>
          </a:p>
        </p:txBody>
      </p:sp>
      <p:pic>
        <p:nvPicPr>
          <p:cNvPr id="55298" name="Picture 4" descr="C:\WINDOWS\Desktop\Oh_type\sacitch_C++_ppt\gif\savitchc02d_p64_1of2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116013" y="1219200"/>
            <a:ext cx="7123112" cy="465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2-</a:t>
            </a:r>
            <a:fld id="{21781B45-3292-49DC-B989-7875FA62996C}" type="slidenum">
              <a:rPr lang="en-US"/>
              <a:pPr>
                <a:defRPr/>
              </a:pPr>
              <a:t>21</a:t>
            </a:fld>
            <a:endParaRPr lang="en-US"/>
          </a:p>
        </p:txBody>
      </p:sp>
      <p:sp>
        <p:nvSpPr>
          <p:cNvPr id="55300" name="Footer Placeholder 8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  <p:sp>
        <p:nvSpPr>
          <p:cNvPr id="55301" name="TextBox 1"/>
          <p:cNvSpPr txBox="1">
            <a:spLocks noChangeArrowheads="1"/>
          </p:cNvSpPr>
          <p:nvPr/>
        </p:nvSpPr>
        <p:spPr bwMode="auto">
          <a:xfrm>
            <a:off x="685800" y="5876925"/>
            <a:ext cx="80422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/>
              <a:t>The controlling expression must be integral!  This includes char.</a:t>
            </a:r>
          </a:p>
        </p:txBody>
      </p:sp>
    </p:spTree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The switch Statement in Action</a:t>
            </a:r>
          </a:p>
        </p:txBody>
      </p:sp>
      <p:pic>
        <p:nvPicPr>
          <p:cNvPr id="57346" name="Picture 4" descr="C:\WINDOWS\Desktop\Oh_type\sacitch_C++_ppt\gif\savitchc02d_p64_2of2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712913" y="1593850"/>
            <a:ext cx="6329362" cy="4795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2-</a:t>
            </a:r>
            <a:fld id="{19E72D45-2AFA-482C-8F6B-CD93BB3C28EA}" type="slidenum">
              <a:rPr lang="en-US"/>
              <a:pPr>
                <a:defRPr/>
              </a:pPr>
              <a:t>22</a:t>
            </a:fld>
            <a:endParaRPr lang="en-US"/>
          </a:p>
        </p:txBody>
      </p:sp>
      <p:sp>
        <p:nvSpPr>
          <p:cNvPr id="57348" name="Footer Placeholder 8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The switch: multiple case labels</a:t>
            </a:r>
          </a:p>
        </p:txBody>
      </p:sp>
      <p:sp>
        <p:nvSpPr>
          <p:cNvPr id="466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11238" y="1524000"/>
            <a:ext cx="7777162" cy="4437063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800" dirty="0"/>
              <a:t>Execution "falls thru" until break</a:t>
            </a:r>
          </a:p>
          <a:p>
            <a:pPr lvl="1" eaLnBrk="1" fontAlgn="auto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sz="2400" dirty="0"/>
              <a:t>switch provides a "point of entry"</a:t>
            </a:r>
          </a:p>
          <a:p>
            <a:pPr lvl="1" eaLnBrk="1" fontAlgn="auto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sz="2400" dirty="0"/>
              <a:t>Example:</a:t>
            </a:r>
            <a:br>
              <a:rPr lang="en-US" sz="2400" dirty="0"/>
            </a:br>
            <a:r>
              <a:rPr lang="en-US" sz="2400" dirty="0"/>
              <a:t>case </a:t>
            </a:r>
            <a:r>
              <a:rPr lang="en-US" sz="2400" dirty="0" smtClean="0"/>
              <a:t>'A':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case </a:t>
            </a:r>
            <a:r>
              <a:rPr lang="en-US" sz="2400" dirty="0" smtClean="0"/>
              <a:t>'a':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     </a:t>
            </a:r>
            <a:r>
              <a:rPr lang="en-US" sz="2400" dirty="0" err="1"/>
              <a:t>cout</a:t>
            </a:r>
            <a:r>
              <a:rPr lang="en-US" sz="2400" dirty="0"/>
              <a:t> &lt;&lt; "Excellent: you got an "A"!\n";</a:t>
            </a:r>
            <a:br>
              <a:rPr lang="en-US" sz="2400" dirty="0"/>
            </a:br>
            <a:r>
              <a:rPr lang="en-US" sz="2400" dirty="0"/>
              <a:t>     break;</a:t>
            </a:r>
            <a:br>
              <a:rPr lang="en-US" sz="2400" dirty="0"/>
            </a:br>
            <a:r>
              <a:rPr lang="en-US" sz="2400" dirty="0"/>
              <a:t>case </a:t>
            </a:r>
            <a:r>
              <a:rPr lang="en-US" sz="2400" dirty="0" smtClean="0"/>
              <a:t>'B':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case </a:t>
            </a:r>
            <a:r>
              <a:rPr lang="en-US" sz="2400" dirty="0" smtClean="0"/>
              <a:t>'b':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     </a:t>
            </a:r>
            <a:r>
              <a:rPr lang="en-US" sz="2400" dirty="0" err="1"/>
              <a:t>cout</a:t>
            </a:r>
            <a:r>
              <a:rPr lang="en-US" sz="2400" dirty="0"/>
              <a:t> &lt;&lt; "Good: you got a "B"!\n";</a:t>
            </a:r>
            <a:br>
              <a:rPr lang="en-US" sz="2400" dirty="0"/>
            </a:br>
            <a:r>
              <a:rPr lang="en-US" sz="2400" dirty="0"/>
              <a:t>     break;</a:t>
            </a:r>
          </a:p>
          <a:p>
            <a:pPr lvl="1" eaLnBrk="1" fontAlgn="auto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sz="2400" dirty="0"/>
              <a:t>Note multiple labels provide same "entry"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2-</a:t>
            </a:r>
            <a:fld id="{1BC051A6-5164-439F-999C-611A76E9A9AA}" type="slidenum">
              <a:rPr lang="en-US"/>
              <a:pPr>
                <a:defRPr/>
              </a:pPr>
              <a:t>23</a:t>
            </a:fld>
            <a:endParaRPr lang="en-US"/>
          </a:p>
        </p:txBody>
      </p:sp>
      <p:sp>
        <p:nvSpPr>
          <p:cNvPr id="59396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switch Pitfalls/Tip</a:t>
            </a:r>
          </a:p>
        </p:txBody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Forgetting the break;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No compiler error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Execution simply "falls thru" other cases until break; 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smtClean="0"/>
              <a:t>Biggest use: MENUs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Provides clearer "big-picture" view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Shows menu structure effectively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Each branch is one menu choice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2-</a:t>
            </a:r>
            <a:fld id="{A1CDCC58-C7B9-411D-91A1-5F39FB5A689A}" type="slidenum">
              <a:rPr lang="en-US"/>
              <a:pPr>
                <a:defRPr/>
              </a:pPr>
              <a:t>24</a:t>
            </a:fld>
            <a:endParaRPr lang="en-US"/>
          </a:p>
        </p:txBody>
      </p:sp>
      <p:sp>
        <p:nvSpPr>
          <p:cNvPr id="61444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switch Menu Example</a:t>
            </a:r>
          </a:p>
        </p:txBody>
      </p:sp>
      <p:sp>
        <p:nvSpPr>
          <p:cNvPr id="634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000" smtClean="0"/>
              <a:t>Switch stmt "perfect" for menus:</a:t>
            </a:r>
            <a:br>
              <a:rPr lang="en-US" sz="2000" smtClean="0"/>
            </a:br>
            <a:r>
              <a:rPr lang="en-US" sz="2000" smtClean="0"/>
              <a:t>switch (response)</a:t>
            </a:r>
            <a:br>
              <a:rPr lang="en-US" sz="2000" smtClean="0"/>
            </a:br>
            <a:r>
              <a:rPr lang="en-US" sz="2000" smtClean="0"/>
              <a:t>{</a:t>
            </a:r>
            <a:br>
              <a:rPr lang="en-US" sz="2000" smtClean="0"/>
            </a:br>
            <a:r>
              <a:rPr lang="en-US" sz="2000" smtClean="0"/>
              <a:t>	case 1:</a:t>
            </a:r>
            <a:br>
              <a:rPr lang="en-US" sz="2000" smtClean="0"/>
            </a:br>
            <a:r>
              <a:rPr lang="en-US" sz="2000" smtClean="0"/>
              <a:t>		// Execute menu option 1</a:t>
            </a:r>
            <a:br>
              <a:rPr lang="en-US" sz="2000" smtClean="0"/>
            </a:br>
            <a:r>
              <a:rPr lang="en-US" sz="2000" smtClean="0"/>
              <a:t>		break;</a:t>
            </a:r>
            <a:br>
              <a:rPr lang="en-US" sz="2000" smtClean="0"/>
            </a:br>
            <a:r>
              <a:rPr lang="en-US" sz="2000" smtClean="0"/>
              <a:t>	case 2:</a:t>
            </a:r>
            <a:br>
              <a:rPr lang="en-US" sz="2000" smtClean="0"/>
            </a:br>
            <a:r>
              <a:rPr lang="en-US" sz="2000" smtClean="0"/>
              <a:t>		// Execute menu option 2</a:t>
            </a:r>
            <a:br>
              <a:rPr lang="en-US" sz="2000" smtClean="0"/>
            </a:br>
            <a:r>
              <a:rPr lang="en-US" sz="2000" smtClean="0"/>
              <a:t>		break;</a:t>
            </a:r>
            <a:br>
              <a:rPr lang="en-US" sz="2000" smtClean="0"/>
            </a:br>
            <a:r>
              <a:rPr lang="en-US" sz="2000" smtClean="0"/>
              <a:t>	case 3:</a:t>
            </a:r>
            <a:br>
              <a:rPr lang="en-US" sz="2000" smtClean="0"/>
            </a:br>
            <a:r>
              <a:rPr lang="en-US" sz="2000" smtClean="0"/>
              <a:t>		// Execute menu option 3</a:t>
            </a:r>
            <a:br>
              <a:rPr lang="en-US" sz="2000" smtClean="0"/>
            </a:br>
            <a:r>
              <a:rPr lang="en-US" sz="2000" smtClean="0"/>
              <a:t>		break;</a:t>
            </a:r>
            <a:br>
              <a:rPr lang="en-US" sz="2000" smtClean="0"/>
            </a:br>
            <a:r>
              <a:rPr lang="en-US" sz="2000" smtClean="0"/>
              <a:t>	default:</a:t>
            </a:r>
            <a:br>
              <a:rPr lang="en-US" sz="2000" smtClean="0"/>
            </a:br>
            <a:r>
              <a:rPr lang="en-US" sz="2000" smtClean="0"/>
              <a:t>		cout &lt;&lt; "Please enter valid response.";</a:t>
            </a:r>
            <a:br>
              <a:rPr lang="en-US" sz="2000" smtClean="0"/>
            </a:br>
            <a:r>
              <a:rPr lang="en-US" sz="2000" smtClean="0"/>
              <a:t>}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2-</a:t>
            </a:r>
            <a:fld id="{1D5F3F60-41E0-4617-B024-0574C397433F}" type="slidenum">
              <a:rPr lang="en-US"/>
              <a:pPr>
                <a:defRPr/>
              </a:pPr>
              <a:t>25</a:t>
            </a:fld>
            <a:endParaRPr lang="en-US"/>
          </a:p>
        </p:txBody>
      </p:sp>
      <p:sp>
        <p:nvSpPr>
          <p:cNvPr id="63492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Conditional Operator</a:t>
            </a:r>
          </a:p>
        </p:txBody>
      </p:sp>
      <p:sp>
        <p:nvSpPr>
          <p:cNvPr id="655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Also called "ternary operator"</a:t>
            </a:r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400" smtClean="0"/>
              <a:t>Allows embedded conditional in expression</a:t>
            </a:r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400" smtClean="0"/>
              <a:t>Essentially "shorthand if-else" operator</a:t>
            </a:r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400" smtClean="0"/>
              <a:t>Example:</a:t>
            </a:r>
            <a:br>
              <a:rPr lang="en-US" sz="2400" smtClean="0"/>
            </a:br>
            <a:r>
              <a:rPr lang="en-US" sz="2400" smtClean="0"/>
              <a:t>if (n1 &gt; n2)</a:t>
            </a:r>
            <a:br>
              <a:rPr lang="en-US" sz="2400" smtClean="0"/>
            </a:br>
            <a:r>
              <a:rPr lang="en-US" sz="2400" smtClean="0"/>
              <a:t>     max = n1;</a:t>
            </a:r>
            <a:br>
              <a:rPr lang="en-US" sz="2400" smtClean="0"/>
            </a:br>
            <a:r>
              <a:rPr lang="en-US" sz="2400" smtClean="0"/>
              <a:t>else</a:t>
            </a:r>
            <a:br>
              <a:rPr lang="en-US" sz="2400" smtClean="0"/>
            </a:br>
            <a:r>
              <a:rPr lang="en-US" sz="2400" smtClean="0"/>
              <a:t>     max = n2;</a:t>
            </a:r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400" smtClean="0"/>
              <a:t>Can be written:</a:t>
            </a:r>
            <a:br>
              <a:rPr lang="en-US" sz="2400" smtClean="0"/>
            </a:br>
            <a:r>
              <a:rPr lang="en-US" sz="2400" smtClean="0"/>
              <a:t>max = (n1 &gt; n2) ? N1 : n2;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smtClean="0"/>
              <a:t>"?" and ":" form this "ternary" operator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2-</a:t>
            </a:r>
            <a:fld id="{F1119E93-FD04-4E93-9461-742CDEBECFD2}" type="slidenum">
              <a:rPr lang="en-US"/>
              <a:pPr>
                <a:defRPr/>
              </a:pPr>
              <a:t>26</a:t>
            </a:fld>
            <a:endParaRPr lang="en-US"/>
          </a:p>
        </p:txBody>
      </p:sp>
      <p:sp>
        <p:nvSpPr>
          <p:cNvPr id="65540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Loops</a:t>
            </a:r>
          </a:p>
        </p:txBody>
      </p:sp>
      <p:sp>
        <p:nvSpPr>
          <p:cNvPr id="675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3 Types of loops in C++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sz="2400" smtClean="0"/>
              <a:t>while</a:t>
            </a:r>
          </a:p>
          <a:p>
            <a:pPr lvl="2" eaLnBrk="1" hangingPunct="1"/>
            <a:r>
              <a:rPr lang="en-US" sz="2000" smtClean="0"/>
              <a:t>Most flexible</a:t>
            </a:r>
          </a:p>
          <a:p>
            <a:pPr lvl="2" eaLnBrk="1" hangingPunct="1"/>
            <a:r>
              <a:rPr lang="en-US" sz="2000" smtClean="0"/>
              <a:t>No "restrictions"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sz="2400" smtClean="0"/>
              <a:t>do-while</a:t>
            </a:r>
          </a:p>
          <a:p>
            <a:pPr lvl="2" eaLnBrk="1" hangingPunct="1"/>
            <a:r>
              <a:rPr lang="en-US" sz="2000" smtClean="0"/>
              <a:t>Least flexible</a:t>
            </a:r>
          </a:p>
          <a:p>
            <a:pPr lvl="2" eaLnBrk="1" hangingPunct="1"/>
            <a:r>
              <a:rPr lang="en-US" sz="2000" smtClean="0"/>
              <a:t>Always executes loop body at least once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sz="2400" smtClean="0"/>
              <a:t>for</a:t>
            </a:r>
          </a:p>
          <a:p>
            <a:pPr lvl="2" eaLnBrk="1" hangingPunct="1"/>
            <a:r>
              <a:rPr lang="en-US" sz="2000" smtClean="0"/>
              <a:t>Natural "counting" loop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2-</a:t>
            </a:r>
            <a:fld id="{BCF4E49D-7DCD-4DE2-8CA6-75F7078E1389}" type="slidenum">
              <a:rPr lang="en-US"/>
              <a:pPr>
                <a:defRPr/>
              </a:pPr>
              <a:t>27</a:t>
            </a:fld>
            <a:endParaRPr lang="en-US"/>
          </a:p>
        </p:txBody>
      </p:sp>
      <p:sp>
        <p:nvSpPr>
          <p:cNvPr id="67588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while Loops Syntax</a:t>
            </a:r>
          </a:p>
        </p:txBody>
      </p:sp>
      <p:pic>
        <p:nvPicPr>
          <p:cNvPr id="69634" name="Picture 6" descr="savitchc02d_p69.gif                                            000528B5backup                         BE98102B: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11238" y="1582738"/>
            <a:ext cx="7751762" cy="439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2-</a:t>
            </a:r>
            <a:fld id="{E797793A-BE32-4CDC-B83F-62F58E3CE4A3}" type="slidenum">
              <a:rPr lang="en-US"/>
              <a:pPr>
                <a:defRPr/>
              </a:pPr>
              <a:t>28</a:t>
            </a:fld>
            <a:endParaRPr lang="en-US"/>
          </a:p>
        </p:txBody>
      </p:sp>
      <p:sp>
        <p:nvSpPr>
          <p:cNvPr id="69636" name="Footer Placeholder 8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while Loop Example</a:t>
            </a:r>
          </a:p>
        </p:txBody>
      </p:sp>
      <p:sp>
        <p:nvSpPr>
          <p:cNvPr id="716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Consider:</a:t>
            </a:r>
            <a:br>
              <a:rPr lang="en-US" sz="2800" smtClean="0"/>
            </a:br>
            <a:r>
              <a:rPr lang="en-US" sz="2800" smtClean="0"/>
              <a:t>count = 0;			// Initialization</a:t>
            </a:r>
            <a:br>
              <a:rPr lang="en-US" sz="2800" smtClean="0"/>
            </a:br>
            <a:r>
              <a:rPr lang="en-US" sz="2800" smtClean="0"/>
              <a:t>while (count &lt; 3)		// Loop Condition</a:t>
            </a:r>
            <a:br>
              <a:rPr lang="en-US" sz="2800" smtClean="0"/>
            </a:br>
            <a:r>
              <a:rPr lang="en-US" sz="2800" smtClean="0"/>
              <a:t>{</a:t>
            </a:r>
            <a:br>
              <a:rPr lang="en-US" sz="2800" smtClean="0"/>
            </a:br>
            <a:r>
              <a:rPr lang="en-US" sz="2800" smtClean="0"/>
              <a:t>	cout &lt;&lt; "Hi ";		// Loop Body</a:t>
            </a:r>
            <a:br>
              <a:rPr lang="en-US" sz="2800" smtClean="0"/>
            </a:br>
            <a:r>
              <a:rPr lang="en-US" sz="2800" smtClean="0"/>
              <a:t>	count++;			// Update expression</a:t>
            </a:r>
            <a:br>
              <a:rPr lang="en-US" sz="2800" smtClean="0"/>
            </a:br>
            <a:r>
              <a:rPr lang="en-US" sz="2800" smtClean="0"/>
              <a:t>}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sz="2400" smtClean="0"/>
              <a:t>Loop body executes how many times?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2-</a:t>
            </a:r>
            <a:fld id="{AF0C1330-825A-42C8-B790-2CF6C80B6946}" type="slidenum">
              <a:rPr lang="en-US"/>
              <a:pPr>
                <a:defRPr/>
              </a:pPr>
              <a:t>29</a:t>
            </a:fld>
            <a:endParaRPr lang="en-US"/>
          </a:p>
        </p:txBody>
      </p:sp>
      <p:sp>
        <p:nvSpPr>
          <p:cNvPr id="71684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do-while Loop Syntax</a:t>
            </a:r>
          </a:p>
        </p:txBody>
      </p:sp>
      <p:pic>
        <p:nvPicPr>
          <p:cNvPr id="73730" name="Picture 4" descr="C:\WINDOWS\Desktop\Oh_type\sacitch_C++_ppt\gif\savitchc02d_p70.gif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147763" y="1600200"/>
            <a:ext cx="7458075" cy="431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2-</a:t>
            </a:r>
            <a:fld id="{AFECF3C3-4E84-401E-A539-A9A121FD004E}" type="slidenum">
              <a:rPr lang="en-US"/>
              <a:pPr>
                <a:defRPr/>
              </a:pPr>
              <a:t>30</a:t>
            </a:fld>
            <a:endParaRPr lang="en-US"/>
          </a:p>
        </p:txBody>
      </p:sp>
      <p:sp>
        <p:nvSpPr>
          <p:cNvPr id="73732" name="Footer Placeholder 8"/>
          <p:cNvSpPr>
            <a:spLocks noGrp="1"/>
          </p:cNvSpPr>
          <p:nvPr>
            <p:ph type="ftr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do-while Loop Example</a:t>
            </a:r>
          </a:p>
        </p:txBody>
      </p:sp>
      <p:sp>
        <p:nvSpPr>
          <p:cNvPr id="757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count = 0;		// Initialization</a:t>
            </a:r>
            <a:br>
              <a:rPr lang="en-US" sz="2800" smtClean="0"/>
            </a:br>
            <a:r>
              <a:rPr lang="en-US" sz="2800" smtClean="0"/>
              <a:t>do   		</a:t>
            </a:r>
            <a:br>
              <a:rPr lang="en-US" sz="2800" smtClean="0"/>
            </a:br>
            <a:r>
              <a:rPr lang="en-US" sz="2800" smtClean="0"/>
              <a:t>{</a:t>
            </a:r>
            <a:br>
              <a:rPr lang="en-US" sz="2800" smtClean="0"/>
            </a:br>
            <a:r>
              <a:rPr lang="en-US" sz="2800" smtClean="0"/>
              <a:t>	cout &lt;&lt; "Hi ";	// Loop Body</a:t>
            </a:r>
            <a:br>
              <a:rPr lang="en-US" sz="2800" smtClean="0"/>
            </a:br>
            <a:r>
              <a:rPr lang="en-US" sz="2800" smtClean="0"/>
              <a:t>	count++;		// Update expression</a:t>
            </a:r>
            <a:br>
              <a:rPr lang="en-US" sz="2800" smtClean="0"/>
            </a:br>
            <a:r>
              <a:rPr lang="en-US" sz="2800" smtClean="0"/>
              <a:t>} while (count &lt; 3);	// Loop Condition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sz="2400" smtClean="0"/>
              <a:t>Loop body executes how many times?</a:t>
            </a:r>
          </a:p>
          <a:p>
            <a:pPr lvl="1" eaLnBrk="1" hangingPunct="1">
              <a:spcBef>
                <a:spcPct val="50000"/>
              </a:spcBef>
            </a:pPr>
            <a:r>
              <a:rPr lang="en-US" sz="2400" smtClean="0"/>
              <a:t>do-while loops always execute body at least once!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2-</a:t>
            </a:r>
            <a:fld id="{4CC3327E-9B8B-433D-8B33-9AE40401FCDF}" type="slidenum">
              <a:rPr lang="en-US"/>
              <a:pPr>
                <a:defRPr/>
              </a:pPr>
              <a:t>31</a:t>
            </a:fld>
            <a:endParaRPr lang="en-US"/>
          </a:p>
        </p:txBody>
      </p:sp>
      <p:sp>
        <p:nvSpPr>
          <p:cNvPr id="75780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while vs. do-while</a:t>
            </a:r>
          </a:p>
        </p:txBody>
      </p:sp>
      <p:sp>
        <p:nvSpPr>
          <p:cNvPr id="778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Very similar, but…</a:t>
            </a:r>
          </a:p>
          <a:p>
            <a:pPr lvl="1" eaLnBrk="1" hangingPunct="1"/>
            <a:r>
              <a:rPr lang="en-US" sz="2400" smtClean="0"/>
              <a:t>One important difference</a:t>
            </a:r>
          </a:p>
          <a:p>
            <a:pPr lvl="2" eaLnBrk="1" hangingPunct="1"/>
            <a:r>
              <a:rPr lang="en-US" sz="2000" smtClean="0"/>
              <a:t>Issue is "WHEN" boolean expression is checked</a:t>
            </a:r>
          </a:p>
          <a:p>
            <a:pPr lvl="2" eaLnBrk="1" hangingPunct="1"/>
            <a:r>
              <a:rPr lang="en-US" sz="2000" smtClean="0"/>
              <a:t>while:		checks BEFORE body is executed</a:t>
            </a:r>
          </a:p>
          <a:p>
            <a:pPr lvl="2" eaLnBrk="1" hangingPunct="1"/>
            <a:r>
              <a:rPr lang="en-US" sz="2000" smtClean="0"/>
              <a:t>do-while:	checked AFTER body is executed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After this difference, they’re </a:t>
            </a:r>
            <a:br>
              <a:rPr lang="en-US" sz="2800" smtClean="0"/>
            </a:br>
            <a:r>
              <a:rPr lang="en-US" sz="2800" smtClean="0"/>
              <a:t>essentially identical!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while is more common, due to it’s </a:t>
            </a:r>
            <a:br>
              <a:rPr lang="en-US" sz="2800" smtClean="0"/>
            </a:br>
            <a:r>
              <a:rPr lang="en-US" sz="2800" smtClean="0"/>
              <a:t>ultimate "flexibility"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2-</a:t>
            </a:r>
            <a:fld id="{F42DD19F-D418-4338-9406-AC862B256DB6}" type="slidenum">
              <a:rPr lang="en-US"/>
              <a:pPr>
                <a:defRPr/>
              </a:pPr>
              <a:t>32</a:t>
            </a:fld>
            <a:endParaRPr lang="en-US"/>
          </a:p>
        </p:txBody>
      </p:sp>
      <p:sp>
        <p:nvSpPr>
          <p:cNvPr id="77828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Comma Operator</a:t>
            </a:r>
          </a:p>
        </p:txBody>
      </p:sp>
      <p:sp>
        <p:nvSpPr>
          <p:cNvPr id="798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Evaluate list of expressions, returning</a:t>
            </a:r>
            <a:br>
              <a:rPr lang="en-US" sz="2800" smtClean="0"/>
            </a:br>
            <a:r>
              <a:rPr lang="en-US" sz="2800" smtClean="0"/>
              <a:t>value of the last expression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Most often used in a for-loop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Example:</a:t>
            </a:r>
            <a:br>
              <a:rPr lang="en-US" sz="2800" smtClean="0"/>
            </a:br>
            <a:r>
              <a:rPr lang="en-US" sz="2800" smtClean="0"/>
              <a:t>first = (first = 2, second = first + 1);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first gets assigned the value 3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second gets assigned the value 3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No guarantee what order expressions will</a:t>
            </a:r>
            <a:br>
              <a:rPr lang="en-US" sz="2800" smtClean="0"/>
            </a:br>
            <a:r>
              <a:rPr lang="en-US" sz="2800" smtClean="0"/>
              <a:t>be evaluated.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2-</a:t>
            </a:r>
            <a:fld id="{7E06D9E6-E061-4E29-9464-C55122E88C49}" type="slidenum">
              <a:rPr lang="en-US"/>
              <a:pPr>
                <a:defRPr/>
              </a:pPr>
              <a:t>33</a:t>
            </a:fld>
            <a:endParaRPr lang="en-US"/>
          </a:p>
        </p:txBody>
      </p:sp>
      <p:sp>
        <p:nvSpPr>
          <p:cNvPr id="79876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for Loop Syntax</a:t>
            </a:r>
          </a:p>
        </p:txBody>
      </p:sp>
      <p:sp>
        <p:nvSpPr>
          <p:cNvPr id="819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Symbol" pitchFamily="18" charset="2"/>
              <a:buNone/>
            </a:pPr>
            <a:r>
              <a:rPr lang="en-US" sz="2800" smtClean="0"/>
              <a:t>for (Init_Action; Bool_Exp; Update_Action)</a:t>
            </a:r>
          </a:p>
          <a:p>
            <a:pPr eaLnBrk="1" hangingPunct="1">
              <a:buFont typeface="Symbol" pitchFamily="18" charset="2"/>
              <a:buNone/>
            </a:pPr>
            <a:r>
              <a:rPr lang="en-US" sz="2800" smtClean="0"/>
              <a:t>	Body_Statement</a:t>
            </a:r>
          </a:p>
          <a:p>
            <a:pPr eaLnBrk="1" hangingPunct="1"/>
            <a:endParaRPr lang="en-US" sz="2800" smtClean="0"/>
          </a:p>
          <a:p>
            <a:pPr eaLnBrk="1" hangingPunct="1"/>
            <a:r>
              <a:rPr lang="en-US" sz="2800" smtClean="0"/>
              <a:t>Like if-else, Body_Statement can be</a:t>
            </a:r>
            <a:br>
              <a:rPr lang="en-US" sz="2800" smtClean="0"/>
            </a:br>
            <a:r>
              <a:rPr lang="en-US" sz="2800" smtClean="0"/>
              <a:t>a block statement</a:t>
            </a:r>
          </a:p>
          <a:p>
            <a:pPr lvl="1" eaLnBrk="1" hangingPunct="1"/>
            <a:r>
              <a:rPr lang="en-US" sz="2400" smtClean="0"/>
              <a:t>Much more typical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2-</a:t>
            </a:r>
            <a:fld id="{5FDDA417-DCB7-469A-914E-8388B38D658D}" type="slidenum">
              <a:rPr lang="en-US"/>
              <a:pPr>
                <a:defRPr/>
              </a:pPr>
              <a:t>34</a:t>
            </a:fld>
            <a:endParaRPr lang="en-US"/>
          </a:p>
        </p:txBody>
      </p:sp>
      <p:sp>
        <p:nvSpPr>
          <p:cNvPr id="81924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for Loop Example</a:t>
            </a:r>
          </a:p>
        </p:txBody>
      </p:sp>
      <p:sp>
        <p:nvSpPr>
          <p:cNvPr id="839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for (count=0;count&lt;3;count++)   		</a:t>
            </a:r>
            <a:br>
              <a:rPr lang="en-US" sz="2800" smtClean="0"/>
            </a:br>
            <a:r>
              <a:rPr lang="en-US" sz="2800" smtClean="0"/>
              <a:t>{</a:t>
            </a:r>
            <a:br>
              <a:rPr lang="en-US" sz="2800" smtClean="0"/>
            </a:br>
            <a:r>
              <a:rPr lang="en-US" sz="2800" smtClean="0"/>
              <a:t>	cout &lt;&lt; "Hi ";	// Loop Body</a:t>
            </a:r>
            <a:br>
              <a:rPr lang="en-US" sz="2800" smtClean="0"/>
            </a:br>
            <a:r>
              <a:rPr lang="en-US" sz="2800" smtClean="0"/>
              <a:t>}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How many times does loop body execute?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Initialization, loop condition and update all</a:t>
            </a:r>
            <a:br>
              <a:rPr lang="en-US" sz="2800" smtClean="0"/>
            </a:br>
            <a:r>
              <a:rPr lang="en-US" sz="2800" smtClean="0"/>
              <a:t>"built into" the for-loop structure!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smtClean="0"/>
              <a:t>A natural "counting" loop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2-</a:t>
            </a:r>
            <a:fld id="{F647DFF7-EBB1-4289-8352-D4DAD905C53F}" type="slidenum">
              <a:rPr lang="en-US"/>
              <a:pPr>
                <a:defRPr/>
              </a:pPr>
              <a:t>35</a:t>
            </a:fld>
            <a:endParaRPr lang="en-US"/>
          </a:p>
        </p:txBody>
      </p:sp>
      <p:sp>
        <p:nvSpPr>
          <p:cNvPr id="83972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Loop Issues</a:t>
            </a:r>
          </a:p>
        </p:txBody>
      </p:sp>
      <p:sp>
        <p:nvSpPr>
          <p:cNvPr id="860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Loop’s condition expression can be ANY boolean expression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Examples: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sz="2400" smtClean="0"/>
              <a:t>	while (count&lt;3 &amp;&amp; done!=0)</a:t>
            </a:r>
            <a:br>
              <a:rPr lang="en-US" sz="2400" smtClean="0"/>
            </a:br>
            <a:r>
              <a:rPr lang="en-US" sz="2400" smtClean="0"/>
              <a:t>{</a:t>
            </a:r>
            <a:br>
              <a:rPr lang="en-US" sz="2400" smtClean="0"/>
            </a:br>
            <a:r>
              <a:rPr lang="en-US" sz="2400" smtClean="0"/>
              <a:t>     // Do something</a:t>
            </a:r>
            <a:br>
              <a:rPr lang="en-US" sz="2400" smtClean="0"/>
            </a:br>
            <a:r>
              <a:rPr lang="en-US" sz="2400" smtClean="0"/>
              <a:t>}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sz="2400" smtClean="0"/>
              <a:t>	for (index=0;index&lt;10 &amp;&amp; entry!=-99)</a:t>
            </a:r>
            <a:br>
              <a:rPr lang="en-US" sz="2400" smtClean="0"/>
            </a:br>
            <a:r>
              <a:rPr lang="en-US" sz="2400" smtClean="0"/>
              <a:t>{</a:t>
            </a:r>
            <a:br>
              <a:rPr lang="en-US" sz="2400" smtClean="0"/>
            </a:br>
            <a:r>
              <a:rPr lang="en-US" sz="2400" smtClean="0"/>
              <a:t>     // Do something</a:t>
            </a:r>
            <a:br>
              <a:rPr lang="en-US" sz="2400" smtClean="0"/>
            </a:br>
            <a:r>
              <a:rPr lang="en-US" sz="2400" smtClean="0"/>
              <a:t>}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2-</a:t>
            </a:r>
            <a:fld id="{115F2968-74FC-490A-8469-6FF8423B4124}" type="slidenum">
              <a:rPr lang="en-US"/>
              <a:pPr>
                <a:defRPr/>
              </a:pPr>
              <a:t>36</a:t>
            </a:fld>
            <a:endParaRPr lang="en-US"/>
          </a:p>
        </p:txBody>
      </p:sp>
      <p:sp>
        <p:nvSpPr>
          <p:cNvPr id="86020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Loop Pitfalls: Misplaced ;</a:t>
            </a:r>
          </a:p>
        </p:txBody>
      </p:sp>
      <p:sp>
        <p:nvSpPr>
          <p:cNvPr id="880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Watch the misplaced ; (semicolon)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Example:</a:t>
            </a:r>
            <a:br>
              <a:rPr lang="en-US" smtClean="0"/>
            </a:br>
            <a:r>
              <a:rPr lang="en-US" smtClean="0"/>
              <a:t>while (response != 0) ;</a:t>
            </a:r>
            <a:r>
              <a:rPr lang="en-US" b="1" smtClean="0">
                <a:sym typeface="Wingdings" pitchFamily="2" charset="2"/>
              </a:rPr>
              <a:t></a:t>
            </a: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{</a:t>
            </a:r>
            <a:br>
              <a:rPr lang="en-US" smtClean="0"/>
            </a:br>
            <a:r>
              <a:rPr lang="en-US" smtClean="0"/>
              <a:t>     cout &lt;&lt; "Enter val: ";</a:t>
            </a:r>
            <a:br>
              <a:rPr lang="en-US" smtClean="0"/>
            </a:br>
            <a:r>
              <a:rPr lang="en-US" smtClean="0"/>
              <a:t>     cin &gt;&gt; response;</a:t>
            </a:r>
            <a:br>
              <a:rPr lang="en-US" smtClean="0"/>
            </a:br>
            <a:r>
              <a:rPr lang="en-US" smtClean="0"/>
              <a:t>}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Notice the ";" after the while condition!  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mtClean="0"/>
              <a:t>Result here: INFINITE LOOP!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2-</a:t>
            </a:r>
            <a:fld id="{8318D733-0450-4AB5-A19B-B5745DCC0F2D}" type="slidenum">
              <a:rPr lang="en-US"/>
              <a:pPr>
                <a:defRPr/>
              </a:pPr>
              <a:t>37</a:t>
            </a:fld>
            <a:endParaRPr lang="en-US"/>
          </a:p>
        </p:txBody>
      </p:sp>
      <p:sp>
        <p:nvSpPr>
          <p:cNvPr id="88068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Loop Pitfalls: Infinite Loops</a:t>
            </a:r>
          </a:p>
        </p:txBody>
      </p:sp>
      <p:sp>
        <p:nvSpPr>
          <p:cNvPr id="9011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Loop condition must evaluate to false at</a:t>
            </a:r>
            <a:br>
              <a:rPr lang="en-US" sz="2800" smtClean="0"/>
            </a:br>
            <a:r>
              <a:rPr lang="en-US" sz="2800" smtClean="0"/>
              <a:t>some iteration through loop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If not </a:t>
            </a:r>
            <a:r>
              <a:rPr lang="en-US" sz="2400" smtClean="0">
                <a:sym typeface="Wingdings" pitchFamily="2" charset="2"/>
              </a:rPr>
              <a:t></a:t>
            </a:r>
            <a:r>
              <a:rPr lang="en-US" sz="2400" smtClean="0"/>
              <a:t>  infinite loop.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Example:</a:t>
            </a:r>
            <a:br>
              <a:rPr lang="en-US" sz="2400" smtClean="0"/>
            </a:br>
            <a:r>
              <a:rPr lang="en-US" sz="2400" smtClean="0"/>
              <a:t>while (1)</a:t>
            </a:r>
            <a:br>
              <a:rPr lang="en-US" sz="2400" smtClean="0"/>
            </a:br>
            <a:r>
              <a:rPr lang="en-US" sz="2400" smtClean="0"/>
              <a:t>{</a:t>
            </a:r>
            <a:br>
              <a:rPr lang="en-US" sz="2400" smtClean="0"/>
            </a:br>
            <a:r>
              <a:rPr lang="en-US" sz="2400" smtClean="0"/>
              <a:t>     cout &lt;&lt; "Hello ";</a:t>
            </a:r>
            <a:br>
              <a:rPr lang="en-US" sz="2400" smtClean="0"/>
            </a:br>
            <a:r>
              <a:rPr lang="en-US" sz="2400" smtClean="0"/>
              <a:t>}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A perfectly legal C++ loop </a:t>
            </a:r>
            <a:r>
              <a:rPr lang="en-US" sz="2400" smtClean="0">
                <a:sym typeface="Wingdings" pitchFamily="2" charset="2"/>
              </a:rPr>
              <a:t></a:t>
            </a:r>
            <a:r>
              <a:rPr lang="en-US" sz="2400" smtClean="0"/>
              <a:t> always infinite!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Infinite loops can be desirable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e.g., "Embedded Systems"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2-</a:t>
            </a:r>
            <a:fld id="{F5573A52-941B-404B-8BE2-AAACCEBF25AD}" type="slidenum">
              <a:rPr lang="en-US"/>
              <a:pPr>
                <a:defRPr/>
              </a:pPr>
              <a:t>38</a:t>
            </a:fld>
            <a:endParaRPr lang="en-US"/>
          </a:p>
        </p:txBody>
      </p:sp>
      <p:sp>
        <p:nvSpPr>
          <p:cNvPr id="90116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smtClean="0"/>
              <a:t>The break and continue Statements</a:t>
            </a:r>
          </a:p>
        </p:txBody>
      </p:sp>
      <p:sp>
        <p:nvSpPr>
          <p:cNvPr id="921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Flow of Control</a:t>
            </a:r>
          </a:p>
          <a:p>
            <a:pPr lvl="1" eaLnBrk="1" hangingPunct="1">
              <a:lnSpc>
                <a:spcPct val="90000"/>
              </a:lnSpc>
              <a:spcBef>
                <a:spcPct val="25000"/>
              </a:spcBef>
            </a:pPr>
            <a:r>
              <a:rPr lang="en-US" sz="2400" smtClean="0"/>
              <a:t>Recall how loops provide "graceful" and clear flow of control in and out</a:t>
            </a:r>
          </a:p>
          <a:p>
            <a:pPr lvl="1" eaLnBrk="1" hangingPunct="1">
              <a:lnSpc>
                <a:spcPct val="90000"/>
              </a:lnSpc>
              <a:spcBef>
                <a:spcPct val="25000"/>
              </a:spcBef>
            </a:pPr>
            <a:r>
              <a:rPr lang="en-US" sz="2400" smtClean="0"/>
              <a:t>In RARE instances, can alter natural flow</a:t>
            </a:r>
          </a:p>
          <a:p>
            <a:pPr eaLnBrk="1" hangingPunct="1">
              <a:lnSpc>
                <a:spcPct val="90000"/>
              </a:lnSpc>
              <a:spcBef>
                <a:spcPct val="35000"/>
              </a:spcBef>
            </a:pPr>
            <a:r>
              <a:rPr lang="en-US" sz="2800" smtClean="0"/>
              <a:t>break; </a:t>
            </a:r>
          </a:p>
          <a:p>
            <a:pPr lvl="1" eaLnBrk="1" hangingPunct="1">
              <a:lnSpc>
                <a:spcPct val="90000"/>
              </a:lnSpc>
              <a:spcBef>
                <a:spcPct val="25000"/>
              </a:spcBef>
            </a:pPr>
            <a:r>
              <a:rPr lang="en-US" sz="2400" smtClean="0"/>
              <a:t>Forces loop to exit immediately.</a:t>
            </a:r>
          </a:p>
          <a:p>
            <a:pPr eaLnBrk="1" hangingPunct="1">
              <a:lnSpc>
                <a:spcPct val="90000"/>
              </a:lnSpc>
              <a:spcBef>
                <a:spcPct val="35000"/>
              </a:spcBef>
            </a:pPr>
            <a:r>
              <a:rPr lang="en-US" sz="2800" smtClean="0"/>
              <a:t>continue;</a:t>
            </a:r>
          </a:p>
          <a:p>
            <a:pPr lvl="1" eaLnBrk="1" hangingPunct="1">
              <a:lnSpc>
                <a:spcPct val="90000"/>
              </a:lnSpc>
              <a:spcBef>
                <a:spcPct val="25000"/>
              </a:spcBef>
            </a:pPr>
            <a:r>
              <a:rPr lang="en-US" sz="2400" smtClean="0"/>
              <a:t> Skips rest of loop body</a:t>
            </a:r>
          </a:p>
          <a:p>
            <a:pPr eaLnBrk="1" hangingPunct="1">
              <a:lnSpc>
                <a:spcPct val="90000"/>
              </a:lnSpc>
              <a:spcBef>
                <a:spcPct val="35000"/>
              </a:spcBef>
            </a:pPr>
            <a:r>
              <a:rPr lang="en-US" sz="2800" smtClean="0"/>
              <a:t>These statements violate natural flow</a:t>
            </a:r>
          </a:p>
          <a:p>
            <a:pPr lvl="1" eaLnBrk="1" hangingPunct="1">
              <a:lnSpc>
                <a:spcPct val="90000"/>
              </a:lnSpc>
              <a:spcBef>
                <a:spcPct val="25000"/>
              </a:spcBef>
            </a:pPr>
            <a:r>
              <a:rPr lang="en-US" sz="2400" smtClean="0"/>
              <a:t>Only used when absolutely necessary!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2-</a:t>
            </a:r>
            <a:fld id="{8DC9E0E5-2397-4440-9FB2-DE7E7B2E76F9}" type="slidenum">
              <a:rPr lang="en-US"/>
              <a:pPr>
                <a:defRPr/>
              </a:pPr>
              <a:t>39</a:t>
            </a:fld>
            <a:endParaRPr lang="en-US"/>
          </a:p>
        </p:txBody>
      </p:sp>
      <p:sp>
        <p:nvSpPr>
          <p:cNvPr id="92164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Nested Loops</a:t>
            </a:r>
          </a:p>
        </p:txBody>
      </p:sp>
      <p:sp>
        <p:nvSpPr>
          <p:cNvPr id="942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800" smtClean="0"/>
              <a:t>Recall: ANY valid C++ statements can be</a:t>
            </a:r>
            <a:br>
              <a:rPr lang="en-US" sz="2800" smtClean="0"/>
            </a:br>
            <a:r>
              <a:rPr lang="en-US" sz="2800" smtClean="0"/>
              <a:t>inside body of loop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800" smtClean="0"/>
              <a:t>This includes additional loop statements!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Called "nested loops"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800" smtClean="0"/>
              <a:t>Requires careful indenting:</a:t>
            </a:r>
            <a:br>
              <a:rPr lang="en-US" sz="2800" smtClean="0"/>
            </a:br>
            <a:r>
              <a:rPr lang="en-US" sz="2800" smtClean="0"/>
              <a:t>for (outer=0; outer&lt;5; outer++)</a:t>
            </a:r>
            <a:br>
              <a:rPr lang="en-US" sz="2800" smtClean="0"/>
            </a:br>
            <a:r>
              <a:rPr lang="en-US" sz="2800" smtClean="0"/>
              <a:t>     for (inner=7; inner&gt;2; inner--)</a:t>
            </a:r>
            <a:br>
              <a:rPr lang="en-US" sz="2800" smtClean="0"/>
            </a:br>
            <a:r>
              <a:rPr lang="en-US" sz="2800" smtClean="0"/>
              <a:t>          cout &lt;&lt; outer &lt;&lt; inner;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Notice no { } since each body is one statement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Good style dictates we use { } anyway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2-</a:t>
            </a:r>
            <a:fld id="{A74008BF-DCE1-4EF5-B0BD-D0D926E3DEA0}" type="slidenum">
              <a:rPr lang="en-US"/>
              <a:pPr>
                <a:defRPr/>
              </a:pPr>
              <a:t>40</a:t>
            </a:fld>
            <a:endParaRPr lang="en-US"/>
          </a:p>
        </p:txBody>
      </p:sp>
      <p:sp>
        <p:nvSpPr>
          <p:cNvPr id="94212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Introduction to File Input</a:t>
            </a:r>
          </a:p>
        </p:txBody>
      </p:sp>
      <p:sp>
        <p:nvSpPr>
          <p:cNvPr id="9625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We can use cin to read from a file in a manner very similar to reading from the keyboard</a:t>
            </a:r>
          </a:p>
          <a:p>
            <a:r>
              <a:rPr lang="en-US" smtClean="0"/>
              <a:t>Only an introduction is given here, more details are in chapter 12</a:t>
            </a:r>
          </a:p>
          <a:p>
            <a:pPr lvl="1"/>
            <a:r>
              <a:rPr lang="en-US" smtClean="0"/>
              <a:t>Just enough so you can read from text files and process larger amounts of data that would be too much work to type 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2-</a:t>
            </a:r>
            <a:fld id="{5FFD0C15-5F69-4880-8A7B-B05A82A86245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  <p:sp>
        <p:nvSpPr>
          <p:cNvPr id="96260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Opening a Text File</a:t>
            </a:r>
          </a:p>
        </p:txBody>
      </p:sp>
      <p:sp>
        <p:nvSpPr>
          <p:cNvPr id="97282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25963"/>
          </a:xfrm>
        </p:spPr>
        <p:txBody>
          <a:bodyPr/>
          <a:lstStyle/>
          <a:p>
            <a:r>
              <a:rPr lang="en-US" sz="2800" smtClean="0"/>
              <a:t>Add at the top</a:t>
            </a:r>
          </a:p>
          <a:p>
            <a:pPr marL="457200" lvl="1" indent="0">
              <a:buFont typeface="Arial" charset="0"/>
              <a:buNone/>
            </a:pPr>
            <a:r>
              <a:rPr lang="en-US" sz="2000" smtClean="0">
                <a:latin typeface="Courier New" pitchFamily="49" charset="0"/>
                <a:cs typeface="Courier New" pitchFamily="49" charset="0"/>
              </a:rPr>
              <a:t>	#include &lt;fstream&gt;</a:t>
            </a:r>
            <a:br>
              <a:rPr lang="en-US" sz="2000" smtClean="0">
                <a:latin typeface="Courier New" pitchFamily="49" charset="0"/>
                <a:cs typeface="Courier New" pitchFamily="49" charset="0"/>
              </a:rPr>
            </a:br>
            <a:r>
              <a:rPr lang="en-US" sz="2000" smtClean="0">
                <a:latin typeface="Courier New" pitchFamily="49" charset="0"/>
                <a:cs typeface="Courier New" pitchFamily="49" charset="0"/>
              </a:rPr>
              <a:t>	using namespace std;</a:t>
            </a:r>
          </a:p>
          <a:p>
            <a:r>
              <a:rPr lang="en-US" sz="2800" smtClean="0"/>
              <a:t>You can then declare an input stream just as you would declare any other variable.</a:t>
            </a:r>
          </a:p>
          <a:p>
            <a:pPr marL="457200" lvl="1" indent="0">
              <a:buFont typeface="Arial" charset="0"/>
              <a:buNone/>
            </a:pPr>
            <a:r>
              <a:rPr lang="en-US" sz="2000" smtClean="0">
                <a:latin typeface="Courier New" pitchFamily="49" charset="0"/>
                <a:cs typeface="Courier New" pitchFamily="49" charset="0"/>
              </a:rPr>
              <a:t>	ifstream inputStream;</a:t>
            </a:r>
          </a:p>
          <a:p>
            <a:r>
              <a:rPr lang="en-US" sz="2800" smtClean="0"/>
              <a:t>Next you must connect the inputStream variable to a text file on the disk.</a:t>
            </a:r>
          </a:p>
          <a:p>
            <a:pPr marL="457200" lvl="1" indent="0">
              <a:buFont typeface="Arial" charset="0"/>
              <a:buNone/>
            </a:pPr>
            <a:r>
              <a:rPr lang="en-US" sz="2400" smtClean="0"/>
              <a:t>	</a:t>
            </a:r>
            <a:r>
              <a:rPr lang="en-US" sz="2000" smtClean="0">
                <a:latin typeface="Courier New" pitchFamily="49" charset="0"/>
                <a:cs typeface="Courier New" pitchFamily="49" charset="0"/>
              </a:rPr>
              <a:t>inputStream.open("filename.txt");</a:t>
            </a:r>
            <a:endParaRPr lang="en-US" sz="240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2800" smtClean="0"/>
              <a:t>The “filename.txt” is the pathname to a text file or a file in the current directory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2-</a:t>
            </a:r>
            <a:fld id="{7964090B-C968-49B0-80FF-2FFF1BFB17B8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  <p:sp>
        <p:nvSpPr>
          <p:cNvPr id="97284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Reading from a Text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Use</a:t>
            </a:r>
          </a:p>
          <a:p>
            <a:pPr marL="457200" lvl="1" indent="0">
              <a:buFont typeface="Arial" charset="0"/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inputStream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&gt;&gt;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;</a:t>
            </a:r>
            <a:endParaRPr lang="en-US" dirty="0" smtClean="0"/>
          </a:p>
          <a:p>
            <a:pPr>
              <a:defRPr/>
            </a:pPr>
            <a:r>
              <a:rPr lang="en-US" dirty="0" smtClean="0"/>
              <a:t>The result is the same as using </a:t>
            </a:r>
            <a:r>
              <a:rPr lang="en-US" sz="2800" dirty="0" err="1" smtClean="0"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 &gt;&gt; </a:t>
            </a:r>
            <a:r>
              <a:rPr lang="en-US" sz="2800" dirty="0" err="1" smtClean="0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2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 smtClean="0"/>
              <a:t>except the input is coming from the text file and not the keyboard</a:t>
            </a:r>
          </a:p>
          <a:p>
            <a:pPr>
              <a:defRPr/>
            </a:pPr>
            <a:r>
              <a:rPr lang="en-US" dirty="0" smtClean="0"/>
              <a:t>When done with the file close it with</a:t>
            </a:r>
          </a:p>
          <a:p>
            <a:pPr marL="0" indent="0">
              <a:buFont typeface="Arial" charset="0"/>
              <a:buNone/>
              <a:defRPr/>
            </a:pPr>
            <a:r>
              <a:rPr lang="en-US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800" dirty="0" err="1" smtClean="0">
                <a:latin typeface="Courier New" pitchFamily="49" charset="0"/>
                <a:cs typeface="Courier New" pitchFamily="49" charset="0"/>
              </a:rPr>
              <a:t>inputStream.close</a:t>
            </a:r>
            <a:r>
              <a:rPr lang="en-US" sz="2800" dirty="0" smtClean="0">
                <a:latin typeface="Courier New" pitchFamily="49" charset="0"/>
                <a:cs typeface="Courier New" pitchFamily="49" charset="0"/>
              </a:rPr>
              <a:t>();</a:t>
            </a:r>
            <a:endParaRPr lang="en-US" sz="2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2-</a:t>
            </a:r>
            <a:fld id="{AC945EFB-12AD-4251-B75F-5CB2FF22D0B6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  <p:sp>
        <p:nvSpPr>
          <p:cNvPr id="98308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File Input Example (1 of 2)</a:t>
            </a:r>
          </a:p>
        </p:txBody>
      </p:sp>
      <p:sp>
        <p:nvSpPr>
          <p:cNvPr id="9933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Consider a text file named player.txt with the following text</a:t>
            </a:r>
          </a:p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2-</a:t>
            </a:r>
            <a:fld id="{2463FABC-5CC3-45CB-8C37-2F19B4FE217C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  <p:sp>
        <p:nvSpPr>
          <p:cNvPr id="99332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  <p:pic>
        <p:nvPicPr>
          <p:cNvPr id="9933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47738" y="2971800"/>
            <a:ext cx="7227887" cy="138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File Input Example (2 of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2-</a:t>
            </a:r>
            <a:fld id="{2FC10CAD-EB8E-429B-929F-685EAD0EEB75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  <p:sp>
        <p:nvSpPr>
          <p:cNvPr id="100355" name="Footer Placeholder 4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  <p:pic>
        <p:nvPicPr>
          <p:cNvPr id="10035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1133475"/>
            <a:ext cx="4191000" cy="5713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Summary 1</a:t>
            </a:r>
          </a:p>
        </p:txBody>
      </p:sp>
      <p:sp>
        <p:nvSpPr>
          <p:cNvPr id="1013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smtClean="0"/>
              <a:t>Boolean expressions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Similar to arithmetic </a:t>
            </a:r>
            <a:r>
              <a:rPr lang="en-US" sz="2400" smtClean="0">
                <a:sym typeface="Wingdings" pitchFamily="2" charset="2"/>
              </a:rPr>
              <a:t></a:t>
            </a:r>
            <a:r>
              <a:rPr lang="en-US" sz="2400" smtClean="0"/>
              <a:t> results in true or false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C++ branching statements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if-else, switch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switch statement great for menus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sz="2800" smtClean="0"/>
              <a:t>C++ loop statements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while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do-while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smtClean="0"/>
              <a:t>for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2-</a:t>
            </a:r>
            <a:fld id="{A7C0C274-1F4A-4E18-85CF-F2E9CF5FA070}" type="slidenum">
              <a:rPr lang="en-US"/>
              <a:pPr>
                <a:defRPr/>
              </a:pPr>
              <a:t>46</a:t>
            </a:fld>
            <a:endParaRPr lang="en-US"/>
          </a:p>
        </p:txBody>
      </p:sp>
      <p:sp>
        <p:nvSpPr>
          <p:cNvPr id="101380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Summary 2</a:t>
            </a:r>
          </a:p>
        </p:txBody>
      </p:sp>
      <p:sp>
        <p:nvSpPr>
          <p:cNvPr id="1034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pPr eaLnBrk="1" hangingPunct="1"/>
            <a:r>
              <a:rPr lang="en-US" smtClean="0"/>
              <a:t>do-while loops</a:t>
            </a:r>
          </a:p>
          <a:p>
            <a:pPr lvl="1" eaLnBrk="1" hangingPunct="1"/>
            <a:r>
              <a:rPr lang="en-US" sz="2400" smtClean="0"/>
              <a:t>Always execute their loop body at least once</a:t>
            </a:r>
          </a:p>
          <a:p>
            <a:pPr eaLnBrk="1" hangingPunct="1"/>
            <a:r>
              <a:rPr lang="en-US" smtClean="0"/>
              <a:t>for-loop</a:t>
            </a:r>
          </a:p>
          <a:p>
            <a:pPr lvl="1" eaLnBrk="1" hangingPunct="1"/>
            <a:r>
              <a:rPr lang="en-US" sz="2400" smtClean="0"/>
              <a:t> A natural "counting" loop</a:t>
            </a:r>
          </a:p>
          <a:p>
            <a:pPr eaLnBrk="1" hangingPunct="1">
              <a:spcBef>
                <a:spcPct val="50000"/>
              </a:spcBef>
            </a:pPr>
            <a:r>
              <a:rPr lang="en-US" smtClean="0"/>
              <a:t>Loops can be exited early</a:t>
            </a:r>
          </a:p>
          <a:p>
            <a:pPr lvl="1" eaLnBrk="1" hangingPunct="1"/>
            <a:r>
              <a:rPr lang="en-US" sz="2400" smtClean="0"/>
              <a:t>break statement</a:t>
            </a:r>
          </a:p>
          <a:p>
            <a:pPr lvl="1" eaLnBrk="1" hangingPunct="1"/>
            <a:r>
              <a:rPr lang="en-US" sz="2400" smtClean="0"/>
              <a:t>continue statement</a:t>
            </a:r>
          </a:p>
          <a:p>
            <a:pPr lvl="1" eaLnBrk="1" hangingPunct="1"/>
            <a:r>
              <a:rPr lang="en-US" sz="2400" smtClean="0"/>
              <a:t>Usage restricted for style purposes</a:t>
            </a:r>
          </a:p>
          <a:p>
            <a:pPr eaLnBrk="1" hangingPunct="1"/>
            <a:r>
              <a:rPr lang="en-US" smtClean="0"/>
              <a:t>Reading from a text file is similar to reading from cin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2-</a:t>
            </a:r>
            <a:fld id="{9AC487C6-A2E8-45E2-9C14-C43A13845AFF}" type="slidenum">
              <a:rPr lang="en-US"/>
              <a:pPr>
                <a:defRPr/>
              </a:pPr>
              <a:t>47</a:t>
            </a:fld>
            <a:endParaRPr lang="en-US"/>
          </a:p>
        </p:txBody>
      </p:sp>
      <p:sp>
        <p:nvSpPr>
          <p:cNvPr id="103428" name="Footer Placeholder 8"/>
          <p:cNvSpPr>
            <a:spLocks noGrp="1"/>
          </p:cNvSpPr>
          <p:nvPr>
            <p:ph type="ftr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mtClean="0">
                <a:cs typeface="Arial" charset="0"/>
              </a:rPr>
              <a:t>Copyright © 2012 Pearson Addison-Wesley. All rights reserved.</a:t>
            </a:r>
            <a:endParaRPr lang="en-CA" smtClean="0">
              <a:cs typeface="Arial" charset="0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503</TotalTime>
  <Words>1674</Words>
  <Application>Microsoft Office PowerPoint</Application>
  <PresentationFormat>On-screen Show (4:3)</PresentationFormat>
  <Paragraphs>364</Paragraphs>
  <Slides>47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Design Template</vt:lpstr>
      </vt:variant>
      <vt:variant>
        <vt:i4>12</vt:i4>
      </vt:variant>
      <vt:variant>
        <vt:lpstr>Slide Titles</vt:lpstr>
      </vt:variant>
      <vt:variant>
        <vt:i4>47</vt:i4>
      </vt:variant>
    </vt:vector>
  </HeadingPairs>
  <TitlesOfParts>
    <vt:vector size="64" baseType="lpstr">
      <vt:lpstr>Arial</vt:lpstr>
      <vt:lpstr>Calibri</vt:lpstr>
      <vt:lpstr>Wingdings</vt:lpstr>
      <vt:lpstr>Symbol</vt:lpstr>
      <vt:lpstr>Courier New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Chapter 2</vt:lpstr>
      <vt:lpstr>Learning Objectives</vt:lpstr>
      <vt:lpstr>Boolean Expressions: Display 2.1  Comparison Operators</vt:lpstr>
      <vt:lpstr>Evaluating Boolean Expressions</vt:lpstr>
      <vt:lpstr>Evaluating Boolean Expressions: Display 2.2  Truth Tables</vt:lpstr>
      <vt:lpstr>Display 2.3   Precedence of Operators (1 of 4)</vt:lpstr>
      <vt:lpstr>Display 2.3   Precedence of Operators (2 of 4)</vt:lpstr>
      <vt:lpstr>Display 2.3   Precedence of Operators (3 of 4)</vt:lpstr>
      <vt:lpstr>Display 2.3   Precedence of Operators (4 of 4)</vt:lpstr>
      <vt:lpstr>Precedence Examples</vt:lpstr>
      <vt:lpstr>Branching Mechanisms</vt:lpstr>
      <vt:lpstr>if-else Statement Syntax</vt:lpstr>
      <vt:lpstr> Compound/Block Statement</vt:lpstr>
      <vt:lpstr>Compound Statement in Action</vt:lpstr>
      <vt:lpstr>Common Pitfalls</vt:lpstr>
      <vt:lpstr>The Optional else</vt:lpstr>
      <vt:lpstr>Nested Statements</vt:lpstr>
      <vt:lpstr>Multiway if-else</vt:lpstr>
      <vt:lpstr>Multiway if-else Example</vt:lpstr>
      <vt:lpstr>The switch Statement</vt:lpstr>
      <vt:lpstr>switch Statement Syntax</vt:lpstr>
      <vt:lpstr>The switch Statement in Action</vt:lpstr>
      <vt:lpstr>The switch: multiple case labels</vt:lpstr>
      <vt:lpstr>switch Pitfalls/Tip</vt:lpstr>
      <vt:lpstr>switch Menu Example</vt:lpstr>
      <vt:lpstr>Conditional Operator</vt:lpstr>
      <vt:lpstr>Loops</vt:lpstr>
      <vt:lpstr>while Loops Syntax</vt:lpstr>
      <vt:lpstr>while Loop Example</vt:lpstr>
      <vt:lpstr>do-while Loop Syntax</vt:lpstr>
      <vt:lpstr>do-while Loop Example</vt:lpstr>
      <vt:lpstr>while vs. do-while</vt:lpstr>
      <vt:lpstr>Comma Operator</vt:lpstr>
      <vt:lpstr>for Loop Syntax</vt:lpstr>
      <vt:lpstr>for Loop Example</vt:lpstr>
      <vt:lpstr>Loop Issues</vt:lpstr>
      <vt:lpstr>Loop Pitfalls: Misplaced ;</vt:lpstr>
      <vt:lpstr>Loop Pitfalls: Infinite Loops</vt:lpstr>
      <vt:lpstr>The break and continue Statements</vt:lpstr>
      <vt:lpstr>Nested Loops</vt:lpstr>
      <vt:lpstr>Introduction to File Input</vt:lpstr>
      <vt:lpstr>Opening a Text File</vt:lpstr>
      <vt:lpstr>Reading from a Text File</vt:lpstr>
      <vt:lpstr>File Input Example (1 of 2)</vt:lpstr>
      <vt:lpstr>File Input Example (2 of 2)</vt:lpstr>
      <vt:lpstr>Summary 1</vt:lpstr>
      <vt:lpstr>Summary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Kenrick</dc:creator>
  <cp:lastModifiedBy>usnidem</cp:lastModifiedBy>
  <cp:revision>22</cp:revision>
  <dcterms:created xsi:type="dcterms:W3CDTF">2006-08-16T00:00:00Z</dcterms:created>
  <dcterms:modified xsi:type="dcterms:W3CDTF">2012-05-08T14:05:55Z</dcterms:modified>
</cp:coreProperties>
</file>