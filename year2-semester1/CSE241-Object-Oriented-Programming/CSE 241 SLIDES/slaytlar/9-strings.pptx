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6" r:id="rId23"/>
    <p:sldId id="297" r:id="rId24"/>
    <p:sldId id="298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774" y="14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90083BD-A776-4933-8CF4-5B482F6A6D59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7A884CF-788C-4C05-BE7A-7D3A369826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5680D11-6FA3-4E50-81FA-1A4E9FE8084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F81298-ACE3-495D-AD53-7AFF751A94C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45FAFBE-D443-4B15-BF35-EE9B15B550B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516510-C709-4C88-A862-635B462AAAE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1BB50A-9CAA-400B-A242-31805BAC550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755769-56F6-4E59-A882-226BE131B13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A1C6B3D-DE0E-4166-BB55-8EC04A517B4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883E03-4808-42BC-A217-2F58E03B435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5DE4EC-DB32-4121-B80A-88DDE72A54A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D2C68FD-80B6-4D49-9177-F1BF6A98D13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489BB1F-9484-4AF9-B94D-0F0BF6BC1FD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4BC95D2-8394-43EB-B199-56A14FC46FB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EF60D6-2052-4266-81E6-E0C923C362C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6FAC5A1-913A-4024-8427-B24554643C8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DAE65B-F68B-4D96-A551-511B8BF8D89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914D2E-0139-4030-BD9F-4EEEDA3042C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20AAB6-C286-4DBD-BB6D-025F8518140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D720EF-5F93-4469-B42D-0BB1368F3B0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2DF9D5-8A39-4B7D-96BA-662B256AD00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3DBDEE-3DB0-4195-8A81-5579300CAA2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5817F2-98AD-4391-8F20-C21D1D1CF2D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C24F8A-A9C5-4183-BC94-A6F6E78D6D8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10A54B-AB28-408D-9FF0-286D30062BA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4D9A82-3280-4E48-BC77-2C1ACD5DFFA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F916C3-6306-4254-8337-77D3C9FA65F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B6D492-71D9-4EB0-959E-251CBF4FD1C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096EAD-8AA4-4206-AFEC-C1499F37F1C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E32CFC-2963-4EA2-97AD-3616480B697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E949CD-A5E5-4963-B707-B2AD5CC35CA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FEFE36-9E0E-45C3-87C1-F511EF0350B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9631DE-0EFA-4F85-8149-619B1F5EE93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FD0651-53BA-4821-A193-DB87B4DC0AC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DC74B5-078B-4459-9170-3FD08E25757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5CE8D6-0415-48E3-86BE-2040B96208D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A8432E3-C3B5-4154-A911-A20E9777EF1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5213AA-D974-48B7-AD6A-0885B7444B5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105EE3D-6508-4C95-9801-B7A20F452EB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5C73875-6CE4-432E-8EC8-6D8ACBB7623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6020B7-D83C-4082-8943-BEDCEF3DB1B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5688B12-8C8D-467D-B5B9-8F202714E88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3A7F7A-8AC8-4839-8376-FD584967973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972FC9-F0E3-4B72-B7E9-B49D7AD30C6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CA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DA6C6F-9985-47A2-8C2A-E7A3EB55670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7C989-34EB-45D1-A4F5-F085BCD624D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877796DE-F961-4199-B604-46840C4A0B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867D5-E309-48CE-88CE-3F2061C81856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8E81EF57-FEE5-4080-8DF2-64797CF6EB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3F90C-D68D-4B58-AF6F-9B1D9941483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06B7E71E-F118-4340-A82C-C20B3E8D67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56C47C-CF98-4B73-9746-C5F09735251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C86A4B28-90BF-4363-91A1-8DB50D35EC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67C59-AF8B-4027-8841-239425FA40F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F283DDDB-FBB8-451F-AA77-0A01802BF7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074FC-3DF3-4E5D-BC46-11C043AE756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EA5EAC26-E87C-40D3-8393-A91D55103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B2DE9-5460-4D9C-83E2-AA7FF97DBCF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9F9E0D0B-578A-4EB3-97B1-09B4A1877C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29843-2965-4DA4-B493-6AB17D2214F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1BCDB0E3-EB3D-4D2C-BC6B-7BB8290E07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52A95-F7E4-4CB4-BB60-B440C3F35FCB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FD4DB8D5-8E4D-478D-8B57-B3DD560C44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B3DD5-3C0F-4D5C-9860-4A4294603D6F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305912DE-07EF-4C5D-9387-A80B6CD080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6F791-3746-4529-BD9E-95E8FAA505BC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9-</a:t>
            </a:r>
            <a:fld id="{3B6AD736-A60E-4632-8CFB-E8DD41EED6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6E9F70-F45A-46BA-9C8F-BBE1737E14C1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A47AF87F-8E24-4A80-A49B-7A3D1187A2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Strings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6291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An Array Type for Strings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C-Strings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Character Manipulation Tools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Character I/O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get, put member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putback, peek, ignore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Standard Class string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String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A4A76D2A-CB8E-4E74-BF10-F7B4F7FD2353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 string types: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C-strings</a:t>
            </a:r>
          </a:p>
          <a:p>
            <a:pPr lvl="1" eaLnBrk="1" hangingPunct="1"/>
            <a:r>
              <a:rPr lang="en-US" smtClean="0"/>
              <a:t>Array with base type char</a:t>
            </a:r>
          </a:p>
          <a:p>
            <a:pPr lvl="1" eaLnBrk="1" hangingPunct="1"/>
            <a:r>
              <a:rPr lang="en-US" smtClean="0"/>
              <a:t>End of string marked with null, "\0"</a:t>
            </a:r>
          </a:p>
          <a:p>
            <a:pPr lvl="1" eaLnBrk="1" hangingPunct="1"/>
            <a:r>
              <a:rPr lang="en-US" smtClean="0"/>
              <a:t>"Older" method inherited from C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String class</a:t>
            </a:r>
          </a:p>
          <a:p>
            <a:pPr lvl="1" eaLnBrk="1" hangingPunct="1"/>
            <a:r>
              <a:rPr lang="en-US" smtClean="0"/>
              <a:t>Uses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AD1E559A-B39F-4612-8017-995717948DCE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Array with base type </a:t>
            </a:r>
            <a:r>
              <a:rPr lang="en-US" i="1" smtClean="0"/>
              <a:t>char</a:t>
            </a:r>
            <a:endParaRPr lang="en-US" smtClean="0"/>
          </a:p>
          <a:p>
            <a:pPr lvl="1" eaLnBrk="1" hangingPunct="1"/>
            <a:r>
              <a:rPr lang="en-US" smtClean="0"/>
              <a:t>One character per indexed variable</a:t>
            </a:r>
          </a:p>
          <a:p>
            <a:pPr lvl="1" eaLnBrk="1" hangingPunct="1"/>
            <a:r>
              <a:rPr lang="en-US" smtClean="0"/>
              <a:t>One extra character: "\0"</a:t>
            </a:r>
          </a:p>
          <a:p>
            <a:pPr lvl="2" eaLnBrk="1" hangingPunct="1"/>
            <a:r>
              <a:rPr lang="en-US" smtClean="0"/>
              <a:t>Called "null character"</a:t>
            </a:r>
          </a:p>
          <a:p>
            <a:pPr lvl="2" eaLnBrk="1" hangingPunct="1"/>
            <a:r>
              <a:rPr lang="en-US" smtClean="0"/>
              <a:t>End marker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We’ve used c-strings</a:t>
            </a:r>
          </a:p>
          <a:p>
            <a:pPr lvl="1" eaLnBrk="1" hangingPunct="1"/>
            <a:r>
              <a:rPr lang="en-US" smtClean="0"/>
              <a:t>Literal "Hello" stored as c-string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7E591282-D37E-43DE-8E9D-4660DFEE3BA4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Variable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Array of characters:</a:t>
            </a:r>
            <a:br>
              <a:rPr lang="en-US" sz="2800" smtClean="0"/>
            </a:br>
            <a:r>
              <a:rPr lang="en-US" sz="2400" smtClean="0"/>
              <a:t>char s[10];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Declares a c-string variable to hold up to </a:t>
            </a:r>
            <a:br>
              <a:rPr lang="en-US" sz="2400" smtClean="0"/>
            </a:br>
            <a:r>
              <a:rPr lang="en-US" sz="2400" smtClean="0"/>
              <a:t>9 characters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+ one null character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Typically "partially-filled" array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Declare large enough to hold max-size string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Indicate end with null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Only difference from standard array: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Must contain null character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9DA0286D-A039-475C-BCB7-8DA5774E1295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Storage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mtClean="0"/>
              <a:t>A standard array:</a:t>
            </a:r>
            <a:br>
              <a:rPr lang="en-US" smtClean="0"/>
            </a:br>
            <a:r>
              <a:rPr lang="en-US" smtClean="0"/>
              <a:t>char s[10];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If s contains string "Hi Mom", stored as:</a:t>
            </a:r>
          </a:p>
        </p:txBody>
      </p:sp>
      <p:pic>
        <p:nvPicPr>
          <p:cNvPr id="24579" name="Picture 4" descr="C:\WINDOWS\Desktop\Oh_type\sacitch_C++_ppt\gif\savitchc09d_p370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762000" y="3886200"/>
            <a:ext cx="777240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49EB1D88-E4AB-407C-87B6-AE592AAD20C5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1" name="Footer Placeholder 7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Initialization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Can initialize c-string:</a:t>
            </a:r>
            <a:br>
              <a:rPr lang="en-US" sz="2800" smtClean="0"/>
            </a:br>
            <a:r>
              <a:rPr lang="en-US" sz="2400" smtClean="0"/>
              <a:t>char myMessage[20] = "Hi there.";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Needn’t fill entire array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Initialization places "\0" at end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Can omit array-size:</a:t>
            </a:r>
            <a:br>
              <a:rPr lang="en-US" sz="2800" smtClean="0"/>
            </a:br>
            <a:r>
              <a:rPr lang="en-US" sz="2400" smtClean="0"/>
              <a:t>char shortString[] = "abc";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Automatically makes size one more than</a:t>
            </a:r>
            <a:br>
              <a:rPr lang="en-US" sz="2400" smtClean="0"/>
            </a:br>
            <a:r>
              <a:rPr lang="en-US" sz="2400" smtClean="0"/>
              <a:t>length of quoted string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NOT same as:</a:t>
            </a:r>
            <a:br>
              <a:rPr lang="en-US" sz="2400" smtClean="0"/>
            </a:br>
            <a:r>
              <a:rPr lang="en-US" sz="2400" smtClean="0"/>
              <a:t>char shortString[] = {"a", "b", "c"};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364ECA08-41D3-48F7-81F7-22BBC6316432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Indexes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 c-string IS an array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Can access indexed variables of:</a:t>
            </a:r>
            <a:br>
              <a:rPr lang="en-US" smtClean="0"/>
            </a:br>
            <a:r>
              <a:rPr lang="en-US" smtClean="0"/>
              <a:t>char ourString[5] = "Hi";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ourString[0] is "H"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ourString[1] is "i"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ourString[2] is "\0"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ourString[3] is unknown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ourString[4] is unknown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86FEEAD0-5C03-46F3-9CD1-ED737C6251FC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Index Manipulation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Can manipulate indexed variables</a:t>
            </a:r>
            <a:br>
              <a:rPr lang="en-US" smtClean="0"/>
            </a:br>
            <a:r>
              <a:rPr lang="en-US" sz="2800" smtClean="0"/>
              <a:t>char happyString[7] = "DoBeDo";</a:t>
            </a:r>
            <a:br>
              <a:rPr lang="en-US" sz="2800" smtClean="0"/>
            </a:br>
            <a:r>
              <a:rPr lang="en-US" sz="2800" smtClean="0"/>
              <a:t>happyString[6] = "Z";</a:t>
            </a:r>
          </a:p>
          <a:p>
            <a:pPr lvl="1" eaLnBrk="1" hangingPunct="1"/>
            <a:r>
              <a:rPr lang="en-US" smtClean="0"/>
              <a:t>Be careful!</a:t>
            </a:r>
          </a:p>
          <a:p>
            <a:pPr lvl="1" eaLnBrk="1" hangingPunct="1"/>
            <a:r>
              <a:rPr lang="en-US" smtClean="0"/>
              <a:t>Here, "\0" (null) was overwritten by a "Z"!</a:t>
            </a:r>
          </a:p>
          <a:p>
            <a:pPr eaLnBrk="1" hangingPunct="1">
              <a:spcBef>
                <a:spcPct val="60000"/>
              </a:spcBef>
            </a:pPr>
            <a:r>
              <a:rPr lang="en-US" smtClean="0"/>
              <a:t>If null overwritten, c-string no longer "acts" like c-string!</a:t>
            </a:r>
          </a:p>
          <a:p>
            <a:pPr lvl="1" eaLnBrk="1" hangingPunct="1"/>
            <a:r>
              <a:rPr lang="en-US" smtClean="0"/>
              <a:t>Unpredictable results!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88E49B87-CDCC-45B6-93DD-4537E7D8596B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Library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Declaring c-strings</a:t>
            </a:r>
          </a:p>
          <a:p>
            <a:pPr lvl="1" eaLnBrk="1" hangingPunct="1"/>
            <a:r>
              <a:rPr lang="en-US" smtClean="0"/>
              <a:t>Requires no C++ library</a:t>
            </a:r>
          </a:p>
          <a:p>
            <a:pPr lvl="1" eaLnBrk="1" hangingPunct="1"/>
            <a:r>
              <a:rPr lang="en-US" smtClean="0"/>
              <a:t>Built into standard C++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Manipulations</a:t>
            </a:r>
          </a:p>
          <a:p>
            <a:pPr lvl="1" eaLnBrk="1" hangingPunct="1"/>
            <a:r>
              <a:rPr lang="en-US" smtClean="0"/>
              <a:t>Require library &lt;cstring&gt;</a:t>
            </a:r>
          </a:p>
          <a:p>
            <a:pPr lvl="1" eaLnBrk="1" hangingPunct="1"/>
            <a:r>
              <a:rPr lang="en-US" smtClean="0"/>
              <a:t>Typically included when using c-strings</a:t>
            </a:r>
          </a:p>
          <a:p>
            <a:pPr lvl="2" eaLnBrk="1" hangingPunct="1"/>
            <a:r>
              <a:rPr lang="en-US" smtClean="0"/>
              <a:t>Normally want to do "fun" things with them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04BBE82C-8604-4285-80E5-C4E89A947186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= and == with C-strings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7450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C-strings not like other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Cannot assign or compare:</a:t>
            </a:r>
            <a:br>
              <a:rPr lang="en-US" sz="2400" smtClean="0"/>
            </a:br>
            <a:r>
              <a:rPr lang="en-US" sz="2400" smtClean="0"/>
              <a:t>char aString[10];</a:t>
            </a:r>
            <a:br>
              <a:rPr lang="en-US" sz="2400" smtClean="0"/>
            </a:br>
            <a:r>
              <a:rPr lang="en-US" sz="2400" smtClean="0"/>
              <a:t>aString = "Hello";	// ILLEGAL!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Can ONLY use "=" at declaration of c-string!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Must use library function for assignment:</a:t>
            </a:r>
            <a:br>
              <a:rPr lang="en-US" sz="2800" smtClean="0"/>
            </a:br>
            <a:r>
              <a:rPr lang="en-US" sz="2400" smtClean="0"/>
              <a:t>strcpy(aString, "Hello");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Built-in function (in &lt;cstring&gt;)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Sets value of aString equal to "Hello"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 checks for size!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Up to programmer, just like other arrays!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2FCEF49A-A2CA-416A-820E-3F8D26BD4235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Comparing C-strings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Also cannot use operator ==</a:t>
            </a:r>
            <a:br>
              <a:rPr lang="en-US" smtClean="0"/>
            </a:br>
            <a:r>
              <a:rPr lang="en-US" sz="2800" smtClean="0"/>
              <a:t>char aString[10] = "Hello";</a:t>
            </a:r>
            <a:br>
              <a:rPr lang="en-US" sz="2800" smtClean="0"/>
            </a:br>
            <a:r>
              <a:rPr lang="en-US" sz="2800" smtClean="0"/>
              <a:t>char anotherString[10] = "Goodbye";</a:t>
            </a:r>
          </a:p>
          <a:p>
            <a:pPr lvl="1" eaLnBrk="1" hangingPunct="1"/>
            <a:r>
              <a:rPr lang="en-US" smtClean="0"/>
              <a:t>aString == anotherString;   // NOT allowed!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Must use library function again:</a:t>
            </a:r>
            <a:br>
              <a:rPr lang="en-US" smtClean="0"/>
            </a:br>
            <a:r>
              <a:rPr lang="en-US" sz="2800" smtClean="0"/>
              <a:t>if (strcmp(aString, anotherString))</a:t>
            </a:r>
            <a:br>
              <a:rPr lang="en-US" sz="2800" smtClean="0"/>
            </a:br>
            <a:r>
              <a:rPr lang="en-US" sz="2800" smtClean="0"/>
              <a:t>	cout &lt;&lt; "Strings NOT same.";</a:t>
            </a:r>
            <a:br>
              <a:rPr lang="en-US" sz="2800" smtClean="0"/>
            </a:br>
            <a:r>
              <a:rPr lang="en-US" sz="2800" smtClean="0"/>
              <a:t>else</a:t>
            </a:r>
            <a:br>
              <a:rPr lang="en-US" sz="2800" smtClean="0"/>
            </a:br>
            <a:r>
              <a:rPr lang="en-US" sz="2800" smtClean="0"/>
              <a:t>	cout &lt;&lt; "Strings are same.";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D3F214BE-BDE0-454B-83B4-2190D7E181B7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The &lt;cstring&gt; Library: </a:t>
            </a:r>
            <a:br>
              <a:rPr lang="en-US" sz="3200" smtClean="0"/>
            </a:br>
            <a:r>
              <a:rPr lang="en-US" sz="3200" b="1" smtClean="0">
                <a:sym typeface="Wingdings" pitchFamily="2" charset="2"/>
              </a:rPr>
              <a:t>Display 9.1</a:t>
            </a:r>
            <a:r>
              <a:rPr lang="en-US" sz="3200" smtClean="0">
                <a:sym typeface="Wingdings" pitchFamily="2" charset="2"/>
              </a:rPr>
              <a:t>  Some Predefined C-String Functions in &lt;cstring&gt; (1 of 2)</a:t>
            </a:r>
          </a:p>
        </p:txBody>
      </p:sp>
      <p:sp>
        <p:nvSpPr>
          <p:cNvPr id="38914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004888" y="1771650"/>
            <a:ext cx="7815262" cy="990600"/>
          </a:xfrm>
        </p:spPr>
        <p:txBody>
          <a:bodyPr/>
          <a:lstStyle/>
          <a:p>
            <a:pPr eaLnBrk="1" hangingPunct="1"/>
            <a:r>
              <a:rPr lang="en-US" sz="2800" smtClean="0"/>
              <a:t>Full of string manipulation functions</a:t>
            </a:r>
          </a:p>
        </p:txBody>
      </p:sp>
      <p:pic>
        <p:nvPicPr>
          <p:cNvPr id="38915" name="Picture 10" descr="C:\WINDOWS\Desktop\Oh_type\sacitch_C++_ppt\gif\savitchc09d01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82700" y="2514600"/>
            <a:ext cx="7253288" cy="383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CDCC282D-05E4-4729-9F73-E4A7439C4D7C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7" name="Footer Placeholder 7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The &lt;cstring&gt; Library: </a:t>
            </a:r>
            <a:br>
              <a:rPr lang="en-US" sz="3200" smtClean="0"/>
            </a:br>
            <a:r>
              <a:rPr lang="en-US" sz="3200" b="1" smtClean="0">
                <a:sym typeface="Wingdings" pitchFamily="2" charset="2"/>
              </a:rPr>
              <a:t>Display 9.1</a:t>
            </a:r>
            <a:r>
              <a:rPr lang="en-US" sz="3200" smtClean="0">
                <a:sym typeface="Wingdings" pitchFamily="2" charset="2"/>
              </a:rPr>
              <a:t>  Some Predefined C-String Functions in &lt;cstring&gt; (2 of 2)</a:t>
            </a:r>
          </a:p>
        </p:txBody>
      </p:sp>
      <p:pic>
        <p:nvPicPr>
          <p:cNvPr id="40962" name="Picture 6" descr="C:\WINDOWS\Desktop\Oh_type\sacitch_C++_ppt\gif\savitchc09d01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600200" y="1668463"/>
            <a:ext cx="6483350" cy="484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FFFB5DDC-B0A6-4A5A-A56C-0FBB753C955A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Functions: strlen()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"String length"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Often useful to know string length:</a:t>
            </a:r>
            <a:br>
              <a:rPr lang="en-US" smtClean="0"/>
            </a:br>
            <a:r>
              <a:rPr lang="en-US" sz="2800" smtClean="0"/>
              <a:t>char myString[10] = "dobedo";</a:t>
            </a:r>
            <a:br>
              <a:rPr lang="en-US" sz="2800" smtClean="0"/>
            </a:br>
            <a:r>
              <a:rPr lang="en-US" sz="2800" smtClean="0"/>
              <a:t>cout &lt;&lt; strlen(myString);</a:t>
            </a:r>
          </a:p>
          <a:p>
            <a:pPr lvl="1" eaLnBrk="1" hangingPunct="1"/>
            <a:r>
              <a:rPr lang="en-US" smtClean="0"/>
              <a:t>Returns number of characters</a:t>
            </a:r>
          </a:p>
          <a:p>
            <a:pPr lvl="2" eaLnBrk="1" hangingPunct="1"/>
            <a:r>
              <a:rPr lang="en-US" smtClean="0"/>
              <a:t>Not including null</a:t>
            </a:r>
          </a:p>
          <a:p>
            <a:pPr lvl="1" eaLnBrk="1" hangingPunct="1"/>
            <a:r>
              <a:rPr lang="en-US" smtClean="0"/>
              <a:t>Result here:</a:t>
            </a:r>
            <a:br>
              <a:rPr lang="en-US" smtClean="0"/>
            </a:br>
            <a:r>
              <a:rPr lang="en-US" smtClean="0"/>
              <a:t>		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44FCCE84-DBD3-4886-A3EA-9CC3E8C15F6A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Functions: strcat()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strcat()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"String concatenate":</a:t>
            </a:r>
            <a:br>
              <a:rPr lang="en-US" smtClean="0"/>
            </a:br>
            <a:r>
              <a:rPr lang="en-US" sz="2800" smtClean="0"/>
              <a:t>char stringVar[20] = "The rain";</a:t>
            </a:r>
            <a:br>
              <a:rPr lang="en-US" sz="2800" smtClean="0"/>
            </a:br>
            <a:r>
              <a:rPr lang="en-US" sz="2800" smtClean="0"/>
              <a:t>strcat(stringVar, "in Spain");</a:t>
            </a:r>
          </a:p>
          <a:p>
            <a:pPr lvl="1" eaLnBrk="1" hangingPunct="1"/>
            <a:r>
              <a:rPr lang="en-US" smtClean="0"/>
              <a:t>Note result:</a:t>
            </a:r>
            <a:br>
              <a:rPr lang="en-US" smtClean="0"/>
            </a:br>
            <a:r>
              <a:rPr lang="en-US" smtClean="0"/>
              <a:t>stringVar now contains "The rainin Spain"</a:t>
            </a:r>
          </a:p>
          <a:p>
            <a:pPr lvl="1" eaLnBrk="1" hangingPunct="1"/>
            <a:r>
              <a:rPr lang="en-US" smtClean="0"/>
              <a:t>Be careful!</a:t>
            </a:r>
          </a:p>
          <a:p>
            <a:pPr lvl="1" eaLnBrk="1" hangingPunct="1"/>
            <a:r>
              <a:rPr lang="en-US" smtClean="0"/>
              <a:t>Incorporate spaces as needed!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7B5F1B42-2E9A-4DE8-BF0E-D9E29F77AD1A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C-string Arguments and Parameters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572000"/>
          </a:xfrm>
        </p:spPr>
        <p:txBody>
          <a:bodyPr/>
          <a:lstStyle/>
          <a:p>
            <a:pPr eaLnBrk="1" hangingPunct="1"/>
            <a:r>
              <a:rPr lang="en-US" sz="2800" smtClean="0"/>
              <a:t>Recall: c-string is array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So c-string parameter is array parameter</a:t>
            </a:r>
          </a:p>
          <a:p>
            <a:pPr lvl="1" eaLnBrk="1" hangingPunct="1"/>
            <a:r>
              <a:rPr lang="en-US" sz="2400" smtClean="0"/>
              <a:t>C-strings passed to functions can be changed</a:t>
            </a:r>
            <a:br>
              <a:rPr lang="en-US" sz="2400" smtClean="0"/>
            </a:br>
            <a:r>
              <a:rPr lang="en-US" sz="2400" smtClean="0"/>
              <a:t>by receiving function!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Like all arrays, typical to send size as well</a:t>
            </a:r>
          </a:p>
          <a:p>
            <a:pPr lvl="1" eaLnBrk="1" hangingPunct="1"/>
            <a:r>
              <a:rPr lang="en-US" sz="2400" smtClean="0"/>
              <a:t>Function "could" also use "\0" to find end</a:t>
            </a:r>
          </a:p>
          <a:p>
            <a:pPr lvl="1" eaLnBrk="1" hangingPunct="1"/>
            <a:r>
              <a:rPr lang="en-US" sz="2400" smtClean="0"/>
              <a:t>So size not necessary if function won’t change</a:t>
            </a:r>
            <a:br>
              <a:rPr lang="en-US" sz="2400" smtClean="0"/>
            </a:br>
            <a:r>
              <a:rPr lang="en-US" sz="2400" smtClean="0"/>
              <a:t>c-string parameter</a:t>
            </a:r>
          </a:p>
          <a:p>
            <a:pPr lvl="1" eaLnBrk="1" hangingPunct="1"/>
            <a:r>
              <a:rPr lang="en-US" sz="2400" smtClean="0"/>
              <a:t>Use "const" modifier to protect c-string arguments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94EB7D58-908E-49F5-B931-D983F44E9E51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Output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Can output with insertion operator, &lt;&lt;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As we’ve been doing already:</a:t>
            </a:r>
            <a:br>
              <a:rPr lang="en-US" smtClean="0"/>
            </a:br>
            <a:r>
              <a:rPr lang="en-US" smtClean="0"/>
              <a:t>cout &lt;&lt; news &lt;&lt; " Wow.\n";</a:t>
            </a:r>
          </a:p>
          <a:p>
            <a:pPr lvl="1" eaLnBrk="1" hangingPunct="1"/>
            <a:r>
              <a:rPr lang="en-US" smtClean="0"/>
              <a:t>Where </a:t>
            </a:r>
            <a:r>
              <a:rPr lang="en-US" i="1" smtClean="0"/>
              <a:t>news</a:t>
            </a:r>
            <a:r>
              <a:rPr lang="en-US" smtClean="0"/>
              <a:t> is a c-string variable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Possible because &lt;&lt; operator is</a:t>
            </a:r>
            <a:br>
              <a:rPr lang="en-US" smtClean="0"/>
            </a:br>
            <a:r>
              <a:rPr lang="en-US" smtClean="0"/>
              <a:t>overloaded for c-strings!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6E0E0C7D-5058-4FC3-932E-3D528BCF399F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Input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Can input with extraction operator, &gt;&gt;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Issues exist, however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Whitespace is "delimiter"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Tab, space, line breaks are "skipped"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Input reading "stops" at delimiter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Watch size of c-string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Must be large enough to hold entered string!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C++ gives no warnings of such issues!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96E41D9F-FE8D-47A3-AF55-70BF0B344D52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Input Example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591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char a[80], b[80];</a:t>
            </a:r>
            <a:br>
              <a:rPr lang="en-US" sz="2800" smtClean="0"/>
            </a:br>
            <a:r>
              <a:rPr lang="en-US" sz="2800" smtClean="0"/>
              <a:t>cout &lt;&lt; "Enter input: ";</a:t>
            </a:r>
            <a:br>
              <a:rPr lang="en-US" sz="2800" smtClean="0"/>
            </a:br>
            <a:r>
              <a:rPr lang="en-US" sz="2800" smtClean="0"/>
              <a:t>cin &gt;&gt; a &gt;&gt; b;</a:t>
            </a:r>
            <a:br>
              <a:rPr lang="en-US" sz="2800" smtClean="0"/>
            </a:br>
            <a:r>
              <a:rPr lang="en-US" sz="2800" smtClean="0"/>
              <a:t>cout &lt;&lt; a &lt;&lt; b &lt;&lt; "END OF OUTPUT\n";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Dialogue offered: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400" smtClean="0"/>
              <a:t>Enter input: </a:t>
            </a:r>
            <a:r>
              <a:rPr lang="en-US" sz="2400" u="sng" smtClean="0"/>
              <a:t>Do be do to you!</a:t>
            </a:r>
            <a:r>
              <a:rPr lang="en-US" sz="2400" smtClean="0"/>
              <a:t/>
            </a:r>
            <a:br>
              <a:rPr lang="en-US" sz="2400" smtClean="0"/>
            </a:br>
            <a:r>
              <a:rPr lang="en-US" sz="2400" smtClean="0"/>
              <a:t>	DobeEND OF OUTPUT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Note: Underlined portion typed at keyboard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C-string </a:t>
            </a:r>
            <a:r>
              <a:rPr lang="en-US" sz="2800" i="1" smtClean="0"/>
              <a:t>a</a:t>
            </a:r>
            <a:r>
              <a:rPr lang="en-US" sz="2800" smtClean="0"/>
              <a:t> receives: "do"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C-string </a:t>
            </a:r>
            <a:r>
              <a:rPr lang="en-US" sz="2800" i="1" smtClean="0"/>
              <a:t>b</a:t>
            </a:r>
            <a:r>
              <a:rPr lang="en-US" sz="2800" smtClean="0"/>
              <a:t> receives: "be"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1F2D6C75-44D9-479E-81B0-30E0D2BD49C4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C-String Line Input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Can receive entire line into c-string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Use getline(), a predefined member function:</a:t>
            </a:r>
            <a:br>
              <a:rPr lang="en-US" sz="2800" smtClean="0"/>
            </a:br>
            <a:r>
              <a:rPr lang="en-US" sz="2400" smtClean="0"/>
              <a:t>char a[80];</a:t>
            </a:r>
            <a:br>
              <a:rPr lang="en-US" sz="2400" smtClean="0"/>
            </a:br>
            <a:r>
              <a:rPr lang="en-US" sz="2400" smtClean="0"/>
              <a:t>cout &lt;&lt; "Enter input: ";</a:t>
            </a:r>
            <a:br>
              <a:rPr lang="en-US" sz="2400" smtClean="0"/>
            </a:br>
            <a:r>
              <a:rPr lang="en-US" sz="2400" smtClean="0"/>
              <a:t>cin.getline(a, 80);</a:t>
            </a:r>
            <a:br>
              <a:rPr lang="en-US" sz="2400" smtClean="0"/>
            </a:br>
            <a:r>
              <a:rPr lang="en-US" sz="2400" smtClean="0"/>
              <a:t>cout &lt;&lt; a &lt;&lt; "END OF OUTPUT\n";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Dialogue:</a:t>
            </a:r>
            <a:br>
              <a:rPr lang="en-US" sz="2400" smtClean="0"/>
            </a:br>
            <a:r>
              <a:rPr lang="en-US" sz="2400" smtClean="0"/>
              <a:t>Enter input: </a:t>
            </a:r>
            <a:r>
              <a:rPr lang="en-US" sz="2400" u="sng" smtClean="0"/>
              <a:t>Do be do to you!</a:t>
            </a:r>
            <a:r>
              <a:rPr lang="en-US" sz="2400" smtClean="0"/>
              <a:t/>
            </a:r>
            <a:br>
              <a:rPr lang="en-US" sz="2400" smtClean="0"/>
            </a:br>
            <a:r>
              <a:rPr lang="en-US" sz="2400" smtClean="0"/>
              <a:t>Do be do to you!END OF INPUT</a:t>
            </a:r>
            <a:endParaRPr lang="en-US" sz="2400" u="sng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C79A3E33-6FFB-499F-956C-51631925CAB4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Example: Command Line Arguments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Programs invoked from the command line (e.g. a UNIX shell, DOS command prompt) can be sent arguments</a:t>
            </a:r>
          </a:p>
          <a:p>
            <a:pPr lvl="1" eaLnBrk="1" hangingPunct="1"/>
            <a:r>
              <a:rPr lang="en-US" smtClean="0"/>
              <a:t>Example:     COPY  C:\FOO.TXT   D:\FOO2.TXT</a:t>
            </a:r>
          </a:p>
          <a:p>
            <a:pPr lvl="2" eaLnBrk="1" hangingPunct="1"/>
            <a:r>
              <a:rPr lang="en-US" smtClean="0"/>
              <a:t>This runs the program named “COPY” and sends in two C-String parameters, “C:\FOO.TXT” and “D:\FOO2.TXT”</a:t>
            </a:r>
          </a:p>
          <a:p>
            <a:pPr lvl="2" eaLnBrk="1" hangingPunct="1"/>
            <a:r>
              <a:rPr lang="en-US" smtClean="0"/>
              <a:t>It is up to the COPY program to process the inputs presented to it; i.e. actually copy the files</a:t>
            </a:r>
          </a:p>
          <a:p>
            <a:pPr eaLnBrk="1" hangingPunct="1"/>
            <a:r>
              <a:rPr lang="en-US" smtClean="0"/>
              <a:t>Arguments are passed as an array of C-Strings to the main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9-</a:t>
            </a:r>
            <a:fld id="{0FE54532-5E3D-4537-AA75-702FBB21F5F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Example: Command Line Arguments</a:t>
            </a: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Header for main</a:t>
            </a:r>
          </a:p>
          <a:p>
            <a:pPr lvl="1" eaLnBrk="1" hangingPunct="1"/>
            <a:r>
              <a:rPr lang="en-US" smtClean="0"/>
              <a:t>int main(int argc,  char *argv[])</a:t>
            </a:r>
          </a:p>
          <a:p>
            <a:pPr lvl="1" eaLnBrk="1" hangingPunct="1"/>
            <a:r>
              <a:rPr lang="en-US" smtClean="0"/>
              <a:t>argc specifies how many arguments are supplied.  The name of the program counts, so argc will be at least 1.</a:t>
            </a:r>
          </a:p>
          <a:p>
            <a:pPr lvl="1" eaLnBrk="1" hangingPunct="1"/>
            <a:r>
              <a:rPr lang="en-US" smtClean="0"/>
              <a:t>argv is an array of C-Strings.</a:t>
            </a:r>
          </a:p>
          <a:p>
            <a:pPr lvl="2" eaLnBrk="1" hangingPunct="1"/>
            <a:r>
              <a:rPr lang="en-US" smtClean="0"/>
              <a:t>argv[0] holds the name of the program that is invoked</a:t>
            </a:r>
          </a:p>
          <a:p>
            <a:pPr lvl="2" eaLnBrk="1" hangingPunct="1"/>
            <a:r>
              <a:rPr lang="en-US" smtClean="0"/>
              <a:t>argv[1] holds the name of the first parameter</a:t>
            </a:r>
          </a:p>
          <a:p>
            <a:pPr lvl="2" eaLnBrk="1" hangingPunct="1"/>
            <a:r>
              <a:rPr lang="en-US" smtClean="0"/>
              <a:t>argv[2] holds the name of the second parameter</a:t>
            </a:r>
          </a:p>
          <a:p>
            <a:pPr lvl="2" eaLnBrk="1" hangingPunct="1"/>
            <a:r>
              <a:rPr lang="en-US" smtClean="0"/>
              <a:t>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9-</a:t>
            </a:r>
            <a:fld id="{7F5B4DE4-B5AB-44F0-B6FC-6AF9A3DEAB6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Example: Command Line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9-</a:t>
            </a:r>
            <a:fld id="{D966ED3B-F9E5-407C-B7E6-2E14E96034E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1443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61444" name="TextBox 5"/>
          <p:cNvSpPr txBox="1">
            <a:spLocks noChangeArrowheads="1"/>
          </p:cNvSpPr>
          <p:nvPr/>
        </p:nvSpPr>
        <p:spPr bwMode="auto">
          <a:xfrm>
            <a:off x="1295400" y="1905000"/>
            <a:ext cx="6973888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Courier New" pitchFamily="49" charset="0"/>
                <a:cs typeface="Courier New" pitchFamily="49" charset="0"/>
              </a:rPr>
              <a:t>// Echo back the input arguments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int main(int argc, char *argv[])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for (int i=0; i&lt;argc; i++)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{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  cout &lt;&lt; "Argument " &lt;&lt; i &lt;&lt; " " &lt;&lt; argv[i] &lt;&lt; endl;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  return 0;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6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95400" y="4572000"/>
            <a:ext cx="2057400" cy="13541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  <a:cs typeface="Courier New" pitchFamily="49" charset="0"/>
              </a:rPr>
              <a:t>Sample Execution</a:t>
            </a:r>
          </a:p>
          <a:p>
            <a:pPr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&gt; Test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Argument 0 Test</a:t>
            </a:r>
          </a:p>
          <a:p>
            <a:pPr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0" y="4114800"/>
            <a:ext cx="2406650" cy="18462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  <a:cs typeface="Courier New" pitchFamily="49" charset="0"/>
              </a:rPr>
              <a:t>Sample Execution</a:t>
            </a:r>
          </a:p>
          <a:p>
            <a:pPr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&gt; Test hello world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Argument 0 Test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Argument 1 hello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Argument 2 world</a:t>
            </a:r>
          </a:p>
          <a:p>
            <a:pPr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1447" name="TextBox 9"/>
          <p:cNvSpPr txBox="1">
            <a:spLocks noChangeArrowheads="1"/>
          </p:cNvSpPr>
          <p:nvPr/>
        </p:nvSpPr>
        <p:spPr bwMode="auto">
          <a:xfrm>
            <a:off x="3886200" y="4724400"/>
            <a:ext cx="1916113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Invoking Test</a:t>
            </a:r>
          </a:p>
          <a:p>
            <a:r>
              <a:rPr lang="en-US" b="1"/>
              <a:t>from command </a:t>
            </a:r>
          </a:p>
          <a:p>
            <a:r>
              <a:rPr lang="en-US" b="1"/>
              <a:t>prompt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10800000" flipV="1">
            <a:off x="2362200" y="4953000"/>
            <a:ext cx="1447800" cy="22860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562600" y="4800600"/>
            <a:ext cx="609600" cy="7620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getline()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Can explicitly tell length to receive:</a:t>
            </a:r>
            <a:br>
              <a:rPr lang="en-US" smtClean="0"/>
            </a:br>
            <a:r>
              <a:rPr lang="en-US" sz="2800" smtClean="0"/>
              <a:t>char shortString[5];</a:t>
            </a:r>
            <a:br>
              <a:rPr lang="en-US" sz="2800" smtClean="0"/>
            </a:br>
            <a:r>
              <a:rPr lang="en-US" sz="2800" smtClean="0"/>
              <a:t>cout &lt;&lt; "Enter input: ";</a:t>
            </a:r>
            <a:br>
              <a:rPr lang="en-US" sz="2800" smtClean="0"/>
            </a:br>
            <a:r>
              <a:rPr lang="en-US" sz="2800" smtClean="0"/>
              <a:t>cin.getline(shortString, 5);</a:t>
            </a:r>
            <a:br>
              <a:rPr lang="en-US" sz="2800" smtClean="0"/>
            </a:br>
            <a:r>
              <a:rPr lang="en-US" sz="2800" smtClean="0"/>
              <a:t>cout &lt;&lt; shortString &lt;&lt; "END OF OUTPUT\n";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Results:</a:t>
            </a:r>
            <a:br>
              <a:rPr lang="en-US" smtClean="0"/>
            </a:br>
            <a:r>
              <a:rPr lang="en-US" sz="2400" smtClean="0"/>
              <a:t>Enter input: </a:t>
            </a:r>
            <a:r>
              <a:rPr lang="en-US" sz="2400" u="sng" smtClean="0"/>
              <a:t>dobedowap</a:t>
            </a:r>
            <a:br>
              <a:rPr lang="en-US" sz="2400" u="sng" smtClean="0"/>
            </a:br>
            <a:r>
              <a:rPr lang="en-US" sz="2400" smtClean="0"/>
              <a:t>dobeEND OF OUTPUT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Forces FOUR characters only be read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Recall need for null character!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883FE61D-8E98-4F3D-A006-111BA34135B4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Character I/O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Input and output data</a:t>
            </a:r>
          </a:p>
          <a:p>
            <a:pPr lvl="1" eaLnBrk="1" hangingPunct="1"/>
            <a:r>
              <a:rPr lang="en-US" smtClean="0"/>
              <a:t>ALL treated as character data</a:t>
            </a:r>
          </a:p>
          <a:p>
            <a:pPr lvl="1" eaLnBrk="1" hangingPunct="1"/>
            <a:r>
              <a:rPr lang="en-US" smtClean="0"/>
              <a:t>e.g., number 10 outputted as "1" and "0"</a:t>
            </a:r>
          </a:p>
          <a:p>
            <a:pPr lvl="1" eaLnBrk="1" hangingPunct="1"/>
            <a:r>
              <a:rPr lang="en-US" smtClean="0"/>
              <a:t>Conversion done automatically</a:t>
            </a:r>
          </a:p>
          <a:p>
            <a:pPr lvl="2" eaLnBrk="1" hangingPunct="1"/>
            <a:r>
              <a:rPr lang="en-US" smtClean="0"/>
              <a:t>Uses low-level utilities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Can use same low-level utilities ourselves as 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218980AE-D64D-4623-878D-198776EF52BF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Member Function get()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Reads one char at a time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Member function of cin object:</a:t>
            </a:r>
            <a:br>
              <a:rPr lang="en-US" smtClean="0"/>
            </a:br>
            <a:r>
              <a:rPr lang="en-US" smtClean="0"/>
              <a:t>char nextSymbol;</a:t>
            </a:r>
            <a:br>
              <a:rPr lang="en-US" smtClean="0"/>
            </a:br>
            <a:r>
              <a:rPr lang="en-US" smtClean="0"/>
              <a:t>cin.get(nextSymbol);</a:t>
            </a:r>
          </a:p>
          <a:p>
            <a:pPr lvl="1" eaLnBrk="1" hangingPunct="1"/>
            <a:r>
              <a:rPr lang="en-US" smtClean="0"/>
              <a:t>Reads next char &amp; puts in variable</a:t>
            </a:r>
            <a:br>
              <a:rPr lang="en-US" smtClean="0"/>
            </a:br>
            <a:r>
              <a:rPr lang="en-US" smtClean="0"/>
              <a:t>nextSymbol</a:t>
            </a:r>
          </a:p>
          <a:p>
            <a:pPr lvl="1" eaLnBrk="1" hangingPunct="1"/>
            <a:r>
              <a:rPr lang="en-US" smtClean="0"/>
              <a:t>Argument must be char type</a:t>
            </a:r>
          </a:p>
          <a:p>
            <a:pPr lvl="2" eaLnBrk="1" hangingPunct="1"/>
            <a:r>
              <a:rPr lang="en-US" smtClean="0"/>
              <a:t>Not "string"!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4D1DE200-0176-49DD-A8E6-C9FDF9609124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Member Function put()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Outputs one character at a time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Member function of cout object: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Examples:</a:t>
            </a:r>
            <a:br>
              <a:rPr lang="en-US" smtClean="0"/>
            </a:br>
            <a:r>
              <a:rPr lang="en-US" sz="2800" smtClean="0"/>
              <a:t>cout.put("a");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Outputs letter "a" to screen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800" smtClean="0"/>
              <a:t>	char myString[10] = "Hello";</a:t>
            </a:r>
            <a:br>
              <a:rPr lang="en-US" sz="2800" smtClean="0"/>
            </a:br>
            <a:r>
              <a:rPr lang="en-US" sz="2800" smtClean="0"/>
              <a:t>cout.put(myString[1]);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Outputs letter "e" to screen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1C72BF14-786E-42FE-B2FA-D66704818F72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Member Functions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putback()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Once read, might need to "put back"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cin.putback(lastChar);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peek()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Returns next char, but leaves it there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peekChar = cin.peek();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ignore()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Skip input, up to designated character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cin.ignore(1000, "\n");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Skips at most 1000 characters until "\n"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2A053F60-9880-49C0-838B-EE69A6AEA3E6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Character-Manipulating Functions: </a:t>
            </a:r>
            <a:br>
              <a:rPr lang="en-US" sz="3000" smtClean="0"/>
            </a:br>
            <a:r>
              <a:rPr lang="en-US" sz="3000" b="1" smtClean="0"/>
              <a:t>Display 9.3</a:t>
            </a:r>
            <a:r>
              <a:rPr lang="en-US" sz="3000" smtClean="0"/>
              <a:t>  Some Functions </a:t>
            </a:r>
            <a:br>
              <a:rPr lang="en-US" sz="3000" smtClean="0"/>
            </a:br>
            <a:r>
              <a:rPr lang="en-US" sz="3000" smtClean="0"/>
              <a:t>in &lt;cctype&gt; (1 of 3)</a:t>
            </a:r>
          </a:p>
        </p:txBody>
      </p:sp>
      <p:pic>
        <p:nvPicPr>
          <p:cNvPr id="73730" name="Picture 4" descr="C:\WINDOWS\Desktop\Oh_type\sacitch_C++_ppt\gif\savitchc09d03_1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803275" y="1970088"/>
            <a:ext cx="8213725" cy="357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5E60D2AF-EFC8-49B5-8EF5-92FC07B5E3EB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Character-Manipulating Functions: </a:t>
            </a:r>
            <a:br>
              <a:rPr lang="en-US" sz="3000" smtClean="0"/>
            </a:br>
            <a:r>
              <a:rPr lang="en-US" sz="3000" b="1" smtClean="0"/>
              <a:t>Display 9.3</a:t>
            </a:r>
            <a:r>
              <a:rPr lang="en-US" sz="3000" smtClean="0"/>
              <a:t>  Some Functions </a:t>
            </a:r>
            <a:br>
              <a:rPr lang="en-US" sz="3000" smtClean="0"/>
            </a:br>
            <a:r>
              <a:rPr lang="en-US" sz="3000" smtClean="0"/>
              <a:t>in &lt;cctype&gt; (2 of 3)</a:t>
            </a:r>
          </a:p>
        </p:txBody>
      </p:sp>
      <p:pic>
        <p:nvPicPr>
          <p:cNvPr id="75778" name="Picture 6" descr="C:\WINDOWS\Desktop\Oh_type\sacitch_C++_ppt\gif\savitchc09d03_2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62063" y="1581150"/>
            <a:ext cx="727233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24FAEAF2-9D13-4D28-877F-E640AD8331A1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Character-Manipulating Functions: </a:t>
            </a:r>
            <a:br>
              <a:rPr lang="en-US" sz="3000" smtClean="0"/>
            </a:br>
            <a:r>
              <a:rPr lang="en-US" sz="3000" b="1" smtClean="0"/>
              <a:t>Display 9.3</a:t>
            </a:r>
            <a:r>
              <a:rPr lang="en-US" sz="3000" smtClean="0"/>
              <a:t>  Some Functions </a:t>
            </a:r>
            <a:br>
              <a:rPr lang="en-US" sz="3000" smtClean="0"/>
            </a:br>
            <a:r>
              <a:rPr lang="en-US" sz="3000" smtClean="0"/>
              <a:t>in &lt;cctype&gt; (3 of 3)</a:t>
            </a:r>
          </a:p>
        </p:txBody>
      </p:sp>
      <p:pic>
        <p:nvPicPr>
          <p:cNvPr id="77826" name="Picture 4" descr="C:\WINDOWS\Desktop\Oh_type\sacitch_C++_ppt\gif\savitchc09d03_3of3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638300" y="1581150"/>
            <a:ext cx="6438900" cy="49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5106E545-30F4-46B5-8839-5D095EE48A6D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Standard Class string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Defined in library:</a:t>
            </a:r>
            <a:br>
              <a:rPr lang="en-US" sz="2800" smtClean="0"/>
            </a:br>
            <a:r>
              <a:rPr lang="en-US" sz="2400" smtClean="0"/>
              <a:t>#include &lt;string&gt;</a:t>
            </a:r>
            <a:br>
              <a:rPr lang="en-US" sz="2400" smtClean="0"/>
            </a:br>
            <a:r>
              <a:rPr lang="en-US" sz="2400" smtClean="0"/>
              <a:t>using namespace std;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String variables and expressions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Treated much like simple types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Can assign, compare, add:</a:t>
            </a:r>
            <a:br>
              <a:rPr lang="en-US" sz="2800" smtClean="0"/>
            </a:br>
            <a:r>
              <a:rPr lang="en-US" sz="2400" smtClean="0"/>
              <a:t>string s1, s2, s3;</a:t>
            </a:r>
            <a:br>
              <a:rPr lang="en-US" sz="2400" smtClean="0"/>
            </a:br>
            <a:r>
              <a:rPr lang="en-US" sz="2400" smtClean="0"/>
              <a:t>s3 = s1 + s2;		//Concatenation</a:t>
            </a:r>
            <a:br>
              <a:rPr lang="en-US" sz="2400" smtClean="0"/>
            </a:br>
            <a:r>
              <a:rPr lang="en-US" sz="2400" smtClean="0"/>
              <a:t>s3 = "Hello Mom!"	//Assignment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Note c-string "Hello Mom!" automatically</a:t>
            </a:r>
            <a:br>
              <a:rPr lang="en-US" sz="2400" smtClean="0"/>
            </a:br>
            <a:r>
              <a:rPr lang="en-US" sz="2400" smtClean="0"/>
              <a:t>converted to string type!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38E29E62-30C3-4631-B74F-EFF6E49DA2D7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5"/>
          <p:cNvSpPr>
            <a:spLocks noGrp="1" noChangeArrowheads="1"/>
          </p:cNvSpPr>
          <p:nvPr>
            <p:ph type="title"/>
          </p:nvPr>
        </p:nvSpPr>
        <p:spPr>
          <a:xfrm>
            <a:off x="1004888" y="193675"/>
            <a:ext cx="7969250" cy="1143000"/>
          </a:xfrm>
        </p:spPr>
        <p:txBody>
          <a:bodyPr/>
          <a:lstStyle/>
          <a:p>
            <a:pPr eaLnBrk="1" hangingPunct="1"/>
            <a:r>
              <a:rPr lang="en-US" sz="3600" b="1" smtClean="0"/>
              <a:t>Display 9.4  </a:t>
            </a:r>
            <a:br>
              <a:rPr lang="en-US" sz="3600" b="1" smtClean="0"/>
            </a:br>
            <a:r>
              <a:rPr lang="en-US" sz="3600" smtClean="0"/>
              <a:t>Program Using the Class string</a:t>
            </a:r>
          </a:p>
        </p:txBody>
      </p:sp>
      <p:pic>
        <p:nvPicPr>
          <p:cNvPr id="81922" name="Picture 6" descr="C:\WINDOWS\Desktop\Oh_type\sacitch_C++_ppt\gif\savitchc09d0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77938" y="1428750"/>
            <a:ext cx="7256462" cy="510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6ED8C31F-EC61-462C-8FCB-15271CB7958A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I/O with Class string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Just like other types!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string s1, s2;</a:t>
            </a:r>
            <a:br>
              <a:rPr lang="en-US" sz="2800" smtClean="0"/>
            </a:br>
            <a:r>
              <a:rPr lang="en-US" sz="2800" smtClean="0"/>
              <a:t>cin &gt;&gt; s1;</a:t>
            </a:r>
            <a:br>
              <a:rPr lang="en-US" sz="2800" smtClean="0"/>
            </a:br>
            <a:r>
              <a:rPr lang="en-US" sz="2800" smtClean="0"/>
              <a:t>cin &gt;&gt; s2;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Results:</a:t>
            </a:r>
            <a:br>
              <a:rPr lang="en-US" sz="2800" smtClean="0"/>
            </a:br>
            <a:r>
              <a:rPr lang="en-US" sz="2400" smtClean="0"/>
              <a:t>User types in:</a:t>
            </a:r>
            <a:br>
              <a:rPr lang="en-US" sz="2400" smtClean="0"/>
            </a:br>
            <a:r>
              <a:rPr lang="en-US" sz="2400" smtClean="0"/>
              <a:t>May the hair on your toes grow long and curly!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Extraction still ignores whitespace:</a:t>
            </a:r>
            <a:br>
              <a:rPr lang="en-US" sz="2800" smtClean="0"/>
            </a:br>
            <a:r>
              <a:rPr lang="en-US" sz="2400" smtClean="0"/>
              <a:t>s1 receives value "May"</a:t>
            </a:r>
            <a:br>
              <a:rPr lang="en-US" sz="2400" smtClean="0"/>
            </a:br>
            <a:r>
              <a:rPr lang="en-US" sz="2400" smtClean="0"/>
              <a:t>s2 receives value "the"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9955688B-C6AD-4FA4-B968-BB32F206DE31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getline() with Class string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 complete lines:</a:t>
            </a:r>
            <a:br>
              <a:rPr lang="en-US" smtClean="0"/>
            </a:br>
            <a:r>
              <a:rPr lang="en-US" sz="2800" smtClean="0"/>
              <a:t>string line;</a:t>
            </a:r>
            <a:br>
              <a:rPr lang="en-US" sz="2800" smtClean="0"/>
            </a:br>
            <a:r>
              <a:rPr lang="en-US" sz="2800" smtClean="0"/>
              <a:t>cout &lt;&lt; "Enter a line of input: ";</a:t>
            </a:r>
            <a:br>
              <a:rPr lang="en-US" sz="2800" smtClean="0"/>
            </a:br>
            <a:r>
              <a:rPr lang="en-US" sz="2800" smtClean="0"/>
              <a:t>getline(cin, line);</a:t>
            </a:r>
            <a:br>
              <a:rPr lang="en-US" sz="2800" smtClean="0"/>
            </a:br>
            <a:r>
              <a:rPr lang="en-US" sz="2800" smtClean="0"/>
              <a:t>cout &lt;&lt; line &lt;&lt; "END OF OUTPUT";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Dialogue produced:</a:t>
            </a:r>
            <a:br>
              <a:rPr lang="en-US" smtClean="0"/>
            </a:br>
            <a:r>
              <a:rPr lang="en-US" sz="2800" smtClean="0"/>
              <a:t>Enter a line of input: </a:t>
            </a:r>
            <a:r>
              <a:rPr lang="en-US" sz="2800" u="sng" smtClean="0"/>
              <a:t>Do be do to you!</a:t>
            </a:r>
            <a:br>
              <a:rPr lang="en-US" sz="2800" u="sng" smtClean="0"/>
            </a:br>
            <a:r>
              <a:rPr lang="en-US" sz="2800" smtClean="0"/>
              <a:t>Do be do to you!END OF INPUT</a:t>
            </a:r>
          </a:p>
          <a:p>
            <a:pPr lvl="1" eaLnBrk="1" hangingPunct="1"/>
            <a:r>
              <a:rPr lang="en-US" smtClean="0"/>
              <a:t>Similar to c-string’s usage of getline()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5A29F501-393B-4DFF-840E-FC2A012FB24D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Other getline() Versions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Can specify "delimiter" character:</a:t>
            </a:r>
            <a:br>
              <a:rPr lang="en-US" smtClean="0"/>
            </a:br>
            <a:r>
              <a:rPr lang="en-US" sz="2800" smtClean="0"/>
              <a:t>string line;</a:t>
            </a:r>
            <a:br>
              <a:rPr lang="en-US" sz="2800" smtClean="0"/>
            </a:br>
            <a:r>
              <a:rPr lang="en-US" sz="2800" smtClean="0"/>
              <a:t>cout &lt;&lt; "Enter input: ";</a:t>
            </a:r>
            <a:br>
              <a:rPr lang="en-US" sz="2800" smtClean="0"/>
            </a:br>
            <a:r>
              <a:rPr lang="en-US" sz="2800" smtClean="0"/>
              <a:t>getline(cin, line, "?");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Receives input until "?" encountered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getline() actually returns reference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string s1, s2;</a:t>
            </a:r>
            <a:br>
              <a:rPr lang="en-US" smtClean="0"/>
            </a:br>
            <a:r>
              <a:rPr lang="en-US" smtClean="0"/>
              <a:t>getline(cin, s1) &gt;&gt; s2;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Results in: (cin) &gt;&gt; s2;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76544F2F-488A-4B75-AB40-4FC47755F192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Pitfall: Mixing Input Methods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Be careful mixing cin &gt;&gt; var and getline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int n;</a:t>
            </a:r>
            <a:br>
              <a:rPr lang="en-US" sz="2400" smtClean="0"/>
            </a:br>
            <a:r>
              <a:rPr lang="en-US" sz="2400" smtClean="0"/>
              <a:t>string line;</a:t>
            </a:r>
            <a:br>
              <a:rPr lang="en-US" sz="2400" smtClean="0"/>
            </a:br>
            <a:r>
              <a:rPr lang="en-US" sz="2400" smtClean="0"/>
              <a:t>cin &gt;&gt; n;</a:t>
            </a:r>
            <a:br>
              <a:rPr lang="en-US" sz="2400" smtClean="0"/>
            </a:br>
            <a:r>
              <a:rPr lang="en-US" sz="2400" smtClean="0"/>
              <a:t>getline(cin, line);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If input is:	42</a:t>
            </a:r>
            <a:br>
              <a:rPr lang="en-US" sz="2400" smtClean="0"/>
            </a:br>
            <a:r>
              <a:rPr lang="en-US" sz="2400" smtClean="0"/>
              <a:t>			Hello hitchhiker.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Variable n set to 42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line set to empty string!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cin &gt;&gt; n skipped leading whitespace, leaving</a:t>
            </a:r>
            <a:br>
              <a:rPr lang="en-US" sz="2400" smtClean="0"/>
            </a:br>
            <a:r>
              <a:rPr lang="en-US" sz="2400" smtClean="0"/>
              <a:t>"\n" on stream for getline()!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1F4D6D11-E50B-4591-8F52-ABFE62C7BCD2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string Processing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Same operations available as c-strings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And more!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Over 100 members of standard string class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Some member functions: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.length()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Returns length of string 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.at(i)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Returns reference to char at position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B153EE33-D9A5-41E2-AA8C-AA7CD3C5BDCE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9.7  </a:t>
            </a:r>
            <a:r>
              <a:rPr lang="en-US" sz="3600" smtClean="0"/>
              <a:t>Member Functions </a:t>
            </a:r>
            <a:br>
              <a:rPr lang="en-US" sz="3600" smtClean="0"/>
            </a:br>
            <a:r>
              <a:rPr lang="en-US" sz="3600" smtClean="0"/>
              <a:t>of the Standard Class string (1 of 2)</a:t>
            </a:r>
          </a:p>
        </p:txBody>
      </p:sp>
      <p:pic>
        <p:nvPicPr>
          <p:cNvPr id="94210" name="Picture 5" descr="C:\WINDOWS\Desktop\Oh_type\sacitch_C++_ppt\gif\savitchc09d07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676400" y="1466850"/>
            <a:ext cx="6286500" cy="505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DFED4723-F739-4382-8BB6-B3FE8FD476B5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Display 9.7  </a:t>
            </a:r>
            <a:r>
              <a:rPr lang="en-US" sz="3600" smtClean="0"/>
              <a:t>Member Functions </a:t>
            </a:r>
            <a:br>
              <a:rPr lang="en-US" sz="3600" smtClean="0"/>
            </a:br>
            <a:r>
              <a:rPr lang="en-US" sz="3600" smtClean="0"/>
              <a:t>of the Standard Class string (2 of 2)</a:t>
            </a:r>
          </a:p>
        </p:txBody>
      </p:sp>
      <p:pic>
        <p:nvPicPr>
          <p:cNvPr id="96258" name="Picture 4" descr="C:\WINDOWS\Desktop\Oh_type\sacitch_C++_ppt\gif\savitchc09d07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65238" y="1452563"/>
            <a:ext cx="7291387" cy="501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FBE83031-1637-4608-A236-6A04A714E8DB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9626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C-string and string </a:t>
            </a:r>
            <a:br>
              <a:rPr lang="en-US" sz="3600" smtClean="0"/>
            </a:br>
            <a:r>
              <a:rPr lang="en-US" sz="3600" smtClean="0"/>
              <a:t>Object Conversions</a:t>
            </a:r>
          </a:p>
        </p:txBody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591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Automatic type conversions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From c-string to string object:</a:t>
            </a:r>
            <a:br>
              <a:rPr lang="en-US" sz="2400" smtClean="0"/>
            </a:br>
            <a:r>
              <a:rPr lang="en-US" sz="2400" smtClean="0"/>
              <a:t>char aCString[] = "My C-string";</a:t>
            </a:r>
            <a:br>
              <a:rPr lang="en-US" sz="2400" smtClean="0"/>
            </a:br>
            <a:r>
              <a:rPr lang="en-US" sz="2400" smtClean="0"/>
              <a:t>string stringVar;</a:t>
            </a:r>
            <a:br>
              <a:rPr lang="en-US" sz="2400" smtClean="0"/>
            </a:br>
            <a:r>
              <a:rPr lang="en-US" sz="2400" smtClean="0"/>
              <a:t>stringVar = aCstring;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Perfectly legal and appropriate!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aCString = stringVar;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ILLEGAL!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Cannot auto-convert to c-string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Must use explicit conversion:</a:t>
            </a:r>
            <a:br>
              <a:rPr lang="en-US" sz="2400" smtClean="0"/>
            </a:br>
            <a:r>
              <a:rPr lang="en-US" sz="2400" smtClean="0"/>
              <a:t>strcpy(aCString, stringVar.c_str());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99215C26-65D7-4F57-A219-E33181F12192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983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C-string variable is "array of characters"</a:t>
            </a:r>
          </a:p>
          <a:p>
            <a:pPr lvl="1" eaLnBrk="1" hangingPunct="1"/>
            <a:r>
              <a:rPr lang="en-US" sz="2000" smtClean="0"/>
              <a:t>With addition of null character, "\0"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C-strings act like arrays</a:t>
            </a:r>
          </a:p>
          <a:p>
            <a:pPr lvl="1" eaLnBrk="1" hangingPunct="1"/>
            <a:r>
              <a:rPr lang="en-US" sz="2000" smtClean="0"/>
              <a:t>Cannot assign, compare like simple variables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Libraries &lt;cctype&gt; &amp; &lt;string&gt; have useful manipulating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cin.get() reads next single character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getline() versions allow full line reading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Class string objects are better-behaved than c-strings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9-</a:t>
            </a:r>
            <a:fld id="{90A54EBF-D736-49A2-94CB-5017B1C8FBD8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1003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1798</Words>
  <Application>Microsoft Office PowerPoint</Application>
  <PresentationFormat>On-screen Show (4:3)</PresentationFormat>
  <Paragraphs>389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43</vt:i4>
      </vt:variant>
    </vt:vector>
  </HeadingPairs>
  <TitlesOfParts>
    <vt:vector size="60" baseType="lpstr">
      <vt:lpstr>Arial</vt:lpstr>
      <vt:lpstr>Calibri</vt:lpstr>
      <vt:lpstr>Wingdings</vt:lpstr>
      <vt:lpstr>Courier New</vt:lpstr>
      <vt:lpstr>Symbol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9</vt:lpstr>
      <vt:lpstr>Learning Objectives</vt:lpstr>
      <vt:lpstr>Introduction</vt:lpstr>
      <vt:lpstr>C-Strings</vt:lpstr>
      <vt:lpstr>C-String Variable</vt:lpstr>
      <vt:lpstr>C-String Storage</vt:lpstr>
      <vt:lpstr>C-String Initialization</vt:lpstr>
      <vt:lpstr>C-String Indexes</vt:lpstr>
      <vt:lpstr>C-String Index Manipulation</vt:lpstr>
      <vt:lpstr>Library</vt:lpstr>
      <vt:lpstr>= and == with C-strings</vt:lpstr>
      <vt:lpstr>Comparing C-strings</vt:lpstr>
      <vt:lpstr>The &lt;cstring&gt; Library:  Display 9.1  Some Predefined C-String Functions in &lt;cstring&gt; (1 of 2)</vt:lpstr>
      <vt:lpstr>The &lt;cstring&gt; Library:  Display 9.1  Some Predefined C-String Functions in &lt;cstring&gt; (2 of 2)</vt:lpstr>
      <vt:lpstr>C-string Functions: strlen()</vt:lpstr>
      <vt:lpstr>C-string Functions: strcat()</vt:lpstr>
      <vt:lpstr>C-string Arguments and Parameters</vt:lpstr>
      <vt:lpstr>C-String Output</vt:lpstr>
      <vt:lpstr>C-String Input</vt:lpstr>
      <vt:lpstr>C-String Input Example</vt:lpstr>
      <vt:lpstr>C-String Line Input</vt:lpstr>
      <vt:lpstr>Example: Command Line Arguments</vt:lpstr>
      <vt:lpstr>Example: Command Line Arguments</vt:lpstr>
      <vt:lpstr>Example: Command Line Arguments</vt:lpstr>
      <vt:lpstr>More getline()</vt:lpstr>
      <vt:lpstr>Character I/O</vt:lpstr>
      <vt:lpstr>Member Function get()</vt:lpstr>
      <vt:lpstr>Member Function put()</vt:lpstr>
      <vt:lpstr>More Member Functions</vt:lpstr>
      <vt:lpstr>Character-Manipulating Functions:  Display 9.3  Some Functions  in &lt;cctype&gt; (1 of 3)</vt:lpstr>
      <vt:lpstr>Character-Manipulating Functions:  Display 9.3  Some Functions  in &lt;cctype&gt; (2 of 3)</vt:lpstr>
      <vt:lpstr>Character-Manipulating Functions:  Display 9.3  Some Functions  in &lt;cctype&gt; (3 of 3)</vt:lpstr>
      <vt:lpstr>Standard Class string</vt:lpstr>
      <vt:lpstr>Display 9.4   Program Using the Class string</vt:lpstr>
      <vt:lpstr>I/O with Class string</vt:lpstr>
      <vt:lpstr>getline() with Class string</vt:lpstr>
      <vt:lpstr>Other getline() Versions</vt:lpstr>
      <vt:lpstr>Pitfall: Mixing Input Methods</vt:lpstr>
      <vt:lpstr>Class string Processing</vt:lpstr>
      <vt:lpstr>Display 9.7  Member Functions  of the Standard Class string (1 of 2)</vt:lpstr>
      <vt:lpstr>Display 9.7  Member Functions  of the Standard Class string (2 of 2)</vt:lpstr>
      <vt:lpstr>C-string and string  Object Conversions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19</cp:revision>
  <dcterms:created xsi:type="dcterms:W3CDTF">2006-08-16T00:00:00Z</dcterms:created>
  <dcterms:modified xsi:type="dcterms:W3CDTF">2012-05-08T14:07:57Z</dcterms:modified>
</cp:coreProperties>
</file>