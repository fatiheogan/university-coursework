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A89BC76-B4E8-4F6E-B124-5FAC6036486A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723C1A3-CA73-49EF-8DC2-90AF92D5B6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D0143A-9A25-4975-94C5-1F06DE945F9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DF1E99-D13E-4560-A5DD-7F7AF4E6A54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C3B412-2B95-4064-8D4E-F95D6E2954F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1DAD4E-5687-4CDD-83FC-E7F087DC77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C3496E-1411-4509-83BF-1A2BC370F54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2B8743-C276-479E-AFE0-78DF274471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AEAA9E-7F37-4D08-9FAC-16A883BF29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414342-E855-4DC1-B99A-00666404D0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024A53-567E-4B84-AB5A-418846C41C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B311EA0-E8F3-4285-B1B9-05F7E037991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7228D9-E65F-4486-AB98-82C1DFF8575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92783B-2DBE-472C-864E-60C8D78486B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176A1A-6995-40A6-AB16-30925967BEB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889E8C-95B8-4279-9431-E8FF688F0B8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4D6E80-0A6B-493B-873A-5B11D6546C4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31E7AD-CCF3-4176-8981-AB336F984C3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F23190-809D-40C2-A096-58B6A8DC5C3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6A0A37C-5F28-419A-A9AA-1B1A678278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30C844-97DF-4C4D-8809-C0C6AC0152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708961-74AF-4A59-B93B-D4322878D4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3E3408-442D-452E-ACA0-55D6191361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03AEB9-FAC6-486D-8BF6-D1BD489A899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24C2FF-AB84-4641-A77D-9F1B20D5F28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7A5CFE-2919-48E5-96BB-7B231380FD5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AB6079-0507-4E75-8154-288F09F762E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D6A98C-0F53-4DAF-815F-AF4A57BD1B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0E415B-8CFB-441C-8A1D-83FA3465E02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B02B76-A1A8-4ED6-83F9-3EBD44B9F0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08B317-1EDE-497A-B7B0-51D5F460DD7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CE6BFA-21E6-4D2C-9AB1-B2A6FB1F332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70827A0-03F7-493B-9611-B2CA48FEAED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AE310B2-EF8C-4B45-9A79-3BDC70E2DD5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7090FA-D358-4082-82A8-C386B022673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F3B752-1996-428D-8F3F-5EDCBD96158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2C2E1B-C84F-423C-9149-2E5A7653A03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15798EC-BF20-4AB6-AD39-6506E123482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8AEE0-5E6D-4E23-A028-771397FAA3A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2585B490-2F48-4E1C-82B2-09C3052FB5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1DD26-3067-410D-BFD6-165A118AAB15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910B15D6-9096-421B-9348-3C5F0D8AD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E382F-B097-4047-9B13-247EB768A38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8675F798-972F-4E3C-9D3A-516AA8BCB0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569E8-690E-4FD2-BC41-DEE90E4DCA7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58349454-3BB0-4EAB-BD5E-38BB3F147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7F1F8-2D9D-4532-B607-32A5DDDA43B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E21D5EC3-03F0-42CA-8812-1EB086448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8FA9-ACEA-4A23-845E-01BA5244B8D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8221BA4A-F34A-43D4-AF15-1BDEC4FFB8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2449C-2540-435D-82E4-77E68573ED1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4C43AC64-CBB8-454F-8A6C-B9F0810D9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FE1FF-7446-4BC7-BD24-1D42E886552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852CC5DE-9B10-4E84-B0C4-2757581DB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8BEA0-FFD4-46BB-B61B-FDEFC0E01F66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61E293A0-B039-49AF-B98E-59E4B1D680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D2510-21B1-4A89-9D1C-DA2F0D1618A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652CAA8E-5BC2-40E7-9A90-0B7D5C87F4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2B196-F5D2-44FB-98A4-CBD47FD8547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18-</a:t>
            </a:r>
            <a:fld id="{81AD12B6-A5AC-49E6-8A2D-A876CA3D6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E36600-BEE5-4C3E-8A34-DA06B1144CA9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34F82A0E-5E95-4FC7-B996-2F3059E58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Exception Handling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Exception Handling Basics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Defining exception classes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Multiple throws and catches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Exception specifications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Programming Techniques for </a:t>
            </a:r>
            <a:br>
              <a:rPr lang="en-US" smtClean="0"/>
            </a:br>
            <a:r>
              <a:rPr lang="en-US" smtClean="0"/>
              <a:t>Exception Handling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When to throw exceptions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Exception class hierarchies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8F6BD80B-0465-489B-9B55-BDA9DFAC27DD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Typical approach to development:</a:t>
            </a:r>
          </a:p>
          <a:p>
            <a:pPr lvl="1" eaLnBrk="1" hangingPunct="1"/>
            <a:r>
              <a:rPr lang="en-US" sz="2400" smtClean="0"/>
              <a:t>Write programs assuming things go as planned</a:t>
            </a:r>
          </a:p>
          <a:p>
            <a:pPr lvl="1" eaLnBrk="1" hangingPunct="1"/>
            <a:r>
              <a:rPr lang="en-US" sz="2400" smtClean="0"/>
              <a:t>Get "core" working</a:t>
            </a:r>
          </a:p>
          <a:p>
            <a:pPr lvl="1" eaLnBrk="1" hangingPunct="1"/>
            <a:r>
              <a:rPr lang="en-US" sz="2400" smtClean="0"/>
              <a:t>Then take care of "exceptional" cases</a:t>
            </a:r>
          </a:p>
          <a:p>
            <a:pPr eaLnBrk="1" hangingPunct="1"/>
            <a:r>
              <a:rPr lang="en-US" sz="2800" smtClean="0"/>
              <a:t>C++ exception-handling facilities</a:t>
            </a:r>
          </a:p>
          <a:p>
            <a:pPr lvl="1" eaLnBrk="1" hangingPunct="1"/>
            <a:r>
              <a:rPr lang="en-US" sz="2400" smtClean="0"/>
              <a:t>Handle "exceptional" situations</a:t>
            </a:r>
          </a:p>
          <a:p>
            <a:pPr lvl="1" eaLnBrk="1" hangingPunct="1"/>
            <a:r>
              <a:rPr lang="en-US" sz="2400" smtClean="0"/>
              <a:t>Mechanism "signals" unusual happening</a:t>
            </a:r>
          </a:p>
          <a:p>
            <a:pPr lvl="1" eaLnBrk="1" hangingPunct="1"/>
            <a:r>
              <a:rPr lang="en-US" sz="2400" smtClean="0"/>
              <a:t>Another place in code "deals" with exception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A9DAB857-3854-4E7A-B887-6E7B004EFF0C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Exception-Handling Basics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Meant to be used sparingly</a:t>
            </a:r>
          </a:p>
          <a:p>
            <a:pPr lvl="1" eaLnBrk="1" hangingPunct="1"/>
            <a:r>
              <a:rPr lang="en-US" smtClean="0"/>
              <a:t>In "involved" situations</a:t>
            </a:r>
          </a:p>
          <a:p>
            <a:pPr eaLnBrk="1" hangingPunct="1"/>
            <a:r>
              <a:rPr lang="en-US" smtClean="0"/>
              <a:t>Difficult to teach such large examples</a:t>
            </a:r>
          </a:p>
          <a:p>
            <a:pPr eaLnBrk="1" hangingPunct="1"/>
            <a:r>
              <a:rPr lang="en-US" smtClean="0"/>
              <a:t>Approach:</a:t>
            </a:r>
          </a:p>
          <a:p>
            <a:pPr lvl="1" eaLnBrk="1" hangingPunct="1"/>
            <a:r>
              <a:rPr lang="en-US" smtClean="0"/>
              <a:t>Simple toy examples, that would not</a:t>
            </a:r>
            <a:br>
              <a:rPr lang="en-US" smtClean="0"/>
            </a:br>
            <a:r>
              <a:rPr lang="en-US" smtClean="0"/>
              <a:t>normally use exception-handling</a:t>
            </a:r>
          </a:p>
          <a:p>
            <a:pPr lvl="1" eaLnBrk="1" hangingPunct="1"/>
            <a:r>
              <a:rPr lang="en-US" smtClean="0"/>
              <a:t>Keep in mind "big picture"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53DBC320-AD4C-46D7-B379-3FB7D1DA1055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Toy Example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Imagine: people rarely run out of milk:</a:t>
            </a:r>
            <a:br>
              <a:rPr lang="en-US" sz="2800" smtClean="0"/>
            </a:br>
            <a:r>
              <a:rPr lang="en-US" sz="2400" smtClean="0"/>
              <a:t>cout &lt;&lt; "Enter number of donuts:";</a:t>
            </a:r>
            <a:br>
              <a:rPr lang="en-US" sz="2400" smtClean="0"/>
            </a:br>
            <a:r>
              <a:rPr lang="en-US" sz="2400" smtClean="0"/>
              <a:t>cin &gt;&gt; donuts;</a:t>
            </a:r>
            <a:br>
              <a:rPr lang="en-US" sz="2400" smtClean="0"/>
            </a:br>
            <a:r>
              <a:rPr lang="en-US" sz="2400" smtClean="0"/>
              <a:t>cout &lt;&lt; "Enter number of glasses of milk:";</a:t>
            </a:r>
            <a:br>
              <a:rPr lang="en-US" sz="2400" smtClean="0"/>
            </a:br>
            <a:r>
              <a:rPr lang="en-US" sz="2400" smtClean="0"/>
              <a:t>cin &gt;&gt; milk</a:t>
            </a:r>
            <a:br>
              <a:rPr lang="en-US" sz="2400" smtClean="0"/>
            </a:br>
            <a:r>
              <a:rPr lang="en-US" sz="2400" smtClean="0"/>
              <a:t>dpg = donuts/static_cast&lt;double&gt;(milk);</a:t>
            </a:r>
            <a:br>
              <a:rPr lang="en-US" sz="2400" smtClean="0"/>
            </a:br>
            <a:r>
              <a:rPr lang="en-US" sz="2400" smtClean="0"/>
              <a:t>cout 	&lt;&lt; donuts &lt;&lt; "donuts.\n";</a:t>
            </a:r>
            <a:br>
              <a:rPr lang="en-US" sz="2400" smtClean="0"/>
            </a:br>
            <a:r>
              <a:rPr lang="en-US" sz="2400" smtClean="0"/>
              <a:t>		&lt;&lt; milk &lt;&lt; "glasses of milk.\n";</a:t>
            </a:r>
            <a:br>
              <a:rPr lang="en-US" sz="2400" smtClean="0"/>
            </a:br>
            <a:r>
              <a:rPr lang="en-US" sz="2400" smtClean="0"/>
              <a:t>		&lt;&lt; "You have " &lt;&lt; dpg </a:t>
            </a:r>
            <a:br>
              <a:rPr lang="en-US" sz="2400" smtClean="0"/>
            </a:br>
            <a:r>
              <a:rPr lang="en-US" sz="2400" smtClean="0"/>
              <a:t>		&lt;&lt; "donuts for each glass of milk.\n";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Basic code assumes never run out of milk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E3ED849A-DF6A-4243-B8EC-4367E8DCD045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Toy Example if-else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Notice: If no milk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divide by zero error!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Program should accommodate unlikely</a:t>
            </a:r>
            <a:br>
              <a:rPr lang="en-US" smtClean="0"/>
            </a:br>
            <a:r>
              <a:rPr lang="en-US" smtClean="0"/>
              <a:t>situation of running out of milk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use simple if-else structure:</a:t>
            </a:r>
            <a:br>
              <a:rPr lang="en-US" smtClean="0"/>
            </a:br>
            <a:r>
              <a:rPr lang="en-US" sz="2400" smtClean="0"/>
              <a:t>if (milk &lt;= 0)</a:t>
            </a:r>
            <a:br>
              <a:rPr lang="en-US" sz="2400" smtClean="0"/>
            </a:br>
            <a:r>
              <a:rPr lang="en-US" sz="2400" smtClean="0"/>
              <a:t>	cout &lt;&lt; "Go buy some milk!\n";</a:t>
            </a:r>
            <a:br>
              <a:rPr lang="en-US" sz="2400" smtClean="0"/>
            </a:br>
            <a:r>
              <a:rPr lang="en-US" sz="2400" smtClean="0"/>
              <a:t>else</a:t>
            </a:r>
            <a:br>
              <a:rPr lang="en-US" sz="2400" smtClean="0"/>
            </a:br>
            <a:r>
              <a:rPr lang="en-US" sz="2400" smtClean="0"/>
              <a:t>{…}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Notice: no exception-handling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4288F812-F9F6-493A-B112-F58975A6F71A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/>
              <a:t>Toy Example with Exception Handling: </a:t>
            </a:r>
            <a:r>
              <a:rPr lang="en-US" sz="3000" b="1"/>
              <a:t>Display 18.2</a:t>
            </a:r>
            <a:r>
              <a:rPr lang="en-US" sz="3000"/>
              <a:t>  Same Thing Using </a:t>
            </a:r>
            <a:br>
              <a:rPr lang="en-US" sz="3000"/>
            </a:br>
            <a:r>
              <a:rPr lang="en-US" sz="3000"/>
              <a:t>Exception Handling</a:t>
            </a:r>
          </a:p>
        </p:txBody>
      </p:sp>
      <p:pic>
        <p:nvPicPr>
          <p:cNvPr id="26626" name="Picture 4" descr="savitchc18d02_example.gif                                      00005BE4mt_external                    BE5D1705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1963" y="1671638"/>
            <a:ext cx="5659437" cy="482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F719F102-6555-4307-9F35-61C70436BF6E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Toy Example Discussion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Code between keywords </a:t>
            </a:r>
            <a:r>
              <a:rPr lang="en-US" i="1" smtClean="0"/>
              <a:t>try</a:t>
            </a:r>
            <a:r>
              <a:rPr lang="en-US" smtClean="0"/>
              <a:t> and </a:t>
            </a:r>
            <a:r>
              <a:rPr lang="en-US" i="1" smtClean="0"/>
              <a:t>catch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Same code from ordinary version, except</a:t>
            </a:r>
            <a:br>
              <a:rPr lang="en-US" smtClean="0"/>
            </a:br>
            <a:r>
              <a:rPr lang="en-US" smtClean="0"/>
              <a:t>if statement simpler:</a:t>
            </a:r>
            <a:br>
              <a:rPr lang="en-US" smtClean="0"/>
            </a:br>
            <a:r>
              <a:rPr lang="en-US" smtClean="0"/>
              <a:t>if (milk &lt;= 0)</a:t>
            </a:r>
            <a:br>
              <a:rPr lang="en-US" smtClean="0"/>
            </a:br>
            <a:r>
              <a:rPr lang="en-US" smtClean="0"/>
              <a:t>	throw donuts;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Much cleaner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"no milk"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do something exceptional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The "something exceptional" is provided</a:t>
            </a:r>
            <a:br>
              <a:rPr lang="en-US" smtClean="0"/>
            </a:br>
            <a:r>
              <a:rPr lang="en-US" smtClean="0"/>
              <a:t>after keyword </a:t>
            </a:r>
            <a:r>
              <a:rPr lang="en-US" i="1" smtClean="0"/>
              <a:t>catch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CDB2ADFC-35BA-4337-9218-BDCF70BE7ACE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Toy Example try-catch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Try 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Handles "normal" situation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Catch 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Handles "exceptional" situations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Provides separation of normal </a:t>
            </a:r>
            <a:br>
              <a:rPr lang="en-US" smtClean="0"/>
            </a:br>
            <a:r>
              <a:rPr lang="en-US" smtClean="0"/>
              <a:t>from exceptional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Not big deal for this simple example, but</a:t>
            </a:r>
            <a:br>
              <a:rPr lang="en-US" smtClean="0"/>
            </a:br>
            <a:r>
              <a:rPr lang="en-US" smtClean="0"/>
              <a:t>important concept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E7752330-E219-49A2-88CF-F037D09CCEF4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try block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Basic method of exception-handling is</a:t>
            </a:r>
            <a:br>
              <a:rPr lang="en-US" smtClean="0"/>
            </a:br>
            <a:r>
              <a:rPr lang="en-US" smtClean="0"/>
              <a:t>try-throw-catch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Try block:</a:t>
            </a:r>
            <a:br>
              <a:rPr lang="en-US" smtClean="0"/>
            </a:br>
            <a:r>
              <a:rPr lang="en-US" sz="2800" smtClean="0"/>
              <a:t>try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Some_Code;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Contains code for basic algorithm when all</a:t>
            </a:r>
            <a:br>
              <a:rPr lang="en-US" smtClean="0"/>
            </a:br>
            <a:r>
              <a:rPr lang="en-US" smtClean="0"/>
              <a:t>goes smoothly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B6E27B9E-1FD8-42D8-B7A0-4D1536E3B6B3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throw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Inside try-block, when something </a:t>
            </a:r>
            <a:br>
              <a:rPr lang="en-US" sz="2800" smtClean="0"/>
            </a:br>
            <a:r>
              <a:rPr lang="en-US" sz="2800" smtClean="0"/>
              <a:t>unusual happens:</a:t>
            </a:r>
            <a:br>
              <a:rPr lang="en-US" sz="2800" smtClean="0"/>
            </a:br>
            <a:r>
              <a:rPr lang="en-US" sz="2400" smtClean="0"/>
              <a:t>try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Code_To_Try</a:t>
            </a:r>
            <a:br>
              <a:rPr lang="en-US" sz="2400" smtClean="0"/>
            </a:br>
            <a:r>
              <a:rPr lang="en-US" sz="2400" smtClean="0"/>
              <a:t>	if (exceptional_happened)</a:t>
            </a:r>
            <a:br>
              <a:rPr lang="en-US" sz="2400" smtClean="0"/>
            </a:br>
            <a:r>
              <a:rPr lang="en-US" sz="2400" smtClean="0"/>
              <a:t>		throw donuts;</a:t>
            </a:r>
            <a:br>
              <a:rPr lang="en-US" sz="2400" smtClean="0"/>
            </a:br>
            <a:r>
              <a:rPr lang="en-US" sz="2400" smtClean="0"/>
              <a:t>	More_Code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lvl="1" eaLnBrk="1" hangingPunct="1"/>
            <a:r>
              <a:rPr lang="en-US" sz="2400" smtClean="0"/>
              <a:t>Keyword </a:t>
            </a:r>
            <a:r>
              <a:rPr lang="en-US" sz="2400" i="1" smtClean="0"/>
              <a:t>throw</a:t>
            </a:r>
            <a:r>
              <a:rPr lang="en-US" sz="2400" smtClean="0"/>
              <a:t> followed by exception type</a:t>
            </a:r>
          </a:p>
          <a:p>
            <a:pPr lvl="1" eaLnBrk="1" hangingPunct="1"/>
            <a:r>
              <a:rPr lang="en-US" sz="2400" smtClean="0"/>
              <a:t>Called "throwing an exception"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52610EA5-B2AE-495B-80ED-989CA435ACC4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catch-block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When something thrown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goes somewhere</a:t>
            </a:r>
          </a:p>
          <a:p>
            <a:pPr lvl="1" eaLnBrk="1" hangingPunct="1"/>
            <a:r>
              <a:rPr lang="en-US" sz="2400" smtClean="0"/>
              <a:t>In C++, flow of control goes from try-block to</a:t>
            </a:r>
            <a:br>
              <a:rPr lang="en-US" sz="2400" smtClean="0"/>
            </a:br>
            <a:r>
              <a:rPr lang="en-US" sz="2400" smtClean="0"/>
              <a:t>catch-block</a:t>
            </a:r>
          </a:p>
          <a:p>
            <a:pPr lvl="2" eaLnBrk="1" hangingPunct="1"/>
            <a:r>
              <a:rPr lang="en-US" sz="2000" smtClean="0"/>
              <a:t>try-block is "exited" and control passes to  catch-block</a:t>
            </a:r>
          </a:p>
          <a:p>
            <a:pPr lvl="1" eaLnBrk="1" hangingPunct="1"/>
            <a:r>
              <a:rPr lang="en-US" sz="2400" smtClean="0"/>
              <a:t>Executing catch block called "catching the</a:t>
            </a:r>
            <a:br>
              <a:rPr lang="en-US" sz="2400" smtClean="0"/>
            </a:br>
            <a:r>
              <a:rPr lang="en-US" sz="2400" smtClean="0"/>
              <a:t>exception"</a:t>
            </a:r>
          </a:p>
          <a:p>
            <a:pPr eaLnBrk="1" hangingPunct="1"/>
            <a:r>
              <a:rPr lang="en-US" sz="2800" smtClean="0"/>
              <a:t>Exceptions must be "handled" in some</a:t>
            </a:r>
            <a:br>
              <a:rPr lang="en-US" sz="2800" smtClean="0"/>
            </a:br>
            <a:r>
              <a:rPr lang="en-US" sz="2800" smtClean="0"/>
              <a:t>catch block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295A9531-5F5F-4A5F-80A9-33BD85DBB83E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catch-block More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Recall:</a:t>
            </a:r>
            <a:br>
              <a:rPr lang="en-US" sz="2800" smtClean="0"/>
            </a:br>
            <a:r>
              <a:rPr lang="en-US" sz="2400" smtClean="0"/>
              <a:t>catch(int e)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cout &lt;&lt; e &lt;&lt; " donuts, and no milk!\n";</a:t>
            </a:r>
            <a:br>
              <a:rPr lang="en-US" sz="2400" smtClean="0"/>
            </a:br>
            <a:r>
              <a:rPr lang="en-US" sz="2400" smtClean="0"/>
              <a:t>		&lt;&lt; " Go buy some milk.\n";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/>
            <a:r>
              <a:rPr lang="en-US" sz="2800" smtClean="0"/>
              <a:t>Looks like function definition with </a:t>
            </a:r>
            <a:br>
              <a:rPr lang="en-US" sz="2800" smtClean="0"/>
            </a:br>
            <a:r>
              <a:rPr lang="en-US" sz="2800" smtClean="0"/>
              <a:t>int parameter!</a:t>
            </a:r>
          </a:p>
          <a:p>
            <a:pPr lvl="1" eaLnBrk="1" hangingPunct="1"/>
            <a:r>
              <a:rPr lang="en-US" sz="2400" smtClean="0"/>
              <a:t>Not a function, but works similarly</a:t>
            </a:r>
          </a:p>
          <a:p>
            <a:pPr lvl="1" eaLnBrk="1" hangingPunct="1"/>
            <a:r>
              <a:rPr lang="en-US" sz="2400" smtClean="0"/>
              <a:t>Throw like "function call"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0ADD0EA6-1D6D-4AA0-96DA-D9FDE55F0A92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catch-block Parameter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1963" indent="-461963" eaLnBrk="1" hangingPunct="1"/>
            <a:r>
              <a:rPr lang="en-US" sz="2800" smtClean="0"/>
              <a:t>Recall:  catch(int e) </a:t>
            </a:r>
          </a:p>
          <a:p>
            <a:pPr marL="461963" indent="-461963" eaLnBrk="1" hangingPunct="1"/>
            <a:r>
              <a:rPr lang="en-US" sz="2800" smtClean="0"/>
              <a:t>"e" called catch-block parameter</a:t>
            </a:r>
          </a:p>
          <a:p>
            <a:pPr marL="1033463" lvl="1" indent="-457200" eaLnBrk="1" hangingPunct="1"/>
            <a:r>
              <a:rPr lang="en-US" sz="2400" smtClean="0"/>
              <a:t>Each catch block can have at most ONE</a:t>
            </a:r>
            <a:br>
              <a:rPr lang="en-US" sz="2400" smtClean="0"/>
            </a:br>
            <a:r>
              <a:rPr lang="en-US" sz="2400" smtClean="0"/>
              <a:t>catch-block parameter</a:t>
            </a:r>
          </a:p>
          <a:p>
            <a:pPr marL="461963" indent="-461963" eaLnBrk="1" hangingPunct="1"/>
            <a:r>
              <a:rPr lang="en-US" sz="2800" smtClean="0"/>
              <a:t>Does two things:</a:t>
            </a:r>
          </a:p>
          <a:p>
            <a:pPr marL="1033463" lvl="1" indent="-457200" eaLnBrk="1" hangingPunct="1">
              <a:buFont typeface="Times" pitchFamily="18" charset="0"/>
              <a:buAutoNum type="arabicPeriod"/>
            </a:pPr>
            <a:r>
              <a:rPr lang="en-US" sz="2400" smtClean="0"/>
              <a:t>type name specifies what kind of thrown</a:t>
            </a:r>
            <a:br>
              <a:rPr lang="en-US" sz="2400" smtClean="0"/>
            </a:br>
            <a:r>
              <a:rPr lang="en-US" sz="2400" smtClean="0"/>
              <a:t>value the catch-block can catch</a:t>
            </a:r>
          </a:p>
          <a:p>
            <a:pPr marL="1033463" lvl="1" indent="-457200" eaLnBrk="1" hangingPunct="1">
              <a:buFont typeface="Times" pitchFamily="18" charset="0"/>
              <a:buAutoNum type="arabicPeriod"/>
            </a:pPr>
            <a:r>
              <a:rPr lang="en-US" sz="2400" smtClean="0"/>
              <a:t>Provides name for thrown value caught;</a:t>
            </a:r>
            <a:br>
              <a:rPr lang="en-US" sz="2400" smtClean="0"/>
            </a:br>
            <a:r>
              <a:rPr lang="en-US" sz="2400" smtClean="0"/>
              <a:t>can "do things" with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FD63E078-AF03-45BB-A310-CB1DA5C0E6E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Defining Exception Classes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throw statement can throw value of </a:t>
            </a:r>
            <a:br>
              <a:rPr lang="en-US" smtClean="0"/>
            </a:br>
            <a:r>
              <a:rPr lang="en-US" smtClean="0"/>
              <a:t>any type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Exception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Contains objects with information to </a:t>
            </a:r>
            <a:br>
              <a:rPr lang="en-US" smtClean="0"/>
            </a:br>
            <a:r>
              <a:rPr lang="en-US" smtClean="0"/>
              <a:t>be thrown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have different types identifying each </a:t>
            </a:r>
            <a:br>
              <a:rPr lang="en-US" smtClean="0"/>
            </a:br>
            <a:r>
              <a:rPr lang="en-US" smtClean="0"/>
              <a:t>possible exceptional situation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Still just a class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An "exception class" due to how it’s used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3D02C238-9719-4047-9D95-713EF3FC48F0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Exception Class for Toy Example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class NoMilk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public:</a:t>
            </a:r>
            <a:br>
              <a:rPr lang="en-US" sz="2400" smtClean="0"/>
            </a:br>
            <a:r>
              <a:rPr lang="en-US" sz="2400" smtClean="0"/>
              <a:t>	NoMilk() { }</a:t>
            </a:r>
            <a:br>
              <a:rPr lang="en-US" sz="2400" smtClean="0"/>
            </a:br>
            <a:r>
              <a:rPr lang="en-US" sz="2400" smtClean="0"/>
              <a:t>	NoMilk(int howMany) : count(howMany) { }</a:t>
            </a:r>
            <a:br>
              <a:rPr lang="en-US" sz="2400" smtClean="0"/>
            </a:br>
            <a:r>
              <a:rPr lang="en-US" sz="2400" smtClean="0"/>
              <a:t>	int getcount() const { return count; }</a:t>
            </a:r>
            <a:br>
              <a:rPr lang="en-US" sz="2400" smtClean="0"/>
            </a:br>
            <a:r>
              <a:rPr lang="en-US" sz="2400" smtClean="0"/>
              <a:t>private:</a:t>
            </a:r>
            <a:br>
              <a:rPr lang="en-US" sz="2400" smtClean="0"/>
            </a:br>
            <a:r>
              <a:rPr lang="en-US" sz="2400" smtClean="0"/>
              <a:t>	int count;</a:t>
            </a:r>
            <a:br>
              <a:rPr lang="en-US" sz="2400" smtClean="0"/>
            </a:br>
            <a:r>
              <a:rPr lang="en-US" sz="2400" smtClean="0"/>
              <a:t>};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throw NoMilk(donuts);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Invokes constructor of NoMilk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8029B185-FEF4-4B24-AC64-48F9C0F6D2DD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Throws and Catches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try-block typically throws any number of</a:t>
            </a:r>
            <a:br>
              <a:rPr lang="en-US" sz="2800" smtClean="0"/>
            </a:br>
            <a:r>
              <a:rPr lang="en-US" sz="2800" smtClean="0"/>
              <a:t>exception values, of differing types</a:t>
            </a:r>
          </a:p>
          <a:p>
            <a:pPr eaLnBrk="1" hangingPunct="1"/>
            <a:r>
              <a:rPr lang="en-US" sz="2800" smtClean="0"/>
              <a:t>Of course only one exception thrown</a:t>
            </a:r>
          </a:p>
          <a:p>
            <a:pPr lvl="1" eaLnBrk="1" hangingPunct="1"/>
            <a:r>
              <a:rPr lang="en-US" sz="2400" smtClean="0"/>
              <a:t>Since throw statement ends try-block</a:t>
            </a:r>
          </a:p>
          <a:p>
            <a:pPr eaLnBrk="1" hangingPunct="1"/>
            <a:r>
              <a:rPr lang="en-US" sz="2800" smtClean="0"/>
              <a:t>But different types can be thrown</a:t>
            </a:r>
          </a:p>
          <a:p>
            <a:pPr lvl="1" eaLnBrk="1" hangingPunct="1"/>
            <a:r>
              <a:rPr lang="en-US" sz="2400" smtClean="0"/>
              <a:t>Each catch block only catches "one type"</a:t>
            </a:r>
          </a:p>
          <a:p>
            <a:pPr lvl="1" eaLnBrk="1" hangingPunct="1"/>
            <a:r>
              <a:rPr lang="en-US" sz="2400" smtClean="0"/>
              <a:t>Typical to place many catch-blocks after each</a:t>
            </a:r>
            <a:br>
              <a:rPr lang="en-US" sz="2400" smtClean="0"/>
            </a:br>
            <a:r>
              <a:rPr lang="en-US" sz="2400" smtClean="0"/>
              <a:t>try-block</a:t>
            </a:r>
          </a:p>
          <a:p>
            <a:pPr lvl="2" eaLnBrk="1" hangingPunct="1"/>
            <a:r>
              <a:rPr lang="en-US" sz="2000" smtClean="0"/>
              <a:t>To catch "all-possible" exceptions to be thrown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784913EC-02A6-47F8-A251-18D9F4BA21CF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Catching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Order of catch blocks important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Catch-blocks tried "in order" after try-block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First match handles it!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catch (…) { 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"catch-all", "default" exception handler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Catches any exception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Ensure catch-all placed AFTER more specific</a:t>
            </a:r>
            <a:br>
              <a:rPr lang="en-US" sz="2400" smtClean="0"/>
            </a:br>
            <a:r>
              <a:rPr lang="en-US" sz="2400" smtClean="0"/>
              <a:t>exceptions!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Or others will never be caught!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809E7A02-F934-4361-8E6B-057FB2618AAE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Trivial Exception Classes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class DivideByZero</a:t>
            </a:r>
            <a:br>
              <a:rPr lang="en-US" sz="2400" smtClean="0"/>
            </a:br>
            <a:r>
              <a:rPr lang="en-US" sz="2400" smtClean="0"/>
              <a:t>{ 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 member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 member functions (except default</a:t>
            </a:r>
            <a:br>
              <a:rPr lang="en-US" sz="2800" smtClean="0"/>
            </a:br>
            <a:r>
              <a:rPr lang="en-US" sz="2800" smtClean="0"/>
              <a:t>constructor)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Nothing but it’s name, which is enough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Might be "nothing to do" with exception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Used simply to "get to" catch 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omit catch block parameter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4DC81632-DEF2-4F93-A468-2021E4759C5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Throwing Exception in Function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Function might throw exception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Callers might have different "reactions"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Some might desire to "end program"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Some might continue, or do something else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Makes sense to "catch" exception in</a:t>
            </a:r>
            <a:br>
              <a:rPr lang="en-US" smtClean="0"/>
            </a:br>
            <a:r>
              <a:rPr lang="en-US" smtClean="0"/>
              <a:t>calling function’s try-catch-block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Place call inside try-block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Handle in catch-block after try-block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17BCF23B-9B69-4CDD-BB94-E78F7D8AFA92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Throwing Exception </a:t>
            </a:r>
            <a:br>
              <a:rPr lang="en-US" sz="3600" smtClean="0"/>
            </a:br>
            <a:r>
              <a:rPr lang="en-US" sz="3600" smtClean="0"/>
              <a:t>in Function Example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400" smtClean="0"/>
              <a:t>try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quotient = safeDivide(num, den);</a:t>
            </a:r>
            <a:br>
              <a:rPr lang="en-US" sz="2400" smtClean="0"/>
            </a:br>
            <a:r>
              <a:rPr lang="en-US" sz="2400" smtClean="0"/>
              <a:t>}</a:t>
            </a:r>
            <a:br>
              <a:rPr lang="en-US" sz="2400" smtClean="0"/>
            </a:br>
            <a:r>
              <a:rPr lang="en-US" sz="2400" smtClean="0"/>
              <a:t>catch (DivideByZero)</a:t>
            </a:r>
            <a:br>
              <a:rPr lang="en-US" sz="2400" smtClean="0"/>
            </a:br>
            <a:r>
              <a:rPr lang="en-US" sz="2400" smtClean="0"/>
              <a:t>{ … }</a:t>
            </a:r>
          </a:p>
          <a:p>
            <a:pPr eaLnBrk="1" hangingPunct="1"/>
            <a:r>
              <a:rPr lang="en-US" sz="2800" smtClean="0"/>
              <a:t>safeDivide() function throws DividebyZero</a:t>
            </a:r>
            <a:br>
              <a:rPr lang="en-US" sz="2800" smtClean="0"/>
            </a:br>
            <a:r>
              <a:rPr lang="en-US" sz="2800" smtClean="0"/>
              <a:t>exception</a:t>
            </a:r>
          </a:p>
          <a:p>
            <a:pPr lvl="1" eaLnBrk="1" hangingPunct="1"/>
            <a:r>
              <a:rPr lang="en-US" sz="2400" smtClean="0"/>
              <a:t>Handled back in caller’s catch-block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914C89E5-2872-4852-8217-CCA857FF7FE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Exception Specification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Functions that don’t catch exceptions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Should "warn" users that it could throw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it won’t catch!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Should list such exceptions:</a:t>
            </a:r>
            <a:br>
              <a:rPr lang="en-US" sz="2800" smtClean="0"/>
            </a:br>
            <a:r>
              <a:rPr lang="en-US" sz="2400" smtClean="0"/>
              <a:t>double safeDivide(int top, int bottom)</a:t>
            </a:r>
            <a:br>
              <a:rPr lang="en-US" sz="2400" smtClean="0"/>
            </a:br>
            <a:r>
              <a:rPr lang="en-US" sz="2400" smtClean="0"/>
              <a:t>			throw (DividebyZero);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"exception specification" or "throw list"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Should be in declaration and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types listed handled "normally"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no throw list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all types considered there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BD08F350-EB78-442D-9D42-DC0672095AB5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Throw List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 exception thrown in function NOT in</a:t>
            </a:r>
            <a:br>
              <a:rPr lang="en-US" smtClean="0"/>
            </a:br>
            <a:r>
              <a:rPr lang="en-US" smtClean="0"/>
              <a:t>throw list:</a:t>
            </a:r>
          </a:p>
          <a:p>
            <a:pPr lvl="1" eaLnBrk="1" hangingPunct="1"/>
            <a:r>
              <a:rPr lang="en-US" smtClean="0"/>
              <a:t>No errors (compile or run-time)</a:t>
            </a:r>
          </a:p>
          <a:p>
            <a:pPr lvl="1" eaLnBrk="1" hangingPunct="1"/>
            <a:r>
              <a:rPr lang="en-US" smtClean="0"/>
              <a:t>Function unexpected() automatically called</a:t>
            </a:r>
          </a:p>
          <a:p>
            <a:pPr lvl="2" eaLnBrk="1" hangingPunct="1"/>
            <a:r>
              <a:rPr lang="en-US" smtClean="0"/>
              <a:t>Default behavior is to terminate</a:t>
            </a:r>
          </a:p>
          <a:p>
            <a:pPr lvl="2" eaLnBrk="1" hangingPunct="1"/>
            <a:r>
              <a:rPr lang="en-US" smtClean="0"/>
              <a:t>Can modify behavior</a:t>
            </a:r>
          </a:p>
          <a:p>
            <a:pPr eaLnBrk="1" hangingPunct="1"/>
            <a:r>
              <a:rPr lang="en-US" smtClean="0"/>
              <a:t>Same result if no catch-block found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D3D94EC0-D5BB-4D00-9C0F-F79F21320409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Throw List Summary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void someFunction()</a:t>
            </a:r>
            <a:br>
              <a:rPr lang="en-US" sz="2400" smtClean="0"/>
            </a:br>
            <a:r>
              <a:rPr lang="en-US" sz="2400" smtClean="0"/>
              <a:t>		throw(DividebyZero, OtherException);</a:t>
            </a:r>
            <a:br>
              <a:rPr lang="en-US" sz="2400" smtClean="0"/>
            </a:br>
            <a:r>
              <a:rPr lang="en-US" sz="2400" b="1" smtClean="0"/>
              <a:t>//Exception types DividebyZero or OtherException</a:t>
            </a:r>
            <a:br>
              <a:rPr lang="en-US" sz="2400" b="1" smtClean="0"/>
            </a:br>
            <a:r>
              <a:rPr lang="en-US" sz="2400" b="1" smtClean="0"/>
              <a:t>//treated normally.  All others invoke unexpected()</a:t>
            </a:r>
          </a:p>
          <a:p>
            <a:pPr eaLnBrk="1" hangingPunct="1"/>
            <a:r>
              <a:rPr lang="en-US" sz="2400" smtClean="0"/>
              <a:t>void someFunction() throw ();</a:t>
            </a:r>
            <a:br>
              <a:rPr lang="en-US" sz="2400" smtClean="0"/>
            </a:br>
            <a:r>
              <a:rPr lang="en-US" sz="2400" b="1" smtClean="0"/>
              <a:t>//Empty exception list, all exceptions invoke</a:t>
            </a:r>
            <a:br>
              <a:rPr lang="en-US" sz="2400" b="1" smtClean="0"/>
            </a:br>
            <a:r>
              <a:rPr lang="en-US" sz="2400" b="1" smtClean="0"/>
              <a:t>unexpected()</a:t>
            </a:r>
          </a:p>
          <a:p>
            <a:pPr eaLnBrk="1" hangingPunct="1"/>
            <a:r>
              <a:rPr lang="en-US" sz="2400" smtClean="0"/>
              <a:t>void someFunction();</a:t>
            </a:r>
            <a:br>
              <a:rPr lang="en-US" sz="2400" smtClean="0"/>
            </a:br>
            <a:r>
              <a:rPr lang="en-US" sz="2400" b="1" smtClean="0"/>
              <a:t>//All exceptions of all types treated normally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247A7A8F-7E5F-4D17-9675-2106BC5976DB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Derived Classes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Remember: derived class objects also</a:t>
            </a:r>
            <a:br>
              <a:rPr lang="en-US" sz="2800" smtClean="0"/>
            </a:br>
            <a:r>
              <a:rPr lang="en-US" sz="2800" smtClean="0"/>
              <a:t>objects of base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D is derived class of B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If B is in exception specification </a:t>
            </a:r>
            <a:r>
              <a:rPr lang="en-US" sz="2800" smtClean="0">
                <a:sym typeface="Wingdings" pitchFamily="2" charset="2"/>
              </a:rPr>
              <a:t>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Class D thrown objects will also be treated</a:t>
            </a:r>
            <a:br>
              <a:rPr lang="en-US" sz="2400" smtClean="0"/>
            </a:br>
            <a:r>
              <a:rPr lang="en-US" sz="2400" smtClean="0"/>
              <a:t>normally, since it’s also object of class B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Note: does not do automatic type cast: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double will not account for throwing an int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222DEF5B-4141-4F81-A52A-C2224ED5E96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unexpected()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Default action: terminates program</a:t>
            </a:r>
          </a:p>
          <a:p>
            <a:pPr lvl="1" eaLnBrk="1" hangingPunct="1"/>
            <a:r>
              <a:rPr lang="en-US" smtClean="0"/>
              <a:t>No special includes or using directives</a:t>
            </a:r>
          </a:p>
          <a:p>
            <a:pPr eaLnBrk="1" hangingPunct="1"/>
            <a:r>
              <a:rPr lang="en-US" smtClean="0"/>
              <a:t>Normally no need to redefine</a:t>
            </a:r>
          </a:p>
          <a:p>
            <a:pPr eaLnBrk="1" hangingPunct="1"/>
            <a:r>
              <a:rPr lang="en-US" smtClean="0"/>
              <a:t>But you can:</a:t>
            </a:r>
          </a:p>
          <a:p>
            <a:pPr lvl="1" eaLnBrk="1" hangingPunct="1"/>
            <a:r>
              <a:rPr lang="en-US" smtClean="0"/>
              <a:t>Use set_unexpected</a:t>
            </a:r>
          </a:p>
          <a:p>
            <a:pPr lvl="1" eaLnBrk="1" hangingPunct="1"/>
            <a:r>
              <a:rPr lang="en-US" smtClean="0"/>
              <a:t>Consult compiler manual or advanced</a:t>
            </a:r>
            <a:br>
              <a:rPr lang="en-US" smtClean="0"/>
            </a:br>
            <a:r>
              <a:rPr lang="en-US" smtClean="0"/>
              <a:t>text for details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2236A886-843B-4CAE-B078-A94D0517DD91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When to Throw Exceptions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Typical to separate throws and catches</a:t>
            </a:r>
          </a:p>
          <a:p>
            <a:pPr lvl="1" eaLnBrk="1" hangingPunct="1"/>
            <a:r>
              <a:rPr lang="en-US" sz="2400" smtClean="0"/>
              <a:t>In separate functions</a:t>
            </a:r>
          </a:p>
          <a:p>
            <a:pPr eaLnBrk="1" hangingPunct="1"/>
            <a:r>
              <a:rPr lang="en-US" sz="2800" smtClean="0"/>
              <a:t>Throwing function:</a:t>
            </a:r>
          </a:p>
          <a:p>
            <a:pPr lvl="1" eaLnBrk="1" hangingPunct="1"/>
            <a:r>
              <a:rPr lang="en-US" sz="2400" smtClean="0"/>
              <a:t>Include throw statements in definition</a:t>
            </a:r>
          </a:p>
          <a:p>
            <a:pPr lvl="1" eaLnBrk="1" hangingPunct="1"/>
            <a:r>
              <a:rPr lang="en-US" sz="2400" smtClean="0"/>
              <a:t>List exceptions in throw list</a:t>
            </a:r>
          </a:p>
          <a:p>
            <a:pPr lvl="2" eaLnBrk="1" hangingPunct="1"/>
            <a:r>
              <a:rPr lang="en-US" sz="2000" smtClean="0"/>
              <a:t>In both declaration and definition</a:t>
            </a:r>
          </a:p>
          <a:p>
            <a:pPr eaLnBrk="1" hangingPunct="1"/>
            <a:r>
              <a:rPr lang="en-US" sz="2800" smtClean="0"/>
              <a:t>Catching function:</a:t>
            </a:r>
          </a:p>
          <a:p>
            <a:pPr lvl="1" eaLnBrk="1" hangingPunct="1"/>
            <a:r>
              <a:rPr lang="en-US" sz="2400" smtClean="0"/>
              <a:t>Different function, perhaps even in different file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468346BA-907E-4885-BD9C-1F4693E56B7F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Preferred throw-catch Triad: throw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void functionA() throw (MyException)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	…</a:t>
            </a:r>
            <a:br>
              <a:rPr lang="en-US" smtClean="0"/>
            </a:br>
            <a:r>
              <a:rPr lang="en-US" smtClean="0"/>
              <a:t>	throw MyException(arg);</a:t>
            </a:r>
            <a:br>
              <a:rPr lang="en-US" smtClean="0"/>
            </a:br>
            <a:r>
              <a:rPr lang="en-US" smtClean="0"/>
              <a:t>	…</a:t>
            </a:r>
            <a:br>
              <a:rPr lang="en-US" smtClean="0"/>
            </a:br>
            <a:r>
              <a:rPr lang="en-US" smtClean="0"/>
              <a:t>}</a:t>
            </a:r>
            <a:br>
              <a:rPr lang="en-US" smtClean="0"/>
            </a:br>
            <a:endParaRPr lang="en-US" smtClean="0"/>
          </a:p>
          <a:p>
            <a:pPr eaLnBrk="1" hangingPunct="1"/>
            <a:r>
              <a:rPr lang="en-US" smtClean="0"/>
              <a:t>Function throws exception as needed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EB24FCBD-5F4F-46C9-A4FE-F4BA0C6BDCA4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Preferred throw-catch Triad: catch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400" smtClean="0"/>
              <a:t>Then some other function:</a:t>
            </a:r>
            <a:br>
              <a:rPr lang="en-US" sz="2400" smtClean="0"/>
            </a:br>
            <a:r>
              <a:rPr lang="en-US" sz="2000" smtClean="0"/>
              <a:t>void functionB()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…</a:t>
            </a:r>
            <a:br>
              <a:rPr lang="en-US" sz="2000" smtClean="0"/>
            </a:br>
            <a:r>
              <a:rPr lang="en-US" sz="2000" smtClean="0"/>
              <a:t>	try</a:t>
            </a:r>
            <a:br>
              <a:rPr lang="en-US" sz="2000" smtClean="0"/>
            </a:br>
            <a:r>
              <a:rPr lang="en-US" sz="2000" smtClean="0"/>
              <a:t>	{</a:t>
            </a:r>
            <a:br>
              <a:rPr lang="en-US" sz="2000" smtClean="0"/>
            </a:br>
            <a:r>
              <a:rPr lang="en-US" sz="2000" smtClean="0"/>
              <a:t>		…</a:t>
            </a:r>
            <a:br>
              <a:rPr lang="en-US" sz="2000" smtClean="0"/>
            </a:br>
            <a:r>
              <a:rPr lang="en-US" sz="2000" smtClean="0"/>
              <a:t>		functionA();</a:t>
            </a:r>
            <a:br>
              <a:rPr lang="en-US" sz="2000" smtClean="0"/>
            </a:br>
            <a:r>
              <a:rPr lang="en-US" sz="2000" smtClean="0"/>
              <a:t>		…</a:t>
            </a:r>
            <a:br>
              <a:rPr lang="en-US" sz="2000" smtClean="0"/>
            </a:br>
            <a:r>
              <a:rPr lang="en-US" sz="2000" smtClean="0"/>
              <a:t>	}</a:t>
            </a:r>
            <a:br>
              <a:rPr lang="en-US" sz="2000" smtClean="0"/>
            </a:br>
            <a:r>
              <a:rPr lang="en-US" sz="2000" smtClean="0"/>
              <a:t>	catch (MyException e)</a:t>
            </a:r>
            <a:br>
              <a:rPr lang="en-US" sz="2000" smtClean="0"/>
            </a:br>
            <a:r>
              <a:rPr lang="en-US" sz="2000" smtClean="0"/>
              <a:t>	{ // Handle exception </a:t>
            </a:r>
            <a:br>
              <a:rPr lang="en-US" sz="2000" smtClean="0"/>
            </a:br>
            <a:r>
              <a:rPr lang="en-US" sz="2000" smtClean="0"/>
              <a:t>	}</a:t>
            </a:r>
            <a:br>
              <a:rPr lang="en-US" sz="2000" smtClean="0"/>
            </a:br>
            <a:r>
              <a:rPr lang="en-US" sz="2000" smtClean="0"/>
              <a:t>	…</a:t>
            </a:r>
            <a:br>
              <a:rPr lang="en-US" sz="2000" smtClean="0"/>
            </a:br>
            <a:r>
              <a:rPr lang="en-US" sz="2000" smtClean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463BE3D3-E246-42DC-BE31-0E786F3861A7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Uncaught Exceptions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Should catch every exception thrown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If not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program terminates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terminate() is called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Recall for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exception not in throw list: unexpected()</a:t>
            </a:r>
            <a:br>
              <a:rPr lang="en-US" smtClean="0"/>
            </a:br>
            <a:r>
              <a:rPr lang="en-US" smtClean="0"/>
              <a:t>is called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It in turn calls terminate()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So same result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A4930DB2-D257-409F-8600-6D80807DBE37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Overuse of Exceptions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Exceptions alter flow of control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Similar to old "goto" construct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"Unrestricted" flow of control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Should be used sparingly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Good rule: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desire a "throw": consider how to write</a:t>
            </a:r>
            <a:br>
              <a:rPr lang="en-US" smtClean="0"/>
            </a:br>
            <a:r>
              <a:rPr lang="en-US" smtClean="0"/>
              <a:t>program without throw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alternative reasonable </a:t>
            </a:r>
            <a:r>
              <a:rPr lang="en-US" smtClean="0">
                <a:sym typeface="Wingdings" pitchFamily="2" charset="2"/>
              </a:rPr>
              <a:t></a:t>
            </a:r>
            <a:r>
              <a:rPr lang="en-US" smtClean="0"/>
              <a:t> do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CA867EE9-4F41-4B51-A1E7-71C122B9B838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Exception Class Hierarchies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mtClean="0"/>
              <a:t>Useful to have; consider:</a:t>
            </a:r>
            <a:br>
              <a:rPr lang="en-US" smtClean="0"/>
            </a:br>
            <a:r>
              <a:rPr lang="en-US" sz="2800" smtClean="0"/>
              <a:t>DivideByZero class derives from:</a:t>
            </a:r>
            <a:br>
              <a:rPr lang="en-US" sz="2800" smtClean="0"/>
            </a:br>
            <a:r>
              <a:rPr lang="en-US" sz="2800" smtClean="0"/>
              <a:t>	ArithmeticError exception class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All catch-blocks for ArithmeticError also</a:t>
            </a:r>
            <a:br>
              <a:rPr lang="en-US" smtClean="0"/>
            </a:br>
            <a:r>
              <a:rPr lang="en-US" smtClean="0"/>
              <a:t>catch DivideByZero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If ArithmeticError in throw list, then</a:t>
            </a:r>
            <a:br>
              <a:rPr lang="en-US" smtClean="0"/>
            </a:br>
            <a:r>
              <a:rPr lang="en-US" smtClean="0"/>
              <a:t>DividebyZero also considered there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718DEBCE-B1C4-433D-B02C-6098213BCD14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Testing Available Memory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new operator throws bad_alloc exception</a:t>
            </a:r>
            <a:br>
              <a:rPr lang="en-US" sz="2800" smtClean="0"/>
            </a:br>
            <a:r>
              <a:rPr lang="en-US" sz="2800" smtClean="0"/>
              <a:t>if insufficient memory:</a:t>
            </a:r>
            <a:br>
              <a:rPr lang="en-US" sz="2800" smtClean="0"/>
            </a:br>
            <a:r>
              <a:rPr lang="en-US" sz="2400" smtClean="0"/>
              <a:t>try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NodePtr pointer = new Node;</a:t>
            </a:r>
            <a:br>
              <a:rPr lang="en-US" sz="2400" smtClean="0"/>
            </a:br>
            <a:r>
              <a:rPr lang="en-US" sz="2400" smtClean="0"/>
              <a:t>}</a:t>
            </a:r>
            <a:br>
              <a:rPr lang="en-US" sz="2400" smtClean="0"/>
            </a:br>
            <a:r>
              <a:rPr lang="en-US" sz="2400" smtClean="0"/>
              <a:t>catch (bad_alloc)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cout &lt;&lt; "Ran out of memory!";</a:t>
            </a:r>
            <a:br>
              <a:rPr lang="en-US" sz="2400" smtClean="0"/>
            </a:br>
            <a:r>
              <a:rPr lang="en-US" sz="2400" smtClean="0"/>
              <a:t>	// Can do other things here as well…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In library &lt;new&gt;, std namespace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E8D90762-CB1B-4DCD-828C-3D37DF83133B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Rethrowing an Exception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Legal to throw exception IN catch-block!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Typically only in rare cases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Throws to catch-block "farther up chain"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Can re-throw same or new exception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rethrow; 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Throws same exception again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throw newExceptionUp;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Throws new exception to next catch-block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2203DE1C-BB57-49CC-925B-7D8F5031F69D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Exception handling allows separation of</a:t>
            </a:r>
            <a:br>
              <a:rPr lang="en-US" sz="2800" smtClean="0"/>
            </a:br>
            <a:r>
              <a:rPr lang="en-US" sz="2800" smtClean="0"/>
              <a:t>"normal" cases and "exceptional" cases</a:t>
            </a:r>
          </a:p>
          <a:p>
            <a:pPr eaLnBrk="1" hangingPunct="1"/>
            <a:r>
              <a:rPr lang="en-US" sz="2800" smtClean="0"/>
              <a:t>Exceptions thrown in try-block</a:t>
            </a:r>
          </a:p>
          <a:p>
            <a:pPr lvl="1" eaLnBrk="1" hangingPunct="1"/>
            <a:r>
              <a:rPr lang="en-US" sz="2400" smtClean="0"/>
              <a:t>Or within a function whose call is in try-block</a:t>
            </a:r>
          </a:p>
          <a:p>
            <a:pPr eaLnBrk="1" hangingPunct="1"/>
            <a:r>
              <a:rPr lang="en-US" sz="2800" smtClean="0"/>
              <a:t>Exceptions caught in catch-block</a:t>
            </a:r>
          </a:p>
          <a:p>
            <a:pPr eaLnBrk="1" hangingPunct="1"/>
            <a:r>
              <a:rPr lang="en-US" sz="2800" smtClean="0"/>
              <a:t>try-blocks typically followed by more than</a:t>
            </a:r>
            <a:br>
              <a:rPr lang="en-US" sz="2800" smtClean="0"/>
            </a:br>
            <a:r>
              <a:rPr lang="en-US" sz="2800" smtClean="0"/>
              <a:t>one catch-block</a:t>
            </a:r>
          </a:p>
          <a:p>
            <a:pPr lvl="1" eaLnBrk="1" hangingPunct="1"/>
            <a:r>
              <a:rPr lang="en-US" sz="2400" smtClean="0"/>
              <a:t>List more specific exceptions first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313F8B28-3550-47AB-B06C-A7F2360666E4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Best used with separate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Especially considering callers might </a:t>
            </a:r>
            <a:br>
              <a:rPr lang="en-US" sz="2400" smtClean="0"/>
            </a:br>
            <a:r>
              <a:rPr lang="en-US" sz="2400" smtClean="0"/>
              <a:t>handle differently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Exceptions thrown in but not caught in</a:t>
            </a:r>
            <a:br>
              <a:rPr lang="en-US" sz="2800" smtClean="0"/>
            </a:br>
            <a:r>
              <a:rPr lang="en-US" sz="2800" smtClean="0"/>
              <a:t>function, should be listed in throw list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Exceptions thrown but never caught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/>
            </a:r>
            <a:br>
              <a:rPr lang="en-US" sz="2800" smtClean="0"/>
            </a:br>
            <a:r>
              <a:rPr lang="en-US" sz="2800" smtClean="0"/>
              <a:t>program terminates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Resist overuse of exceptions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Unrestricted flow of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18-</a:t>
            </a:r>
            <a:fld id="{E6D171A0-D080-4EC1-A387-D78706ACA14C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1566</Words>
  <Application>Microsoft Office PowerPoint</Application>
  <PresentationFormat>On-screen Show (4:3)</PresentationFormat>
  <Paragraphs>322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36</vt:i4>
      </vt:variant>
    </vt:vector>
  </HeadingPairs>
  <TitlesOfParts>
    <vt:vector size="52" baseType="lpstr">
      <vt:lpstr>Arial</vt:lpstr>
      <vt:lpstr>Calibri</vt:lpstr>
      <vt:lpstr>Wingdings</vt:lpstr>
      <vt:lpstr>Times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18</vt:lpstr>
      <vt:lpstr>Learning Objectives</vt:lpstr>
      <vt:lpstr>Introduction</vt:lpstr>
      <vt:lpstr>Exception-Handling Basics</vt:lpstr>
      <vt:lpstr>Toy Example</vt:lpstr>
      <vt:lpstr>Toy Example if-else</vt:lpstr>
      <vt:lpstr>Toy Example with Exception Handling: Display 18.2  Same Thing Using  Exception Handling</vt:lpstr>
      <vt:lpstr>Toy Example Discussion</vt:lpstr>
      <vt:lpstr>Toy Example try-catch</vt:lpstr>
      <vt:lpstr>try block</vt:lpstr>
      <vt:lpstr>throw</vt:lpstr>
      <vt:lpstr>catch-block</vt:lpstr>
      <vt:lpstr>catch-block More</vt:lpstr>
      <vt:lpstr>catch-block Parameter</vt:lpstr>
      <vt:lpstr>Defining Exception Classes</vt:lpstr>
      <vt:lpstr>Exception Class for Toy Example</vt:lpstr>
      <vt:lpstr>Multiple Throws and Catches</vt:lpstr>
      <vt:lpstr>Catching</vt:lpstr>
      <vt:lpstr>Trivial Exception Classes</vt:lpstr>
      <vt:lpstr>Throwing Exception in Function</vt:lpstr>
      <vt:lpstr>Throwing Exception  in Function Example</vt:lpstr>
      <vt:lpstr>Exception Specification</vt:lpstr>
      <vt:lpstr>Throw List</vt:lpstr>
      <vt:lpstr>Throw List Summary</vt:lpstr>
      <vt:lpstr>Derived Classes</vt:lpstr>
      <vt:lpstr>unexpected()</vt:lpstr>
      <vt:lpstr>When to Throw Exceptions</vt:lpstr>
      <vt:lpstr>Preferred throw-catch Triad: throw</vt:lpstr>
      <vt:lpstr>Preferred throw-catch Triad: catch</vt:lpstr>
      <vt:lpstr>Uncaught Exceptions</vt:lpstr>
      <vt:lpstr>Overuse of Exceptions</vt:lpstr>
      <vt:lpstr>Exception Class Hierarchies</vt:lpstr>
      <vt:lpstr>Testing Available Memory</vt:lpstr>
      <vt:lpstr>Rethrowing an Exception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15</cp:revision>
  <dcterms:created xsi:type="dcterms:W3CDTF">2006-08-16T00:00:00Z</dcterms:created>
  <dcterms:modified xsi:type="dcterms:W3CDTF">2012-05-08T14:09:33Z</dcterms:modified>
</cp:coreProperties>
</file>