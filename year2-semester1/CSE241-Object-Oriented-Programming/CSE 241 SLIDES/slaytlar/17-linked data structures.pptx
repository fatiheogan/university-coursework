
<file path=[Content_Types].xml><?xml version="1.0" encoding="utf-8"?>
<Types xmlns="http://schemas.openxmlformats.org/package/2006/content-types">
  <Override PartName="/ppt/slides/slide47.xml" ContentType="application/vnd.openxmlformats-officedocument.presentationml.slide+xml"/>
  <Override PartName="/ppt/slides/slide58.xml" ContentType="application/vnd.openxmlformats-officedocument.presentationml.slide+xml"/>
  <Override PartName="/ppt/notesSlides/notesSlide2.xml" ContentType="application/vnd.openxmlformats-officedocument.presentationml.notesSlide+xml"/>
  <Override PartName="/ppt/tags/tag8.xml" ContentType="application/vnd.openxmlformats-officedocument.presentationml.tags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36.xml" ContentType="application/vnd.openxmlformats-officedocument.presentationml.slide+xml"/>
  <Override PartName="/ppt/slides/slide54.xml" ContentType="application/vnd.openxmlformats-officedocument.presentationml.slide+xml"/>
  <Override PartName="/ppt/slides/slide65.xml" ContentType="application/vnd.openxmlformats-officedocument.presentationml.slide+xml"/>
  <Override PartName="/ppt/slideLayouts/slideLayout6.xml" ContentType="application/vnd.openxmlformats-officedocument.presentationml.slideLayout+xml"/>
  <Override PartName="/ppt/tags/tag4.xml" ContentType="application/vnd.openxmlformats-officedocument.presentationml.tags+xml"/>
  <Override PartName="/ppt/notesSlides/notesSlide3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67.xml" ContentType="application/vnd.openxmlformats-officedocument.presentationml.notesSlide+xml"/>
  <Override PartName="/ppt/slides/slide25.xml" ContentType="application/vnd.openxmlformats-officedocument.presentationml.slide+xml"/>
  <Override PartName="/ppt/slides/slide43.xml" ContentType="application/vnd.openxmlformats-officedocument.presentationml.slide+xml"/>
  <Override PartName="/ppt/slides/slide7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27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74.xml" ContentType="application/vnd.openxmlformats-officedocument.presentationml.notesSlide+xml"/>
  <Default Extension="xml" ContentType="application/xml"/>
  <Override PartName="/ppt/slides/slide14.xml" ContentType="application/vnd.openxmlformats-officedocument.presentationml.slide+xml"/>
  <Override PartName="/ppt/slides/slide32.xml" ContentType="application/vnd.openxmlformats-officedocument.presentationml.slide+xml"/>
  <Override PartName="/ppt/slides/slide50.xml" ContentType="application/vnd.openxmlformats-officedocument.presentationml.slide+xml"/>
  <Override PartName="/ppt/slides/slide61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63.xml" ContentType="application/vnd.openxmlformats-officedocument.presentationml.notesSlide+xml"/>
  <Override PartName="/ppt/slides/slide1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notesSlides/notesSlide23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7.xml" ContentType="application/vnd.openxmlformats-officedocument.presentationml.notesSlide+xml"/>
  <Override PartName="/ppt/slides/slide9.xml" ContentType="application/vnd.openxmlformats-officedocument.presentationml.slide+xml"/>
  <Override PartName="/ppt/slides/slide59.xml" ContentType="application/vnd.openxmlformats-officedocument.presentationml.slide+xml"/>
  <Override PartName="/ppt/slides/slide77.xml" ContentType="application/vnd.openxmlformats-officedocument.presentationml.slide+xml"/>
  <Override PartName="/ppt/viewProps.xml" ContentType="application/vnd.openxmlformats-officedocument.presentationml.viewProps+xml"/>
  <Override PartName="/ppt/tags/tag9.xml" ContentType="application/vnd.openxmlformats-officedocument.presentationml.tag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48.xml" ContentType="application/vnd.openxmlformats-officedocument.presentationml.slide+xml"/>
  <Override PartName="/ppt/slides/slide66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3.xml" ContentType="application/vnd.openxmlformats-officedocument.presentationml.notesSlide+xml"/>
  <Default Extension="png" ContentType="image/png"/>
  <Override PartName="/ppt/notesSlides/notesSlide68.xml" ContentType="application/vnd.openxmlformats-officedocument.presentationml.notesSlide+xml"/>
  <Override PartName="/ppt/notesSlides/notesSlide79.xml" ContentType="application/vnd.openxmlformats-officedocument.presentationml.notes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55.xml" ContentType="application/vnd.openxmlformats-officedocument.presentationml.slide+xml"/>
  <Override PartName="/ppt/slides/slide73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tags/tag5.xml" ContentType="application/vnd.openxmlformats-officedocument.presentationml.tags+xml"/>
  <Override PartName="/ppt/notesSlides/notesSlide39.xml" ContentType="application/vnd.openxmlformats-officedocument.presentationml.notesSlide+xml"/>
  <Override PartName="/ppt/notesSlides/notesSlide57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33.xml" ContentType="application/vnd.openxmlformats-officedocument.presentationml.slide+xml"/>
  <Override PartName="/ppt/slides/slide44.xml" ContentType="application/vnd.openxmlformats-officedocument.presentationml.slide+xml"/>
  <Override PartName="/ppt/slides/slide62.xml" ContentType="application/vnd.openxmlformats-officedocument.presentationml.slide+xml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75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22.xml" ContentType="application/vnd.openxmlformats-officedocument.presentationml.slide+xml"/>
  <Override PartName="/ppt/slides/slide51.xml" ContentType="application/vnd.openxmlformats-officedocument.presentationml.slide+xml"/>
  <Override PartName="/ppt/tags/tag1.xml" ContentType="application/vnd.openxmlformats-officedocument.presentationml.tags+xml"/>
  <Override PartName="/ppt/notesSlides/notesSlide2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71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40.xml" ContentType="application/vnd.openxmlformats-officedocument.presentationml.slide+xml"/>
  <Override PartName="/ppt/notesSlides/notesSlide13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60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1.xml" ContentType="application/vnd.openxmlformats-officedocument.presentationml.notesSlide+xml"/>
  <Override PartName="/ppt/slides/slide49.xml" ContentType="application/vnd.openxmlformats-officedocument.presentationml.slide+xml"/>
  <Override PartName="/ppt/slides/slide78.xml" ContentType="application/vnd.openxmlformats-officedocument.presentationml.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s/slide38.xml" ContentType="application/vnd.openxmlformats-officedocument.presentationml.slide+xml"/>
  <Override PartName="/ppt/slides/slide56.xml" ContentType="application/vnd.openxmlformats-officedocument.presentationml.slide+xml"/>
  <Override PartName="/ppt/slides/slide67.xml" ContentType="application/vnd.openxmlformats-officedocument.presentationml.slide+xml"/>
  <Override PartName="/ppt/slideLayouts/slideLayout8.xml" ContentType="application/vnd.openxmlformats-officedocument.presentationml.slideLayout+xml"/>
  <Override PartName="/ppt/tags/tag6.xml" ContentType="application/vnd.openxmlformats-officedocument.presentationml.tags+xml"/>
  <Override PartName="/ppt/notesSlides/notesSlide69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s/slide45.xml" ContentType="application/vnd.openxmlformats-officedocument.presentationml.slide+xml"/>
  <Override PartName="/ppt/slides/slide74.xml" ContentType="application/vnd.openxmlformats-officedocument.presentationml.slide+xml"/>
  <Override PartName="/ppt/slideLayouts/slideLayout4.xml" ContentType="application/vnd.openxmlformats-officedocument.presentationml.slideLayout+xml"/>
  <Override PartName="/ppt/notesSlides/notesSlide29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76.xml" ContentType="application/vnd.openxmlformats-officedocument.presentationml.notesSlid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34.xml" ContentType="application/vnd.openxmlformats-officedocument.presentationml.slide+xml"/>
  <Override PartName="/ppt/slides/slide52.xml" ContentType="application/vnd.openxmlformats-officedocument.presentationml.slide+xml"/>
  <Override PartName="/ppt/slides/slide63.xml" ContentType="application/vnd.openxmlformats-officedocument.presentationml.slide+xml"/>
  <Override PartName="/ppt/tags/tag2.xml" ContentType="application/vnd.openxmlformats-officedocument.presentationml.tags+xml"/>
  <Override PartName="/ppt/notesSlides/notesSlide18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65.xml" ContentType="application/vnd.openxmlformats-officedocument.presentationml.notesSlide+xml"/>
  <Default Extension="wmf" ContentType="image/x-wmf"/>
  <Default Extension="rels" ContentType="application/vnd.openxmlformats-package.relationships+xml"/>
  <Override PartName="/ppt/slides/slide23.xml" ContentType="application/vnd.openxmlformats-officedocument.presentationml.slide+xml"/>
  <Override PartName="/ppt/slides/slide41.xml" ContentType="application/vnd.openxmlformats-officedocument.presentationml.slide+xml"/>
  <Override PartName="/ppt/slides/slide70.xml" ContentType="application/vnd.openxmlformats-officedocument.presentationml.slide+xml"/>
  <Override PartName="/ppt/notesSlides/notesSlide25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72.xml" ContentType="application/vnd.openxmlformats-officedocument.presentationml.notesSlide+xml"/>
  <Override PartName="/ppt/slides/slide12.xml" ContentType="application/vnd.openxmlformats-officedocument.presentationml.slide+xml"/>
  <Override PartName="/ppt/slides/slide30.xml" ContentType="application/vnd.openxmlformats-officedocument.presentationml.slide+xml"/>
  <Override PartName="/ppt/slideLayouts/slideLayout11.xml" ContentType="application/vnd.openxmlformats-officedocument.presentationml.slideLayout+xml"/>
  <Override PartName="/ppt/notesSlides/notesSlide14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50.xml" ContentType="application/vnd.openxmlformats-officedocument.presentationml.notesSlide+xml"/>
  <Override PartName="/ppt/slides/slide79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68.xml" ContentType="application/vnd.openxmlformats-officedocument.presentationml.slide+xml"/>
  <Override PartName="/ppt/slideLayouts/slideLayout9.xml" ContentType="application/vnd.openxmlformats-officedocument.presentationml.slideLayout+xml"/>
  <Override PartName="/ppt/notesSlides/notesSlide5.xml" ContentType="application/vnd.openxmlformats-officedocument.presentationml.notes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57.xml" ContentType="application/vnd.openxmlformats-officedocument.presentationml.slide+xml"/>
  <Override PartName="/ppt/slides/slide75.xml" ContentType="application/vnd.openxmlformats-officedocument.presentationml.slide+xml"/>
  <Override PartName="/ppt/notesSlides/notesSlide1.xml" ContentType="application/vnd.openxmlformats-officedocument.presentationml.notesSlide+xml"/>
  <Override PartName="/ppt/tags/tag7.xml" ContentType="application/vnd.openxmlformats-officedocument.presentationml.tags+xml"/>
  <Override PartName="/ppt/notesSlides/notesSlide59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46.xml" ContentType="application/vnd.openxmlformats-officedocument.presentationml.slide+xml"/>
  <Override PartName="/ppt/slides/slide64.xml" ContentType="application/vnd.openxmlformats-officedocument.presentationml.slide+xml"/>
  <Override PartName="/ppt/slideLayouts/slideLayout5.xml" ContentType="application/vnd.openxmlformats-officedocument.presentationml.slideLayout+xml"/>
  <Override PartName="/ppt/notesSlides/notesSlide19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77.xml" ContentType="application/vnd.openxmlformats-officedocument.presentationml.notesSlide+xml"/>
  <Override PartName="/ppt/slides/slide24.xml" ContentType="application/vnd.openxmlformats-officedocument.presentationml.slide+xml"/>
  <Override PartName="/ppt/slides/slide35.xml" ContentType="application/vnd.openxmlformats-officedocument.presentationml.slide+xml"/>
  <Override PartName="/ppt/slides/slide53.xml" ContentType="application/vnd.openxmlformats-officedocument.presentationml.slide+xml"/>
  <Override PartName="/ppt/slides/slide71.xml" ContentType="application/vnd.openxmlformats-officedocument.presentationml.slide+xml"/>
  <Default Extension="jpeg" ContentType="image/jpeg"/>
  <Override PartName="/ppt/tags/tag3.xml" ContentType="application/vnd.openxmlformats-officedocument.presentationml.tags+xml"/>
  <Override PartName="/ppt/notesSlides/notesSlide37.xml" ContentType="application/vnd.openxmlformats-officedocument.presentationml.notesSlide+xml"/>
  <Override PartName="/ppt/notesSlides/notesSlide55.xml" ContentType="application/vnd.openxmlformats-officedocument.presentationml.notesSlide+xml"/>
  <Override PartName="/ppt/slides/slide13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60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73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6.xml" ContentType="application/vnd.openxmlformats-officedocument.presentationml.notesSlide+xml"/>
  <Override PartName="/ppt/slides/slide8.xml" ContentType="application/vnd.openxmlformats-officedocument.presentationml.slide+xml"/>
  <Override PartName="/ppt/slides/slide69.xml" ContentType="application/vnd.openxmlformats-officedocument.presentationml.slide+xml"/>
  <Override PartName="/ppt/slides/slide29.xml" ContentType="application/vnd.openxmlformats-officedocument.presentationml.slide+xml"/>
  <Override PartName="/ppt/slides/slide76.xml" ContentType="application/vnd.openxmlformats-officedocument.presentationml.slide+xml"/>
  <Override PartName="/ppt/notesSlides/notesSlide78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8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307" r:id="rId25"/>
    <p:sldId id="308" r:id="rId26"/>
    <p:sldId id="309" r:id="rId27"/>
    <p:sldId id="310" r:id="rId28"/>
    <p:sldId id="311" r:id="rId29"/>
    <p:sldId id="312" r:id="rId30"/>
    <p:sldId id="313" r:id="rId31"/>
    <p:sldId id="279" r:id="rId32"/>
    <p:sldId id="280" r:id="rId33"/>
    <p:sldId id="281" r:id="rId34"/>
    <p:sldId id="282" r:id="rId35"/>
    <p:sldId id="283" r:id="rId36"/>
    <p:sldId id="284" r:id="rId37"/>
    <p:sldId id="285" r:id="rId38"/>
    <p:sldId id="286" r:id="rId39"/>
    <p:sldId id="287" r:id="rId40"/>
    <p:sldId id="288" r:id="rId41"/>
    <p:sldId id="289" r:id="rId42"/>
    <p:sldId id="290" r:id="rId43"/>
    <p:sldId id="291" r:id="rId44"/>
    <p:sldId id="314" r:id="rId45"/>
    <p:sldId id="315" r:id="rId46"/>
    <p:sldId id="324" r:id="rId47"/>
    <p:sldId id="316" r:id="rId48"/>
    <p:sldId id="317" r:id="rId49"/>
    <p:sldId id="318" r:id="rId50"/>
    <p:sldId id="319" r:id="rId51"/>
    <p:sldId id="320" r:id="rId52"/>
    <p:sldId id="321" r:id="rId53"/>
    <p:sldId id="322" r:id="rId54"/>
    <p:sldId id="323" r:id="rId55"/>
    <p:sldId id="325" r:id="rId56"/>
    <p:sldId id="326" r:id="rId57"/>
    <p:sldId id="327" r:id="rId58"/>
    <p:sldId id="328" r:id="rId59"/>
    <p:sldId id="329" r:id="rId60"/>
    <p:sldId id="330" r:id="rId61"/>
    <p:sldId id="331" r:id="rId62"/>
    <p:sldId id="332" r:id="rId63"/>
    <p:sldId id="333" r:id="rId64"/>
    <p:sldId id="334" r:id="rId65"/>
    <p:sldId id="292" r:id="rId66"/>
    <p:sldId id="293" r:id="rId67"/>
    <p:sldId id="294" r:id="rId68"/>
    <p:sldId id="295" r:id="rId69"/>
    <p:sldId id="296" r:id="rId70"/>
    <p:sldId id="297" r:id="rId71"/>
    <p:sldId id="298" r:id="rId72"/>
    <p:sldId id="299" r:id="rId73"/>
    <p:sldId id="300" r:id="rId74"/>
    <p:sldId id="301" r:id="rId75"/>
    <p:sldId id="302" r:id="rId76"/>
    <p:sldId id="303" r:id="rId77"/>
    <p:sldId id="304" r:id="rId78"/>
    <p:sldId id="305" r:id="rId79"/>
    <p:sldId id="306" r:id="rId8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101" d="100"/>
          <a:sy n="101" d="100"/>
        </p:scale>
        <p:origin x="834" y="13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6" Type="http://schemas.openxmlformats.org/officeDocument/2006/relationships/slide" Target="slides/slide75.xml"/><Relationship Id="rId84" Type="http://schemas.openxmlformats.org/officeDocument/2006/relationships/theme" Target="theme/theme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presProps" Target="presProps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CE9E88C0-1CC2-42F4-A48F-11E8D663CCD6}" type="datetimeFigureOut">
              <a:rPr lang="en-US"/>
              <a:pPr>
                <a:defRPr/>
              </a:pPr>
              <a:t>5/8/2012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570F96D6-0A1F-48D4-A3A0-46DE9B20309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5362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66564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84104281-02D8-43CD-BCCB-EBEF7BA15378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</a:t>
            </a:fld>
            <a:endParaRPr lang="en-US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7410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67588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95B8DB0C-7C14-433B-A9AF-D594E9FEA76C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</a:t>
            </a:fld>
            <a:endParaRPr lang="en-CA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9458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68612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AA860A6A-FE52-4C09-A3E3-CDB49E3C255E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3</a:t>
            </a:fld>
            <a:endParaRPr lang="en-CA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150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69636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AD5FB5EA-5E13-4E25-9720-C435B7DE2024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4</a:t>
            </a:fld>
            <a:endParaRPr lang="en-CA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355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70660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EFAADD0F-604A-46B8-81BA-8E676C9C1AD9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5</a:t>
            </a:fld>
            <a:endParaRPr lang="en-CA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5602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71684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C0E8A01C-F69C-4D15-A4D8-E8F7998AA726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6</a:t>
            </a:fld>
            <a:endParaRPr lang="en-CA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7650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72708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C0620193-D562-4B1F-BADD-D8A99429349A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7</a:t>
            </a:fld>
            <a:endParaRPr lang="en-CA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9698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73732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8CF5A343-89D0-4FD4-B688-ED357F87B900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8</a:t>
            </a:fld>
            <a:endParaRPr lang="en-CA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174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74756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1F23D8FD-F879-4D9B-892B-FF34BEBEBCAA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9</a:t>
            </a:fld>
            <a:endParaRPr lang="en-CA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379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75780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2A52E75A-255D-4AF5-B291-A4ABD0126379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10</a:t>
            </a:fld>
            <a:endParaRPr lang="en-CA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5842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76804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9DEE9331-CF43-45A0-A213-45943AD19201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11</a:t>
            </a:fld>
            <a:endParaRPr lang="en-CA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7890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77828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A7FCD2FB-302D-4BF1-B5DF-972A39F6901B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12</a:t>
            </a:fld>
            <a:endParaRPr lang="en-CA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9938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78852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B839CA36-1098-4E97-BD44-AE0E184A3681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13</a:t>
            </a:fld>
            <a:endParaRPr lang="en-CA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19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79876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801E5ECF-8989-4BA3-BEE3-68E314707685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14</a:t>
            </a:fld>
            <a:endParaRPr lang="en-CA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40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80900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7FA43D3D-44B2-4655-A3FC-C73B69791BD3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15</a:t>
            </a:fld>
            <a:endParaRPr lang="en-CA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6082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81924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AB902CA9-3EC4-487E-9EFF-2784F12FF665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16</a:t>
            </a:fld>
            <a:endParaRPr lang="en-CA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8130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82948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7FD81A96-0CAC-4B65-8D70-A2321C23FB9F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17</a:t>
            </a:fld>
            <a:endParaRPr lang="en-CA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0178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83972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741B2704-B9F7-4D15-A60F-5CDDD41256A7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18</a:t>
            </a:fld>
            <a:endParaRPr lang="en-CA" smtClean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222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84996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A6DC6A81-6B15-4E55-8504-F3425D494A93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19</a:t>
            </a:fld>
            <a:endParaRPr lang="en-CA" smtClean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427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86020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7E02E76D-5560-4DC4-A4EF-71B078221DA5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20</a:t>
            </a:fld>
            <a:endParaRPr lang="en-CA" smtClean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2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87044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41C32B86-51E3-4B76-907A-4DCD0B5AA422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21</a:t>
            </a:fld>
            <a:endParaRPr lang="en-CA" smtClean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8370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88068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9F007C66-EA0E-447B-91AD-6D7AD0008F22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22</a:t>
            </a:fld>
            <a:endParaRPr lang="en-CA" smtClean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7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0418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89092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3C1304F1-9FAA-4813-8C19-E297753A7B97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23</a:t>
            </a:fld>
            <a:endParaRPr lang="en-CA" smtClean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5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246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E311CB1-2A62-4EBF-99C3-866CAE3960A6}" type="slidenum">
              <a:rPr lang="en-US" smtClean="0"/>
              <a:pPr>
                <a:defRPr/>
              </a:pPr>
              <a:t>24</a:t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3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208AE9F-C4D9-4E43-A0C7-92CC9D57A90C}" type="slidenum">
              <a:rPr lang="en-US" smtClean="0"/>
              <a:pPr>
                <a:defRPr/>
              </a:pPr>
              <a:t>25</a:t>
            </a:fld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1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6562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949D362-2F22-4B12-856A-975C680CA83D}" type="slidenum">
              <a:rPr lang="en-US" smtClean="0"/>
              <a:pPr>
                <a:defRPr/>
              </a:pPr>
              <a:t>26</a:t>
            </a:fld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09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8610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EA8F287-387A-4190-84AE-C14DC5982E7C}" type="slidenum">
              <a:rPr lang="en-US" smtClean="0"/>
              <a:pPr>
                <a:defRPr/>
              </a:pPr>
              <a:t>27</a:t>
            </a:fld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7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0658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7DC8AAD-BBC9-49C4-84CE-CC2B7E295066}" type="slidenum">
              <a:rPr lang="en-US" smtClean="0"/>
              <a:pPr>
                <a:defRPr/>
              </a:pPr>
              <a:t>28</a:t>
            </a:fld>
            <a:endParaRPr 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5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270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25540F7-8465-4017-9284-478946796759}" type="slidenum">
              <a:rPr lang="en-US" smtClean="0"/>
              <a:pPr>
                <a:defRPr/>
              </a:pPr>
              <a:t>29</a:t>
            </a:fld>
            <a:endParaRPr 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3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475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43E53F0-C9CB-452B-8D83-68403E8D7A23}" type="slidenum">
              <a:rPr lang="en-US" smtClean="0"/>
              <a:pPr>
                <a:defRPr/>
              </a:pPr>
              <a:t>30</a:t>
            </a:fld>
            <a:endParaRPr 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1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6802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90116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5D405455-15A5-4CA3-BB49-1D11C2172DC8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31</a:t>
            </a:fld>
            <a:endParaRPr lang="en-CA" smtClean="0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49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8850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91140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B5ED2F8E-BBD4-4800-A3D3-46A7C2A6B35A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32</a:t>
            </a:fld>
            <a:endParaRPr lang="en-CA" smtClean="0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7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0898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92164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01D5F9B9-27D6-461D-BA26-EECC7B1F5424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33</a:t>
            </a:fld>
            <a:endParaRPr lang="en-CA" smtClean="0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5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294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93188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F519C0E8-C1E7-4D5E-97CA-EF2754BA5135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34</a:t>
            </a:fld>
            <a:endParaRPr lang="en-CA" smtClean="0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3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499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94212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F4CF24D5-9E9B-40FA-BA87-C4EB279806BF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35</a:t>
            </a:fld>
            <a:endParaRPr lang="en-CA" smtClean="0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1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7042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95236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E34F8BD1-1F6E-4FF4-B5BC-174E30EB30CB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36</a:t>
            </a:fld>
            <a:endParaRPr lang="en-CA" smtClean="0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89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9090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96260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5617B58B-4838-458F-A93B-A7DCC95AA3F6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37</a:t>
            </a:fld>
            <a:endParaRPr lang="en-CA" smtClean="0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7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1138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97284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4DF48620-145E-40D9-93CC-FDA1644E07D9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38</a:t>
            </a:fld>
            <a:endParaRPr lang="en-CA" smtClean="0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5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31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98308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C0FF872F-6D31-45B8-9839-9A1D15C3938E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39</a:t>
            </a:fld>
            <a:endParaRPr lang="en-CA" smtClean="0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3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52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99332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79901A48-6AA6-42F7-8DFE-C1B7656AA8E5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40</a:t>
            </a:fld>
            <a:endParaRPr lang="en-CA" smtClean="0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1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7282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100356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25925241-0204-4F3D-AD08-934B966BC105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41</a:t>
            </a:fld>
            <a:endParaRPr lang="en-CA" smtClean="0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29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9330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101380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4F02719E-CD28-4EB0-B930-9830020EC7C5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42</a:t>
            </a:fld>
            <a:endParaRPr lang="en-CA" smtClean="0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7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1378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102404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A8F0C01A-9FA7-4692-BDC9-0D268EC5FD26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43</a:t>
            </a:fld>
            <a:endParaRPr lang="en-CA" smtClean="0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5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342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725177D-64E8-4400-BE80-A4BE3146CA34}" type="slidenum">
              <a:rPr lang="en-US" smtClean="0"/>
              <a:pPr>
                <a:defRPr/>
              </a:pPr>
              <a:t>44</a:t>
            </a:fld>
            <a:endParaRPr lang="en-US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3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547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BE7007A-C3B5-4BDC-91AB-C6B8CFA87066}" type="slidenum">
              <a:rPr lang="en-US" smtClean="0"/>
              <a:pPr>
                <a:defRPr/>
              </a:pPr>
              <a:t>45</a:t>
            </a:fld>
            <a:endParaRPr lang="en-US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1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7522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7E0315E-0AC0-4422-A24C-79DE679245F1}" type="slidenum">
              <a:rPr lang="en-US" smtClean="0"/>
              <a:pPr>
                <a:defRPr/>
              </a:pPr>
              <a:t>46</a:t>
            </a:fld>
            <a:endParaRPr lang="en-US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69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9570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1F2C09A-BB9A-4989-A4D3-56C4E4845CE8}" type="slidenum">
              <a:rPr lang="en-US" smtClean="0"/>
              <a:pPr>
                <a:defRPr/>
              </a:pPr>
              <a:t>47</a:t>
            </a:fld>
            <a:endParaRPr lang="en-US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7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11618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2AAA2FF-FDFE-43EB-874D-EFA5A531D7AC}" type="slidenum">
              <a:rPr lang="en-US" smtClean="0"/>
              <a:pPr>
                <a:defRPr/>
              </a:pPr>
              <a:t>48</a:t>
            </a:fld>
            <a:endParaRPr lang="en-US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5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1366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69B5994-D825-4B68-B36C-F25EE5A1D213}" type="slidenum">
              <a:rPr lang="en-US" smtClean="0"/>
              <a:pPr>
                <a:defRPr/>
              </a:pPr>
              <a:t>49</a:t>
            </a:fld>
            <a:endParaRPr lang="en-US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3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1571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6C40272-8F14-45F1-BC1D-27848C2F5895}" type="slidenum">
              <a:rPr lang="en-US" smtClean="0"/>
              <a:pPr>
                <a:defRPr/>
              </a:pPr>
              <a:t>50</a:t>
            </a:fld>
            <a:endParaRPr lang="en-US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1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17762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27C4946-4AB7-4604-B875-D8C70225C8A8}" type="slidenum">
              <a:rPr lang="en-US" smtClean="0"/>
              <a:pPr>
                <a:defRPr/>
              </a:pPr>
              <a:t>51</a:t>
            </a:fld>
            <a:endParaRPr lang="en-US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09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19810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C855E3B-382F-486E-AAE8-B26E606DD699}" type="slidenum">
              <a:rPr lang="en-US" smtClean="0"/>
              <a:pPr>
                <a:defRPr/>
              </a:pPr>
              <a:t>52</a:t>
            </a:fld>
            <a:endParaRPr lang="en-US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7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21858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FFDBD61-C5EE-46A2-9C8F-4A4C44833D5F}" type="slidenum">
              <a:rPr lang="en-US" smtClean="0"/>
              <a:pPr>
                <a:defRPr/>
              </a:pPr>
              <a:t>53</a:t>
            </a:fld>
            <a:endParaRPr lang="en-US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5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2390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9531A2D-8601-46FF-9805-70C8B1A4167D}" type="slidenum">
              <a:rPr lang="en-US" smtClean="0"/>
              <a:pPr>
                <a:defRPr/>
              </a:pPr>
              <a:t>54</a:t>
            </a:fld>
            <a:endParaRPr lang="en-US"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3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2595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11C7A35-2FD7-4C6A-BEB9-CCEFF8F4ABDE}" type="slidenum">
              <a:rPr lang="en-US" smtClean="0"/>
              <a:pPr>
                <a:defRPr/>
              </a:pPr>
              <a:t>55</a:t>
            </a:fld>
            <a:endParaRPr lang="en-US"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1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28002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D0226FB-FE9F-4881-A381-8D11D979AFDE}" type="slidenum">
              <a:rPr lang="en-US" smtClean="0"/>
              <a:pPr>
                <a:defRPr/>
              </a:pPr>
              <a:t>56</a:t>
            </a:fld>
            <a:endParaRPr lang="en-US"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49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30050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8933220-B1FE-48F8-811D-BCD61BB5913C}" type="slidenum">
              <a:rPr lang="en-US" smtClean="0"/>
              <a:pPr>
                <a:defRPr/>
              </a:pPr>
              <a:t>57</a:t>
            </a:fld>
            <a:endParaRPr lang="en-US"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7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32098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03C36FE-16EA-47C6-ADAC-0B18188FC113}" type="slidenum">
              <a:rPr lang="en-US" smtClean="0"/>
              <a:pPr>
                <a:defRPr/>
              </a:pPr>
              <a:t>58</a:t>
            </a:fld>
            <a:endParaRPr lang="en-US"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5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3414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839D7EA-1100-43A7-88D0-EB3CFB1AD856}" type="slidenum">
              <a:rPr lang="en-US" smtClean="0"/>
              <a:pPr>
                <a:defRPr/>
              </a:pPr>
              <a:t>59</a:t>
            </a:fld>
            <a:endParaRPr lang="en-US"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3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3619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D0DEE46-28CE-4D35-BBD1-3FF9D4DF4182}" type="slidenum">
              <a:rPr lang="en-US" smtClean="0"/>
              <a:pPr>
                <a:defRPr/>
              </a:pPr>
              <a:t>60</a:t>
            </a:fld>
            <a:endParaRPr lang="en-US"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1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38242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716B981-DF93-41AE-A10F-549D05898903}" type="slidenum">
              <a:rPr lang="en-US" smtClean="0"/>
              <a:pPr>
                <a:defRPr/>
              </a:pPr>
              <a:t>61</a:t>
            </a:fld>
            <a:endParaRPr lang="en-US"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89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40290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AEB4850-7C10-4975-8660-167B6B488727}" type="slidenum">
              <a:rPr lang="en-US" smtClean="0"/>
              <a:pPr>
                <a:defRPr/>
              </a:pPr>
              <a:t>62</a:t>
            </a:fld>
            <a:endParaRPr lang="en-US"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7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42338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42ED5C5-7E4D-4CE3-926E-CDBA18790B8B}" type="slidenum">
              <a:rPr lang="en-US" smtClean="0"/>
              <a:pPr>
                <a:defRPr/>
              </a:pPr>
              <a:t>63</a:t>
            </a:fld>
            <a:endParaRPr lang="en-US"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5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44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C5F21AB-3BDC-4006-9580-D3F66C2D2F34}" type="slidenum">
              <a:rPr lang="en-US" smtClean="0"/>
              <a:pPr>
                <a:defRPr/>
              </a:pPr>
              <a:t>64</a:t>
            </a:fld>
            <a:endParaRPr lang="en-US"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3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46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103428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E11783F2-0CE1-4844-9EB7-AF6E298F3299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65</a:t>
            </a:fld>
            <a:endParaRPr lang="en-CA" smtClean="0"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1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48482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104452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F1639C86-4DAB-4935-83CF-5E219FE8ABF1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66</a:t>
            </a:fld>
            <a:endParaRPr lang="en-CA" smtClean="0"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29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50530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105476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9FD97B2A-6ABE-41F7-8CE6-1EAD24C0E483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67</a:t>
            </a:fld>
            <a:endParaRPr lang="en-CA" smtClean="0"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7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52578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106500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13446E51-60D3-4971-938B-F44A71B8A7FA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68</a:t>
            </a:fld>
            <a:endParaRPr lang="en-CA" smtClean="0"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5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5462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107524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0CDB9BAD-7978-4A2C-9335-0EA026B8C456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69</a:t>
            </a:fld>
            <a:endParaRPr lang="en-CA" smtClean="0"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73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5667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108548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7FF3CA5A-80DB-47A4-B524-DD0580DAF628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70</a:t>
            </a:fld>
            <a:endParaRPr lang="en-CA" smtClean="0"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1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58722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109572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81F174C7-7A84-49DD-AE85-8A159A1AE8DB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71</a:t>
            </a:fld>
            <a:endParaRPr lang="en-CA" smtClean="0"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69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0770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110596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887B26A3-DC65-4CB7-92AA-ABF96E6E722C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72</a:t>
            </a:fld>
            <a:endParaRPr lang="en-CA" smtClean="0"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817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2818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111620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16C07EB6-1656-47AA-9543-534DD3890209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73</a:t>
            </a:fld>
            <a:endParaRPr lang="en-CA" smtClean="0"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865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486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112644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36957EF4-1337-42C3-9F69-29403CE9D292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74</a:t>
            </a:fld>
            <a:endParaRPr lang="en-CA" smtClean="0"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13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691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113668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799BBD66-7486-45CD-BCA8-F52F9FA00D7E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75</a:t>
            </a:fld>
            <a:endParaRPr lang="en-CA" smtClean="0"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61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8962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114692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0E661EC1-35E1-4E0B-B0B9-95E2A6C0DAF6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76</a:t>
            </a:fld>
            <a:endParaRPr lang="en-CA" smtClean="0"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009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71010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115716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BC4C2103-43D6-4B82-A8C5-00B2DC61C866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77</a:t>
            </a:fld>
            <a:endParaRPr lang="en-CA" smtClean="0"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057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73058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116740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310D223D-352D-42C0-BAA4-6B581AADABAD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78</a:t>
            </a:fld>
            <a:endParaRPr lang="en-CA" smtClean="0"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105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7510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117764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CABD9DCC-69EF-41B8-A59F-E16031B45C66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79</a:t>
            </a:fld>
            <a:endParaRPr lang="en-CA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8A9E941-CCAC-4B99-9279-FF24530BA000}" type="datetime1">
              <a:rPr lang="en-US"/>
              <a:pPr>
                <a:defRPr/>
              </a:pPr>
              <a:t>5/8/2012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r>
              <a:rPr lang="en-US"/>
              <a:t>Copyright © </a:t>
            </a:r>
            <a:r>
              <a:rPr lang="en-US" smtClean="0"/>
              <a:t>2012 </a:t>
            </a:r>
            <a:r>
              <a:rPr lang="en-US"/>
              <a:t>Pearson Addison-Wesley. All rights reserved.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17-</a:t>
            </a:r>
            <a:fld id="{A695B93C-8597-4593-88AA-53B5B1561CA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6"/>
          <p:cNvSpPr>
            <a:spLocks noGrp="1"/>
          </p:cNvSpPr>
          <p:nvPr>
            <p:ph type="dt" sz="half" idx="10"/>
          </p:nvPr>
        </p:nvSpPr>
        <p:spPr>
          <a:xfrm>
            <a:off x="4876800" y="6324600"/>
            <a:ext cx="9144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4357D08-E90B-4810-A218-09FB91357134}" type="datetime1">
              <a:rPr lang="en-US"/>
              <a:pPr>
                <a:defRPr/>
              </a:pPr>
              <a:t>5/8/2012</a:t>
            </a:fld>
            <a:endParaRPr lang="en-US" dirty="0"/>
          </a:p>
        </p:txBody>
      </p:sp>
      <p:sp>
        <p:nvSpPr>
          <p:cNvPr id="5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17-</a:t>
            </a:r>
            <a:fld id="{A2617077-40CC-4628-B6D6-4A19408370C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6" name="Footer Placeholder 8"/>
          <p:cNvSpPr>
            <a:spLocks noGrp="1"/>
          </p:cNvSpPr>
          <p:nvPr>
            <p:ph type="ftr" sz="quarter" idx="12"/>
          </p:nvPr>
        </p:nvSpPr>
        <p:spPr>
          <a:xfrm>
            <a:off x="457200" y="6340475"/>
            <a:ext cx="4343400" cy="365125"/>
          </a:xfrm>
        </p:spPr>
        <p:txBody>
          <a:bodyPr/>
          <a:lstStyle>
            <a:lvl1pPr>
              <a:defRPr dirty="0"/>
            </a:lvl1pPr>
          </a:lstStyle>
          <a:p>
            <a:pPr>
              <a:defRPr/>
            </a:pPr>
            <a:r>
              <a:rPr lang="en-US"/>
              <a:t>Copyright © </a:t>
            </a:r>
            <a:r>
              <a:rPr lang="en-US" smtClean="0"/>
              <a:t>2012 </a:t>
            </a:r>
            <a:r>
              <a:rPr lang="en-US"/>
              <a:t>Pearson Addison-Wesley. All rights reserved.</a:t>
            </a:r>
            <a:endParaRPr lang="en-CA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C49371F-4F54-4C83-B223-FD28A15C787A}" type="datetime1">
              <a:rPr lang="en-US"/>
              <a:pPr>
                <a:defRPr/>
              </a:pPr>
              <a:t>5/8/2012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r>
              <a:rPr lang="en-US"/>
              <a:t>Copyright © </a:t>
            </a:r>
            <a:r>
              <a:rPr lang="en-US" smtClean="0"/>
              <a:t>2012 </a:t>
            </a:r>
            <a:r>
              <a:rPr lang="en-US"/>
              <a:t>Pearson Addison-Wesley. All rights reserved.</a:t>
            </a:r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17-</a:t>
            </a:r>
            <a:fld id="{4E61959B-6D33-431B-9BBC-891336E01D6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43BBDFF-86AA-462E-BDDF-65BF96C77D33}" type="datetime1">
              <a:rPr lang="en-US"/>
              <a:pPr>
                <a:defRPr/>
              </a:pPr>
              <a:t>5/8/2012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r>
              <a:rPr lang="en-US"/>
              <a:t>Copyright © </a:t>
            </a:r>
            <a:r>
              <a:rPr lang="en-US" smtClean="0"/>
              <a:t>2012 </a:t>
            </a:r>
            <a:r>
              <a:rPr lang="en-US"/>
              <a:t>Pearson Addison-Wesley. All rights reserved.</a:t>
            </a:r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17-</a:t>
            </a:r>
            <a:fld id="{68ECD6B1-62F5-45A2-9345-DF1CC37D941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71E1B2F-0AD0-47A6-B902-0ECE58DE10B2}" type="datetime1">
              <a:rPr lang="en-US"/>
              <a:pPr>
                <a:defRPr/>
              </a:pPr>
              <a:t>5/8/2012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r>
              <a:rPr lang="en-US"/>
              <a:t>Copyright © </a:t>
            </a:r>
            <a:r>
              <a:rPr lang="en-US" smtClean="0"/>
              <a:t>2012 </a:t>
            </a:r>
            <a:r>
              <a:rPr lang="en-US"/>
              <a:t>Pearson Addison-Wesley. All rights reserved.</a:t>
            </a:r>
            <a:endParaRPr lang="en-C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17-</a:t>
            </a:r>
            <a:fld id="{4AC8B2B8-8DEE-4478-B6B1-16F018BAA72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7A694E8-41B6-428A-B003-6343CC68C57B}" type="datetime1">
              <a:rPr lang="en-US"/>
              <a:pPr>
                <a:defRPr/>
              </a:pPr>
              <a:t>5/8/2012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r>
              <a:rPr lang="en-US"/>
              <a:t>Copyright © </a:t>
            </a:r>
            <a:r>
              <a:rPr lang="en-US" smtClean="0"/>
              <a:t>2012 </a:t>
            </a:r>
            <a:r>
              <a:rPr lang="en-US"/>
              <a:t>Pearson Addison-Wesley. All rights reserved.</a:t>
            </a:r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17-</a:t>
            </a:r>
            <a:fld id="{755D9F88-8DAC-4C90-AC52-A1C912805AF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7E9A51-595C-4579-ABFC-8AC56BD87A0F}" type="datetime1">
              <a:rPr lang="en-US"/>
              <a:pPr>
                <a:defRPr/>
              </a:pPr>
              <a:t>5/8/2012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r>
              <a:rPr lang="en-US"/>
              <a:t>Copyright © </a:t>
            </a:r>
            <a:r>
              <a:rPr lang="en-US" smtClean="0"/>
              <a:t>2012 </a:t>
            </a:r>
            <a:r>
              <a:rPr lang="en-US"/>
              <a:t>Pearson Addison-Wesley. All rights reserved.</a:t>
            </a:r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17-</a:t>
            </a:r>
            <a:fld id="{0785CA78-76A8-4358-B536-D016D82EC08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0C1E3A1-E18C-402A-A14A-999A3D397B43}" type="datetime1">
              <a:rPr lang="en-US"/>
              <a:pPr>
                <a:defRPr/>
              </a:pPr>
              <a:t>5/8/2012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r>
              <a:rPr lang="en-US"/>
              <a:t>Copyright © </a:t>
            </a:r>
            <a:r>
              <a:rPr lang="en-US" smtClean="0"/>
              <a:t>2012 </a:t>
            </a:r>
            <a:r>
              <a:rPr lang="en-US"/>
              <a:t>Pearson Addison-Wesley. All rights reserved.</a:t>
            </a:r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17-</a:t>
            </a:r>
            <a:fld id="{891889FD-919F-48DD-90A3-0D9B3DBB8AB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9FDB857-1365-4AEA-832A-64BF0D52AA1D}" type="datetime1">
              <a:rPr lang="en-US"/>
              <a:pPr>
                <a:defRPr/>
              </a:pPr>
              <a:t>5/8/2012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r>
              <a:rPr lang="en-US"/>
              <a:t>Copyright © </a:t>
            </a:r>
            <a:r>
              <a:rPr lang="en-US" smtClean="0"/>
              <a:t>2012 </a:t>
            </a:r>
            <a:r>
              <a:rPr lang="en-US"/>
              <a:t>Pearson Addison-Wesley. All rights reserved.</a:t>
            </a:r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17-</a:t>
            </a:r>
            <a:fld id="{64FBDFB7-7832-4881-B1E5-A53908D7D17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F0F637-492A-4636-910C-198BFC25096A}" type="datetime1">
              <a:rPr lang="en-US"/>
              <a:pPr>
                <a:defRPr/>
              </a:pPr>
              <a:t>5/8/2012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r>
              <a:rPr lang="en-US"/>
              <a:t>Copyright © </a:t>
            </a:r>
            <a:r>
              <a:rPr lang="en-US" smtClean="0"/>
              <a:t>2012 </a:t>
            </a:r>
            <a:r>
              <a:rPr lang="en-US"/>
              <a:t>Pearson Addison-Wesley. All rights reserved.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17-</a:t>
            </a:r>
            <a:fld id="{71B9A77C-E2FF-4938-817C-D5BE7D232B1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1EE09AB-BE42-48EB-8866-88ED75B9C3BA}" type="datetime1">
              <a:rPr lang="en-US"/>
              <a:pPr>
                <a:defRPr/>
              </a:pPr>
              <a:t>5/8/2012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r>
              <a:rPr lang="en-US"/>
              <a:t>Copyright © </a:t>
            </a:r>
            <a:r>
              <a:rPr lang="en-US" smtClean="0"/>
              <a:t>2012 </a:t>
            </a:r>
            <a:r>
              <a:rPr lang="en-US"/>
              <a:t>Pearson Addison-Wesley. All rights reserved.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17-</a:t>
            </a:r>
            <a:fld id="{311F9F02-ACA6-4D67-909D-110631CD5D9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648200" y="6340475"/>
            <a:ext cx="914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32998B79-2B95-44FF-B4A1-69BC46075F3B}" type="datetime1">
              <a:rPr lang="en-US"/>
              <a:pPr>
                <a:defRPr/>
              </a:pPr>
              <a:t>5/8/2012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7200" y="6356350"/>
            <a:ext cx="411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sz="1200" dirty="0">
                <a:solidFill>
                  <a:srgbClr val="898989"/>
                </a:solidFill>
                <a:latin typeface="Calibri" pitchFamily="34" charset="0"/>
                <a:cs typeface="+mn-cs"/>
              </a:defRPr>
            </a:lvl1pPr>
          </a:lstStyle>
          <a:p>
            <a:pPr>
              <a:defRPr/>
            </a:pPr>
            <a:r>
              <a:rPr lang="en-US"/>
              <a:t>Copyright © </a:t>
            </a:r>
            <a:r>
              <a:rPr lang="en-US" smtClean="0"/>
              <a:t>2012 </a:t>
            </a:r>
            <a:r>
              <a:rPr lang="en-US"/>
              <a:t>Pearson Addison-Wesley. All rights reserved.</a:t>
            </a:r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r>
              <a:rPr lang="en-US"/>
              <a:t>1-</a:t>
            </a:r>
            <a:fld id="{95D8D384-2230-441F-9FE8-36B76410E72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1031" name="Picture 2"/>
          <p:cNvPicPr>
            <a:picLocks noChangeAspect="1" noChangeArrowheads="1"/>
          </p:cNvPicPr>
          <p:nvPr userDrawn="1"/>
        </p:nvPicPr>
        <p:blipFill>
          <a:blip r:embed="rId13"/>
          <a:srcRect/>
          <a:stretch>
            <a:fillRect/>
          </a:stretch>
        </p:blipFill>
        <p:spPr bwMode="auto">
          <a:xfrm>
            <a:off x="0" y="0"/>
            <a:ext cx="169863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</p:sldLayoutIdLst>
  <p:hf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1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2.xml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3.xml"/><Relationship Id="rId4" Type="http://schemas.openxmlformats.org/officeDocument/2006/relationships/image" Target="../media/image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4.xml"/><Relationship Id="rId4" Type="http://schemas.openxmlformats.org/officeDocument/2006/relationships/image" Target="../media/image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5.xml"/><Relationship Id="rId4" Type="http://schemas.openxmlformats.org/officeDocument/2006/relationships/image" Target="../media/image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6.xml"/><Relationship Id="rId4" Type="http://schemas.openxmlformats.org/officeDocument/2006/relationships/image" Target="../media/image10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7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7.xml"/><Relationship Id="rId4" Type="http://schemas.openxmlformats.org/officeDocument/2006/relationships/image" Target="../media/image21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2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8.xml"/><Relationship Id="rId4" Type="http://schemas.openxmlformats.org/officeDocument/2006/relationships/image" Target="../media/image24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6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3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9.xml"/><Relationship Id="rId4" Type="http://schemas.openxmlformats.org/officeDocument/2006/relationships/image" Target="../media/image29.png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Title 1"/>
          <p:cNvSpPr>
            <a:spLocks noGrp="1"/>
          </p:cNvSpPr>
          <p:nvPr>
            <p:ph type="ctrTitle"/>
          </p:nvPr>
        </p:nvSpPr>
        <p:spPr>
          <a:xfrm>
            <a:off x="5638800" y="457200"/>
            <a:ext cx="3276600" cy="1470025"/>
          </a:xfrm>
        </p:spPr>
        <p:txBody>
          <a:bodyPr/>
          <a:lstStyle/>
          <a:p>
            <a:pPr eaLnBrk="1" hangingPunct="1"/>
            <a:r>
              <a:rPr lang="en-US" smtClean="0"/>
              <a:t>Chapter 17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638800" y="1905000"/>
            <a:ext cx="3352800" cy="1752600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dirty="0" smtClean="0"/>
              <a:t>Linked </a:t>
            </a:r>
            <a:r>
              <a:rPr lang="en-US" smtClean="0"/>
              <a:t>Data Structures</a:t>
            </a:r>
            <a:endParaRPr lang="en-US" dirty="0"/>
          </a:p>
        </p:txBody>
      </p:sp>
      <p:pic>
        <p:nvPicPr>
          <p:cNvPr id="14341" name="Picture 6" descr="http://vig-fp.prenhall.com/bigcovers/013283071X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52400" y="0"/>
            <a:ext cx="5545138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4343" name="Picture 10" descr="DG_Bar_Blue_USLetter_RGB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0" y="6324600"/>
            <a:ext cx="91440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Learning Objectives</a:t>
            </a:r>
          </a:p>
        </p:txBody>
      </p:sp>
      <p:sp>
        <p:nvSpPr>
          <p:cNvPr id="1638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800" smtClean="0"/>
              <a:t>Nodes and Linked Lists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Creating, searching</a:t>
            </a:r>
          </a:p>
          <a:p>
            <a:pPr eaLnBrk="1" hangingPunct="1">
              <a:lnSpc>
                <a:spcPct val="90000"/>
              </a:lnSpc>
            </a:pPr>
            <a:r>
              <a:rPr lang="en-US" sz="2800" smtClean="0"/>
              <a:t>Linked List Applications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Stacks, queues, sets, hash tables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Friend classes, alternatives</a:t>
            </a:r>
          </a:p>
          <a:p>
            <a:pPr eaLnBrk="1" hangingPunct="1">
              <a:lnSpc>
                <a:spcPct val="90000"/>
              </a:lnSpc>
            </a:pPr>
            <a:r>
              <a:rPr lang="en-US" sz="2800" smtClean="0"/>
              <a:t>Iterators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Pointers as iterators</a:t>
            </a:r>
          </a:p>
          <a:p>
            <a:pPr eaLnBrk="1" hangingPunct="1">
              <a:lnSpc>
                <a:spcPct val="90000"/>
              </a:lnSpc>
            </a:pPr>
            <a:r>
              <a:rPr lang="en-US" sz="2800" smtClean="0"/>
              <a:t>Trees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17-</a:t>
            </a:r>
            <a:fld id="{712DB0A5-1F68-4619-8037-E9FF4F4957EE}" type="slidenum">
              <a:rPr lang="en-US"/>
              <a:pPr>
                <a:defRPr/>
              </a:pPr>
              <a:t>2</a:t>
            </a:fld>
            <a:endParaRPr lang="en-US"/>
          </a:p>
        </p:txBody>
      </p:sp>
      <p:sp>
        <p:nvSpPr>
          <p:cNvPr id="16388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Introduction</a:t>
            </a:r>
          </a:p>
        </p:txBody>
      </p:sp>
      <p:sp>
        <p:nvSpPr>
          <p:cNvPr id="1843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z="2800" smtClean="0"/>
              <a:t>Linked list</a:t>
            </a:r>
          </a:p>
          <a:p>
            <a:pPr lvl="1" eaLnBrk="1" hangingPunct="1"/>
            <a:r>
              <a:rPr lang="en-US" sz="2400" smtClean="0"/>
              <a:t>Constructed using pointers</a:t>
            </a:r>
          </a:p>
          <a:p>
            <a:pPr lvl="1" eaLnBrk="1" hangingPunct="1"/>
            <a:r>
              <a:rPr lang="en-US" sz="2400" smtClean="0"/>
              <a:t>Grows and shrinks during run-time</a:t>
            </a:r>
          </a:p>
          <a:p>
            <a:pPr lvl="1" eaLnBrk="1" hangingPunct="1"/>
            <a:r>
              <a:rPr lang="en-US" sz="2400" smtClean="0"/>
              <a:t>Doubly Linked List : A variation with pointers in both directions</a:t>
            </a:r>
          </a:p>
          <a:p>
            <a:pPr eaLnBrk="1" hangingPunct="1"/>
            <a:r>
              <a:rPr lang="en-US" sz="2800" smtClean="0"/>
              <a:t>Trees also use pointers</a:t>
            </a:r>
          </a:p>
          <a:p>
            <a:pPr eaLnBrk="1" hangingPunct="1"/>
            <a:r>
              <a:rPr lang="en-US" sz="2800" smtClean="0"/>
              <a:t>Pointers backbone of such structures</a:t>
            </a:r>
          </a:p>
          <a:p>
            <a:pPr lvl="1" eaLnBrk="1" hangingPunct="1"/>
            <a:r>
              <a:rPr lang="en-US" sz="2400" smtClean="0"/>
              <a:t>Use dynamic variables</a:t>
            </a:r>
          </a:p>
          <a:p>
            <a:pPr eaLnBrk="1" hangingPunct="1"/>
            <a:r>
              <a:rPr lang="en-US" sz="2800" smtClean="0"/>
              <a:t>Standard Template Library</a:t>
            </a:r>
          </a:p>
          <a:p>
            <a:pPr lvl="1" eaLnBrk="1" hangingPunct="1"/>
            <a:r>
              <a:rPr lang="en-US" sz="2400" smtClean="0"/>
              <a:t>Has predefined versions of some structures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17-</a:t>
            </a:r>
            <a:fld id="{1CC692F4-11AA-4ACB-9E1D-DE82FEE64437}" type="slidenum">
              <a:rPr lang="en-US"/>
              <a:pPr>
                <a:defRPr/>
              </a:pPr>
              <a:t>3</a:t>
            </a:fld>
            <a:endParaRPr lang="en-US"/>
          </a:p>
        </p:txBody>
      </p:sp>
      <p:sp>
        <p:nvSpPr>
          <p:cNvPr id="18436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Approaches</a:t>
            </a:r>
          </a:p>
        </p:txBody>
      </p:sp>
      <p:sp>
        <p:nvSpPr>
          <p:cNvPr id="2048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461963" indent="-461963" eaLnBrk="1" hangingPunct="1">
              <a:lnSpc>
                <a:spcPct val="90000"/>
              </a:lnSpc>
            </a:pPr>
            <a:r>
              <a:rPr lang="en-US" sz="2800" smtClean="0"/>
              <a:t>Three ways to handle such data structures:</a:t>
            </a:r>
          </a:p>
          <a:p>
            <a:pPr marL="947738" lvl="1" indent="-371475" eaLnBrk="1" hangingPunct="1">
              <a:lnSpc>
                <a:spcPct val="90000"/>
              </a:lnSpc>
              <a:buFont typeface="Times" pitchFamily="18" charset="0"/>
              <a:buAutoNum type="arabicPeriod"/>
            </a:pPr>
            <a:r>
              <a:rPr lang="en-US" sz="2400" smtClean="0"/>
              <a:t>C-style approach: global functions and</a:t>
            </a:r>
            <a:br>
              <a:rPr lang="en-US" sz="2400" smtClean="0"/>
            </a:br>
            <a:r>
              <a:rPr lang="en-US" sz="2400" smtClean="0"/>
              <a:t>structs with everything public</a:t>
            </a:r>
          </a:p>
          <a:p>
            <a:pPr marL="947738" lvl="1" indent="-371475" eaLnBrk="1" hangingPunct="1">
              <a:lnSpc>
                <a:spcPct val="90000"/>
              </a:lnSpc>
              <a:buFont typeface="Times" pitchFamily="18" charset="0"/>
              <a:buAutoNum type="arabicPeriod"/>
            </a:pPr>
            <a:r>
              <a:rPr lang="en-US" sz="2400" smtClean="0"/>
              <a:t>Classes with private member variables and</a:t>
            </a:r>
            <a:br>
              <a:rPr lang="en-US" sz="2400" smtClean="0"/>
            </a:br>
            <a:r>
              <a:rPr lang="en-US" sz="2400" smtClean="0"/>
              <a:t>accessor and mutator functions</a:t>
            </a:r>
          </a:p>
          <a:p>
            <a:pPr marL="947738" lvl="1" indent="-371475" eaLnBrk="1" hangingPunct="1">
              <a:lnSpc>
                <a:spcPct val="90000"/>
              </a:lnSpc>
              <a:buFont typeface="Times" pitchFamily="18" charset="0"/>
              <a:buAutoNum type="arabicPeriod"/>
            </a:pPr>
            <a:r>
              <a:rPr lang="en-US" sz="2400" smtClean="0"/>
              <a:t>Friend classes</a:t>
            </a:r>
          </a:p>
          <a:p>
            <a:pPr marL="461963" indent="-461963" eaLnBrk="1" hangingPunct="1">
              <a:lnSpc>
                <a:spcPct val="90000"/>
              </a:lnSpc>
            </a:pPr>
            <a:r>
              <a:rPr lang="en-US" sz="2800" smtClean="0"/>
              <a:t>Linked lists will use method 1</a:t>
            </a:r>
          </a:p>
          <a:p>
            <a:pPr marL="461963" indent="-461963" eaLnBrk="1" hangingPunct="1">
              <a:lnSpc>
                <a:spcPct val="90000"/>
              </a:lnSpc>
            </a:pPr>
            <a:r>
              <a:rPr lang="en-US" sz="2800" smtClean="0"/>
              <a:t>Stacks, queues, sets, and hash tables will use method 2</a:t>
            </a:r>
          </a:p>
          <a:p>
            <a:pPr marL="461963" indent="-461963" eaLnBrk="1" hangingPunct="1">
              <a:lnSpc>
                <a:spcPct val="90000"/>
              </a:lnSpc>
            </a:pPr>
            <a:r>
              <a:rPr lang="en-US" sz="2800" smtClean="0"/>
              <a:t>Trees will use method 3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17-</a:t>
            </a:r>
            <a:fld id="{AB328511-C68F-4E37-BBAE-AAB712FAC04A}" type="slidenum">
              <a:rPr lang="en-US"/>
              <a:pPr>
                <a:defRPr/>
              </a:pPr>
              <a:t>4</a:t>
            </a:fld>
            <a:endParaRPr lang="en-US"/>
          </a:p>
        </p:txBody>
      </p:sp>
      <p:sp>
        <p:nvSpPr>
          <p:cNvPr id="20484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Nodes and Linked Lists</a:t>
            </a:r>
          </a:p>
        </p:txBody>
      </p:sp>
      <p:sp>
        <p:nvSpPr>
          <p:cNvPr id="2253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mtClean="0"/>
              <a:t>Linked list</a:t>
            </a:r>
          </a:p>
          <a:p>
            <a:pPr lvl="1" eaLnBrk="1" hangingPunct="1"/>
            <a:r>
              <a:rPr lang="en-US" smtClean="0"/>
              <a:t>Simple example of "dynamic data structure"</a:t>
            </a:r>
          </a:p>
          <a:p>
            <a:pPr lvl="1" eaLnBrk="1" hangingPunct="1"/>
            <a:r>
              <a:rPr lang="en-US" smtClean="0"/>
              <a:t>Composed of nodes</a:t>
            </a:r>
          </a:p>
          <a:p>
            <a:pPr eaLnBrk="1" hangingPunct="1"/>
            <a:r>
              <a:rPr lang="en-US" smtClean="0"/>
              <a:t>Each "node" is variable of struct or class</a:t>
            </a:r>
            <a:br>
              <a:rPr lang="en-US" smtClean="0"/>
            </a:br>
            <a:r>
              <a:rPr lang="en-US" smtClean="0"/>
              <a:t>type that’s dynamically created with new</a:t>
            </a:r>
          </a:p>
          <a:p>
            <a:pPr lvl="1" eaLnBrk="1" hangingPunct="1"/>
            <a:r>
              <a:rPr lang="en-US" smtClean="0"/>
              <a:t>Nodes also contain pointers to other nodes</a:t>
            </a:r>
          </a:p>
          <a:p>
            <a:pPr lvl="1" eaLnBrk="1" hangingPunct="1"/>
            <a:r>
              <a:rPr lang="en-US" smtClean="0"/>
              <a:t>Provide "links"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17-</a:t>
            </a:r>
            <a:fld id="{A8056681-95BE-41A0-ACD5-89D98B07BF2E}" type="slidenum">
              <a:rPr lang="en-US"/>
              <a:pPr>
                <a:defRPr/>
              </a:pPr>
              <a:t>5</a:t>
            </a:fld>
            <a:endParaRPr lang="en-US"/>
          </a:p>
        </p:txBody>
      </p:sp>
      <p:sp>
        <p:nvSpPr>
          <p:cNvPr id="22532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smtClean="0"/>
              <a:t>Display 17.1  </a:t>
            </a:r>
            <a:r>
              <a:rPr lang="en-US" sz="3600" smtClean="0"/>
              <a:t>Nodes and Pointers</a:t>
            </a:r>
          </a:p>
        </p:txBody>
      </p:sp>
      <p:pic>
        <p:nvPicPr>
          <p:cNvPr id="24578" name="Picture 4" descr="C:\WINDOWS\Desktop\Oh_type\sacitch_C++_ppt\gif\savitchc17d01.gif"/>
          <p:cNvPicPr preferRelativeResize="0"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4"/>
          <a:srcRect/>
          <a:stretch>
            <a:fillRect/>
          </a:stretch>
        </p:blipFill>
        <p:spPr bwMode="auto">
          <a:xfrm>
            <a:off x="1012825" y="1631950"/>
            <a:ext cx="7772400" cy="4330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17-</a:t>
            </a:r>
            <a:fld id="{50BD2E34-5427-4979-8DEC-F702BF002CFF}" type="slidenum">
              <a:rPr lang="en-US"/>
              <a:pPr>
                <a:defRPr/>
              </a:pPr>
              <a:t>6</a:t>
            </a:fld>
            <a:endParaRPr lang="en-US"/>
          </a:p>
        </p:txBody>
      </p:sp>
      <p:sp>
        <p:nvSpPr>
          <p:cNvPr id="24580" name="Footer Placeholder 6"/>
          <p:cNvSpPr>
            <a:spLocks noGrp="1"/>
          </p:cNvSpPr>
          <p:nvPr>
            <p:ph type="ftr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Node Definition</a:t>
            </a:r>
          </a:p>
        </p:txBody>
      </p:sp>
      <p:sp>
        <p:nvSpPr>
          <p:cNvPr id="2662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800" smtClean="0"/>
              <a:t>struct ListNode</a:t>
            </a:r>
            <a:br>
              <a:rPr lang="en-US" sz="2800" smtClean="0"/>
            </a:br>
            <a:r>
              <a:rPr lang="en-US" sz="2800" smtClean="0"/>
              <a:t>{</a:t>
            </a:r>
            <a:br>
              <a:rPr lang="en-US" sz="2800" smtClean="0"/>
            </a:br>
            <a:r>
              <a:rPr lang="en-US" sz="2800" smtClean="0"/>
              <a:t>	string item;</a:t>
            </a:r>
            <a:br>
              <a:rPr lang="en-US" sz="2800" smtClean="0"/>
            </a:br>
            <a:r>
              <a:rPr lang="en-US" sz="2800" smtClean="0"/>
              <a:t>	int count;</a:t>
            </a:r>
            <a:br>
              <a:rPr lang="en-US" sz="2800" smtClean="0"/>
            </a:br>
            <a:r>
              <a:rPr lang="en-US" sz="2800" smtClean="0"/>
              <a:t>	ListNode *link;</a:t>
            </a:r>
            <a:br>
              <a:rPr lang="en-US" sz="2800" smtClean="0"/>
            </a:br>
            <a:r>
              <a:rPr lang="en-US" sz="2800" smtClean="0"/>
              <a:t>};</a:t>
            </a:r>
            <a:br>
              <a:rPr lang="en-US" sz="2800" smtClean="0"/>
            </a:br>
            <a:r>
              <a:rPr lang="en-US" sz="2800" smtClean="0"/>
              <a:t>typedef ListNode* ListNodePtr;</a:t>
            </a:r>
          </a:p>
          <a:p>
            <a:pPr eaLnBrk="1" hangingPunct="1">
              <a:lnSpc>
                <a:spcPct val="90000"/>
              </a:lnSpc>
            </a:pPr>
            <a:r>
              <a:rPr lang="en-US" sz="2800" smtClean="0"/>
              <a:t>Order here is important!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Listnode defined 1</a:t>
            </a:r>
            <a:r>
              <a:rPr lang="en-US" sz="2400" baseline="30000" smtClean="0"/>
              <a:t>st</a:t>
            </a:r>
            <a:r>
              <a:rPr lang="en-US" sz="2400" smtClean="0"/>
              <a:t>, since used in typedef</a:t>
            </a:r>
          </a:p>
          <a:p>
            <a:pPr eaLnBrk="1" hangingPunct="1">
              <a:lnSpc>
                <a:spcPct val="90000"/>
              </a:lnSpc>
            </a:pPr>
            <a:r>
              <a:rPr lang="en-US" sz="2800" smtClean="0"/>
              <a:t>Also notice "circularity"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17-</a:t>
            </a:r>
            <a:fld id="{CA509AEF-613E-4367-BDF7-397594C5A206}" type="slidenum">
              <a:rPr lang="en-US"/>
              <a:pPr>
                <a:defRPr/>
              </a:pPr>
              <a:t>7</a:t>
            </a:fld>
            <a:endParaRPr lang="en-US"/>
          </a:p>
        </p:txBody>
      </p:sp>
      <p:sp>
        <p:nvSpPr>
          <p:cNvPr id="26628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Head Pointer</a:t>
            </a:r>
          </a:p>
        </p:txBody>
      </p:sp>
      <p:sp>
        <p:nvSpPr>
          <p:cNvPr id="2867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mtClean="0"/>
              <a:t>Box labeled "head" not a node:</a:t>
            </a:r>
            <a:br>
              <a:rPr lang="en-US" smtClean="0"/>
            </a:br>
            <a:r>
              <a:rPr lang="en-US" smtClean="0"/>
              <a:t>ListNodePtr head;</a:t>
            </a:r>
          </a:p>
          <a:p>
            <a:pPr lvl="1" eaLnBrk="1" hangingPunct="1"/>
            <a:r>
              <a:rPr lang="en-US" smtClean="0"/>
              <a:t>A simple pointer to a node</a:t>
            </a:r>
          </a:p>
          <a:p>
            <a:pPr lvl="1" eaLnBrk="1" hangingPunct="1"/>
            <a:r>
              <a:rPr lang="en-US" smtClean="0"/>
              <a:t>Set to point to 1</a:t>
            </a:r>
            <a:r>
              <a:rPr lang="en-US" baseline="30000" smtClean="0"/>
              <a:t>st</a:t>
            </a:r>
            <a:r>
              <a:rPr lang="en-US" smtClean="0"/>
              <a:t> node in list</a:t>
            </a:r>
          </a:p>
          <a:p>
            <a:pPr eaLnBrk="1" hangingPunct="1"/>
            <a:r>
              <a:rPr lang="en-US" smtClean="0"/>
              <a:t>Head used to "maintain" start of list</a:t>
            </a:r>
          </a:p>
          <a:p>
            <a:pPr eaLnBrk="1" hangingPunct="1"/>
            <a:r>
              <a:rPr lang="en-US" smtClean="0"/>
              <a:t>Also used as argument to functions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17-</a:t>
            </a:r>
            <a:fld id="{7F08E7AC-0EAD-4829-8B53-1C542D9B4713}" type="slidenum">
              <a:rPr lang="en-US"/>
              <a:pPr>
                <a:defRPr/>
              </a:pPr>
              <a:t>8</a:t>
            </a:fld>
            <a:endParaRPr lang="en-US"/>
          </a:p>
        </p:txBody>
      </p:sp>
      <p:sp>
        <p:nvSpPr>
          <p:cNvPr id="28676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Example Node Access</a:t>
            </a:r>
          </a:p>
        </p:txBody>
      </p:sp>
      <p:sp>
        <p:nvSpPr>
          <p:cNvPr id="3072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800" smtClean="0"/>
              <a:t>(*head).count = 12;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Sets </a:t>
            </a:r>
            <a:r>
              <a:rPr lang="en-US" sz="2400" i="1" smtClean="0"/>
              <a:t>count</a:t>
            </a:r>
            <a:r>
              <a:rPr lang="en-US" sz="2400" smtClean="0"/>
              <a:t> member of node pointed to by</a:t>
            </a:r>
            <a:br>
              <a:rPr lang="en-US" sz="2400" smtClean="0"/>
            </a:br>
            <a:r>
              <a:rPr lang="en-US" sz="2400" i="1" smtClean="0"/>
              <a:t>head</a:t>
            </a:r>
            <a:r>
              <a:rPr lang="en-US" sz="2400" smtClean="0"/>
              <a:t> equal to 12</a:t>
            </a:r>
          </a:p>
          <a:p>
            <a:pPr eaLnBrk="1" hangingPunct="1">
              <a:lnSpc>
                <a:spcPct val="90000"/>
              </a:lnSpc>
            </a:pPr>
            <a:r>
              <a:rPr lang="en-US" sz="2800" smtClean="0"/>
              <a:t>Alternate operator, -&gt;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Called "arrow operator"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Shorthand notation that combines * and .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head-&gt;count = 12;</a:t>
            </a:r>
          </a:p>
          <a:p>
            <a:pPr lvl="2" eaLnBrk="1" hangingPunct="1">
              <a:lnSpc>
                <a:spcPct val="90000"/>
              </a:lnSpc>
            </a:pPr>
            <a:r>
              <a:rPr lang="en-US" sz="2000" smtClean="0"/>
              <a:t>Identical to above</a:t>
            </a:r>
          </a:p>
          <a:p>
            <a:pPr eaLnBrk="1" hangingPunct="1">
              <a:lnSpc>
                <a:spcPct val="90000"/>
              </a:lnSpc>
            </a:pPr>
            <a:r>
              <a:rPr lang="en-US" sz="2800" smtClean="0"/>
              <a:t>cin &gt;&gt; head-&gt;item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Assigns entered string to </a:t>
            </a:r>
            <a:r>
              <a:rPr lang="en-US" sz="2400" i="1" smtClean="0"/>
              <a:t>item</a:t>
            </a:r>
            <a:r>
              <a:rPr lang="en-US" sz="2400" smtClean="0"/>
              <a:t> member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17-</a:t>
            </a:r>
            <a:fld id="{D5825338-B41D-4368-87AC-CC841482083D}" type="slidenum">
              <a:rPr lang="en-US"/>
              <a:pPr>
                <a:defRPr/>
              </a:pPr>
              <a:t>9</a:t>
            </a:fld>
            <a:endParaRPr lang="en-US"/>
          </a:p>
        </p:txBody>
      </p:sp>
      <p:sp>
        <p:nvSpPr>
          <p:cNvPr id="30724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End Markers</a:t>
            </a:r>
          </a:p>
        </p:txBody>
      </p:sp>
      <p:sp>
        <p:nvSpPr>
          <p:cNvPr id="3277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mtClean="0"/>
              <a:t>Use NULL for node pointer</a:t>
            </a:r>
          </a:p>
          <a:p>
            <a:pPr lvl="1" eaLnBrk="1" hangingPunct="1"/>
            <a:r>
              <a:rPr lang="en-US" smtClean="0"/>
              <a:t>Considered "sentinel" for nodes</a:t>
            </a:r>
          </a:p>
          <a:p>
            <a:pPr lvl="1" eaLnBrk="1" hangingPunct="1"/>
            <a:r>
              <a:rPr lang="en-US" smtClean="0"/>
              <a:t>Indicates no further "links" after this node</a:t>
            </a:r>
          </a:p>
          <a:p>
            <a:pPr eaLnBrk="1" hangingPunct="1"/>
            <a:r>
              <a:rPr lang="en-US" smtClean="0"/>
              <a:t>Provides end marker similar to how we</a:t>
            </a:r>
            <a:br>
              <a:rPr lang="en-US" smtClean="0"/>
            </a:br>
            <a:r>
              <a:rPr lang="en-US" smtClean="0"/>
              <a:t>use partially-filled arrays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17-</a:t>
            </a:r>
            <a:fld id="{6CC6110C-051A-46DB-A937-7BF92FAA9DDB}" type="slidenum">
              <a:rPr lang="en-US"/>
              <a:pPr>
                <a:defRPr/>
              </a:pPr>
              <a:t>10</a:t>
            </a:fld>
            <a:endParaRPr lang="en-US"/>
          </a:p>
        </p:txBody>
      </p:sp>
      <p:sp>
        <p:nvSpPr>
          <p:cNvPr id="32772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smtClean="0"/>
              <a:t>Display 17.2  </a:t>
            </a:r>
            <a:r>
              <a:rPr lang="en-US" sz="3600" smtClean="0"/>
              <a:t>Accessing Node Data</a:t>
            </a:r>
          </a:p>
        </p:txBody>
      </p:sp>
      <p:pic>
        <p:nvPicPr>
          <p:cNvPr id="34818" name="Picture 4" descr="C:\WINDOWS\Desktop\Oh_type\sacitch_C++_ppt\gif\savitchc17d02.gif"/>
          <p:cNvPicPr preferRelativeResize="0"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4"/>
          <a:srcRect/>
          <a:stretch>
            <a:fillRect/>
          </a:stretch>
        </p:blipFill>
        <p:spPr bwMode="auto">
          <a:xfrm>
            <a:off x="1357313" y="1381125"/>
            <a:ext cx="7080250" cy="4943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17-</a:t>
            </a:r>
            <a:fld id="{9CADC43E-8DA2-4D22-926B-B3A735255BF1}" type="slidenum">
              <a:rPr lang="en-US"/>
              <a:pPr>
                <a:defRPr/>
              </a:pPr>
              <a:t>11</a:t>
            </a:fld>
            <a:endParaRPr lang="en-US"/>
          </a:p>
        </p:txBody>
      </p:sp>
      <p:sp>
        <p:nvSpPr>
          <p:cNvPr id="34820" name="Footer Placeholder 6"/>
          <p:cNvSpPr>
            <a:spLocks noGrp="1"/>
          </p:cNvSpPr>
          <p:nvPr>
            <p:ph type="ftr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Linked List</a:t>
            </a:r>
          </a:p>
        </p:txBody>
      </p:sp>
      <p:sp>
        <p:nvSpPr>
          <p:cNvPr id="3686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mtClean="0"/>
              <a:t>Lists as illustrated called linked lists</a:t>
            </a:r>
          </a:p>
          <a:p>
            <a:pPr eaLnBrk="1" hangingPunct="1"/>
            <a:r>
              <a:rPr lang="en-US" smtClean="0"/>
              <a:t>First node called </a:t>
            </a:r>
            <a:r>
              <a:rPr lang="en-US" i="1" smtClean="0"/>
              <a:t>head</a:t>
            </a:r>
            <a:endParaRPr lang="en-US" smtClean="0"/>
          </a:p>
          <a:p>
            <a:pPr lvl="1" eaLnBrk="1" hangingPunct="1"/>
            <a:r>
              <a:rPr lang="en-US" smtClean="0"/>
              <a:t>Pointed to by pointer named </a:t>
            </a:r>
            <a:r>
              <a:rPr lang="en-US" i="1" smtClean="0"/>
              <a:t>head</a:t>
            </a:r>
            <a:endParaRPr lang="en-US" smtClean="0"/>
          </a:p>
          <a:p>
            <a:pPr eaLnBrk="1" hangingPunct="1"/>
            <a:r>
              <a:rPr lang="en-US" smtClean="0"/>
              <a:t>Last node special also</a:t>
            </a:r>
          </a:p>
          <a:p>
            <a:pPr lvl="1" eaLnBrk="1" hangingPunct="1"/>
            <a:r>
              <a:rPr lang="en-US" smtClean="0"/>
              <a:t>It’s member pointer variable is NULL</a:t>
            </a:r>
          </a:p>
          <a:p>
            <a:pPr lvl="1" eaLnBrk="1" hangingPunct="1"/>
            <a:r>
              <a:rPr lang="en-US" smtClean="0"/>
              <a:t>Easy test for "end" of linked list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17-</a:t>
            </a:r>
            <a:fld id="{B62A6A6D-042D-4023-8DB4-609845101B1F}" type="slidenum">
              <a:rPr lang="en-US"/>
              <a:pPr>
                <a:defRPr/>
              </a:pPr>
              <a:t>12</a:t>
            </a:fld>
            <a:endParaRPr lang="en-US"/>
          </a:p>
        </p:txBody>
      </p:sp>
      <p:sp>
        <p:nvSpPr>
          <p:cNvPr id="36868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Linked List Class Definition</a:t>
            </a:r>
          </a:p>
        </p:txBody>
      </p:sp>
      <p:sp>
        <p:nvSpPr>
          <p:cNvPr id="3891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04888" y="1485900"/>
            <a:ext cx="7815262" cy="4686300"/>
          </a:xfrm>
        </p:spPr>
        <p:txBody>
          <a:bodyPr/>
          <a:lstStyle/>
          <a:p>
            <a:pPr eaLnBrk="1" hangingPunct="1"/>
            <a:r>
              <a:rPr lang="en-US" sz="2000" smtClean="0"/>
              <a:t>class IntNode</a:t>
            </a:r>
            <a:br>
              <a:rPr lang="en-US" sz="2000" smtClean="0"/>
            </a:br>
            <a:r>
              <a:rPr lang="en-US" sz="2000" smtClean="0"/>
              <a:t>{</a:t>
            </a:r>
            <a:br>
              <a:rPr lang="en-US" sz="2000" smtClean="0"/>
            </a:br>
            <a:r>
              <a:rPr lang="en-US" sz="2000" smtClean="0"/>
              <a:t>public:</a:t>
            </a:r>
            <a:br>
              <a:rPr lang="en-US" sz="2000" smtClean="0"/>
            </a:br>
            <a:r>
              <a:rPr lang="en-US" sz="2000" smtClean="0"/>
              <a:t>	IntNode() { }</a:t>
            </a:r>
            <a:br>
              <a:rPr lang="en-US" sz="2000" smtClean="0"/>
            </a:br>
            <a:r>
              <a:rPr lang="en-US" sz="2000" smtClean="0"/>
              <a:t>	IntNode(int theData, IntNode* theLink)</a:t>
            </a:r>
            <a:br>
              <a:rPr lang="en-US" sz="2000" smtClean="0"/>
            </a:br>
            <a:r>
              <a:rPr lang="en-US" sz="2000" smtClean="0"/>
              <a:t>		: data(theData), link(theLink) { }</a:t>
            </a:r>
            <a:br>
              <a:rPr lang="en-US" sz="2000" smtClean="0"/>
            </a:br>
            <a:r>
              <a:rPr lang="en-US" sz="2000" smtClean="0"/>
              <a:t>	IntNode* getLink() 	const 		{return link;}</a:t>
            </a:r>
            <a:br>
              <a:rPr lang="en-US" sz="2000" smtClean="0"/>
            </a:br>
            <a:r>
              <a:rPr lang="en-US" sz="2000" smtClean="0"/>
              <a:t>	int getData() 		const		{return data;}</a:t>
            </a:r>
            <a:br>
              <a:rPr lang="en-US" sz="2000" smtClean="0"/>
            </a:br>
            <a:r>
              <a:rPr lang="en-US" sz="2000" smtClean="0"/>
              <a:t>	void setData(int theData) 		{data = theData;}</a:t>
            </a:r>
            <a:br>
              <a:rPr lang="en-US" sz="2000" smtClean="0"/>
            </a:br>
            <a:r>
              <a:rPr lang="en-US" sz="2000" smtClean="0"/>
              <a:t>	void setLink(IntNode* pointer) 	{link=pointer;}</a:t>
            </a:r>
            <a:br>
              <a:rPr lang="en-US" sz="2000" smtClean="0"/>
            </a:br>
            <a:r>
              <a:rPr lang="en-US" sz="2000" smtClean="0"/>
              <a:t>private:</a:t>
            </a:r>
            <a:br>
              <a:rPr lang="en-US" sz="2000" smtClean="0"/>
            </a:br>
            <a:r>
              <a:rPr lang="en-US" sz="2000" smtClean="0"/>
              <a:t>	int data;</a:t>
            </a:r>
            <a:br>
              <a:rPr lang="en-US" sz="2000" smtClean="0"/>
            </a:br>
            <a:r>
              <a:rPr lang="en-US" sz="2000" smtClean="0"/>
              <a:t>	IntNode *link;</a:t>
            </a:r>
            <a:br>
              <a:rPr lang="en-US" sz="2000" smtClean="0"/>
            </a:br>
            <a:r>
              <a:rPr lang="en-US" sz="2000" smtClean="0"/>
              <a:t>};</a:t>
            </a:r>
            <a:br>
              <a:rPr lang="en-US" sz="2000" smtClean="0"/>
            </a:br>
            <a:r>
              <a:rPr lang="en-US" sz="2000" smtClean="0"/>
              <a:t>typedef IntNode* IntNodePtr;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17-</a:t>
            </a:r>
            <a:fld id="{6F101FD1-D3CE-4B22-88AE-73BC5E9BA575}" type="slidenum">
              <a:rPr lang="en-US"/>
              <a:pPr>
                <a:defRPr/>
              </a:pPr>
              <a:t>13</a:t>
            </a:fld>
            <a:endParaRPr lang="en-US"/>
          </a:p>
        </p:txBody>
      </p:sp>
      <p:sp>
        <p:nvSpPr>
          <p:cNvPr id="38916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Linked List Class</a:t>
            </a:r>
          </a:p>
        </p:txBody>
      </p:sp>
      <p:sp>
        <p:nvSpPr>
          <p:cNvPr id="4096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mtClean="0"/>
              <a:t>Notice all member function definitions are inline</a:t>
            </a:r>
          </a:p>
          <a:p>
            <a:pPr lvl="1" eaLnBrk="1" hangingPunct="1"/>
            <a:r>
              <a:rPr lang="en-US" smtClean="0"/>
              <a:t>Small and simple enough</a:t>
            </a:r>
          </a:p>
          <a:p>
            <a:pPr eaLnBrk="1" hangingPunct="1"/>
            <a:r>
              <a:rPr lang="en-US" smtClean="0"/>
              <a:t>Notice two-parameter constructor</a:t>
            </a:r>
          </a:p>
          <a:p>
            <a:pPr lvl="1" eaLnBrk="1" hangingPunct="1"/>
            <a:r>
              <a:rPr lang="en-US" smtClean="0"/>
              <a:t>Allows creation of nodes with specific data</a:t>
            </a:r>
            <a:br>
              <a:rPr lang="en-US" smtClean="0"/>
            </a:br>
            <a:r>
              <a:rPr lang="en-US" smtClean="0"/>
              <a:t>value and specified link member</a:t>
            </a:r>
          </a:p>
          <a:p>
            <a:pPr lvl="1" eaLnBrk="1" hangingPunct="1"/>
            <a:r>
              <a:rPr lang="en-US" smtClean="0"/>
              <a:t>Example:</a:t>
            </a:r>
            <a:br>
              <a:rPr lang="en-US" smtClean="0"/>
            </a:br>
            <a:r>
              <a:rPr lang="en-US" smtClean="0"/>
              <a:t>IntNodePtr p2 = new IntNode(42, p1);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17-</a:t>
            </a:r>
            <a:fld id="{094FE18E-3466-423D-B072-F957633498ED}" type="slidenum">
              <a:rPr lang="en-US"/>
              <a:pPr>
                <a:defRPr/>
              </a:pPr>
              <a:t>14</a:t>
            </a:fld>
            <a:endParaRPr lang="en-US"/>
          </a:p>
        </p:txBody>
      </p:sp>
      <p:sp>
        <p:nvSpPr>
          <p:cNvPr id="40964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Create 1</a:t>
            </a:r>
            <a:r>
              <a:rPr lang="en-US" baseline="30000" smtClean="0"/>
              <a:t>st</a:t>
            </a:r>
            <a:r>
              <a:rPr lang="en-US" smtClean="0"/>
              <a:t> Node</a:t>
            </a:r>
          </a:p>
        </p:txBody>
      </p:sp>
      <p:sp>
        <p:nvSpPr>
          <p:cNvPr id="4301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800" smtClean="0"/>
              <a:t>IntNodePtr head;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Declares pointer variable </a:t>
            </a:r>
            <a:r>
              <a:rPr lang="en-US" sz="2400" i="1" smtClean="0"/>
              <a:t>head</a:t>
            </a:r>
          </a:p>
          <a:p>
            <a:pPr eaLnBrk="1" hangingPunct="1">
              <a:lnSpc>
                <a:spcPct val="90000"/>
              </a:lnSpc>
            </a:pPr>
            <a:r>
              <a:rPr lang="en-US" sz="2800" smtClean="0"/>
              <a:t>head = new IntNode;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Dynamically allocates new node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Our 1</a:t>
            </a:r>
            <a:r>
              <a:rPr lang="en-US" sz="2400" baseline="30000" smtClean="0"/>
              <a:t>st</a:t>
            </a:r>
            <a:r>
              <a:rPr lang="en-US" sz="2400" smtClean="0"/>
              <a:t> node in list, so assigned to head</a:t>
            </a:r>
          </a:p>
          <a:p>
            <a:pPr eaLnBrk="1" hangingPunct="1">
              <a:lnSpc>
                <a:spcPct val="90000"/>
              </a:lnSpc>
            </a:pPr>
            <a:r>
              <a:rPr lang="en-US" sz="2800" smtClean="0"/>
              <a:t>head-&gt;setData(3);</a:t>
            </a:r>
            <a:br>
              <a:rPr lang="en-US" sz="2800" smtClean="0"/>
            </a:br>
            <a:r>
              <a:rPr lang="en-US" sz="2800" smtClean="0"/>
              <a:t>head-&gt;setLink(NULL);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Sets head node data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Link set to NULL since it’s the only node!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17-</a:t>
            </a:r>
            <a:fld id="{826AA1C4-7A86-42E5-9EDC-1E2FD90D441D}" type="slidenum">
              <a:rPr lang="en-US"/>
              <a:pPr>
                <a:defRPr/>
              </a:pPr>
              <a:t>15</a:t>
            </a:fld>
            <a:endParaRPr lang="en-US"/>
          </a:p>
        </p:txBody>
      </p:sp>
      <p:sp>
        <p:nvSpPr>
          <p:cNvPr id="43012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Rectangle 2"/>
          <p:cNvSpPr>
            <a:spLocks noGrp="1" noChangeArrowheads="1"/>
          </p:cNvSpPr>
          <p:nvPr>
            <p:ph type="title"/>
          </p:nvPr>
        </p:nvSpPr>
        <p:spPr>
          <a:xfrm>
            <a:off x="909638" y="152400"/>
            <a:ext cx="3109912" cy="2465388"/>
          </a:xfrm>
        </p:spPr>
        <p:txBody>
          <a:bodyPr/>
          <a:lstStyle/>
          <a:p>
            <a:pPr eaLnBrk="1" hangingPunct="1"/>
            <a:r>
              <a:rPr lang="en-US" sz="2800" b="1" smtClean="0"/>
              <a:t>Display 17.3  </a:t>
            </a:r>
            <a:r>
              <a:rPr lang="en-US" sz="2800" smtClean="0"/>
              <a:t>Adding a Node </a:t>
            </a:r>
            <a:br>
              <a:rPr lang="en-US" sz="2800" smtClean="0"/>
            </a:br>
            <a:r>
              <a:rPr lang="en-US" sz="2800" smtClean="0"/>
              <a:t>to the Head of </a:t>
            </a:r>
            <a:br>
              <a:rPr lang="en-US" sz="2800" smtClean="0"/>
            </a:br>
            <a:r>
              <a:rPr lang="en-US" sz="2800" smtClean="0"/>
              <a:t>a Linked List</a:t>
            </a:r>
          </a:p>
        </p:txBody>
      </p:sp>
      <p:pic>
        <p:nvPicPr>
          <p:cNvPr id="45058" name="Picture 7" descr="savitchc17d03_complete.gif                                     00005BE4mt_external                    BE5D1705: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616325" y="304800"/>
            <a:ext cx="5334000" cy="6213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17-</a:t>
            </a:r>
            <a:fld id="{ABC34C9F-7B34-4C28-90D7-4DBBB15C1FDD}" type="slidenum">
              <a:rPr lang="en-US"/>
              <a:pPr>
                <a:defRPr/>
              </a:pPr>
              <a:t>16</a:t>
            </a:fld>
            <a:endParaRPr lang="en-US"/>
          </a:p>
        </p:txBody>
      </p:sp>
      <p:sp>
        <p:nvSpPr>
          <p:cNvPr id="45060" name="Footer Placeholder 6"/>
          <p:cNvSpPr>
            <a:spLocks noGrp="1"/>
          </p:cNvSpPr>
          <p:nvPr>
            <p:ph type="ftr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smtClean="0"/>
              <a:t>Lost Nodes Pitfall: </a:t>
            </a:r>
            <a:br>
              <a:rPr lang="en-US" sz="3600" smtClean="0"/>
            </a:br>
            <a:r>
              <a:rPr lang="en-US" sz="3600" b="1" smtClean="0"/>
              <a:t>Display 17.5  </a:t>
            </a:r>
            <a:r>
              <a:rPr lang="en-US" sz="3600" smtClean="0"/>
              <a:t>Lost Nodes</a:t>
            </a:r>
          </a:p>
        </p:txBody>
      </p:sp>
      <p:pic>
        <p:nvPicPr>
          <p:cNvPr id="47106" name="Picture 4" descr="C:\WINDOWS\Desktop\Oh_type\sacitch_C++_ppt\gif\savitchc17d05.gif"/>
          <p:cNvPicPr preferRelativeResize="0"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4"/>
          <a:srcRect/>
          <a:stretch>
            <a:fillRect/>
          </a:stretch>
        </p:blipFill>
        <p:spPr bwMode="auto">
          <a:xfrm>
            <a:off x="1204913" y="1619250"/>
            <a:ext cx="738505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17-</a:t>
            </a:r>
            <a:fld id="{B242DC55-05DC-490A-A5E1-9610DFF7D77C}" type="slidenum">
              <a:rPr lang="en-US"/>
              <a:pPr>
                <a:defRPr/>
              </a:pPr>
              <a:t>17</a:t>
            </a:fld>
            <a:endParaRPr lang="en-US"/>
          </a:p>
        </p:txBody>
      </p:sp>
      <p:sp>
        <p:nvSpPr>
          <p:cNvPr id="47108" name="Footer Placeholder 6"/>
          <p:cNvSpPr>
            <a:spLocks noGrp="1"/>
          </p:cNvSpPr>
          <p:nvPr>
            <p:ph type="ftr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smtClean="0"/>
              <a:t>Display 17.6  </a:t>
            </a:r>
            <a:r>
              <a:rPr lang="en-US" sz="3600" smtClean="0"/>
              <a:t>Inserting in the Middle of a Linked List (1 of 2)</a:t>
            </a:r>
          </a:p>
        </p:txBody>
      </p:sp>
      <p:pic>
        <p:nvPicPr>
          <p:cNvPr id="49154" name="Picture 4" descr="C:\WINDOWS\Desktop\Oh_type\sacitch_C++_ppt\gif\savitchc17d06_1of2.gif"/>
          <p:cNvPicPr preferRelativeResize="0"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4"/>
          <a:srcRect/>
          <a:stretch>
            <a:fillRect/>
          </a:stretch>
        </p:blipFill>
        <p:spPr bwMode="auto">
          <a:xfrm>
            <a:off x="1014413" y="1752600"/>
            <a:ext cx="7772400" cy="4108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17-</a:t>
            </a:r>
            <a:fld id="{42A6DBCE-B338-4CD0-9E81-3009BA766968}" type="slidenum">
              <a:rPr lang="en-US"/>
              <a:pPr>
                <a:defRPr/>
              </a:pPr>
              <a:t>18</a:t>
            </a:fld>
            <a:endParaRPr lang="en-US"/>
          </a:p>
        </p:txBody>
      </p:sp>
      <p:sp>
        <p:nvSpPr>
          <p:cNvPr id="49156" name="Footer Placeholder 6"/>
          <p:cNvSpPr>
            <a:spLocks noGrp="1"/>
          </p:cNvSpPr>
          <p:nvPr>
            <p:ph type="ftr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smtClean="0"/>
              <a:t>Display 17.6  </a:t>
            </a:r>
            <a:r>
              <a:rPr lang="en-US" sz="3600" smtClean="0"/>
              <a:t>Inserting in the Middle of a Linked List (2 of 2)</a:t>
            </a:r>
          </a:p>
        </p:txBody>
      </p:sp>
      <p:pic>
        <p:nvPicPr>
          <p:cNvPr id="51202" name="Picture 4" descr="C:\WINDOWS\Desktop\Oh_type\sacitch_C++_ppt\gif\savitchc17d06_2of2.gif"/>
          <p:cNvPicPr preferRelativeResize="0"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4"/>
          <a:srcRect/>
          <a:stretch>
            <a:fillRect/>
          </a:stretch>
        </p:blipFill>
        <p:spPr bwMode="auto">
          <a:xfrm>
            <a:off x="974725" y="1836738"/>
            <a:ext cx="7772400" cy="37258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17-</a:t>
            </a:r>
            <a:fld id="{582A5278-BC9C-441E-9C71-98A24E3FA149}" type="slidenum">
              <a:rPr lang="en-US"/>
              <a:pPr>
                <a:defRPr/>
              </a:pPr>
              <a:t>19</a:t>
            </a:fld>
            <a:endParaRPr lang="en-US"/>
          </a:p>
        </p:txBody>
      </p:sp>
      <p:sp>
        <p:nvSpPr>
          <p:cNvPr id="51204" name="Footer Placeholder 6"/>
          <p:cNvSpPr>
            <a:spLocks noGrp="1"/>
          </p:cNvSpPr>
          <p:nvPr>
            <p:ph type="ftr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Rectangle 2"/>
          <p:cNvSpPr>
            <a:spLocks noGrp="1" noChangeArrowheads="1"/>
          </p:cNvSpPr>
          <p:nvPr>
            <p:ph type="title"/>
          </p:nvPr>
        </p:nvSpPr>
        <p:spPr>
          <a:xfrm>
            <a:off x="952500" y="158750"/>
            <a:ext cx="2933700" cy="1898650"/>
          </a:xfrm>
        </p:spPr>
        <p:txBody>
          <a:bodyPr/>
          <a:lstStyle/>
          <a:p>
            <a:pPr eaLnBrk="1" hangingPunct="1"/>
            <a:r>
              <a:rPr lang="en-US" sz="3000" b="1" smtClean="0"/>
              <a:t>Display 17.7  </a:t>
            </a:r>
            <a:r>
              <a:rPr lang="en-US" sz="3000" smtClean="0"/>
              <a:t>Removing </a:t>
            </a:r>
            <a:br>
              <a:rPr lang="en-US" sz="3000" smtClean="0"/>
            </a:br>
            <a:r>
              <a:rPr lang="en-US" sz="3000" smtClean="0"/>
              <a:t>a Node</a:t>
            </a:r>
          </a:p>
        </p:txBody>
      </p:sp>
      <p:pic>
        <p:nvPicPr>
          <p:cNvPr id="53250" name="Picture 4" descr="C:\WINDOWS\Desktop\Oh_type\sacitch_C++_ppt\gif\savitchc17d07.gif"/>
          <p:cNvPicPr preferRelativeResize="0"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4"/>
          <a:srcRect/>
          <a:stretch>
            <a:fillRect/>
          </a:stretch>
        </p:blipFill>
        <p:spPr bwMode="auto">
          <a:xfrm>
            <a:off x="3706813" y="249238"/>
            <a:ext cx="5208587" cy="6219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17-</a:t>
            </a:r>
            <a:fld id="{CA96A56E-F43E-4952-9080-C3B8965DC885}" type="slidenum">
              <a:rPr lang="en-US"/>
              <a:pPr>
                <a:defRPr/>
              </a:pPr>
              <a:t>20</a:t>
            </a:fld>
            <a:endParaRPr lang="en-US"/>
          </a:p>
        </p:txBody>
      </p:sp>
      <p:sp>
        <p:nvSpPr>
          <p:cNvPr id="53252" name="Footer Placeholder 6"/>
          <p:cNvSpPr>
            <a:spLocks noGrp="1"/>
          </p:cNvSpPr>
          <p:nvPr>
            <p:ph type="ftr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Searching a Linked List</a:t>
            </a:r>
          </a:p>
        </p:txBody>
      </p:sp>
      <p:sp>
        <p:nvSpPr>
          <p:cNvPr id="5529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z="2800" smtClean="0"/>
              <a:t>Function with two arguments:</a:t>
            </a:r>
            <a:br>
              <a:rPr lang="en-US" sz="2800" smtClean="0"/>
            </a:br>
            <a:r>
              <a:rPr lang="en-US" sz="2400" smtClean="0"/>
              <a:t>IntNodePtr search(IntNodePtr head, int target);</a:t>
            </a:r>
            <a:br>
              <a:rPr lang="en-US" sz="2400" smtClean="0"/>
            </a:br>
            <a:r>
              <a:rPr lang="en-US" sz="2400" b="1" smtClean="0"/>
              <a:t>//Precondition: pointer head points to head of</a:t>
            </a:r>
            <a:br>
              <a:rPr lang="en-US" sz="2400" b="1" smtClean="0"/>
            </a:br>
            <a:r>
              <a:rPr lang="en-US" sz="2400" b="1" smtClean="0"/>
              <a:t>//linked list.  Pointer in last node is NULL.</a:t>
            </a:r>
            <a:br>
              <a:rPr lang="en-US" sz="2400" b="1" smtClean="0"/>
            </a:br>
            <a:r>
              <a:rPr lang="en-US" sz="2400" b="1" smtClean="0"/>
              <a:t>//If list is empty, head is NULL</a:t>
            </a:r>
            <a:br>
              <a:rPr lang="en-US" sz="2400" b="1" smtClean="0"/>
            </a:br>
            <a:r>
              <a:rPr lang="en-US" sz="2400" b="1" smtClean="0"/>
              <a:t>//Returns pointer to 1</a:t>
            </a:r>
            <a:r>
              <a:rPr lang="en-US" sz="2400" b="1" baseline="30000" smtClean="0"/>
              <a:t>st</a:t>
            </a:r>
            <a:r>
              <a:rPr lang="en-US" sz="2400" b="1" smtClean="0"/>
              <a:t> node containing target</a:t>
            </a:r>
            <a:br>
              <a:rPr lang="en-US" sz="2400" b="1" smtClean="0"/>
            </a:br>
            <a:r>
              <a:rPr lang="en-US" sz="2400" b="1" smtClean="0"/>
              <a:t>//If not found, returns NULL</a:t>
            </a:r>
          </a:p>
          <a:p>
            <a:pPr eaLnBrk="1" hangingPunct="1"/>
            <a:r>
              <a:rPr lang="en-US" sz="2800" smtClean="0"/>
              <a:t>Simple "traversal" of list</a:t>
            </a:r>
          </a:p>
          <a:p>
            <a:pPr lvl="1" eaLnBrk="1" hangingPunct="1"/>
            <a:r>
              <a:rPr lang="en-US" sz="2400" smtClean="0"/>
              <a:t>Similar to array traversal</a:t>
            </a:r>
            <a:endParaRPr lang="en-US" sz="2400" b="1" smtClean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17-</a:t>
            </a:r>
            <a:fld id="{06156306-0574-4710-8FC5-F4824C2B8864}" type="slidenum">
              <a:rPr lang="en-US"/>
              <a:pPr>
                <a:defRPr/>
              </a:pPr>
              <a:t>21</a:t>
            </a:fld>
            <a:endParaRPr lang="en-US"/>
          </a:p>
        </p:txBody>
      </p:sp>
      <p:sp>
        <p:nvSpPr>
          <p:cNvPr id="55300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Pseudocode for search Function</a:t>
            </a:r>
          </a:p>
        </p:txBody>
      </p:sp>
      <p:sp>
        <p:nvSpPr>
          <p:cNvPr id="5734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z="2800" smtClean="0"/>
              <a:t>while (here doesn’t point to target node or</a:t>
            </a:r>
            <a:br>
              <a:rPr lang="en-US" sz="2800" smtClean="0"/>
            </a:br>
            <a:r>
              <a:rPr lang="en-US" sz="2800" smtClean="0"/>
              <a:t>		last node)</a:t>
            </a:r>
            <a:br>
              <a:rPr lang="en-US" sz="2800" smtClean="0"/>
            </a:br>
            <a:r>
              <a:rPr lang="en-US" sz="2800" smtClean="0"/>
              <a:t>{</a:t>
            </a:r>
            <a:br>
              <a:rPr lang="en-US" sz="2800" smtClean="0"/>
            </a:br>
            <a:r>
              <a:rPr lang="en-US" sz="2800" smtClean="0"/>
              <a:t>	  Make here point to next node in list</a:t>
            </a:r>
            <a:br>
              <a:rPr lang="en-US" sz="2800" smtClean="0"/>
            </a:br>
            <a:r>
              <a:rPr lang="en-US" sz="2800" smtClean="0"/>
              <a:t>}</a:t>
            </a:r>
            <a:br>
              <a:rPr lang="en-US" sz="2800" smtClean="0"/>
            </a:br>
            <a:r>
              <a:rPr lang="en-US" sz="2800" smtClean="0"/>
              <a:t>if (here node points to target)</a:t>
            </a:r>
            <a:br>
              <a:rPr lang="en-US" sz="2800" smtClean="0"/>
            </a:br>
            <a:r>
              <a:rPr lang="en-US" sz="2800" smtClean="0"/>
              <a:t>	  return here;</a:t>
            </a:r>
            <a:br>
              <a:rPr lang="en-US" sz="2800" smtClean="0"/>
            </a:br>
            <a:r>
              <a:rPr lang="en-US" sz="2800" smtClean="0"/>
              <a:t>else</a:t>
            </a:r>
            <a:br>
              <a:rPr lang="en-US" sz="2800" smtClean="0"/>
            </a:br>
            <a:r>
              <a:rPr lang="en-US" sz="2800" smtClean="0"/>
              <a:t>	  return NULL;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17-</a:t>
            </a:r>
            <a:fld id="{3ADBB21A-C6C1-4505-9201-8A41FB58F057}" type="slidenum">
              <a:rPr lang="en-US"/>
              <a:pPr>
                <a:defRPr/>
              </a:pPr>
              <a:t>22</a:t>
            </a:fld>
            <a:endParaRPr lang="en-US"/>
          </a:p>
        </p:txBody>
      </p:sp>
      <p:sp>
        <p:nvSpPr>
          <p:cNvPr id="57348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Algorithm for search Function</a:t>
            </a:r>
          </a:p>
        </p:txBody>
      </p:sp>
      <p:sp>
        <p:nvSpPr>
          <p:cNvPr id="5939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800" smtClean="0"/>
              <a:t>while (here-&gt;getData() != target &amp;&amp;</a:t>
            </a:r>
            <a:br>
              <a:rPr lang="en-US" sz="2800" smtClean="0"/>
            </a:br>
            <a:r>
              <a:rPr lang="en-US" sz="2800" smtClean="0"/>
              <a:t>		here-&gt;getLink() != NULL)</a:t>
            </a:r>
            <a:br>
              <a:rPr lang="en-US" sz="2800" smtClean="0"/>
            </a:br>
            <a:r>
              <a:rPr lang="en-US" sz="2800" smtClean="0"/>
              <a:t>	  here = here-&gt;getLink();</a:t>
            </a:r>
            <a:br>
              <a:rPr lang="en-US" sz="2800" smtClean="0"/>
            </a:br>
            <a:r>
              <a:rPr lang="en-US" sz="2800" smtClean="0"/>
              <a:t/>
            </a:r>
            <a:br>
              <a:rPr lang="en-US" sz="2800" smtClean="0"/>
            </a:br>
            <a:r>
              <a:rPr lang="en-US" sz="2800" smtClean="0"/>
              <a:t>if (here-&gt;getData() == target)</a:t>
            </a:r>
            <a:br>
              <a:rPr lang="en-US" sz="2800" smtClean="0"/>
            </a:br>
            <a:r>
              <a:rPr lang="en-US" sz="2800" smtClean="0"/>
              <a:t>	  return here;</a:t>
            </a:r>
            <a:br>
              <a:rPr lang="en-US" sz="2800" smtClean="0"/>
            </a:br>
            <a:r>
              <a:rPr lang="en-US" sz="2800" smtClean="0"/>
              <a:t>else</a:t>
            </a:r>
            <a:br>
              <a:rPr lang="en-US" sz="2800" smtClean="0"/>
            </a:br>
            <a:r>
              <a:rPr lang="en-US" sz="2800" smtClean="0"/>
              <a:t>	  return NULL;</a:t>
            </a:r>
          </a:p>
          <a:p>
            <a:pPr eaLnBrk="1" hangingPunct="1">
              <a:lnSpc>
                <a:spcPct val="90000"/>
              </a:lnSpc>
            </a:pPr>
            <a:r>
              <a:rPr lang="en-US" sz="2800" smtClean="0"/>
              <a:t>Must make "special" case for empty list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Not done here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17-</a:t>
            </a:r>
            <a:fld id="{DCEA68F3-C7B0-4689-86AF-0DD64CDF3187}" type="slidenum">
              <a:rPr lang="en-US"/>
              <a:pPr>
                <a:defRPr/>
              </a:pPr>
              <a:t>23</a:t>
            </a:fld>
            <a:endParaRPr lang="en-US"/>
          </a:p>
        </p:txBody>
      </p:sp>
      <p:sp>
        <p:nvSpPr>
          <p:cNvPr id="59396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Doubly Linked Lists</a:t>
            </a:r>
          </a:p>
        </p:txBody>
      </p:sp>
      <p:sp>
        <p:nvSpPr>
          <p:cNvPr id="61442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sz="2800" smtClean="0"/>
              <a:t>What we just described is a singly linked list</a:t>
            </a:r>
          </a:p>
          <a:p>
            <a:pPr lvl="1" eaLnBrk="1" hangingPunct="1"/>
            <a:r>
              <a:rPr lang="en-US" sz="2400" smtClean="0"/>
              <a:t>Can only follow links in one direction</a:t>
            </a:r>
          </a:p>
          <a:p>
            <a:pPr eaLnBrk="1" hangingPunct="1"/>
            <a:r>
              <a:rPr lang="en-US" sz="2800" smtClean="0"/>
              <a:t>Doubly Linked List</a:t>
            </a:r>
          </a:p>
          <a:p>
            <a:pPr lvl="1" eaLnBrk="1" hangingPunct="1"/>
            <a:r>
              <a:rPr lang="en-US" sz="2400" smtClean="0"/>
              <a:t>Links to the next node and another link to the previous node</a:t>
            </a:r>
          </a:p>
          <a:p>
            <a:pPr lvl="1" eaLnBrk="1" hangingPunct="1"/>
            <a:r>
              <a:rPr lang="en-US" sz="2400" smtClean="0"/>
              <a:t>Can follow links in either direction</a:t>
            </a:r>
          </a:p>
          <a:p>
            <a:pPr lvl="1" eaLnBrk="1" hangingPunct="1"/>
            <a:r>
              <a:rPr lang="en-US" sz="2400" smtClean="0"/>
              <a:t>NULL signifies the beginning and end of the list</a:t>
            </a:r>
          </a:p>
          <a:p>
            <a:pPr lvl="1" eaLnBrk="1" hangingPunct="1"/>
            <a:r>
              <a:rPr lang="en-US" sz="2400" smtClean="0"/>
              <a:t>Can make some operations easier, e.g. deletion since we don’t need to search the list to find the node before the one we want to remove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17-</a:t>
            </a:r>
            <a:fld id="{C1FA9CD8-ED60-45CF-92B9-E2068F50E540}" type="slidenum">
              <a:rPr lang="en-US" smtClean="0"/>
              <a:pPr>
                <a:defRPr/>
              </a:pPr>
              <a:t>24</a:t>
            </a:fld>
            <a:endParaRPr lang="en-US"/>
          </a:p>
        </p:txBody>
      </p:sp>
      <p:sp>
        <p:nvSpPr>
          <p:cNvPr id="61444" name="Footer Placeholder 4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489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133600" y="1143000"/>
            <a:ext cx="4457700" cy="1047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3490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pPr eaLnBrk="1" hangingPunct="1"/>
            <a:r>
              <a:rPr lang="en-US" smtClean="0"/>
              <a:t>Doubly Linked Lists</a:t>
            </a:r>
          </a:p>
        </p:txBody>
      </p:sp>
      <p:sp>
        <p:nvSpPr>
          <p:cNvPr id="63491" name="Footer Placeholder 4"/>
          <p:cNvSpPr>
            <a:spLocks noGrp="1"/>
          </p:cNvSpPr>
          <p:nvPr>
            <p:ph type="ftr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17-</a:t>
            </a:r>
            <a:fld id="{AFA3FC95-A2AF-4A6D-8B5D-5B5E2AA3E2ED}" type="slidenum">
              <a:rPr lang="en-US" smtClean="0"/>
              <a:pPr>
                <a:defRPr/>
              </a:pPr>
              <a:t>25</a:t>
            </a:fld>
            <a:endParaRPr lang="en-US"/>
          </a:p>
        </p:txBody>
      </p:sp>
      <p:sp>
        <p:nvSpPr>
          <p:cNvPr id="63493" name="TextBox 6"/>
          <p:cNvSpPr txBox="1">
            <a:spLocks noChangeArrowheads="1"/>
          </p:cNvSpPr>
          <p:nvPr/>
        </p:nvSpPr>
        <p:spPr bwMode="auto">
          <a:xfrm>
            <a:off x="685800" y="1981200"/>
            <a:ext cx="8054975" cy="4559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 b="1">
                <a:latin typeface="Courier New" pitchFamily="49" charset="0"/>
                <a:cs typeface="Courier New" pitchFamily="49" charset="0"/>
              </a:rPr>
              <a:t>class DoublyLinkedIntNode</a:t>
            </a:r>
          </a:p>
          <a:p>
            <a:r>
              <a:rPr lang="en-US" sz="1400" b="1">
                <a:latin typeface="Courier New" pitchFamily="49" charset="0"/>
                <a:cs typeface="Courier New" pitchFamily="49" charset="0"/>
              </a:rPr>
              <a:t>{</a:t>
            </a:r>
          </a:p>
          <a:p>
            <a:r>
              <a:rPr lang="en-US" sz="1400" b="1">
                <a:latin typeface="Courier New" pitchFamily="49" charset="0"/>
                <a:cs typeface="Courier New" pitchFamily="49" charset="0"/>
              </a:rPr>
              <a:t>public:</a:t>
            </a:r>
          </a:p>
          <a:p>
            <a:r>
              <a:rPr lang="en-US" sz="1400" b="1">
                <a:latin typeface="Courier New" pitchFamily="49" charset="0"/>
                <a:cs typeface="Courier New" pitchFamily="49" charset="0"/>
              </a:rPr>
              <a:t>    DoublyLinkedIntNode ( ){}</a:t>
            </a:r>
          </a:p>
          <a:p>
            <a:r>
              <a:rPr lang="en-US" sz="1400" b="1">
                <a:latin typeface="Courier New" pitchFamily="49" charset="0"/>
                <a:cs typeface="Courier New" pitchFamily="49" charset="0"/>
              </a:rPr>
              <a:t>    DoublyLinkedIntNode (int theData, DoublyLinkedIntNode* previous,</a:t>
            </a:r>
          </a:p>
          <a:p>
            <a:r>
              <a:rPr lang="en-US" sz="1400" b="1">
                <a:latin typeface="Courier New" pitchFamily="49" charset="0"/>
                <a:cs typeface="Courier New" pitchFamily="49" charset="0"/>
              </a:rPr>
              <a:t>		        DoublyLinkedIntNode* next)</a:t>
            </a:r>
          </a:p>
          <a:p>
            <a:r>
              <a:rPr lang="en-US" sz="1400" b="1">
                <a:latin typeface="Courier New" pitchFamily="49" charset="0"/>
                <a:cs typeface="Courier New" pitchFamily="49" charset="0"/>
              </a:rPr>
              <a:t>            : data(theData), nextLink(next), previousLink(previous) {}</a:t>
            </a:r>
          </a:p>
          <a:p>
            <a:r>
              <a:rPr lang="en-US" sz="1400" b="1">
                <a:latin typeface="Courier New" pitchFamily="49" charset="0"/>
                <a:cs typeface="Courier New" pitchFamily="49" charset="0"/>
              </a:rPr>
              <a:t>    DoublyLinkedIntNode* getNextLink( ) const { return nextLink; }</a:t>
            </a:r>
          </a:p>
          <a:p>
            <a:r>
              <a:rPr lang="en-US" sz="1400" b="1">
                <a:latin typeface="Courier New" pitchFamily="49" charset="0"/>
                <a:cs typeface="Courier New" pitchFamily="49" charset="0"/>
              </a:rPr>
              <a:t>    DoublyLinkedIntNode* getPreviousLink( ) const { return previousLink; }</a:t>
            </a:r>
          </a:p>
          <a:p>
            <a:r>
              <a:rPr lang="en-US" sz="1400" b="1">
                <a:latin typeface="Courier New" pitchFamily="49" charset="0"/>
                <a:cs typeface="Courier New" pitchFamily="49" charset="0"/>
              </a:rPr>
              <a:t>    int getData( ) const { return data; }</a:t>
            </a:r>
          </a:p>
          <a:p>
            <a:r>
              <a:rPr lang="en-US" sz="1400" b="1">
                <a:latin typeface="Courier New" pitchFamily="49" charset="0"/>
                <a:cs typeface="Courier New" pitchFamily="49" charset="0"/>
              </a:rPr>
              <a:t>    void setData(int theData) { data = theData; }</a:t>
            </a:r>
          </a:p>
          <a:p>
            <a:r>
              <a:rPr lang="en-US" sz="1400" b="1">
                <a:latin typeface="Courier New" pitchFamily="49" charset="0"/>
                <a:cs typeface="Courier New" pitchFamily="49" charset="0"/>
              </a:rPr>
              <a:t>    void setNextLink(DoublyLinkedIntNode* pointer) { nextLink = pointer; }</a:t>
            </a:r>
          </a:p>
          <a:p>
            <a:r>
              <a:rPr lang="en-US" sz="1400" b="1">
                <a:latin typeface="Courier New" pitchFamily="49" charset="0"/>
                <a:cs typeface="Courier New" pitchFamily="49" charset="0"/>
              </a:rPr>
              <a:t>    void setPreviousLink(DoublyLinkedIntNode* pointer)</a:t>
            </a:r>
          </a:p>
          <a:p>
            <a:r>
              <a:rPr lang="en-US" sz="1400" b="1">
                <a:latin typeface="Courier New" pitchFamily="49" charset="0"/>
                <a:cs typeface="Courier New" pitchFamily="49" charset="0"/>
              </a:rPr>
              <a:t>	{ previousLink = pointer; }</a:t>
            </a:r>
          </a:p>
          <a:p>
            <a:r>
              <a:rPr lang="en-US" sz="1400" b="1">
                <a:latin typeface="Courier New" pitchFamily="49" charset="0"/>
                <a:cs typeface="Courier New" pitchFamily="49" charset="0"/>
              </a:rPr>
              <a:t>private:</a:t>
            </a:r>
          </a:p>
          <a:p>
            <a:r>
              <a:rPr lang="en-US" sz="1400" b="1">
                <a:latin typeface="Courier New" pitchFamily="49" charset="0"/>
                <a:cs typeface="Courier New" pitchFamily="49" charset="0"/>
              </a:rPr>
              <a:t>    int data;</a:t>
            </a:r>
          </a:p>
          <a:p>
            <a:r>
              <a:rPr lang="en-US" sz="1400" b="1">
                <a:latin typeface="Courier New" pitchFamily="49" charset="0"/>
                <a:cs typeface="Courier New" pitchFamily="49" charset="0"/>
              </a:rPr>
              <a:t>    DoublyLinkedIntNode *nextLink;</a:t>
            </a:r>
          </a:p>
          <a:p>
            <a:r>
              <a:rPr lang="en-US" sz="1400" b="1">
                <a:latin typeface="Courier New" pitchFamily="49" charset="0"/>
                <a:cs typeface="Courier New" pitchFamily="49" charset="0"/>
              </a:rPr>
              <a:t>    DoublyLinkedIntNode *previousLink;</a:t>
            </a:r>
          </a:p>
          <a:p>
            <a:r>
              <a:rPr lang="en-US" sz="1400" b="1">
                <a:latin typeface="Courier New" pitchFamily="49" charset="0"/>
                <a:cs typeface="Courier New" pitchFamily="49" charset="0"/>
              </a:rPr>
              <a:t>};</a:t>
            </a:r>
          </a:p>
          <a:p>
            <a:r>
              <a:rPr lang="en-US" sz="1400" b="1">
                <a:latin typeface="Courier New" pitchFamily="49" charset="0"/>
                <a:cs typeface="Courier New" pitchFamily="49" charset="0"/>
              </a:rPr>
              <a:t>typedef DoublyLinkedIntNode* DoublyLinkedIntNodePtr;</a:t>
            </a:r>
          </a:p>
          <a:p>
            <a:endParaRPr lang="en-US" sz="1400" b="1"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Adding a Node to the Front of a Doubly Linked List (1 of 2)</a:t>
            </a:r>
          </a:p>
        </p:txBody>
      </p:sp>
      <p:sp>
        <p:nvSpPr>
          <p:cNvPr id="65538" name="Footer Placeholder 2"/>
          <p:cNvSpPr>
            <a:spLocks noGrp="1"/>
          </p:cNvSpPr>
          <p:nvPr>
            <p:ph type="ftr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17-</a:t>
            </a:r>
            <a:fld id="{5714E739-B68C-4C58-98DA-140406838444}" type="slidenum">
              <a:rPr lang="en-US" smtClean="0"/>
              <a:pPr>
                <a:defRPr/>
              </a:pPr>
              <a:t>26</a:t>
            </a:fld>
            <a:endParaRPr lang="en-US"/>
          </a:p>
        </p:txBody>
      </p:sp>
      <p:pic>
        <p:nvPicPr>
          <p:cNvPr id="65540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981200" y="1828800"/>
            <a:ext cx="5114925" cy="3981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Adding a Node to the Front of a Doubly Linked List (2 of 2)</a:t>
            </a:r>
          </a:p>
        </p:txBody>
      </p:sp>
      <p:sp>
        <p:nvSpPr>
          <p:cNvPr id="67586" name="Footer Placeholder 2"/>
          <p:cNvSpPr>
            <a:spLocks noGrp="1"/>
          </p:cNvSpPr>
          <p:nvPr>
            <p:ph type="ftr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17-</a:t>
            </a:r>
            <a:fld id="{2761B252-BB24-4D2F-9AD6-13E66E318CB0}" type="slidenum">
              <a:rPr lang="en-US" smtClean="0"/>
              <a:pPr>
                <a:defRPr/>
              </a:pPr>
              <a:t>27</a:t>
            </a:fld>
            <a:endParaRPr lang="en-US"/>
          </a:p>
        </p:txBody>
      </p:sp>
      <p:pic>
        <p:nvPicPr>
          <p:cNvPr id="67588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600200" y="1676400"/>
            <a:ext cx="6010275" cy="4324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Deleting a Node from a Doubly Linked List</a:t>
            </a:r>
          </a:p>
        </p:txBody>
      </p:sp>
      <p:sp>
        <p:nvSpPr>
          <p:cNvPr id="69634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smtClean="0"/>
              <a:t>Removing a node requires updating references on both sides of the node we wish to delete</a:t>
            </a:r>
          </a:p>
          <a:p>
            <a:pPr eaLnBrk="1" hangingPunct="1"/>
            <a:r>
              <a:rPr lang="en-US" smtClean="0"/>
              <a:t>Thanks to the backward link we do not need a separate variable to keep track of the previous node in the list like we did for the singly linked list</a:t>
            </a:r>
          </a:p>
          <a:p>
            <a:pPr lvl="1" eaLnBrk="1" hangingPunct="1"/>
            <a:r>
              <a:rPr lang="en-US" smtClean="0"/>
              <a:t>Can access via  node-&gt;previous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17-</a:t>
            </a:r>
            <a:fld id="{D34F89E6-26C0-41FA-A793-CFD0D25B1E90}" type="slidenum">
              <a:rPr lang="en-US" smtClean="0"/>
              <a:pPr>
                <a:defRPr/>
              </a:pPr>
              <a:t>28</a:t>
            </a:fld>
            <a:endParaRPr lang="en-US"/>
          </a:p>
        </p:txBody>
      </p:sp>
      <p:sp>
        <p:nvSpPr>
          <p:cNvPr id="69636" name="Footer Placeholder 2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Deleting a Node from a Doubly Linked List (1 of 2)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17-</a:t>
            </a:r>
            <a:fld id="{31F8B35E-ADB5-4A5B-9E4A-B2BF64161C38}" type="slidenum">
              <a:rPr lang="en-US" smtClean="0"/>
              <a:pPr>
                <a:defRPr/>
              </a:pPr>
              <a:t>29</a:t>
            </a:fld>
            <a:endParaRPr lang="en-US"/>
          </a:p>
        </p:txBody>
      </p:sp>
      <p:sp>
        <p:nvSpPr>
          <p:cNvPr id="71683" name="Footer Placeholder 4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  <p:pic>
        <p:nvPicPr>
          <p:cNvPr id="7168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/>
          <a:srcRect/>
          <a:stretch>
            <a:fillRect/>
          </a:stretch>
        </p:blipFill>
        <p:spPr>
          <a:xfrm>
            <a:off x="1557338" y="1600200"/>
            <a:ext cx="6029325" cy="4525963"/>
          </a:xfr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2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Deleting a Node from a Doubly Linked List (2 of 2)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17-</a:t>
            </a:r>
            <a:fld id="{B7C96A13-7A55-4516-95D4-2FDE7AF24F73}" type="slidenum">
              <a:rPr lang="en-US" smtClean="0"/>
              <a:pPr>
                <a:defRPr/>
              </a:pPr>
              <a:t>30</a:t>
            </a:fld>
            <a:endParaRPr lang="en-US"/>
          </a:p>
        </p:txBody>
      </p:sp>
      <p:sp>
        <p:nvSpPr>
          <p:cNvPr id="73731" name="Footer Placeholder 4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  <p:pic>
        <p:nvPicPr>
          <p:cNvPr id="7373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/>
          <a:srcRect/>
          <a:stretch>
            <a:fillRect/>
          </a:stretch>
        </p:blipFill>
        <p:spPr>
          <a:xfrm>
            <a:off x="1757363" y="1916113"/>
            <a:ext cx="5629275" cy="3894137"/>
          </a:xfr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Stacks</a:t>
            </a:r>
          </a:p>
        </p:txBody>
      </p:sp>
      <p:sp>
        <p:nvSpPr>
          <p:cNvPr id="7577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800" smtClean="0"/>
              <a:t>Stack data structure: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Retrieves data in reverse order of how stored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LIFO – last-in/first-out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Think of like "hole in ground"</a:t>
            </a:r>
          </a:p>
          <a:p>
            <a:pPr eaLnBrk="1" hangingPunct="1">
              <a:lnSpc>
                <a:spcPct val="90000"/>
              </a:lnSpc>
            </a:pPr>
            <a:r>
              <a:rPr lang="en-US" sz="2800" smtClean="0"/>
              <a:t>Stacks used for many tasks: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Track C++ function calls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Memory management</a:t>
            </a:r>
          </a:p>
          <a:p>
            <a:pPr eaLnBrk="1" hangingPunct="1">
              <a:lnSpc>
                <a:spcPct val="90000"/>
              </a:lnSpc>
            </a:pPr>
            <a:r>
              <a:rPr lang="en-US" sz="2800" smtClean="0"/>
              <a:t>Our use: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Use linked lists to implement stacks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17-</a:t>
            </a:r>
            <a:fld id="{81364553-F864-4B89-BDC1-7F91FBDD9C0C}" type="slidenum">
              <a:rPr lang="en-US"/>
              <a:pPr>
                <a:defRPr/>
              </a:pPr>
              <a:t>31</a:t>
            </a:fld>
            <a:endParaRPr lang="en-US"/>
          </a:p>
        </p:txBody>
      </p:sp>
      <p:sp>
        <p:nvSpPr>
          <p:cNvPr id="75780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smtClean="0"/>
              <a:t>A Stack—Graphic: </a:t>
            </a:r>
            <a:br>
              <a:rPr lang="en-US" sz="3600" smtClean="0"/>
            </a:br>
            <a:r>
              <a:rPr lang="en-US" sz="3600" b="1" smtClean="0"/>
              <a:t>Display 17.12  </a:t>
            </a:r>
            <a:r>
              <a:rPr lang="en-US" sz="3600" smtClean="0"/>
              <a:t>A Stack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17-</a:t>
            </a:r>
            <a:fld id="{58D82EB7-139B-4792-B38C-677919360A5E}" type="slidenum">
              <a:rPr lang="en-US"/>
              <a:pPr>
                <a:defRPr/>
              </a:pPr>
              <a:t>32</a:t>
            </a:fld>
            <a:endParaRPr lang="en-US"/>
          </a:p>
        </p:txBody>
      </p:sp>
      <p:sp>
        <p:nvSpPr>
          <p:cNvPr id="77827" name="Footer Placeholder 6"/>
          <p:cNvSpPr>
            <a:spLocks noGrp="1"/>
          </p:cNvSpPr>
          <p:nvPr>
            <p:ph type="ftr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  <p:pic>
        <p:nvPicPr>
          <p:cNvPr id="77828" name="Picture 6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85800" y="1600200"/>
            <a:ext cx="7789863" cy="415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med">
    <p:wipe dir="r"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smtClean="0"/>
              <a:t>Display 17.17 </a:t>
            </a:r>
            <a:r>
              <a:rPr lang="en-US" sz="3600" smtClean="0"/>
              <a:t> Interface File for a Stack Template Class (1 of 2)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17-</a:t>
            </a:r>
            <a:fld id="{C7F64965-7C51-4923-A8F2-BEE4A5CE2CD8}" type="slidenum">
              <a:rPr lang="en-US"/>
              <a:pPr>
                <a:defRPr/>
              </a:pPr>
              <a:t>33</a:t>
            </a:fld>
            <a:endParaRPr lang="en-US"/>
          </a:p>
        </p:txBody>
      </p:sp>
      <p:sp>
        <p:nvSpPr>
          <p:cNvPr id="79875" name="Footer Placeholder 6"/>
          <p:cNvSpPr>
            <a:spLocks noGrp="1"/>
          </p:cNvSpPr>
          <p:nvPr>
            <p:ph type="ftr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  <p:pic>
        <p:nvPicPr>
          <p:cNvPr id="79876" name="Picture 6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66800" y="1676400"/>
            <a:ext cx="7313613" cy="466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med">
    <p:wipe dir="r"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1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smtClean="0"/>
              <a:t>Display 17.17 </a:t>
            </a:r>
            <a:r>
              <a:rPr lang="en-US" sz="3600" smtClean="0"/>
              <a:t> Interface File for a Stack Template Class (2 of 2)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17-</a:t>
            </a:r>
            <a:fld id="{506F0CB8-25B4-4E37-9D20-DE8F4A63EE8B}" type="slidenum">
              <a:rPr lang="en-US"/>
              <a:pPr>
                <a:defRPr/>
              </a:pPr>
              <a:t>34</a:t>
            </a:fld>
            <a:endParaRPr lang="en-US"/>
          </a:p>
        </p:txBody>
      </p:sp>
      <p:sp>
        <p:nvSpPr>
          <p:cNvPr id="81923" name="Footer Placeholder 6"/>
          <p:cNvSpPr>
            <a:spLocks noGrp="1"/>
          </p:cNvSpPr>
          <p:nvPr>
            <p:ph type="ftr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  <p:pic>
        <p:nvPicPr>
          <p:cNvPr id="81924" name="Picture 6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905000" y="1600200"/>
            <a:ext cx="5410200" cy="4943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med">
    <p:wipe dir="r"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6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000" smtClean="0"/>
              <a:t>Stack Template Class Driver: </a:t>
            </a:r>
            <a:br>
              <a:rPr lang="en-US" sz="3000" smtClean="0"/>
            </a:br>
            <a:r>
              <a:rPr lang="en-US" sz="3000" b="1" smtClean="0"/>
              <a:t>Display 17.18  </a:t>
            </a:r>
            <a:r>
              <a:rPr lang="en-US" sz="3000" smtClean="0"/>
              <a:t>Program Using the Stack Template Class (1 of 3)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17-</a:t>
            </a:r>
            <a:fld id="{B440D277-D646-4C46-AE59-B6DE6A24A7C9}" type="slidenum">
              <a:rPr lang="en-US"/>
              <a:pPr>
                <a:defRPr/>
              </a:pPr>
              <a:t>35</a:t>
            </a:fld>
            <a:endParaRPr lang="en-US"/>
          </a:p>
        </p:txBody>
      </p:sp>
      <p:sp>
        <p:nvSpPr>
          <p:cNvPr id="83971" name="Footer Placeholder 6"/>
          <p:cNvSpPr>
            <a:spLocks noGrp="1"/>
          </p:cNvSpPr>
          <p:nvPr>
            <p:ph type="ftr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  <p:pic>
        <p:nvPicPr>
          <p:cNvPr id="83972" name="Picture 6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76275" y="2085975"/>
            <a:ext cx="7789863" cy="2686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med">
    <p:wipe dir="r"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7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000" smtClean="0"/>
              <a:t>Stack Template Class Driver: </a:t>
            </a:r>
            <a:br>
              <a:rPr lang="en-US" sz="3000" smtClean="0"/>
            </a:br>
            <a:r>
              <a:rPr lang="en-US" sz="3000" b="1" smtClean="0"/>
              <a:t>Display 17.18  </a:t>
            </a:r>
            <a:r>
              <a:rPr lang="en-US" sz="3000" smtClean="0"/>
              <a:t>Program Using the Stack Template Class (2 of 3)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17-</a:t>
            </a:r>
            <a:fld id="{613F3C26-594A-4A61-8125-3BDDDB66BC0C}" type="slidenum">
              <a:rPr lang="en-US"/>
              <a:pPr>
                <a:defRPr/>
              </a:pPr>
              <a:t>36</a:t>
            </a:fld>
            <a:endParaRPr lang="en-US"/>
          </a:p>
        </p:txBody>
      </p:sp>
      <p:sp>
        <p:nvSpPr>
          <p:cNvPr id="86019" name="Footer Placeholder 6"/>
          <p:cNvSpPr>
            <a:spLocks noGrp="1"/>
          </p:cNvSpPr>
          <p:nvPr>
            <p:ph type="ftr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  <p:pic>
        <p:nvPicPr>
          <p:cNvPr id="86020" name="Picture 6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85800" y="1905000"/>
            <a:ext cx="7789863" cy="3352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med">
    <p:wipe dir="r"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5" name="Picture 3" descr="C:\WINDOWS\Desktop\Oh_type\sacitch_C++_ppt\gif\savitchc17d14_3of3.gif"/>
          <p:cNvPicPr preferRelativeResize="0"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4"/>
          <a:srcRect/>
          <a:stretch>
            <a:fillRect/>
          </a:stretch>
        </p:blipFill>
        <p:spPr bwMode="auto">
          <a:xfrm>
            <a:off x="1493838" y="1673225"/>
            <a:ext cx="6810375" cy="4818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8066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000" smtClean="0"/>
              <a:t>Stack Template Class Driver: </a:t>
            </a:r>
            <a:br>
              <a:rPr lang="en-US" sz="3000" smtClean="0"/>
            </a:br>
            <a:r>
              <a:rPr lang="en-US" sz="3000" b="1" smtClean="0"/>
              <a:t>Display 17.18  </a:t>
            </a:r>
            <a:r>
              <a:rPr lang="en-US" sz="3000" smtClean="0"/>
              <a:t>Program Using the Stack Template Class (3 of 3)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17-</a:t>
            </a:r>
            <a:fld id="{CF0DCC3B-CEED-49EF-8544-8D4A5A893E7E}" type="slidenum">
              <a:rPr lang="en-US"/>
              <a:pPr>
                <a:defRPr/>
              </a:pPr>
              <a:t>37</a:t>
            </a:fld>
            <a:endParaRPr lang="en-US"/>
          </a:p>
        </p:txBody>
      </p:sp>
      <p:sp>
        <p:nvSpPr>
          <p:cNvPr id="88068" name="Footer Placeholder 6"/>
          <p:cNvSpPr>
            <a:spLocks noGrp="1"/>
          </p:cNvSpPr>
          <p:nvPr>
            <p:ph type="ftr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Stack Push and Pop</a:t>
            </a:r>
          </a:p>
        </p:txBody>
      </p:sp>
      <p:sp>
        <p:nvSpPr>
          <p:cNvPr id="9011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mtClean="0"/>
              <a:t>Adding data item to stack </a:t>
            </a:r>
            <a:r>
              <a:rPr lang="en-US" smtClean="0">
                <a:sym typeface="Wingdings" pitchFamily="2" charset="2"/>
              </a:rPr>
              <a:t></a:t>
            </a:r>
            <a:r>
              <a:rPr lang="en-US" smtClean="0"/>
              <a:t>  push</a:t>
            </a:r>
          </a:p>
          <a:p>
            <a:pPr lvl="1" eaLnBrk="1" hangingPunct="1"/>
            <a:r>
              <a:rPr lang="en-US" smtClean="0"/>
              <a:t>Considered "pushing" data onto stack</a:t>
            </a:r>
          </a:p>
          <a:p>
            <a:pPr lvl="1" eaLnBrk="1" hangingPunct="1"/>
            <a:r>
              <a:rPr lang="en-US" smtClean="0"/>
              <a:t>Recall: goes to "top" of stack</a:t>
            </a:r>
          </a:p>
          <a:p>
            <a:pPr eaLnBrk="1" hangingPunct="1"/>
            <a:r>
              <a:rPr lang="en-US" smtClean="0"/>
              <a:t>Removing data item from stack </a:t>
            </a:r>
            <a:r>
              <a:rPr lang="en-US" smtClean="0">
                <a:sym typeface="Wingdings" pitchFamily="2" charset="2"/>
              </a:rPr>
              <a:t></a:t>
            </a:r>
            <a:r>
              <a:rPr lang="en-US" smtClean="0"/>
              <a:t> pop</a:t>
            </a:r>
          </a:p>
          <a:p>
            <a:pPr lvl="1" eaLnBrk="1" hangingPunct="1"/>
            <a:r>
              <a:rPr lang="en-US" smtClean="0"/>
              <a:t>Considered "popping" item off stack</a:t>
            </a:r>
          </a:p>
          <a:p>
            <a:pPr lvl="1" eaLnBrk="1" hangingPunct="1"/>
            <a:r>
              <a:rPr lang="en-US" smtClean="0"/>
              <a:t>Recall: removed from "top" of stack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17-</a:t>
            </a:r>
            <a:fld id="{1682814E-1744-49E1-B2C6-1A54DBDA13D4}" type="slidenum">
              <a:rPr lang="en-US"/>
              <a:pPr>
                <a:defRPr/>
              </a:pPr>
              <a:t>38</a:t>
            </a:fld>
            <a:endParaRPr lang="en-US"/>
          </a:p>
        </p:txBody>
      </p:sp>
      <p:sp>
        <p:nvSpPr>
          <p:cNvPr id="90116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Queues</a:t>
            </a:r>
          </a:p>
        </p:txBody>
      </p:sp>
      <p:sp>
        <p:nvSpPr>
          <p:cNvPr id="9216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mtClean="0"/>
              <a:t>Another common data structure:</a:t>
            </a:r>
          </a:p>
          <a:p>
            <a:pPr lvl="1" eaLnBrk="1" hangingPunct="1"/>
            <a:r>
              <a:rPr lang="en-US" smtClean="0"/>
              <a:t>Handles data in first-in/first-out manner</a:t>
            </a:r>
            <a:br>
              <a:rPr lang="en-US" smtClean="0"/>
            </a:br>
            <a:r>
              <a:rPr lang="en-US" smtClean="0"/>
              <a:t>(FIFO)</a:t>
            </a:r>
          </a:p>
          <a:p>
            <a:pPr lvl="1" eaLnBrk="1" hangingPunct="1"/>
            <a:r>
              <a:rPr lang="en-US" smtClean="0"/>
              <a:t>Items inserted to end of list</a:t>
            </a:r>
          </a:p>
          <a:p>
            <a:pPr lvl="1" eaLnBrk="1" hangingPunct="1"/>
            <a:r>
              <a:rPr lang="en-US" smtClean="0"/>
              <a:t>Items removed from front</a:t>
            </a:r>
          </a:p>
          <a:p>
            <a:pPr eaLnBrk="1" hangingPunct="1"/>
            <a:r>
              <a:rPr lang="en-US" smtClean="0"/>
              <a:t>Representation of typical "line" forming</a:t>
            </a:r>
          </a:p>
          <a:p>
            <a:pPr lvl="1" eaLnBrk="1" hangingPunct="1"/>
            <a:r>
              <a:rPr lang="en-US" smtClean="0"/>
              <a:t>Like bank teller lines, movie theatre </a:t>
            </a:r>
            <a:br>
              <a:rPr lang="en-US" smtClean="0"/>
            </a:br>
            <a:r>
              <a:rPr lang="en-US" smtClean="0"/>
              <a:t>lines, etc.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17-</a:t>
            </a:r>
            <a:fld id="{96BF4338-8732-4FE5-9019-6F1B412216D5}" type="slidenum">
              <a:rPr lang="en-US"/>
              <a:pPr>
                <a:defRPr/>
              </a:pPr>
              <a:t>39</a:t>
            </a:fld>
            <a:endParaRPr lang="en-US"/>
          </a:p>
        </p:txBody>
      </p:sp>
      <p:sp>
        <p:nvSpPr>
          <p:cNvPr id="92164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0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smtClean="0"/>
              <a:t>Display 17.20</a:t>
            </a:r>
            <a:r>
              <a:rPr lang="en-US" sz="3600" smtClean="0"/>
              <a:t>  Interface File for a Queue Template Class (1 of 3)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17-</a:t>
            </a:r>
            <a:fld id="{788042AA-0045-4E85-9F2D-DC82BE59F6D6}" type="slidenum">
              <a:rPr lang="en-US"/>
              <a:pPr>
                <a:defRPr/>
              </a:pPr>
              <a:t>40</a:t>
            </a:fld>
            <a:endParaRPr lang="en-US"/>
          </a:p>
        </p:txBody>
      </p:sp>
      <p:sp>
        <p:nvSpPr>
          <p:cNvPr id="94211" name="Footer Placeholder 6"/>
          <p:cNvSpPr>
            <a:spLocks noGrp="1"/>
          </p:cNvSpPr>
          <p:nvPr>
            <p:ph type="ftr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  <p:pic>
        <p:nvPicPr>
          <p:cNvPr id="94212" name="Picture 6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990600" y="1524000"/>
            <a:ext cx="7275513" cy="4781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med">
    <p:wipe dir="r"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7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smtClean="0"/>
              <a:t>Display 17.20</a:t>
            </a:r>
            <a:r>
              <a:rPr lang="en-US" sz="3600" smtClean="0"/>
              <a:t>  Interface File for a Queue Template Class (2 of 3)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17-</a:t>
            </a:r>
            <a:fld id="{3087F3B2-6CB8-47E4-9097-0F6E2E48E166}" type="slidenum">
              <a:rPr lang="en-US"/>
              <a:pPr>
                <a:defRPr/>
              </a:pPr>
              <a:t>41</a:t>
            </a:fld>
            <a:endParaRPr lang="en-US"/>
          </a:p>
        </p:txBody>
      </p:sp>
      <p:sp>
        <p:nvSpPr>
          <p:cNvPr id="96259" name="Footer Placeholder 6"/>
          <p:cNvSpPr>
            <a:spLocks noGrp="1"/>
          </p:cNvSpPr>
          <p:nvPr>
            <p:ph type="ftr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  <p:pic>
        <p:nvPicPr>
          <p:cNvPr id="96260" name="Picture 6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838200" y="1524000"/>
            <a:ext cx="7666038" cy="4781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med">
    <p:wipe dir="r"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5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smtClean="0"/>
              <a:t>Display 17.20</a:t>
            </a:r>
            <a:r>
              <a:rPr lang="en-US" sz="3600" smtClean="0"/>
              <a:t>  Interface File for a Queue Template Class (3 of 3)</a:t>
            </a:r>
          </a:p>
        </p:txBody>
      </p:sp>
      <p:pic>
        <p:nvPicPr>
          <p:cNvPr id="98306" name="Picture 4" descr="C:\WINDOWS\Desktop\Oh_type\sacitch_C++_ppt\gif\savitchc17d16_3of3.gif"/>
          <p:cNvPicPr preferRelativeResize="0"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4"/>
          <a:srcRect/>
          <a:stretch>
            <a:fillRect/>
          </a:stretch>
        </p:blipFill>
        <p:spPr bwMode="auto">
          <a:xfrm>
            <a:off x="1339850" y="1582738"/>
            <a:ext cx="7118350" cy="4743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17-</a:t>
            </a:r>
            <a:fld id="{22DEB519-13D4-4C48-8ABF-D68C0822A536}" type="slidenum">
              <a:rPr lang="en-US"/>
              <a:pPr>
                <a:defRPr/>
              </a:pPr>
              <a:t>42</a:t>
            </a:fld>
            <a:endParaRPr lang="en-US"/>
          </a:p>
        </p:txBody>
      </p:sp>
      <p:sp>
        <p:nvSpPr>
          <p:cNvPr id="98308" name="Footer Placeholder 6"/>
          <p:cNvSpPr>
            <a:spLocks noGrp="1"/>
          </p:cNvSpPr>
          <p:nvPr>
            <p:ph type="ftr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3" name="Rectangle 2"/>
          <p:cNvSpPr>
            <a:spLocks noGrp="1" noChangeArrowheads="1"/>
          </p:cNvSpPr>
          <p:nvPr>
            <p:ph type="title"/>
          </p:nvPr>
        </p:nvSpPr>
        <p:spPr>
          <a:xfrm>
            <a:off x="895350" y="257175"/>
            <a:ext cx="3094038" cy="3248025"/>
          </a:xfrm>
        </p:spPr>
        <p:txBody>
          <a:bodyPr/>
          <a:lstStyle/>
          <a:p>
            <a:pPr eaLnBrk="1" hangingPunct="1"/>
            <a:r>
              <a:rPr lang="en-US" sz="2800" smtClean="0"/>
              <a:t>Queue Template Class Driver: </a:t>
            </a:r>
            <a:br>
              <a:rPr lang="en-US" sz="2800" smtClean="0"/>
            </a:br>
            <a:r>
              <a:rPr lang="en-US" sz="2800" b="1" smtClean="0"/>
              <a:t>Display 17.21  </a:t>
            </a:r>
            <a:r>
              <a:rPr lang="en-US" sz="2800" smtClean="0"/>
              <a:t>Program Using </a:t>
            </a:r>
            <a:br>
              <a:rPr lang="en-US" sz="2800" smtClean="0"/>
            </a:br>
            <a:r>
              <a:rPr lang="en-US" sz="2800" smtClean="0"/>
              <a:t>the Queue Template Class</a:t>
            </a:r>
          </a:p>
        </p:txBody>
      </p:sp>
      <p:pic>
        <p:nvPicPr>
          <p:cNvPr id="100354" name="Picture 5" descr="savitchc17d17_driver.gif                                       00005BE4mt_external                    BE5D1705: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005263" y="803275"/>
            <a:ext cx="4967287" cy="5216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17-</a:t>
            </a:r>
            <a:fld id="{F2D69654-44E7-4A59-AAC6-B1367A35D535}" type="slidenum">
              <a:rPr lang="en-US"/>
              <a:pPr>
                <a:defRPr/>
              </a:pPr>
              <a:t>43</a:t>
            </a:fld>
            <a:endParaRPr lang="en-US"/>
          </a:p>
        </p:txBody>
      </p:sp>
      <p:sp>
        <p:nvSpPr>
          <p:cNvPr id="100356" name="Footer Placeholder 6"/>
          <p:cNvSpPr>
            <a:spLocks noGrp="1"/>
          </p:cNvSpPr>
          <p:nvPr>
            <p:ph type="ftr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Hash Tables</a:t>
            </a:r>
          </a:p>
        </p:txBody>
      </p:sp>
      <p:sp>
        <p:nvSpPr>
          <p:cNvPr id="102402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smtClean="0"/>
              <a:t>A hash table or hash map is a data structure that efficiently stores and retrieves data from memory</a:t>
            </a:r>
          </a:p>
          <a:p>
            <a:pPr eaLnBrk="1" hangingPunct="1"/>
            <a:r>
              <a:rPr lang="en-US" smtClean="0"/>
              <a:t>Here we discuss a hash table that uses an array in combination with singly linked lists</a:t>
            </a:r>
          </a:p>
          <a:p>
            <a:pPr eaLnBrk="1" hangingPunct="1"/>
            <a:r>
              <a:rPr lang="en-US" smtClean="0"/>
              <a:t>Uses a hash function</a:t>
            </a:r>
          </a:p>
          <a:p>
            <a:pPr lvl="1" eaLnBrk="1" hangingPunct="1"/>
            <a:r>
              <a:rPr lang="en-US" smtClean="0"/>
              <a:t>Maps an object to a key</a:t>
            </a:r>
          </a:p>
          <a:p>
            <a:pPr lvl="1" eaLnBrk="1" hangingPunct="1"/>
            <a:r>
              <a:rPr lang="en-US" smtClean="0"/>
              <a:t>In our example, a string to an integer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17-</a:t>
            </a:r>
            <a:fld id="{3DE23B60-AE02-4F6E-B086-CD383D89A00C}" type="slidenum">
              <a:rPr lang="en-US" smtClean="0"/>
              <a:pPr>
                <a:defRPr/>
              </a:pPr>
              <a:t>44</a:t>
            </a:fld>
            <a:endParaRPr lang="en-US"/>
          </a:p>
        </p:txBody>
      </p:sp>
      <p:sp>
        <p:nvSpPr>
          <p:cNvPr id="102404" name="Footer Placeholder 2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4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Simple Hash Function for Strings</a:t>
            </a:r>
          </a:p>
        </p:txBody>
      </p:sp>
      <p:sp>
        <p:nvSpPr>
          <p:cNvPr id="104450" name="Content Placeholder 2"/>
          <p:cNvSpPr>
            <a:spLocks noGrp="1"/>
          </p:cNvSpPr>
          <p:nvPr>
            <p:ph idx="1"/>
          </p:nvPr>
        </p:nvSpPr>
        <p:spPr>
          <a:xfrm>
            <a:off x="457200" y="1493838"/>
            <a:ext cx="8229600" cy="4525962"/>
          </a:xfrm>
        </p:spPr>
        <p:txBody>
          <a:bodyPr/>
          <a:lstStyle/>
          <a:p>
            <a:pPr eaLnBrk="1" hangingPunct="1"/>
            <a:r>
              <a:rPr lang="en-US" smtClean="0"/>
              <a:t>Sum the ASCII value of every character in the string and then compute the modulus of the sum using the size of the fixed array.  </a:t>
            </a:r>
          </a:p>
          <a:p>
            <a:pPr eaLnBrk="1" hangingPunct="1"/>
            <a:endParaRPr 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>
          <a:xfrm>
            <a:off x="6553200" y="6400800"/>
            <a:ext cx="2133600" cy="365125"/>
          </a:xfrm>
        </p:spPr>
        <p:txBody>
          <a:bodyPr/>
          <a:lstStyle/>
          <a:p>
            <a:pPr>
              <a:defRPr/>
            </a:pPr>
            <a:r>
              <a:rPr lang="en-US" smtClean="0"/>
              <a:t>17-</a:t>
            </a:r>
            <a:fld id="{A38EABCA-E827-4E6A-9E46-7BD1FDA3D1A8}" type="slidenum">
              <a:rPr lang="en-US" smtClean="0"/>
              <a:pPr>
                <a:defRPr/>
              </a:pPr>
              <a:t>45</a:t>
            </a:fld>
            <a:endParaRPr lang="en-US"/>
          </a:p>
        </p:txBody>
      </p:sp>
      <p:sp>
        <p:nvSpPr>
          <p:cNvPr id="104452" name="Footer Placeholder 4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  <p:sp>
        <p:nvSpPr>
          <p:cNvPr id="104453" name="TextBox 5"/>
          <p:cNvSpPr txBox="1">
            <a:spLocks noChangeArrowheads="1"/>
          </p:cNvSpPr>
          <p:nvPr/>
        </p:nvSpPr>
        <p:spPr bwMode="auto">
          <a:xfrm>
            <a:off x="1600200" y="3278188"/>
            <a:ext cx="6019800" cy="3025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600" b="1">
                <a:latin typeface="Courier New" pitchFamily="49" charset="0"/>
                <a:cs typeface="Courier New" pitchFamily="49" charset="0"/>
              </a:rPr>
              <a:t>int computeHash(string s)</a:t>
            </a:r>
          </a:p>
          <a:p>
            <a:r>
              <a:rPr lang="en-US" sz="1600" b="1">
                <a:latin typeface="Courier New" pitchFamily="49" charset="0"/>
                <a:cs typeface="Courier New" pitchFamily="49" charset="0"/>
              </a:rPr>
              <a:t>{</a:t>
            </a:r>
          </a:p>
          <a:p>
            <a:r>
              <a:rPr lang="en-US" sz="1600" b="1">
                <a:latin typeface="Courier New" pitchFamily="49" charset="0"/>
                <a:cs typeface="Courier New" pitchFamily="49" charset="0"/>
              </a:rPr>
              <a:t>  int hash = 0;</a:t>
            </a:r>
          </a:p>
          <a:p>
            <a:r>
              <a:rPr lang="nb-NO" sz="1600" b="1">
                <a:latin typeface="Courier New" pitchFamily="49" charset="0"/>
                <a:cs typeface="Courier New" pitchFamily="49" charset="0"/>
              </a:rPr>
              <a:t>  for (int i = 0; i &lt; s.length( ); i++) </a:t>
            </a:r>
            <a:endParaRPr lang="en-US" sz="1600" b="1">
              <a:latin typeface="Courier New" pitchFamily="49" charset="0"/>
              <a:cs typeface="Courier New" pitchFamily="49" charset="0"/>
            </a:endParaRPr>
          </a:p>
          <a:p>
            <a:r>
              <a:rPr lang="en-US" sz="1600" b="1">
                <a:latin typeface="Courier New" pitchFamily="49" charset="0"/>
                <a:cs typeface="Courier New" pitchFamily="49" charset="0"/>
              </a:rPr>
              <a:t>  {</a:t>
            </a:r>
          </a:p>
          <a:p>
            <a:r>
              <a:rPr lang="en-US" sz="1600" b="1">
                <a:latin typeface="Courier New" pitchFamily="49" charset="0"/>
                <a:cs typeface="Courier New" pitchFamily="49" charset="0"/>
              </a:rPr>
              <a:t>    hash = hash + s[i];</a:t>
            </a:r>
          </a:p>
          <a:p>
            <a:r>
              <a:rPr lang="en-US" sz="1600" b="1">
                <a:latin typeface="Courier New" pitchFamily="49" charset="0"/>
                <a:cs typeface="Courier New" pitchFamily="49" charset="0"/>
              </a:rPr>
              <a:t>  }</a:t>
            </a:r>
          </a:p>
          <a:p>
            <a:r>
              <a:rPr lang="en-US" sz="1600" b="1">
                <a:latin typeface="Courier New" pitchFamily="49" charset="0"/>
                <a:cs typeface="Courier New" pitchFamily="49" charset="0"/>
              </a:rPr>
              <a:t>  return hash % SIZE;	// SIZE = 10 in example</a:t>
            </a:r>
          </a:p>
          <a:p>
            <a:r>
              <a:rPr lang="en-US" sz="1600" b="1">
                <a:latin typeface="Courier New" pitchFamily="49" charset="0"/>
                <a:cs typeface="Courier New" pitchFamily="49" charset="0"/>
              </a:rPr>
              <a:t>}</a:t>
            </a:r>
          </a:p>
          <a:p>
            <a:endParaRPr lang="en-US" sz="1600" b="1">
              <a:latin typeface="Courier New" pitchFamily="49" charset="0"/>
              <a:cs typeface="Courier New" pitchFamily="49" charset="0"/>
            </a:endParaRPr>
          </a:p>
          <a:p>
            <a:r>
              <a:rPr lang="en-US" sz="1600" b="1">
                <a:latin typeface="Courier New" pitchFamily="49" charset="0"/>
                <a:cs typeface="Courier New" pitchFamily="49" charset="0"/>
              </a:rPr>
              <a:t>Example:  "dog" = ASCII 100, 111, 103</a:t>
            </a:r>
          </a:p>
          <a:p>
            <a:r>
              <a:rPr lang="en-US" sz="1600" b="1">
                <a:latin typeface="Courier New" pitchFamily="49" charset="0"/>
                <a:cs typeface="Courier New" pitchFamily="49" charset="0"/>
              </a:rPr>
              <a:t>Hash = (100 + 111 + 103) % 10      =  4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Hash Table Idea</a:t>
            </a:r>
          </a:p>
        </p:txBody>
      </p:sp>
      <p:sp>
        <p:nvSpPr>
          <p:cNvPr id="106498" name="Content Placeholder 2"/>
          <p:cNvSpPr>
            <a:spLocks noGrp="1"/>
          </p:cNvSpPr>
          <p:nvPr>
            <p:ph idx="1"/>
          </p:nvPr>
        </p:nvSpPr>
        <p:spPr>
          <a:xfrm>
            <a:off x="381000" y="1341438"/>
            <a:ext cx="8229600" cy="4525962"/>
          </a:xfrm>
        </p:spPr>
        <p:txBody>
          <a:bodyPr/>
          <a:lstStyle/>
          <a:p>
            <a:pPr eaLnBrk="1" hangingPunct="1"/>
            <a:r>
              <a:rPr lang="en-US" smtClean="0"/>
              <a:t>Storage</a:t>
            </a:r>
          </a:p>
          <a:p>
            <a:pPr lvl="1" eaLnBrk="1" hangingPunct="1"/>
            <a:r>
              <a:rPr lang="en-US" smtClean="0"/>
              <a:t>Make an array of fixed size, say 10</a:t>
            </a:r>
          </a:p>
          <a:p>
            <a:pPr lvl="1" eaLnBrk="1" hangingPunct="1"/>
            <a:r>
              <a:rPr lang="en-US" smtClean="0"/>
              <a:t>In each array element store a linked list</a:t>
            </a:r>
          </a:p>
          <a:p>
            <a:pPr lvl="1" eaLnBrk="1" hangingPunct="1"/>
            <a:r>
              <a:rPr lang="en-US" smtClean="0"/>
              <a:t>To add an item, map (i.e. hash) it to one of the 10 array elements, then add it to the linked list at that location</a:t>
            </a:r>
          </a:p>
          <a:p>
            <a:pPr eaLnBrk="1" hangingPunct="1"/>
            <a:r>
              <a:rPr lang="en-US" smtClean="0"/>
              <a:t>Retrieval</a:t>
            </a:r>
          </a:p>
          <a:p>
            <a:pPr lvl="1" eaLnBrk="1" hangingPunct="1"/>
            <a:r>
              <a:rPr lang="en-US" smtClean="0"/>
              <a:t>To look up an item, determine its hash code then search the linked list at the corresponding array slot for the item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17-</a:t>
            </a:r>
            <a:fld id="{1CE3B169-E9D9-4CB0-AD16-11F8405D6B4D}" type="slidenum">
              <a:rPr lang="en-US" smtClean="0"/>
              <a:pPr>
                <a:defRPr/>
              </a:pPr>
              <a:t>46</a:t>
            </a:fld>
            <a:endParaRPr lang="en-US"/>
          </a:p>
        </p:txBody>
      </p:sp>
      <p:sp>
        <p:nvSpPr>
          <p:cNvPr id="106500" name="Footer Placeholder 4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5" name="Title 1"/>
          <p:cNvSpPr>
            <a:spLocks noGrp="1"/>
          </p:cNvSpPr>
          <p:nvPr>
            <p:ph type="title"/>
          </p:nvPr>
        </p:nvSpPr>
        <p:spPr>
          <a:xfrm>
            <a:off x="457200" y="-76200"/>
            <a:ext cx="8229600" cy="1143000"/>
          </a:xfrm>
        </p:spPr>
        <p:txBody>
          <a:bodyPr/>
          <a:lstStyle/>
          <a:p>
            <a:pPr eaLnBrk="1" hangingPunct="1"/>
            <a:r>
              <a:rPr lang="en-US" smtClean="0"/>
              <a:t>Constructing a Hash Table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17-</a:t>
            </a:r>
            <a:fld id="{F9845C68-BA79-43DF-990D-E17ACE1668DA}" type="slidenum">
              <a:rPr lang="en-US" smtClean="0"/>
              <a:pPr>
                <a:defRPr/>
              </a:pPr>
              <a:t>47</a:t>
            </a:fld>
            <a:endParaRPr lang="en-US"/>
          </a:p>
        </p:txBody>
      </p:sp>
      <p:sp>
        <p:nvSpPr>
          <p:cNvPr id="108547" name="Footer Placeholder 4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  <p:pic>
        <p:nvPicPr>
          <p:cNvPr id="10854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/>
          <a:srcRect/>
          <a:stretch>
            <a:fillRect/>
          </a:stretch>
        </p:blipFill>
        <p:spPr>
          <a:xfrm>
            <a:off x="1752600" y="906463"/>
            <a:ext cx="5486400" cy="5494337"/>
          </a:xfr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Interface File for a HashTable Class (1 of 2)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17-</a:t>
            </a:r>
            <a:fld id="{1D7ED7F3-5FDC-4699-911E-D8656CE0EA61}" type="slidenum">
              <a:rPr lang="en-US" smtClean="0"/>
              <a:pPr>
                <a:defRPr/>
              </a:pPr>
              <a:t>48</a:t>
            </a:fld>
            <a:endParaRPr lang="en-US"/>
          </a:p>
        </p:txBody>
      </p:sp>
      <p:sp>
        <p:nvSpPr>
          <p:cNvPr id="110595" name="Footer Placeholder 4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  <p:sp>
        <p:nvSpPr>
          <p:cNvPr id="110596" name="TextBox 5"/>
          <p:cNvSpPr txBox="1">
            <a:spLocks noChangeArrowheads="1"/>
          </p:cNvSpPr>
          <p:nvPr/>
        </p:nvSpPr>
        <p:spPr bwMode="auto">
          <a:xfrm>
            <a:off x="533400" y="1676400"/>
            <a:ext cx="7204075" cy="3921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 b="1">
                <a:latin typeface="Courier New" pitchFamily="49" charset="0"/>
                <a:cs typeface="Courier New" pitchFamily="49" charset="0"/>
              </a:rPr>
              <a:t> 1  // This is the header file hashtable.h.  This is the interface</a:t>
            </a:r>
          </a:p>
          <a:p>
            <a:r>
              <a:rPr lang="en-US" sz="1400" b="1">
                <a:latin typeface="Courier New" pitchFamily="49" charset="0"/>
                <a:cs typeface="Courier New" pitchFamily="49" charset="0"/>
              </a:rPr>
              <a:t> 2  // for the class HashTable, which is a class for a hash table</a:t>
            </a:r>
          </a:p>
          <a:p>
            <a:r>
              <a:rPr lang="en-US" sz="1400" b="1">
                <a:latin typeface="Courier New" pitchFamily="49" charset="0"/>
                <a:cs typeface="Courier New" pitchFamily="49" charset="0"/>
              </a:rPr>
              <a:t> 3  // of strings.  </a:t>
            </a:r>
          </a:p>
          <a:p>
            <a:r>
              <a:rPr lang="en-US" sz="1400" b="1">
                <a:latin typeface="Courier New" pitchFamily="49" charset="0"/>
                <a:cs typeface="Courier New" pitchFamily="49" charset="0"/>
              </a:rPr>
              <a:t> 4  #ifndef HASHTABLE_H</a:t>
            </a:r>
          </a:p>
          <a:p>
            <a:r>
              <a:rPr lang="en-US" sz="1400" b="1">
                <a:latin typeface="Courier New" pitchFamily="49" charset="0"/>
                <a:cs typeface="Courier New" pitchFamily="49" charset="0"/>
              </a:rPr>
              <a:t> 5  #define HASHTABLE_H</a:t>
            </a:r>
          </a:p>
          <a:p>
            <a:r>
              <a:rPr lang="en-US" sz="1400" b="1">
                <a:latin typeface="Courier New" pitchFamily="49" charset="0"/>
                <a:cs typeface="Courier New" pitchFamily="49" charset="0"/>
              </a:rPr>
              <a:t> </a:t>
            </a:r>
          </a:p>
          <a:p>
            <a:r>
              <a:rPr lang="en-US" sz="1400" b="1">
                <a:latin typeface="Courier New" pitchFamily="49" charset="0"/>
                <a:cs typeface="Courier New" pitchFamily="49" charset="0"/>
              </a:rPr>
              <a:t> 6  #include &lt;string&gt;</a:t>
            </a:r>
          </a:p>
          <a:p>
            <a:r>
              <a:rPr lang="en-US" sz="1400" b="1">
                <a:latin typeface="Courier New" pitchFamily="49" charset="0"/>
                <a:cs typeface="Courier New" pitchFamily="49" charset="0"/>
              </a:rPr>
              <a:t> 7  #include "listtools.h"</a:t>
            </a:r>
          </a:p>
          <a:p>
            <a:r>
              <a:rPr lang="en-US" sz="1400" b="1" i="1">
                <a:latin typeface="Courier New" pitchFamily="49" charset="0"/>
                <a:cs typeface="Courier New" pitchFamily="49" charset="0"/>
              </a:rPr>
              <a:t> The library "listtools.h" is the linked list library</a:t>
            </a:r>
          </a:p>
          <a:p>
            <a:r>
              <a:rPr lang="en-US" sz="1400" b="1" i="1">
                <a:latin typeface="Courier New" pitchFamily="49" charset="0"/>
                <a:cs typeface="Courier New" pitchFamily="49" charset="0"/>
              </a:rPr>
              <a:t> interface from Display 17.14.</a:t>
            </a:r>
            <a:endParaRPr lang="en-US" sz="1400" b="1">
              <a:latin typeface="Courier New" pitchFamily="49" charset="0"/>
              <a:cs typeface="Courier New" pitchFamily="49" charset="0"/>
            </a:endParaRPr>
          </a:p>
          <a:p>
            <a:r>
              <a:rPr lang="en-US" sz="1400" b="1">
                <a:latin typeface="Courier New" pitchFamily="49" charset="0"/>
                <a:cs typeface="Courier New" pitchFamily="49" charset="0"/>
              </a:rPr>
              <a:t> </a:t>
            </a:r>
          </a:p>
          <a:p>
            <a:r>
              <a:rPr lang="en-US" sz="1400" b="1">
                <a:latin typeface="Courier New" pitchFamily="49" charset="0"/>
                <a:cs typeface="Courier New" pitchFamily="49" charset="0"/>
              </a:rPr>
              <a:t> 8  using LinkedListSavitch::Node;</a:t>
            </a:r>
          </a:p>
          <a:p>
            <a:r>
              <a:rPr lang="en-US" sz="1400" b="1">
                <a:latin typeface="Courier New" pitchFamily="49" charset="0"/>
                <a:cs typeface="Courier New" pitchFamily="49" charset="0"/>
              </a:rPr>
              <a:t> 9  using std::string;</a:t>
            </a:r>
          </a:p>
          <a:p>
            <a:r>
              <a:rPr lang="en-US" sz="1400" b="1">
                <a:latin typeface="Courier New" pitchFamily="49" charset="0"/>
                <a:cs typeface="Courier New" pitchFamily="49" charset="0"/>
              </a:rPr>
              <a:t> </a:t>
            </a:r>
          </a:p>
          <a:p>
            <a:r>
              <a:rPr lang="en-US" sz="1400" b="1">
                <a:latin typeface="Courier New" pitchFamily="49" charset="0"/>
                <a:cs typeface="Courier New" pitchFamily="49" charset="0"/>
              </a:rPr>
              <a:t>10  namespace HashTableSavitch</a:t>
            </a:r>
          </a:p>
          <a:p>
            <a:r>
              <a:rPr lang="en-US" sz="1400" b="1">
                <a:latin typeface="Courier New" pitchFamily="49" charset="0"/>
                <a:cs typeface="Courier New" pitchFamily="49" charset="0"/>
              </a:rPr>
              <a:t>11  {</a:t>
            </a:r>
          </a:p>
          <a:p>
            <a:r>
              <a:rPr lang="en-US" sz="1400" b="1">
                <a:latin typeface="Courier New" pitchFamily="49" charset="0"/>
                <a:cs typeface="Courier New" pitchFamily="49" charset="0"/>
              </a:rPr>
              <a:t>12   const int SIZE = 10;  // Maximum size of the hash table array</a:t>
            </a:r>
          </a:p>
          <a:p>
            <a:r>
              <a:rPr lang="en-US" sz="1400" b="1">
                <a:latin typeface="Courier New" pitchFamily="49" charset="0"/>
                <a:cs typeface="Courier New" pitchFamily="49" charset="0"/>
              </a:rPr>
              <a:t> 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Interface File for a HashTable Class (2 of 2)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17-</a:t>
            </a:r>
            <a:fld id="{D99ADF09-F4B1-4E3A-9A12-1D4683D691A7}" type="slidenum">
              <a:rPr lang="en-US" smtClean="0"/>
              <a:pPr>
                <a:defRPr/>
              </a:pPr>
              <a:t>49</a:t>
            </a:fld>
            <a:endParaRPr lang="en-US"/>
          </a:p>
        </p:txBody>
      </p:sp>
      <p:sp>
        <p:nvSpPr>
          <p:cNvPr id="112643" name="Footer Placeholder 4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  <p:sp>
        <p:nvSpPr>
          <p:cNvPr id="112644" name="TextBox 5"/>
          <p:cNvSpPr txBox="1">
            <a:spLocks noChangeArrowheads="1"/>
          </p:cNvSpPr>
          <p:nvPr/>
        </p:nvSpPr>
        <p:spPr bwMode="auto">
          <a:xfrm>
            <a:off x="533400" y="1524000"/>
            <a:ext cx="7629525" cy="4984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 b="1">
                <a:latin typeface="Courier New" pitchFamily="49" charset="0"/>
                <a:cs typeface="Courier New" pitchFamily="49" charset="0"/>
              </a:rPr>
              <a:t>13   class HashTable</a:t>
            </a:r>
          </a:p>
          <a:p>
            <a:r>
              <a:rPr lang="en-US" sz="1400" b="1">
                <a:latin typeface="Courier New" pitchFamily="49" charset="0"/>
                <a:cs typeface="Courier New" pitchFamily="49" charset="0"/>
              </a:rPr>
              <a:t>14   {</a:t>
            </a:r>
          </a:p>
          <a:p>
            <a:r>
              <a:rPr lang="en-US" sz="1400" b="1">
                <a:latin typeface="Courier New" pitchFamily="49" charset="0"/>
                <a:cs typeface="Courier New" pitchFamily="49" charset="0"/>
              </a:rPr>
              <a:t>15    public:</a:t>
            </a:r>
          </a:p>
          <a:p>
            <a:r>
              <a:rPr lang="en-US" sz="1400" b="1">
                <a:latin typeface="Courier New" pitchFamily="49" charset="0"/>
                <a:cs typeface="Courier New" pitchFamily="49" charset="0"/>
              </a:rPr>
              <a:t>16        HashTable(); // Initialize empty hash table</a:t>
            </a:r>
          </a:p>
          <a:p>
            <a:r>
              <a:rPr lang="en-US" sz="1400" b="1">
                <a:latin typeface="Courier New" pitchFamily="49" charset="0"/>
                <a:cs typeface="Courier New" pitchFamily="49" charset="0"/>
              </a:rPr>
              <a:t>17        // Normally a copy constructor and overloaded assignment</a:t>
            </a:r>
          </a:p>
          <a:p>
            <a:r>
              <a:rPr lang="en-US" sz="1400" b="1">
                <a:latin typeface="Courier New" pitchFamily="49" charset="0"/>
                <a:cs typeface="Courier New" pitchFamily="49" charset="0"/>
              </a:rPr>
              <a:t>18        // operator would be included.  They have been omitted</a:t>
            </a:r>
          </a:p>
          <a:p>
            <a:r>
              <a:rPr lang="en-US" sz="1400" b="1">
                <a:latin typeface="Courier New" pitchFamily="49" charset="0"/>
                <a:cs typeface="Courier New" pitchFamily="49" charset="0"/>
              </a:rPr>
              <a:t>19        // to save space.</a:t>
            </a:r>
          </a:p>
          <a:p>
            <a:r>
              <a:rPr lang="en-US" sz="1400" b="1">
                <a:latin typeface="Courier New" pitchFamily="49" charset="0"/>
                <a:cs typeface="Courier New" pitchFamily="49" charset="0"/>
              </a:rPr>
              <a:t>20        virtual ~HashTable();  // Destructor destroys hash table</a:t>
            </a:r>
          </a:p>
          <a:p>
            <a:endParaRPr lang="en-US" sz="1400" b="1">
              <a:latin typeface="Courier New" pitchFamily="49" charset="0"/>
              <a:cs typeface="Courier New" pitchFamily="49" charset="0"/>
            </a:endParaRPr>
          </a:p>
          <a:p>
            <a:r>
              <a:rPr lang="en-US" sz="1400" b="1">
                <a:latin typeface="Courier New" pitchFamily="49" charset="0"/>
                <a:cs typeface="Courier New" pitchFamily="49" charset="0"/>
              </a:rPr>
              <a:t>21        bool containsString(string target) const;</a:t>
            </a:r>
          </a:p>
          <a:p>
            <a:r>
              <a:rPr lang="en-US" sz="1400" b="1">
                <a:latin typeface="Courier New" pitchFamily="49" charset="0"/>
                <a:cs typeface="Courier New" pitchFamily="49" charset="0"/>
              </a:rPr>
              <a:t>22        // Returns true if target is in the hash table,</a:t>
            </a:r>
          </a:p>
          <a:p>
            <a:r>
              <a:rPr lang="en-US" sz="1400" b="1">
                <a:latin typeface="Courier New" pitchFamily="49" charset="0"/>
                <a:cs typeface="Courier New" pitchFamily="49" charset="0"/>
              </a:rPr>
              <a:t>23        // false otherwise</a:t>
            </a:r>
          </a:p>
          <a:p>
            <a:endParaRPr lang="en-US" sz="1400" b="1">
              <a:latin typeface="Courier New" pitchFamily="49" charset="0"/>
              <a:cs typeface="Courier New" pitchFamily="49" charset="0"/>
            </a:endParaRPr>
          </a:p>
          <a:p>
            <a:r>
              <a:rPr lang="en-US" sz="1400" b="1">
                <a:latin typeface="Courier New" pitchFamily="49" charset="0"/>
                <a:cs typeface="Courier New" pitchFamily="49" charset="0"/>
              </a:rPr>
              <a:t>24        void put(string s);</a:t>
            </a:r>
          </a:p>
          <a:p>
            <a:r>
              <a:rPr lang="en-US" sz="1400" b="1">
                <a:latin typeface="Courier New" pitchFamily="49" charset="0"/>
                <a:cs typeface="Courier New" pitchFamily="49" charset="0"/>
              </a:rPr>
              <a:t>25        // Adds a new string to the hash table</a:t>
            </a:r>
          </a:p>
          <a:p>
            <a:endParaRPr lang="en-US" sz="1400" b="1">
              <a:latin typeface="Courier New" pitchFamily="49" charset="0"/>
              <a:cs typeface="Courier New" pitchFamily="49" charset="0"/>
            </a:endParaRPr>
          </a:p>
          <a:p>
            <a:r>
              <a:rPr lang="en-US" sz="1400" b="1">
                <a:latin typeface="Courier New" pitchFamily="49" charset="0"/>
                <a:cs typeface="Courier New" pitchFamily="49" charset="0"/>
              </a:rPr>
              <a:t>26    private:</a:t>
            </a:r>
          </a:p>
          <a:p>
            <a:r>
              <a:rPr lang="en-US" sz="1400" b="1">
                <a:latin typeface="Courier New" pitchFamily="49" charset="0"/>
                <a:cs typeface="Courier New" pitchFamily="49" charset="0"/>
              </a:rPr>
              <a:t>27        Node&lt;string&gt; *hashArray[SIZE];      // The actual hash table</a:t>
            </a:r>
          </a:p>
          <a:p>
            <a:r>
              <a:rPr lang="en-US" sz="1400" b="1">
                <a:latin typeface="Courier New" pitchFamily="49" charset="0"/>
                <a:cs typeface="Courier New" pitchFamily="49" charset="0"/>
              </a:rPr>
              <a:t>28        static int computeHash(string s);   // Compute a hash value</a:t>
            </a:r>
          </a:p>
          <a:p>
            <a:r>
              <a:rPr lang="en-US" sz="1400" b="1">
                <a:latin typeface="Courier New" pitchFamily="49" charset="0"/>
                <a:cs typeface="Courier New" pitchFamily="49" charset="0"/>
              </a:rPr>
              <a:t>29   }; // HashTable</a:t>
            </a:r>
          </a:p>
          <a:p>
            <a:r>
              <a:rPr lang="en-US" sz="1400" b="1">
                <a:latin typeface="Courier New" pitchFamily="49" charset="0"/>
                <a:cs typeface="Courier New" pitchFamily="49" charset="0"/>
              </a:rPr>
              <a:t>30  } // HashTableSavitch</a:t>
            </a:r>
          </a:p>
          <a:p>
            <a:r>
              <a:rPr lang="en-US" sz="1400" b="1">
                <a:latin typeface="Courier New" pitchFamily="49" charset="0"/>
                <a:cs typeface="Courier New" pitchFamily="49" charset="0"/>
              </a:rPr>
              <a:t>31  #endif // HASHTABLE_H</a:t>
            </a:r>
          </a:p>
          <a:p>
            <a:r>
              <a:rPr lang="en-US" sz="1400" b="1">
                <a:latin typeface="Courier New" pitchFamily="49" charset="0"/>
                <a:cs typeface="Courier New" pitchFamily="49" charset="0"/>
              </a:rPr>
              <a:t> 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8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Implementation File for Hash Table Class (1 of 3)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17-</a:t>
            </a:r>
            <a:fld id="{A1878642-8347-44D9-8E48-A3F0DD04262A}" type="slidenum">
              <a:rPr lang="en-US" smtClean="0"/>
              <a:pPr>
                <a:defRPr/>
              </a:pPr>
              <a:t>50</a:t>
            </a:fld>
            <a:endParaRPr lang="en-US"/>
          </a:p>
        </p:txBody>
      </p:sp>
      <p:sp>
        <p:nvSpPr>
          <p:cNvPr id="114691" name="Footer Placeholder 4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09600" y="1600200"/>
            <a:ext cx="6246813" cy="47720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1400" b="1" dirty="0">
                <a:latin typeface="Courier New" pitchFamily="49" charset="0"/>
                <a:cs typeface="Courier New" pitchFamily="49" charset="0"/>
              </a:rPr>
              <a:t> 1  // This is the implementation file </a:t>
            </a:r>
            <a:r>
              <a:rPr lang="en-US" sz="1400" b="1" dirty="0" err="1">
                <a:latin typeface="Courier New" pitchFamily="49" charset="0"/>
                <a:cs typeface="Courier New" pitchFamily="49" charset="0"/>
              </a:rPr>
              <a:t>hashtable.cpp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.</a:t>
            </a:r>
          </a:p>
          <a:p>
            <a:pPr>
              <a:defRPr/>
            </a:pPr>
            <a:r>
              <a:rPr lang="en-US" sz="1400" b="1" dirty="0">
                <a:latin typeface="Courier New" pitchFamily="49" charset="0"/>
                <a:cs typeface="Courier New" pitchFamily="49" charset="0"/>
              </a:rPr>
              <a:t> 2  // This is the implementation of the class </a:t>
            </a:r>
            <a:r>
              <a:rPr lang="en-US" sz="1400" b="1" dirty="0" err="1">
                <a:latin typeface="Courier New" pitchFamily="49" charset="0"/>
                <a:cs typeface="Courier New" pitchFamily="49" charset="0"/>
              </a:rPr>
              <a:t>HashTable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.</a:t>
            </a:r>
          </a:p>
          <a:p>
            <a:pPr>
              <a:defRPr/>
            </a:pPr>
            <a:endParaRPr lang="en-US" sz="1400" b="1" dirty="0">
              <a:latin typeface="Courier New" pitchFamily="49" charset="0"/>
              <a:cs typeface="Courier New" pitchFamily="49" charset="0"/>
            </a:endParaRPr>
          </a:p>
          <a:p>
            <a:pPr>
              <a:defRPr/>
            </a:pPr>
            <a:r>
              <a:rPr lang="en-US" sz="1400" b="1" dirty="0">
                <a:latin typeface="Courier New" pitchFamily="49" charset="0"/>
                <a:cs typeface="Courier New" pitchFamily="49" charset="0"/>
              </a:rPr>
              <a:t> 3  #include &lt;string&gt;</a:t>
            </a:r>
          </a:p>
          <a:p>
            <a:pPr>
              <a:defRPr/>
            </a:pPr>
            <a:r>
              <a:rPr lang="en-US" sz="1400" b="1" dirty="0">
                <a:latin typeface="Courier New" pitchFamily="49" charset="0"/>
                <a:cs typeface="Courier New" pitchFamily="49" charset="0"/>
              </a:rPr>
              <a:t> 4  #include "</a:t>
            </a:r>
            <a:r>
              <a:rPr lang="en-US" sz="1400" b="1" dirty="0" err="1">
                <a:latin typeface="Courier New" pitchFamily="49" charset="0"/>
                <a:cs typeface="Courier New" pitchFamily="49" charset="0"/>
              </a:rPr>
              <a:t>listtools.h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"</a:t>
            </a:r>
          </a:p>
          <a:p>
            <a:pPr>
              <a:defRPr/>
            </a:pPr>
            <a:r>
              <a:rPr lang="en-US" sz="1400" b="1" dirty="0">
                <a:latin typeface="Courier New" pitchFamily="49" charset="0"/>
                <a:cs typeface="Courier New" pitchFamily="49" charset="0"/>
              </a:rPr>
              <a:t> 5  #include "</a:t>
            </a:r>
            <a:r>
              <a:rPr lang="en-US" sz="1400" b="1" dirty="0" err="1">
                <a:latin typeface="Courier New" pitchFamily="49" charset="0"/>
                <a:cs typeface="Courier New" pitchFamily="49" charset="0"/>
              </a:rPr>
              <a:t>hashtable.h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"</a:t>
            </a:r>
          </a:p>
          <a:p>
            <a:pPr>
              <a:defRPr/>
            </a:pPr>
            <a:endParaRPr lang="en-US" sz="1400" b="1" dirty="0">
              <a:latin typeface="Courier New" pitchFamily="49" charset="0"/>
              <a:cs typeface="Courier New" pitchFamily="49" charset="0"/>
            </a:endParaRPr>
          </a:p>
          <a:p>
            <a:pPr>
              <a:defRPr/>
            </a:pPr>
            <a:r>
              <a:rPr lang="en-US" sz="1400" b="1" dirty="0">
                <a:latin typeface="Courier New" pitchFamily="49" charset="0"/>
                <a:cs typeface="Courier New" pitchFamily="49" charset="0"/>
              </a:rPr>
              <a:t> 6  using </a:t>
            </a:r>
            <a:r>
              <a:rPr lang="en-US" sz="1400" b="1" dirty="0" err="1">
                <a:latin typeface="Courier New" pitchFamily="49" charset="0"/>
                <a:cs typeface="Courier New" pitchFamily="49" charset="0"/>
              </a:rPr>
              <a:t>LinkedListSavitch::Node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defRPr/>
            </a:pPr>
            <a:r>
              <a:rPr lang="en-US" sz="1400" b="1" dirty="0">
                <a:latin typeface="Courier New" pitchFamily="49" charset="0"/>
                <a:cs typeface="Courier New" pitchFamily="49" charset="0"/>
              </a:rPr>
              <a:t> 7  using </a:t>
            </a:r>
            <a:r>
              <a:rPr lang="en-US" sz="1400" b="1" dirty="0" err="1">
                <a:latin typeface="Courier New" pitchFamily="49" charset="0"/>
                <a:cs typeface="Courier New" pitchFamily="49" charset="0"/>
              </a:rPr>
              <a:t>LinkedListSavitch::search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defRPr/>
            </a:pPr>
            <a:r>
              <a:rPr lang="en-US" sz="1400" b="1" dirty="0">
                <a:latin typeface="Courier New" pitchFamily="49" charset="0"/>
                <a:cs typeface="Courier New" pitchFamily="49" charset="0"/>
              </a:rPr>
              <a:t> 8  using </a:t>
            </a:r>
            <a:r>
              <a:rPr lang="en-US" sz="1400" b="1" dirty="0" err="1">
                <a:latin typeface="Courier New" pitchFamily="49" charset="0"/>
                <a:cs typeface="Courier New" pitchFamily="49" charset="0"/>
              </a:rPr>
              <a:t>LinkedListSavitch::headInsert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defRPr/>
            </a:pPr>
            <a:r>
              <a:rPr lang="en-US" sz="1400" b="1" dirty="0">
                <a:latin typeface="Courier New" pitchFamily="49" charset="0"/>
                <a:cs typeface="Courier New" pitchFamily="49" charset="0"/>
              </a:rPr>
              <a:t> 9  using </a:t>
            </a:r>
            <a:r>
              <a:rPr lang="en-US" sz="1400" b="1" dirty="0" err="1">
                <a:latin typeface="Courier New" pitchFamily="49" charset="0"/>
                <a:cs typeface="Courier New" pitchFamily="49" charset="0"/>
              </a:rPr>
              <a:t>std::string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defRPr/>
            </a:pPr>
            <a:endParaRPr lang="en-US" sz="1400" b="1" dirty="0">
              <a:latin typeface="Courier New" pitchFamily="49" charset="0"/>
              <a:cs typeface="Courier New" pitchFamily="49" charset="0"/>
            </a:endParaRPr>
          </a:p>
          <a:p>
            <a:pPr>
              <a:defRPr/>
            </a:pPr>
            <a:r>
              <a:rPr lang="en-US" sz="1400" b="1" dirty="0">
                <a:latin typeface="Courier New" pitchFamily="49" charset="0"/>
                <a:cs typeface="Courier New" pitchFamily="49" charset="0"/>
              </a:rPr>
              <a:t>10  namespace </a:t>
            </a:r>
            <a:r>
              <a:rPr lang="en-US" sz="1400" b="1" dirty="0" err="1">
                <a:latin typeface="Courier New" pitchFamily="49" charset="0"/>
                <a:cs typeface="Courier New" pitchFamily="49" charset="0"/>
              </a:rPr>
              <a:t>HashTableSavitch</a:t>
            </a:r>
            <a:endParaRPr lang="en-US" sz="1400" b="1" dirty="0">
              <a:latin typeface="Courier New" pitchFamily="49" charset="0"/>
              <a:cs typeface="Courier New" pitchFamily="49" charset="0"/>
            </a:endParaRPr>
          </a:p>
          <a:p>
            <a:pPr>
              <a:defRPr/>
            </a:pPr>
            <a:r>
              <a:rPr lang="en-US" sz="1400" b="1" dirty="0">
                <a:latin typeface="Courier New" pitchFamily="49" charset="0"/>
                <a:cs typeface="Courier New" pitchFamily="49" charset="0"/>
              </a:rPr>
              <a:t>11  {</a:t>
            </a:r>
          </a:p>
          <a:p>
            <a:pPr>
              <a:defRPr/>
            </a:pPr>
            <a:r>
              <a:rPr lang="en-US" sz="1400" b="1" dirty="0">
                <a:latin typeface="Courier New" pitchFamily="49" charset="0"/>
                <a:cs typeface="Courier New" pitchFamily="49" charset="0"/>
              </a:rPr>
              <a:t>12    </a:t>
            </a:r>
            <a:r>
              <a:rPr lang="en-US" sz="1400" b="1" dirty="0" err="1">
                <a:latin typeface="Courier New" pitchFamily="49" charset="0"/>
                <a:cs typeface="Courier New" pitchFamily="49" charset="0"/>
              </a:rPr>
              <a:t>HashTable::HashTable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()</a:t>
            </a:r>
          </a:p>
          <a:p>
            <a:pPr>
              <a:defRPr/>
            </a:pPr>
            <a:r>
              <a:rPr lang="en-US" sz="1400" b="1" dirty="0">
                <a:latin typeface="Courier New" pitchFamily="49" charset="0"/>
                <a:cs typeface="Courier New" pitchFamily="49" charset="0"/>
              </a:rPr>
              <a:t>13    {</a:t>
            </a:r>
          </a:p>
          <a:p>
            <a:pPr>
              <a:defRPr/>
            </a:pPr>
            <a:r>
              <a:rPr lang="en-US" sz="1400" b="1" dirty="0">
                <a:latin typeface="Courier New" pitchFamily="49" charset="0"/>
                <a:cs typeface="Courier New" pitchFamily="49" charset="0"/>
              </a:rPr>
              <a:t>14     for (</a:t>
            </a:r>
            <a:r>
              <a:rPr lang="en-US" sz="1400" b="1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400" b="1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 = 0; </a:t>
            </a:r>
            <a:r>
              <a:rPr lang="en-US" sz="1400" b="1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 &lt; SIZE; </a:t>
            </a:r>
            <a:r>
              <a:rPr lang="en-US" sz="1400" b="1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++)</a:t>
            </a:r>
          </a:p>
          <a:p>
            <a:pPr>
              <a:defRPr/>
            </a:pPr>
            <a:r>
              <a:rPr lang="en-US" sz="1400" b="1" dirty="0">
                <a:latin typeface="Courier New" pitchFamily="49" charset="0"/>
                <a:cs typeface="Courier New" pitchFamily="49" charset="0"/>
              </a:rPr>
              <a:t>15     { </a:t>
            </a:r>
          </a:p>
          <a:p>
            <a:pPr>
              <a:defRPr/>
            </a:pPr>
            <a:r>
              <a:rPr lang="en-US" sz="1400" b="1" dirty="0">
                <a:latin typeface="Courier New" pitchFamily="49" charset="0"/>
                <a:cs typeface="Courier New" pitchFamily="49" charset="0"/>
              </a:rPr>
              <a:t>16      </a:t>
            </a:r>
            <a:r>
              <a:rPr lang="en-US" sz="1400" b="1" dirty="0" err="1">
                <a:latin typeface="Courier New" pitchFamily="49" charset="0"/>
                <a:cs typeface="Courier New" pitchFamily="49" charset="0"/>
              </a:rPr>
              <a:t>hashArray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[</a:t>
            </a:r>
            <a:r>
              <a:rPr lang="en-US" sz="1400" b="1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] = NULL;</a:t>
            </a:r>
          </a:p>
          <a:p>
            <a:pPr>
              <a:defRPr/>
            </a:pPr>
            <a:r>
              <a:rPr lang="en-US" sz="1400" b="1" dirty="0">
                <a:latin typeface="Courier New" pitchFamily="49" charset="0"/>
                <a:cs typeface="Courier New" pitchFamily="49" charset="0"/>
              </a:rPr>
              <a:t>17     }</a:t>
            </a:r>
          </a:p>
          <a:p>
            <a:pPr marL="342900" indent="-342900">
              <a:buFontTx/>
              <a:buAutoNum type="arabicPlain" startAt="18"/>
              <a:defRPr/>
            </a:pPr>
            <a:r>
              <a:rPr lang="en-US" sz="1400" b="1" dirty="0">
                <a:latin typeface="Courier New" pitchFamily="49" charset="0"/>
                <a:cs typeface="Courier New" pitchFamily="49" charset="0"/>
              </a:rPr>
              <a:t>}</a:t>
            </a:r>
          </a:p>
          <a:p>
            <a:pPr marL="342900" indent="-342900">
              <a:buFontTx/>
              <a:buAutoNum type="arabicPlain" startAt="18"/>
              <a:defRPr/>
            </a:pPr>
            <a:endParaRPr lang="en-US" sz="1400" b="1" dirty="0"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Implementation File for Hash Table Class (2 of 3)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17-</a:t>
            </a:r>
            <a:fld id="{6B1BFEAC-1F01-4281-8F35-52A4877FAC49}" type="slidenum">
              <a:rPr lang="en-US" smtClean="0"/>
              <a:pPr>
                <a:defRPr/>
              </a:pPr>
              <a:t>51</a:t>
            </a:fld>
            <a:endParaRPr lang="en-US"/>
          </a:p>
        </p:txBody>
      </p:sp>
      <p:sp>
        <p:nvSpPr>
          <p:cNvPr id="116739" name="Footer Placeholder 4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09600" y="1447800"/>
            <a:ext cx="4864100" cy="51974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1400" b="1" dirty="0">
                <a:latin typeface="Courier New" pitchFamily="49" charset="0"/>
                <a:cs typeface="Courier New" pitchFamily="49" charset="0"/>
              </a:rPr>
              <a:t>19    </a:t>
            </a:r>
            <a:r>
              <a:rPr lang="en-US" sz="1400" b="1" dirty="0" err="1">
                <a:latin typeface="Courier New" pitchFamily="49" charset="0"/>
                <a:cs typeface="Courier New" pitchFamily="49" charset="0"/>
              </a:rPr>
              <a:t>HashTable::~HashTable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()</a:t>
            </a:r>
          </a:p>
          <a:p>
            <a:pPr>
              <a:defRPr/>
            </a:pPr>
            <a:r>
              <a:rPr lang="en-US" sz="1400" b="1" dirty="0">
                <a:latin typeface="Courier New" pitchFamily="49" charset="0"/>
                <a:cs typeface="Courier New" pitchFamily="49" charset="0"/>
              </a:rPr>
              <a:t>20    {</a:t>
            </a:r>
          </a:p>
          <a:p>
            <a:pPr>
              <a:defRPr/>
            </a:pPr>
            <a:r>
              <a:rPr lang="en-US" sz="1400" b="1" dirty="0">
                <a:latin typeface="Courier New" pitchFamily="49" charset="0"/>
                <a:cs typeface="Courier New" pitchFamily="49" charset="0"/>
              </a:rPr>
              <a:t>21      for (</a:t>
            </a:r>
            <a:r>
              <a:rPr lang="en-US" sz="1400" b="1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400" b="1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=0; </a:t>
            </a:r>
            <a:r>
              <a:rPr lang="en-US" sz="1400" b="1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&lt;SIZE; </a:t>
            </a:r>
            <a:r>
              <a:rPr lang="en-US" sz="1400" b="1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++)</a:t>
            </a:r>
          </a:p>
          <a:p>
            <a:pPr>
              <a:defRPr/>
            </a:pPr>
            <a:r>
              <a:rPr lang="en-US" sz="1400" b="1" dirty="0">
                <a:latin typeface="Courier New" pitchFamily="49" charset="0"/>
                <a:cs typeface="Courier New" pitchFamily="49" charset="0"/>
              </a:rPr>
              <a:t>22      {</a:t>
            </a:r>
          </a:p>
          <a:p>
            <a:pPr>
              <a:defRPr/>
            </a:pPr>
            <a:r>
              <a:rPr lang="en-US" sz="1400" b="1" dirty="0">
                <a:latin typeface="Courier New" pitchFamily="49" charset="0"/>
                <a:cs typeface="Courier New" pitchFamily="49" charset="0"/>
              </a:rPr>
              <a:t>23        Node&lt;string&gt; *next = </a:t>
            </a:r>
            <a:r>
              <a:rPr lang="en-US" sz="1400" b="1" dirty="0" err="1">
                <a:latin typeface="Courier New" pitchFamily="49" charset="0"/>
                <a:cs typeface="Courier New" pitchFamily="49" charset="0"/>
              </a:rPr>
              <a:t>hashArray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[</a:t>
            </a:r>
            <a:r>
              <a:rPr lang="en-US" sz="1400" b="1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];</a:t>
            </a:r>
          </a:p>
          <a:p>
            <a:pPr>
              <a:defRPr/>
            </a:pPr>
            <a:r>
              <a:rPr lang="en-US" sz="1400" b="1" dirty="0">
                <a:latin typeface="Courier New" pitchFamily="49" charset="0"/>
                <a:cs typeface="Courier New" pitchFamily="49" charset="0"/>
              </a:rPr>
              <a:t>24        while (next != NULL)</a:t>
            </a:r>
          </a:p>
          <a:p>
            <a:pPr>
              <a:defRPr/>
            </a:pPr>
            <a:r>
              <a:rPr lang="en-US" sz="1400" b="1" dirty="0">
                <a:latin typeface="Courier New" pitchFamily="49" charset="0"/>
                <a:cs typeface="Courier New" pitchFamily="49" charset="0"/>
              </a:rPr>
              <a:t>25        {</a:t>
            </a:r>
          </a:p>
          <a:p>
            <a:pPr>
              <a:defRPr/>
            </a:pPr>
            <a:r>
              <a:rPr lang="en-US" sz="1400" b="1" dirty="0">
                <a:latin typeface="Courier New" pitchFamily="49" charset="0"/>
                <a:cs typeface="Courier New" pitchFamily="49" charset="0"/>
              </a:rPr>
              <a:t>26          Node&lt;string&gt; *discard = next;</a:t>
            </a:r>
          </a:p>
          <a:p>
            <a:pPr>
              <a:defRPr/>
            </a:pPr>
            <a:r>
              <a:rPr lang="en-US" sz="1400" b="1" dirty="0">
                <a:latin typeface="Courier New" pitchFamily="49" charset="0"/>
                <a:cs typeface="Courier New" pitchFamily="49" charset="0"/>
              </a:rPr>
              <a:t>27          next = </a:t>
            </a:r>
            <a:r>
              <a:rPr lang="en-US" sz="1400" b="1" dirty="0" err="1">
                <a:latin typeface="Courier New" pitchFamily="49" charset="0"/>
                <a:cs typeface="Courier New" pitchFamily="49" charset="0"/>
              </a:rPr>
              <a:t>next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-&gt;</a:t>
            </a:r>
            <a:r>
              <a:rPr lang="en-US" sz="1400" b="1" dirty="0" err="1">
                <a:latin typeface="Courier New" pitchFamily="49" charset="0"/>
                <a:cs typeface="Courier New" pitchFamily="49" charset="0"/>
              </a:rPr>
              <a:t>getLink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( );</a:t>
            </a:r>
          </a:p>
          <a:p>
            <a:pPr>
              <a:defRPr/>
            </a:pPr>
            <a:r>
              <a:rPr lang="en-US" sz="1400" b="1" dirty="0">
                <a:latin typeface="Courier New" pitchFamily="49" charset="0"/>
                <a:cs typeface="Courier New" pitchFamily="49" charset="0"/>
              </a:rPr>
              <a:t>28          delete discard;</a:t>
            </a:r>
          </a:p>
          <a:p>
            <a:pPr>
              <a:defRPr/>
            </a:pPr>
            <a:r>
              <a:rPr lang="en-US" sz="1400" b="1" dirty="0">
                <a:latin typeface="Courier New" pitchFamily="49" charset="0"/>
                <a:cs typeface="Courier New" pitchFamily="49" charset="0"/>
              </a:rPr>
              <a:t>29        }</a:t>
            </a:r>
          </a:p>
          <a:p>
            <a:pPr>
              <a:defRPr/>
            </a:pPr>
            <a:r>
              <a:rPr lang="en-US" sz="1400" b="1" dirty="0">
                <a:latin typeface="Courier New" pitchFamily="49" charset="0"/>
                <a:cs typeface="Courier New" pitchFamily="49" charset="0"/>
              </a:rPr>
              <a:t>30      }</a:t>
            </a:r>
          </a:p>
          <a:p>
            <a:pPr>
              <a:defRPr/>
            </a:pPr>
            <a:r>
              <a:rPr lang="en-US" sz="1400" b="1" dirty="0">
                <a:latin typeface="Courier New" pitchFamily="49" charset="0"/>
                <a:cs typeface="Courier New" pitchFamily="49" charset="0"/>
              </a:rPr>
              <a:t>31    }</a:t>
            </a:r>
          </a:p>
          <a:p>
            <a:pPr>
              <a:defRPr/>
            </a:pPr>
            <a:endParaRPr lang="en-US" sz="1400" b="1" dirty="0">
              <a:latin typeface="Courier New" pitchFamily="49" charset="0"/>
              <a:cs typeface="Courier New" pitchFamily="49" charset="0"/>
            </a:endParaRPr>
          </a:p>
          <a:p>
            <a:pPr>
              <a:defRPr/>
            </a:pPr>
            <a:r>
              <a:rPr lang="en-US" sz="1400" b="1" dirty="0">
                <a:latin typeface="Courier New" pitchFamily="49" charset="0"/>
                <a:cs typeface="Courier New" pitchFamily="49" charset="0"/>
              </a:rPr>
              <a:t>32    </a:t>
            </a:r>
            <a:r>
              <a:rPr lang="en-US" sz="1400" b="1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400" b="1" dirty="0" err="1">
                <a:latin typeface="Courier New" pitchFamily="49" charset="0"/>
                <a:cs typeface="Courier New" pitchFamily="49" charset="0"/>
              </a:rPr>
              <a:t>HashTable::computeHash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(string s)</a:t>
            </a:r>
          </a:p>
          <a:p>
            <a:pPr>
              <a:defRPr/>
            </a:pPr>
            <a:r>
              <a:rPr lang="en-US" sz="1400" b="1" dirty="0">
                <a:latin typeface="Courier New" pitchFamily="49" charset="0"/>
                <a:cs typeface="Courier New" pitchFamily="49" charset="0"/>
              </a:rPr>
              <a:t>33    {</a:t>
            </a:r>
          </a:p>
          <a:p>
            <a:pPr>
              <a:defRPr/>
            </a:pPr>
            <a:r>
              <a:rPr lang="en-US" sz="1400" b="1" dirty="0">
                <a:latin typeface="Courier New" pitchFamily="49" charset="0"/>
                <a:cs typeface="Courier New" pitchFamily="49" charset="0"/>
              </a:rPr>
              <a:t>34     </a:t>
            </a:r>
            <a:r>
              <a:rPr lang="en-US" sz="1400" b="1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 hash = 0;</a:t>
            </a:r>
          </a:p>
          <a:p>
            <a:pPr>
              <a:defRPr/>
            </a:pPr>
            <a:r>
              <a:rPr lang="en-US" sz="1400" b="1" dirty="0">
                <a:latin typeface="Courier New" pitchFamily="49" charset="0"/>
                <a:cs typeface="Courier New" pitchFamily="49" charset="0"/>
              </a:rPr>
              <a:t>35     for (</a:t>
            </a:r>
            <a:r>
              <a:rPr lang="en-US" sz="1400" b="1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400" b="1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 = 0; </a:t>
            </a:r>
            <a:r>
              <a:rPr lang="en-US" sz="1400" b="1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 &lt; </a:t>
            </a:r>
            <a:r>
              <a:rPr lang="en-US" sz="1400" b="1" dirty="0" err="1">
                <a:latin typeface="Courier New" pitchFamily="49" charset="0"/>
                <a:cs typeface="Courier New" pitchFamily="49" charset="0"/>
              </a:rPr>
              <a:t>s.length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( ); </a:t>
            </a:r>
            <a:r>
              <a:rPr lang="en-US" sz="1400" b="1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++)</a:t>
            </a:r>
          </a:p>
          <a:p>
            <a:pPr>
              <a:defRPr/>
            </a:pPr>
            <a:r>
              <a:rPr lang="en-US" sz="1400" b="1" dirty="0">
                <a:latin typeface="Courier New" pitchFamily="49" charset="0"/>
                <a:cs typeface="Courier New" pitchFamily="49" charset="0"/>
              </a:rPr>
              <a:t>36     {</a:t>
            </a:r>
          </a:p>
          <a:p>
            <a:pPr>
              <a:defRPr/>
            </a:pPr>
            <a:r>
              <a:rPr lang="en-US" sz="1400" b="1" dirty="0">
                <a:latin typeface="Courier New" pitchFamily="49" charset="0"/>
                <a:cs typeface="Courier New" pitchFamily="49" charset="0"/>
              </a:rPr>
              <a:t>37      hash = </a:t>
            </a:r>
            <a:r>
              <a:rPr lang="en-US" sz="1400" b="1" dirty="0" err="1">
                <a:latin typeface="Courier New" pitchFamily="49" charset="0"/>
                <a:cs typeface="Courier New" pitchFamily="49" charset="0"/>
              </a:rPr>
              <a:t>hash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 + s[</a:t>
            </a:r>
            <a:r>
              <a:rPr lang="en-US" sz="1400" b="1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];</a:t>
            </a:r>
          </a:p>
          <a:p>
            <a:pPr>
              <a:defRPr/>
            </a:pPr>
            <a:r>
              <a:rPr lang="en-US" sz="1400" b="1" dirty="0">
                <a:latin typeface="Courier New" pitchFamily="49" charset="0"/>
                <a:cs typeface="Courier New" pitchFamily="49" charset="0"/>
              </a:rPr>
              <a:t>38     }</a:t>
            </a:r>
          </a:p>
          <a:p>
            <a:pPr>
              <a:defRPr/>
            </a:pPr>
            <a:r>
              <a:rPr lang="en-US" sz="1400" b="1" dirty="0">
                <a:latin typeface="Courier New" pitchFamily="49" charset="0"/>
                <a:cs typeface="Courier New" pitchFamily="49" charset="0"/>
              </a:rPr>
              <a:t>39     return hash % SIZE;</a:t>
            </a:r>
          </a:p>
          <a:p>
            <a:pPr>
              <a:defRPr/>
            </a:pPr>
            <a:r>
              <a:rPr lang="en-US" sz="1400" b="1" dirty="0">
                <a:latin typeface="Courier New" pitchFamily="49" charset="0"/>
                <a:cs typeface="Courier New" pitchFamily="49" charset="0"/>
              </a:rPr>
              <a:t>40    }</a:t>
            </a:r>
          </a:p>
          <a:p>
            <a:pPr marL="342900" indent="-342900">
              <a:buFontTx/>
              <a:buAutoNum type="arabicPlain" startAt="18"/>
              <a:defRPr/>
            </a:pPr>
            <a:endParaRPr lang="en-US" sz="1400" b="1" dirty="0"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Implementation File for Hash Table Class (3 of 3)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17-</a:t>
            </a:r>
            <a:fld id="{92CD0110-4D35-43CF-AA3B-723BA8573BB6}" type="slidenum">
              <a:rPr lang="en-US" smtClean="0"/>
              <a:pPr>
                <a:defRPr/>
              </a:pPr>
              <a:t>52</a:t>
            </a:fld>
            <a:endParaRPr lang="en-US"/>
          </a:p>
        </p:txBody>
      </p:sp>
      <p:sp>
        <p:nvSpPr>
          <p:cNvPr id="118787" name="Footer Placeholder 4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09600" y="1600200"/>
            <a:ext cx="6034088" cy="24320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1400" b="1" dirty="0">
                <a:latin typeface="Courier New" pitchFamily="49" charset="0"/>
                <a:cs typeface="Courier New" pitchFamily="49" charset="0"/>
              </a:rPr>
              <a:t>41    void </a:t>
            </a:r>
            <a:r>
              <a:rPr lang="en-US" sz="1400" b="1" dirty="0" err="1">
                <a:latin typeface="Courier New" pitchFamily="49" charset="0"/>
                <a:cs typeface="Courier New" pitchFamily="49" charset="0"/>
              </a:rPr>
              <a:t>HashTable::put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(string s)</a:t>
            </a:r>
          </a:p>
          <a:p>
            <a:pPr>
              <a:defRPr/>
            </a:pPr>
            <a:r>
              <a:rPr lang="en-US" sz="1400" b="1" dirty="0">
                <a:latin typeface="Courier New" pitchFamily="49" charset="0"/>
                <a:cs typeface="Courier New" pitchFamily="49" charset="0"/>
              </a:rPr>
              <a:t>42    {</a:t>
            </a:r>
          </a:p>
          <a:p>
            <a:pPr>
              <a:defRPr/>
            </a:pPr>
            <a:r>
              <a:rPr lang="en-US" sz="1400" b="1" dirty="0">
                <a:latin typeface="Courier New" pitchFamily="49" charset="0"/>
                <a:cs typeface="Courier New" pitchFamily="49" charset="0"/>
              </a:rPr>
              <a:t>43     </a:t>
            </a:r>
            <a:r>
              <a:rPr lang="en-US" sz="1400" b="1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 hash = </a:t>
            </a:r>
            <a:r>
              <a:rPr lang="en-US" sz="1400" b="1" dirty="0" err="1">
                <a:latin typeface="Courier New" pitchFamily="49" charset="0"/>
                <a:cs typeface="Courier New" pitchFamily="49" charset="0"/>
              </a:rPr>
              <a:t>computeHash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(s);</a:t>
            </a:r>
          </a:p>
          <a:p>
            <a:pPr>
              <a:defRPr/>
            </a:pPr>
            <a:r>
              <a:rPr lang="en-US" sz="1400" b="1" dirty="0">
                <a:latin typeface="Courier New" pitchFamily="49" charset="0"/>
                <a:cs typeface="Courier New" pitchFamily="49" charset="0"/>
              </a:rPr>
              <a:t>44     if (search(</a:t>
            </a:r>
            <a:r>
              <a:rPr lang="en-US" sz="1400" b="1" dirty="0" err="1">
                <a:latin typeface="Courier New" pitchFamily="49" charset="0"/>
                <a:cs typeface="Courier New" pitchFamily="49" charset="0"/>
              </a:rPr>
              <a:t>hashArray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[hash], s)==NULL)</a:t>
            </a:r>
          </a:p>
          <a:p>
            <a:pPr>
              <a:defRPr/>
            </a:pPr>
            <a:r>
              <a:rPr lang="en-US" sz="1400" b="1" dirty="0">
                <a:latin typeface="Courier New" pitchFamily="49" charset="0"/>
                <a:cs typeface="Courier New" pitchFamily="49" charset="0"/>
              </a:rPr>
              <a:t>45     {</a:t>
            </a:r>
          </a:p>
          <a:p>
            <a:pPr>
              <a:defRPr/>
            </a:pPr>
            <a:r>
              <a:rPr lang="en-US" sz="1400" b="1" dirty="0">
                <a:latin typeface="Courier New" pitchFamily="49" charset="0"/>
                <a:cs typeface="Courier New" pitchFamily="49" charset="0"/>
              </a:rPr>
              <a:t>46       // Only add the target if it's not in the list</a:t>
            </a:r>
          </a:p>
          <a:p>
            <a:pPr>
              <a:defRPr/>
            </a:pPr>
            <a:r>
              <a:rPr lang="en-US" sz="1400" b="1" dirty="0">
                <a:latin typeface="Courier New" pitchFamily="49" charset="0"/>
                <a:cs typeface="Courier New" pitchFamily="49" charset="0"/>
              </a:rPr>
              <a:t>47       </a:t>
            </a:r>
            <a:r>
              <a:rPr lang="en-US" sz="1400" b="1" dirty="0" err="1">
                <a:latin typeface="Courier New" pitchFamily="49" charset="0"/>
                <a:cs typeface="Courier New" pitchFamily="49" charset="0"/>
              </a:rPr>
              <a:t>headInsert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400" b="1" dirty="0" err="1">
                <a:latin typeface="Courier New" pitchFamily="49" charset="0"/>
                <a:cs typeface="Courier New" pitchFamily="49" charset="0"/>
              </a:rPr>
              <a:t>hashArray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[hash], s);</a:t>
            </a:r>
          </a:p>
          <a:p>
            <a:pPr>
              <a:defRPr/>
            </a:pPr>
            <a:r>
              <a:rPr lang="en-US" sz="1400" b="1" dirty="0">
                <a:latin typeface="Courier New" pitchFamily="49" charset="0"/>
                <a:cs typeface="Courier New" pitchFamily="49" charset="0"/>
              </a:rPr>
              <a:t>48     }</a:t>
            </a:r>
          </a:p>
          <a:p>
            <a:pPr>
              <a:defRPr/>
            </a:pPr>
            <a:r>
              <a:rPr lang="en-US" sz="1400" b="1" dirty="0">
                <a:latin typeface="Courier New" pitchFamily="49" charset="0"/>
                <a:cs typeface="Courier New" pitchFamily="49" charset="0"/>
              </a:rPr>
              <a:t>49    }</a:t>
            </a:r>
          </a:p>
          <a:p>
            <a:pPr>
              <a:defRPr/>
            </a:pPr>
            <a:r>
              <a:rPr lang="en-US" sz="1400" b="1" dirty="0">
                <a:latin typeface="Courier New" pitchFamily="49" charset="0"/>
                <a:cs typeface="Courier New" pitchFamily="49" charset="0"/>
              </a:rPr>
              <a:t>50 } // </a:t>
            </a:r>
            <a:r>
              <a:rPr lang="en-US" sz="1400" b="1" dirty="0" err="1">
                <a:latin typeface="Courier New" pitchFamily="49" charset="0"/>
                <a:cs typeface="Courier New" pitchFamily="49" charset="0"/>
              </a:rPr>
              <a:t>HashTableSavitch</a:t>
            </a:r>
            <a:endParaRPr lang="en-US" sz="1400" b="1" dirty="0">
              <a:latin typeface="Courier New" pitchFamily="49" charset="0"/>
              <a:cs typeface="Courier New" pitchFamily="49" charset="0"/>
            </a:endParaRPr>
          </a:p>
          <a:p>
            <a:pPr marL="342900" indent="-342900">
              <a:buFontTx/>
              <a:buAutoNum type="arabicPlain" startAt="18"/>
              <a:defRPr/>
            </a:pPr>
            <a:endParaRPr lang="en-US" sz="1400" b="1" dirty="0"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3" name="Title 1"/>
          <p:cNvSpPr>
            <a:spLocks noGrp="1"/>
          </p:cNvSpPr>
          <p:nvPr>
            <p:ph type="title"/>
          </p:nvPr>
        </p:nvSpPr>
        <p:spPr>
          <a:xfrm>
            <a:off x="457200" y="-76200"/>
            <a:ext cx="8229600" cy="1143000"/>
          </a:xfrm>
        </p:spPr>
        <p:txBody>
          <a:bodyPr/>
          <a:lstStyle/>
          <a:p>
            <a:pPr eaLnBrk="1" hangingPunct="1"/>
            <a:r>
              <a:rPr lang="en-US" smtClean="0"/>
              <a:t>Hash Table Demonstration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17-</a:t>
            </a:r>
            <a:fld id="{1409432D-6657-4A6B-ABE0-A949ED9B64F2}" type="slidenum">
              <a:rPr lang="en-US" smtClean="0"/>
              <a:pPr>
                <a:defRPr/>
              </a:pPr>
              <a:t>53</a:t>
            </a:fld>
            <a:endParaRPr lang="en-US"/>
          </a:p>
        </p:txBody>
      </p:sp>
      <p:sp>
        <p:nvSpPr>
          <p:cNvPr id="120835" name="Footer Placeholder 4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09600" y="885825"/>
            <a:ext cx="7842250" cy="6048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1400" b="1" dirty="0">
                <a:latin typeface="Courier New" pitchFamily="49" charset="0"/>
                <a:cs typeface="Courier New" pitchFamily="49" charset="0"/>
              </a:rPr>
              <a:t> 1  // Program to demonstrate use of the </a:t>
            </a:r>
            <a:r>
              <a:rPr lang="en-US" sz="1400" b="1" dirty="0" err="1">
                <a:latin typeface="Courier New" pitchFamily="49" charset="0"/>
                <a:cs typeface="Courier New" pitchFamily="49" charset="0"/>
              </a:rPr>
              <a:t>HashTable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 class</a:t>
            </a:r>
          </a:p>
          <a:p>
            <a:pPr>
              <a:defRPr/>
            </a:pPr>
            <a:r>
              <a:rPr lang="en-US" sz="1400" b="1" dirty="0">
                <a:latin typeface="Courier New" pitchFamily="49" charset="0"/>
                <a:cs typeface="Courier New" pitchFamily="49" charset="0"/>
              </a:rPr>
              <a:t> 2  #include &lt;string&gt;</a:t>
            </a:r>
          </a:p>
          <a:p>
            <a:pPr>
              <a:defRPr/>
            </a:pPr>
            <a:r>
              <a:rPr lang="en-US" sz="1400" b="1" dirty="0">
                <a:latin typeface="Courier New" pitchFamily="49" charset="0"/>
                <a:cs typeface="Courier New" pitchFamily="49" charset="0"/>
              </a:rPr>
              <a:t> 3  #include &lt;</a:t>
            </a:r>
            <a:r>
              <a:rPr lang="en-US" sz="1400" b="1" dirty="0" err="1">
                <a:latin typeface="Courier New" pitchFamily="49" charset="0"/>
                <a:cs typeface="Courier New" pitchFamily="49" charset="0"/>
              </a:rPr>
              <a:t>iostream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>
              <a:defRPr/>
            </a:pPr>
            <a:r>
              <a:rPr lang="en-US" sz="1400" b="1" dirty="0">
                <a:latin typeface="Courier New" pitchFamily="49" charset="0"/>
                <a:cs typeface="Courier New" pitchFamily="49" charset="0"/>
              </a:rPr>
              <a:t> 4  #include "</a:t>
            </a:r>
            <a:r>
              <a:rPr lang="en-US" sz="1400" b="1" dirty="0" err="1">
                <a:latin typeface="Courier New" pitchFamily="49" charset="0"/>
                <a:cs typeface="Courier New" pitchFamily="49" charset="0"/>
              </a:rPr>
              <a:t>hashtable.h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"</a:t>
            </a:r>
          </a:p>
          <a:p>
            <a:pPr>
              <a:defRPr/>
            </a:pPr>
            <a:r>
              <a:rPr lang="en-US" sz="1400" b="1" dirty="0">
                <a:latin typeface="Courier New" pitchFamily="49" charset="0"/>
                <a:cs typeface="Courier New" pitchFamily="49" charset="0"/>
              </a:rPr>
              <a:t> 5  #include "</a:t>
            </a:r>
            <a:r>
              <a:rPr lang="en-US" sz="1400" b="1" dirty="0" err="1">
                <a:latin typeface="Courier New" pitchFamily="49" charset="0"/>
                <a:cs typeface="Courier New" pitchFamily="49" charset="0"/>
              </a:rPr>
              <a:t>listtools.cpp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"</a:t>
            </a:r>
          </a:p>
          <a:p>
            <a:pPr>
              <a:defRPr/>
            </a:pPr>
            <a:r>
              <a:rPr lang="en-US" sz="1400" b="1" dirty="0">
                <a:latin typeface="Courier New" pitchFamily="49" charset="0"/>
                <a:cs typeface="Courier New" pitchFamily="49" charset="0"/>
              </a:rPr>
              <a:t> 6  #include "</a:t>
            </a:r>
            <a:r>
              <a:rPr lang="en-US" sz="1400" b="1" dirty="0" err="1">
                <a:latin typeface="Courier New" pitchFamily="49" charset="0"/>
                <a:cs typeface="Courier New" pitchFamily="49" charset="0"/>
              </a:rPr>
              <a:t>hashtable.cpp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"</a:t>
            </a:r>
          </a:p>
          <a:p>
            <a:pPr>
              <a:defRPr/>
            </a:pPr>
            <a:r>
              <a:rPr lang="en-US" sz="1400" b="1" dirty="0">
                <a:latin typeface="Courier New" pitchFamily="49" charset="0"/>
                <a:cs typeface="Courier New" pitchFamily="49" charset="0"/>
              </a:rPr>
              <a:t> 7  using </a:t>
            </a:r>
            <a:r>
              <a:rPr lang="en-US" sz="1400" b="1" dirty="0" err="1">
                <a:latin typeface="Courier New" pitchFamily="49" charset="0"/>
                <a:cs typeface="Courier New" pitchFamily="49" charset="0"/>
              </a:rPr>
              <a:t>std::string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defRPr/>
            </a:pPr>
            <a:r>
              <a:rPr lang="en-US" sz="1400" b="1" dirty="0">
                <a:latin typeface="Courier New" pitchFamily="49" charset="0"/>
                <a:cs typeface="Courier New" pitchFamily="49" charset="0"/>
              </a:rPr>
              <a:t> 8  using </a:t>
            </a:r>
            <a:r>
              <a:rPr lang="en-US" sz="1400" b="1" dirty="0" err="1">
                <a:latin typeface="Courier New" pitchFamily="49" charset="0"/>
                <a:cs typeface="Courier New" pitchFamily="49" charset="0"/>
              </a:rPr>
              <a:t>std::cout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defRPr/>
            </a:pPr>
            <a:r>
              <a:rPr lang="en-US" sz="1400" b="1" dirty="0">
                <a:latin typeface="Courier New" pitchFamily="49" charset="0"/>
                <a:cs typeface="Courier New" pitchFamily="49" charset="0"/>
              </a:rPr>
              <a:t> 9  using </a:t>
            </a:r>
            <a:r>
              <a:rPr lang="en-US" sz="1400" b="1" dirty="0" err="1">
                <a:latin typeface="Courier New" pitchFamily="49" charset="0"/>
                <a:cs typeface="Courier New" pitchFamily="49" charset="0"/>
              </a:rPr>
              <a:t>std::endl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defRPr/>
            </a:pPr>
            <a:r>
              <a:rPr lang="en-US" sz="1400" b="1" dirty="0">
                <a:latin typeface="Courier New" pitchFamily="49" charset="0"/>
                <a:cs typeface="Courier New" pitchFamily="49" charset="0"/>
              </a:rPr>
              <a:t>10  using </a:t>
            </a:r>
            <a:r>
              <a:rPr lang="en-US" sz="1400" b="1" dirty="0" err="1">
                <a:latin typeface="Courier New" pitchFamily="49" charset="0"/>
                <a:cs typeface="Courier New" pitchFamily="49" charset="0"/>
              </a:rPr>
              <a:t>HashTableSavitch::HashTable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defRPr/>
            </a:pPr>
            <a:endParaRPr lang="en-US" sz="1400" b="1" dirty="0">
              <a:latin typeface="Courier New" pitchFamily="49" charset="0"/>
              <a:cs typeface="Courier New" pitchFamily="49" charset="0"/>
            </a:endParaRPr>
          </a:p>
          <a:p>
            <a:pPr>
              <a:defRPr/>
            </a:pPr>
            <a:r>
              <a:rPr lang="en-US" sz="1400" b="1" dirty="0">
                <a:latin typeface="Courier New" pitchFamily="49" charset="0"/>
                <a:cs typeface="Courier New" pitchFamily="49" charset="0"/>
              </a:rPr>
              <a:t>11  </a:t>
            </a:r>
            <a:r>
              <a:rPr lang="en-US" sz="1400" b="1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 main()</a:t>
            </a:r>
          </a:p>
          <a:p>
            <a:pPr>
              <a:defRPr/>
            </a:pPr>
            <a:r>
              <a:rPr lang="en-US" sz="1400" b="1" dirty="0">
                <a:latin typeface="Courier New" pitchFamily="49" charset="0"/>
                <a:cs typeface="Courier New" pitchFamily="49" charset="0"/>
              </a:rPr>
              <a:t>12  {</a:t>
            </a:r>
          </a:p>
          <a:p>
            <a:pPr>
              <a:defRPr/>
            </a:pPr>
            <a:r>
              <a:rPr lang="en-US" sz="1400" b="1" dirty="0">
                <a:latin typeface="Courier New" pitchFamily="49" charset="0"/>
                <a:cs typeface="Courier New" pitchFamily="49" charset="0"/>
              </a:rPr>
              <a:t>13    </a:t>
            </a:r>
            <a:r>
              <a:rPr lang="en-US" sz="1400" b="1" dirty="0" err="1">
                <a:latin typeface="Courier New" pitchFamily="49" charset="0"/>
                <a:cs typeface="Courier New" pitchFamily="49" charset="0"/>
              </a:rPr>
              <a:t>HashTable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 h;</a:t>
            </a:r>
          </a:p>
          <a:p>
            <a:pPr>
              <a:defRPr/>
            </a:pPr>
            <a:r>
              <a:rPr lang="en-US" sz="1400" b="1" dirty="0">
                <a:latin typeface="Courier New" pitchFamily="49" charset="0"/>
                <a:cs typeface="Courier New" pitchFamily="49" charset="0"/>
              </a:rPr>
              <a:t>14    </a:t>
            </a:r>
            <a:r>
              <a:rPr lang="en-US" sz="1400" b="1" dirty="0" err="1"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 &lt;&lt; "Adding dog, cat, turtle, bird" &lt;&lt; </a:t>
            </a:r>
            <a:r>
              <a:rPr lang="en-US" sz="1400" b="1" dirty="0" err="1">
                <a:latin typeface="Courier New" pitchFamily="49" charset="0"/>
                <a:cs typeface="Courier New" pitchFamily="49" charset="0"/>
              </a:rPr>
              <a:t>endl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defRPr/>
            </a:pPr>
            <a:r>
              <a:rPr lang="en-US" sz="1400" b="1" dirty="0">
                <a:latin typeface="Courier New" pitchFamily="49" charset="0"/>
                <a:cs typeface="Courier New" pitchFamily="49" charset="0"/>
              </a:rPr>
              <a:t>15    </a:t>
            </a:r>
            <a:r>
              <a:rPr lang="en-US" sz="1400" b="1" dirty="0" err="1">
                <a:latin typeface="Courier New" pitchFamily="49" charset="0"/>
                <a:cs typeface="Courier New" pitchFamily="49" charset="0"/>
              </a:rPr>
              <a:t>h.put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("dog");</a:t>
            </a:r>
          </a:p>
          <a:p>
            <a:pPr>
              <a:defRPr/>
            </a:pPr>
            <a:r>
              <a:rPr lang="en-US" sz="1400" b="1" dirty="0">
                <a:latin typeface="Courier New" pitchFamily="49" charset="0"/>
                <a:cs typeface="Courier New" pitchFamily="49" charset="0"/>
              </a:rPr>
              <a:t>16    </a:t>
            </a:r>
            <a:r>
              <a:rPr lang="en-US" sz="1400" b="1" dirty="0" err="1">
                <a:latin typeface="Courier New" pitchFamily="49" charset="0"/>
                <a:cs typeface="Courier New" pitchFamily="49" charset="0"/>
              </a:rPr>
              <a:t>h.put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("cat");</a:t>
            </a:r>
          </a:p>
          <a:p>
            <a:pPr>
              <a:defRPr/>
            </a:pPr>
            <a:r>
              <a:rPr lang="en-US" sz="1400" b="1" dirty="0">
                <a:latin typeface="Courier New" pitchFamily="49" charset="0"/>
                <a:cs typeface="Courier New" pitchFamily="49" charset="0"/>
              </a:rPr>
              <a:t>17    </a:t>
            </a:r>
            <a:r>
              <a:rPr lang="en-US" sz="1400" b="1" dirty="0" err="1">
                <a:latin typeface="Courier New" pitchFamily="49" charset="0"/>
                <a:cs typeface="Courier New" pitchFamily="49" charset="0"/>
              </a:rPr>
              <a:t>h.put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("turtle");</a:t>
            </a:r>
          </a:p>
          <a:p>
            <a:pPr>
              <a:defRPr/>
            </a:pPr>
            <a:r>
              <a:rPr lang="en-US" sz="1400" b="1" dirty="0">
                <a:latin typeface="Courier New" pitchFamily="49" charset="0"/>
                <a:cs typeface="Courier New" pitchFamily="49" charset="0"/>
              </a:rPr>
              <a:t>18    </a:t>
            </a:r>
            <a:r>
              <a:rPr lang="en-US" sz="1400" b="1" dirty="0" err="1">
                <a:latin typeface="Courier New" pitchFamily="49" charset="0"/>
                <a:cs typeface="Courier New" pitchFamily="49" charset="0"/>
              </a:rPr>
              <a:t>h.put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("bird");</a:t>
            </a:r>
          </a:p>
          <a:p>
            <a:pPr>
              <a:defRPr/>
            </a:pPr>
            <a:r>
              <a:rPr lang="en-US" sz="1400" b="1" dirty="0">
                <a:latin typeface="Courier New" pitchFamily="49" charset="0"/>
                <a:cs typeface="Courier New" pitchFamily="49" charset="0"/>
              </a:rPr>
              <a:t>19    </a:t>
            </a:r>
            <a:r>
              <a:rPr lang="en-US" sz="1400" b="1" dirty="0" err="1"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 &lt;&lt; "Contains dog? " &lt;&lt; </a:t>
            </a:r>
            <a:r>
              <a:rPr lang="en-US" sz="1400" b="1" dirty="0" err="1">
                <a:latin typeface="Courier New" pitchFamily="49" charset="0"/>
                <a:cs typeface="Courier New" pitchFamily="49" charset="0"/>
              </a:rPr>
              <a:t>h.containsString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("dog") &lt;&lt; </a:t>
            </a:r>
            <a:r>
              <a:rPr lang="en-US" sz="1400" b="1" dirty="0" err="1">
                <a:latin typeface="Courier New" pitchFamily="49" charset="0"/>
                <a:cs typeface="Courier New" pitchFamily="49" charset="0"/>
              </a:rPr>
              <a:t>endl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defRPr/>
            </a:pPr>
            <a:r>
              <a:rPr lang="en-US" sz="1400" b="1" dirty="0">
                <a:latin typeface="Courier New" pitchFamily="49" charset="0"/>
                <a:cs typeface="Courier New" pitchFamily="49" charset="0"/>
              </a:rPr>
              <a:t>20    </a:t>
            </a:r>
            <a:r>
              <a:rPr lang="en-US" sz="1400" b="1" dirty="0" err="1"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 &lt;&lt; "Contains cat? " &lt;&lt; </a:t>
            </a:r>
            <a:r>
              <a:rPr lang="en-US" sz="1400" b="1" dirty="0" err="1">
                <a:latin typeface="Courier New" pitchFamily="49" charset="0"/>
                <a:cs typeface="Courier New" pitchFamily="49" charset="0"/>
              </a:rPr>
              <a:t>h.containsString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("cat") &lt;&lt; </a:t>
            </a:r>
            <a:r>
              <a:rPr lang="en-US" sz="1400" b="1" dirty="0" err="1">
                <a:latin typeface="Courier New" pitchFamily="49" charset="0"/>
                <a:cs typeface="Courier New" pitchFamily="49" charset="0"/>
              </a:rPr>
              <a:t>endl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defRPr/>
            </a:pPr>
            <a:r>
              <a:rPr lang="en-US" sz="1400" b="1" dirty="0">
                <a:latin typeface="Courier New" pitchFamily="49" charset="0"/>
                <a:cs typeface="Courier New" pitchFamily="49" charset="0"/>
              </a:rPr>
              <a:t>21    </a:t>
            </a:r>
            <a:r>
              <a:rPr lang="en-US" sz="1400" b="1" dirty="0" err="1"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 &lt;&lt; "Contains turtle? " &lt;&lt; </a:t>
            </a:r>
            <a:r>
              <a:rPr lang="en-US" sz="1400" b="1" dirty="0" err="1">
                <a:latin typeface="Courier New" pitchFamily="49" charset="0"/>
                <a:cs typeface="Courier New" pitchFamily="49" charset="0"/>
              </a:rPr>
              <a:t>h.containsString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("turtle") &lt;&lt; </a:t>
            </a:r>
            <a:r>
              <a:rPr lang="en-US" sz="1400" b="1" dirty="0" err="1">
                <a:latin typeface="Courier New" pitchFamily="49" charset="0"/>
                <a:cs typeface="Courier New" pitchFamily="49" charset="0"/>
              </a:rPr>
              <a:t>endl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defRPr/>
            </a:pPr>
            <a:r>
              <a:rPr lang="en-US" sz="1400" b="1" dirty="0">
                <a:latin typeface="Courier New" pitchFamily="49" charset="0"/>
                <a:cs typeface="Courier New" pitchFamily="49" charset="0"/>
              </a:rPr>
              <a:t>22    </a:t>
            </a:r>
            <a:r>
              <a:rPr lang="en-US" sz="1400" b="1" dirty="0" err="1"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 &lt;&lt; "Contains bird? " &lt;&lt; </a:t>
            </a:r>
            <a:r>
              <a:rPr lang="en-US" sz="1400" b="1" dirty="0" err="1">
                <a:latin typeface="Courier New" pitchFamily="49" charset="0"/>
                <a:cs typeface="Courier New" pitchFamily="49" charset="0"/>
              </a:rPr>
              <a:t>h.containsString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("bird") &lt;&lt; </a:t>
            </a:r>
            <a:r>
              <a:rPr lang="en-US" sz="1400" b="1" dirty="0" err="1">
                <a:latin typeface="Courier New" pitchFamily="49" charset="0"/>
                <a:cs typeface="Courier New" pitchFamily="49" charset="0"/>
              </a:rPr>
              <a:t>endl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defRPr/>
            </a:pPr>
            <a:r>
              <a:rPr lang="en-US" sz="1400" b="1" dirty="0">
                <a:latin typeface="Courier New" pitchFamily="49" charset="0"/>
                <a:cs typeface="Courier New" pitchFamily="49" charset="0"/>
              </a:rPr>
              <a:t>23    </a:t>
            </a:r>
            <a:r>
              <a:rPr lang="en-US" sz="1400" b="1" dirty="0" err="1"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 &lt;&lt; "Contains fish? " &lt;&lt; </a:t>
            </a:r>
            <a:r>
              <a:rPr lang="en-US" sz="1400" b="1" dirty="0" err="1">
                <a:latin typeface="Courier New" pitchFamily="49" charset="0"/>
                <a:cs typeface="Courier New" pitchFamily="49" charset="0"/>
              </a:rPr>
              <a:t>h.containsString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("fish") &lt;&lt; </a:t>
            </a:r>
            <a:r>
              <a:rPr lang="en-US" sz="1400" b="1" dirty="0" err="1">
                <a:latin typeface="Courier New" pitchFamily="49" charset="0"/>
                <a:cs typeface="Courier New" pitchFamily="49" charset="0"/>
              </a:rPr>
              <a:t>endl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defRPr/>
            </a:pPr>
            <a:r>
              <a:rPr lang="en-US" sz="1400" b="1" dirty="0">
                <a:latin typeface="Courier New" pitchFamily="49" charset="0"/>
                <a:cs typeface="Courier New" pitchFamily="49" charset="0"/>
              </a:rPr>
              <a:t>24    </a:t>
            </a:r>
            <a:r>
              <a:rPr lang="en-US" sz="1400" b="1" dirty="0" err="1"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 &lt;&lt; "Contains cow? " &lt;&lt; </a:t>
            </a:r>
            <a:r>
              <a:rPr lang="en-US" sz="1400" b="1" dirty="0" err="1">
                <a:latin typeface="Courier New" pitchFamily="49" charset="0"/>
                <a:cs typeface="Courier New" pitchFamily="49" charset="0"/>
              </a:rPr>
              <a:t>h.containsString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("cow") &lt;&lt; </a:t>
            </a:r>
            <a:r>
              <a:rPr lang="en-US" sz="1400" b="1" dirty="0" err="1">
                <a:latin typeface="Courier New" pitchFamily="49" charset="0"/>
                <a:cs typeface="Courier New" pitchFamily="49" charset="0"/>
              </a:rPr>
              <a:t>endl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defRPr/>
            </a:pPr>
            <a:r>
              <a:rPr lang="en-US" sz="1400" b="1" dirty="0">
                <a:latin typeface="Courier New" pitchFamily="49" charset="0"/>
                <a:cs typeface="Courier New" pitchFamily="49" charset="0"/>
              </a:rPr>
              <a:t>25    return 0;</a:t>
            </a:r>
          </a:p>
          <a:p>
            <a:pPr>
              <a:defRPr/>
            </a:pPr>
            <a:r>
              <a:rPr lang="en-US" sz="1400" b="1" dirty="0">
                <a:latin typeface="Courier New" pitchFamily="49" charset="0"/>
                <a:cs typeface="Courier New" pitchFamily="49" charset="0"/>
              </a:rPr>
              <a:t>26  }</a:t>
            </a:r>
          </a:p>
          <a:p>
            <a:pPr marL="342900" indent="-342900">
              <a:buFontTx/>
              <a:buAutoNum type="arabicPlain" startAt="18"/>
              <a:defRPr/>
            </a:pPr>
            <a:endParaRPr lang="en-US" sz="1400" b="1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019800" y="1219200"/>
            <a:ext cx="2854325" cy="1919288"/>
          </a:xfrm>
          <a:prstGeom prst="rect">
            <a:avLst/>
          </a:prstGeom>
          <a:solidFill>
            <a:schemeClr val="accent1">
              <a:alpha val="20000"/>
            </a:schemeClr>
          </a:solidFill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b="1" cap="all" dirty="0">
                <a:latin typeface="Arial" pitchFamily="34" charset="0"/>
                <a:cs typeface="+mn-cs"/>
              </a:rPr>
              <a:t>Sample Dialogue</a:t>
            </a:r>
          </a:p>
          <a:p>
            <a:pPr>
              <a:defRPr/>
            </a:pPr>
            <a:r>
              <a:rPr lang="en-US" sz="1200" dirty="0">
                <a:latin typeface="Courier New" pitchFamily="49" charset="0"/>
                <a:cs typeface="Courier New" pitchFamily="49" charset="0"/>
              </a:rPr>
              <a:t>Adding dog, cat, turtle, bird</a:t>
            </a:r>
          </a:p>
          <a:p>
            <a:pPr>
              <a:defRPr/>
            </a:pPr>
            <a:r>
              <a:rPr lang="en-US" sz="1200" dirty="0">
                <a:latin typeface="Courier New" pitchFamily="49" charset="0"/>
                <a:cs typeface="Courier New" pitchFamily="49" charset="0"/>
              </a:rPr>
              <a:t>Contains dog? 1</a:t>
            </a:r>
          </a:p>
          <a:p>
            <a:pPr>
              <a:defRPr/>
            </a:pPr>
            <a:r>
              <a:rPr lang="en-US" sz="1200" dirty="0">
                <a:latin typeface="Courier New" pitchFamily="49" charset="0"/>
                <a:cs typeface="Courier New" pitchFamily="49" charset="0"/>
              </a:rPr>
              <a:t>Contains cat? 1</a:t>
            </a:r>
          </a:p>
          <a:p>
            <a:pPr>
              <a:defRPr/>
            </a:pPr>
            <a:r>
              <a:rPr lang="en-US" sz="1200" dirty="0">
                <a:latin typeface="Courier New" pitchFamily="49" charset="0"/>
                <a:cs typeface="Courier New" pitchFamily="49" charset="0"/>
              </a:rPr>
              <a:t>Contains turtle? 1</a:t>
            </a:r>
          </a:p>
          <a:p>
            <a:pPr>
              <a:defRPr/>
            </a:pPr>
            <a:r>
              <a:rPr lang="en-US" sz="1200" dirty="0">
                <a:latin typeface="Courier New" pitchFamily="49" charset="0"/>
                <a:cs typeface="Courier New" pitchFamily="49" charset="0"/>
              </a:rPr>
              <a:t>Contains bird? 1</a:t>
            </a:r>
          </a:p>
          <a:p>
            <a:pPr>
              <a:defRPr/>
            </a:pPr>
            <a:r>
              <a:rPr lang="en-US" sz="1200" dirty="0">
                <a:latin typeface="Courier New" pitchFamily="49" charset="0"/>
                <a:cs typeface="Courier New" pitchFamily="49" charset="0"/>
              </a:rPr>
              <a:t>Contains fish? 0</a:t>
            </a:r>
          </a:p>
          <a:p>
            <a:pPr>
              <a:defRPr/>
            </a:pPr>
            <a:r>
              <a:rPr lang="en-US" sz="1200" dirty="0">
                <a:latin typeface="Courier New" pitchFamily="49" charset="0"/>
                <a:cs typeface="Courier New" pitchFamily="49" charset="0"/>
              </a:rPr>
              <a:t>Contains cow? 0</a:t>
            </a:r>
          </a:p>
          <a:p>
            <a:pPr>
              <a:defRPr/>
            </a:pPr>
            <a:endParaRPr lang="en-US" dirty="0">
              <a:latin typeface="Arial" pitchFamily="34" charset="0"/>
              <a:cs typeface="+mn-cs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Hash Table Efficiency</a:t>
            </a:r>
          </a:p>
        </p:txBody>
      </p:sp>
      <p:sp>
        <p:nvSpPr>
          <p:cNvPr id="122882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525963"/>
          </a:xfrm>
        </p:spPr>
        <p:txBody>
          <a:bodyPr/>
          <a:lstStyle/>
          <a:p>
            <a:pPr eaLnBrk="1" hangingPunct="1"/>
            <a:r>
              <a:rPr lang="en-US" sz="2800" smtClean="0"/>
              <a:t>Worst Case</a:t>
            </a:r>
          </a:p>
          <a:p>
            <a:pPr lvl="1" eaLnBrk="1" hangingPunct="1"/>
            <a:r>
              <a:rPr lang="en-US" sz="2400" smtClean="0"/>
              <a:t>Every item inserted into the table has the same hash key, the find operation may have to search through all items every time (same performance as a linked list)</a:t>
            </a:r>
          </a:p>
          <a:p>
            <a:pPr eaLnBrk="1" hangingPunct="1"/>
            <a:r>
              <a:rPr lang="en-US" sz="2800" smtClean="0"/>
              <a:t>Best Case</a:t>
            </a:r>
          </a:p>
          <a:p>
            <a:pPr lvl="1" eaLnBrk="1" hangingPunct="1"/>
            <a:r>
              <a:rPr lang="en-US" sz="2400" smtClean="0"/>
              <a:t>Every item inserted into the table has a different hash key, the find operation will only have to search a list of size 1, very fast</a:t>
            </a:r>
          </a:p>
          <a:p>
            <a:pPr eaLnBrk="1" hangingPunct="1"/>
            <a:r>
              <a:rPr lang="en-US" sz="2800" smtClean="0"/>
              <a:t>Can decrease the chance of collisions with a better hash function</a:t>
            </a:r>
          </a:p>
          <a:p>
            <a:pPr eaLnBrk="1" hangingPunct="1"/>
            <a:r>
              <a:rPr lang="en-US" sz="2800" smtClean="0"/>
              <a:t>Tradeoff:  Lower chance of collision with bigger hash table, but more wasted memory space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17-</a:t>
            </a:r>
            <a:fld id="{DBE26A9C-8E67-47EE-9A79-4788AC30788C}" type="slidenum">
              <a:rPr lang="en-US" smtClean="0"/>
              <a:pPr>
                <a:defRPr/>
              </a:pPr>
              <a:t>54</a:t>
            </a:fld>
            <a:endParaRPr lang="en-US"/>
          </a:p>
        </p:txBody>
      </p:sp>
      <p:sp>
        <p:nvSpPr>
          <p:cNvPr id="122884" name="Footer Placeholder 4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2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Set Template Class</a:t>
            </a:r>
          </a:p>
        </p:txBody>
      </p:sp>
      <p:sp>
        <p:nvSpPr>
          <p:cNvPr id="124930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smtClean="0"/>
              <a:t>A set is a collection of elements in which no element occurs more than once</a:t>
            </a:r>
          </a:p>
          <a:p>
            <a:pPr eaLnBrk="1" hangingPunct="1"/>
            <a:r>
              <a:rPr lang="en-US" smtClean="0"/>
              <a:t>We can implement a simple set that uses a linked list to store the items in the set</a:t>
            </a:r>
          </a:p>
          <a:p>
            <a:pPr eaLnBrk="1" hangingPunct="1"/>
            <a:r>
              <a:rPr lang="en-US" smtClean="0"/>
              <a:t>Fundamental set operations we will support:</a:t>
            </a:r>
          </a:p>
          <a:p>
            <a:pPr lvl="1" eaLnBrk="1" hangingPunct="1"/>
            <a:r>
              <a:rPr lang="en-US" smtClean="0"/>
              <a:t>Add</a:t>
            </a:r>
          </a:p>
          <a:p>
            <a:pPr lvl="1" eaLnBrk="1" hangingPunct="1"/>
            <a:r>
              <a:rPr lang="en-US" smtClean="0"/>
              <a:t>Contains</a:t>
            </a:r>
          </a:p>
          <a:p>
            <a:pPr lvl="1" eaLnBrk="1" hangingPunct="1"/>
            <a:r>
              <a:rPr lang="en-US" smtClean="0"/>
              <a:t>Union</a:t>
            </a:r>
          </a:p>
          <a:p>
            <a:pPr lvl="1" eaLnBrk="1" hangingPunct="1"/>
            <a:r>
              <a:rPr lang="en-US" smtClean="0"/>
              <a:t>Intersection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17-</a:t>
            </a:r>
            <a:fld id="{3FC3EBC6-E459-4A1F-8A90-6E7064C5C196}" type="slidenum">
              <a:rPr lang="en-US" smtClean="0"/>
              <a:pPr>
                <a:defRPr/>
              </a:pPr>
              <a:t>55</a:t>
            </a:fld>
            <a:endParaRPr lang="en-US"/>
          </a:p>
        </p:txBody>
      </p:sp>
      <p:sp>
        <p:nvSpPr>
          <p:cNvPr id="124932" name="Footer Placeholder 4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  <p:pic>
        <p:nvPicPr>
          <p:cNvPr id="124933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733800" y="5029200"/>
            <a:ext cx="5243513" cy="1046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4934" name="TextBox 6"/>
          <p:cNvSpPr txBox="1">
            <a:spLocks noChangeArrowheads="1"/>
          </p:cNvSpPr>
          <p:nvPr/>
        </p:nvSpPr>
        <p:spPr bwMode="auto">
          <a:xfrm>
            <a:off x="5943600" y="4648200"/>
            <a:ext cx="1073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Example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Interface File for a Set Template Class (1 of 2)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17-</a:t>
            </a:r>
            <a:fld id="{66E5323D-CC25-4001-B2DE-E5507F214180}" type="slidenum">
              <a:rPr lang="en-US" smtClean="0"/>
              <a:pPr>
                <a:defRPr/>
              </a:pPr>
              <a:t>56</a:t>
            </a:fld>
            <a:endParaRPr lang="en-US"/>
          </a:p>
        </p:txBody>
      </p:sp>
      <p:sp>
        <p:nvSpPr>
          <p:cNvPr id="126979" name="Footer Placeholder 4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33400" y="1524000"/>
            <a:ext cx="8054975" cy="47720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1400" b="1" dirty="0">
                <a:latin typeface="Courier New" pitchFamily="49" charset="0"/>
                <a:cs typeface="Courier New" pitchFamily="49" charset="0"/>
              </a:rPr>
              <a:t> 1  // This is the header file </a:t>
            </a:r>
            <a:r>
              <a:rPr lang="en-US" sz="1400" b="1" dirty="0" err="1">
                <a:latin typeface="Courier New" pitchFamily="49" charset="0"/>
                <a:cs typeface="Courier New" pitchFamily="49" charset="0"/>
              </a:rPr>
              <a:t>set.h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.  This is the interface</a:t>
            </a:r>
          </a:p>
          <a:p>
            <a:pPr>
              <a:defRPr/>
            </a:pPr>
            <a:r>
              <a:rPr lang="en-US" sz="1400" b="1" dirty="0">
                <a:latin typeface="Courier New" pitchFamily="49" charset="0"/>
                <a:cs typeface="Courier New" pitchFamily="49" charset="0"/>
              </a:rPr>
              <a:t> 2  // for the class Set, which is a class for a generic set.</a:t>
            </a:r>
          </a:p>
          <a:p>
            <a:pPr>
              <a:defRPr/>
            </a:pPr>
            <a:r>
              <a:rPr lang="en-US" sz="1400" b="1" dirty="0">
                <a:latin typeface="Courier New" pitchFamily="49" charset="0"/>
                <a:cs typeface="Courier New" pitchFamily="49" charset="0"/>
              </a:rPr>
              <a:t> 3  #</a:t>
            </a:r>
            <a:r>
              <a:rPr lang="en-US" sz="1400" b="1" dirty="0" err="1">
                <a:latin typeface="Courier New" pitchFamily="49" charset="0"/>
                <a:cs typeface="Courier New" pitchFamily="49" charset="0"/>
              </a:rPr>
              <a:t>ifndef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 SET_H</a:t>
            </a:r>
          </a:p>
          <a:p>
            <a:pPr>
              <a:defRPr/>
            </a:pPr>
            <a:r>
              <a:rPr lang="en-US" sz="1400" b="1" dirty="0">
                <a:latin typeface="Courier New" pitchFamily="49" charset="0"/>
                <a:cs typeface="Courier New" pitchFamily="49" charset="0"/>
              </a:rPr>
              <a:t> 4  #define SET_H</a:t>
            </a:r>
          </a:p>
          <a:p>
            <a:pPr>
              <a:defRPr/>
            </a:pPr>
            <a:r>
              <a:rPr lang="en-US" sz="1400" b="1" dirty="0">
                <a:latin typeface="Courier New" pitchFamily="49" charset="0"/>
                <a:cs typeface="Courier New" pitchFamily="49" charset="0"/>
              </a:rPr>
              <a:t> 5  #include "</a:t>
            </a:r>
            <a:r>
              <a:rPr lang="en-US" sz="1400" b="1" dirty="0" err="1">
                <a:latin typeface="Courier New" pitchFamily="49" charset="0"/>
                <a:cs typeface="Courier New" pitchFamily="49" charset="0"/>
              </a:rPr>
              <a:t>listtools.h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"</a:t>
            </a:r>
          </a:p>
          <a:p>
            <a:pPr>
              <a:defRPr/>
            </a:pPr>
            <a:r>
              <a:rPr lang="en-US" sz="1400" b="1" dirty="0">
                <a:latin typeface="Courier New" pitchFamily="49" charset="0"/>
                <a:cs typeface="Courier New" pitchFamily="49" charset="0"/>
              </a:rPr>
              <a:t>    "</a:t>
            </a:r>
            <a:r>
              <a:rPr lang="en-US" sz="1400" b="1" dirty="0" err="1">
                <a:latin typeface="Courier New" pitchFamily="49" charset="0"/>
                <a:cs typeface="Courier New" pitchFamily="49" charset="0"/>
              </a:rPr>
              <a:t>listtools.h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" is the linked list library interface from Display 17.14.</a:t>
            </a:r>
          </a:p>
          <a:p>
            <a:pPr>
              <a:defRPr/>
            </a:pPr>
            <a:r>
              <a:rPr lang="en-US" sz="1400" b="1" dirty="0">
                <a:latin typeface="Courier New" pitchFamily="49" charset="0"/>
                <a:cs typeface="Courier New" pitchFamily="49" charset="0"/>
              </a:rPr>
              <a:t> 6  using </a:t>
            </a:r>
            <a:r>
              <a:rPr lang="en-US" sz="1400" b="1" dirty="0" err="1">
                <a:latin typeface="Courier New" pitchFamily="49" charset="0"/>
                <a:cs typeface="Courier New" pitchFamily="49" charset="0"/>
              </a:rPr>
              <a:t>LinkedListSavitch::Node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defRPr/>
            </a:pPr>
            <a:endParaRPr lang="en-US" sz="1400" b="1" dirty="0">
              <a:latin typeface="Courier New" pitchFamily="49" charset="0"/>
              <a:cs typeface="Courier New" pitchFamily="49" charset="0"/>
            </a:endParaRPr>
          </a:p>
          <a:p>
            <a:pPr>
              <a:defRPr/>
            </a:pPr>
            <a:r>
              <a:rPr lang="en-US" sz="1400" b="1" dirty="0">
                <a:latin typeface="Courier New" pitchFamily="49" charset="0"/>
                <a:cs typeface="Courier New" pitchFamily="49" charset="0"/>
              </a:rPr>
              <a:t> 7  namespace </a:t>
            </a:r>
            <a:r>
              <a:rPr lang="en-US" sz="1400" b="1" dirty="0" err="1">
                <a:latin typeface="Courier New" pitchFamily="49" charset="0"/>
                <a:cs typeface="Courier New" pitchFamily="49" charset="0"/>
              </a:rPr>
              <a:t>SetSavitch</a:t>
            </a:r>
            <a:endParaRPr lang="en-US" sz="1400" b="1" dirty="0">
              <a:latin typeface="Courier New" pitchFamily="49" charset="0"/>
              <a:cs typeface="Courier New" pitchFamily="49" charset="0"/>
            </a:endParaRPr>
          </a:p>
          <a:p>
            <a:pPr>
              <a:defRPr/>
            </a:pPr>
            <a:r>
              <a:rPr lang="en-US" sz="1400" b="1" dirty="0">
                <a:latin typeface="Courier New" pitchFamily="49" charset="0"/>
                <a:cs typeface="Courier New" pitchFamily="49" charset="0"/>
              </a:rPr>
              <a:t> 8  {</a:t>
            </a:r>
          </a:p>
          <a:p>
            <a:pPr>
              <a:defRPr/>
            </a:pPr>
            <a:r>
              <a:rPr lang="en-US" sz="1400" b="1" dirty="0">
                <a:latin typeface="Courier New" pitchFamily="49" charset="0"/>
                <a:cs typeface="Courier New" pitchFamily="49" charset="0"/>
              </a:rPr>
              <a:t> 9    template&lt;class T&gt;</a:t>
            </a:r>
          </a:p>
          <a:p>
            <a:pPr>
              <a:defRPr/>
            </a:pPr>
            <a:r>
              <a:rPr lang="en-US" sz="1400" b="1" dirty="0">
                <a:latin typeface="Courier New" pitchFamily="49" charset="0"/>
                <a:cs typeface="Courier New" pitchFamily="49" charset="0"/>
              </a:rPr>
              <a:t>10    class Set</a:t>
            </a:r>
          </a:p>
          <a:p>
            <a:pPr>
              <a:defRPr/>
            </a:pPr>
            <a:r>
              <a:rPr lang="en-US" sz="1400" b="1" dirty="0">
                <a:latin typeface="Courier New" pitchFamily="49" charset="0"/>
                <a:cs typeface="Courier New" pitchFamily="49" charset="0"/>
              </a:rPr>
              <a:t>11    {</a:t>
            </a:r>
          </a:p>
          <a:p>
            <a:pPr>
              <a:defRPr/>
            </a:pPr>
            <a:r>
              <a:rPr lang="en-US" sz="1400" b="1" dirty="0">
                <a:latin typeface="Courier New" pitchFamily="49" charset="0"/>
                <a:cs typeface="Courier New" pitchFamily="49" charset="0"/>
              </a:rPr>
              <a:t>12     public:</a:t>
            </a:r>
          </a:p>
          <a:p>
            <a:pPr>
              <a:defRPr/>
            </a:pPr>
            <a:r>
              <a:rPr lang="en-US" sz="1400" b="1" dirty="0">
                <a:latin typeface="Courier New" pitchFamily="49" charset="0"/>
                <a:cs typeface="Courier New" pitchFamily="49" charset="0"/>
              </a:rPr>
              <a:t>13        Set() { head = NULL; } // Initialize empty set</a:t>
            </a:r>
          </a:p>
          <a:p>
            <a:pPr>
              <a:defRPr/>
            </a:pPr>
            <a:endParaRPr lang="en-US" sz="1400" b="1" dirty="0">
              <a:latin typeface="Courier New" pitchFamily="49" charset="0"/>
              <a:cs typeface="Courier New" pitchFamily="49" charset="0"/>
            </a:endParaRPr>
          </a:p>
          <a:p>
            <a:pPr>
              <a:defRPr/>
            </a:pPr>
            <a:r>
              <a:rPr lang="en-US" sz="1400" b="1" dirty="0">
                <a:latin typeface="Courier New" pitchFamily="49" charset="0"/>
                <a:cs typeface="Courier New" pitchFamily="49" charset="0"/>
              </a:rPr>
              <a:t>14        // Normally a copy constructor and overloaded assignment</a:t>
            </a:r>
          </a:p>
          <a:p>
            <a:pPr>
              <a:defRPr/>
            </a:pPr>
            <a:r>
              <a:rPr lang="en-US" sz="1400" b="1" dirty="0">
                <a:latin typeface="Courier New" pitchFamily="49" charset="0"/>
                <a:cs typeface="Courier New" pitchFamily="49" charset="0"/>
              </a:rPr>
              <a:t>15        // operator would be included.  They have been omitted</a:t>
            </a:r>
          </a:p>
          <a:p>
            <a:pPr>
              <a:defRPr/>
            </a:pPr>
            <a:r>
              <a:rPr lang="en-US" sz="1400" b="1" dirty="0">
                <a:latin typeface="Courier New" pitchFamily="49" charset="0"/>
                <a:cs typeface="Courier New" pitchFamily="49" charset="0"/>
              </a:rPr>
              <a:t>16        // to save space.</a:t>
            </a:r>
          </a:p>
          <a:p>
            <a:pPr>
              <a:defRPr/>
            </a:pPr>
            <a:endParaRPr lang="en-US" sz="1400" b="1" dirty="0">
              <a:latin typeface="Courier New" pitchFamily="49" charset="0"/>
              <a:cs typeface="Courier New" pitchFamily="49" charset="0"/>
            </a:endParaRPr>
          </a:p>
          <a:p>
            <a:pPr>
              <a:defRPr/>
            </a:pPr>
            <a:r>
              <a:rPr lang="en-US" sz="1400" b="1" dirty="0">
                <a:latin typeface="Courier New" pitchFamily="49" charset="0"/>
                <a:cs typeface="Courier New" pitchFamily="49" charset="0"/>
              </a:rPr>
              <a:t>17        virtual ~Set();  // Destructor destroys set</a:t>
            </a:r>
          </a:p>
          <a:p>
            <a:pPr marL="342900" indent="-342900">
              <a:buFontTx/>
              <a:buAutoNum type="arabicPlain" startAt="18"/>
              <a:defRPr/>
            </a:pPr>
            <a:endParaRPr lang="en-US" sz="1400" b="1" dirty="0"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Interface File for a Set Template Class (2 of 2)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17-</a:t>
            </a:r>
            <a:fld id="{4D4C2098-7987-4497-8319-66753947099B}" type="slidenum">
              <a:rPr lang="en-US" smtClean="0"/>
              <a:pPr>
                <a:defRPr/>
              </a:pPr>
              <a:t>57</a:t>
            </a:fld>
            <a:endParaRPr lang="en-US"/>
          </a:p>
        </p:txBody>
      </p:sp>
      <p:sp>
        <p:nvSpPr>
          <p:cNvPr id="129027" name="Footer Placeholder 4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33400" y="1524000"/>
            <a:ext cx="7204075" cy="47720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1400" b="1" dirty="0">
                <a:latin typeface="Courier New" pitchFamily="49" charset="0"/>
                <a:cs typeface="Courier New" pitchFamily="49" charset="0"/>
              </a:rPr>
              <a:t>18        </a:t>
            </a:r>
            <a:r>
              <a:rPr lang="en-US" sz="1400" b="1" dirty="0" err="1">
                <a:latin typeface="Courier New" pitchFamily="49" charset="0"/>
                <a:cs typeface="Courier New" pitchFamily="49" charset="0"/>
              </a:rPr>
              <a:t>bool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 contains(T target) const;</a:t>
            </a:r>
          </a:p>
          <a:p>
            <a:pPr>
              <a:defRPr/>
            </a:pPr>
            <a:r>
              <a:rPr lang="en-US" sz="1400" b="1" dirty="0">
                <a:latin typeface="Courier New" pitchFamily="49" charset="0"/>
                <a:cs typeface="Courier New" pitchFamily="49" charset="0"/>
              </a:rPr>
              <a:t>19        // Returns true if target is in the set, false otherwise</a:t>
            </a:r>
          </a:p>
          <a:p>
            <a:pPr>
              <a:defRPr/>
            </a:pPr>
            <a:endParaRPr lang="en-US" sz="1400" b="1" dirty="0">
              <a:latin typeface="Courier New" pitchFamily="49" charset="0"/>
              <a:cs typeface="Courier New" pitchFamily="49" charset="0"/>
            </a:endParaRPr>
          </a:p>
          <a:p>
            <a:pPr>
              <a:defRPr/>
            </a:pPr>
            <a:r>
              <a:rPr lang="en-US" sz="1400" b="1" dirty="0">
                <a:latin typeface="Courier New" pitchFamily="49" charset="0"/>
                <a:cs typeface="Courier New" pitchFamily="49" charset="0"/>
              </a:rPr>
              <a:t>20        void add(T item);</a:t>
            </a:r>
          </a:p>
          <a:p>
            <a:pPr>
              <a:defRPr/>
            </a:pPr>
            <a:r>
              <a:rPr lang="en-US" sz="1400" b="1" dirty="0">
                <a:latin typeface="Courier New" pitchFamily="49" charset="0"/>
                <a:cs typeface="Courier New" pitchFamily="49" charset="0"/>
              </a:rPr>
              <a:t>21        // Adds a new element to the set</a:t>
            </a:r>
          </a:p>
          <a:p>
            <a:pPr>
              <a:defRPr/>
            </a:pPr>
            <a:endParaRPr lang="en-US" sz="1400" b="1" dirty="0">
              <a:latin typeface="Courier New" pitchFamily="49" charset="0"/>
              <a:cs typeface="Courier New" pitchFamily="49" charset="0"/>
            </a:endParaRPr>
          </a:p>
          <a:p>
            <a:pPr>
              <a:defRPr/>
            </a:pPr>
            <a:r>
              <a:rPr lang="en-US" sz="1400" b="1" dirty="0">
                <a:latin typeface="Courier New" pitchFamily="49" charset="0"/>
                <a:cs typeface="Courier New" pitchFamily="49" charset="0"/>
              </a:rPr>
              <a:t>22        void output();</a:t>
            </a:r>
          </a:p>
          <a:p>
            <a:pPr>
              <a:defRPr/>
            </a:pPr>
            <a:r>
              <a:rPr lang="en-US" sz="1400" b="1" dirty="0">
                <a:latin typeface="Courier New" pitchFamily="49" charset="0"/>
                <a:cs typeface="Courier New" pitchFamily="49" charset="0"/>
              </a:rPr>
              <a:t>23        // Outputs the set to the console</a:t>
            </a:r>
          </a:p>
          <a:p>
            <a:pPr>
              <a:defRPr/>
            </a:pPr>
            <a:endParaRPr lang="en-US" sz="1400" b="1" dirty="0">
              <a:latin typeface="Courier New" pitchFamily="49" charset="0"/>
              <a:cs typeface="Courier New" pitchFamily="49" charset="0"/>
            </a:endParaRPr>
          </a:p>
          <a:p>
            <a:pPr>
              <a:defRPr/>
            </a:pPr>
            <a:r>
              <a:rPr lang="en-US" sz="1400" b="1" dirty="0">
                <a:latin typeface="Courier New" pitchFamily="49" charset="0"/>
                <a:cs typeface="Courier New" pitchFamily="49" charset="0"/>
              </a:rPr>
              <a:t>24        Set&lt;T&gt;* </a:t>
            </a:r>
            <a:r>
              <a:rPr lang="en-US" sz="1400" b="1" dirty="0" err="1">
                <a:latin typeface="Courier New" pitchFamily="49" charset="0"/>
                <a:cs typeface="Courier New" pitchFamily="49" charset="0"/>
              </a:rPr>
              <a:t>setUnion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(const Set&lt;T&gt;&amp; </a:t>
            </a:r>
            <a:r>
              <a:rPr lang="en-US" sz="1400" b="1" dirty="0" err="1">
                <a:latin typeface="Courier New" pitchFamily="49" charset="0"/>
                <a:cs typeface="Courier New" pitchFamily="49" charset="0"/>
              </a:rPr>
              <a:t>otherSet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);</a:t>
            </a:r>
          </a:p>
          <a:p>
            <a:pPr>
              <a:defRPr/>
            </a:pPr>
            <a:r>
              <a:rPr lang="en-US" sz="1400" b="1" dirty="0">
                <a:latin typeface="Courier New" pitchFamily="49" charset="0"/>
                <a:cs typeface="Courier New" pitchFamily="49" charset="0"/>
              </a:rPr>
              <a:t>25        // Union calling object's set with </a:t>
            </a:r>
            <a:r>
              <a:rPr lang="en-US" sz="1400" b="1" dirty="0" err="1">
                <a:latin typeface="Courier New" pitchFamily="49" charset="0"/>
                <a:cs typeface="Courier New" pitchFamily="49" charset="0"/>
              </a:rPr>
              <a:t>otherSet</a:t>
            </a:r>
            <a:endParaRPr lang="en-US" sz="1400" b="1" dirty="0">
              <a:latin typeface="Courier New" pitchFamily="49" charset="0"/>
              <a:cs typeface="Courier New" pitchFamily="49" charset="0"/>
            </a:endParaRPr>
          </a:p>
          <a:p>
            <a:pPr>
              <a:defRPr/>
            </a:pPr>
            <a:r>
              <a:rPr lang="en-US" sz="1400" b="1" dirty="0">
                <a:latin typeface="Courier New" pitchFamily="49" charset="0"/>
                <a:cs typeface="Courier New" pitchFamily="49" charset="0"/>
              </a:rPr>
              <a:t>26        // and return a pointer to the new set</a:t>
            </a:r>
          </a:p>
          <a:p>
            <a:pPr>
              <a:defRPr/>
            </a:pPr>
            <a:endParaRPr lang="en-US" sz="1400" b="1" dirty="0">
              <a:latin typeface="Courier New" pitchFamily="49" charset="0"/>
              <a:cs typeface="Courier New" pitchFamily="49" charset="0"/>
            </a:endParaRPr>
          </a:p>
          <a:p>
            <a:pPr>
              <a:defRPr/>
            </a:pPr>
            <a:r>
              <a:rPr lang="en-US" sz="1400" b="1" dirty="0">
                <a:latin typeface="Courier New" pitchFamily="49" charset="0"/>
                <a:cs typeface="Courier New" pitchFamily="49" charset="0"/>
              </a:rPr>
              <a:t>27        Set&lt;T&gt;* </a:t>
            </a:r>
            <a:r>
              <a:rPr lang="en-US" sz="1400" b="1" dirty="0" err="1">
                <a:latin typeface="Courier New" pitchFamily="49" charset="0"/>
                <a:cs typeface="Courier New" pitchFamily="49" charset="0"/>
              </a:rPr>
              <a:t>setIntersection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(const Set&lt;T&gt;&amp; </a:t>
            </a:r>
            <a:r>
              <a:rPr lang="en-US" sz="1400" b="1" dirty="0" err="1">
                <a:latin typeface="Courier New" pitchFamily="49" charset="0"/>
                <a:cs typeface="Courier New" pitchFamily="49" charset="0"/>
              </a:rPr>
              <a:t>otherSet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);</a:t>
            </a:r>
          </a:p>
          <a:p>
            <a:pPr>
              <a:defRPr/>
            </a:pPr>
            <a:r>
              <a:rPr lang="en-US" sz="1400" b="1" dirty="0">
                <a:latin typeface="Courier New" pitchFamily="49" charset="0"/>
                <a:cs typeface="Courier New" pitchFamily="49" charset="0"/>
              </a:rPr>
              <a:t>28        // Intersect calling object's set with </a:t>
            </a:r>
            <a:r>
              <a:rPr lang="en-US" sz="1400" b="1" dirty="0" err="1">
                <a:latin typeface="Courier New" pitchFamily="49" charset="0"/>
                <a:cs typeface="Courier New" pitchFamily="49" charset="0"/>
              </a:rPr>
              <a:t>otherSet</a:t>
            </a:r>
            <a:endParaRPr lang="en-US" sz="1400" b="1" dirty="0">
              <a:latin typeface="Courier New" pitchFamily="49" charset="0"/>
              <a:cs typeface="Courier New" pitchFamily="49" charset="0"/>
            </a:endParaRPr>
          </a:p>
          <a:p>
            <a:pPr>
              <a:defRPr/>
            </a:pPr>
            <a:r>
              <a:rPr lang="en-US" sz="1400" b="1" dirty="0">
                <a:latin typeface="Courier New" pitchFamily="49" charset="0"/>
                <a:cs typeface="Courier New" pitchFamily="49" charset="0"/>
              </a:rPr>
              <a:t>29        // and return a pointer to the new set</a:t>
            </a:r>
          </a:p>
          <a:p>
            <a:pPr>
              <a:defRPr/>
            </a:pPr>
            <a:r>
              <a:rPr lang="en-US" sz="1400" b="1" dirty="0">
                <a:latin typeface="Courier New" pitchFamily="49" charset="0"/>
                <a:cs typeface="Courier New" pitchFamily="49" charset="0"/>
              </a:rPr>
              <a:t>30    private:</a:t>
            </a:r>
          </a:p>
          <a:p>
            <a:pPr>
              <a:defRPr/>
            </a:pPr>
            <a:r>
              <a:rPr lang="en-US" sz="1400" b="1" dirty="0">
                <a:latin typeface="Courier New" pitchFamily="49" charset="0"/>
                <a:cs typeface="Courier New" pitchFamily="49" charset="0"/>
              </a:rPr>
              <a:t>31        Node&lt;T&gt; *head;</a:t>
            </a:r>
          </a:p>
          <a:p>
            <a:pPr>
              <a:defRPr/>
            </a:pPr>
            <a:r>
              <a:rPr lang="en-US" sz="1400" b="1" dirty="0">
                <a:latin typeface="Courier New" pitchFamily="49" charset="0"/>
                <a:cs typeface="Courier New" pitchFamily="49" charset="0"/>
              </a:rPr>
              <a:t>32   }; // Set</a:t>
            </a:r>
          </a:p>
          <a:p>
            <a:pPr>
              <a:defRPr/>
            </a:pPr>
            <a:r>
              <a:rPr lang="en-US" sz="1400" b="1" dirty="0">
                <a:latin typeface="Courier New" pitchFamily="49" charset="0"/>
                <a:cs typeface="Courier New" pitchFamily="49" charset="0"/>
              </a:rPr>
              <a:t>33  } // </a:t>
            </a:r>
            <a:r>
              <a:rPr lang="en-US" sz="1400" b="1" dirty="0" err="1">
                <a:latin typeface="Courier New" pitchFamily="49" charset="0"/>
                <a:cs typeface="Courier New" pitchFamily="49" charset="0"/>
              </a:rPr>
              <a:t>SetSavitch</a:t>
            </a:r>
            <a:endParaRPr lang="en-US" sz="1400" b="1" dirty="0">
              <a:latin typeface="Courier New" pitchFamily="49" charset="0"/>
              <a:cs typeface="Courier New" pitchFamily="49" charset="0"/>
            </a:endParaRPr>
          </a:p>
          <a:p>
            <a:pPr>
              <a:defRPr/>
            </a:pPr>
            <a:r>
              <a:rPr lang="en-US" sz="1400" b="1" dirty="0">
                <a:latin typeface="Courier New" pitchFamily="49" charset="0"/>
                <a:cs typeface="Courier New" pitchFamily="49" charset="0"/>
              </a:rPr>
              <a:t>34  #</a:t>
            </a:r>
            <a:r>
              <a:rPr lang="en-US" sz="1400" b="1" dirty="0" err="1">
                <a:latin typeface="Courier New" pitchFamily="49" charset="0"/>
                <a:cs typeface="Courier New" pitchFamily="49" charset="0"/>
              </a:rPr>
              <a:t>endif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 // SET_H </a:t>
            </a:r>
          </a:p>
          <a:p>
            <a:pPr marL="342900" indent="-342900">
              <a:buFontTx/>
              <a:buAutoNum type="arabicPlain" startAt="18"/>
              <a:defRPr/>
            </a:pPr>
            <a:endParaRPr lang="en-US" sz="1400" b="1" dirty="0"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Implementation File for a Set Template Class (1 of 4)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17-</a:t>
            </a:r>
            <a:fld id="{A9A22F21-C5AB-4588-A81D-992479F5DEB8}" type="slidenum">
              <a:rPr lang="en-US" smtClean="0"/>
              <a:pPr>
                <a:defRPr/>
              </a:pPr>
              <a:t>58</a:t>
            </a:fld>
            <a:endParaRPr lang="en-US"/>
          </a:p>
        </p:txBody>
      </p:sp>
      <p:sp>
        <p:nvSpPr>
          <p:cNvPr id="131075" name="Footer Placeholder 4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33400" y="1519238"/>
            <a:ext cx="5608638" cy="51974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1400" b="1" dirty="0">
                <a:latin typeface="Courier New" pitchFamily="49" charset="0"/>
                <a:cs typeface="Courier New" pitchFamily="49" charset="0"/>
              </a:rPr>
              <a:t> 1  // This is the implementation file </a:t>
            </a:r>
            <a:r>
              <a:rPr lang="en-US" sz="1400" b="1" dirty="0" err="1">
                <a:latin typeface="Courier New" pitchFamily="49" charset="0"/>
                <a:cs typeface="Courier New" pitchFamily="49" charset="0"/>
              </a:rPr>
              <a:t>set.cpp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.</a:t>
            </a:r>
          </a:p>
          <a:p>
            <a:pPr>
              <a:defRPr/>
            </a:pPr>
            <a:r>
              <a:rPr lang="en-US" sz="1400" b="1" dirty="0">
                <a:latin typeface="Courier New" pitchFamily="49" charset="0"/>
                <a:cs typeface="Courier New" pitchFamily="49" charset="0"/>
              </a:rPr>
              <a:t> 2  // This is the implementation of the class Set.</a:t>
            </a:r>
          </a:p>
          <a:p>
            <a:pPr>
              <a:defRPr/>
            </a:pPr>
            <a:r>
              <a:rPr lang="en-US" sz="1400" b="1" dirty="0">
                <a:latin typeface="Courier New" pitchFamily="49" charset="0"/>
                <a:cs typeface="Courier New" pitchFamily="49" charset="0"/>
              </a:rPr>
              <a:t> 3  #include &lt;</a:t>
            </a:r>
            <a:r>
              <a:rPr lang="en-US" sz="1400" b="1" dirty="0" err="1">
                <a:latin typeface="Courier New" pitchFamily="49" charset="0"/>
                <a:cs typeface="Courier New" pitchFamily="49" charset="0"/>
              </a:rPr>
              <a:t>iostream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>
              <a:defRPr/>
            </a:pPr>
            <a:r>
              <a:rPr lang="en-US" sz="1400" b="1" dirty="0">
                <a:latin typeface="Courier New" pitchFamily="49" charset="0"/>
                <a:cs typeface="Courier New" pitchFamily="49" charset="0"/>
              </a:rPr>
              <a:t> 4  #include "</a:t>
            </a:r>
            <a:r>
              <a:rPr lang="en-US" sz="1400" b="1" dirty="0" err="1">
                <a:latin typeface="Courier New" pitchFamily="49" charset="0"/>
                <a:cs typeface="Courier New" pitchFamily="49" charset="0"/>
              </a:rPr>
              <a:t>listtools.h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"</a:t>
            </a:r>
          </a:p>
          <a:p>
            <a:pPr>
              <a:defRPr/>
            </a:pPr>
            <a:r>
              <a:rPr lang="en-US" sz="1400" b="1" dirty="0">
                <a:latin typeface="Courier New" pitchFamily="49" charset="0"/>
                <a:cs typeface="Courier New" pitchFamily="49" charset="0"/>
              </a:rPr>
              <a:t> 5  #include "</a:t>
            </a:r>
            <a:r>
              <a:rPr lang="en-US" sz="1400" b="1" dirty="0" err="1">
                <a:latin typeface="Courier New" pitchFamily="49" charset="0"/>
                <a:cs typeface="Courier New" pitchFamily="49" charset="0"/>
              </a:rPr>
              <a:t>set.h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"</a:t>
            </a:r>
          </a:p>
          <a:p>
            <a:pPr>
              <a:defRPr/>
            </a:pPr>
            <a:r>
              <a:rPr lang="en-US" sz="1400" b="1" dirty="0">
                <a:latin typeface="Courier New" pitchFamily="49" charset="0"/>
                <a:cs typeface="Courier New" pitchFamily="49" charset="0"/>
              </a:rPr>
              <a:t> 6  using </a:t>
            </a:r>
            <a:r>
              <a:rPr lang="en-US" sz="1400" b="1" dirty="0" err="1">
                <a:latin typeface="Courier New" pitchFamily="49" charset="0"/>
                <a:cs typeface="Courier New" pitchFamily="49" charset="0"/>
              </a:rPr>
              <a:t>std::cout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defRPr/>
            </a:pPr>
            <a:r>
              <a:rPr lang="en-US" sz="1400" b="1" dirty="0">
                <a:latin typeface="Courier New" pitchFamily="49" charset="0"/>
                <a:cs typeface="Courier New" pitchFamily="49" charset="0"/>
              </a:rPr>
              <a:t> 7  using </a:t>
            </a:r>
            <a:r>
              <a:rPr lang="en-US" sz="1400" b="1" dirty="0" err="1">
                <a:latin typeface="Courier New" pitchFamily="49" charset="0"/>
                <a:cs typeface="Courier New" pitchFamily="49" charset="0"/>
              </a:rPr>
              <a:t>std::endl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defRPr/>
            </a:pPr>
            <a:r>
              <a:rPr lang="en-US" sz="1400" b="1" dirty="0">
                <a:latin typeface="Courier New" pitchFamily="49" charset="0"/>
                <a:cs typeface="Courier New" pitchFamily="49" charset="0"/>
              </a:rPr>
              <a:t> 8  using </a:t>
            </a:r>
            <a:r>
              <a:rPr lang="en-US" sz="1400" b="1" dirty="0" err="1">
                <a:latin typeface="Courier New" pitchFamily="49" charset="0"/>
                <a:cs typeface="Courier New" pitchFamily="49" charset="0"/>
              </a:rPr>
              <a:t>LinkedListSavitch::Node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defRPr/>
            </a:pPr>
            <a:r>
              <a:rPr lang="en-US" sz="1400" b="1" dirty="0">
                <a:latin typeface="Courier New" pitchFamily="49" charset="0"/>
                <a:cs typeface="Courier New" pitchFamily="49" charset="0"/>
              </a:rPr>
              <a:t> 9  using </a:t>
            </a:r>
            <a:r>
              <a:rPr lang="en-US" sz="1400" b="1" dirty="0" err="1">
                <a:latin typeface="Courier New" pitchFamily="49" charset="0"/>
                <a:cs typeface="Courier New" pitchFamily="49" charset="0"/>
              </a:rPr>
              <a:t>LinkedListSavitch::search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defRPr/>
            </a:pPr>
            <a:r>
              <a:rPr lang="en-US" sz="1400" b="1" dirty="0">
                <a:latin typeface="Courier New" pitchFamily="49" charset="0"/>
                <a:cs typeface="Courier New" pitchFamily="49" charset="0"/>
              </a:rPr>
              <a:t>10  using </a:t>
            </a:r>
            <a:r>
              <a:rPr lang="en-US" sz="1400" b="1" dirty="0" err="1">
                <a:latin typeface="Courier New" pitchFamily="49" charset="0"/>
                <a:cs typeface="Courier New" pitchFamily="49" charset="0"/>
              </a:rPr>
              <a:t>LinkedListSavitch::headInsert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defRPr/>
            </a:pPr>
            <a:r>
              <a:rPr lang="en-US" sz="1400" b="1" dirty="0">
                <a:latin typeface="Courier New" pitchFamily="49" charset="0"/>
                <a:cs typeface="Courier New" pitchFamily="49" charset="0"/>
              </a:rPr>
              <a:t>11  namespace </a:t>
            </a:r>
            <a:r>
              <a:rPr lang="en-US" sz="1400" b="1" dirty="0" err="1">
                <a:latin typeface="Courier New" pitchFamily="49" charset="0"/>
                <a:cs typeface="Courier New" pitchFamily="49" charset="0"/>
              </a:rPr>
              <a:t>SetSavitch</a:t>
            </a:r>
            <a:endParaRPr lang="en-US" sz="1400" b="1" dirty="0">
              <a:latin typeface="Courier New" pitchFamily="49" charset="0"/>
              <a:cs typeface="Courier New" pitchFamily="49" charset="0"/>
            </a:endParaRPr>
          </a:p>
          <a:p>
            <a:pPr>
              <a:defRPr/>
            </a:pPr>
            <a:r>
              <a:rPr lang="en-US" sz="1400" b="1" dirty="0">
                <a:latin typeface="Courier New" pitchFamily="49" charset="0"/>
                <a:cs typeface="Courier New" pitchFamily="49" charset="0"/>
              </a:rPr>
              <a:t>12  {</a:t>
            </a:r>
          </a:p>
          <a:p>
            <a:pPr>
              <a:defRPr/>
            </a:pPr>
            <a:r>
              <a:rPr lang="en-US" sz="1400" b="1" dirty="0">
                <a:latin typeface="Courier New" pitchFamily="49" charset="0"/>
                <a:cs typeface="Courier New" pitchFamily="49" charset="0"/>
              </a:rPr>
              <a:t>13     template&lt;class T&gt;</a:t>
            </a:r>
          </a:p>
          <a:p>
            <a:pPr>
              <a:defRPr/>
            </a:pPr>
            <a:r>
              <a:rPr lang="en-US" sz="1400" b="1" dirty="0">
                <a:latin typeface="Courier New" pitchFamily="49" charset="0"/>
                <a:cs typeface="Courier New" pitchFamily="49" charset="0"/>
              </a:rPr>
              <a:t>14     Set&lt;T&gt;::~Set()</a:t>
            </a:r>
          </a:p>
          <a:p>
            <a:pPr>
              <a:defRPr/>
            </a:pPr>
            <a:r>
              <a:rPr lang="en-US" sz="1400" b="1" dirty="0">
                <a:latin typeface="Courier New" pitchFamily="49" charset="0"/>
                <a:cs typeface="Courier New" pitchFamily="49" charset="0"/>
              </a:rPr>
              <a:t>15     {</a:t>
            </a:r>
          </a:p>
          <a:p>
            <a:pPr>
              <a:defRPr/>
            </a:pPr>
            <a:r>
              <a:rPr lang="en-US" sz="1400" b="1" dirty="0">
                <a:latin typeface="Courier New" pitchFamily="49" charset="0"/>
                <a:cs typeface="Courier New" pitchFamily="49" charset="0"/>
              </a:rPr>
              <a:t>16         Node&lt;T&gt; *</a:t>
            </a:r>
            <a:r>
              <a:rPr lang="en-US" sz="1400" b="1" dirty="0" err="1">
                <a:latin typeface="Courier New" pitchFamily="49" charset="0"/>
                <a:cs typeface="Courier New" pitchFamily="49" charset="0"/>
              </a:rPr>
              <a:t>toDelete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 = head;</a:t>
            </a:r>
          </a:p>
          <a:p>
            <a:pPr>
              <a:defRPr/>
            </a:pPr>
            <a:r>
              <a:rPr lang="en-US" sz="1400" b="1" dirty="0">
                <a:latin typeface="Courier New" pitchFamily="49" charset="0"/>
                <a:cs typeface="Courier New" pitchFamily="49" charset="0"/>
              </a:rPr>
              <a:t>17         while (head != NULL)</a:t>
            </a:r>
          </a:p>
          <a:p>
            <a:pPr>
              <a:defRPr/>
            </a:pPr>
            <a:r>
              <a:rPr lang="en-US" sz="1400" b="1" dirty="0">
                <a:latin typeface="Courier New" pitchFamily="49" charset="0"/>
                <a:cs typeface="Courier New" pitchFamily="49" charset="0"/>
              </a:rPr>
              <a:t>18         {</a:t>
            </a:r>
          </a:p>
          <a:p>
            <a:pPr>
              <a:defRPr/>
            </a:pPr>
            <a:r>
              <a:rPr lang="en-US" sz="1400" b="1" dirty="0">
                <a:latin typeface="Courier New" pitchFamily="49" charset="0"/>
                <a:cs typeface="Courier New" pitchFamily="49" charset="0"/>
              </a:rPr>
              <a:t>19           head = </a:t>
            </a:r>
            <a:r>
              <a:rPr lang="en-US" sz="1400" b="1" dirty="0" err="1">
                <a:latin typeface="Courier New" pitchFamily="49" charset="0"/>
                <a:cs typeface="Courier New" pitchFamily="49" charset="0"/>
              </a:rPr>
              <a:t>head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-&gt;</a:t>
            </a:r>
            <a:r>
              <a:rPr lang="en-US" sz="1400" b="1" dirty="0" err="1">
                <a:latin typeface="Courier New" pitchFamily="49" charset="0"/>
                <a:cs typeface="Courier New" pitchFamily="49" charset="0"/>
              </a:rPr>
              <a:t>getLink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( );</a:t>
            </a:r>
          </a:p>
          <a:p>
            <a:pPr>
              <a:defRPr/>
            </a:pPr>
            <a:r>
              <a:rPr lang="en-US" sz="1400" b="1" dirty="0">
                <a:latin typeface="Courier New" pitchFamily="49" charset="0"/>
                <a:cs typeface="Courier New" pitchFamily="49" charset="0"/>
              </a:rPr>
              <a:t>20           delete </a:t>
            </a:r>
            <a:r>
              <a:rPr lang="en-US" sz="1400" b="1" dirty="0" err="1">
                <a:latin typeface="Courier New" pitchFamily="49" charset="0"/>
                <a:cs typeface="Courier New" pitchFamily="49" charset="0"/>
              </a:rPr>
              <a:t>toDelete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defRPr/>
            </a:pPr>
            <a:r>
              <a:rPr lang="en-US" sz="1400" b="1" dirty="0">
                <a:latin typeface="Courier New" pitchFamily="49" charset="0"/>
                <a:cs typeface="Courier New" pitchFamily="49" charset="0"/>
              </a:rPr>
              <a:t>21           </a:t>
            </a:r>
            <a:r>
              <a:rPr lang="en-US" sz="1400" b="1" dirty="0" err="1">
                <a:latin typeface="Courier New" pitchFamily="49" charset="0"/>
                <a:cs typeface="Courier New" pitchFamily="49" charset="0"/>
              </a:rPr>
              <a:t>toDelete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 = head;</a:t>
            </a:r>
          </a:p>
          <a:p>
            <a:pPr>
              <a:defRPr/>
            </a:pPr>
            <a:r>
              <a:rPr lang="en-US" sz="1400" b="1" dirty="0">
                <a:latin typeface="Courier New" pitchFamily="49" charset="0"/>
                <a:cs typeface="Courier New" pitchFamily="49" charset="0"/>
              </a:rPr>
              <a:t>22         }</a:t>
            </a:r>
          </a:p>
          <a:p>
            <a:pPr>
              <a:defRPr/>
            </a:pPr>
            <a:r>
              <a:rPr lang="en-US" sz="1400" b="1" dirty="0">
                <a:latin typeface="Courier New" pitchFamily="49" charset="0"/>
                <a:cs typeface="Courier New" pitchFamily="49" charset="0"/>
              </a:rPr>
              <a:t>23     }</a:t>
            </a:r>
          </a:p>
          <a:p>
            <a:pPr marL="342900" indent="-342900">
              <a:buFontTx/>
              <a:buAutoNum type="arabicPlain" startAt="18"/>
              <a:defRPr/>
            </a:pPr>
            <a:endParaRPr lang="en-US" sz="1400" b="1" dirty="0"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Implementation File for a Set Template Class (2 of 4)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17-</a:t>
            </a:r>
            <a:fld id="{FBC7CF86-1C20-463D-B808-09C41336C0BD}" type="slidenum">
              <a:rPr lang="en-US" smtClean="0"/>
              <a:pPr>
                <a:defRPr/>
              </a:pPr>
              <a:t>59</a:t>
            </a:fld>
            <a:endParaRPr lang="en-US"/>
          </a:p>
        </p:txBody>
      </p:sp>
      <p:sp>
        <p:nvSpPr>
          <p:cNvPr id="133123" name="Footer Placeholder 4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33400" y="1524000"/>
            <a:ext cx="5395913" cy="4559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1400" b="1" dirty="0">
                <a:latin typeface="Courier New" pitchFamily="49" charset="0"/>
                <a:cs typeface="Courier New" pitchFamily="49" charset="0"/>
              </a:rPr>
              <a:t>24     template&lt;class T&gt;</a:t>
            </a:r>
          </a:p>
          <a:p>
            <a:pPr>
              <a:defRPr/>
            </a:pPr>
            <a:r>
              <a:rPr lang="en-US" sz="1400" b="1" dirty="0">
                <a:latin typeface="Courier New" pitchFamily="49" charset="0"/>
                <a:cs typeface="Courier New" pitchFamily="49" charset="0"/>
              </a:rPr>
              <a:t>25     </a:t>
            </a:r>
            <a:r>
              <a:rPr lang="en-US" sz="1400" b="1" dirty="0" err="1">
                <a:latin typeface="Courier New" pitchFamily="49" charset="0"/>
                <a:cs typeface="Courier New" pitchFamily="49" charset="0"/>
              </a:rPr>
              <a:t>bool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 Set&lt;T&gt;::contains(T target) const</a:t>
            </a:r>
          </a:p>
          <a:p>
            <a:pPr>
              <a:defRPr/>
            </a:pPr>
            <a:r>
              <a:rPr lang="en-US" sz="1400" b="1" dirty="0">
                <a:latin typeface="Courier New" pitchFamily="49" charset="0"/>
                <a:cs typeface="Courier New" pitchFamily="49" charset="0"/>
              </a:rPr>
              <a:t>26     {</a:t>
            </a:r>
          </a:p>
          <a:p>
            <a:pPr>
              <a:defRPr/>
            </a:pPr>
            <a:r>
              <a:rPr lang="en-US" sz="1400" b="1" dirty="0">
                <a:latin typeface="Courier New" pitchFamily="49" charset="0"/>
                <a:cs typeface="Courier New" pitchFamily="49" charset="0"/>
              </a:rPr>
              <a:t>27      Node&lt;T&gt;* result = search(head, target);</a:t>
            </a:r>
          </a:p>
          <a:p>
            <a:pPr>
              <a:defRPr/>
            </a:pPr>
            <a:r>
              <a:rPr lang="en-US" sz="1400" b="1" dirty="0">
                <a:latin typeface="Courier New" pitchFamily="49" charset="0"/>
                <a:cs typeface="Courier New" pitchFamily="49" charset="0"/>
              </a:rPr>
              <a:t>28      if (result == NULL)</a:t>
            </a:r>
          </a:p>
          <a:p>
            <a:pPr>
              <a:defRPr/>
            </a:pPr>
            <a:r>
              <a:rPr lang="en-US" sz="1400" b="1" dirty="0">
                <a:latin typeface="Courier New" pitchFamily="49" charset="0"/>
                <a:cs typeface="Courier New" pitchFamily="49" charset="0"/>
              </a:rPr>
              <a:t>29         return false;</a:t>
            </a:r>
          </a:p>
          <a:p>
            <a:pPr>
              <a:defRPr/>
            </a:pPr>
            <a:r>
              <a:rPr lang="en-US" sz="1400" b="1" dirty="0">
                <a:latin typeface="Courier New" pitchFamily="49" charset="0"/>
                <a:cs typeface="Courier New" pitchFamily="49" charset="0"/>
              </a:rPr>
              <a:t>30      else</a:t>
            </a:r>
          </a:p>
          <a:p>
            <a:pPr>
              <a:defRPr/>
            </a:pPr>
            <a:r>
              <a:rPr lang="en-US" sz="1400" b="1" dirty="0">
                <a:latin typeface="Courier New" pitchFamily="49" charset="0"/>
                <a:cs typeface="Courier New" pitchFamily="49" charset="0"/>
              </a:rPr>
              <a:t>31         return true;</a:t>
            </a:r>
          </a:p>
          <a:p>
            <a:pPr>
              <a:defRPr/>
            </a:pPr>
            <a:r>
              <a:rPr lang="en-US" sz="1400" b="1" dirty="0">
                <a:latin typeface="Courier New" pitchFamily="49" charset="0"/>
                <a:cs typeface="Courier New" pitchFamily="49" charset="0"/>
              </a:rPr>
              <a:t>32     } </a:t>
            </a:r>
          </a:p>
          <a:p>
            <a:pPr>
              <a:defRPr/>
            </a:pPr>
            <a:endParaRPr lang="en-US" sz="1400" b="1" dirty="0">
              <a:latin typeface="Courier New" pitchFamily="49" charset="0"/>
              <a:cs typeface="Courier New" pitchFamily="49" charset="0"/>
            </a:endParaRPr>
          </a:p>
          <a:p>
            <a:pPr>
              <a:defRPr/>
            </a:pPr>
            <a:r>
              <a:rPr lang="en-US" sz="1400" b="1" dirty="0">
                <a:latin typeface="Courier New" pitchFamily="49" charset="0"/>
                <a:cs typeface="Courier New" pitchFamily="49" charset="0"/>
              </a:rPr>
              <a:t>33     void Set&lt;T&gt;::output()</a:t>
            </a:r>
          </a:p>
          <a:p>
            <a:pPr>
              <a:defRPr/>
            </a:pPr>
            <a:r>
              <a:rPr lang="en-US" sz="1400" b="1" dirty="0">
                <a:latin typeface="Courier New" pitchFamily="49" charset="0"/>
                <a:cs typeface="Courier New" pitchFamily="49" charset="0"/>
              </a:rPr>
              <a:t>34     {</a:t>
            </a:r>
          </a:p>
          <a:p>
            <a:pPr>
              <a:defRPr/>
            </a:pPr>
            <a:r>
              <a:rPr lang="en-US" sz="1400" b="1" dirty="0">
                <a:latin typeface="Courier New" pitchFamily="49" charset="0"/>
                <a:cs typeface="Courier New" pitchFamily="49" charset="0"/>
              </a:rPr>
              <a:t>35         Node&lt;T&gt; *</a:t>
            </a:r>
            <a:r>
              <a:rPr lang="en-US" sz="1400" b="1" dirty="0" err="1">
                <a:latin typeface="Courier New" pitchFamily="49" charset="0"/>
                <a:cs typeface="Courier New" pitchFamily="49" charset="0"/>
              </a:rPr>
              <a:t>iterator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 = head;</a:t>
            </a:r>
          </a:p>
          <a:p>
            <a:pPr>
              <a:defRPr/>
            </a:pPr>
            <a:r>
              <a:rPr lang="en-US" sz="1400" b="1" dirty="0">
                <a:latin typeface="Courier New" pitchFamily="49" charset="0"/>
                <a:cs typeface="Courier New" pitchFamily="49" charset="0"/>
              </a:rPr>
              <a:t>36         while (</a:t>
            </a:r>
            <a:r>
              <a:rPr lang="en-US" sz="1400" b="1" dirty="0" err="1">
                <a:latin typeface="Courier New" pitchFamily="49" charset="0"/>
                <a:cs typeface="Courier New" pitchFamily="49" charset="0"/>
              </a:rPr>
              <a:t>iterator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 != NULL)</a:t>
            </a:r>
          </a:p>
          <a:p>
            <a:pPr>
              <a:defRPr/>
            </a:pPr>
            <a:r>
              <a:rPr lang="en-US" sz="1400" b="1" dirty="0">
                <a:latin typeface="Courier New" pitchFamily="49" charset="0"/>
                <a:cs typeface="Courier New" pitchFamily="49" charset="0"/>
              </a:rPr>
              <a:t>37         {</a:t>
            </a:r>
          </a:p>
          <a:p>
            <a:pPr>
              <a:defRPr/>
            </a:pPr>
            <a:r>
              <a:rPr lang="en-US" sz="1400" b="1" dirty="0">
                <a:latin typeface="Courier New" pitchFamily="49" charset="0"/>
                <a:cs typeface="Courier New" pitchFamily="49" charset="0"/>
              </a:rPr>
              <a:t>38           </a:t>
            </a:r>
            <a:r>
              <a:rPr lang="en-US" sz="1400" b="1" dirty="0" err="1"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 &lt;&lt; </a:t>
            </a:r>
            <a:r>
              <a:rPr lang="en-US" sz="1400" b="1" dirty="0" err="1">
                <a:latin typeface="Courier New" pitchFamily="49" charset="0"/>
                <a:cs typeface="Courier New" pitchFamily="49" charset="0"/>
              </a:rPr>
              <a:t>iterator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-&gt;</a:t>
            </a:r>
            <a:r>
              <a:rPr lang="en-US" sz="1400" b="1" dirty="0" err="1">
                <a:latin typeface="Courier New" pitchFamily="49" charset="0"/>
                <a:cs typeface="Courier New" pitchFamily="49" charset="0"/>
              </a:rPr>
              <a:t>getData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( ) &lt;&lt; " ";</a:t>
            </a:r>
          </a:p>
          <a:p>
            <a:pPr>
              <a:defRPr/>
            </a:pPr>
            <a:r>
              <a:rPr lang="en-US" sz="1400" b="1" dirty="0">
                <a:latin typeface="Courier New" pitchFamily="49" charset="0"/>
                <a:cs typeface="Courier New" pitchFamily="49" charset="0"/>
              </a:rPr>
              <a:t>39           </a:t>
            </a:r>
            <a:r>
              <a:rPr lang="en-US" sz="1400" b="1" dirty="0" err="1">
                <a:latin typeface="Courier New" pitchFamily="49" charset="0"/>
                <a:cs typeface="Courier New" pitchFamily="49" charset="0"/>
              </a:rPr>
              <a:t>iterator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sz="1400" b="1" dirty="0" err="1">
                <a:latin typeface="Courier New" pitchFamily="49" charset="0"/>
                <a:cs typeface="Courier New" pitchFamily="49" charset="0"/>
              </a:rPr>
              <a:t>iterator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-&gt;</a:t>
            </a:r>
            <a:r>
              <a:rPr lang="en-US" sz="1400" b="1" dirty="0" err="1">
                <a:latin typeface="Courier New" pitchFamily="49" charset="0"/>
                <a:cs typeface="Courier New" pitchFamily="49" charset="0"/>
              </a:rPr>
              <a:t>getLink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( );</a:t>
            </a:r>
          </a:p>
          <a:p>
            <a:pPr>
              <a:defRPr/>
            </a:pPr>
            <a:r>
              <a:rPr lang="en-US" sz="1400" b="1" dirty="0">
                <a:latin typeface="Courier New" pitchFamily="49" charset="0"/>
                <a:cs typeface="Courier New" pitchFamily="49" charset="0"/>
              </a:rPr>
              <a:t>40         }</a:t>
            </a:r>
          </a:p>
          <a:p>
            <a:pPr>
              <a:defRPr/>
            </a:pPr>
            <a:r>
              <a:rPr lang="en-US" sz="1400" b="1" dirty="0">
                <a:latin typeface="Courier New" pitchFamily="49" charset="0"/>
                <a:cs typeface="Courier New" pitchFamily="49" charset="0"/>
              </a:rPr>
              <a:t>41         </a:t>
            </a:r>
            <a:r>
              <a:rPr lang="en-US" sz="1400" b="1" dirty="0" err="1"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 &lt;&lt; </a:t>
            </a:r>
            <a:r>
              <a:rPr lang="en-US" sz="1400" b="1" dirty="0" err="1">
                <a:latin typeface="Courier New" pitchFamily="49" charset="0"/>
                <a:cs typeface="Courier New" pitchFamily="49" charset="0"/>
              </a:rPr>
              <a:t>endl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defRPr/>
            </a:pPr>
            <a:r>
              <a:rPr lang="en-US" sz="1400" b="1" dirty="0">
                <a:latin typeface="Courier New" pitchFamily="49" charset="0"/>
                <a:cs typeface="Courier New" pitchFamily="49" charset="0"/>
              </a:rPr>
              <a:t>42     }</a:t>
            </a:r>
          </a:p>
          <a:p>
            <a:pPr marL="342900" indent="-342900">
              <a:buFontTx/>
              <a:buAutoNum type="arabicPlain" startAt="18"/>
              <a:defRPr/>
            </a:pPr>
            <a:endParaRPr lang="en-US" sz="1400" b="1" dirty="0"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6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Implementation File for a Set Template Class (3 of 4)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17-</a:t>
            </a:r>
            <a:fld id="{D030881B-B158-4EA1-9313-712798F1C556}" type="slidenum">
              <a:rPr lang="en-US" smtClean="0"/>
              <a:pPr>
                <a:defRPr/>
              </a:pPr>
              <a:t>60</a:t>
            </a:fld>
            <a:endParaRPr lang="en-US"/>
          </a:p>
        </p:txBody>
      </p:sp>
      <p:sp>
        <p:nvSpPr>
          <p:cNvPr id="135171" name="Footer Placeholder 4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  <p:sp>
        <p:nvSpPr>
          <p:cNvPr id="135172" name="TextBox 5"/>
          <p:cNvSpPr txBox="1">
            <a:spLocks noChangeArrowheads="1"/>
          </p:cNvSpPr>
          <p:nvPr/>
        </p:nvSpPr>
        <p:spPr bwMode="auto">
          <a:xfrm>
            <a:off x="381000" y="1752600"/>
            <a:ext cx="3962400" cy="264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400" b="1">
                <a:latin typeface="Courier New" pitchFamily="49" charset="0"/>
                <a:cs typeface="Courier New" pitchFamily="49" charset="0"/>
              </a:rPr>
              <a:t>43     template&lt;class T&gt;</a:t>
            </a:r>
          </a:p>
          <a:p>
            <a:r>
              <a:rPr lang="en-US" sz="1400" b="1">
                <a:latin typeface="Courier New" pitchFamily="49" charset="0"/>
                <a:cs typeface="Courier New" pitchFamily="49" charset="0"/>
              </a:rPr>
              <a:t>44     void Set&lt;T&gt;::add(T item)</a:t>
            </a:r>
          </a:p>
          <a:p>
            <a:r>
              <a:rPr lang="en-US" sz="1400" b="1">
                <a:latin typeface="Courier New" pitchFamily="49" charset="0"/>
                <a:cs typeface="Courier New" pitchFamily="49" charset="0"/>
              </a:rPr>
              <a:t>45     {</a:t>
            </a:r>
          </a:p>
          <a:p>
            <a:r>
              <a:rPr lang="en-US" sz="1400" b="1">
                <a:latin typeface="Courier New" pitchFamily="49" charset="0"/>
                <a:cs typeface="Courier New" pitchFamily="49" charset="0"/>
              </a:rPr>
              <a:t>46      if (search(head, item)</a:t>
            </a:r>
          </a:p>
          <a:p>
            <a:r>
              <a:rPr lang="en-US" sz="1400" b="1">
                <a:latin typeface="Courier New" pitchFamily="49" charset="0"/>
                <a:cs typeface="Courier New" pitchFamily="49" charset="0"/>
              </a:rPr>
              <a:t>         ==NULL)</a:t>
            </a:r>
          </a:p>
          <a:p>
            <a:r>
              <a:rPr lang="en-US" sz="1400" b="1">
                <a:latin typeface="Courier New" pitchFamily="49" charset="0"/>
                <a:cs typeface="Courier New" pitchFamily="49" charset="0"/>
              </a:rPr>
              <a:t>47      {</a:t>
            </a:r>
          </a:p>
          <a:p>
            <a:r>
              <a:rPr lang="en-US" sz="1400" b="1">
                <a:latin typeface="Courier New" pitchFamily="49" charset="0"/>
                <a:cs typeface="Courier New" pitchFamily="49" charset="0"/>
              </a:rPr>
              <a:t>48        // Only add the target if</a:t>
            </a:r>
          </a:p>
          <a:p>
            <a:r>
              <a:rPr lang="en-US" sz="1400" b="1">
                <a:latin typeface="Courier New" pitchFamily="49" charset="0"/>
                <a:cs typeface="Courier New" pitchFamily="49" charset="0"/>
              </a:rPr>
              <a:t>             it's not in the list</a:t>
            </a:r>
          </a:p>
          <a:p>
            <a:r>
              <a:rPr lang="en-US" sz="1400" b="1">
                <a:latin typeface="Courier New" pitchFamily="49" charset="0"/>
                <a:cs typeface="Courier New" pitchFamily="49" charset="0"/>
              </a:rPr>
              <a:t>49        headInsert(head, item);</a:t>
            </a:r>
          </a:p>
          <a:p>
            <a:r>
              <a:rPr lang="en-US" sz="1400" b="1">
                <a:latin typeface="Courier New" pitchFamily="49" charset="0"/>
                <a:cs typeface="Courier New" pitchFamily="49" charset="0"/>
              </a:rPr>
              <a:t>50      }</a:t>
            </a:r>
          </a:p>
          <a:p>
            <a:r>
              <a:rPr lang="en-US" sz="1400" b="1">
                <a:latin typeface="Courier New" pitchFamily="49" charset="0"/>
                <a:cs typeface="Courier New" pitchFamily="49" charset="0"/>
              </a:rPr>
              <a:t>51     }</a:t>
            </a:r>
          </a:p>
          <a:p>
            <a:endParaRPr lang="en-US" sz="1400" b="1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419600" y="1676400"/>
            <a:ext cx="4572000" cy="4772025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defRPr/>
            </a:pPr>
            <a:r>
              <a:rPr lang="en-US" sz="1400" b="1" dirty="0">
                <a:latin typeface="Courier New" pitchFamily="49" charset="0"/>
                <a:cs typeface="Courier New" pitchFamily="49" charset="0"/>
              </a:rPr>
              <a:t>52     template&lt;class T&gt;</a:t>
            </a:r>
          </a:p>
          <a:p>
            <a:pPr>
              <a:defRPr/>
            </a:pPr>
            <a:r>
              <a:rPr lang="en-US" sz="1400" b="1" dirty="0">
                <a:latin typeface="Courier New" pitchFamily="49" charset="0"/>
                <a:cs typeface="Courier New" pitchFamily="49" charset="0"/>
              </a:rPr>
              <a:t>53     Set&lt;T&gt;* Set&lt;T&gt;::</a:t>
            </a:r>
            <a:r>
              <a:rPr lang="en-US" sz="1400" b="1" dirty="0" err="1">
                <a:latin typeface="Courier New" pitchFamily="49" charset="0"/>
                <a:cs typeface="Courier New" pitchFamily="49" charset="0"/>
              </a:rPr>
              <a:t>setUnion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(const </a:t>
            </a:r>
          </a:p>
          <a:p>
            <a:pPr>
              <a:defRPr/>
            </a:pPr>
            <a:r>
              <a:rPr lang="en-US" sz="1400" b="1" dirty="0">
                <a:latin typeface="Courier New" pitchFamily="49" charset="0"/>
                <a:cs typeface="Courier New" pitchFamily="49" charset="0"/>
              </a:rPr>
              <a:t>                Set&lt;T&gt;&amp; </a:t>
            </a:r>
            <a:r>
              <a:rPr lang="en-US" sz="1400" b="1" dirty="0" err="1">
                <a:latin typeface="Courier New" pitchFamily="49" charset="0"/>
                <a:cs typeface="Courier New" pitchFamily="49" charset="0"/>
              </a:rPr>
              <a:t>otherSet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)</a:t>
            </a:r>
          </a:p>
          <a:p>
            <a:pPr>
              <a:defRPr/>
            </a:pPr>
            <a:r>
              <a:rPr lang="en-US" sz="1400" b="1" dirty="0">
                <a:latin typeface="Courier New" pitchFamily="49" charset="0"/>
                <a:cs typeface="Courier New" pitchFamily="49" charset="0"/>
              </a:rPr>
              <a:t>54     {</a:t>
            </a:r>
          </a:p>
          <a:p>
            <a:pPr>
              <a:defRPr/>
            </a:pPr>
            <a:r>
              <a:rPr lang="en-US" sz="1400" b="1" dirty="0">
                <a:latin typeface="Courier New" pitchFamily="49" charset="0"/>
                <a:cs typeface="Courier New" pitchFamily="49" charset="0"/>
              </a:rPr>
              <a:t>55      Set&lt;T&gt; *</a:t>
            </a:r>
            <a:r>
              <a:rPr lang="en-US" sz="1400" b="1" dirty="0" err="1">
                <a:latin typeface="Courier New" pitchFamily="49" charset="0"/>
                <a:cs typeface="Courier New" pitchFamily="49" charset="0"/>
              </a:rPr>
              <a:t>unionSet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 = new Set&lt;T&gt;();</a:t>
            </a:r>
          </a:p>
          <a:p>
            <a:pPr>
              <a:defRPr/>
            </a:pPr>
            <a:r>
              <a:rPr lang="en-US" sz="1400" b="1" dirty="0">
                <a:latin typeface="Courier New" pitchFamily="49" charset="0"/>
                <a:cs typeface="Courier New" pitchFamily="49" charset="0"/>
              </a:rPr>
              <a:t>56      Node&lt;T&gt;* </a:t>
            </a:r>
            <a:r>
              <a:rPr lang="en-US" sz="1400" b="1" dirty="0" err="1">
                <a:latin typeface="Courier New" pitchFamily="49" charset="0"/>
                <a:cs typeface="Courier New" pitchFamily="49" charset="0"/>
              </a:rPr>
              <a:t>iterator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 = head;</a:t>
            </a:r>
          </a:p>
          <a:p>
            <a:pPr>
              <a:defRPr/>
            </a:pPr>
            <a:r>
              <a:rPr lang="en-US" sz="1400" b="1" dirty="0">
                <a:latin typeface="Courier New" pitchFamily="49" charset="0"/>
                <a:cs typeface="Courier New" pitchFamily="49" charset="0"/>
              </a:rPr>
              <a:t>57      while (</a:t>
            </a:r>
            <a:r>
              <a:rPr lang="en-US" sz="1400" b="1" dirty="0" err="1">
                <a:latin typeface="Courier New" pitchFamily="49" charset="0"/>
                <a:cs typeface="Courier New" pitchFamily="49" charset="0"/>
              </a:rPr>
              <a:t>iterator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 != NULL)</a:t>
            </a:r>
          </a:p>
          <a:p>
            <a:pPr>
              <a:defRPr/>
            </a:pPr>
            <a:r>
              <a:rPr lang="en-US" sz="1400" b="1" dirty="0">
                <a:latin typeface="Courier New" pitchFamily="49" charset="0"/>
                <a:cs typeface="Courier New" pitchFamily="49" charset="0"/>
              </a:rPr>
              <a:t>58      {</a:t>
            </a:r>
          </a:p>
          <a:p>
            <a:pPr>
              <a:defRPr/>
            </a:pPr>
            <a:r>
              <a:rPr lang="en-US" sz="1400" b="1" dirty="0">
                <a:latin typeface="Courier New" pitchFamily="49" charset="0"/>
                <a:cs typeface="Courier New" pitchFamily="49" charset="0"/>
              </a:rPr>
              <a:t>59       </a:t>
            </a:r>
            <a:r>
              <a:rPr lang="en-US" sz="1400" b="1" dirty="0" err="1">
                <a:latin typeface="Courier New" pitchFamily="49" charset="0"/>
                <a:cs typeface="Courier New" pitchFamily="49" charset="0"/>
              </a:rPr>
              <a:t>unionSet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-&gt;add(</a:t>
            </a:r>
            <a:r>
              <a:rPr lang="en-US" sz="1400" b="1" dirty="0" err="1">
                <a:latin typeface="Courier New" pitchFamily="49" charset="0"/>
                <a:cs typeface="Courier New" pitchFamily="49" charset="0"/>
              </a:rPr>
              <a:t>iterator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-&gt;</a:t>
            </a:r>
            <a:r>
              <a:rPr lang="en-US" sz="1400" b="1" dirty="0" err="1">
                <a:latin typeface="Courier New" pitchFamily="49" charset="0"/>
                <a:cs typeface="Courier New" pitchFamily="49" charset="0"/>
              </a:rPr>
              <a:t>getData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( ));</a:t>
            </a:r>
          </a:p>
          <a:p>
            <a:pPr>
              <a:defRPr/>
            </a:pPr>
            <a:r>
              <a:rPr lang="en-US" sz="1400" b="1" dirty="0">
                <a:latin typeface="Courier New" pitchFamily="49" charset="0"/>
                <a:cs typeface="Courier New" pitchFamily="49" charset="0"/>
              </a:rPr>
              <a:t>60       </a:t>
            </a:r>
            <a:r>
              <a:rPr lang="en-US" sz="1400" b="1" dirty="0" err="1">
                <a:latin typeface="Courier New" pitchFamily="49" charset="0"/>
                <a:cs typeface="Courier New" pitchFamily="49" charset="0"/>
              </a:rPr>
              <a:t>iterator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sz="1400" b="1" dirty="0" err="1">
                <a:latin typeface="Courier New" pitchFamily="49" charset="0"/>
                <a:cs typeface="Courier New" pitchFamily="49" charset="0"/>
              </a:rPr>
              <a:t>iterator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-&gt;</a:t>
            </a:r>
            <a:r>
              <a:rPr lang="en-US" sz="1400" b="1" dirty="0" err="1">
                <a:latin typeface="Courier New" pitchFamily="49" charset="0"/>
                <a:cs typeface="Courier New" pitchFamily="49" charset="0"/>
              </a:rPr>
              <a:t>getLink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( );</a:t>
            </a:r>
          </a:p>
          <a:p>
            <a:pPr>
              <a:defRPr/>
            </a:pPr>
            <a:r>
              <a:rPr lang="en-US" sz="1400" b="1" dirty="0">
                <a:latin typeface="Courier New" pitchFamily="49" charset="0"/>
                <a:cs typeface="Courier New" pitchFamily="49" charset="0"/>
              </a:rPr>
              <a:t>61      }</a:t>
            </a:r>
          </a:p>
          <a:p>
            <a:pPr>
              <a:defRPr/>
            </a:pPr>
            <a:r>
              <a:rPr lang="en-US" sz="1400" b="1" dirty="0">
                <a:latin typeface="Courier New" pitchFamily="49" charset="0"/>
                <a:cs typeface="Courier New" pitchFamily="49" charset="0"/>
              </a:rPr>
              <a:t>62      </a:t>
            </a:r>
            <a:r>
              <a:rPr lang="en-US" sz="1400" b="1" dirty="0" err="1">
                <a:latin typeface="Courier New" pitchFamily="49" charset="0"/>
                <a:cs typeface="Courier New" pitchFamily="49" charset="0"/>
              </a:rPr>
              <a:t>iterator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sz="1400" b="1" dirty="0" err="1">
                <a:latin typeface="Courier New" pitchFamily="49" charset="0"/>
                <a:cs typeface="Courier New" pitchFamily="49" charset="0"/>
              </a:rPr>
              <a:t>otherSet.head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defRPr/>
            </a:pPr>
            <a:r>
              <a:rPr lang="en-US" sz="1400" b="1" dirty="0">
                <a:latin typeface="Courier New" pitchFamily="49" charset="0"/>
                <a:cs typeface="Courier New" pitchFamily="49" charset="0"/>
              </a:rPr>
              <a:t>63      while (</a:t>
            </a:r>
            <a:r>
              <a:rPr lang="en-US" sz="1400" b="1" dirty="0" err="1">
                <a:latin typeface="Courier New" pitchFamily="49" charset="0"/>
                <a:cs typeface="Courier New" pitchFamily="49" charset="0"/>
              </a:rPr>
              <a:t>iterator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 != NULL)</a:t>
            </a:r>
          </a:p>
          <a:p>
            <a:pPr>
              <a:defRPr/>
            </a:pPr>
            <a:r>
              <a:rPr lang="en-US" sz="1400" b="1" dirty="0">
                <a:latin typeface="Courier New" pitchFamily="49" charset="0"/>
                <a:cs typeface="Courier New" pitchFamily="49" charset="0"/>
              </a:rPr>
              <a:t>64      {</a:t>
            </a:r>
          </a:p>
          <a:p>
            <a:pPr>
              <a:defRPr/>
            </a:pPr>
            <a:r>
              <a:rPr lang="en-US" sz="1400" b="1" dirty="0">
                <a:latin typeface="Courier New" pitchFamily="49" charset="0"/>
                <a:cs typeface="Courier New" pitchFamily="49" charset="0"/>
              </a:rPr>
              <a:t>65       </a:t>
            </a:r>
            <a:r>
              <a:rPr lang="en-US" sz="1400" b="1" dirty="0" err="1">
                <a:latin typeface="Courier New" pitchFamily="49" charset="0"/>
                <a:cs typeface="Courier New" pitchFamily="49" charset="0"/>
              </a:rPr>
              <a:t>unionSet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-&gt;add(</a:t>
            </a:r>
            <a:r>
              <a:rPr lang="en-US" sz="1400" b="1" dirty="0" err="1">
                <a:latin typeface="Courier New" pitchFamily="49" charset="0"/>
                <a:cs typeface="Courier New" pitchFamily="49" charset="0"/>
              </a:rPr>
              <a:t>iterator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-&gt;</a:t>
            </a:r>
            <a:r>
              <a:rPr lang="en-US" sz="1400" b="1" dirty="0" err="1">
                <a:latin typeface="Courier New" pitchFamily="49" charset="0"/>
                <a:cs typeface="Courier New" pitchFamily="49" charset="0"/>
              </a:rPr>
              <a:t>getData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( ));</a:t>
            </a:r>
          </a:p>
          <a:p>
            <a:pPr>
              <a:defRPr/>
            </a:pPr>
            <a:r>
              <a:rPr lang="en-US" sz="1400" b="1" dirty="0">
                <a:latin typeface="Courier New" pitchFamily="49" charset="0"/>
                <a:cs typeface="Courier New" pitchFamily="49" charset="0"/>
              </a:rPr>
              <a:t>66       </a:t>
            </a:r>
            <a:r>
              <a:rPr lang="en-US" sz="1400" b="1" dirty="0" err="1">
                <a:latin typeface="Courier New" pitchFamily="49" charset="0"/>
                <a:cs typeface="Courier New" pitchFamily="49" charset="0"/>
              </a:rPr>
              <a:t>iterator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sz="1400" b="1" dirty="0" err="1">
                <a:latin typeface="Courier New" pitchFamily="49" charset="0"/>
                <a:cs typeface="Courier New" pitchFamily="49" charset="0"/>
              </a:rPr>
              <a:t>iterator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-&gt;</a:t>
            </a:r>
            <a:r>
              <a:rPr lang="en-US" sz="1400" b="1" dirty="0" err="1">
                <a:latin typeface="Courier New" pitchFamily="49" charset="0"/>
                <a:cs typeface="Courier New" pitchFamily="49" charset="0"/>
              </a:rPr>
              <a:t>getLink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( );</a:t>
            </a:r>
          </a:p>
          <a:p>
            <a:pPr>
              <a:defRPr/>
            </a:pPr>
            <a:r>
              <a:rPr lang="en-US" sz="1400" b="1" dirty="0">
                <a:latin typeface="Courier New" pitchFamily="49" charset="0"/>
                <a:cs typeface="Courier New" pitchFamily="49" charset="0"/>
              </a:rPr>
              <a:t>67      }</a:t>
            </a:r>
          </a:p>
          <a:p>
            <a:pPr>
              <a:defRPr/>
            </a:pPr>
            <a:r>
              <a:rPr lang="en-US" sz="1400" b="1" dirty="0">
                <a:latin typeface="Courier New" pitchFamily="49" charset="0"/>
                <a:cs typeface="Courier New" pitchFamily="49" charset="0"/>
              </a:rPr>
              <a:t>68      return </a:t>
            </a:r>
            <a:r>
              <a:rPr lang="en-US" sz="1400" b="1" dirty="0" err="1">
                <a:latin typeface="Courier New" pitchFamily="49" charset="0"/>
                <a:cs typeface="Courier New" pitchFamily="49" charset="0"/>
              </a:rPr>
              <a:t>unionSet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defRPr/>
            </a:pPr>
            <a:r>
              <a:rPr lang="en-US" sz="1400" b="1" dirty="0">
                <a:latin typeface="Courier New" pitchFamily="49" charset="0"/>
                <a:cs typeface="Courier New" pitchFamily="49" charset="0"/>
              </a:rPr>
              <a:t>69     }</a:t>
            </a:r>
          </a:p>
          <a:p>
            <a:pPr marL="342900" indent="-342900">
              <a:buFontTx/>
              <a:buAutoNum type="arabicPlain" startAt="18"/>
              <a:defRPr/>
            </a:pPr>
            <a:endParaRPr lang="en-US" sz="1400" b="1" dirty="0"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Implementation File for a Set Template Class (4 of 4)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17-</a:t>
            </a:r>
            <a:fld id="{5C2EC31B-707B-4664-8513-A718948AB219}" type="slidenum">
              <a:rPr lang="en-US" smtClean="0"/>
              <a:pPr>
                <a:defRPr/>
              </a:pPr>
              <a:t>61</a:t>
            </a:fld>
            <a:endParaRPr lang="en-US"/>
          </a:p>
        </p:txBody>
      </p:sp>
      <p:sp>
        <p:nvSpPr>
          <p:cNvPr id="137219" name="Footer Placeholder 4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33400" y="1828800"/>
            <a:ext cx="6778625" cy="3708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1400" b="1" dirty="0">
                <a:latin typeface="Courier New" pitchFamily="49" charset="0"/>
                <a:cs typeface="Courier New" pitchFamily="49" charset="0"/>
              </a:rPr>
              <a:t>70     template&lt;class T&gt;</a:t>
            </a:r>
          </a:p>
          <a:p>
            <a:pPr>
              <a:defRPr/>
            </a:pPr>
            <a:r>
              <a:rPr lang="en-US" sz="1400" b="1" dirty="0">
                <a:latin typeface="Courier New" pitchFamily="49" charset="0"/>
                <a:cs typeface="Courier New" pitchFamily="49" charset="0"/>
              </a:rPr>
              <a:t>71     Set&lt;T&gt;* Set&lt;T&gt;::</a:t>
            </a:r>
            <a:r>
              <a:rPr lang="en-US" sz="1400" b="1" dirty="0" err="1">
                <a:latin typeface="Courier New" pitchFamily="49" charset="0"/>
                <a:cs typeface="Courier New" pitchFamily="49" charset="0"/>
              </a:rPr>
              <a:t>setIntersection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(const Set&lt;T&gt;&amp; </a:t>
            </a:r>
            <a:r>
              <a:rPr lang="en-US" sz="1400" b="1" dirty="0" err="1">
                <a:latin typeface="Courier New" pitchFamily="49" charset="0"/>
                <a:cs typeface="Courier New" pitchFamily="49" charset="0"/>
              </a:rPr>
              <a:t>otherSet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)</a:t>
            </a:r>
          </a:p>
          <a:p>
            <a:pPr>
              <a:defRPr/>
            </a:pPr>
            <a:r>
              <a:rPr lang="en-US" sz="1400" b="1" dirty="0">
                <a:latin typeface="Courier New" pitchFamily="49" charset="0"/>
                <a:cs typeface="Courier New" pitchFamily="49" charset="0"/>
              </a:rPr>
              <a:t>72     {</a:t>
            </a:r>
          </a:p>
          <a:p>
            <a:pPr>
              <a:defRPr/>
            </a:pPr>
            <a:r>
              <a:rPr lang="en-US" sz="1400" b="1" dirty="0">
                <a:latin typeface="Courier New" pitchFamily="49" charset="0"/>
                <a:cs typeface="Courier New" pitchFamily="49" charset="0"/>
              </a:rPr>
              <a:t>73      Set&lt;T&gt; *</a:t>
            </a:r>
            <a:r>
              <a:rPr lang="en-US" sz="1400" b="1" dirty="0" err="1">
                <a:latin typeface="Courier New" pitchFamily="49" charset="0"/>
                <a:cs typeface="Courier New" pitchFamily="49" charset="0"/>
              </a:rPr>
              <a:t>interSet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 = new Set&lt;T&gt;();</a:t>
            </a:r>
          </a:p>
          <a:p>
            <a:pPr>
              <a:defRPr/>
            </a:pPr>
            <a:r>
              <a:rPr lang="en-US" sz="1400" b="1" dirty="0">
                <a:latin typeface="Courier New" pitchFamily="49" charset="0"/>
                <a:cs typeface="Courier New" pitchFamily="49" charset="0"/>
              </a:rPr>
              <a:t>74      Node&lt;T&gt;* </a:t>
            </a:r>
            <a:r>
              <a:rPr lang="en-US" sz="1400" b="1" dirty="0" err="1">
                <a:latin typeface="Courier New" pitchFamily="49" charset="0"/>
                <a:cs typeface="Courier New" pitchFamily="49" charset="0"/>
              </a:rPr>
              <a:t>iterator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 = head;</a:t>
            </a:r>
          </a:p>
          <a:p>
            <a:pPr>
              <a:defRPr/>
            </a:pPr>
            <a:r>
              <a:rPr lang="en-US" sz="1400" b="1" dirty="0">
                <a:latin typeface="Courier New" pitchFamily="49" charset="0"/>
                <a:cs typeface="Courier New" pitchFamily="49" charset="0"/>
              </a:rPr>
              <a:t>75      while (</a:t>
            </a:r>
            <a:r>
              <a:rPr lang="en-US" sz="1400" b="1" dirty="0" err="1">
                <a:latin typeface="Courier New" pitchFamily="49" charset="0"/>
                <a:cs typeface="Courier New" pitchFamily="49" charset="0"/>
              </a:rPr>
              <a:t>iterator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 != NULL)</a:t>
            </a:r>
          </a:p>
          <a:p>
            <a:pPr>
              <a:defRPr/>
            </a:pPr>
            <a:r>
              <a:rPr lang="en-US" sz="1400" b="1" dirty="0">
                <a:latin typeface="Courier New" pitchFamily="49" charset="0"/>
                <a:cs typeface="Courier New" pitchFamily="49" charset="0"/>
              </a:rPr>
              <a:t>76      {</a:t>
            </a:r>
          </a:p>
          <a:p>
            <a:pPr>
              <a:defRPr/>
            </a:pPr>
            <a:r>
              <a:rPr lang="en-US" sz="1400" b="1" dirty="0">
                <a:latin typeface="Courier New" pitchFamily="49" charset="0"/>
                <a:cs typeface="Courier New" pitchFamily="49" charset="0"/>
              </a:rPr>
              <a:t>77         if (</a:t>
            </a:r>
            <a:r>
              <a:rPr lang="en-US" sz="1400" b="1" dirty="0" err="1">
                <a:latin typeface="Courier New" pitchFamily="49" charset="0"/>
                <a:cs typeface="Courier New" pitchFamily="49" charset="0"/>
              </a:rPr>
              <a:t>otherSet.contains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400" b="1" dirty="0" err="1">
                <a:latin typeface="Courier New" pitchFamily="49" charset="0"/>
                <a:cs typeface="Courier New" pitchFamily="49" charset="0"/>
              </a:rPr>
              <a:t>iterator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-&gt;</a:t>
            </a:r>
            <a:r>
              <a:rPr lang="en-US" sz="1400" b="1" dirty="0" err="1">
                <a:latin typeface="Courier New" pitchFamily="49" charset="0"/>
                <a:cs typeface="Courier New" pitchFamily="49" charset="0"/>
              </a:rPr>
              <a:t>getData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( )))</a:t>
            </a:r>
          </a:p>
          <a:p>
            <a:pPr>
              <a:defRPr/>
            </a:pPr>
            <a:r>
              <a:rPr lang="en-US" sz="1400" b="1" dirty="0">
                <a:latin typeface="Courier New" pitchFamily="49" charset="0"/>
                <a:cs typeface="Courier New" pitchFamily="49" charset="0"/>
              </a:rPr>
              <a:t>78         {</a:t>
            </a:r>
          </a:p>
          <a:p>
            <a:pPr>
              <a:defRPr/>
            </a:pPr>
            <a:r>
              <a:rPr lang="en-US" sz="1400" b="1" dirty="0">
                <a:latin typeface="Courier New" pitchFamily="49" charset="0"/>
                <a:cs typeface="Courier New" pitchFamily="49" charset="0"/>
              </a:rPr>
              <a:t>79          </a:t>
            </a:r>
            <a:r>
              <a:rPr lang="en-US" sz="1400" b="1" dirty="0" err="1">
                <a:latin typeface="Courier New" pitchFamily="49" charset="0"/>
                <a:cs typeface="Courier New" pitchFamily="49" charset="0"/>
              </a:rPr>
              <a:t>interSet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-&gt;add(</a:t>
            </a:r>
            <a:r>
              <a:rPr lang="en-US" sz="1400" b="1" dirty="0" err="1">
                <a:latin typeface="Courier New" pitchFamily="49" charset="0"/>
                <a:cs typeface="Courier New" pitchFamily="49" charset="0"/>
              </a:rPr>
              <a:t>iterator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-&gt;</a:t>
            </a:r>
            <a:r>
              <a:rPr lang="en-US" sz="1400" b="1" dirty="0" err="1">
                <a:latin typeface="Courier New" pitchFamily="49" charset="0"/>
                <a:cs typeface="Courier New" pitchFamily="49" charset="0"/>
              </a:rPr>
              <a:t>getData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( ));</a:t>
            </a:r>
          </a:p>
          <a:p>
            <a:pPr>
              <a:defRPr/>
            </a:pPr>
            <a:r>
              <a:rPr lang="en-US" sz="1400" b="1" dirty="0">
                <a:latin typeface="Courier New" pitchFamily="49" charset="0"/>
                <a:cs typeface="Courier New" pitchFamily="49" charset="0"/>
              </a:rPr>
              <a:t>80         }</a:t>
            </a:r>
          </a:p>
          <a:p>
            <a:pPr>
              <a:defRPr/>
            </a:pPr>
            <a:r>
              <a:rPr lang="en-US" sz="1400" b="1" dirty="0">
                <a:latin typeface="Courier New" pitchFamily="49" charset="0"/>
                <a:cs typeface="Courier New" pitchFamily="49" charset="0"/>
              </a:rPr>
              <a:t>81         </a:t>
            </a:r>
            <a:r>
              <a:rPr lang="en-US" sz="1400" b="1" dirty="0" err="1">
                <a:latin typeface="Courier New" pitchFamily="49" charset="0"/>
                <a:cs typeface="Courier New" pitchFamily="49" charset="0"/>
              </a:rPr>
              <a:t>iterator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sz="1400" b="1" dirty="0" err="1">
                <a:latin typeface="Courier New" pitchFamily="49" charset="0"/>
                <a:cs typeface="Courier New" pitchFamily="49" charset="0"/>
              </a:rPr>
              <a:t>iterator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-&gt;</a:t>
            </a:r>
            <a:r>
              <a:rPr lang="en-US" sz="1400" b="1" dirty="0" err="1">
                <a:latin typeface="Courier New" pitchFamily="49" charset="0"/>
                <a:cs typeface="Courier New" pitchFamily="49" charset="0"/>
              </a:rPr>
              <a:t>getLink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( );</a:t>
            </a:r>
          </a:p>
          <a:p>
            <a:pPr>
              <a:defRPr/>
            </a:pPr>
            <a:r>
              <a:rPr lang="en-US" sz="1400" b="1" dirty="0">
                <a:latin typeface="Courier New" pitchFamily="49" charset="0"/>
                <a:cs typeface="Courier New" pitchFamily="49" charset="0"/>
              </a:rPr>
              <a:t>82      }</a:t>
            </a:r>
          </a:p>
          <a:p>
            <a:pPr>
              <a:defRPr/>
            </a:pPr>
            <a:r>
              <a:rPr lang="en-US" sz="1400" b="1" dirty="0">
                <a:latin typeface="Courier New" pitchFamily="49" charset="0"/>
                <a:cs typeface="Courier New" pitchFamily="49" charset="0"/>
              </a:rPr>
              <a:t>83      return </a:t>
            </a:r>
            <a:r>
              <a:rPr lang="en-US" sz="1400" b="1" dirty="0" err="1">
                <a:latin typeface="Courier New" pitchFamily="49" charset="0"/>
                <a:cs typeface="Courier New" pitchFamily="49" charset="0"/>
              </a:rPr>
              <a:t>interSet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defRPr/>
            </a:pPr>
            <a:r>
              <a:rPr lang="en-US" sz="1400" b="1" dirty="0">
                <a:latin typeface="Courier New" pitchFamily="49" charset="0"/>
                <a:cs typeface="Courier New" pitchFamily="49" charset="0"/>
              </a:rPr>
              <a:t>84     }</a:t>
            </a:r>
          </a:p>
          <a:p>
            <a:pPr>
              <a:defRPr/>
            </a:pPr>
            <a:r>
              <a:rPr lang="en-US" sz="1400" b="1" dirty="0">
                <a:latin typeface="Courier New" pitchFamily="49" charset="0"/>
                <a:cs typeface="Courier New" pitchFamily="49" charset="0"/>
              </a:rPr>
              <a:t>85  } // </a:t>
            </a:r>
            <a:r>
              <a:rPr lang="en-US" sz="1400" b="1" dirty="0" err="1">
                <a:latin typeface="Courier New" pitchFamily="49" charset="0"/>
                <a:cs typeface="Courier New" pitchFamily="49" charset="0"/>
              </a:rPr>
              <a:t>SetSavitch</a:t>
            </a:r>
            <a:endParaRPr lang="en-US" sz="1400" b="1" dirty="0">
              <a:latin typeface="Courier New" pitchFamily="49" charset="0"/>
              <a:cs typeface="Courier New" pitchFamily="49" charset="0"/>
            </a:endParaRPr>
          </a:p>
          <a:p>
            <a:pPr marL="342900" indent="-342900">
              <a:buFontTx/>
              <a:buAutoNum type="arabicPlain" startAt="18"/>
              <a:defRPr/>
            </a:pPr>
            <a:endParaRPr lang="en-US" sz="1400" b="1" dirty="0"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6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Set Demonstration (1 of 3)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17-</a:t>
            </a:r>
            <a:fld id="{DF359AE1-C70B-4E9C-B644-7FB82907000F}" type="slidenum">
              <a:rPr lang="en-US" smtClean="0"/>
              <a:pPr>
                <a:defRPr/>
              </a:pPr>
              <a:t>62</a:t>
            </a:fld>
            <a:endParaRPr lang="en-US"/>
          </a:p>
        </p:txBody>
      </p:sp>
      <p:sp>
        <p:nvSpPr>
          <p:cNvPr id="139267" name="Footer Placeholder 4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57200" y="1163638"/>
            <a:ext cx="6459538" cy="51974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1400" b="1" dirty="0">
                <a:latin typeface="Courier New" pitchFamily="49" charset="0"/>
                <a:cs typeface="Courier New" pitchFamily="49" charset="0"/>
              </a:rPr>
              <a:t> 1  // Program to demonstrate use of the Set class</a:t>
            </a:r>
          </a:p>
          <a:p>
            <a:pPr>
              <a:defRPr/>
            </a:pPr>
            <a:r>
              <a:rPr lang="en-US" sz="1400" b="1" dirty="0">
                <a:latin typeface="Courier New" pitchFamily="49" charset="0"/>
                <a:cs typeface="Courier New" pitchFamily="49" charset="0"/>
              </a:rPr>
              <a:t> 2  #include &lt;</a:t>
            </a:r>
            <a:r>
              <a:rPr lang="en-US" sz="1400" b="1" dirty="0" err="1">
                <a:latin typeface="Courier New" pitchFamily="49" charset="0"/>
                <a:cs typeface="Courier New" pitchFamily="49" charset="0"/>
              </a:rPr>
              <a:t>iostream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>
              <a:defRPr/>
            </a:pPr>
            <a:r>
              <a:rPr lang="en-US" sz="1400" b="1" dirty="0">
                <a:latin typeface="Courier New" pitchFamily="49" charset="0"/>
                <a:cs typeface="Courier New" pitchFamily="49" charset="0"/>
              </a:rPr>
              <a:t> 3  #include &lt;string&gt;</a:t>
            </a:r>
          </a:p>
          <a:p>
            <a:pPr>
              <a:defRPr/>
            </a:pPr>
            <a:r>
              <a:rPr lang="en-US" sz="1400" b="1" dirty="0">
                <a:latin typeface="Courier New" pitchFamily="49" charset="0"/>
                <a:cs typeface="Courier New" pitchFamily="49" charset="0"/>
              </a:rPr>
              <a:t> 4  #include "</a:t>
            </a:r>
            <a:r>
              <a:rPr lang="en-US" sz="1400" b="1" dirty="0" err="1">
                <a:latin typeface="Courier New" pitchFamily="49" charset="0"/>
                <a:cs typeface="Courier New" pitchFamily="49" charset="0"/>
              </a:rPr>
              <a:t>set.h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"</a:t>
            </a:r>
          </a:p>
          <a:p>
            <a:pPr>
              <a:defRPr/>
            </a:pPr>
            <a:r>
              <a:rPr lang="en-US" sz="1400" b="1" dirty="0">
                <a:latin typeface="Courier New" pitchFamily="49" charset="0"/>
                <a:cs typeface="Courier New" pitchFamily="49" charset="0"/>
              </a:rPr>
              <a:t> 5  #include "</a:t>
            </a:r>
            <a:r>
              <a:rPr lang="en-US" sz="1400" b="1" dirty="0" err="1">
                <a:latin typeface="Courier New" pitchFamily="49" charset="0"/>
                <a:cs typeface="Courier New" pitchFamily="49" charset="0"/>
              </a:rPr>
              <a:t>listtools.cpp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"</a:t>
            </a:r>
          </a:p>
          <a:p>
            <a:pPr>
              <a:defRPr/>
            </a:pPr>
            <a:r>
              <a:rPr lang="en-US" sz="1400" b="1" dirty="0">
                <a:latin typeface="Courier New" pitchFamily="49" charset="0"/>
                <a:cs typeface="Courier New" pitchFamily="49" charset="0"/>
              </a:rPr>
              <a:t> 6  #include "</a:t>
            </a:r>
            <a:r>
              <a:rPr lang="en-US" sz="1400" b="1" dirty="0" err="1">
                <a:latin typeface="Courier New" pitchFamily="49" charset="0"/>
                <a:cs typeface="Courier New" pitchFamily="49" charset="0"/>
              </a:rPr>
              <a:t>set.cpp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"</a:t>
            </a:r>
          </a:p>
          <a:p>
            <a:pPr>
              <a:defRPr/>
            </a:pPr>
            <a:r>
              <a:rPr lang="en-US" sz="1400" b="1" dirty="0">
                <a:latin typeface="Courier New" pitchFamily="49" charset="0"/>
                <a:cs typeface="Courier New" pitchFamily="49" charset="0"/>
              </a:rPr>
              <a:t> 7  using </a:t>
            </a:r>
            <a:r>
              <a:rPr lang="en-US" sz="1400" b="1" dirty="0" err="1">
                <a:latin typeface="Courier New" pitchFamily="49" charset="0"/>
                <a:cs typeface="Courier New" pitchFamily="49" charset="0"/>
              </a:rPr>
              <a:t>std::cout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defRPr/>
            </a:pPr>
            <a:r>
              <a:rPr lang="en-US" sz="1400" b="1" dirty="0">
                <a:latin typeface="Courier New" pitchFamily="49" charset="0"/>
                <a:cs typeface="Courier New" pitchFamily="49" charset="0"/>
              </a:rPr>
              <a:t> 8  using </a:t>
            </a:r>
            <a:r>
              <a:rPr lang="en-US" sz="1400" b="1" dirty="0" err="1">
                <a:latin typeface="Courier New" pitchFamily="49" charset="0"/>
                <a:cs typeface="Courier New" pitchFamily="49" charset="0"/>
              </a:rPr>
              <a:t>std::endl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defRPr/>
            </a:pPr>
            <a:r>
              <a:rPr lang="en-US" sz="1400" b="1" dirty="0">
                <a:latin typeface="Courier New" pitchFamily="49" charset="0"/>
                <a:cs typeface="Courier New" pitchFamily="49" charset="0"/>
              </a:rPr>
              <a:t> 9  using </a:t>
            </a:r>
            <a:r>
              <a:rPr lang="en-US" sz="1400" b="1" dirty="0" err="1">
                <a:latin typeface="Courier New" pitchFamily="49" charset="0"/>
                <a:cs typeface="Courier New" pitchFamily="49" charset="0"/>
              </a:rPr>
              <a:t>std::string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defRPr/>
            </a:pPr>
            <a:r>
              <a:rPr lang="en-US" sz="1400" b="1" dirty="0">
                <a:latin typeface="Courier New" pitchFamily="49" charset="0"/>
                <a:cs typeface="Courier New" pitchFamily="49" charset="0"/>
              </a:rPr>
              <a:t>10  using namespace </a:t>
            </a:r>
            <a:r>
              <a:rPr lang="en-US" sz="1400" b="1" dirty="0" err="1">
                <a:latin typeface="Courier New" pitchFamily="49" charset="0"/>
                <a:cs typeface="Courier New" pitchFamily="49" charset="0"/>
              </a:rPr>
              <a:t>SetSavitch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defRPr/>
            </a:pPr>
            <a:r>
              <a:rPr lang="en-US" sz="1400" b="1" dirty="0">
                <a:latin typeface="Courier New" pitchFamily="49" charset="0"/>
                <a:cs typeface="Courier New" pitchFamily="49" charset="0"/>
              </a:rPr>
              <a:t>11  </a:t>
            </a:r>
            <a:r>
              <a:rPr lang="en-US" sz="1400" b="1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 main()</a:t>
            </a:r>
          </a:p>
          <a:p>
            <a:pPr>
              <a:defRPr/>
            </a:pPr>
            <a:r>
              <a:rPr lang="en-US" sz="1400" b="1" dirty="0">
                <a:latin typeface="Courier New" pitchFamily="49" charset="0"/>
                <a:cs typeface="Courier New" pitchFamily="49" charset="0"/>
              </a:rPr>
              <a:t>12  {</a:t>
            </a:r>
          </a:p>
          <a:p>
            <a:pPr>
              <a:defRPr/>
            </a:pPr>
            <a:r>
              <a:rPr lang="en-US" sz="1400" b="1" dirty="0">
                <a:latin typeface="Courier New" pitchFamily="49" charset="0"/>
                <a:cs typeface="Courier New" pitchFamily="49" charset="0"/>
              </a:rPr>
              <a:t>13        Set&lt;string&gt; round;   // Round things</a:t>
            </a:r>
          </a:p>
          <a:p>
            <a:pPr>
              <a:defRPr/>
            </a:pPr>
            <a:r>
              <a:rPr lang="en-US" sz="1400" b="1" dirty="0">
                <a:latin typeface="Courier New" pitchFamily="49" charset="0"/>
                <a:cs typeface="Courier New" pitchFamily="49" charset="0"/>
              </a:rPr>
              <a:t>14        Set&lt;string&gt; green;   // Green things</a:t>
            </a:r>
          </a:p>
          <a:p>
            <a:pPr>
              <a:defRPr/>
            </a:pPr>
            <a:endParaRPr lang="en-US" sz="1400" b="1" dirty="0">
              <a:latin typeface="Courier New" pitchFamily="49" charset="0"/>
              <a:cs typeface="Courier New" pitchFamily="49" charset="0"/>
            </a:endParaRPr>
          </a:p>
          <a:p>
            <a:pPr>
              <a:defRPr/>
            </a:pPr>
            <a:r>
              <a:rPr lang="en-US" sz="1400" b="1" dirty="0">
                <a:latin typeface="Courier New" pitchFamily="49" charset="0"/>
                <a:cs typeface="Courier New" pitchFamily="49" charset="0"/>
              </a:rPr>
              <a:t>15        </a:t>
            </a:r>
            <a:r>
              <a:rPr lang="en-US" sz="1400" b="1" dirty="0" err="1">
                <a:latin typeface="Courier New" pitchFamily="49" charset="0"/>
                <a:cs typeface="Courier New" pitchFamily="49" charset="0"/>
              </a:rPr>
              <a:t>round.add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("peas");   // Sample data for both sets</a:t>
            </a:r>
          </a:p>
          <a:p>
            <a:pPr>
              <a:defRPr/>
            </a:pPr>
            <a:r>
              <a:rPr lang="en-US" sz="1400" b="1" dirty="0">
                <a:latin typeface="Courier New" pitchFamily="49" charset="0"/>
                <a:cs typeface="Courier New" pitchFamily="49" charset="0"/>
              </a:rPr>
              <a:t>16        </a:t>
            </a:r>
            <a:r>
              <a:rPr lang="en-US" sz="1400" b="1" dirty="0" err="1">
                <a:latin typeface="Courier New" pitchFamily="49" charset="0"/>
                <a:cs typeface="Courier New" pitchFamily="49" charset="0"/>
              </a:rPr>
              <a:t>round.add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("ball");</a:t>
            </a:r>
          </a:p>
          <a:p>
            <a:pPr>
              <a:defRPr/>
            </a:pPr>
            <a:r>
              <a:rPr lang="en-US" sz="1400" b="1" dirty="0">
                <a:latin typeface="Courier New" pitchFamily="49" charset="0"/>
                <a:cs typeface="Courier New" pitchFamily="49" charset="0"/>
              </a:rPr>
              <a:t>17        </a:t>
            </a:r>
            <a:r>
              <a:rPr lang="en-US" sz="1400" b="1" dirty="0" err="1">
                <a:latin typeface="Courier New" pitchFamily="49" charset="0"/>
                <a:cs typeface="Courier New" pitchFamily="49" charset="0"/>
              </a:rPr>
              <a:t>round.add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("pie");</a:t>
            </a:r>
          </a:p>
          <a:p>
            <a:pPr>
              <a:defRPr/>
            </a:pPr>
            <a:r>
              <a:rPr lang="en-US" sz="1400" b="1" dirty="0">
                <a:latin typeface="Courier New" pitchFamily="49" charset="0"/>
                <a:cs typeface="Courier New" pitchFamily="49" charset="0"/>
              </a:rPr>
              <a:t>18        </a:t>
            </a:r>
            <a:r>
              <a:rPr lang="en-US" sz="1400" b="1" dirty="0" err="1">
                <a:latin typeface="Courier New" pitchFamily="49" charset="0"/>
                <a:cs typeface="Courier New" pitchFamily="49" charset="0"/>
              </a:rPr>
              <a:t>round.add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("grapes");</a:t>
            </a:r>
          </a:p>
          <a:p>
            <a:pPr>
              <a:defRPr/>
            </a:pPr>
            <a:r>
              <a:rPr lang="en-US" sz="1400" b="1" dirty="0">
                <a:latin typeface="Courier New" pitchFamily="49" charset="0"/>
                <a:cs typeface="Courier New" pitchFamily="49" charset="0"/>
              </a:rPr>
              <a:t>19        </a:t>
            </a:r>
            <a:r>
              <a:rPr lang="en-US" sz="1400" b="1" dirty="0" err="1">
                <a:latin typeface="Courier New" pitchFamily="49" charset="0"/>
                <a:cs typeface="Courier New" pitchFamily="49" charset="0"/>
              </a:rPr>
              <a:t>green.add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("peas");</a:t>
            </a:r>
          </a:p>
          <a:p>
            <a:pPr>
              <a:defRPr/>
            </a:pPr>
            <a:r>
              <a:rPr lang="en-US" sz="1400" b="1" dirty="0">
                <a:latin typeface="Courier New" pitchFamily="49" charset="0"/>
                <a:cs typeface="Courier New" pitchFamily="49" charset="0"/>
              </a:rPr>
              <a:t>20        </a:t>
            </a:r>
            <a:r>
              <a:rPr lang="en-US" sz="1400" b="1" dirty="0" err="1">
                <a:latin typeface="Courier New" pitchFamily="49" charset="0"/>
                <a:cs typeface="Courier New" pitchFamily="49" charset="0"/>
              </a:rPr>
              <a:t>green.add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("grapes");</a:t>
            </a:r>
          </a:p>
          <a:p>
            <a:pPr>
              <a:defRPr/>
            </a:pPr>
            <a:r>
              <a:rPr lang="en-US" sz="1400" b="1" dirty="0">
                <a:latin typeface="Courier New" pitchFamily="49" charset="0"/>
                <a:cs typeface="Courier New" pitchFamily="49" charset="0"/>
              </a:rPr>
              <a:t>21        </a:t>
            </a:r>
            <a:r>
              <a:rPr lang="en-US" sz="1400" b="1" dirty="0" err="1">
                <a:latin typeface="Courier New" pitchFamily="49" charset="0"/>
                <a:cs typeface="Courier New" pitchFamily="49" charset="0"/>
              </a:rPr>
              <a:t>green.add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("garden hose");</a:t>
            </a:r>
          </a:p>
          <a:p>
            <a:pPr>
              <a:defRPr/>
            </a:pPr>
            <a:r>
              <a:rPr lang="en-US" sz="1400" b="1" dirty="0">
                <a:latin typeface="Courier New" pitchFamily="49" charset="0"/>
                <a:cs typeface="Courier New" pitchFamily="49" charset="0"/>
              </a:rPr>
              <a:t>22        </a:t>
            </a:r>
            <a:r>
              <a:rPr lang="en-US" sz="1400" b="1" dirty="0" err="1">
                <a:latin typeface="Courier New" pitchFamily="49" charset="0"/>
                <a:cs typeface="Courier New" pitchFamily="49" charset="0"/>
              </a:rPr>
              <a:t>green.add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("grass");</a:t>
            </a:r>
          </a:p>
          <a:p>
            <a:pPr marL="342900" indent="-342900">
              <a:buFontTx/>
              <a:buAutoNum type="arabicPlain" startAt="18"/>
              <a:defRPr/>
            </a:pPr>
            <a:endParaRPr lang="en-US" sz="1400" b="1" dirty="0"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Set Demonstration (2 of 3)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17-</a:t>
            </a:r>
            <a:fld id="{2D0DE1C8-3E52-48DC-9FE3-5DF902932C07}" type="slidenum">
              <a:rPr lang="en-US" smtClean="0"/>
              <a:pPr>
                <a:defRPr/>
              </a:pPr>
              <a:t>63</a:t>
            </a:fld>
            <a:endParaRPr lang="en-US"/>
          </a:p>
        </p:txBody>
      </p:sp>
      <p:sp>
        <p:nvSpPr>
          <p:cNvPr id="141315" name="Footer Placeholder 4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57200" y="1163638"/>
            <a:ext cx="7310438" cy="51974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1400" b="1" dirty="0">
                <a:latin typeface="Courier New" pitchFamily="49" charset="0"/>
                <a:cs typeface="Courier New" pitchFamily="49" charset="0"/>
              </a:rPr>
              <a:t>23        </a:t>
            </a:r>
            <a:r>
              <a:rPr lang="en-US" sz="1400" b="1" dirty="0" err="1"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 &lt;&lt; "Contents of set round: ";</a:t>
            </a:r>
          </a:p>
          <a:p>
            <a:pPr>
              <a:defRPr/>
            </a:pPr>
            <a:r>
              <a:rPr lang="en-US" sz="1400" b="1" dirty="0">
                <a:latin typeface="Courier New" pitchFamily="49" charset="0"/>
                <a:cs typeface="Courier New" pitchFamily="49" charset="0"/>
              </a:rPr>
              <a:t>24        </a:t>
            </a:r>
            <a:r>
              <a:rPr lang="en-US" sz="1400" b="1" dirty="0" err="1">
                <a:latin typeface="Courier New" pitchFamily="49" charset="0"/>
                <a:cs typeface="Courier New" pitchFamily="49" charset="0"/>
              </a:rPr>
              <a:t>round.output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();</a:t>
            </a:r>
          </a:p>
          <a:p>
            <a:pPr>
              <a:defRPr/>
            </a:pPr>
            <a:r>
              <a:rPr lang="en-US" sz="1400" b="1" dirty="0">
                <a:latin typeface="Courier New" pitchFamily="49" charset="0"/>
                <a:cs typeface="Courier New" pitchFamily="49" charset="0"/>
              </a:rPr>
              <a:t>25        </a:t>
            </a:r>
            <a:r>
              <a:rPr lang="en-US" sz="1400" b="1" dirty="0" err="1"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 &lt;&lt; "Contents of set green: ";</a:t>
            </a:r>
          </a:p>
          <a:p>
            <a:pPr>
              <a:defRPr/>
            </a:pPr>
            <a:r>
              <a:rPr lang="en-US" sz="1400" b="1" dirty="0">
                <a:latin typeface="Courier New" pitchFamily="49" charset="0"/>
                <a:cs typeface="Courier New" pitchFamily="49" charset="0"/>
              </a:rPr>
              <a:t>26        </a:t>
            </a:r>
            <a:r>
              <a:rPr lang="en-US" sz="1400" b="1" dirty="0" err="1">
                <a:latin typeface="Courier New" pitchFamily="49" charset="0"/>
                <a:cs typeface="Courier New" pitchFamily="49" charset="0"/>
              </a:rPr>
              <a:t>green.output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();</a:t>
            </a:r>
          </a:p>
          <a:p>
            <a:pPr>
              <a:defRPr/>
            </a:pPr>
            <a:endParaRPr lang="en-US" sz="1400" b="1" dirty="0">
              <a:latin typeface="Courier New" pitchFamily="49" charset="0"/>
              <a:cs typeface="Courier New" pitchFamily="49" charset="0"/>
            </a:endParaRPr>
          </a:p>
          <a:p>
            <a:pPr>
              <a:defRPr/>
            </a:pPr>
            <a:r>
              <a:rPr lang="en-US" sz="1400" b="1" dirty="0">
                <a:latin typeface="Courier New" pitchFamily="49" charset="0"/>
                <a:cs typeface="Courier New" pitchFamily="49" charset="0"/>
              </a:rPr>
              <a:t>27        </a:t>
            </a:r>
            <a:r>
              <a:rPr lang="en-US" sz="1400" b="1" dirty="0" err="1"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 &lt;&lt; "ball in set round? " &lt;&lt;</a:t>
            </a:r>
          </a:p>
          <a:p>
            <a:pPr>
              <a:defRPr/>
            </a:pPr>
            <a:r>
              <a:rPr lang="en-US" sz="1400" b="1" dirty="0">
                <a:latin typeface="Courier New" pitchFamily="49" charset="0"/>
                <a:cs typeface="Courier New" pitchFamily="49" charset="0"/>
              </a:rPr>
              <a:t>28                </a:t>
            </a:r>
            <a:r>
              <a:rPr lang="en-US" sz="1400" b="1" dirty="0" err="1">
                <a:latin typeface="Courier New" pitchFamily="49" charset="0"/>
                <a:cs typeface="Courier New" pitchFamily="49" charset="0"/>
              </a:rPr>
              <a:t>round.contains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("ball") &lt;&lt; </a:t>
            </a:r>
            <a:r>
              <a:rPr lang="en-US" sz="1400" b="1" dirty="0" err="1">
                <a:latin typeface="Courier New" pitchFamily="49" charset="0"/>
                <a:cs typeface="Courier New" pitchFamily="49" charset="0"/>
              </a:rPr>
              <a:t>endl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defRPr/>
            </a:pPr>
            <a:r>
              <a:rPr lang="en-US" sz="1400" b="1" dirty="0">
                <a:latin typeface="Courier New" pitchFamily="49" charset="0"/>
                <a:cs typeface="Courier New" pitchFamily="49" charset="0"/>
              </a:rPr>
              <a:t>29        </a:t>
            </a:r>
            <a:r>
              <a:rPr lang="en-US" sz="1400" b="1" dirty="0" err="1"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 &lt;&lt; "ball in set green? " &lt;&lt;</a:t>
            </a:r>
          </a:p>
          <a:p>
            <a:pPr>
              <a:defRPr/>
            </a:pPr>
            <a:r>
              <a:rPr lang="en-US" sz="1400" b="1" dirty="0">
                <a:latin typeface="Courier New" pitchFamily="49" charset="0"/>
                <a:cs typeface="Courier New" pitchFamily="49" charset="0"/>
              </a:rPr>
              <a:t>30                </a:t>
            </a:r>
            <a:r>
              <a:rPr lang="en-US" sz="1400" b="1" dirty="0" err="1">
                <a:latin typeface="Courier New" pitchFamily="49" charset="0"/>
                <a:cs typeface="Courier New" pitchFamily="49" charset="0"/>
              </a:rPr>
              <a:t>green.contains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("ball") &lt;&lt; </a:t>
            </a:r>
            <a:r>
              <a:rPr lang="en-US" sz="1400" b="1" dirty="0" err="1">
                <a:latin typeface="Courier New" pitchFamily="49" charset="0"/>
                <a:cs typeface="Courier New" pitchFamily="49" charset="0"/>
              </a:rPr>
              <a:t>endl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defRPr/>
            </a:pPr>
            <a:endParaRPr lang="en-US" sz="1400" b="1" dirty="0">
              <a:latin typeface="Courier New" pitchFamily="49" charset="0"/>
              <a:cs typeface="Courier New" pitchFamily="49" charset="0"/>
            </a:endParaRPr>
          </a:p>
          <a:p>
            <a:pPr>
              <a:defRPr/>
            </a:pPr>
            <a:r>
              <a:rPr lang="en-US" sz="1400" b="1" dirty="0">
                <a:latin typeface="Courier New" pitchFamily="49" charset="0"/>
                <a:cs typeface="Courier New" pitchFamily="49" charset="0"/>
              </a:rPr>
              <a:t>31        </a:t>
            </a:r>
            <a:r>
              <a:rPr lang="en-US" sz="1400" b="1" dirty="0" err="1"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 &lt;&lt; "ball and peas in same set? ";</a:t>
            </a:r>
          </a:p>
          <a:p>
            <a:pPr>
              <a:defRPr/>
            </a:pPr>
            <a:r>
              <a:rPr lang="en-US" sz="1400" b="1" dirty="0">
                <a:latin typeface="Courier New" pitchFamily="49" charset="0"/>
                <a:cs typeface="Courier New" pitchFamily="49" charset="0"/>
              </a:rPr>
              <a:t>32        if ((</a:t>
            </a:r>
            <a:r>
              <a:rPr lang="en-US" sz="1400" b="1" dirty="0" err="1">
                <a:latin typeface="Courier New" pitchFamily="49" charset="0"/>
                <a:cs typeface="Courier New" pitchFamily="49" charset="0"/>
              </a:rPr>
              <a:t>round.contains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("ball") &amp;&amp; </a:t>
            </a:r>
            <a:r>
              <a:rPr lang="en-US" sz="1400" b="1" dirty="0" err="1">
                <a:latin typeface="Courier New" pitchFamily="49" charset="0"/>
                <a:cs typeface="Courier New" pitchFamily="49" charset="0"/>
              </a:rPr>
              <a:t>round.contains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("peas")) ||</a:t>
            </a:r>
          </a:p>
          <a:p>
            <a:pPr>
              <a:defRPr/>
            </a:pPr>
            <a:r>
              <a:rPr lang="en-US" sz="1400" b="1" dirty="0">
                <a:latin typeface="Courier New" pitchFamily="49" charset="0"/>
                <a:cs typeface="Courier New" pitchFamily="49" charset="0"/>
              </a:rPr>
              <a:t>33            (</a:t>
            </a:r>
            <a:r>
              <a:rPr lang="en-US" sz="1400" b="1" dirty="0" err="1">
                <a:latin typeface="Courier New" pitchFamily="49" charset="0"/>
                <a:cs typeface="Courier New" pitchFamily="49" charset="0"/>
              </a:rPr>
              <a:t>green.contains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("ball") &amp;&amp; </a:t>
            </a:r>
            <a:r>
              <a:rPr lang="en-US" sz="1400" b="1" dirty="0" err="1">
                <a:latin typeface="Courier New" pitchFamily="49" charset="0"/>
                <a:cs typeface="Courier New" pitchFamily="49" charset="0"/>
              </a:rPr>
              <a:t>green.contains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("peas")))</a:t>
            </a:r>
          </a:p>
          <a:p>
            <a:pPr>
              <a:defRPr/>
            </a:pPr>
            <a:r>
              <a:rPr lang="en-US" sz="1400" b="1" dirty="0">
                <a:latin typeface="Courier New" pitchFamily="49" charset="0"/>
                <a:cs typeface="Courier New" pitchFamily="49" charset="0"/>
              </a:rPr>
              <a:t>34            </a:t>
            </a:r>
            <a:r>
              <a:rPr lang="en-US" sz="1400" b="1" dirty="0" err="1"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 &lt;&lt; "  true" &lt;&lt; </a:t>
            </a:r>
            <a:r>
              <a:rPr lang="en-US" sz="1400" b="1" dirty="0" err="1">
                <a:latin typeface="Courier New" pitchFamily="49" charset="0"/>
                <a:cs typeface="Courier New" pitchFamily="49" charset="0"/>
              </a:rPr>
              <a:t>endl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defRPr/>
            </a:pPr>
            <a:r>
              <a:rPr lang="en-US" sz="1400" b="1" dirty="0">
                <a:latin typeface="Courier New" pitchFamily="49" charset="0"/>
                <a:cs typeface="Courier New" pitchFamily="49" charset="0"/>
              </a:rPr>
              <a:t>35        else</a:t>
            </a:r>
          </a:p>
          <a:p>
            <a:pPr>
              <a:defRPr/>
            </a:pPr>
            <a:r>
              <a:rPr lang="en-US" sz="1400" b="1" dirty="0">
                <a:latin typeface="Courier New" pitchFamily="49" charset="0"/>
                <a:cs typeface="Courier New" pitchFamily="49" charset="0"/>
              </a:rPr>
              <a:t>36            </a:t>
            </a:r>
            <a:r>
              <a:rPr lang="en-US" sz="1400" b="1" dirty="0" err="1"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 &lt;&lt; "  false" &lt;&lt; </a:t>
            </a:r>
            <a:r>
              <a:rPr lang="en-US" sz="1400" b="1" dirty="0" err="1">
                <a:latin typeface="Courier New" pitchFamily="49" charset="0"/>
                <a:cs typeface="Courier New" pitchFamily="49" charset="0"/>
              </a:rPr>
              <a:t>endl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defRPr/>
            </a:pPr>
            <a:endParaRPr lang="en-US" sz="1400" b="1" dirty="0">
              <a:latin typeface="Courier New" pitchFamily="49" charset="0"/>
              <a:cs typeface="Courier New" pitchFamily="49" charset="0"/>
            </a:endParaRPr>
          </a:p>
          <a:p>
            <a:pPr>
              <a:defRPr/>
            </a:pPr>
            <a:r>
              <a:rPr lang="en-US" sz="1400" b="1" dirty="0">
                <a:latin typeface="Courier New" pitchFamily="49" charset="0"/>
                <a:cs typeface="Courier New" pitchFamily="49" charset="0"/>
              </a:rPr>
              <a:t>37        </a:t>
            </a:r>
            <a:r>
              <a:rPr lang="en-US" sz="1400" b="1" dirty="0" err="1"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 &lt;&lt; "pie and grass in same set? ";</a:t>
            </a:r>
          </a:p>
          <a:p>
            <a:pPr>
              <a:defRPr/>
            </a:pPr>
            <a:r>
              <a:rPr lang="en-US" sz="1400" b="1" dirty="0">
                <a:latin typeface="Courier New" pitchFamily="49" charset="0"/>
                <a:cs typeface="Courier New" pitchFamily="49" charset="0"/>
              </a:rPr>
              <a:t>38        if ((</a:t>
            </a:r>
            <a:r>
              <a:rPr lang="en-US" sz="1400" b="1" dirty="0" err="1">
                <a:latin typeface="Courier New" pitchFamily="49" charset="0"/>
                <a:cs typeface="Courier New" pitchFamily="49" charset="0"/>
              </a:rPr>
              <a:t>round.contains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("pie") &amp;&amp; </a:t>
            </a:r>
            <a:r>
              <a:rPr lang="en-US" sz="1400" b="1" dirty="0" err="1">
                <a:latin typeface="Courier New" pitchFamily="49" charset="0"/>
                <a:cs typeface="Courier New" pitchFamily="49" charset="0"/>
              </a:rPr>
              <a:t>round.contains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("grass")) ||</a:t>
            </a:r>
          </a:p>
          <a:p>
            <a:pPr>
              <a:defRPr/>
            </a:pPr>
            <a:r>
              <a:rPr lang="en-US" sz="1400" b="1" dirty="0">
                <a:latin typeface="Courier New" pitchFamily="49" charset="0"/>
                <a:cs typeface="Courier New" pitchFamily="49" charset="0"/>
              </a:rPr>
              <a:t>39            (</a:t>
            </a:r>
            <a:r>
              <a:rPr lang="en-US" sz="1400" b="1" dirty="0" err="1">
                <a:latin typeface="Courier New" pitchFamily="49" charset="0"/>
                <a:cs typeface="Courier New" pitchFamily="49" charset="0"/>
              </a:rPr>
              <a:t>green.contains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("pie") &amp;&amp; </a:t>
            </a:r>
            <a:r>
              <a:rPr lang="en-US" sz="1400" b="1" dirty="0" err="1">
                <a:latin typeface="Courier New" pitchFamily="49" charset="0"/>
                <a:cs typeface="Courier New" pitchFamily="49" charset="0"/>
              </a:rPr>
              <a:t>green.contains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("grass")))</a:t>
            </a:r>
          </a:p>
          <a:p>
            <a:pPr>
              <a:defRPr/>
            </a:pPr>
            <a:r>
              <a:rPr lang="en-US" sz="1400" b="1" dirty="0">
                <a:latin typeface="Courier New" pitchFamily="49" charset="0"/>
                <a:cs typeface="Courier New" pitchFamily="49" charset="0"/>
              </a:rPr>
              <a:t>40            </a:t>
            </a:r>
            <a:r>
              <a:rPr lang="en-US" sz="1400" b="1" dirty="0" err="1"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 &lt;&lt; "  true" &lt;&lt; </a:t>
            </a:r>
            <a:r>
              <a:rPr lang="en-US" sz="1400" b="1" dirty="0" err="1">
                <a:latin typeface="Courier New" pitchFamily="49" charset="0"/>
                <a:cs typeface="Courier New" pitchFamily="49" charset="0"/>
              </a:rPr>
              <a:t>endl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defRPr/>
            </a:pPr>
            <a:r>
              <a:rPr lang="en-US" sz="1400" b="1" dirty="0">
                <a:latin typeface="Courier New" pitchFamily="49" charset="0"/>
                <a:cs typeface="Courier New" pitchFamily="49" charset="0"/>
              </a:rPr>
              <a:t>41        else</a:t>
            </a:r>
          </a:p>
          <a:p>
            <a:pPr>
              <a:defRPr/>
            </a:pPr>
            <a:r>
              <a:rPr lang="en-US" sz="1400" b="1" dirty="0">
                <a:latin typeface="Courier New" pitchFamily="49" charset="0"/>
                <a:cs typeface="Courier New" pitchFamily="49" charset="0"/>
              </a:rPr>
              <a:t>42            </a:t>
            </a:r>
            <a:r>
              <a:rPr lang="en-US" sz="1400" b="1" dirty="0" err="1"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 &lt;&lt; "  false" &lt;&lt; </a:t>
            </a:r>
            <a:r>
              <a:rPr lang="en-US" sz="1400" b="1" dirty="0" err="1">
                <a:latin typeface="Courier New" pitchFamily="49" charset="0"/>
                <a:cs typeface="Courier New" pitchFamily="49" charset="0"/>
              </a:rPr>
              <a:t>endl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 marL="342900" indent="-342900">
              <a:buFontTx/>
              <a:buAutoNum type="arabicPlain" startAt="18"/>
              <a:defRPr/>
            </a:pPr>
            <a:endParaRPr lang="en-US" sz="1400" b="1" dirty="0"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1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pPr eaLnBrk="1" hangingPunct="1"/>
            <a:r>
              <a:rPr lang="en-US" smtClean="0"/>
              <a:t>Set Demonstration (3 of 3)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17-</a:t>
            </a:r>
            <a:fld id="{103105AA-AE6E-4201-A742-85567366F128}" type="slidenum">
              <a:rPr lang="en-US" smtClean="0"/>
              <a:pPr>
                <a:defRPr/>
              </a:pPr>
              <a:t>64</a:t>
            </a:fld>
            <a:endParaRPr lang="en-US"/>
          </a:p>
        </p:txBody>
      </p:sp>
      <p:sp>
        <p:nvSpPr>
          <p:cNvPr id="143363" name="Footer Placeholder 4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57200" y="889000"/>
            <a:ext cx="6884988" cy="30702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1400" b="1" dirty="0">
                <a:latin typeface="Courier New" pitchFamily="49" charset="0"/>
                <a:cs typeface="Courier New" pitchFamily="49" charset="0"/>
              </a:rPr>
              <a:t>43        </a:t>
            </a:r>
            <a:r>
              <a:rPr lang="en-US" sz="1400" b="1" dirty="0" err="1"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 &lt;&lt; "Union of green and round: " &lt;&lt; </a:t>
            </a:r>
            <a:r>
              <a:rPr lang="en-US" sz="1400" b="1" dirty="0" err="1">
                <a:latin typeface="Courier New" pitchFamily="49" charset="0"/>
                <a:cs typeface="Courier New" pitchFamily="49" charset="0"/>
              </a:rPr>
              <a:t>endl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defRPr/>
            </a:pPr>
            <a:r>
              <a:rPr lang="en-US" sz="1400" b="1" dirty="0">
                <a:latin typeface="Courier New" pitchFamily="49" charset="0"/>
                <a:cs typeface="Courier New" pitchFamily="49" charset="0"/>
              </a:rPr>
              <a:t>44        Set&lt;string&gt; *</a:t>
            </a:r>
            <a:r>
              <a:rPr lang="en-US" sz="1400" b="1" dirty="0" err="1">
                <a:latin typeface="Courier New" pitchFamily="49" charset="0"/>
                <a:cs typeface="Courier New" pitchFamily="49" charset="0"/>
              </a:rPr>
              <a:t>unionset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sz="1400" b="1" dirty="0" err="1">
                <a:latin typeface="Courier New" pitchFamily="49" charset="0"/>
                <a:cs typeface="Courier New" pitchFamily="49" charset="0"/>
              </a:rPr>
              <a:t>round.setUnion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(green);</a:t>
            </a:r>
          </a:p>
          <a:p>
            <a:pPr>
              <a:defRPr/>
            </a:pPr>
            <a:r>
              <a:rPr lang="en-US" sz="1400" b="1" dirty="0">
                <a:latin typeface="Courier New" pitchFamily="49" charset="0"/>
                <a:cs typeface="Courier New" pitchFamily="49" charset="0"/>
              </a:rPr>
              <a:t>45        </a:t>
            </a:r>
            <a:r>
              <a:rPr lang="en-US" sz="1400" b="1" dirty="0" err="1">
                <a:latin typeface="Courier New" pitchFamily="49" charset="0"/>
                <a:cs typeface="Courier New" pitchFamily="49" charset="0"/>
              </a:rPr>
              <a:t>unionset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-&gt;output();</a:t>
            </a:r>
          </a:p>
          <a:p>
            <a:pPr>
              <a:defRPr/>
            </a:pPr>
            <a:r>
              <a:rPr lang="en-US" sz="1400" b="1" dirty="0">
                <a:latin typeface="Courier New" pitchFamily="49" charset="0"/>
                <a:cs typeface="Courier New" pitchFamily="49" charset="0"/>
              </a:rPr>
              <a:t>46        delete </a:t>
            </a:r>
            <a:r>
              <a:rPr lang="en-US" sz="1400" b="1" dirty="0" err="1">
                <a:latin typeface="Courier New" pitchFamily="49" charset="0"/>
                <a:cs typeface="Courier New" pitchFamily="49" charset="0"/>
              </a:rPr>
              <a:t>unionset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defRPr/>
            </a:pPr>
            <a:endParaRPr lang="en-US" sz="1400" b="1" dirty="0">
              <a:latin typeface="Courier New" pitchFamily="49" charset="0"/>
              <a:cs typeface="Courier New" pitchFamily="49" charset="0"/>
            </a:endParaRPr>
          </a:p>
          <a:p>
            <a:pPr>
              <a:defRPr/>
            </a:pPr>
            <a:r>
              <a:rPr lang="en-US" sz="1400" b="1" dirty="0">
                <a:latin typeface="Courier New" pitchFamily="49" charset="0"/>
                <a:cs typeface="Courier New" pitchFamily="49" charset="0"/>
              </a:rPr>
              <a:t>47        </a:t>
            </a:r>
            <a:r>
              <a:rPr lang="en-US" sz="1400" b="1" dirty="0" err="1"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 &lt;&lt; "Intersection of green and round: " &lt;&lt; </a:t>
            </a:r>
            <a:r>
              <a:rPr lang="en-US" sz="1400" b="1" dirty="0" err="1">
                <a:latin typeface="Courier New" pitchFamily="49" charset="0"/>
                <a:cs typeface="Courier New" pitchFamily="49" charset="0"/>
              </a:rPr>
              <a:t>endl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defRPr/>
            </a:pPr>
            <a:r>
              <a:rPr lang="en-US" sz="1400" b="1" dirty="0">
                <a:latin typeface="Courier New" pitchFamily="49" charset="0"/>
                <a:cs typeface="Courier New" pitchFamily="49" charset="0"/>
              </a:rPr>
              <a:t>48        Set&lt;string&gt; *</a:t>
            </a:r>
            <a:r>
              <a:rPr lang="en-US" sz="1400" b="1" dirty="0" err="1">
                <a:latin typeface="Courier New" pitchFamily="49" charset="0"/>
                <a:cs typeface="Courier New" pitchFamily="49" charset="0"/>
              </a:rPr>
              <a:t>interset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sz="1400" b="1" dirty="0" err="1">
                <a:latin typeface="Courier New" pitchFamily="49" charset="0"/>
                <a:cs typeface="Courier New" pitchFamily="49" charset="0"/>
              </a:rPr>
              <a:t>round.setIntersection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(green);</a:t>
            </a:r>
          </a:p>
          <a:p>
            <a:pPr>
              <a:defRPr/>
            </a:pPr>
            <a:r>
              <a:rPr lang="en-US" sz="1400" b="1" dirty="0">
                <a:latin typeface="Courier New" pitchFamily="49" charset="0"/>
                <a:cs typeface="Courier New" pitchFamily="49" charset="0"/>
              </a:rPr>
              <a:t>49        </a:t>
            </a:r>
            <a:r>
              <a:rPr lang="en-US" sz="1400" b="1" dirty="0" err="1">
                <a:latin typeface="Courier New" pitchFamily="49" charset="0"/>
                <a:cs typeface="Courier New" pitchFamily="49" charset="0"/>
              </a:rPr>
              <a:t>interset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-&gt;output();</a:t>
            </a:r>
          </a:p>
          <a:p>
            <a:pPr>
              <a:defRPr/>
            </a:pPr>
            <a:r>
              <a:rPr lang="en-US" sz="1400" b="1" dirty="0">
                <a:latin typeface="Courier New" pitchFamily="49" charset="0"/>
                <a:cs typeface="Courier New" pitchFamily="49" charset="0"/>
              </a:rPr>
              <a:t>50        delete </a:t>
            </a:r>
            <a:r>
              <a:rPr lang="en-US" sz="1400" b="1" dirty="0" err="1">
                <a:latin typeface="Courier New" pitchFamily="49" charset="0"/>
                <a:cs typeface="Courier New" pitchFamily="49" charset="0"/>
              </a:rPr>
              <a:t>interset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defRPr/>
            </a:pPr>
            <a:endParaRPr lang="en-US" sz="1400" b="1" dirty="0">
              <a:latin typeface="Courier New" pitchFamily="49" charset="0"/>
              <a:cs typeface="Courier New" pitchFamily="49" charset="0"/>
            </a:endParaRPr>
          </a:p>
          <a:p>
            <a:pPr>
              <a:defRPr/>
            </a:pPr>
            <a:r>
              <a:rPr lang="en-US" sz="1400" b="1" dirty="0">
                <a:latin typeface="Courier New" pitchFamily="49" charset="0"/>
                <a:cs typeface="Courier New" pitchFamily="49" charset="0"/>
              </a:rPr>
              <a:t>51        return 0;</a:t>
            </a:r>
          </a:p>
          <a:p>
            <a:pPr>
              <a:defRPr/>
            </a:pPr>
            <a:r>
              <a:rPr lang="en-US" sz="1400" b="1" dirty="0">
                <a:latin typeface="Courier New" pitchFamily="49" charset="0"/>
                <a:cs typeface="Courier New" pitchFamily="49" charset="0"/>
              </a:rPr>
              <a:t>52   }</a:t>
            </a:r>
          </a:p>
          <a:p>
            <a:pPr>
              <a:defRPr/>
            </a:pPr>
            <a:endParaRPr lang="en-US" sz="1400" b="1" dirty="0">
              <a:latin typeface="Courier New" pitchFamily="49" charset="0"/>
              <a:cs typeface="Courier New" pitchFamily="49" charset="0"/>
            </a:endParaRPr>
          </a:p>
          <a:p>
            <a:pPr marL="342900" indent="-342900">
              <a:buFontTx/>
              <a:buAutoNum type="arabicPlain" startAt="18"/>
              <a:defRPr/>
            </a:pPr>
            <a:endParaRPr lang="en-US" sz="1400" b="1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43365" name="Rectangle 6"/>
          <p:cNvSpPr>
            <a:spLocks noChangeArrowheads="1"/>
          </p:cNvSpPr>
          <p:nvPr/>
        </p:nvSpPr>
        <p:spPr bwMode="auto">
          <a:xfrm>
            <a:off x="457200" y="3657600"/>
            <a:ext cx="5867400" cy="2463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600" b="1">
                <a:latin typeface="Courier New" pitchFamily="49" charset="0"/>
                <a:cs typeface="Courier New" pitchFamily="49" charset="0"/>
              </a:rPr>
              <a:t>SAMPLE DIALOGUE</a:t>
            </a:r>
          </a:p>
          <a:p>
            <a:r>
              <a:rPr lang="en-US" sz="1400" b="1">
                <a:latin typeface="Courier New" pitchFamily="49" charset="0"/>
                <a:cs typeface="Courier New" pitchFamily="49" charset="0"/>
              </a:rPr>
              <a:t>Contents of set round: grapes pie ball peas</a:t>
            </a:r>
          </a:p>
          <a:p>
            <a:r>
              <a:rPr lang="en-US" sz="1400" b="1">
                <a:latin typeface="Courier New" pitchFamily="49" charset="0"/>
                <a:cs typeface="Courier New" pitchFamily="49" charset="0"/>
              </a:rPr>
              <a:t>Contents of set green: grass garden hose grapes peas</a:t>
            </a:r>
          </a:p>
          <a:p>
            <a:r>
              <a:rPr lang="en-US" sz="1400" b="1">
                <a:latin typeface="Courier New" pitchFamily="49" charset="0"/>
                <a:cs typeface="Courier New" pitchFamily="49" charset="0"/>
              </a:rPr>
              <a:t>ball in set round? 1</a:t>
            </a:r>
          </a:p>
          <a:p>
            <a:r>
              <a:rPr lang="en-US" sz="1400" b="1">
                <a:latin typeface="Courier New" pitchFamily="49" charset="0"/>
                <a:cs typeface="Courier New" pitchFamily="49" charset="0"/>
              </a:rPr>
              <a:t>ball in set green? 0</a:t>
            </a:r>
          </a:p>
          <a:p>
            <a:r>
              <a:rPr lang="en-US" sz="1400" b="1">
                <a:latin typeface="Courier New" pitchFamily="49" charset="0"/>
                <a:cs typeface="Courier New" pitchFamily="49" charset="0"/>
              </a:rPr>
              <a:t>ball and peas in same set?   true</a:t>
            </a:r>
          </a:p>
          <a:p>
            <a:r>
              <a:rPr lang="en-US" sz="1400" b="1">
                <a:latin typeface="Courier New" pitchFamily="49" charset="0"/>
                <a:cs typeface="Courier New" pitchFamily="49" charset="0"/>
              </a:rPr>
              <a:t>pie and grass in same set?   false</a:t>
            </a:r>
          </a:p>
          <a:p>
            <a:r>
              <a:rPr lang="en-US" sz="1400" b="1">
                <a:latin typeface="Courier New" pitchFamily="49" charset="0"/>
                <a:cs typeface="Courier New" pitchFamily="49" charset="0"/>
              </a:rPr>
              <a:t>Union of green and round:</a:t>
            </a:r>
          </a:p>
          <a:p>
            <a:r>
              <a:rPr lang="en-US" sz="1400" b="1">
                <a:latin typeface="Courier New" pitchFamily="49" charset="0"/>
                <a:cs typeface="Courier New" pitchFamily="49" charset="0"/>
              </a:rPr>
              <a:t>garden hose grass peas ball pie grapes</a:t>
            </a:r>
          </a:p>
          <a:p>
            <a:r>
              <a:rPr lang="en-US" sz="1400" b="1">
                <a:latin typeface="Courier New" pitchFamily="49" charset="0"/>
                <a:cs typeface="Courier New" pitchFamily="49" charset="0"/>
              </a:rPr>
              <a:t>Intersection of green and round:</a:t>
            </a:r>
          </a:p>
          <a:p>
            <a:r>
              <a:rPr lang="en-US" sz="1400" b="1">
                <a:latin typeface="Courier New" pitchFamily="49" charset="0"/>
                <a:cs typeface="Courier New" pitchFamily="49" charset="0"/>
              </a:rPr>
              <a:t>peas grapes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0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Friend Classes</a:t>
            </a:r>
          </a:p>
        </p:txBody>
      </p:sp>
      <p:sp>
        <p:nvSpPr>
          <p:cNvPr id="14541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800" smtClean="0"/>
              <a:t>Recall constant use of getLink and</a:t>
            </a:r>
            <a:br>
              <a:rPr lang="en-US" sz="2800" smtClean="0"/>
            </a:br>
            <a:r>
              <a:rPr lang="en-US" sz="2800" smtClean="0"/>
              <a:t>setlink accessor and mutator functions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Somewhat of a nuisance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Similar to making data public?!</a:t>
            </a:r>
          </a:p>
          <a:p>
            <a:pPr lvl="2" eaLnBrk="1" hangingPunct="1">
              <a:lnSpc>
                <a:spcPct val="90000"/>
              </a:lnSpc>
            </a:pPr>
            <a:r>
              <a:rPr lang="en-US" sz="2000" smtClean="0"/>
              <a:t>Public makes available to ALL!</a:t>
            </a:r>
          </a:p>
          <a:p>
            <a:pPr eaLnBrk="1" hangingPunct="1">
              <a:lnSpc>
                <a:spcPct val="90000"/>
              </a:lnSpc>
            </a:pPr>
            <a:r>
              <a:rPr lang="en-US" sz="2800" smtClean="0"/>
              <a:t>Use friend class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Make queue template class "friend" of node</a:t>
            </a:r>
            <a:br>
              <a:rPr lang="en-US" sz="2400" smtClean="0"/>
            </a:br>
            <a:r>
              <a:rPr lang="en-US" sz="2400" smtClean="0"/>
              <a:t>template class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All private link members directly available in</a:t>
            </a:r>
            <a:br>
              <a:rPr lang="en-US" sz="2400" smtClean="0"/>
            </a:br>
            <a:r>
              <a:rPr lang="en-US" sz="2400" smtClean="0"/>
              <a:t>member functions of queue class!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17-</a:t>
            </a:r>
            <a:fld id="{3348D6A0-240D-4758-A4B8-20543844C208}" type="slidenum">
              <a:rPr lang="en-US"/>
              <a:pPr>
                <a:defRPr/>
              </a:pPr>
              <a:t>65</a:t>
            </a:fld>
            <a:endParaRPr lang="en-US"/>
          </a:p>
        </p:txBody>
      </p:sp>
      <p:sp>
        <p:nvSpPr>
          <p:cNvPr id="145412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Forward Declaration</a:t>
            </a:r>
          </a:p>
        </p:txBody>
      </p:sp>
      <p:sp>
        <p:nvSpPr>
          <p:cNvPr id="14745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mtClean="0"/>
              <a:t>Class friendships typically require classes reference each other</a:t>
            </a:r>
          </a:p>
          <a:p>
            <a:pPr lvl="1" eaLnBrk="1" hangingPunct="1"/>
            <a:r>
              <a:rPr lang="en-US" smtClean="0"/>
              <a:t>Presents problem</a:t>
            </a:r>
          </a:p>
          <a:p>
            <a:pPr lvl="1" eaLnBrk="1" hangingPunct="1"/>
            <a:r>
              <a:rPr lang="en-US" smtClean="0"/>
              <a:t>How can "both" be declared at same time?</a:t>
            </a:r>
          </a:p>
          <a:p>
            <a:pPr eaLnBrk="1" hangingPunct="1"/>
            <a:r>
              <a:rPr lang="en-US" smtClean="0"/>
              <a:t>Requires forward declaration</a:t>
            </a:r>
          </a:p>
          <a:p>
            <a:pPr lvl="1" eaLnBrk="1" hangingPunct="1"/>
            <a:r>
              <a:rPr lang="en-US" smtClean="0"/>
              <a:t>Simple class heading given inside other:</a:t>
            </a:r>
            <a:br>
              <a:rPr lang="en-US" smtClean="0"/>
            </a:br>
            <a:r>
              <a:rPr lang="en-US" smtClean="0"/>
              <a:t>class Queue;    //Forward Dec.</a:t>
            </a:r>
          </a:p>
          <a:p>
            <a:pPr lvl="1" eaLnBrk="1" hangingPunct="1"/>
            <a:r>
              <a:rPr lang="en-US" smtClean="0"/>
              <a:t>Announces "class Queue will exist"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17-</a:t>
            </a:r>
            <a:fld id="{EA52876C-4FDB-4BD9-A6EF-0D9819BB285C}" type="slidenum">
              <a:rPr lang="en-US"/>
              <a:pPr>
                <a:defRPr/>
              </a:pPr>
              <a:t>66</a:t>
            </a:fld>
            <a:endParaRPr lang="en-US"/>
          </a:p>
        </p:txBody>
      </p:sp>
      <p:sp>
        <p:nvSpPr>
          <p:cNvPr id="147460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0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Iterators</a:t>
            </a:r>
          </a:p>
        </p:txBody>
      </p:sp>
      <p:sp>
        <p:nvSpPr>
          <p:cNvPr id="14950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mtClean="0"/>
              <a:t>Construct for cycling through data</a:t>
            </a:r>
          </a:p>
          <a:p>
            <a:pPr lvl="1" eaLnBrk="1" hangingPunct="1"/>
            <a:r>
              <a:rPr lang="en-US" smtClean="0"/>
              <a:t>Like a "traversal"</a:t>
            </a:r>
          </a:p>
          <a:p>
            <a:pPr lvl="1" eaLnBrk="1" hangingPunct="1"/>
            <a:r>
              <a:rPr lang="en-US" smtClean="0"/>
              <a:t>Allows "whatever" actions required on data</a:t>
            </a:r>
          </a:p>
          <a:p>
            <a:pPr eaLnBrk="1" hangingPunct="1"/>
            <a:r>
              <a:rPr lang="en-US" smtClean="0"/>
              <a:t>Pointers typically used as iterators</a:t>
            </a:r>
          </a:p>
          <a:p>
            <a:pPr lvl="1" eaLnBrk="1" hangingPunct="1"/>
            <a:r>
              <a:rPr lang="en-US" smtClean="0"/>
              <a:t>Seen in linked list implementation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17-</a:t>
            </a:r>
            <a:fld id="{64D974B7-EE6E-442F-B18C-B67BBD62D28E}" type="slidenum">
              <a:rPr lang="en-US"/>
              <a:pPr>
                <a:defRPr/>
              </a:pPr>
              <a:t>67</a:t>
            </a:fld>
            <a:endParaRPr lang="en-US"/>
          </a:p>
        </p:txBody>
      </p:sp>
      <p:sp>
        <p:nvSpPr>
          <p:cNvPr id="149508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Pointers as Iterators</a:t>
            </a:r>
          </a:p>
        </p:txBody>
      </p:sp>
      <p:sp>
        <p:nvSpPr>
          <p:cNvPr id="15155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z="2800" smtClean="0"/>
              <a:t>Recall: linked list: "prototypical" data structure</a:t>
            </a:r>
          </a:p>
          <a:p>
            <a:pPr eaLnBrk="1" hangingPunct="1"/>
            <a:r>
              <a:rPr lang="en-US" sz="2800" smtClean="0"/>
              <a:t>Pointer: "prototypical" example of iterator</a:t>
            </a:r>
          </a:p>
          <a:p>
            <a:pPr lvl="1" eaLnBrk="1" hangingPunct="1"/>
            <a:r>
              <a:rPr lang="en-US" sz="2400" smtClean="0"/>
              <a:t>Pointer used as iterator by moving thru</a:t>
            </a:r>
            <a:br>
              <a:rPr lang="en-US" sz="2400" smtClean="0"/>
            </a:br>
            <a:r>
              <a:rPr lang="en-US" sz="2400" smtClean="0"/>
              <a:t>linked list node by node starting at head:</a:t>
            </a:r>
          </a:p>
          <a:p>
            <a:pPr lvl="1" eaLnBrk="1" hangingPunct="1"/>
            <a:r>
              <a:rPr lang="en-US" sz="2400" smtClean="0"/>
              <a:t>Example:</a:t>
            </a:r>
            <a:br>
              <a:rPr lang="en-US" sz="2400" smtClean="0"/>
            </a:br>
            <a:r>
              <a:rPr lang="en-US" sz="2400" smtClean="0"/>
              <a:t>Node_Type *iterator;</a:t>
            </a:r>
            <a:br>
              <a:rPr lang="en-US" sz="2400" smtClean="0"/>
            </a:br>
            <a:r>
              <a:rPr lang="en-US" sz="2400" smtClean="0"/>
              <a:t>for (iterator = Head; iterator != NULL;</a:t>
            </a:r>
            <a:br>
              <a:rPr lang="en-US" sz="2400" smtClean="0"/>
            </a:br>
            <a:r>
              <a:rPr lang="en-US" sz="2400" smtClean="0"/>
              <a:t>				iterator=iterator-&gt;Link)</a:t>
            </a:r>
            <a:br>
              <a:rPr lang="en-US" sz="2400" smtClean="0"/>
            </a:br>
            <a:r>
              <a:rPr lang="en-US" sz="2400" smtClean="0"/>
              <a:t>	Do_Action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17-</a:t>
            </a:r>
            <a:fld id="{6E505792-4DAA-409C-9410-E571D1F365E1}" type="slidenum">
              <a:rPr lang="en-US"/>
              <a:pPr>
                <a:defRPr/>
              </a:pPr>
              <a:t>68</a:t>
            </a:fld>
            <a:endParaRPr lang="en-US"/>
          </a:p>
        </p:txBody>
      </p:sp>
      <p:sp>
        <p:nvSpPr>
          <p:cNvPr id="151556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Iterator Classes</a:t>
            </a:r>
          </a:p>
        </p:txBody>
      </p:sp>
      <p:sp>
        <p:nvSpPr>
          <p:cNvPr id="15360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800" smtClean="0"/>
              <a:t>More versatile than pointer</a:t>
            </a:r>
          </a:p>
          <a:p>
            <a:pPr eaLnBrk="1" hangingPunct="1">
              <a:lnSpc>
                <a:spcPct val="90000"/>
              </a:lnSpc>
            </a:pPr>
            <a:r>
              <a:rPr lang="en-US" sz="2800" smtClean="0"/>
              <a:t>Typical overloaded operators:</a:t>
            </a:r>
            <a:br>
              <a:rPr lang="en-US" sz="2800" smtClean="0"/>
            </a:br>
            <a:r>
              <a:rPr lang="en-US" sz="2800" smtClean="0"/>
              <a:t>++		advances iterator to next item</a:t>
            </a:r>
            <a:br>
              <a:rPr lang="en-US" sz="2800" smtClean="0"/>
            </a:br>
            <a:r>
              <a:rPr lang="en-US" sz="2800" smtClean="0"/>
              <a:t>--		retreats iterator to previous item</a:t>
            </a:r>
            <a:br>
              <a:rPr lang="en-US" sz="2800" smtClean="0"/>
            </a:br>
            <a:r>
              <a:rPr lang="en-US" sz="2800" smtClean="0"/>
              <a:t>==		Compares iterators</a:t>
            </a:r>
            <a:br>
              <a:rPr lang="en-US" sz="2800" smtClean="0"/>
            </a:br>
            <a:r>
              <a:rPr lang="en-US" sz="2800" smtClean="0"/>
              <a:t>!=		Compare for not equal</a:t>
            </a:r>
            <a:br>
              <a:rPr lang="en-US" sz="2800" smtClean="0"/>
            </a:br>
            <a:r>
              <a:rPr lang="en-US" sz="2800" smtClean="0"/>
              <a:t>*		Accesses one item</a:t>
            </a:r>
          </a:p>
          <a:p>
            <a:pPr eaLnBrk="1" hangingPunct="1">
              <a:lnSpc>
                <a:spcPct val="90000"/>
              </a:lnSpc>
            </a:pPr>
            <a:r>
              <a:rPr lang="en-US" sz="2800" smtClean="0"/>
              <a:t>Data structure class would have members:</a:t>
            </a:r>
            <a:br>
              <a:rPr lang="en-US" sz="2800" smtClean="0"/>
            </a:br>
            <a:r>
              <a:rPr lang="en-US" sz="2400" smtClean="0"/>
              <a:t>begin(): returns iterator to 1</a:t>
            </a:r>
            <a:r>
              <a:rPr lang="en-US" sz="2400" baseline="30000" smtClean="0"/>
              <a:t>st</a:t>
            </a:r>
            <a:r>
              <a:rPr lang="en-US" sz="2400" smtClean="0"/>
              <a:t> item in structure</a:t>
            </a:r>
            <a:br>
              <a:rPr lang="en-US" sz="2400" smtClean="0"/>
            </a:br>
            <a:r>
              <a:rPr lang="en-US" sz="2400" smtClean="0"/>
              <a:t>end(): returns iterator to test if at end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17-</a:t>
            </a:r>
            <a:fld id="{F7C35ABA-238D-43E3-ACE2-8C883BA3D004}" type="slidenum">
              <a:rPr lang="en-US"/>
              <a:pPr>
                <a:defRPr/>
              </a:pPr>
              <a:t>69</a:t>
            </a:fld>
            <a:endParaRPr lang="en-US"/>
          </a:p>
        </p:txBody>
      </p:sp>
      <p:sp>
        <p:nvSpPr>
          <p:cNvPr id="153604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4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Iterator Class Example</a:t>
            </a:r>
          </a:p>
        </p:txBody>
      </p:sp>
      <p:sp>
        <p:nvSpPr>
          <p:cNvPr id="15565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mtClean="0"/>
              <a:t>Cycle through data structure named </a:t>
            </a:r>
            <a:r>
              <a:rPr lang="en-US" i="1" smtClean="0"/>
              <a:t>ds</a:t>
            </a:r>
            <a:r>
              <a:rPr lang="en-US" smtClean="0"/>
              <a:t>: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for (i=ds.begin();i!=ds.end();i++)</a:t>
            </a:r>
            <a:br>
              <a:rPr lang="en-US" smtClean="0"/>
            </a:br>
            <a:r>
              <a:rPr lang="en-US" smtClean="0"/>
              <a:t>	process *i  //*i is current data item</a:t>
            </a:r>
            <a:br>
              <a:rPr lang="en-US" smtClean="0"/>
            </a:br>
            <a:endParaRPr lang="en-US" smtClean="0"/>
          </a:p>
          <a:p>
            <a:pPr eaLnBrk="1" hangingPunct="1"/>
            <a:r>
              <a:rPr lang="en-US" smtClean="0"/>
              <a:t>i is name of iterator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17-</a:t>
            </a:r>
            <a:fld id="{A284B1BA-7FFE-420B-A454-BFF8865DBD76}" type="slidenum">
              <a:rPr lang="en-US"/>
              <a:pPr>
                <a:defRPr/>
              </a:pPr>
              <a:t>70</a:t>
            </a:fld>
            <a:endParaRPr lang="en-US"/>
          </a:p>
        </p:txBody>
      </p:sp>
      <p:sp>
        <p:nvSpPr>
          <p:cNvPr id="155652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9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Trees Introduction</a:t>
            </a:r>
          </a:p>
        </p:txBody>
      </p:sp>
      <p:sp>
        <p:nvSpPr>
          <p:cNvPr id="15769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mtClean="0"/>
              <a:t>Trees can be complex data structures</a:t>
            </a:r>
          </a:p>
          <a:p>
            <a:pPr eaLnBrk="1" hangingPunct="1">
              <a:lnSpc>
                <a:spcPct val="90000"/>
              </a:lnSpc>
            </a:pPr>
            <a:r>
              <a:rPr lang="en-US" smtClean="0"/>
              <a:t>Only basics here:</a:t>
            </a:r>
          </a:p>
          <a:p>
            <a:pPr lvl="1" eaLnBrk="1" hangingPunct="1">
              <a:lnSpc>
                <a:spcPct val="90000"/>
              </a:lnSpc>
            </a:pPr>
            <a:r>
              <a:rPr lang="en-US" smtClean="0"/>
              <a:t>Constructing, manipulating</a:t>
            </a:r>
          </a:p>
          <a:p>
            <a:pPr lvl="1" eaLnBrk="1" hangingPunct="1">
              <a:lnSpc>
                <a:spcPct val="90000"/>
              </a:lnSpc>
            </a:pPr>
            <a:r>
              <a:rPr lang="en-US" smtClean="0"/>
              <a:t>Using nodes and pointers</a:t>
            </a:r>
          </a:p>
          <a:p>
            <a:pPr eaLnBrk="1" hangingPunct="1">
              <a:lnSpc>
                <a:spcPct val="90000"/>
              </a:lnSpc>
            </a:pPr>
            <a:r>
              <a:rPr lang="en-US" smtClean="0"/>
              <a:t>Recall linked list: nodes have only one</a:t>
            </a:r>
            <a:br>
              <a:rPr lang="en-US" smtClean="0"/>
            </a:br>
            <a:r>
              <a:rPr lang="en-US" smtClean="0"/>
              <a:t>pointer </a:t>
            </a:r>
            <a:r>
              <a:rPr lang="en-US" smtClean="0">
                <a:sym typeface="Wingdings" pitchFamily="2" charset="2"/>
              </a:rPr>
              <a:t></a:t>
            </a:r>
            <a:r>
              <a:rPr lang="en-US" smtClean="0"/>
              <a:t> next node</a:t>
            </a:r>
          </a:p>
          <a:p>
            <a:pPr eaLnBrk="1" hangingPunct="1">
              <a:lnSpc>
                <a:spcPct val="90000"/>
              </a:lnSpc>
            </a:pPr>
            <a:r>
              <a:rPr lang="en-US" smtClean="0"/>
              <a:t>Trees have two, &amp; sometimes more,</a:t>
            </a:r>
            <a:br>
              <a:rPr lang="en-US" smtClean="0"/>
            </a:br>
            <a:r>
              <a:rPr lang="en-US" smtClean="0"/>
              <a:t>pointers to other nodes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17-</a:t>
            </a:r>
            <a:fld id="{68243C24-FC2B-4D6C-9DA2-29ED8D6165BE}" type="slidenum">
              <a:rPr lang="en-US"/>
              <a:pPr>
                <a:defRPr/>
              </a:pPr>
              <a:t>71</a:t>
            </a:fld>
            <a:endParaRPr lang="en-US"/>
          </a:p>
        </p:txBody>
      </p:sp>
      <p:sp>
        <p:nvSpPr>
          <p:cNvPr id="157700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smtClean="0"/>
              <a:t>Tree Structure: </a:t>
            </a:r>
            <a:br>
              <a:rPr lang="en-US" sz="3600" smtClean="0"/>
            </a:br>
            <a:r>
              <a:rPr lang="en-US" sz="3600" b="1" smtClean="0"/>
              <a:t>Display 17.35  </a:t>
            </a:r>
            <a:r>
              <a:rPr lang="en-US" sz="3600" smtClean="0"/>
              <a:t>A Binary Tree (1 of 2)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17-</a:t>
            </a:r>
            <a:fld id="{6186478E-CA77-440C-A361-43B3BBAC4BEC}" type="slidenum">
              <a:rPr lang="en-US"/>
              <a:pPr>
                <a:defRPr/>
              </a:pPr>
              <a:t>72</a:t>
            </a:fld>
            <a:endParaRPr lang="en-US"/>
          </a:p>
        </p:txBody>
      </p:sp>
      <p:sp>
        <p:nvSpPr>
          <p:cNvPr id="159747" name="Footer Placeholder 6"/>
          <p:cNvSpPr>
            <a:spLocks noGrp="1"/>
          </p:cNvSpPr>
          <p:nvPr>
            <p:ph type="ftr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  <p:pic>
        <p:nvPicPr>
          <p:cNvPr id="159748" name="Picture 6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838200" y="1676400"/>
            <a:ext cx="7685088" cy="4457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med">
    <p:wipe dir="r"/>
  </p:transition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3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smtClean="0"/>
              <a:t>Tree Structure: </a:t>
            </a:r>
            <a:br>
              <a:rPr lang="en-US" sz="3600" smtClean="0"/>
            </a:br>
            <a:r>
              <a:rPr lang="en-US" sz="3600" b="1" smtClean="0"/>
              <a:t>Display 17.35  </a:t>
            </a:r>
            <a:r>
              <a:rPr lang="en-US" sz="3600" smtClean="0"/>
              <a:t>A Binary Tree (2 of 2)</a:t>
            </a:r>
          </a:p>
        </p:txBody>
      </p:sp>
      <p:pic>
        <p:nvPicPr>
          <p:cNvPr id="161794" name="Picture 4" descr="C:\WINDOWS\Desktop\Oh_type\sacitch_C++_ppt\gif\savitchc17d23_2of2.gif"/>
          <p:cNvPicPr preferRelativeResize="0"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4"/>
          <a:srcRect/>
          <a:stretch>
            <a:fillRect/>
          </a:stretch>
        </p:blipFill>
        <p:spPr bwMode="auto">
          <a:xfrm>
            <a:off x="969963" y="2005013"/>
            <a:ext cx="7869237" cy="2573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17-</a:t>
            </a:r>
            <a:fld id="{0963CFB1-5362-4E2B-B5A3-0678F2B0A6A3}" type="slidenum">
              <a:rPr lang="en-US"/>
              <a:pPr>
                <a:defRPr/>
              </a:pPr>
              <a:t>73</a:t>
            </a:fld>
            <a:endParaRPr lang="en-US"/>
          </a:p>
        </p:txBody>
      </p:sp>
      <p:sp>
        <p:nvSpPr>
          <p:cNvPr id="161796" name="Footer Placeholder 6"/>
          <p:cNvSpPr>
            <a:spLocks noGrp="1"/>
          </p:cNvSpPr>
          <p:nvPr>
            <p:ph type="ftr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4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Tree Properties</a:t>
            </a:r>
          </a:p>
        </p:txBody>
      </p:sp>
      <p:sp>
        <p:nvSpPr>
          <p:cNvPr id="16384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z="2400" smtClean="0"/>
              <a:t>Notice paths</a:t>
            </a:r>
          </a:p>
          <a:p>
            <a:pPr lvl="1" eaLnBrk="1" hangingPunct="1"/>
            <a:r>
              <a:rPr lang="en-US" sz="2000" smtClean="0"/>
              <a:t>From top to any node</a:t>
            </a:r>
          </a:p>
          <a:p>
            <a:pPr lvl="1" eaLnBrk="1" hangingPunct="1"/>
            <a:r>
              <a:rPr lang="en-US" sz="2000" smtClean="0"/>
              <a:t>No "cycles" – follow pointers, will reach "end"</a:t>
            </a:r>
          </a:p>
          <a:p>
            <a:pPr eaLnBrk="1" hangingPunct="1"/>
            <a:r>
              <a:rPr lang="en-US" sz="2400" smtClean="0"/>
              <a:t>Notice here each node has two links</a:t>
            </a:r>
          </a:p>
          <a:p>
            <a:pPr lvl="1" eaLnBrk="1" hangingPunct="1"/>
            <a:r>
              <a:rPr lang="en-US" sz="2000" smtClean="0"/>
              <a:t>Called </a:t>
            </a:r>
            <a:r>
              <a:rPr lang="en-US" sz="2000" b="1" i="1" smtClean="0"/>
              <a:t>binary tree</a:t>
            </a:r>
          </a:p>
          <a:p>
            <a:pPr lvl="1" eaLnBrk="1" hangingPunct="1"/>
            <a:r>
              <a:rPr lang="en-US" sz="2000" smtClean="0"/>
              <a:t>Most common type of tree</a:t>
            </a:r>
          </a:p>
          <a:p>
            <a:pPr eaLnBrk="1" hangingPunct="1"/>
            <a:r>
              <a:rPr lang="en-US" sz="2400" smtClean="0"/>
              <a:t>Root node</a:t>
            </a:r>
          </a:p>
          <a:p>
            <a:pPr lvl="1" eaLnBrk="1" hangingPunct="1"/>
            <a:r>
              <a:rPr lang="en-US" sz="2000" smtClean="0"/>
              <a:t>Similar to linked list’s head</a:t>
            </a:r>
          </a:p>
          <a:p>
            <a:pPr eaLnBrk="1" hangingPunct="1"/>
            <a:r>
              <a:rPr lang="en-US" sz="2400" smtClean="0"/>
              <a:t>Leaf nodes</a:t>
            </a:r>
          </a:p>
          <a:p>
            <a:pPr lvl="1" eaLnBrk="1" hangingPunct="1"/>
            <a:r>
              <a:rPr lang="en-US" sz="2000" smtClean="0"/>
              <a:t>Both link variables are NULL (no subtrees)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17-</a:t>
            </a:r>
            <a:fld id="{DB79C067-3AA0-4F0C-B523-1AE5977C52CE}" type="slidenum">
              <a:rPr lang="en-US"/>
              <a:pPr>
                <a:defRPr/>
              </a:pPr>
              <a:t>74</a:t>
            </a:fld>
            <a:endParaRPr lang="en-US"/>
          </a:p>
        </p:txBody>
      </p:sp>
      <p:sp>
        <p:nvSpPr>
          <p:cNvPr id="163844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8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Trees and Recursion</a:t>
            </a:r>
          </a:p>
        </p:txBody>
      </p:sp>
      <p:sp>
        <p:nvSpPr>
          <p:cNvPr id="16589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mtClean="0"/>
              <a:t>Note tree’s "recursive structure"</a:t>
            </a:r>
          </a:p>
          <a:p>
            <a:pPr eaLnBrk="1" hangingPunct="1"/>
            <a:r>
              <a:rPr lang="en-US" smtClean="0"/>
              <a:t>Each tree has two subtrees</a:t>
            </a:r>
          </a:p>
          <a:p>
            <a:pPr lvl="1" eaLnBrk="1" hangingPunct="1"/>
            <a:r>
              <a:rPr lang="en-US" smtClean="0"/>
              <a:t>Each subtree has two subtrees</a:t>
            </a:r>
          </a:p>
          <a:p>
            <a:pPr lvl="2" eaLnBrk="1" hangingPunct="1"/>
            <a:r>
              <a:rPr lang="en-US" smtClean="0"/>
              <a:t>Etc., etc.</a:t>
            </a:r>
          </a:p>
          <a:p>
            <a:pPr eaLnBrk="1" hangingPunct="1"/>
            <a:r>
              <a:rPr lang="en-US" smtClean="0"/>
              <a:t>Makes trees amenable to recursive</a:t>
            </a:r>
            <a:br>
              <a:rPr lang="en-US" smtClean="0"/>
            </a:br>
            <a:r>
              <a:rPr lang="en-US" smtClean="0"/>
              <a:t>algorithms</a:t>
            </a:r>
          </a:p>
          <a:p>
            <a:pPr lvl="1" eaLnBrk="1" hangingPunct="1"/>
            <a:r>
              <a:rPr lang="en-US" smtClean="0"/>
              <a:t>For searching especially!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17-</a:t>
            </a:r>
            <a:fld id="{B583F39D-DD90-481A-98E8-A48173C3B655}" type="slidenum">
              <a:rPr lang="en-US"/>
              <a:pPr>
                <a:defRPr/>
              </a:pPr>
              <a:t>75</a:t>
            </a:fld>
            <a:endParaRPr lang="en-US"/>
          </a:p>
        </p:txBody>
      </p:sp>
      <p:sp>
        <p:nvSpPr>
          <p:cNvPr id="165892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3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Tree Processing</a:t>
            </a:r>
          </a:p>
        </p:txBody>
      </p:sp>
      <p:sp>
        <p:nvSpPr>
          <p:cNvPr id="16793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461963" indent="-461963" eaLnBrk="1" hangingPunct="1">
              <a:lnSpc>
                <a:spcPct val="90000"/>
              </a:lnSpc>
            </a:pPr>
            <a:r>
              <a:rPr lang="en-US" sz="2400" b="1" smtClean="0"/>
              <a:t>Preorder Processing:</a:t>
            </a:r>
          </a:p>
          <a:p>
            <a:pPr marL="962025" lvl="1" indent="-385763" eaLnBrk="1" hangingPunct="1">
              <a:lnSpc>
                <a:spcPct val="90000"/>
              </a:lnSpc>
              <a:buFont typeface="Times" pitchFamily="18" charset="0"/>
              <a:buAutoNum type="arabicPeriod"/>
            </a:pPr>
            <a:r>
              <a:rPr lang="en-US" sz="2000" smtClean="0"/>
              <a:t>Process data in root node</a:t>
            </a:r>
          </a:p>
          <a:p>
            <a:pPr marL="962025" lvl="1" indent="-385763" eaLnBrk="1" hangingPunct="1">
              <a:lnSpc>
                <a:spcPct val="90000"/>
              </a:lnSpc>
              <a:buFont typeface="Times" pitchFamily="18" charset="0"/>
              <a:buAutoNum type="arabicPeriod"/>
            </a:pPr>
            <a:r>
              <a:rPr lang="en-US" sz="2000" smtClean="0"/>
              <a:t>Process left subtree</a:t>
            </a:r>
          </a:p>
          <a:p>
            <a:pPr marL="962025" lvl="1" indent="-385763" eaLnBrk="1" hangingPunct="1">
              <a:lnSpc>
                <a:spcPct val="90000"/>
              </a:lnSpc>
              <a:buFont typeface="Times" pitchFamily="18" charset="0"/>
              <a:buAutoNum type="arabicPeriod"/>
            </a:pPr>
            <a:r>
              <a:rPr lang="en-US" sz="2000" smtClean="0"/>
              <a:t>Process right subtree</a:t>
            </a:r>
          </a:p>
          <a:p>
            <a:pPr marL="461963" indent="-461963" eaLnBrk="1" hangingPunct="1">
              <a:lnSpc>
                <a:spcPct val="90000"/>
              </a:lnSpc>
            </a:pPr>
            <a:r>
              <a:rPr lang="en-US" sz="2400" b="1" smtClean="0"/>
              <a:t>In-order Processing:</a:t>
            </a:r>
          </a:p>
          <a:p>
            <a:pPr marL="962025" lvl="1" indent="-385763" eaLnBrk="1" hangingPunct="1">
              <a:lnSpc>
                <a:spcPct val="90000"/>
              </a:lnSpc>
              <a:buFont typeface="Times" pitchFamily="18" charset="0"/>
              <a:buAutoNum type="arabicPeriod"/>
            </a:pPr>
            <a:r>
              <a:rPr lang="en-US" sz="2000" smtClean="0"/>
              <a:t>Process left subtree</a:t>
            </a:r>
          </a:p>
          <a:p>
            <a:pPr marL="962025" lvl="1" indent="-385763" eaLnBrk="1" hangingPunct="1">
              <a:lnSpc>
                <a:spcPct val="90000"/>
              </a:lnSpc>
              <a:buFont typeface="Times" pitchFamily="18" charset="0"/>
              <a:buAutoNum type="arabicPeriod"/>
            </a:pPr>
            <a:r>
              <a:rPr lang="en-US" sz="2000" smtClean="0"/>
              <a:t>Process data in root</a:t>
            </a:r>
          </a:p>
          <a:p>
            <a:pPr marL="962025" lvl="1" indent="-385763" eaLnBrk="1" hangingPunct="1">
              <a:lnSpc>
                <a:spcPct val="90000"/>
              </a:lnSpc>
              <a:buFont typeface="Times" pitchFamily="18" charset="0"/>
              <a:buAutoNum type="arabicPeriod"/>
            </a:pPr>
            <a:r>
              <a:rPr lang="en-US" sz="2000" smtClean="0"/>
              <a:t>Process right subtree</a:t>
            </a:r>
          </a:p>
          <a:p>
            <a:pPr marL="461963" indent="-461963" eaLnBrk="1" hangingPunct="1">
              <a:lnSpc>
                <a:spcPct val="90000"/>
              </a:lnSpc>
            </a:pPr>
            <a:r>
              <a:rPr lang="en-US" sz="2400" b="1" smtClean="0"/>
              <a:t>Postorder Processing:</a:t>
            </a:r>
          </a:p>
          <a:p>
            <a:pPr marL="962025" lvl="1" indent="-385763" eaLnBrk="1" hangingPunct="1">
              <a:lnSpc>
                <a:spcPct val="90000"/>
              </a:lnSpc>
              <a:buFont typeface="Times" pitchFamily="18" charset="0"/>
              <a:buAutoNum type="arabicPeriod"/>
            </a:pPr>
            <a:r>
              <a:rPr lang="en-US" sz="2000" smtClean="0"/>
              <a:t>Process left subtree</a:t>
            </a:r>
          </a:p>
          <a:p>
            <a:pPr marL="962025" lvl="1" indent="-385763" eaLnBrk="1" hangingPunct="1">
              <a:lnSpc>
                <a:spcPct val="90000"/>
              </a:lnSpc>
              <a:buFont typeface="Times" pitchFamily="18" charset="0"/>
              <a:buAutoNum type="arabicPeriod"/>
            </a:pPr>
            <a:r>
              <a:rPr lang="en-US" sz="2000" smtClean="0"/>
              <a:t>Process right subtree</a:t>
            </a:r>
          </a:p>
          <a:p>
            <a:pPr marL="962025" lvl="1" indent="-385763" eaLnBrk="1" hangingPunct="1">
              <a:lnSpc>
                <a:spcPct val="90000"/>
              </a:lnSpc>
              <a:buFont typeface="Times" pitchFamily="18" charset="0"/>
              <a:buAutoNum type="arabicPeriod"/>
            </a:pPr>
            <a:r>
              <a:rPr lang="en-US" sz="2000" smtClean="0"/>
              <a:t>Process data in root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17-</a:t>
            </a:r>
            <a:fld id="{2DFC6070-7911-45F5-A10E-52FA4DBCE7DE}" type="slidenum">
              <a:rPr lang="en-US"/>
              <a:pPr>
                <a:defRPr/>
              </a:pPr>
              <a:t>76</a:t>
            </a:fld>
            <a:endParaRPr lang="en-US"/>
          </a:p>
        </p:txBody>
      </p:sp>
      <p:sp>
        <p:nvSpPr>
          <p:cNvPr id="167940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98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Tree Storage</a:t>
            </a:r>
          </a:p>
        </p:txBody>
      </p:sp>
      <p:sp>
        <p:nvSpPr>
          <p:cNvPr id="16998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533400" indent="-533400" eaLnBrk="1" hangingPunct="1">
              <a:lnSpc>
                <a:spcPct val="90000"/>
              </a:lnSpc>
            </a:pPr>
            <a:r>
              <a:rPr lang="en-US" sz="2800" smtClean="0"/>
              <a:t>Our example stored values in special way:</a:t>
            </a:r>
          </a:p>
          <a:p>
            <a:pPr marL="914400" lvl="1" indent="-457200" eaLnBrk="1" hangingPunct="1">
              <a:lnSpc>
                <a:spcPct val="90000"/>
              </a:lnSpc>
            </a:pPr>
            <a:r>
              <a:rPr lang="en-US" sz="2400" smtClean="0"/>
              <a:t>Called binary search tree storage rule:</a:t>
            </a:r>
          </a:p>
          <a:p>
            <a:pPr marL="1295400" lvl="2" indent="-381000" eaLnBrk="1" hangingPunct="1">
              <a:lnSpc>
                <a:spcPct val="90000"/>
              </a:lnSpc>
              <a:buFont typeface="Times" pitchFamily="18" charset="0"/>
              <a:buAutoNum type="arabicPeriod"/>
            </a:pPr>
            <a:r>
              <a:rPr lang="en-US" sz="2000" smtClean="0"/>
              <a:t>values in left subtree less than root value</a:t>
            </a:r>
          </a:p>
          <a:p>
            <a:pPr marL="1295400" lvl="2" indent="-381000" eaLnBrk="1" hangingPunct="1">
              <a:lnSpc>
                <a:spcPct val="90000"/>
              </a:lnSpc>
              <a:buFont typeface="Times" pitchFamily="18" charset="0"/>
              <a:buAutoNum type="arabicPeriod"/>
            </a:pPr>
            <a:r>
              <a:rPr lang="en-US" sz="2000" smtClean="0"/>
              <a:t>values in right subtree greater than root</a:t>
            </a:r>
          </a:p>
          <a:p>
            <a:pPr marL="1295400" lvl="2" indent="-381000" eaLnBrk="1" hangingPunct="1">
              <a:lnSpc>
                <a:spcPct val="90000"/>
              </a:lnSpc>
              <a:buFont typeface="Times" pitchFamily="18" charset="0"/>
              <a:buAutoNum type="arabicPeriod"/>
            </a:pPr>
            <a:r>
              <a:rPr lang="en-US" sz="2000" smtClean="0"/>
              <a:t>rule applies recursively to each subtree</a:t>
            </a:r>
          </a:p>
          <a:p>
            <a:pPr marL="533400" indent="-533400" eaLnBrk="1" hangingPunct="1">
              <a:lnSpc>
                <a:spcPct val="90000"/>
              </a:lnSpc>
            </a:pPr>
            <a:r>
              <a:rPr lang="en-US" sz="2800" smtClean="0"/>
              <a:t>Trees using this storage mechanism:</a:t>
            </a:r>
          </a:p>
          <a:p>
            <a:pPr marL="914400" lvl="1" indent="-457200" eaLnBrk="1" hangingPunct="1">
              <a:lnSpc>
                <a:spcPct val="90000"/>
              </a:lnSpc>
            </a:pPr>
            <a:r>
              <a:rPr lang="en-US" sz="2400" smtClean="0"/>
              <a:t>Called binary search tree (BST)</a:t>
            </a:r>
          </a:p>
          <a:p>
            <a:pPr marL="914400" lvl="1" indent="-457200" eaLnBrk="1" hangingPunct="1">
              <a:lnSpc>
                <a:spcPct val="90000"/>
              </a:lnSpc>
            </a:pPr>
            <a:r>
              <a:rPr lang="en-US" sz="2400" smtClean="0"/>
              <a:t>Traversals:</a:t>
            </a:r>
            <a:br>
              <a:rPr lang="en-US" sz="2400" smtClean="0"/>
            </a:br>
            <a:r>
              <a:rPr lang="en-US" sz="2400" smtClean="0"/>
              <a:t>Inorder		</a:t>
            </a:r>
            <a:r>
              <a:rPr lang="en-US" sz="2400" smtClean="0">
                <a:sym typeface="Wingdings" pitchFamily="2" charset="2"/>
              </a:rPr>
              <a:t></a:t>
            </a:r>
            <a:r>
              <a:rPr lang="en-US" sz="2400" smtClean="0"/>
              <a:t> values "in order"</a:t>
            </a:r>
            <a:br>
              <a:rPr lang="en-US" sz="2400" smtClean="0"/>
            </a:br>
            <a:r>
              <a:rPr lang="en-US" sz="2400" smtClean="0"/>
              <a:t>Preorder 	</a:t>
            </a:r>
            <a:r>
              <a:rPr lang="en-US" sz="2400" smtClean="0">
                <a:sym typeface="Wingdings" pitchFamily="2" charset="2"/>
              </a:rPr>
              <a:t></a:t>
            </a:r>
            <a:r>
              <a:rPr lang="en-US" sz="2400" smtClean="0"/>
              <a:t> "prefix" notation</a:t>
            </a:r>
            <a:br>
              <a:rPr lang="en-US" sz="2400" smtClean="0"/>
            </a:br>
            <a:r>
              <a:rPr lang="en-US" sz="2400" smtClean="0"/>
              <a:t>Postorder 	</a:t>
            </a:r>
            <a:r>
              <a:rPr lang="en-US" sz="2400" smtClean="0">
                <a:sym typeface="Wingdings" pitchFamily="2" charset="2"/>
              </a:rPr>
              <a:t></a:t>
            </a:r>
            <a:r>
              <a:rPr lang="en-US" sz="2400" smtClean="0"/>
              <a:t> "postfix" notation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17-</a:t>
            </a:r>
            <a:fld id="{B964F5DC-1CA3-47D6-9021-609EA1395E59}" type="slidenum">
              <a:rPr lang="en-US"/>
              <a:pPr>
                <a:defRPr/>
              </a:pPr>
              <a:t>77</a:t>
            </a:fld>
            <a:endParaRPr lang="en-US"/>
          </a:p>
        </p:txBody>
      </p:sp>
      <p:sp>
        <p:nvSpPr>
          <p:cNvPr id="169988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03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Summary 1</a:t>
            </a:r>
          </a:p>
        </p:txBody>
      </p:sp>
      <p:sp>
        <p:nvSpPr>
          <p:cNvPr id="17203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z="2800" smtClean="0"/>
              <a:t>Node is struct or class object</a:t>
            </a:r>
          </a:p>
          <a:p>
            <a:pPr lvl="1" eaLnBrk="1" hangingPunct="1"/>
            <a:r>
              <a:rPr lang="en-US" sz="2400" smtClean="0"/>
              <a:t>One or more members is pointer</a:t>
            </a:r>
          </a:p>
          <a:p>
            <a:pPr lvl="1" eaLnBrk="1" hangingPunct="1"/>
            <a:r>
              <a:rPr lang="en-US" sz="2400" smtClean="0"/>
              <a:t>Nodes connected by member pointers</a:t>
            </a:r>
          </a:p>
          <a:p>
            <a:pPr lvl="2" eaLnBrk="1" hangingPunct="1"/>
            <a:r>
              <a:rPr lang="en-US" sz="2000" smtClean="0"/>
              <a:t>Produce structures that grow and shrink at runtime</a:t>
            </a:r>
          </a:p>
          <a:p>
            <a:pPr eaLnBrk="1" hangingPunct="1"/>
            <a:r>
              <a:rPr lang="en-US" sz="2800" smtClean="0"/>
              <a:t>Linked list</a:t>
            </a:r>
          </a:p>
          <a:p>
            <a:pPr lvl="1" eaLnBrk="1" hangingPunct="1"/>
            <a:r>
              <a:rPr lang="en-US" sz="2400" smtClean="0"/>
              <a:t>List of nodes where each node points to next</a:t>
            </a:r>
          </a:p>
          <a:p>
            <a:pPr lvl="1" eaLnBrk="1" hangingPunct="1"/>
            <a:r>
              <a:rPr lang="en-US" sz="2400" smtClean="0"/>
              <a:t>In a doubly linked lists there are pointers in both directions</a:t>
            </a:r>
          </a:p>
          <a:p>
            <a:pPr eaLnBrk="1" hangingPunct="1"/>
            <a:r>
              <a:rPr lang="en-US" sz="2800" smtClean="0"/>
              <a:t>End of linked list marked with NULL pointer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17-</a:t>
            </a:r>
            <a:fld id="{85180D12-DB07-4458-8022-107AE4EC8D0A}" type="slidenum">
              <a:rPr lang="en-US"/>
              <a:pPr>
                <a:defRPr/>
              </a:pPr>
              <a:t>78</a:t>
            </a:fld>
            <a:endParaRPr lang="en-US"/>
          </a:p>
        </p:txBody>
      </p:sp>
      <p:sp>
        <p:nvSpPr>
          <p:cNvPr id="172036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8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Summary 2</a:t>
            </a:r>
          </a:p>
        </p:txBody>
      </p:sp>
      <p:sp>
        <p:nvSpPr>
          <p:cNvPr id="17408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524000"/>
            <a:ext cx="8229600" cy="4525963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400" smtClean="0"/>
              <a:t>Stack is LIFO data structure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smtClean="0"/>
              <a:t>Queue is FIFO data structure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smtClean="0"/>
              <a:t>Hash Tables are data structures for quick storage and retrieval; can be implemented with a linked list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smtClean="0"/>
              <a:t>Sets can be implemented with linked lists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smtClean="0"/>
              <a:t>Iterator construct allows cycling through</a:t>
            </a:r>
            <a:br>
              <a:rPr lang="en-US" sz="2400" smtClean="0"/>
            </a:br>
            <a:r>
              <a:rPr lang="en-US" sz="2400" smtClean="0"/>
              <a:t>data items in given data structure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smtClean="0"/>
              <a:t>Tree data structures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000" smtClean="0"/>
              <a:t>Nodes have two member pointers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000" smtClean="0"/>
              <a:t>Each point to other nodes/subtrees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smtClean="0"/>
              <a:t>Binary search tree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000" smtClean="0"/>
              <a:t>Special storage rules allow rapid searches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17-</a:t>
            </a:r>
            <a:fld id="{90A847B7-D055-4350-8B11-0F1436F26DD8}" type="slidenum">
              <a:rPr lang="en-US"/>
              <a:pPr>
                <a:defRPr/>
              </a:pPr>
              <a:t>79</a:t>
            </a:fld>
            <a:endParaRPr lang="en-US"/>
          </a:p>
        </p:txBody>
      </p:sp>
      <p:sp>
        <p:nvSpPr>
          <p:cNvPr id="174084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IW_TYPE_IMAGE" val="Text Box 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IW_TYPE_IMAGE" val="Text Box 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IW_TYPE_IMAGE" val="Text Box 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IW_TYPE_IMAGE" val="Text Box 3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IW_TYPE_IMAGE" val="Text Box 3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IW_TYPE_IMAGE" val="Text Box 3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IW_TYPE_IMAGE" val="Text Box 3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IW_TYPE_IMAGE" val="Text Box 3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IW_TYPE_IMAGE" val="Text Box 3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1085</TotalTime>
  <Words>4033</Words>
  <Application>Microsoft Office PowerPoint</Application>
  <PresentationFormat>On-screen Show (4:3)</PresentationFormat>
  <Paragraphs>900</Paragraphs>
  <Slides>79</Slides>
  <Notes>79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Design Template</vt:lpstr>
      </vt:variant>
      <vt:variant>
        <vt:i4>12</vt:i4>
      </vt:variant>
      <vt:variant>
        <vt:lpstr>Slide Titles</vt:lpstr>
      </vt:variant>
      <vt:variant>
        <vt:i4>79</vt:i4>
      </vt:variant>
    </vt:vector>
  </HeadingPairs>
  <TitlesOfParts>
    <vt:vector size="96" baseType="lpstr">
      <vt:lpstr>Arial</vt:lpstr>
      <vt:lpstr>Calibri</vt:lpstr>
      <vt:lpstr>Times</vt:lpstr>
      <vt:lpstr>Courier New</vt:lpstr>
      <vt:lpstr>Wingdings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Chapter 17</vt:lpstr>
      <vt:lpstr>Learning Objectives</vt:lpstr>
      <vt:lpstr>Introduction</vt:lpstr>
      <vt:lpstr>Approaches</vt:lpstr>
      <vt:lpstr>Nodes and Linked Lists</vt:lpstr>
      <vt:lpstr>Display 17.1  Nodes and Pointers</vt:lpstr>
      <vt:lpstr>Node Definition</vt:lpstr>
      <vt:lpstr>Head Pointer</vt:lpstr>
      <vt:lpstr>Example Node Access</vt:lpstr>
      <vt:lpstr>End Markers</vt:lpstr>
      <vt:lpstr>Display 17.2  Accessing Node Data</vt:lpstr>
      <vt:lpstr>Linked List</vt:lpstr>
      <vt:lpstr>Linked List Class Definition</vt:lpstr>
      <vt:lpstr>Linked List Class</vt:lpstr>
      <vt:lpstr>Create 1st Node</vt:lpstr>
      <vt:lpstr>Display 17.3  Adding a Node  to the Head of  a Linked List</vt:lpstr>
      <vt:lpstr>Lost Nodes Pitfall:  Display 17.5  Lost Nodes</vt:lpstr>
      <vt:lpstr>Display 17.6  Inserting in the Middle of a Linked List (1 of 2)</vt:lpstr>
      <vt:lpstr>Display 17.6  Inserting in the Middle of a Linked List (2 of 2)</vt:lpstr>
      <vt:lpstr>Display 17.7  Removing  a Node</vt:lpstr>
      <vt:lpstr>Searching a Linked List</vt:lpstr>
      <vt:lpstr>Pseudocode for search Function</vt:lpstr>
      <vt:lpstr>Algorithm for search Function</vt:lpstr>
      <vt:lpstr>Doubly Linked Lists</vt:lpstr>
      <vt:lpstr>Doubly Linked Lists</vt:lpstr>
      <vt:lpstr>Adding a Node to the Front of a Doubly Linked List (1 of 2)</vt:lpstr>
      <vt:lpstr>Adding a Node to the Front of a Doubly Linked List (2 of 2)</vt:lpstr>
      <vt:lpstr>Deleting a Node from a Doubly Linked List</vt:lpstr>
      <vt:lpstr>Deleting a Node from a Doubly Linked List (1 of 2)</vt:lpstr>
      <vt:lpstr>Deleting a Node from a Doubly Linked List (2 of 2)</vt:lpstr>
      <vt:lpstr>Stacks</vt:lpstr>
      <vt:lpstr>A Stack—Graphic:  Display 17.12  A Stack</vt:lpstr>
      <vt:lpstr>Display 17.17  Interface File for a Stack Template Class (1 of 2)</vt:lpstr>
      <vt:lpstr>Display 17.17  Interface File for a Stack Template Class (2 of 2)</vt:lpstr>
      <vt:lpstr>Stack Template Class Driver:  Display 17.18  Program Using the Stack Template Class (1 of 3)</vt:lpstr>
      <vt:lpstr>Stack Template Class Driver:  Display 17.18  Program Using the Stack Template Class (2 of 3)</vt:lpstr>
      <vt:lpstr>Stack Template Class Driver:  Display 17.18  Program Using the Stack Template Class (3 of 3)</vt:lpstr>
      <vt:lpstr>Stack Push and Pop</vt:lpstr>
      <vt:lpstr>Queues</vt:lpstr>
      <vt:lpstr>Display 17.20  Interface File for a Queue Template Class (1 of 3)</vt:lpstr>
      <vt:lpstr>Display 17.20  Interface File for a Queue Template Class (2 of 3)</vt:lpstr>
      <vt:lpstr>Display 17.20  Interface File for a Queue Template Class (3 of 3)</vt:lpstr>
      <vt:lpstr>Queue Template Class Driver:  Display 17.21  Program Using  the Queue Template Class</vt:lpstr>
      <vt:lpstr>Hash Tables</vt:lpstr>
      <vt:lpstr>Simple Hash Function for Strings</vt:lpstr>
      <vt:lpstr>Hash Table Idea</vt:lpstr>
      <vt:lpstr>Constructing a Hash Table</vt:lpstr>
      <vt:lpstr>Interface File for a HashTable Class (1 of 2)</vt:lpstr>
      <vt:lpstr>Interface File for a HashTable Class (2 of 2)</vt:lpstr>
      <vt:lpstr>Implementation File for Hash Table Class (1 of 3)</vt:lpstr>
      <vt:lpstr>Implementation File for Hash Table Class (2 of 3)</vt:lpstr>
      <vt:lpstr>Implementation File for Hash Table Class (3 of 3)</vt:lpstr>
      <vt:lpstr>Hash Table Demonstration</vt:lpstr>
      <vt:lpstr>Hash Table Efficiency</vt:lpstr>
      <vt:lpstr>Set Template Class</vt:lpstr>
      <vt:lpstr>Interface File for a Set Template Class (1 of 2)</vt:lpstr>
      <vt:lpstr>Interface File for a Set Template Class (2 of 2)</vt:lpstr>
      <vt:lpstr>Implementation File for a Set Template Class (1 of 4)</vt:lpstr>
      <vt:lpstr>Implementation File for a Set Template Class (2 of 4)</vt:lpstr>
      <vt:lpstr>Implementation File for a Set Template Class (3 of 4)</vt:lpstr>
      <vt:lpstr>Implementation File for a Set Template Class (4 of 4)</vt:lpstr>
      <vt:lpstr>Set Demonstration (1 of 3)</vt:lpstr>
      <vt:lpstr>Set Demonstration (2 of 3)</vt:lpstr>
      <vt:lpstr>Set Demonstration (3 of 3)</vt:lpstr>
      <vt:lpstr>Friend Classes</vt:lpstr>
      <vt:lpstr>Forward Declaration</vt:lpstr>
      <vt:lpstr>Iterators</vt:lpstr>
      <vt:lpstr>Pointers as Iterators</vt:lpstr>
      <vt:lpstr>Iterator Classes</vt:lpstr>
      <vt:lpstr>Iterator Class Example</vt:lpstr>
      <vt:lpstr>Trees Introduction</vt:lpstr>
      <vt:lpstr>Tree Structure:  Display 17.35  A Binary Tree (1 of 2)</vt:lpstr>
      <vt:lpstr>Tree Structure:  Display 17.35  A Binary Tree (2 of 2)</vt:lpstr>
      <vt:lpstr>Tree Properties</vt:lpstr>
      <vt:lpstr>Trees and Recursion</vt:lpstr>
      <vt:lpstr>Tree Processing</vt:lpstr>
      <vt:lpstr>Tree Storage</vt:lpstr>
      <vt:lpstr>Summary 1</vt:lpstr>
      <vt:lpstr>Summary 2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Kenrick</dc:creator>
  <cp:lastModifiedBy>usnidem</cp:lastModifiedBy>
  <cp:revision>29</cp:revision>
  <dcterms:created xsi:type="dcterms:W3CDTF">2006-08-16T00:00:00Z</dcterms:created>
  <dcterms:modified xsi:type="dcterms:W3CDTF">2012-05-08T14:09:23Z</dcterms:modified>
</cp:coreProperties>
</file>