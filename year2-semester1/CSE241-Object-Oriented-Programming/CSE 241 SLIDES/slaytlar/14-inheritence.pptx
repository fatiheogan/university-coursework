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1" d="100"/>
          <a:sy n="101" d="100"/>
        </p:scale>
        <p:origin x="834" y="14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C1CD496-F018-43CF-AB70-D42BFA3C4D39}" type="datetimeFigureOut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FDDD5F2-71BA-4437-B2EB-7C74294FE1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0A7C77E-F229-491E-BD71-DD82A5D8131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7D54A28-67D8-491A-8EAC-E126A3AA88E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8FA420F-A66D-47AA-8596-140EE2881D3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9675F6-E762-426D-AFAF-336B96F17BF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C448AD2-BA91-41A3-AEC5-B61D7FC0FE6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E0DAD7-B1F2-4ABE-9EAA-BCF27D8F4CB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BAB174-ADAE-4C30-8E41-CE902992723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7BFBDB-48FC-48D5-BD5B-87B49585C3C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5CFB91-D83A-4509-A89E-C9C67C2BB73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82D9F55-9AC9-4F20-A7A4-53F3B11A9CD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00EC867-0D0C-4695-9692-E8D4F9500A6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521249-13F2-434C-9DC2-9EB03A8B2D7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7A0AE24-BB63-422B-9C41-42D3C19F4AB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47A9C5D-E3A5-4B10-8852-765B785933E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F205639-E09B-4189-8629-9B670F758CE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9C94254-E6F4-4E7F-9C88-10BE108684F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FD5779D-9218-4171-8FC6-966EE4D55C9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5C1CF0-B931-49B7-9E92-2B2A6244FD8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A1BA1FF-6D11-4028-8AFB-B77F3A6C12D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F6307DC-A796-4CF4-9235-3DF6F5A4E23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1DC03C-343E-4F45-93FB-C7E84ACE535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EF704B9-46D0-460A-8696-763F287873F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5AD6F78-2A1F-4B5C-867D-E2E02FD8C1C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DF2EA0D-0870-4CD0-BD6D-B320A5BB8E3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5BE79C2-CF31-411B-B35A-5AB72D96124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35A10CC-C183-4BF6-AB27-8CFF69CAB10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E99CAA9-9404-4309-BA3E-BA8E26C754A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CA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6837230-4E0A-4220-B146-1CB9B94175A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CA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7A8E1C9-4FA7-427D-A8D4-41330DDD0D8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A76834D-CA32-484C-8A32-2ED65AD70F9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CA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B5D9FF-F722-4881-B4D3-ED14A48B70E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578911C-A761-46E5-A210-281672B4F8A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410D319-F2D0-446B-A8E1-02AD3E6086A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AA8C750-6616-405E-847A-0BF1FEE58BE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CA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E625D56-347D-46D9-B31B-8384F8040B2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CA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256CF46-CD31-4344-AD13-9FF4FE6B7C4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CA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874859-FF66-465D-81BE-ECCA7CF2638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CA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47D8E1B-1BCB-4476-A80B-003C5B1C536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CA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1BF6F7-A1D4-4DB3-87F2-253638433427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14-</a:t>
            </a:r>
            <a:fld id="{AD9D40CC-F89C-45BC-8E3F-C46B587F1E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D7D7EA-F1CE-4CB0-8B0F-E972BF6D43BE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14-</a:t>
            </a:r>
            <a:fld id="{4FC198B6-BA48-4A34-8E6A-3F0C5AF5FC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1F8EA1-BE14-4FE1-917D-F8C41BE8D8D9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14-</a:t>
            </a:r>
            <a:fld id="{655E74E2-2DE1-4A0E-B178-D49039598D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7B7C4B-8818-4C55-9C6C-5747B7281319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14-</a:t>
            </a:r>
            <a:fld id="{FDBB920F-73C5-4C58-9974-9C25F8940F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FAA0B3-9038-497D-B478-7AB5FD0717A7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14-</a:t>
            </a:r>
            <a:fld id="{24F3DFFA-1790-4F60-8A86-3CF4A59604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F25C79-4DC9-4743-95C0-68D8418AA1AA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14-</a:t>
            </a:r>
            <a:fld id="{B0C024D4-2B03-4BB3-A178-21E8B861BF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6C44F-55EB-41CE-AFCD-9081850E09EA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14-</a:t>
            </a:r>
            <a:fld id="{CFA56DB3-DC28-40AB-9909-04F9B8C053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2D426A-1F4E-4F8E-852E-12FC33A7274B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14-</a:t>
            </a:r>
            <a:fld id="{3F6B5CEF-C266-4465-BB7C-C5FABBE66C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55F218-3196-4101-9D3A-8F904B722B68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14-</a:t>
            </a:r>
            <a:fld id="{8D145CE1-63EF-4F53-8689-52AE0BCDF9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8792F3-124C-4BDC-A8C5-D432F46664A4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14-</a:t>
            </a:r>
            <a:fld id="{C48C8615-048D-47A2-895F-6BB5EF1454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DCB7F-C569-4D25-99DC-C7659BFA695D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14-</a:t>
            </a:r>
            <a:fld id="{515F59EF-3AA1-4852-8092-5978960858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E0CCDE5-7981-4136-9782-A0D01EB89D6A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9DE218E8-FFA4-4561-AB04-AA3540D4D8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 smtClean="0"/>
              <a:t>Chapter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Inheritance</a:t>
            </a:r>
            <a:endParaRPr lang="en-US" dirty="0"/>
          </a:p>
        </p:txBody>
      </p:sp>
      <p:pic>
        <p:nvPicPr>
          <p:cNvPr id="14341" name="Picture 6" descr="http://vig-fp.prenhall.com/bigcovers/013283071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55451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10" descr="DG_Bar_Blue_USLetter_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Inheritance Basics</a:t>
            </a:r>
          </a:p>
          <a:p>
            <a:pPr lvl="1" eaLnBrk="1" hangingPunct="1"/>
            <a:r>
              <a:rPr lang="en-US" sz="2400" smtClean="0"/>
              <a:t>Derived classes, with constructors</a:t>
            </a:r>
          </a:p>
          <a:p>
            <a:pPr lvl="1" eaLnBrk="1" hangingPunct="1"/>
            <a:r>
              <a:rPr lang="en-US" sz="2400" smtClean="0"/>
              <a:t>protected: qualifier</a:t>
            </a:r>
          </a:p>
          <a:p>
            <a:pPr lvl="1" eaLnBrk="1" hangingPunct="1"/>
            <a:r>
              <a:rPr lang="en-US" sz="2400" smtClean="0"/>
              <a:t>Redefining member functions</a:t>
            </a:r>
          </a:p>
          <a:p>
            <a:pPr lvl="1" eaLnBrk="1" hangingPunct="1"/>
            <a:r>
              <a:rPr lang="en-US" sz="2400" smtClean="0"/>
              <a:t>Non-inherited functions</a:t>
            </a:r>
          </a:p>
          <a:p>
            <a:pPr eaLnBrk="1" hangingPunct="1"/>
            <a:r>
              <a:rPr lang="en-US" sz="2800" smtClean="0"/>
              <a:t>Programming with Inheritance</a:t>
            </a:r>
          </a:p>
          <a:p>
            <a:pPr lvl="1" eaLnBrk="1" hangingPunct="1"/>
            <a:r>
              <a:rPr lang="en-US" sz="2400" smtClean="0"/>
              <a:t>Assignment operators and copy constructors</a:t>
            </a:r>
          </a:p>
          <a:p>
            <a:pPr lvl="1" eaLnBrk="1" hangingPunct="1"/>
            <a:r>
              <a:rPr lang="en-US" sz="2400" smtClean="0"/>
              <a:t>Destructors in derived classes</a:t>
            </a:r>
          </a:p>
          <a:p>
            <a:pPr lvl="1" eaLnBrk="1" hangingPunct="1"/>
            <a:r>
              <a:rPr lang="en-US" sz="2400" smtClean="0"/>
              <a:t>Multiple inheritance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8D2C2407-1399-456A-8EC4-998B7FD02B19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63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Introduction to Inheritance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Object-oriented programming</a:t>
            </a:r>
          </a:p>
          <a:p>
            <a:pPr lvl="1" eaLnBrk="1" hangingPunct="1"/>
            <a:r>
              <a:rPr lang="en-US" sz="2400" smtClean="0"/>
              <a:t>Powerful programming technique</a:t>
            </a:r>
          </a:p>
          <a:p>
            <a:pPr lvl="1" eaLnBrk="1" hangingPunct="1"/>
            <a:r>
              <a:rPr lang="en-US" sz="2400" smtClean="0"/>
              <a:t>Provides abstraction dimension called </a:t>
            </a:r>
            <a:r>
              <a:rPr lang="en-US" sz="2400" i="1" smtClean="0"/>
              <a:t>inheritance</a:t>
            </a:r>
          </a:p>
          <a:p>
            <a:pPr eaLnBrk="1" hangingPunct="1"/>
            <a:r>
              <a:rPr lang="en-US" sz="2800" smtClean="0"/>
              <a:t>General form of class is defined</a:t>
            </a:r>
          </a:p>
          <a:p>
            <a:pPr lvl="1" eaLnBrk="1" hangingPunct="1"/>
            <a:r>
              <a:rPr lang="en-US" sz="2400" smtClean="0"/>
              <a:t>Specialized versions then inherit properties of</a:t>
            </a:r>
            <a:br>
              <a:rPr lang="en-US" sz="2400" smtClean="0"/>
            </a:br>
            <a:r>
              <a:rPr lang="en-US" sz="2400" smtClean="0"/>
              <a:t>general class</a:t>
            </a:r>
          </a:p>
          <a:p>
            <a:pPr lvl="1" eaLnBrk="1" hangingPunct="1"/>
            <a:r>
              <a:rPr lang="en-US" sz="2400" smtClean="0"/>
              <a:t>And add to it/modify it’s functionality for it’s</a:t>
            </a:r>
            <a:br>
              <a:rPr lang="en-US" sz="2400" smtClean="0"/>
            </a:br>
            <a:r>
              <a:rPr lang="en-US" sz="2400" smtClean="0"/>
              <a:t>appropriate use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4F789A36-A04F-470B-B9AC-4249A0AD24E2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84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Inheritance Basics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New class inherited from another class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Base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"General" class from which others derive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Derived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New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Automatically has base class’s: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Member variables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Member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Can then add additional member functions</a:t>
            </a:r>
            <a:br>
              <a:rPr lang="en-US" sz="2400" smtClean="0"/>
            </a:br>
            <a:r>
              <a:rPr lang="en-US" sz="2400" smtClean="0"/>
              <a:t>and variables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1A7C1403-8FDF-4E4C-8463-081094BF9019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04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Derived Classes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Consider example:</a:t>
            </a:r>
            <a:br>
              <a:rPr lang="en-US" sz="2800" smtClean="0"/>
            </a:br>
            <a:r>
              <a:rPr lang="en-US" sz="2800" smtClean="0"/>
              <a:t>Class of "Employees"</a:t>
            </a:r>
          </a:p>
          <a:p>
            <a:pPr eaLnBrk="1" hangingPunct="1"/>
            <a:r>
              <a:rPr lang="en-US" sz="2800" smtClean="0"/>
              <a:t>Composed of:</a:t>
            </a:r>
          </a:p>
          <a:p>
            <a:pPr lvl="1" eaLnBrk="1" hangingPunct="1"/>
            <a:r>
              <a:rPr lang="en-US" sz="2400" smtClean="0"/>
              <a:t>Salaried employees</a:t>
            </a:r>
          </a:p>
          <a:p>
            <a:pPr lvl="1" eaLnBrk="1" hangingPunct="1"/>
            <a:r>
              <a:rPr lang="en-US" sz="2400" smtClean="0"/>
              <a:t>Hourly employees</a:t>
            </a:r>
          </a:p>
          <a:p>
            <a:pPr eaLnBrk="1" hangingPunct="1"/>
            <a:r>
              <a:rPr lang="en-US" sz="2800" smtClean="0"/>
              <a:t>Each is "subset" of employees</a:t>
            </a:r>
          </a:p>
          <a:p>
            <a:pPr lvl="1" eaLnBrk="1" hangingPunct="1"/>
            <a:r>
              <a:rPr lang="en-US" sz="2400" smtClean="0"/>
              <a:t>Another might be those paid fixed wage each</a:t>
            </a:r>
            <a:br>
              <a:rPr lang="en-US" sz="2400" smtClean="0"/>
            </a:br>
            <a:r>
              <a:rPr lang="en-US" sz="2400" smtClean="0"/>
              <a:t>month or week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61D1DF79-C3AC-4EC5-84ED-3D52EDFDFEDC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Derived Classes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Don’t "need" type of generic "employee"</a:t>
            </a:r>
          </a:p>
          <a:p>
            <a:pPr lvl="1" eaLnBrk="1" hangingPunct="1"/>
            <a:r>
              <a:rPr lang="en-US" sz="2400" smtClean="0"/>
              <a:t>Since no one’s just an "employee"</a:t>
            </a:r>
          </a:p>
          <a:p>
            <a:pPr eaLnBrk="1" hangingPunct="1"/>
            <a:r>
              <a:rPr lang="en-US" sz="2800" smtClean="0"/>
              <a:t>General concept of employee helpful!</a:t>
            </a:r>
          </a:p>
          <a:p>
            <a:pPr lvl="1" eaLnBrk="1" hangingPunct="1"/>
            <a:r>
              <a:rPr lang="en-US" sz="2400" smtClean="0"/>
              <a:t>All have names</a:t>
            </a:r>
          </a:p>
          <a:p>
            <a:pPr lvl="1" eaLnBrk="1" hangingPunct="1"/>
            <a:r>
              <a:rPr lang="en-US" sz="2400" smtClean="0"/>
              <a:t>All have social security numbers</a:t>
            </a:r>
          </a:p>
          <a:p>
            <a:pPr lvl="1" eaLnBrk="1" hangingPunct="1"/>
            <a:r>
              <a:rPr lang="en-US" sz="2400" smtClean="0"/>
              <a:t>Associated functions for these "basics" are</a:t>
            </a:r>
            <a:br>
              <a:rPr lang="en-US" sz="2400" smtClean="0"/>
            </a:br>
            <a:r>
              <a:rPr lang="en-US" sz="2400" smtClean="0"/>
              <a:t>same among all employees</a:t>
            </a:r>
          </a:p>
          <a:p>
            <a:pPr eaLnBrk="1" hangingPunct="1"/>
            <a:r>
              <a:rPr lang="en-US" sz="2800" smtClean="0"/>
              <a:t>So "general" class can contain all these</a:t>
            </a:r>
            <a:br>
              <a:rPr lang="en-US" sz="2800" smtClean="0"/>
            </a:br>
            <a:r>
              <a:rPr lang="en-US" sz="2800" smtClean="0"/>
              <a:t>"things" about employees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3C673CE4-1C71-4F66-A67B-61A436726D86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45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Employee Class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Many members of "employee" class apply</a:t>
            </a:r>
            <a:br>
              <a:rPr lang="en-US" sz="2800" smtClean="0"/>
            </a:br>
            <a:r>
              <a:rPr lang="en-US" sz="2800" smtClean="0"/>
              <a:t>to all types of employees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Accessor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Mutator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Most data items: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SSN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Name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Pay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We won’t have "objects" of this </a:t>
            </a:r>
            <a:br>
              <a:rPr lang="en-US" sz="2800" smtClean="0"/>
            </a:br>
            <a:r>
              <a:rPr lang="en-US" sz="2800" smtClean="0"/>
              <a:t>class, however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CFAF3645-7BD7-495C-A7A7-66C7CFC231D0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Employee Class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Consider printCheck() function:</a:t>
            </a:r>
          </a:p>
          <a:p>
            <a:pPr lvl="1" eaLnBrk="1" hangingPunct="1"/>
            <a:r>
              <a:rPr lang="en-US" sz="2400" smtClean="0"/>
              <a:t>Will always be "redefined" in derived classes</a:t>
            </a:r>
          </a:p>
          <a:p>
            <a:pPr lvl="1" eaLnBrk="1" hangingPunct="1"/>
            <a:r>
              <a:rPr lang="en-US" sz="2400" smtClean="0"/>
              <a:t>So different employee types can have</a:t>
            </a:r>
            <a:br>
              <a:rPr lang="en-US" sz="2400" smtClean="0"/>
            </a:br>
            <a:r>
              <a:rPr lang="en-US" sz="2400" smtClean="0"/>
              <a:t>different checks</a:t>
            </a:r>
          </a:p>
          <a:p>
            <a:pPr lvl="1" eaLnBrk="1" hangingPunct="1"/>
            <a:r>
              <a:rPr lang="en-US" sz="2400" smtClean="0"/>
              <a:t>Makes no sense really for "undifferentiated"</a:t>
            </a:r>
            <a:br>
              <a:rPr lang="en-US" sz="2400" smtClean="0"/>
            </a:br>
            <a:r>
              <a:rPr lang="en-US" sz="2400" smtClean="0"/>
              <a:t>employee</a:t>
            </a:r>
          </a:p>
          <a:p>
            <a:pPr lvl="1" eaLnBrk="1" hangingPunct="1"/>
            <a:r>
              <a:rPr lang="en-US" sz="2400" smtClean="0"/>
              <a:t>So function printCheck() in Employee class</a:t>
            </a:r>
            <a:br>
              <a:rPr lang="en-US" sz="2400" smtClean="0"/>
            </a:br>
            <a:r>
              <a:rPr lang="en-US" sz="2400" smtClean="0"/>
              <a:t>says just that</a:t>
            </a:r>
          </a:p>
          <a:p>
            <a:pPr lvl="2" eaLnBrk="1" hangingPunct="1"/>
            <a:r>
              <a:rPr lang="en-US" sz="2000" smtClean="0"/>
              <a:t>Error message stating "printCheck called for</a:t>
            </a:r>
            <a:br>
              <a:rPr lang="en-US" sz="2000" smtClean="0"/>
            </a:br>
            <a:r>
              <a:rPr lang="en-US" sz="2000" smtClean="0"/>
              <a:t>undifferentiated employee!! Aborting…"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ED4996BB-0228-4D1F-95E5-B99470B0F614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Deriving from Employee Class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Derived classes from Employee class:</a:t>
            </a:r>
          </a:p>
          <a:p>
            <a:pPr lvl="1" eaLnBrk="1" hangingPunct="1"/>
            <a:r>
              <a:rPr lang="en-US" smtClean="0"/>
              <a:t>Automatically have all member variables</a:t>
            </a:r>
          </a:p>
          <a:p>
            <a:pPr lvl="1" eaLnBrk="1" hangingPunct="1"/>
            <a:r>
              <a:rPr lang="en-US" smtClean="0"/>
              <a:t>Automatically have all member functions</a:t>
            </a:r>
          </a:p>
          <a:p>
            <a:pPr eaLnBrk="1" hangingPunct="1"/>
            <a:r>
              <a:rPr lang="en-US" smtClean="0"/>
              <a:t>Derived class said to "inherit" members</a:t>
            </a:r>
            <a:br>
              <a:rPr lang="en-US" smtClean="0"/>
            </a:br>
            <a:r>
              <a:rPr lang="en-US" smtClean="0"/>
              <a:t>from base class</a:t>
            </a:r>
          </a:p>
          <a:p>
            <a:pPr eaLnBrk="1" hangingPunct="1"/>
            <a:r>
              <a:rPr lang="en-US" smtClean="0"/>
              <a:t>Can then redefine existing members</a:t>
            </a:r>
            <a:br>
              <a:rPr lang="en-US" smtClean="0"/>
            </a:br>
            <a:r>
              <a:rPr lang="en-US" smtClean="0"/>
              <a:t>and/or add new members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B08D1F8F-8EDE-4EF8-901C-95206297A2A8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Display 14.3</a:t>
            </a:r>
            <a:r>
              <a:rPr lang="en-US" sz="3200" smtClean="0"/>
              <a:t>  Interface for the Derived Class HourlyEmployee (1 of 2)</a:t>
            </a:r>
          </a:p>
        </p:txBody>
      </p:sp>
      <p:pic>
        <p:nvPicPr>
          <p:cNvPr id="32770" name="Picture 4" descr="C:\WINDOWS\Desktop\Oh_type\sacitch_C++_ppt\gif\savitchc14d03_1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782638" y="1843088"/>
            <a:ext cx="8229600" cy="349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727EED4C-B11C-4CD9-A9A8-DE9150EC1D30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2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Display 14.3</a:t>
            </a:r>
            <a:r>
              <a:rPr lang="en-US" sz="3200" smtClean="0"/>
              <a:t>  Interface for the Derived Class HourlyEmployee (2 of 2)</a:t>
            </a:r>
          </a:p>
        </p:txBody>
      </p:sp>
      <p:pic>
        <p:nvPicPr>
          <p:cNvPr id="34818" name="Picture 4" descr="C:\WINDOWS\Desktop\Oh_type\sacitch_C++_ppt\gif\savitchc14d03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12825" y="1733550"/>
            <a:ext cx="7772400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EA830130-57EB-4468-882B-3AC1300DA68F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4820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HourlyEmployee Class Interface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Note definition begins same as any other</a:t>
            </a:r>
          </a:p>
          <a:p>
            <a:pPr lvl="1" eaLnBrk="1" hangingPunct="1"/>
            <a:r>
              <a:rPr lang="en-US" sz="2400" smtClean="0"/>
              <a:t>#ifndef structure</a:t>
            </a:r>
          </a:p>
          <a:p>
            <a:pPr lvl="1" eaLnBrk="1" hangingPunct="1"/>
            <a:r>
              <a:rPr lang="en-US" sz="2400" smtClean="0"/>
              <a:t>Includes required libraries</a:t>
            </a:r>
          </a:p>
          <a:p>
            <a:pPr lvl="1" eaLnBrk="1" hangingPunct="1"/>
            <a:r>
              <a:rPr lang="en-US" sz="2400" smtClean="0"/>
              <a:t>Also includes employee.h!</a:t>
            </a:r>
          </a:p>
          <a:p>
            <a:pPr eaLnBrk="1" hangingPunct="1"/>
            <a:r>
              <a:rPr lang="en-US" sz="2800" smtClean="0"/>
              <a:t>And, the heading:</a:t>
            </a:r>
            <a:br>
              <a:rPr lang="en-US" sz="2800" smtClean="0"/>
            </a:br>
            <a:r>
              <a:rPr lang="en-US" sz="2800" smtClean="0"/>
              <a:t>class HourlyEmployee : public Employee</a:t>
            </a:r>
            <a:br>
              <a:rPr lang="en-US" sz="2800" smtClean="0"/>
            </a:br>
            <a:r>
              <a:rPr lang="en-US" sz="2800" smtClean="0"/>
              <a:t>{ …</a:t>
            </a:r>
          </a:p>
          <a:p>
            <a:pPr lvl="1" eaLnBrk="1" hangingPunct="1"/>
            <a:r>
              <a:rPr lang="en-US" sz="2400" smtClean="0"/>
              <a:t>Specifies "publicly inherited" from Employee</a:t>
            </a:r>
            <a:br>
              <a:rPr lang="en-US" sz="2400" smtClean="0"/>
            </a:br>
            <a:r>
              <a:rPr lang="en-US" sz="2400" smtClean="0"/>
              <a:t>class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0B2D55EA-381A-493B-BB96-316CF2E0E9C1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68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HourlyEmployee Class Additions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Derived class interface only lists new or</a:t>
            </a:r>
            <a:br>
              <a:rPr lang="en-US" sz="2800" smtClean="0"/>
            </a:br>
            <a:r>
              <a:rPr lang="en-US" sz="2800" smtClean="0"/>
              <a:t>"to be redefined" members</a:t>
            </a:r>
          </a:p>
          <a:p>
            <a:pPr lvl="1" eaLnBrk="1" hangingPunct="1"/>
            <a:r>
              <a:rPr lang="en-US" sz="2400" smtClean="0"/>
              <a:t>Since all others inherited are already defined</a:t>
            </a:r>
          </a:p>
          <a:p>
            <a:pPr lvl="1" eaLnBrk="1" hangingPunct="1"/>
            <a:r>
              <a:rPr lang="en-US" sz="2400" smtClean="0"/>
              <a:t>i.e.: "all" employees have ssn, name, etc.</a:t>
            </a:r>
          </a:p>
          <a:p>
            <a:pPr eaLnBrk="1" hangingPunct="1"/>
            <a:r>
              <a:rPr lang="en-US" sz="2800" smtClean="0"/>
              <a:t>HourlyEmployee adds:</a:t>
            </a:r>
          </a:p>
          <a:p>
            <a:pPr lvl="1" eaLnBrk="1" hangingPunct="1"/>
            <a:r>
              <a:rPr lang="en-US" sz="2400" smtClean="0"/>
              <a:t>Constructors</a:t>
            </a:r>
          </a:p>
          <a:p>
            <a:pPr lvl="1" eaLnBrk="1" hangingPunct="1"/>
            <a:r>
              <a:rPr lang="en-US" sz="2400" smtClean="0"/>
              <a:t>wageRate, hours member variables</a:t>
            </a:r>
          </a:p>
          <a:p>
            <a:pPr lvl="1" eaLnBrk="1" hangingPunct="1"/>
            <a:r>
              <a:rPr lang="en-US" sz="2400" smtClean="0"/>
              <a:t>setRate(), getRate(), setHours(), getHours()</a:t>
            </a:r>
            <a:br>
              <a:rPr lang="en-US" sz="2400" smtClean="0"/>
            </a:br>
            <a:r>
              <a:rPr lang="en-US" sz="2400" smtClean="0"/>
              <a:t>member functions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F3A79467-E521-4B5F-AC14-106DBCA3FC64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89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HourlyEmployee Class Redefinitions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HourlyEmployee redefines:</a:t>
            </a:r>
          </a:p>
          <a:p>
            <a:pPr lvl="1" eaLnBrk="1" hangingPunct="1"/>
            <a:r>
              <a:rPr lang="en-US" sz="2400" smtClean="0"/>
              <a:t>printCheck() member function</a:t>
            </a:r>
          </a:p>
          <a:p>
            <a:pPr lvl="1" eaLnBrk="1" hangingPunct="1"/>
            <a:r>
              <a:rPr lang="en-US" sz="2400" smtClean="0"/>
              <a:t>This "overrides" the printCheck() function</a:t>
            </a:r>
            <a:br>
              <a:rPr lang="en-US" sz="2400" smtClean="0"/>
            </a:br>
            <a:r>
              <a:rPr lang="en-US" sz="2400" smtClean="0"/>
              <a:t>implementation from Employee class</a:t>
            </a:r>
          </a:p>
          <a:p>
            <a:pPr eaLnBrk="1" hangingPunct="1"/>
            <a:r>
              <a:rPr lang="en-US" sz="2800" smtClean="0"/>
              <a:t>It’s definition must be in HourlyEmployee</a:t>
            </a:r>
            <a:br>
              <a:rPr lang="en-US" sz="2800" smtClean="0"/>
            </a:br>
            <a:r>
              <a:rPr lang="en-US" sz="2800" smtClean="0"/>
              <a:t>class’s implementation</a:t>
            </a:r>
          </a:p>
          <a:p>
            <a:pPr lvl="1" eaLnBrk="1" hangingPunct="1"/>
            <a:r>
              <a:rPr lang="en-US" sz="2400" smtClean="0"/>
              <a:t>As do other member functions declared in</a:t>
            </a:r>
            <a:br>
              <a:rPr lang="en-US" sz="2400" smtClean="0"/>
            </a:br>
            <a:r>
              <a:rPr lang="en-US" sz="2400" smtClean="0"/>
              <a:t>HourlyEmployee’s interface</a:t>
            </a:r>
          </a:p>
          <a:p>
            <a:pPr lvl="2" eaLnBrk="1" hangingPunct="1"/>
            <a:r>
              <a:rPr lang="en-US" sz="2000" smtClean="0"/>
              <a:t>New and "to be redefined"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64A764F3-0FFF-4CAB-9B9B-6FC552E9445D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Inheritance Terminology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Common to simulate family relationships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Parent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Refers to base class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Child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Refers to derived class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Ancestor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Class that’s a parent of a parent …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Descendant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Opposite of ancestor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28B2510F-B370-40C8-968D-32C021F2DCAA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Constructors in Derived Classes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Base class constructors are NOT inherited in derived classes!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But they can be invoked within derived class</a:t>
            </a:r>
            <a:br>
              <a:rPr lang="en-US" sz="2400" smtClean="0"/>
            </a:br>
            <a:r>
              <a:rPr lang="en-US" sz="2400" smtClean="0"/>
              <a:t>constructor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Which is all we need!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Base class constructor must initialize all</a:t>
            </a:r>
            <a:br>
              <a:rPr lang="en-US" sz="2800" smtClean="0"/>
            </a:br>
            <a:r>
              <a:rPr lang="en-US" sz="2800" smtClean="0"/>
              <a:t>base class member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Those inherited by derived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So derived class constructor simply calls it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"First" thing derived class constructor does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61A3B1AD-C360-4B58-9040-35378A4A2638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6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Derived Class Constructor Example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Consider syntax for HourlyEmployee</a:t>
            </a:r>
            <a:br>
              <a:rPr lang="en-US" sz="2800" smtClean="0"/>
            </a:br>
            <a:r>
              <a:rPr lang="en-US" sz="2800" smtClean="0"/>
              <a:t>constructor:</a:t>
            </a:r>
            <a:br>
              <a:rPr lang="en-US" sz="2800" smtClean="0"/>
            </a:br>
            <a:r>
              <a:rPr lang="en-US" sz="2000" smtClean="0"/>
              <a:t>HourlyEmployee::HourlyEmployee(string theName,</a:t>
            </a:r>
            <a:br>
              <a:rPr lang="en-US" sz="2000" smtClean="0"/>
            </a:br>
            <a:r>
              <a:rPr lang="en-US" sz="2000" smtClean="0"/>
              <a:t>			string theNumber, double theWageRate,</a:t>
            </a:r>
            <a:br>
              <a:rPr lang="en-US" sz="2000" smtClean="0"/>
            </a:br>
            <a:r>
              <a:rPr lang="en-US" sz="2000" smtClean="0"/>
              <a:t>			double theHours)</a:t>
            </a:r>
            <a:br>
              <a:rPr lang="en-US" sz="2000" smtClean="0"/>
            </a:br>
            <a:r>
              <a:rPr lang="en-US" sz="2000" smtClean="0"/>
              <a:t>		: Employee(theName, theNumber),</a:t>
            </a:r>
            <a:br>
              <a:rPr lang="en-US" sz="2000" smtClean="0"/>
            </a:br>
            <a:r>
              <a:rPr lang="en-US" sz="2000" smtClean="0"/>
              <a:t>		wageRate(theWageRate), hours(theHours)</a:t>
            </a:r>
            <a:br>
              <a:rPr lang="en-US" sz="2000" smtClean="0"/>
            </a:br>
            <a:r>
              <a:rPr lang="en-US" sz="2000" smtClean="0"/>
              <a:t>{</a:t>
            </a:r>
            <a:br>
              <a:rPr lang="en-US" sz="2000" smtClean="0"/>
            </a:br>
            <a:r>
              <a:rPr lang="en-US" sz="2000" smtClean="0"/>
              <a:t>	//Deliberately empty</a:t>
            </a:r>
            <a:br>
              <a:rPr lang="en-US" sz="2000" smtClean="0"/>
            </a:br>
            <a:r>
              <a:rPr lang="en-US" sz="2000" smtClean="0"/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Portion after : is "initialization section"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Includes invocation of Employee constructor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D04D578B-5725-402B-BE37-B8E6CDFE81A7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710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Another HourlyEmployee Constructor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A second constructor:</a:t>
            </a:r>
            <a:br>
              <a:rPr lang="en-US" sz="2800" smtClean="0"/>
            </a:br>
            <a:r>
              <a:rPr lang="en-US" sz="2400" smtClean="0"/>
              <a:t>HourlyEmployee::HourlyEmployee()</a:t>
            </a:r>
            <a:br>
              <a:rPr lang="en-US" sz="2400" smtClean="0"/>
            </a:br>
            <a:r>
              <a:rPr lang="en-US" sz="2400" smtClean="0"/>
              <a:t>		: Employee(), 	wageRate(0), </a:t>
            </a:r>
            <a:br>
              <a:rPr lang="en-US" sz="2400" smtClean="0"/>
            </a:br>
            <a:r>
              <a:rPr lang="en-US" sz="2400" smtClean="0"/>
              <a:t>					hours(0)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//Deliberately empty</a:t>
            </a:r>
            <a:br>
              <a:rPr lang="en-US" sz="2400" smtClean="0"/>
            </a:br>
            <a:r>
              <a:rPr lang="en-US" sz="2400" smtClean="0"/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Default version of base class constructor</a:t>
            </a:r>
            <a:br>
              <a:rPr lang="en-US" sz="2800" smtClean="0"/>
            </a:br>
            <a:r>
              <a:rPr lang="en-US" sz="2800" smtClean="0"/>
              <a:t>is called (no arguments)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Should always invoke one of the base</a:t>
            </a:r>
            <a:br>
              <a:rPr lang="en-US" sz="2800" smtClean="0"/>
            </a:br>
            <a:r>
              <a:rPr lang="en-US" sz="2800" smtClean="0"/>
              <a:t>class’s constructors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B663CD26-E329-4913-9573-62A469302D5C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Constructor: No Base Class Call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Derived class constructor should always</a:t>
            </a:r>
            <a:br>
              <a:rPr lang="en-US" sz="2800" smtClean="0"/>
            </a:br>
            <a:r>
              <a:rPr lang="en-US" sz="2800" smtClean="0"/>
              <a:t>invoke one of the base class’s constructors</a:t>
            </a:r>
          </a:p>
          <a:p>
            <a:pPr eaLnBrk="1" hangingPunct="1"/>
            <a:r>
              <a:rPr lang="en-US" sz="2800" smtClean="0"/>
              <a:t>If you do not:</a:t>
            </a:r>
          </a:p>
          <a:p>
            <a:pPr lvl="1" eaLnBrk="1" hangingPunct="1"/>
            <a:r>
              <a:rPr lang="en-US" sz="2400" smtClean="0"/>
              <a:t>Default base class constructor automatically called</a:t>
            </a:r>
          </a:p>
          <a:p>
            <a:pPr eaLnBrk="1" hangingPunct="1"/>
            <a:r>
              <a:rPr lang="en-US" sz="2800" smtClean="0"/>
              <a:t>Equivalent constructor definition:</a:t>
            </a:r>
            <a:br>
              <a:rPr lang="en-US" sz="2800" smtClean="0"/>
            </a:br>
            <a:r>
              <a:rPr lang="en-US" sz="2400" smtClean="0"/>
              <a:t>HourlyEmployee::HourlyEmployee()</a:t>
            </a:r>
            <a:br>
              <a:rPr lang="en-US" sz="2400" smtClean="0"/>
            </a:br>
            <a:r>
              <a:rPr lang="en-US" sz="2400" smtClean="0"/>
              <a:t>			: wageRate(0), hours(0)</a:t>
            </a:r>
            <a:br>
              <a:rPr lang="en-US" sz="2400" smtClean="0"/>
            </a:br>
            <a:r>
              <a:rPr lang="en-US" sz="2400" smtClean="0"/>
              <a:t>{ 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379B11A4-7C52-4E1E-8A30-2F9BC14C045F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Pitfall: Base Class Private Data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Derived class "inherits" private member</a:t>
            </a:r>
            <a:br>
              <a:rPr lang="en-US" smtClean="0"/>
            </a:br>
            <a:r>
              <a:rPr lang="en-US" smtClean="0"/>
              <a:t>variables</a:t>
            </a:r>
          </a:p>
          <a:p>
            <a:pPr lvl="1" eaLnBrk="1" hangingPunct="1"/>
            <a:r>
              <a:rPr lang="en-US" smtClean="0"/>
              <a:t>But still cannot directly access them</a:t>
            </a:r>
          </a:p>
          <a:p>
            <a:pPr lvl="1" eaLnBrk="1" hangingPunct="1"/>
            <a:r>
              <a:rPr lang="en-US" smtClean="0"/>
              <a:t>Not even through derived class member</a:t>
            </a:r>
            <a:br>
              <a:rPr lang="en-US" smtClean="0"/>
            </a:br>
            <a:r>
              <a:rPr lang="en-US" smtClean="0"/>
              <a:t>functions!</a:t>
            </a:r>
          </a:p>
          <a:p>
            <a:pPr eaLnBrk="1" hangingPunct="1"/>
            <a:r>
              <a:rPr lang="en-US" smtClean="0"/>
              <a:t>Private member variables can ONLY be</a:t>
            </a:r>
            <a:br>
              <a:rPr lang="en-US" smtClean="0"/>
            </a:br>
            <a:r>
              <a:rPr lang="en-US" smtClean="0"/>
              <a:t>accessed "by name" in member functions of the class they’re defined 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BDF17631-305B-4450-9CC8-45236496EF58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Pitfall: Base Class Private Member Functions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Same holds for base class </a:t>
            </a:r>
            <a:br>
              <a:rPr lang="en-US" smtClean="0"/>
            </a:br>
            <a:r>
              <a:rPr lang="en-US" smtClean="0"/>
              <a:t>member functions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Cannot be accessed outside interface and</a:t>
            </a:r>
            <a:br>
              <a:rPr lang="en-US" smtClean="0"/>
            </a:br>
            <a:r>
              <a:rPr lang="en-US" smtClean="0"/>
              <a:t>implementation of base class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Not even in derived class member </a:t>
            </a:r>
            <a:br>
              <a:rPr lang="en-US" smtClean="0"/>
            </a:br>
            <a:r>
              <a:rPr lang="en-US" smtClean="0"/>
              <a:t>function definitions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00B5171B-E50E-4E1B-B5D2-D9160832BA98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530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Pitfall: Base Class Private Member Functions Impact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Larger impact here vs. member variables</a:t>
            </a:r>
          </a:p>
          <a:p>
            <a:pPr lvl="1" eaLnBrk="1" hangingPunct="1"/>
            <a:r>
              <a:rPr lang="en-US" sz="2400" smtClean="0"/>
              <a:t>Member variables can be accessed indirectly</a:t>
            </a:r>
            <a:br>
              <a:rPr lang="en-US" sz="2400" smtClean="0"/>
            </a:br>
            <a:r>
              <a:rPr lang="en-US" sz="2400" smtClean="0"/>
              <a:t>via accessor or mutator member functions</a:t>
            </a:r>
          </a:p>
          <a:p>
            <a:pPr lvl="1" eaLnBrk="1" hangingPunct="1"/>
            <a:r>
              <a:rPr lang="en-US" sz="2400" smtClean="0"/>
              <a:t>Member functions simply not available</a:t>
            </a:r>
          </a:p>
          <a:p>
            <a:pPr eaLnBrk="1" hangingPunct="1"/>
            <a:r>
              <a:rPr lang="en-US" sz="2800" smtClean="0"/>
              <a:t>This is "reasonable"</a:t>
            </a:r>
          </a:p>
          <a:p>
            <a:pPr lvl="1" eaLnBrk="1" hangingPunct="1"/>
            <a:r>
              <a:rPr lang="en-US" sz="2400" smtClean="0"/>
              <a:t>Private member functions should be simply</a:t>
            </a:r>
            <a:br>
              <a:rPr lang="en-US" sz="2400" smtClean="0"/>
            </a:br>
            <a:r>
              <a:rPr lang="en-US" sz="2400" smtClean="0"/>
              <a:t>"helper" functions</a:t>
            </a:r>
          </a:p>
          <a:p>
            <a:pPr lvl="1" eaLnBrk="1" hangingPunct="1"/>
            <a:r>
              <a:rPr lang="en-US" sz="2400" smtClean="0"/>
              <a:t>Should be used only in class they’re defined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4F59439C-DBB5-4946-93DB-A0C5A9248589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734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protected: Qualifier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New classification of class members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Allows access "by name" in derived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But nowhere else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Still no access "by name" in other classes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In class it’s defined </a:t>
            </a:r>
            <a:r>
              <a:rPr lang="en-US" sz="2800" smtClean="0">
                <a:sym typeface="Wingdings" pitchFamily="2" charset="2"/>
              </a:rPr>
              <a:t></a:t>
            </a:r>
            <a:r>
              <a:rPr lang="en-US" sz="2800" smtClean="0"/>
              <a:t> acts like private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Considered "protected" in derived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To allow future derivations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Many feel this "violates" information hiding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750A51D2-BEEB-4255-94DA-8EF8B66DDFA6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939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Redefinition of Member Functions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Recall interface of derived class:</a:t>
            </a:r>
          </a:p>
          <a:p>
            <a:pPr lvl="1" eaLnBrk="1" hangingPunct="1"/>
            <a:r>
              <a:rPr lang="en-US" sz="2400" smtClean="0"/>
              <a:t>Contains declarations for new member functions</a:t>
            </a:r>
          </a:p>
          <a:p>
            <a:pPr lvl="1" eaLnBrk="1" hangingPunct="1"/>
            <a:r>
              <a:rPr lang="en-US" sz="2400" smtClean="0"/>
              <a:t>Also contains declarations for inherited</a:t>
            </a:r>
            <a:br>
              <a:rPr lang="en-US" sz="2400" smtClean="0"/>
            </a:br>
            <a:r>
              <a:rPr lang="en-US" sz="2400" smtClean="0"/>
              <a:t>member functions to be changed</a:t>
            </a:r>
          </a:p>
          <a:p>
            <a:pPr lvl="1" eaLnBrk="1" hangingPunct="1"/>
            <a:r>
              <a:rPr lang="en-US" sz="2400" smtClean="0"/>
              <a:t>Inherited member functions NOT declared:</a:t>
            </a:r>
          </a:p>
          <a:p>
            <a:pPr lvl="2" eaLnBrk="1" hangingPunct="1"/>
            <a:r>
              <a:rPr lang="en-US" sz="2000" smtClean="0"/>
              <a:t>Automatically inherited unchanged</a:t>
            </a:r>
          </a:p>
          <a:p>
            <a:pPr eaLnBrk="1" hangingPunct="1"/>
            <a:r>
              <a:rPr lang="en-US" sz="2800" smtClean="0"/>
              <a:t>Implementation of derived class will:</a:t>
            </a:r>
          </a:p>
          <a:p>
            <a:pPr lvl="1" eaLnBrk="1" hangingPunct="1"/>
            <a:r>
              <a:rPr lang="en-US" sz="2400" smtClean="0"/>
              <a:t>Define new member functions</a:t>
            </a:r>
          </a:p>
          <a:p>
            <a:pPr lvl="1" eaLnBrk="1" hangingPunct="1"/>
            <a:r>
              <a:rPr lang="en-US" sz="2400" smtClean="0"/>
              <a:t>Redefine inherited functions as declared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38E544EA-AAEB-4E99-B39D-51B9F57565C9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144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Redefining vs. Overloading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Very different!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Redefining in derived class: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SAME parameter list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Essentially "re-writes" same function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Overloading: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Different parameter list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Defined "new" function that takes </a:t>
            </a:r>
            <a:br>
              <a:rPr lang="en-US" sz="2400" smtClean="0"/>
            </a:br>
            <a:r>
              <a:rPr lang="en-US" sz="2400" smtClean="0"/>
              <a:t>different parameters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Overloaded functions must have </a:t>
            </a:r>
            <a:br>
              <a:rPr lang="en-US" sz="2400" smtClean="0"/>
            </a:br>
            <a:r>
              <a:rPr lang="en-US" sz="2400" smtClean="0"/>
              <a:t>different signatures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DCC9CA80-BD9C-4B1F-AF65-99A395616FFC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349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 Function’s Signature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Recall definition of a "signature":</a:t>
            </a:r>
          </a:p>
          <a:p>
            <a:pPr lvl="1" eaLnBrk="1" hangingPunct="1"/>
            <a:r>
              <a:rPr lang="en-US" smtClean="0"/>
              <a:t>Function’s name</a:t>
            </a:r>
          </a:p>
          <a:p>
            <a:pPr lvl="1" eaLnBrk="1" hangingPunct="1"/>
            <a:r>
              <a:rPr lang="en-US" smtClean="0"/>
              <a:t>Sequence of types in parameter list</a:t>
            </a:r>
          </a:p>
          <a:p>
            <a:pPr lvl="2" eaLnBrk="1" hangingPunct="1"/>
            <a:r>
              <a:rPr lang="en-US" smtClean="0"/>
              <a:t>Including order, number, types</a:t>
            </a:r>
          </a:p>
          <a:p>
            <a:pPr eaLnBrk="1" hangingPunct="1"/>
            <a:r>
              <a:rPr lang="en-US" smtClean="0"/>
              <a:t>Signature does NOT include:</a:t>
            </a:r>
          </a:p>
          <a:p>
            <a:pPr lvl="1" eaLnBrk="1" hangingPunct="1"/>
            <a:r>
              <a:rPr lang="en-US" smtClean="0"/>
              <a:t>Return type</a:t>
            </a:r>
          </a:p>
          <a:p>
            <a:pPr lvl="1" eaLnBrk="1" hangingPunct="1"/>
            <a:r>
              <a:rPr lang="en-US" smtClean="0"/>
              <a:t>const keyword</a:t>
            </a:r>
          </a:p>
          <a:p>
            <a:pPr lvl="1" eaLnBrk="1" hangingPunct="1"/>
            <a:r>
              <a:rPr lang="en-US" smtClean="0"/>
              <a:t>&amp;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EADCF169-81DC-49F3-86E4-79B55D3AEB36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554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Accessing Redefined Base Function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When redefined in derived class, base</a:t>
            </a:r>
            <a:br>
              <a:rPr lang="en-US" sz="2800" smtClean="0"/>
            </a:br>
            <a:r>
              <a:rPr lang="en-US" sz="2800" smtClean="0"/>
              <a:t>class’s definition not "lost"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Can specify it’s use:</a:t>
            </a:r>
            <a:br>
              <a:rPr lang="en-US" sz="2800" smtClean="0"/>
            </a:br>
            <a:r>
              <a:rPr lang="en-US" sz="2000" smtClean="0"/>
              <a:t>Employee 	  JaneE;</a:t>
            </a:r>
            <a:br>
              <a:rPr lang="en-US" sz="2000" smtClean="0"/>
            </a:br>
            <a:r>
              <a:rPr lang="en-US" sz="2000" smtClean="0"/>
              <a:t>HourlyEmployee SallyH;</a:t>
            </a:r>
            <a:br>
              <a:rPr lang="en-US" sz="2000" smtClean="0"/>
            </a:br>
            <a:r>
              <a:rPr lang="en-US" sz="2000" smtClean="0"/>
              <a:t>JaneE.printCheck(); 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calls Employee’s</a:t>
            </a:r>
            <a:br>
              <a:rPr lang="en-US" sz="2000" smtClean="0"/>
            </a:br>
            <a:r>
              <a:rPr lang="en-US" sz="2000" smtClean="0"/>
              <a:t>				   printCheck function</a:t>
            </a:r>
            <a:br>
              <a:rPr lang="en-US" sz="2000" smtClean="0"/>
            </a:br>
            <a:r>
              <a:rPr lang="en-US" sz="2000" smtClean="0"/>
              <a:t>SallyH.printCheck(); 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calls HourlyEmployee</a:t>
            </a:r>
            <a:br>
              <a:rPr lang="en-US" sz="2000" smtClean="0"/>
            </a:br>
            <a:r>
              <a:rPr lang="en-US" sz="2000" smtClean="0"/>
              <a:t>				   printCheck function</a:t>
            </a:r>
            <a:br>
              <a:rPr lang="en-US" sz="2000" smtClean="0"/>
            </a:br>
            <a:r>
              <a:rPr lang="en-US" sz="2000" smtClean="0"/>
              <a:t>SallyH.Employee::printCheck(); 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Calls Employee’s</a:t>
            </a:r>
            <a:br>
              <a:rPr lang="en-US" sz="2000" smtClean="0"/>
            </a:br>
            <a:r>
              <a:rPr lang="en-US" sz="2000" smtClean="0"/>
              <a:t>				   printCheck function!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Not typical here, but useful sometimes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FACB4AB6-5DB3-46E1-ACE6-CCB468E123B2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758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Functions Not Inherited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All "normal" functions in base class are</a:t>
            </a:r>
            <a:br>
              <a:rPr lang="en-US" sz="2800" smtClean="0"/>
            </a:br>
            <a:r>
              <a:rPr lang="en-US" sz="2800" smtClean="0"/>
              <a:t>inherited in derived class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Exceptions: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Constructors (we’ve seen)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Destructors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Copy constructor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But if not defined, generates "default" one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Recall need to define one for pointers!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Assignment operator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If not defined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default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F4D0E096-A001-45F6-AF83-F0A628E5F742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963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Assignment Operators </a:t>
            </a:r>
            <a:br>
              <a:rPr lang="en-US" sz="3600" smtClean="0"/>
            </a:br>
            <a:r>
              <a:rPr lang="en-US" sz="3600" smtClean="0"/>
              <a:t>and Copy Constructors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smtClean="0"/>
              <a:t>Recall: overloaded assignment operators and copy constructors </a:t>
            </a:r>
            <a:br>
              <a:rPr lang="en-US" smtClean="0"/>
            </a:br>
            <a:r>
              <a:rPr lang="en-US" smtClean="0"/>
              <a:t>NOT inherited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mtClean="0"/>
              <a:t>But can be used in derived class definitions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mtClean="0"/>
              <a:t>Typically MUST be used!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mtClean="0"/>
              <a:t>Similar to how derived class constructor</a:t>
            </a:r>
            <a:br>
              <a:rPr lang="en-US" smtClean="0"/>
            </a:br>
            <a:r>
              <a:rPr lang="en-US" smtClean="0"/>
              <a:t>invokes base class constructor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5282A973-33BF-4CDC-BC83-4CE42C373828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168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Assignment Operator Example</a:t>
            </a:r>
          </a:p>
        </p:txBody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Given "Derived" is derived from "Base":</a:t>
            </a:r>
            <a:br>
              <a:rPr lang="en-US" sz="2800" smtClean="0"/>
            </a:br>
            <a:r>
              <a:rPr lang="en-US" sz="2000" smtClean="0"/>
              <a:t>Derived&amp; Derived::operator =(const Derived &amp; rightSide)</a:t>
            </a:r>
            <a:br>
              <a:rPr lang="en-US" sz="2000" smtClean="0"/>
            </a:br>
            <a:r>
              <a:rPr lang="en-US" sz="2000" smtClean="0"/>
              <a:t>{</a:t>
            </a:r>
            <a:br>
              <a:rPr lang="en-US" sz="2000" smtClean="0"/>
            </a:br>
            <a:r>
              <a:rPr lang="en-US" sz="2000" smtClean="0"/>
              <a:t>	Base::operator =(rightSide);</a:t>
            </a:r>
            <a:br>
              <a:rPr lang="en-US" sz="2000" smtClean="0"/>
            </a:br>
            <a:r>
              <a:rPr lang="en-US" sz="2000" smtClean="0"/>
              <a:t>	…</a:t>
            </a:r>
            <a:br>
              <a:rPr lang="en-US" sz="2000" smtClean="0"/>
            </a:br>
            <a:r>
              <a:rPr lang="en-US" sz="2000" smtClean="0"/>
              <a:t>}</a:t>
            </a:r>
          </a:p>
          <a:p>
            <a:pPr eaLnBrk="1" hangingPunct="1"/>
            <a:r>
              <a:rPr lang="en-US" sz="2800" smtClean="0"/>
              <a:t>Notice code line</a:t>
            </a:r>
          </a:p>
          <a:p>
            <a:pPr lvl="1" eaLnBrk="1" hangingPunct="1"/>
            <a:r>
              <a:rPr lang="en-US" sz="2400" smtClean="0"/>
              <a:t>Calls assignment operator from base class</a:t>
            </a:r>
          </a:p>
          <a:p>
            <a:pPr lvl="2" eaLnBrk="1" hangingPunct="1"/>
            <a:r>
              <a:rPr lang="en-US" sz="2000" smtClean="0"/>
              <a:t>This takes care of all inherited member variables</a:t>
            </a:r>
          </a:p>
          <a:p>
            <a:pPr lvl="1" eaLnBrk="1" hangingPunct="1"/>
            <a:r>
              <a:rPr lang="en-US" sz="2400" smtClean="0"/>
              <a:t>Would then set new variables from derived</a:t>
            </a:r>
            <a:br>
              <a:rPr lang="en-US" sz="2400" smtClean="0"/>
            </a:br>
            <a:r>
              <a:rPr lang="en-US" sz="2400" smtClean="0"/>
              <a:t>class…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0BEBD27C-DF87-47FE-A447-560F088CDFC5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373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Copy Constructor Example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Consider:</a:t>
            </a:r>
            <a:br>
              <a:rPr lang="en-US" sz="2800" smtClean="0"/>
            </a:br>
            <a:r>
              <a:rPr lang="en-US" sz="2800" smtClean="0"/>
              <a:t>Derived::Derived(const Derived&amp; Object)</a:t>
            </a:r>
            <a:br>
              <a:rPr lang="en-US" sz="2800" smtClean="0"/>
            </a:br>
            <a:r>
              <a:rPr lang="en-US" sz="2800" smtClean="0"/>
              <a:t>				: Base(Object), …</a:t>
            </a:r>
            <a:br>
              <a:rPr lang="en-US" sz="2800" smtClean="0"/>
            </a:br>
            <a:r>
              <a:rPr lang="en-US" sz="2800" smtClean="0"/>
              <a:t>{…}</a:t>
            </a:r>
          </a:p>
          <a:p>
            <a:pPr eaLnBrk="1" hangingPunct="1"/>
            <a:r>
              <a:rPr lang="en-US" sz="2800" smtClean="0"/>
              <a:t>After : is invocation of base copy constructor</a:t>
            </a:r>
          </a:p>
          <a:p>
            <a:pPr lvl="1" eaLnBrk="1" hangingPunct="1"/>
            <a:r>
              <a:rPr lang="en-US" sz="2400" smtClean="0"/>
              <a:t>Sets inherited member variables of derived</a:t>
            </a:r>
            <a:br>
              <a:rPr lang="en-US" sz="2400" smtClean="0"/>
            </a:br>
            <a:r>
              <a:rPr lang="en-US" sz="2400" smtClean="0"/>
              <a:t>class object being created</a:t>
            </a:r>
          </a:p>
          <a:p>
            <a:pPr lvl="1" eaLnBrk="1" hangingPunct="1"/>
            <a:r>
              <a:rPr lang="en-US" sz="2400" smtClean="0"/>
              <a:t>Note Object is of type Derived; but it’s also of</a:t>
            </a:r>
            <a:br>
              <a:rPr lang="en-US" sz="2400" smtClean="0"/>
            </a:br>
            <a:r>
              <a:rPr lang="en-US" sz="2400" smtClean="0"/>
              <a:t>type Base, so argument is valid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20E1157B-0B19-4D3B-A410-FBAEDA36C384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578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Destructors in Derived Classes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If base class destructor functions correctly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Easy to write derived class destructor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When derived class destructor is invoked: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Automatically calls base class destructor!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So no need for explicit call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So derived class destructors need only be</a:t>
            </a:r>
            <a:br>
              <a:rPr lang="en-US" sz="2800" smtClean="0"/>
            </a:br>
            <a:r>
              <a:rPr lang="en-US" sz="2800" smtClean="0"/>
              <a:t>concerned with derived class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And any data they "point" to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Base class destructor handles inherited data</a:t>
            </a:r>
            <a:br>
              <a:rPr lang="en-US" sz="2400" smtClean="0"/>
            </a:br>
            <a:r>
              <a:rPr lang="en-US" sz="2400" smtClean="0"/>
              <a:t>automatically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C35B4CBA-F4E3-4373-90E1-A1D82D2BD1D3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782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Destructor Calling Order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Consider:</a:t>
            </a:r>
            <a:br>
              <a:rPr lang="en-US" sz="2800" smtClean="0"/>
            </a:br>
            <a:r>
              <a:rPr lang="en-US" sz="2800" smtClean="0"/>
              <a:t>class B derives from class A</a:t>
            </a:r>
            <a:br>
              <a:rPr lang="en-US" sz="2800" smtClean="0"/>
            </a:br>
            <a:r>
              <a:rPr lang="en-US" sz="2800" smtClean="0"/>
              <a:t>class C derives from class B</a:t>
            </a:r>
            <a:br>
              <a:rPr lang="en-US" sz="2800" smtClean="0"/>
            </a:br>
            <a:r>
              <a:rPr lang="en-US" sz="2800" smtClean="0"/>
              <a:t>	A </a:t>
            </a:r>
            <a:r>
              <a:rPr lang="en-US" sz="2800" smtClean="0">
                <a:sym typeface="Wingdings" pitchFamily="2" charset="2"/>
              </a:rPr>
              <a:t></a:t>
            </a:r>
            <a:r>
              <a:rPr lang="en-US" sz="2800" smtClean="0"/>
              <a:t> B </a:t>
            </a:r>
            <a:r>
              <a:rPr lang="en-US" sz="2800" smtClean="0">
                <a:sym typeface="Wingdings" pitchFamily="2" charset="2"/>
              </a:rPr>
              <a:t></a:t>
            </a:r>
            <a:r>
              <a:rPr lang="en-US" sz="2800" smtClean="0"/>
              <a:t> C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When object of class C goes out of scope: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Class C destructor called 1</a:t>
            </a:r>
            <a:r>
              <a:rPr lang="en-US" sz="2400" baseline="30000" smtClean="0"/>
              <a:t>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Then class B destructor called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Finally class A destructor is called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Opposite of how constructors are called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6586F792-0CE6-4E54-8A4B-2CF1187DAB1F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987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"Is a" vs. "Has a" Relationships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Inheritance</a:t>
            </a:r>
          </a:p>
          <a:p>
            <a:pPr lvl="1" eaLnBrk="1" hangingPunct="1"/>
            <a:r>
              <a:rPr lang="en-US" sz="2400" smtClean="0"/>
              <a:t>Considered an "Is a" class relationship</a:t>
            </a:r>
          </a:p>
          <a:p>
            <a:pPr lvl="1" eaLnBrk="1" hangingPunct="1"/>
            <a:r>
              <a:rPr lang="en-US" sz="2400" smtClean="0"/>
              <a:t>e.g., An HourlyEmployee "is a" Employee</a:t>
            </a:r>
          </a:p>
          <a:p>
            <a:pPr lvl="1" eaLnBrk="1" hangingPunct="1"/>
            <a:r>
              <a:rPr lang="en-US" sz="2400" smtClean="0"/>
              <a:t>A Convertible "is a" Automobile</a:t>
            </a:r>
          </a:p>
          <a:p>
            <a:pPr eaLnBrk="1" hangingPunct="1"/>
            <a:r>
              <a:rPr lang="en-US" sz="2800" smtClean="0"/>
              <a:t>A class contains objects of another class</a:t>
            </a:r>
            <a:br>
              <a:rPr lang="en-US" sz="2800" smtClean="0"/>
            </a:br>
            <a:r>
              <a:rPr lang="en-US" sz="2800" smtClean="0"/>
              <a:t>as it’s member data</a:t>
            </a:r>
          </a:p>
          <a:p>
            <a:pPr lvl="1" eaLnBrk="1" hangingPunct="1"/>
            <a:r>
              <a:rPr lang="en-US" sz="2400" smtClean="0"/>
              <a:t>Considered a "Has a" class relationship</a:t>
            </a:r>
          </a:p>
          <a:p>
            <a:pPr lvl="1" eaLnBrk="1" hangingPunct="1"/>
            <a:r>
              <a:rPr lang="en-US" sz="2400" smtClean="0"/>
              <a:t>e.g., One class "has a" object of another</a:t>
            </a:r>
            <a:br>
              <a:rPr lang="en-US" sz="2400" smtClean="0"/>
            </a:br>
            <a:r>
              <a:rPr lang="en-US" sz="2400" smtClean="0"/>
              <a:t>class as it’s data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A3B6D09B-C9F3-4C48-A864-F28F2B9CE7FE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81924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Protected and Private Inheritance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524000"/>
            <a:ext cx="7815262" cy="4513263"/>
          </a:xfrm>
        </p:spPr>
        <p:txBody>
          <a:bodyPr/>
          <a:lstStyle/>
          <a:p>
            <a:pPr eaLnBrk="1" hangingPunct="1"/>
            <a:r>
              <a:rPr lang="en-US" sz="2400" smtClean="0"/>
              <a:t>New inheritance "forms"</a:t>
            </a:r>
          </a:p>
          <a:p>
            <a:pPr lvl="1" eaLnBrk="1" hangingPunct="1"/>
            <a:r>
              <a:rPr lang="en-US" sz="2000" smtClean="0"/>
              <a:t>Both are rarely used</a:t>
            </a:r>
          </a:p>
          <a:p>
            <a:pPr eaLnBrk="1" hangingPunct="1"/>
            <a:r>
              <a:rPr lang="en-US" sz="2400" smtClean="0"/>
              <a:t>Protected inheritance:</a:t>
            </a:r>
            <a:br>
              <a:rPr lang="en-US" sz="2400" smtClean="0"/>
            </a:br>
            <a:r>
              <a:rPr lang="en-US" sz="2000" smtClean="0"/>
              <a:t>class SalariedEmployee : protected Employee</a:t>
            </a:r>
            <a:br>
              <a:rPr lang="en-US" sz="2000" smtClean="0"/>
            </a:br>
            <a:r>
              <a:rPr lang="en-US" sz="2000" smtClean="0"/>
              <a:t>{…}</a:t>
            </a:r>
          </a:p>
          <a:p>
            <a:pPr lvl="1" eaLnBrk="1" hangingPunct="1"/>
            <a:r>
              <a:rPr lang="en-US" sz="2000" smtClean="0"/>
              <a:t>Public members in base class become</a:t>
            </a:r>
            <a:br>
              <a:rPr lang="en-US" sz="2000" smtClean="0"/>
            </a:br>
            <a:r>
              <a:rPr lang="en-US" sz="2000" smtClean="0"/>
              <a:t>protected in derived class</a:t>
            </a:r>
          </a:p>
          <a:p>
            <a:pPr eaLnBrk="1" hangingPunct="1"/>
            <a:r>
              <a:rPr lang="en-US" sz="2400" smtClean="0"/>
              <a:t>Private inheritance:</a:t>
            </a:r>
            <a:br>
              <a:rPr lang="en-US" sz="2400" smtClean="0"/>
            </a:br>
            <a:r>
              <a:rPr lang="en-US" sz="2000" smtClean="0"/>
              <a:t>class SalariedEmployee : private Employee</a:t>
            </a:r>
            <a:br>
              <a:rPr lang="en-US" sz="2000" smtClean="0"/>
            </a:br>
            <a:r>
              <a:rPr lang="en-US" sz="2000" smtClean="0"/>
              <a:t>{…}</a:t>
            </a:r>
          </a:p>
          <a:p>
            <a:pPr lvl="1" eaLnBrk="1" hangingPunct="1"/>
            <a:r>
              <a:rPr lang="en-US" sz="2000" smtClean="0"/>
              <a:t>All members in base class become private</a:t>
            </a:r>
            <a:br>
              <a:rPr lang="en-US" sz="2000" smtClean="0"/>
            </a:br>
            <a:r>
              <a:rPr lang="en-US" sz="2000" smtClean="0"/>
              <a:t>in derived class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6C07CC64-2829-4E51-AAE3-0F0443CE3F82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83972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Multiple Inheritance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Derived class can have more than one</a:t>
            </a:r>
            <a:br>
              <a:rPr lang="en-US" sz="2800" smtClean="0"/>
            </a:br>
            <a:r>
              <a:rPr lang="en-US" sz="2800" smtClean="0"/>
              <a:t>base class!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Syntax just includes all base classes</a:t>
            </a:r>
            <a:br>
              <a:rPr lang="en-US" sz="2400" smtClean="0"/>
            </a:br>
            <a:r>
              <a:rPr lang="en-US" sz="2400" smtClean="0"/>
              <a:t>separated by commas:</a:t>
            </a:r>
            <a:br>
              <a:rPr lang="en-US" sz="2400" smtClean="0"/>
            </a:br>
            <a:r>
              <a:rPr lang="en-US" sz="2400" smtClean="0"/>
              <a:t>class derivedMulti : public base1, base2</a:t>
            </a:r>
            <a:br>
              <a:rPr lang="en-US" sz="2400" smtClean="0"/>
            </a:br>
            <a:r>
              <a:rPr lang="en-US" sz="2400" smtClean="0"/>
              <a:t>{…}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Possibilities for ambiguity are endless!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Dangerous undertaking!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Some believe should never be used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Certainly should only be used be experienced</a:t>
            </a:r>
            <a:br>
              <a:rPr lang="en-US" sz="2400" smtClean="0"/>
            </a:br>
            <a:r>
              <a:rPr lang="en-US" sz="2400" smtClean="0"/>
              <a:t>programmers!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A2AE9CC0-32F8-4358-A4E5-1A5982F8091A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86020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1</a:t>
            </a:r>
          </a:p>
        </p:txBody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Inheritance provides code reuse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Allows one class to "derive" from another,</a:t>
            </a:r>
            <a:br>
              <a:rPr lang="en-US" sz="2400" smtClean="0"/>
            </a:br>
            <a:r>
              <a:rPr lang="en-US" sz="2400" smtClean="0"/>
              <a:t>adding features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Derived class objects inherit members of</a:t>
            </a:r>
            <a:br>
              <a:rPr lang="en-US" sz="2800" smtClean="0"/>
            </a:br>
            <a:r>
              <a:rPr lang="en-US" sz="2800" smtClean="0"/>
              <a:t>base class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And may add members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Private member variables in base class</a:t>
            </a:r>
            <a:br>
              <a:rPr lang="en-US" sz="2800" smtClean="0"/>
            </a:br>
            <a:r>
              <a:rPr lang="en-US" sz="2800" smtClean="0"/>
              <a:t>cannot be accessed "by name" in derived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Private member functions are not inherited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E3F49A01-31A8-458B-A798-46007EE5D5BF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88068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2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Can redefine inherited member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To perform differently in derived class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Protected members in base class: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Can be accessed "by name" in derived class</a:t>
            </a:r>
            <a:br>
              <a:rPr lang="en-US" sz="2400" smtClean="0"/>
            </a:br>
            <a:r>
              <a:rPr lang="en-US" sz="2400" smtClean="0"/>
              <a:t>member functions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Overloaded assignment operator not inherited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But can be invoked from derived class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Constructors are not inherited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Are invoked from derived class’s constructor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14-</a:t>
            </a:r>
            <a:fld id="{3E4E2A76-810C-4A4F-BF6A-8EFE190247A9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90116" name="Footer Placeholder 6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1779</Words>
  <Application>Microsoft Office PowerPoint</Application>
  <PresentationFormat>On-screen Show (4:3)</PresentationFormat>
  <Paragraphs>369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Design Template</vt:lpstr>
      </vt:variant>
      <vt:variant>
        <vt:i4>12</vt:i4>
      </vt:variant>
      <vt:variant>
        <vt:lpstr>Slide Titles</vt:lpstr>
      </vt:variant>
      <vt:variant>
        <vt:i4>38</vt:i4>
      </vt:variant>
    </vt:vector>
  </HeadingPairs>
  <TitlesOfParts>
    <vt:vector size="53" baseType="lpstr">
      <vt:lpstr>Arial</vt:lpstr>
      <vt:lpstr>Calibri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Chapter 14</vt:lpstr>
      <vt:lpstr>Learning Objectives</vt:lpstr>
      <vt:lpstr>Introduction to Inheritance</vt:lpstr>
      <vt:lpstr>Inheritance Basics</vt:lpstr>
      <vt:lpstr>Derived Classes</vt:lpstr>
      <vt:lpstr>Derived Classes</vt:lpstr>
      <vt:lpstr>Employee Class</vt:lpstr>
      <vt:lpstr>Employee Class</vt:lpstr>
      <vt:lpstr>Deriving from Employee Class</vt:lpstr>
      <vt:lpstr>Display 14.3  Interface for the Derived Class HourlyEmployee (1 of 2)</vt:lpstr>
      <vt:lpstr>Display 14.3  Interface for the Derived Class HourlyEmployee (2 of 2)</vt:lpstr>
      <vt:lpstr>HourlyEmployee Class Interface</vt:lpstr>
      <vt:lpstr>HourlyEmployee Class Additions</vt:lpstr>
      <vt:lpstr>HourlyEmployee Class Redefinitions</vt:lpstr>
      <vt:lpstr>Inheritance Terminology</vt:lpstr>
      <vt:lpstr>Constructors in Derived Classes</vt:lpstr>
      <vt:lpstr>Derived Class Constructor Example</vt:lpstr>
      <vt:lpstr>Another HourlyEmployee Constructor</vt:lpstr>
      <vt:lpstr>Constructor: No Base Class Call</vt:lpstr>
      <vt:lpstr>Pitfall: Base Class Private Data</vt:lpstr>
      <vt:lpstr>Pitfall: Base Class Private Member Functions</vt:lpstr>
      <vt:lpstr>Pitfall: Base Class Private Member Functions Impact</vt:lpstr>
      <vt:lpstr>The protected: Qualifier</vt:lpstr>
      <vt:lpstr>Redefinition of Member Functions</vt:lpstr>
      <vt:lpstr>Redefining vs. Overloading</vt:lpstr>
      <vt:lpstr>A Function’s Signature</vt:lpstr>
      <vt:lpstr>Accessing Redefined Base Function</vt:lpstr>
      <vt:lpstr>Functions Not Inherited</vt:lpstr>
      <vt:lpstr>Assignment Operators  and Copy Constructors</vt:lpstr>
      <vt:lpstr>Assignment Operator Example</vt:lpstr>
      <vt:lpstr>Copy Constructor Example</vt:lpstr>
      <vt:lpstr>Destructors in Derived Classes</vt:lpstr>
      <vt:lpstr>Destructor Calling Order</vt:lpstr>
      <vt:lpstr>"Is a" vs. "Has a" Relationships</vt:lpstr>
      <vt:lpstr>Protected and Private Inheritance</vt:lpstr>
      <vt:lpstr>Multiple Inheritance</vt:lpstr>
      <vt:lpstr>Summary 1</vt:lpstr>
      <vt:lpstr>Summary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usnidem</cp:lastModifiedBy>
  <cp:revision>16</cp:revision>
  <dcterms:created xsi:type="dcterms:W3CDTF">2006-08-16T00:00:00Z</dcterms:created>
  <dcterms:modified xsi:type="dcterms:W3CDTF">2012-05-08T14:08:51Z</dcterms:modified>
</cp:coreProperties>
</file>