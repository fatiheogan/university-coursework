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90" r:id="rId28"/>
    <p:sldId id="289" r:id="rId29"/>
    <p:sldId id="291" r:id="rId30"/>
    <p:sldId id="292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1" d="100"/>
          <a:sy n="101" d="100"/>
        </p:scale>
        <p:origin x="834" y="14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4DDF245-A628-4256-82C3-CEAFF8C2AC76}" type="datetimeFigureOut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CC8AEB1-2FF6-4D89-8819-34C68DE2CF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60D0A4C-0246-4CBD-9D32-271C310796D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B1B6711-1361-4618-B39B-478F87A67CD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B0FC751-D160-445C-83E1-F867506FEBD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FF5D43A-74C8-45A3-AC60-0CBC4BBA292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DE1921B-7613-4E0D-8E7F-2406AEECBA8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31A7611-FE33-49D2-B5F4-27E645BEAB7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ADC2A7F-D1F8-47B0-85A7-842D6E8B050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E68AFFF-A13F-4E04-B25F-155D6EBF9B0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B75E3F-5D2A-47CD-A61A-34673FF979E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69CE04D-3FF7-4D82-B41C-A5AA6F042D3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AA2DE12-D04F-4C18-85AC-B110CC5F101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38D4454-6A86-43AC-A7F9-5A49DE41356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2406B0A-C01F-4E6C-93F4-993DD5426C5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640DEC1-905E-400D-9BC3-06AAFA28179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459E82-E7FD-4892-B23B-3722304955F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8192594-8B33-42BA-B389-8DAF2C7D4DF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03ADB2-BDDA-4594-AC5E-FD192C99E4F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F79FB5C-6F48-46AD-B630-BF2C107734C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2451090-53CE-4F8D-8612-AD4F4A8FDD5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540B093-FD26-4B52-BFDF-1DEDB14B133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259248E-4108-4D47-A071-2866C9F3493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BE495A7-BF8B-47C0-A1D5-7721B3FF1C4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EE2E969-B53D-4AEA-AC13-26D967FAD66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285DFCB-9908-4337-9415-6DF6A68B92A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2B064A5-4981-4A14-A74D-EADA0691D2F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BDF9BF4-E107-4DA6-8E23-A8449A283EF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5D9412-7DB7-4002-A6D2-23BD56EAEA7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ED0DD4C-0786-4D4E-A865-849441FABA0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39D8654-DAA7-4E57-AFDB-26E985BE31F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C2FF268-FA8C-4B5D-8877-3B999536077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D170545-ABC0-4D36-A9FD-9CB02244395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30ACEFA-B82F-41ED-86D0-F67C738621E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84DD939-4ACB-45C7-9BB4-6E1202090BE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C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63C88-CD9B-4250-B3D3-2ED94A6CB559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13-</a:t>
            </a:r>
            <a:fld id="{645C7D24-B6E5-4920-AF33-4DB867F2E3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BA202-C7E9-46D8-AC77-157D57AC1514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13-</a:t>
            </a:r>
            <a:fld id="{49553B59-711C-46BA-9F7F-7487FBB6D3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EA896D-2873-4326-B284-D8588317B191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13-</a:t>
            </a:r>
            <a:fld id="{E4010890-5498-41F2-BDAE-53D1E65EDD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41A50-3BDD-4D04-A7D6-53EB5E77D273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13-</a:t>
            </a:r>
            <a:fld id="{908E41C5-E604-4885-9D6A-24363EA28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7193F-1E27-426F-B208-5BC3F7F68514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13-</a:t>
            </a:r>
            <a:fld id="{94F60428-1EDF-474C-AD93-FDCFD52335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65CD0-AA0A-4147-9B38-BE1F546F4EAD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13-</a:t>
            </a:r>
            <a:fld id="{2547B51D-9767-4651-BF0C-9D8A55F96B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76E270-0418-4CBF-AD50-4EEBC9C85ED8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13-</a:t>
            </a:r>
            <a:fld id="{C4CA7A2A-2D37-4BBE-8461-1846CCB572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629C2C-B7E5-4623-A7A6-8C44BAFBAC6F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13-</a:t>
            </a:r>
            <a:fld id="{14876DBC-34A2-457B-879F-558957A734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715A2-BDF4-4456-A66B-F88DD697C5B0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13-</a:t>
            </a:r>
            <a:fld id="{4E0FC2F0-03EC-4CC5-A1C2-BF392EAD69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DB559-4F33-495E-8A78-2A0661E3BA65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13-</a:t>
            </a:r>
            <a:fld id="{B663AE45-CAB6-458F-8995-03F760136E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7609F-3434-4236-90A0-945545BB52A1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13-</a:t>
            </a:r>
            <a:fld id="{5379487F-FA51-4A6C-A300-5AEC2EA216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D270445-D002-4FA0-AFC5-1D6D21CD39DC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2AB6330E-4290-4E9D-ADDC-6498CA3F0C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Recursion</a:t>
            </a:r>
            <a:endParaRPr lang="en-US" dirty="0"/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55451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Recursive void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Tracing recursive calls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Infinite recursion, overflows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Recursive Functions that Return a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Powers function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Thinking Recursively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Recursive design techniques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Binary search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E3A8C438-2B4E-43CF-8E21-3280426CACDA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Introduction to Recursion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 function that "calls itself"</a:t>
            </a:r>
          </a:p>
          <a:p>
            <a:pPr lvl="1" eaLnBrk="1" hangingPunct="1"/>
            <a:r>
              <a:rPr lang="en-US" smtClean="0"/>
              <a:t>Said to be </a:t>
            </a:r>
            <a:r>
              <a:rPr lang="en-US" i="1" smtClean="0"/>
              <a:t>recursive</a:t>
            </a:r>
          </a:p>
          <a:p>
            <a:pPr lvl="1" eaLnBrk="1" hangingPunct="1"/>
            <a:r>
              <a:rPr lang="en-US" smtClean="0"/>
              <a:t>In function definition, call to same function</a:t>
            </a:r>
          </a:p>
          <a:p>
            <a:pPr eaLnBrk="1" hangingPunct="1"/>
            <a:r>
              <a:rPr lang="en-US" smtClean="0"/>
              <a:t>C++ allows recursion</a:t>
            </a:r>
          </a:p>
          <a:p>
            <a:pPr lvl="1" eaLnBrk="1" hangingPunct="1"/>
            <a:r>
              <a:rPr lang="en-US" smtClean="0"/>
              <a:t>As do most high-level languages</a:t>
            </a:r>
          </a:p>
          <a:p>
            <a:pPr lvl="1" eaLnBrk="1" hangingPunct="1"/>
            <a:r>
              <a:rPr lang="en-US" smtClean="0"/>
              <a:t>Can be useful programming technique</a:t>
            </a:r>
          </a:p>
          <a:p>
            <a:pPr lvl="1" eaLnBrk="1" hangingPunct="1"/>
            <a:r>
              <a:rPr lang="en-US" smtClean="0"/>
              <a:t>Has limitations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BE4E1536-9EB6-40BB-8C64-DD2198C8D36D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Recursive void Functions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Divide and Conquer</a:t>
            </a:r>
          </a:p>
          <a:p>
            <a:pPr lvl="1" eaLnBrk="1" hangingPunct="1"/>
            <a:r>
              <a:rPr lang="en-US" smtClean="0"/>
              <a:t>Basic design technique</a:t>
            </a:r>
          </a:p>
          <a:p>
            <a:pPr lvl="1" eaLnBrk="1" hangingPunct="1"/>
            <a:r>
              <a:rPr lang="en-US" smtClean="0"/>
              <a:t>Break large task into subtasks</a:t>
            </a:r>
          </a:p>
          <a:p>
            <a:pPr eaLnBrk="1" hangingPunct="1"/>
            <a:r>
              <a:rPr lang="en-US" smtClean="0"/>
              <a:t>Subtasks could be smaller versions of</a:t>
            </a:r>
            <a:br>
              <a:rPr lang="en-US" smtClean="0"/>
            </a:br>
            <a:r>
              <a:rPr lang="en-US" smtClean="0"/>
              <a:t>the original task!</a:t>
            </a:r>
          </a:p>
          <a:p>
            <a:pPr lvl="1" eaLnBrk="1" hangingPunct="1"/>
            <a:r>
              <a:rPr lang="en-US" smtClean="0"/>
              <a:t>When they are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recursion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1ECF937B-040F-487D-B608-384826999B97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Recursive void Function Example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Consider task:</a:t>
            </a:r>
          </a:p>
          <a:p>
            <a:pPr eaLnBrk="1" hangingPunct="1"/>
            <a:r>
              <a:rPr lang="en-US" sz="2800" smtClean="0"/>
              <a:t>Search list for a value</a:t>
            </a:r>
          </a:p>
          <a:p>
            <a:pPr lvl="1" eaLnBrk="1" hangingPunct="1"/>
            <a:r>
              <a:rPr lang="en-US" sz="2400" smtClean="0"/>
              <a:t>Subtask 1: search 1</a:t>
            </a:r>
            <a:r>
              <a:rPr lang="en-US" sz="2400" baseline="30000" smtClean="0"/>
              <a:t>st</a:t>
            </a:r>
            <a:r>
              <a:rPr lang="en-US" sz="2400" smtClean="0"/>
              <a:t> half of list</a:t>
            </a:r>
          </a:p>
          <a:p>
            <a:pPr lvl="1" eaLnBrk="1" hangingPunct="1"/>
            <a:r>
              <a:rPr lang="en-US" sz="2400" smtClean="0"/>
              <a:t>Subtask 2: search 2</a:t>
            </a:r>
            <a:r>
              <a:rPr lang="en-US" sz="2400" baseline="30000" smtClean="0"/>
              <a:t>nd</a:t>
            </a:r>
            <a:r>
              <a:rPr lang="en-US" sz="2400" smtClean="0"/>
              <a:t> half of list</a:t>
            </a:r>
          </a:p>
          <a:p>
            <a:pPr eaLnBrk="1" hangingPunct="1"/>
            <a:r>
              <a:rPr lang="en-US" sz="2800" smtClean="0"/>
              <a:t>Subtasks are smaller versions of original task!</a:t>
            </a:r>
          </a:p>
          <a:p>
            <a:pPr eaLnBrk="1" hangingPunct="1"/>
            <a:r>
              <a:rPr lang="en-US" sz="2800" smtClean="0"/>
              <a:t>When this occurs, recursive function can</a:t>
            </a:r>
            <a:br>
              <a:rPr lang="en-US" sz="2800" smtClean="0"/>
            </a:br>
            <a:r>
              <a:rPr lang="en-US" sz="2800" smtClean="0"/>
              <a:t>be used.</a:t>
            </a:r>
          </a:p>
          <a:p>
            <a:pPr lvl="1" eaLnBrk="1" hangingPunct="1"/>
            <a:r>
              <a:rPr lang="en-US" sz="2400" smtClean="0"/>
              <a:t>Usually results in "elegant"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5A43FF73-623E-4150-8F17-C67E13EEF0AF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Recursive void Function: </a:t>
            </a:r>
            <a:br>
              <a:rPr lang="en-US" sz="3600"/>
            </a:br>
            <a:r>
              <a:rPr lang="en-US" sz="3600"/>
              <a:t>Vertical Numbers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Task: display digits of number vertically,</a:t>
            </a:r>
            <a:br>
              <a:rPr lang="en-US" smtClean="0"/>
            </a:br>
            <a:r>
              <a:rPr lang="en-US" smtClean="0"/>
              <a:t>one per line</a:t>
            </a:r>
          </a:p>
          <a:p>
            <a:pPr eaLnBrk="1" hangingPunct="1"/>
            <a:r>
              <a:rPr lang="en-US" smtClean="0"/>
              <a:t>Example call:</a:t>
            </a:r>
            <a:br>
              <a:rPr lang="en-US" smtClean="0"/>
            </a:br>
            <a:r>
              <a:rPr lang="en-US" sz="2800" smtClean="0"/>
              <a:t>writeVertical(1234); </a:t>
            </a:r>
            <a:br>
              <a:rPr lang="en-US" sz="2800" smtClean="0"/>
            </a:br>
            <a:r>
              <a:rPr lang="en-US" sz="2800" smtClean="0"/>
              <a:t>Produces output:</a:t>
            </a:r>
            <a:br>
              <a:rPr lang="en-US" sz="2800" smtClean="0"/>
            </a:br>
            <a:r>
              <a:rPr lang="en-US" sz="2800" smtClean="0"/>
              <a:t>1</a:t>
            </a:r>
            <a:br>
              <a:rPr lang="en-US" sz="2800" smtClean="0"/>
            </a:br>
            <a:r>
              <a:rPr lang="en-US" sz="2800" smtClean="0"/>
              <a:t>2</a:t>
            </a:r>
            <a:br>
              <a:rPr lang="en-US" sz="2800" smtClean="0"/>
            </a:br>
            <a:r>
              <a:rPr lang="en-US" sz="2800" smtClean="0"/>
              <a:t>3</a:t>
            </a:r>
            <a:br>
              <a:rPr lang="en-US" sz="2800" smtClean="0"/>
            </a:br>
            <a:r>
              <a:rPr lang="en-US" sz="2800" smtClean="0"/>
              <a:t>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5BC4494D-BBF3-491D-9553-85AF708DEA73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Vertical Numbers: </a:t>
            </a:r>
            <a:br>
              <a:rPr lang="en-US" sz="3600"/>
            </a:br>
            <a:r>
              <a:rPr lang="en-US" sz="3600"/>
              <a:t>Recursive Definition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Break problem into two cases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Simple/base case: if n&lt;10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Simply write number n to screen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Recursive case: if n&gt;=10, two subtasks:</a:t>
            </a:r>
          </a:p>
          <a:p>
            <a:pPr lvl="1" eaLnBrk="1" hangingPunct="1">
              <a:lnSpc>
                <a:spcPct val="90000"/>
              </a:lnSpc>
              <a:buFont typeface="Symbol" pitchFamily="18" charset="2"/>
              <a:buNone/>
            </a:pPr>
            <a:r>
              <a:rPr lang="en-US" sz="2400" smtClean="0"/>
              <a:t>1- Output all digits except last digit</a:t>
            </a:r>
          </a:p>
          <a:p>
            <a:pPr lvl="1" eaLnBrk="1" hangingPunct="1">
              <a:lnSpc>
                <a:spcPct val="90000"/>
              </a:lnSpc>
              <a:buFont typeface="Symbol" pitchFamily="18" charset="2"/>
              <a:buNone/>
            </a:pPr>
            <a:r>
              <a:rPr lang="en-US" sz="2400" smtClean="0"/>
              <a:t>2- Output last digit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Example: argument 1234: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1</a:t>
            </a:r>
            <a:r>
              <a:rPr lang="en-US" sz="2400" baseline="30000" smtClean="0"/>
              <a:t>st</a:t>
            </a:r>
            <a:r>
              <a:rPr lang="en-US" sz="2400" smtClean="0"/>
              <a:t> subtask displays 1, 2, 3 vertically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2</a:t>
            </a:r>
            <a:r>
              <a:rPr lang="en-US" sz="2400" baseline="30000" smtClean="0"/>
              <a:t>nd</a:t>
            </a:r>
            <a:r>
              <a:rPr lang="en-US" sz="2400" smtClean="0"/>
              <a:t> subtask displays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4AB516C4-347B-40E6-ADAA-405026C3CA9F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writeVertical Function Definition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Given previous cases:</a:t>
            </a:r>
            <a:br>
              <a:rPr lang="en-US" smtClean="0"/>
            </a:br>
            <a:r>
              <a:rPr lang="en-US" sz="2800" smtClean="0"/>
              <a:t>void writeVertical(int n)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	if (n &lt; 10) 			//Base case</a:t>
            </a:r>
            <a:br>
              <a:rPr lang="en-US" sz="2800" smtClean="0"/>
            </a:br>
            <a:r>
              <a:rPr lang="en-US" sz="2800" smtClean="0"/>
              <a:t>		cout &lt;&lt; n &lt;&lt; endl;</a:t>
            </a:r>
            <a:br>
              <a:rPr lang="en-US" sz="2800" smtClean="0"/>
            </a:br>
            <a:r>
              <a:rPr lang="en-US" sz="2800" smtClean="0"/>
              <a:t>	else </a:t>
            </a:r>
            <a:br>
              <a:rPr lang="en-US" sz="2800" smtClean="0"/>
            </a:br>
            <a:r>
              <a:rPr lang="en-US" sz="2800" smtClean="0"/>
              <a:t>	{				//Recursive step</a:t>
            </a:r>
            <a:br>
              <a:rPr lang="en-US" sz="2800" smtClean="0"/>
            </a:br>
            <a:r>
              <a:rPr lang="en-US" sz="2800" smtClean="0"/>
              <a:t>		writeVertical(n/10);</a:t>
            </a:r>
            <a:br>
              <a:rPr lang="en-US" sz="2800" smtClean="0"/>
            </a:br>
            <a:r>
              <a:rPr lang="en-US" sz="2800" smtClean="0"/>
              <a:t>		cout &lt;&lt; (n%10) &lt;&lt; endl;</a:t>
            </a:r>
            <a:br>
              <a:rPr lang="en-US" sz="2800" smtClean="0"/>
            </a:br>
            <a:r>
              <a:rPr lang="en-US" sz="2800" smtClean="0"/>
              <a:t>	}</a:t>
            </a:r>
            <a:br>
              <a:rPr lang="en-US" sz="2800" smtClean="0"/>
            </a:br>
            <a:r>
              <a:rPr lang="en-US" sz="2800" smtClean="0"/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C47F0A20-9D03-497F-BB8A-2AEC119B5257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writeVertical Trace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Example call:</a:t>
            </a:r>
            <a:br>
              <a:rPr lang="en-US" sz="2800" smtClean="0"/>
            </a:br>
            <a:r>
              <a:rPr lang="en-US" sz="2800" smtClean="0"/>
              <a:t>writeVertical(123);</a:t>
            </a:r>
            <a:br>
              <a:rPr lang="en-US" sz="2800" smtClean="0"/>
            </a:br>
            <a:r>
              <a:rPr lang="en-US" sz="2800" smtClean="0">
                <a:sym typeface="Wingdings" pitchFamily="2" charset="2"/>
              </a:rPr>
              <a:t></a:t>
            </a:r>
            <a:r>
              <a:rPr lang="en-US" sz="2800" smtClean="0"/>
              <a:t> writeVertical(12);   (123/10)</a:t>
            </a:r>
            <a:br>
              <a:rPr lang="en-US" sz="2800" smtClean="0"/>
            </a:br>
            <a:r>
              <a:rPr lang="en-US" sz="2800" smtClean="0"/>
              <a:t>	  </a:t>
            </a:r>
            <a:r>
              <a:rPr lang="en-US" sz="2800" smtClean="0">
                <a:sym typeface="Wingdings" pitchFamily="2" charset="2"/>
              </a:rPr>
              <a:t></a:t>
            </a:r>
            <a:r>
              <a:rPr lang="en-US" sz="2800" smtClean="0"/>
              <a:t> writeVertical(1);  (12/10)</a:t>
            </a:r>
            <a:br>
              <a:rPr lang="en-US" sz="2800" smtClean="0"/>
            </a:br>
            <a:r>
              <a:rPr lang="en-US" sz="2800" smtClean="0"/>
              <a:t>	       </a:t>
            </a:r>
            <a:r>
              <a:rPr lang="en-US" sz="2800" smtClean="0">
                <a:sym typeface="Wingdings" pitchFamily="2" charset="2"/>
              </a:rPr>
              <a:t></a:t>
            </a:r>
            <a:r>
              <a:rPr lang="en-US" sz="2800" smtClean="0"/>
              <a:t> cout &lt;&lt; 1 &lt;&lt; endl;</a:t>
            </a:r>
            <a:br>
              <a:rPr lang="en-US" sz="2800" smtClean="0"/>
            </a:br>
            <a:r>
              <a:rPr lang="en-US" sz="2800" smtClean="0"/>
              <a:t>	 cout &lt;&lt; 2 &lt;&lt; endl;</a:t>
            </a:r>
            <a:br>
              <a:rPr lang="en-US" sz="2800" smtClean="0"/>
            </a:br>
            <a:r>
              <a:rPr lang="en-US" sz="2800" smtClean="0"/>
              <a:t>cout &lt;&lt; 3 &lt;&lt; endl;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Arrows indicate task function performs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Notice 1</a:t>
            </a:r>
            <a:r>
              <a:rPr lang="en-US" sz="2800" baseline="30000" smtClean="0"/>
              <a:t>st</a:t>
            </a:r>
            <a:r>
              <a:rPr lang="en-US" sz="2800" smtClean="0"/>
              <a:t> two calls call again (recursive)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Last call (1) displays and "ends" 	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24BFB8B4-F315-4ACC-9EC4-E1B841BD1039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Recursion—A Closer Look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Computer tracks recursive calls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Stops current function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Must know results of new recursive call </a:t>
            </a:r>
            <a:br>
              <a:rPr lang="en-US" sz="2400" smtClean="0"/>
            </a:br>
            <a:r>
              <a:rPr lang="en-US" sz="2400" smtClean="0"/>
              <a:t>before proceeding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Saves all information needed for current call</a:t>
            </a:r>
          </a:p>
          <a:p>
            <a:pPr lvl="2" eaLnBrk="1" hangingPunct="1"/>
            <a:r>
              <a:rPr lang="en-US" sz="2000" smtClean="0"/>
              <a:t>To be used later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Proceeds with evaluation of new recursive call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When THAT call is complete, returns to</a:t>
            </a:r>
            <a:br>
              <a:rPr lang="en-US" sz="2400" smtClean="0"/>
            </a:br>
            <a:r>
              <a:rPr lang="en-US" sz="2400" smtClean="0"/>
              <a:t>"outer" computation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570B8240-DEF8-4D27-8C31-8ECBFF5A62B6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Recursion Big Picture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sz="2800" smtClean="0"/>
              <a:t>Outline of successful recursive function: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400" smtClean="0"/>
              <a:t>One or more cases where function</a:t>
            </a:r>
            <a:br>
              <a:rPr lang="en-US" sz="2400" smtClean="0"/>
            </a:br>
            <a:r>
              <a:rPr lang="en-US" sz="2400" smtClean="0"/>
              <a:t>accomplishes it’s task by:</a:t>
            </a:r>
          </a:p>
          <a:p>
            <a:pPr lvl="2" eaLnBrk="1" hangingPunct="1">
              <a:spcBef>
                <a:spcPct val="40000"/>
              </a:spcBef>
            </a:pPr>
            <a:r>
              <a:rPr lang="en-US" sz="2000" smtClean="0"/>
              <a:t>Making one or more recursive calls to solve</a:t>
            </a:r>
            <a:br>
              <a:rPr lang="en-US" sz="2000" smtClean="0"/>
            </a:br>
            <a:r>
              <a:rPr lang="en-US" sz="2000" smtClean="0"/>
              <a:t>smaller versions of original task</a:t>
            </a:r>
          </a:p>
          <a:p>
            <a:pPr lvl="2" eaLnBrk="1" hangingPunct="1">
              <a:spcBef>
                <a:spcPct val="40000"/>
              </a:spcBef>
            </a:pPr>
            <a:r>
              <a:rPr lang="en-US" sz="2000" smtClean="0"/>
              <a:t>Called "recursive case(s)"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400" smtClean="0"/>
              <a:t>One or more cases where function</a:t>
            </a:r>
            <a:br>
              <a:rPr lang="en-US" sz="2400" smtClean="0"/>
            </a:br>
            <a:r>
              <a:rPr lang="en-US" sz="2400" smtClean="0"/>
              <a:t>accomplishes it’s task without recursive calls</a:t>
            </a:r>
          </a:p>
          <a:p>
            <a:pPr lvl="2" eaLnBrk="1" hangingPunct="1">
              <a:spcBef>
                <a:spcPct val="40000"/>
              </a:spcBef>
            </a:pPr>
            <a:r>
              <a:rPr lang="en-US" sz="2000" smtClean="0"/>
              <a:t>Called "base case(s)" or stopping case(s)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AEF4123D-5C1A-475A-9639-DA809A58E0FE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Infinite Recursion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Base case MUST eventually be entered</a:t>
            </a:r>
          </a:p>
          <a:p>
            <a:pPr eaLnBrk="1" hangingPunct="1"/>
            <a:r>
              <a:rPr lang="en-US" smtClean="0"/>
              <a:t>If it doesn’t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infinite recursion</a:t>
            </a:r>
          </a:p>
          <a:p>
            <a:pPr lvl="1" eaLnBrk="1" hangingPunct="1"/>
            <a:r>
              <a:rPr lang="en-US" smtClean="0"/>
              <a:t>Recursive calls never end!</a:t>
            </a:r>
          </a:p>
          <a:p>
            <a:pPr eaLnBrk="1" hangingPunct="1"/>
            <a:r>
              <a:rPr lang="en-US" smtClean="0"/>
              <a:t>Recall writeVertical example:</a:t>
            </a:r>
          </a:p>
          <a:p>
            <a:pPr lvl="1" eaLnBrk="1" hangingPunct="1"/>
            <a:r>
              <a:rPr lang="en-US" smtClean="0"/>
              <a:t>Base case happened when down to </a:t>
            </a:r>
            <a:br>
              <a:rPr lang="en-US" smtClean="0"/>
            </a:br>
            <a:r>
              <a:rPr lang="en-US" smtClean="0"/>
              <a:t>1-digit number</a:t>
            </a:r>
          </a:p>
          <a:p>
            <a:pPr lvl="1" eaLnBrk="1" hangingPunct="1"/>
            <a:r>
              <a:rPr lang="en-US" smtClean="0"/>
              <a:t>That’s when recursion stopped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8AE20478-29BD-4349-BA1E-DC96904D3264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Infinite Recursion Example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Consider alternate function definition:</a:t>
            </a:r>
            <a:br>
              <a:rPr lang="en-US" sz="2800" smtClean="0"/>
            </a:br>
            <a:r>
              <a:rPr lang="en-US" sz="2400" smtClean="0"/>
              <a:t>void newWriteVertical(int n)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newWriteVertical(n/10);</a:t>
            </a:r>
            <a:br>
              <a:rPr lang="en-US" sz="2400" smtClean="0"/>
            </a:br>
            <a:r>
              <a:rPr lang="en-US" sz="2400" smtClean="0"/>
              <a:t>	cout &lt;&lt; (n%10) &lt;&lt; endl;	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eaLnBrk="1" hangingPunct="1"/>
            <a:r>
              <a:rPr lang="en-US" sz="2800" smtClean="0"/>
              <a:t>Seems "reasonable" enough</a:t>
            </a:r>
          </a:p>
          <a:p>
            <a:pPr eaLnBrk="1" hangingPunct="1"/>
            <a:r>
              <a:rPr lang="en-US" sz="2800" smtClean="0"/>
              <a:t>Missing "base case"!</a:t>
            </a:r>
          </a:p>
          <a:p>
            <a:pPr eaLnBrk="1" hangingPunct="1"/>
            <a:r>
              <a:rPr lang="en-US" sz="2800" smtClean="0"/>
              <a:t>Recursion never stops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9BD4C645-3357-4881-B71C-30B3804A153A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Stacks for Recursion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A stack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Specialized memory structure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Like stack of paper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Place new on top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Remove when needed from top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Called "last-in/first-out" memory structure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Recursion uses stacks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Each recursive call placed on stack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When one completes, last call is removed</a:t>
            </a:r>
            <a:br>
              <a:rPr lang="en-US" sz="2400" smtClean="0"/>
            </a:br>
            <a:r>
              <a:rPr lang="en-US" sz="2400" smtClean="0"/>
              <a:t>from stack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435305C3-C4B1-40D4-86E6-6351F775638F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Stack Overflow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Size of stack limited</a:t>
            </a:r>
          </a:p>
          <a:p>
            <a:pPr lvl="1" eaLnBrk="1" hangingPunct="1"/>
            <a:r>
              <a:rPr lang="en-US" sz="2400" smtClean="0"/>
              <a:t>Memory is finite</a:t>
            </a:r>
          </a:p>
          <a:p>
            <a:pPr eaLnBrk="1" hangingPunct="1"/>
            <a:r>
              <a:rPr lang="en-US" sz="2800" smtClean="0"/>
              <a:t>Long chain of recursive calls continually</a:t>
            </a:r>
            <a:br>
              <a:rPr lang="en-US" sz="2800" smtClean="0"/>
            </a:br>
            <a:r>
              <a:rPr lang="en-US" sz="2800" smtClean="0"/>
              <a:t>adds to stack</a:t>
            </a:r>
          </a:p>
          <a:p>
            <a:pPr lvl="1" eaLnBrk="1" hangingPunct="1"/>
            <a:r>
              <a:rPr lang="en-US" sz="2400" smtClean="0"/>
              <a:t>All are added before base case causes removals</a:t>
            </a:r>
          </a:p>
          <a:p>
            <a:pPr eaLnBrk="1" hangingPunct="1"/>
            <a:r>
              <a:rPr lang="en-US" sz="2800" smtClean="0"/>
              <a:t>If stack attempts to grow beyond limit:</a:t>
            </a:r>
          </a:p>
          <a:p>
            <a:pPr lvl="1" eaLnBrk="1" hangingPunct="1"/>
            <a:r>
              <a:rPr lang="en-US" sz="2400" smtClean="0"/>
              <a:t>Stack overflow error</a:t>
            </a:r>
          </a:p>
          <a:p>
            <a:pPr eaLnBrk="1" hangingPunct="1"/>
            <a:r>
              <a:rPr lang="en-US" sz="2800" smtClean="0"/>
              <a:t>Infinite recursion always causes this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2C12C19F-691D-4A1A-9724-9D020785CDF4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Recursion Versus Iteration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Recursion not always "necessary"</a:t>
            </a:r>
          </a:p>
          <a:p>
            <a:pPr eaLnBrk="1" hangingPunct="1"/>
            <a:r>
              <a:rPr lang="en-US" sz="2800" smtClean="0"/>
              <a:t>Not even allowed in some languages</a:t>
            </a:r>
          </a:p>
          <a:p>
            <a:pPr eaLnBrk="1" hangingPunct="1"/>
            <a:r>
              <a:rPr lang="en-US" sz="2800" smtClean="0"/>
              <a:t>Any task accomplished with recursion can</a:t>
            </a:r>
            <a:br>
              <a:rPr lang="en-US" sz="2800" smtClean="0"/>
            </a:br>
            <a:r>
              <a:rPr lang="en-US" sz="2800" smtClean="0"/>
              <a:t>also be done without it</a:t>
            </a:r>
          </a:p>
          <a:p>
            <a:pPr lvl="1" eaLnBrk="1" hangingPunct="1"/>
            <a:r>
              <a:rPr lang="en-US" sz="2400" smtClean="0"/>
              <a:t>Nonrecursive: called iterative, using loops</a:t>
            </a:r>
          </a:p>
          <a:p>
            <a:pPr eaLnBrk="1" hangingPunct="1"/>
            <a:r>
              <a:rPr lang="en-US" sz="2800" smtClean="0"/>
              <a:t>Recursive:</a:t>
            </a:r>
          </a:p>
          <a:p>
            <a:pPr lvl="1" eaLnBrk="1" hangingPunct="1"/>
            <a:r>
              <a:rPr lang="en-US" sz="2400" smtClean="0"/>
              <a:t>Runs slower, uses more storage</a:t>
            </a:r>
          </a:p>
          <a:p>
            <a:pPr lvl="1" eaLnBrk="1" hangingPunct="1"/>
            <a:r>
              <a:rPr lang="en-US" sz="2400" smtClean="0"/>
              <a:t>Elegant solution; less coding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9563C3A8-D22A-41D7-B377-B7595D8BEA4F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Recursive Functions </a:t>
            </a:r>
            <a:br>
              <a:rPr lang="en-US" sz="3600" smtClean="0"/>
            </a:br>
            <a:r>
              <a:rPr lang="en-US" sz="3600" smtClean="0"/>
              <a:t>that Return a Value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/>
            <a:r>
              <a:rPr lang="en-US" sz="2800" smtClean="0"/>
              <a:t>Recursion not limited to void functions</a:t>
            </a:r>
          </a:p>
          <a:p>
            <a:pPr marL="533400" indent="-533400" eaLnBrk="1" hangingPunct="1"/>
            <a:r>
              <a:rPr lang="en-US" sz="2800" smtClean="0"/>
              <a:t>Can return value of any type</a:t>
            </a:r>
          </a:p>
          <a:p>
            <a:pPr marL="533400" indent="-533400" eaLnBrk="1" hangingPunct="1"/>
            <a:r>
              <a:rPr lang="en-US" sz="2800" smtClean="0"/>
              <a:t>Same technique, outline:</a:t>
            </a:r>
          </a:p>
          <a:p>
            <a:pPr marL="914400" lvl="1" indent="-457200" eaLnBrk="1" hangingPunct="1">
              <a:buFont typeface="Times" pitchFamily="18" charset="0"/>
              <a:buAutoNum type="arabicPeriod"/>
            </a:pPr>
            <a:r>
              <a:rPr lang="en-US" sz="2400" smtClean="0"/>
              <a:t>One+ cases where value returned is</a:t>
            </a:r>
            <a:br>
              <a:rPr lang="en-US" sz="2400" smtClean="0"/>
            </a:br>
            <a:r>
              <a:rPr lang="en-US" sz="2400" smtClean="0"/>
              <a:t>computed by recursive calls</a:t>
            </a:r>
          </a:p>
          <a:p>
            <a:pPr marL="1295400" lvl="2" indent="-381000" eaLnBrk="1" hangingPunct="1"/>
            <a:r>
              <a:rPr lang="en-US" sz="2000" smtClean="0"/>
              <a:t>Should be "smaller" sub-problems</a:t>
            </a:r>
          </a:p>
          <a:p>
            <a:pPr marL="914400" lvl="1" indent="-457200" eaLnBrk="1" hangingPunct="1">
              <a:buFont typeface="Times" pitchFamily="18" charset="0"/>
              <a:buAutoNum type="arabicPeriod" startAt="2"/>
            </a:pPr>
            <a:r>
              <a:rPr lang="en-US" sz="2400" smtClean="0"/>
              <a:t>One+ cases where value returned</a:t>
            </a:r>
            <a:br>
              <a:rPr lang="en-US" sz="2400" smtClean="0"/>
            </a:br>
            <a:r>
              <a:rPr lang="en-US" sz="2400" smtClean="0"/>
              <a:t>computed without recursive calls</a:t>
            </a:r>
          </a:p>
          <a:p>
            <a:pPr marL="1295400" lvl="2" indent="-381000" eaLnBrk="1" hangingPunct="1"/>
            <a:r>
              <a:rPr lang="en-US" sz="2000" smtClean="0"/>
              <a:t>Base case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194E1C83-912F-4A6D-A777-2A0C76C07508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Return a Value </a:t>
            </a:r>
            <a:br>
              <a:rPr lang="en-US" sz="3600" smtClean="0"/>
            </a:br>
            <a:r>
              <a:rPr lang="en-US" sz="3600" smtClean="0"/>
              <a:t>Recursion Example: Powers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Recall predefined function pow():</a:t>
            </a:r>
            <a:br>
              <a:rPr lang="en-US" smtClean="0"/>
            </a:br>
            <a:r>
              <a:rPr lang="en-US" smtClean="0"/>
              <a:t>result = pow(2.0,3.0);</a:t>
            </a:r>
          </a:p>
          <a:p>
            <a:pPr lvl="1" eaLnBrk="1" hangingPunct="1"/>
            <a:r>
              <a:rPr lang="en-US" smtClean="0"/>
              <a:t>Returns 2 raised to power 3 (8.0)</a:t>
            </a:r>
          </a:p>
          <a:p>
            <a:pPr lvl="1" eaLnBrk="1" hangingPunct="1"/>
            <a:r>
              <a:rPr lang="en-US" smtClean="0"/>
              <a:t>Takes two double arguments</a:t>
            </a:r>
          </a:p>
          <a:p>
            <a:pPr lvl="1" eaLnBrk="1" hangingPunct="1"/>
            <a:r>
              <a:rPr lang="en-US" smtClean="0"/>
              <a:t>Returns double value</a:t>
            </a:r>
          </a:p>
          <a:p>
            <a:pPr eaLnBrk="1" hangingPunct="1"/>
            <a:r>
              <a:rPr lang="en-US" smtClean="0"/>
              <a:t>Let’s write recursively</a:t>
            </a:r>
          </a:p>
          <a:p>
            <a:pPr lvl="1" eaLnBrk="1" hangingPunct="1"/>
            <a:r>
              <a:rPr lang="en-US" smtClean="0"/>
              <a:t>For simple example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7A6B5E35-6151-473F-BB17-85B870BFC413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Function Definition for power()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446213"/>
            <a:ext cx="7815262" cy="45910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int power(int x, int n)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	if (n&lt;0)</a:t>
            </a:r>
            <a:br>
              <a:rPr lang="en-US" sz="2800" smtClean="0"/>
            </a:br>
            <a:r>
              <a:rPr lang="en-US" sz="2800" smtClean="0"/>
              <a:t>	{</a:t>
            </a:r>
            <a:br>
              <a:rPr lang="en-US" sz="2800" smtClean="0"/>
            </a:br>
            <a:r>
              <a:rPr lang="en-US" sz="2800" smtClean="0"/>
              <a:t>		cout &lt;&lt; "Illegal argument";</a:t>
            </a:r>
            <a:br>
              <a:rPr lang="en-US" sz="2800" smtClean="0"/>
            </a:br>
            <a:r>
              <a:rPr lang="en-US" sz="2800" smtClean="0"/>
              <a:t>		exit(1);</a:t>
            </a:r>
            <a:br>
              <a:rPr lang="en-US" sz="2800" smtClean="0"/>
            </a:br>
            <a:r>
              <a:rPr lang="en-US" sz="2800" smtClean="0"/>
              <a:t>	}</a:t>
            </a:r>
            <a:br>
              <a:rPr lang="en-US" sz="2800" smtClean="0"/>
            </a:br>
            <a:r>
              <a:rPr lang="en-US" sz="2800" smtClean="0"/>
              <a:t>	if (n&gt;0)</a:t>
            </a:r>
            <a:br>
              <a:rPr lang="en-US" sz="2800" smtClean="0"/>
            </a:br>
            <a:r>
              <a:rPr lang="en-US" sz="2800" smtClean="0"/>
              <a:t>		return (power(x, n-1)*x);</a:t>
            </a:r>
            <a:br>
              <a:rPr lang="en-US" sz="2800" smtClean="0"/>
            </a:br>
            <a:r>
              <a:rPr lang="en-US" sz="2800" smtClean="0"/>
              <a:t>	else</a:t>
            </a:r>
            <a:br>
              <a:rPr lang="en-US" sz="2800" smtClean="0"/>
            </a:br>
            <a:r>
              <a:rPr lang="en-US" sz="2800" smtClean="0"/>
              <a:t>		return (1);</a:t>
            </a:r>
            <a:br>
              <a:rPr lang="en-US" sz="2800" smtClean="0"/>
            </a:br>
            <a:r>
              <a:rPr lang="en-US" sz="2800" smtClean="0"/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26CFDF2F-39BA-4DDE-8E05-A335E7D8CC61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Calling Function power()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Example calls: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power(2, 0);</a:t>
            </a:r>
            <a:br>
              <a:rPr lang="en-US" smtClean="0"/>
            </a:b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returns 1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power(2, 1);</a:t>
            </a:r>
            <a:br>
              <a:rPr lang="en-US" smtClean="0"/>
            </a:b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returns (power(2, 0) * 2);</a:t>
            </a:r>
            <a:br>
              <a:rPr lang="en-US" smtClean="0"/>
            </a:br>
            <a:r>
              <a:rPr lang="en-US" smtClean="0"/>
              <a:t>		    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returns 1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Value 1 multiplied by 2 &amp; returned to original call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E1BBD443-5198-4293-8179-455BB34F201A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Calling Function power()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Larger example:</a:t>
            </a:r>
            <a:br>
              <a:rPr lang="en-US" smtClean="0"/>
            </a:br>
            <a:r>
              <a:rPr lang="en-US" smtClean="0"/>
              <a:t>power(2,3);</a:t>
            </a:r>
            <a:br>
              <a:rPr lang="en-US" smtClean="0"/>
            </a:b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power(2,2)*2</a:t>
            </a:r>
            <a:br>
              <a:rPr lang="en-US" smtClean="0"/>
            </a:br>
            <a:r>
              <a:rPr lang="en-US" smtClean="0"/>
              <a:t>	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power(2,1)*2</a:t>
            </a:r>
            <a:br>
              <a:rPr lang="en-US" smtClean="0"/>
            </a:br>
            <a:r>
              <a:rPr lang="en-US" smtClean="0"/>
              <a:t>	    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power(2,0)*2</a:t>
            </a:r>
            <a:br>
              <a:rPr lang="en-US" smtClean="0"/>
            </a:br>
            <a:r>
              <a:rPr lang="en-US" smtClean="0"/>
              <a:t>		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1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Reaches base case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Recursion stops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Values "returned back" up stack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72842E76-D713-446F-95AD-AED1A89EEDE4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30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5" name="Picture 4" descr="C:\WINDOWS\Desktop\Oh_type\sacitch_C++_ppt\gif\savitchc13d0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625600" y="1608138"/>
            <a:ext cx="6223000" cy="493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34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Tracing Function power(): </a:t>
            </a:r>
            <a:br>
              <a:rPr lang="en-US" sz="3000" smtClean="0"/>
            </a:br>
            <a:r>
              <a:rPr lang="en-US" sz="3000" b="1" smtClean="0"/>
              <a:t>Display 13.4</a:t>
            </a:r>
            <a:r>
              <a:rPr lang="en-US" sz="3000" smtClean="0"/>
              <a:t>  Evaluating the Recursive Function Call power(2,3)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8D538635-CB8D-4F27-A7D6-99232AF40254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Thinking Recursively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Ignore details</a:t>
            </a:r>
          </a:p>
          <a:p>
            <a:pPr lvl="1" eaLnBrk="1" hangingPunct="1"/>
            <a:r>
              <a:rPr lang="en-US" smtClean="0"/>
              <a:t>Forget how stack works</a:t>
            </a:r>
          </a:p>
          <a:p>
            <a:pPr lvl="1" eaLnBrk="1" hangingPunct="1"/>
            <a:r>
              <a:rPr lang="en-US" smtClean="0"/>
              <a:t>Forget the suspended computations</a:t>
            </a:r>
          </a:p>
          <a:p>
            <a:pPr lvl="1" eaLnBrk="1" hangingPunct="1"/>
            <a:r>
              <a:rPr lang="en-US" smtClean="0"/>
              <a:t>Yes, this is an "abstraction" principle!</a:t>
            </a:r>
          </a:p>
          <a:p>
            <a:pPr lvl="1" eaLnBrk="1" hangingPunct="1"/>
            <a:r>
              <a:rPr lang="en-US" smtClean="0"/>
              <a:t>And encapsulation principle!</a:t>
            </a:r>
          </a:p>
          <a:p>
            <a:pPr eaLnBrk="1" hangingPunct="1"/>
            <a:r>
              <a:rPr lang="en-US" smtClean="0"/>
              <a:t>Let computer do "bookkeeping"</a:t>
            </a:r>
          </a:p>
          <a:p>
            <a:pPr lvl="1" eaLnBrk="1" hangingPunct="1"/>
            <a:r>
              <a:rPr lang="en-US" smtClean="0"/>
              <a:t>Programmer just think "big picture"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3D1241B8-5951-41C2-B89A-6D41C202AF85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939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Thinking Recursively: power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Consider power() again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Recursive definition of power:</a:t>
            </a:r>
            <a:br>
              <a:rPr lang="en-US" smtClean="0"/>
            </a:br>
            <a:r>
              <a:rPr lang="en-US" smtClean="0"/>
              <a:t>power(x, n)  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returns: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power(x, n – 1) * x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Just ensure "formula" correct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And ensure base case will be met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373A8A83-87A3-4252-BBF6-931B0E7E3B54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Recursive Design Techniques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smtClean="0"/>
              <a:t>Don’t trace entire recursive sequence!</a:t>
            </a:r>
          </a:p>
          <a:p>
            <a:pPr marL="609600" indent="-609600" eaLnBrk="1" hangingPunct="1"/>
            <a:r>
              <a:rPr lang="en-US" smtClean="0"/>
              <a:t>Just check 3 properties:</a:t>
            </a:r>
          </a:p>
          <a:p>
            <a:pPr marL="990600" lvl="1" indent="-533400" eaLnBrk="1" hangingPunct="1">
              <a:buFont typeface="Times" pitchFamily="18" charset="0"/>
              <a:buAutoNum type="arabicPeriod"/>
            </a:pPr>
            <a:r>
              <a:rPr lang="en-US" smtClean="0"/>
              <a:t>No infinite recursion</a:t>
            </a:r>
          </a:p>
          <a:p>
            <a:pPr marL="990600" lvl="1" indent="-533400" eaLnBrk="1" hangingPunct="1">
              <a:buFont typeface="Times" pitchFamily="18" charset="0"/>
              <a:buAutoNum type="arabicPeriod"/>
            </a:pPr>
            <a:r>
              <a:rPr lang="en-US" smtClean="0"/>
              <a:t>Stopping cases return correct values</a:t>
            </a:r>
          </a:p>
          <a:p>
            <a:pPr marL="990600" lvl="1" indent="-533400" eaLnBrk="1" hangingPunct="1">
              <a:buFont typeface="Times" pitchFamily="18" charset="0"/>
              <a:buAutoNum type="arabicPeriod"/>
            </a:pPr>
            <a:r>
              <a:rPr lang="en-US" smtClean="0"/>
              <a:t>Recursive cases return correct values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E30DBA0F-AE28-4EBD-912D-FB02905819A3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349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Recursive Design Check: power()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/>
            <a:r>
              <a:rPr lang="en-US" sz="2800" smtClean="0"/>
              <a:t>Check power() against 3 properties:</a:t>
            </a:r>
          </a:p>
          <a:p>
            <a:pPr marL="914400" lvl="1" indent="-457200" eaLnBrk="1" hangingPunct="1">
              <a:spcBef>
                <a:spcPct val="40000"/>
              </a:spcBef>
              <a:buFont typeface="Times" pitchFamily="18" charset="0"/>
              <a:buAutoNum type="arabicPeriod"/>
            </a:pPr>
            <a:r>
              <a:rPr lang="en-US" sz="2400" smtClean="0"/>
              <a:t>No infinite recursion:</a:t>
            </a:r>
          </a:p>
          <a:p>
            <a:pPr marL="1295400" lvl="2" indent="-381000" eaLnBrk="1" hangingPunct="1"/>
            <a:r>
              <a:rPr lang="en-US" sz="2000" smtClean="0"/>
              <a:t>2</a:t>
            </a:r>
            <a:r>
              <a:rPr lang="en-US" sz="2000" baseline="30000" smtClean="0"/>
              <a:t>nd</a:t>
            </a:r>
            <a:r>
              <a:rPr lang="en-US" sz="2000" smtClean="0"/>
              <a:t> argument decreases by 1 each call</a:t>
            </a:r>
          </a:p>
          <a:p>
            <a:pPr marL="1295400" lvl="2" indent="-381000" eaLnBrk="1" hangingPunct="1"/>
            <a:r>
              <a:rPr lang="en-US" sz="2000" smtClean="0"/>
              <a:t>Eventually must get to base case of 1</a:t>
            </a:r>
          </a:p>
          <a:p>
            <a:pPr marL="914400" lvl="1" indent="-457200" eaLnBrk="1" hangingPunct="1">
              <a:spcBef>
                <a:spcPct val="40000"/>
              </a:spcBef>
              <a:buFont typeface="Times" pitchFamily="18" charset="0"/>
              <a:buAutoNum type="arabicPeriod" startAt="2"/>
            </a:pPr>
            <a:r>
              <a:rPr lang="en-US" sz="2400" smtClean="0"/>
              <a:t>Stopping case returns correct value:</a:t>
            </a:r>
          </a:p>
          <a:p>
            <a:pPr marL="1295400" lvl="2" indent="-381000" eaLnBrk="1" hangingPunct="1"/>
            <a:r>
              <a:rPr lang="en-US" sz="2000" smtClean="0"/>
              <a:t>power(x,0) is base case</a:t>
            </a:r>
          </a:p>
          <a:p>
            <a:pPr marL="1295400" lvl="2" indent="-381000" eaLnBrk="1" hangingPunct="1"/>
            <a:r>
              <a:rPr lang="en-US" sz="2000" smtClean="0"/>
              <a:t>Returns 1, which is correct for x</a:t>
            </a:r>
            <a:r>
              <a:rPr lang="en-US" sz="2000" baseline="30000" smtClean="0"/>
              <a:t>0</a:t>
            </a:r>
            <a:endParaRPr lang="en-US" sz="2000" smtClean="0"/>
          </a:p>
          <a:p>
            <a:pPr marL="914400" lvl="1" indent="-457200" eaLnBrk="1" hangingPunct="1">
              <a:spcBef>
                <a:spcPct val="40000"/>
              </a:spcBef>
              <a:buFont typeface="Times" pitchFamily="18" charset="0"/>
              <a:buAutoNum type="arabicPeriod" startAt="3"/>
            </a:pPr>
            <a:r>
              <a:rPr lang="en-US" sz="2400" smtClean="0"/>
              <a:t>Recursive calls correct:</a:t>
            </a:r>
          </a:p>
          <a:p>
            <a:pPr marL="1295400" lvl="2" indent="-381000" eaLnBrk="1" hangingPunct="1"/>
            <a:r>
              <a:rPr lang="en-US" sz="2000" smtClean="0"/>
              <a:t>For n&gt;1, power(x,n) returns power(x,n-1)*x</a:t>
            </a:r>
          </a:p>
          <a:p>
            <a:pPr marL="1295400" lvl="2" indent="-381000" eaLnBrk="1" hangingPunct="1"/>
            <a:r>
              <a:rPr lang="en-US" sz="2000" smtClean="0"/>
              <a:t>Plug in values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correct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C0E0AA5D-34CB-4349-A2C3-D77BC85D1E33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554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Tail recursion</a:t>
            </a:r>
          </a:p>
        </p:txBody>
      </p:sp>
      <p:sp>
        <p:nvSpPr>
          <p:cNvPr id="675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 function that is tail recursive if it has the property that no further computation occurs after the recursive call; the function immediately returns.</a:t>
            </a:r>
          </a:p>
          <a:p>
            <a:r>
              <a:rPr lang="en-US" smtClean="0"/>
              <a:t>Tail recursive functions can easily be converted to a more efficient iterative solution</a:t>
            </a:r>
          </a:p>
          <a:p>
            <a:pPr lvl="1"/>
            <a:r>
              <a:rPr lang="en-US" smtClean="0"/>
              <a:t>May be done automatically by your compiler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13-</a:t>
            </a:r>
            <a:fld id="{9A98BBF3-208E-479C-A566-2D5B6BAC83F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67588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Mutual Recursion</a:t>
            </a:r>
          </a:p>
        </p:txBody>
      </p:sp>
      <p:sp>
        <p:nvSpPr>
          <p:cNvPr id="686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When two or more functions call each other it is called mutual recursion</a:t>
            </a:r>
          </a:p>
          <a:p>
            <a:r>
              <a:rPr lang="en-US" smtClean="0"/>
              <a:t>Example</a:t>
            </a:r>
          </a:p>
          <a:p>
            <a:pPr lvl="1"/>
            <a:r>
              <a:rPr lang="en-US" smtClean="0"/>
              <a:t>Determine if a string has an even or odd number of 1’s by invoking a function that keeps track if the number of 1’s seen so far is even or odd</a:t>
            </a:r>
          </a:p>
          <a:p>
            <a:pPr lvl="1"/>
            <a:r>
              <a:rPr lang="en-US" smtClean="0"/>
              <a:t>Would result in stack overflow for long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13-</a:t>
            </a:r>
            <a:fld id="{137B3D5E-6D1B-4B9F-889E-E29D7BD49348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68612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Mutual Recursion Example (1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13-</a:t>
            </a:r>
            <a:fld id="{B1033DDB-2677-47AD-ACB1-E74859649F3A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69635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69636" name="TextBox 5"/>
          <p:cNvSpPr txBox="1">
            <a:spLocks noChangeArrowheads="1"/>
          </p:cNvSpPr>
          <p:nvPr/>
        </p:nvSpPr>
        <p:spPr bwMode="auto">
          <a:xfrm>
            <a:off x="838200" y="1219200"/>
            <a:ext cx="6708775" cy="538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// Recursive program to determine if a string has an even number of 1's.</a:t>
            </a:r>
          </a:p>
          <a:p>
            <a:r>
              <a:rPr lang="en-US" sz="1600"/>
              <a:t>#include &lt;iostream&gt;</a:t>
            </a:r>
          </a:p>
          <a:p>
            <a:r>
              <a:rPr lang="en-US" sz="1600"/>
              <a:t>#include &lt;string&gt;</a:t>
            </a:r>
          </a:p>
          <a:p>
            <a:endParaRPr lang="en-US" sz="1600"/>
          </a:p>
          <a:p>
            <a:r>
              <a:rPr lang="en-US" sz="1600"/>
              <a:t>using namespace std;</a:t>
            </a:r>
          </a:p>
          <a:p>
            <a:endParaRPr lang="en-US" sz="1600"/>
          </a:p>
          <a:p>
            <a:r>
              <a:rPr lang="en-US" sz="1600"/>
              <a:t>// Function prototypes</a:t>
            </a:r>
          </a:p>
          <a:p>
            <a:r>
              <a:rPr lang="en-US" sz="1600"/>
              <a:t>bool evenNumberOfOnes(string s);</a:t>
            </a:r>
          </a:p>
          <a:p>
            <a:r>
              <a:rPr lang="en-US" sz="1600"/>
              <a:t>bool oddNumberOfOnes(string s);</a:t>
            </a:r>
          </a:p>
          <a:p>
            <a:endParaRPr lang="en-US" sz="1600"/>
          </a:p>
          <a:p>
            <a:r>
              <a:rPr lang="en-US" sz="1600"/>
              <a:t>// If the recursive calls end here with an empty string</a:t>
            </a:r>
          </a:p>
          <a:p>
            <a:r>
              <a:rPr lang="en-US" sz="1600"/>
              <a:t>// then we had an even number of 1's.</a:t>
            </a:r>
          </a:p>
          <a:p>
            <a:r>
              <a:rPr lang="en-US" sz="1600"/>
              <a:t>bool evenNumberOfOnes(string s)</a:t>
            </a:r>
          </a:p>
          <a:p>
            <a:r>
              <a:rPr lang="en-US" sz="1600"/>
              <a:t>{</a:t>
            </a:r>
          </a:p>
          <a:p>
            <a:r>
              <a:rPr lang="en-US" sz="1600"/>
              <a:t>	if (s.length() == 0)</a:t>
            </a:r>
          </a:p>
          <a:p>
            <a:r>
              <a:rPr lang="en-US" sz="1600"/>
              <a:t>		return true; // Is even</a:t>
            </a:r>
          </a:p>
          <a:p>
            <a:r>
              <a:rPr lang="en-US" sz="1600"/>
              <a:t>	else if (s[0]=='1')</a:t>
            </a:r>
          </a:p>
          <a:p>
            <a:r>
              <a:rPr lang="en-US" sz="1600"/>
              <a:t>		return oddNumberOfOnes(s.substr(1));</a:t>
            </a:r>
          </a:p>
          <a:p>
            <a:r>
              <a:rPr lang="en-US" sz="1600"/>
              <a:t>	else</a:t>
            </a:r>
          </a:p>
          <a:p>
            <a:r>
              <a:rPr lang="en-US" sz="1600"/>
              <a:t>		return evenNumberOfOnes(s.substr(1));</a:t>
            </a:r>
          </a:p>
          <a:p>
            <a:r>
              <a:rPr lang="en-US" sz="1600"/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Mutual Recursion Example (2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13-</a:t>
            </a:r>
            <a:fld id="{5915AADB-5F39-4D8E-89A3-AA6E3E84071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70659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70660" name="TextBox 5"/>
          <p:cNvSpPr txBox="1">
            <a:spLocks noChangeArrowheads="1"/>
          </p:cNvSpPr>
          <p:nvPr/>
        </p:nvSpPr>
        <p:spPr bwMode="auto">
          <a:xfrm>
            <a:off x="838200" y="1219200"/>
            <a:ext cx="5727700" cy="526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// if the recursive calls end up here with an empty string</a:t>
            </a:r>
          </a:p>
          <a:p>
            <a:r>
              <a:rPr lang="en-US" sz="1600"/>
              <a:t>// then we had an odd number of 1's.</a:t>
            </a:r>
          </a:p>
          <a:p>
            <a:r>
              <a:rPr lang="en-US" sz="1600"/>
              <a:t>bool oddNumberOfOnes(string s)</a:t>
            </a:r>
          </a:p>
          <a:p>
            <a:r>
              <a:rPr lang="en-US" sz="1600"/>
              <a:t>{</a:t>
            </a:r>
          </a:p>
          <a:p>
            <a:r>
              <a:rPr lang="en-US" sz="1600"/>
              <a:t>	if (s.length() == 0)</a:t>
            </a:r>
          </a:p>
          <a:p>
            <a:r>
              <a:rPr lang="en-US" sz="1600"/>
              <a:t>		return false;	// Not even</a:t>
            </a:r>
          </a:p>
          <a:p>
            <a:r>
              <a:rPr lang="en-US" sz="1600"/>
              <a:t>	else if (s[0]=='1')</a:t>
            </a:r>
          </a:p>
          <a:p>
            <a:r>
              <a:rPr lang="en-US" sz="1600"/>
              <a:t>		return evenNumberOfOnes(s.substr(1));</a:t>
            </a:r>
          </a:p>
          <a:p>
            <a:r>
              <a:rPr lang="en-US" sz="1600"/>
              <a:t>	else</a:t>
            </a:r>
          </a:p>
          <a:p>
            <a:r>
              <a:rPr lang="en-US" sz="1600"/>
              <a:t>		return oddNumberOfOnes(s.substr(1));</a:t>
            </a:r>
          </a:p>
          <a:p>
            <a:r>
              <a:rPr lang="en-US" sz="1600"/>
              <a:t>}</a:t>
            </a:r>
          </a:p>
          <a:p>
            <a:r>
              <a:rPr lang="en-US" sz="1600"/>
              <a:t>int main()</a:t>
            </a:r>
          </a:p>
          <a:p>
            <a:r>
              <a:rPr lang="en-US" sz="1600"/>
              <a:t>{</a:t>
            </a:r>
          </a:p>
          <a:p>
            <a:r>
              <a:rPr lang="en-US" sz="1600"/>
              <a:t>	string s = "10011";</a:t>
            </a:r>
          </a:p>
          <a:p>
            <a:endParaRPr lang="en-US" sz="1600"/>
          </a:p>
          <a:p>
            <a:r>
              <a:rPr lang="en-US" sz="1600"/>
              <a:t>	if (evenNumberOfOnes(s))</a:t>
            </a:r>
          </a:p>
          <a:p>
            <a:r>
              <a:rPr lang="en-US" sz="1600"/>
              <a:t>		cout &lt;&lt; "Even number of ones." &lt;&lt; endl;</a:t>
            </a:r>
          </a:p>
          <a:p>
            <a:r>
              <a:rPr lang="en-US" sz="1600"/>
              <a:t>	else</a:t>
            </a:r>
          </a:p>
          <a:p>
            <a:r>
              <a:rPr lang="en-US" sz="1600"/>
              <a:t>		cout &lt;&lt; "Odd number of ones." &lt;&lt; endl;</a:t>
            </a:r>
          </a:p>
          <a:p>
            <a:r>
              <a:rPr lang="en-US" sz="1600"/>
              <a:t>	return 0;</a:t>
            </a:r>
          </a:p>
          <a:p>
            <a:r>
              <a:rPr lang="en-US" sz="1600"/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Binary Search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Recursive function to search array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Determines IF item is in list, and if so: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Where in list it is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Assumes array is sorted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Breaks list in half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Determines if item in 1</a:t>
            </a:r>
            <a:r>
              <a:rPr lang="en-US" baseline="30000" smtClean="0"/>
              <a:t>st</a:t>
            </a:r>
            <a:r>
              <a:rPr lang="en-US" smtClean="0"/>
              <a:t> or 2</a:t>
            </a:r>
            <a:r>
              <a:rPr lang="en-US" baseline="30000" smtClean="0"/>
              <a:t>nd</a:t>
            </a:r>
            <a:r>
              <a:rPr lang="en-US" smtClean="0"/>
              <a:t> half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Then searches again just that half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Recursively (of course)!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B5DBCE9F-EF9F-4DAC-A19E-9C291111662A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16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smtClean="0"/>
              <a:t>Display 13.6</a:t>
            </a:r>
            <a:r>
              <a:rPr lang="en-US" sz="3600" smtClean="0"/>
              <a:t>  </a:t>
            </a:r>
            <a:br>
              <a:rPr lang="en-US" sz="3600" smtClean="0"/>
            </a:br>
            <a:r>
              <a:rPr lang="en-US" sz="3600" smtClean="0"/>
              <a:t>Pseudocode for Binary Search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9558A6F6-230F-45D5-9D8D-E3558AFC535C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3731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pic>
        <p:nvPicPr>
          <p:cNvPr id="7373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400" y="1524000"/>
            <a:ext cx="6904038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Checking the Recursion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sz="2800" smtClean="0"/>
              <a:t>Check binary search against criteria:</a:t>
            </a:r>
          </a:p>
          <a:p>
            <a:pPr marL="914400" lvl="1" indent="-457200" eaLnBrk="1" hangingPunct="1">
              <a:lnSpc>
                <a:spcPct val="90000"/>
              </a:lnSpc>
              <a:spcBef>
                <a:spcPct val="40000"/>
              </a:spcBef>
              <a:buFont typeface="Times" pitchFamily="18" charset="0"/>
              <a:buAutoNum type="arabicPeriod"/>
            </a:pPr>
            <a:r>
              <a:rPr lang="en-US" sz="2400" smtClean="0"/>
              <a:t>No infinite recursion:</a:t>
            </a:r>
          </a:p>
          <a:p>
            <a:pPr marL="1295400" lvl="2" indent="-381000" eaLnBrk="1" hangingPunct="1">
              <a:lnSpc>
                <a:spcPct val="90000"/>
              </a:lnSpc>
            </a:pPr>
            <a:r>
              <a:rPr lang="en-US" sz="2000" smtClean="0"/>
              <a:t>Each call increases first or decreases last</a:t>
            </a:r>
          </a:p>
          <a:p>
            <a:pPr marL="1295400" lvl="2" indent="-381000" eaLnBrk="1" hangingPunct="1">
              <a:lnSpc>
                <a:spcPct val="90000"/>
              </a:lnSpc>
            </a:pPr>
            <a:r>
              <a:rPr lang="en-US" sz="2000" smtClean="0"/>
              <a:t>Eventually first will be greater than last</a:t>
            </a:r>
          </a:p>
          <a:p>
            <a:pPr marL="914400" lvl="1" indent="-457200" eaLnBrk="1" hangingPunct="1">
              <a:lnSpc>
                <a:spcPct val="90000"/>
              </a:lnSpc>
              <a:spcBef>
                <a:spcPct val="40000"/>
              </a:spcBef>
              <a:buFont typeface="Times" pitchFamily="18" charset="0"/>
              <a:buAutoNum type="arabicPeriod" startAt="2"/>
            </a:pPr>
            <a:r>
              <a:rPr lang="en-US" sz="2400" smtClean="0"/>
              <a:t>Stopping cases perform correct action:</a:t>
            </a:r>
          </a:p>
          <a:p>
            <a:pPr marL="1295400" lvl="2" indent="-381000" eaLnBrk="1" hangingPunct="1">
              <a:lnSpc>
                <a:spcPct val="90000"/>
              </a:lnSpc>
            </a:pPr>
            <a:r>
              <a:rPr lang="en-US" sz="2000" smtClean="0"/>
              <a:t>If first &gt; last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no elements between them, so key</a:t>
            </a:r>
            <a:br>
              <a:rPr lang="en-US" sz="2000" smtClean="0"/>
            </a:br>
            <a:r>
              <a:rPr lang="en-US" sz="2000" smtClean="0"/>
              <a:t>can’t be there!</a:t>
            </a:r>
          </a:p>
          <a:p>
            <a:pPr marL="1295400" lvl="2" indent="-381000" eaLnBrk="1" hangingPunct="1">
              <a:lnSpc>
                <a:spcPct val="90000"/>
              </a:lnSpc>
            </a:pPr>
            <a:r>
              <a:rPr lang="en-US" sz="2000" smtClean="0"/>
              <a:t>IF key == a[mid]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correctly found!</a:t>
            </a:r>
          </a:p>
          <a:p>
            <a:pPr marL="914400" lvl="1" indent="-457200" eaLnBrk="1" hangingPunct="1">
              <a:lnSpc>
                <a:spcPct val="90000"/>
              </a:lnSpc>
              <a:spcBef>
                <a:spcPct val="40000"/>
              </a:spcBef>
              <a:buFont typeface="Times" pitchFamily="18" charset="0"/>
              <a:buAutoNum type="arabicPeriod" startAt="3"/>
            </a:pPr>
            <a:r>
              <a:rPr lang="en-US" sz="2400" smtClean="0"/>
              <a:t>Recursive calls perform correct action</a:t>
            </a:r>
          </a:p>
          <a:p>
            <a:pPr marL="1295400" lvl="2" indent="-381000" eaLnBrk="1" hangingPunct="1">
              <a:lnSpc>
                <a:spcPct val="90000"/>
              </a:lnSpc>
            </a:pPr>
            <a:r>
              <a:rPr lang="en-US" sz="2000" smtClean="0"/>
              <a:t>If key &lt; a[mid]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key in 1</a:t>
            </a:r>
            <a:r>
              <a:rPr lang="en-US" sz="2000" baseline="30000" smtClean="0"/>
              <a:t>st</a:t>
            </a:r>
            <a:r>
              <a:rPr lang="en-US" sz="2000" smtClean="0"/>
              <a:t> half – correct call</a:t>
            </a:r>
          </a:p>
          <a:p>
            <a:pPr marL="1295400" lvl="2" indent="-381000" eaLnBrk="1" hangingPunct="1">
              <a:lnSpc>
                <a:spcPct val="90000"/>
              </a:lnSpc>
            </a:pPr>
            <a:r>
              <a:rPr lang="en-US" sz="2000" smtClean="0"/>
              <a:t>If key &gt; a[mid]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key in 2</a:t>
            </a:r>
            <a:r>
              <a:rPr lang="en-US" sz="2000" baseline="30000" smtClean="0"/>
              <a:t>nd</a:t>
            </a:r>
            <a:r>
              <a:rPr lang="en-US" sz="2000" smtClean="0"/>
              <a:t> half – correct call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AF7A08EE-7F91-4D12-829A-5FE96DFDFF79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57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>
          <a:xfrm>
            <a:off x="933450" y="193675"/>
            <a:ext cx="3105150" cy="2930525"/>
          </a:xfrm>
        </p:spPr>
        <p:txBody>
          <a:bodyPr/>
          <a:lstStyle/>
          <a:p>
            <a:pPr eaLnBrk="1" hangingPunct="1"/>
            <a:r>
              <a:rPr lang="en-US" sz="3000" smtClean="0"/>
              <a:t>Execution of </a:t>
            </a:r>
            <a:br>
              <a:rPr lang="en-US" sz="3000" smtClean="0"/>
            </a:br>
            <a:r>
              <a:rPr lang="en-US" sz="3000" smtClean="0"/>
              <a:t>Binary Search: </a:t>
            </a:r>
            <a:br>
              <a:rPr lang="en-US" sz="3000" smtClean="0"/>
            </a:br>
            <a:r>
              <a:rPr lang="en-US" sz="3000" b="1" smtClean="0"/>
              <a:t>Display 13.8  </a:t>
            </a:r>
            <a:r>
              <a:rPr lang="en-US" sz="3000" smtClean="0"/>
              <a:t>Execution of the Function search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22E5F03F-6C21-440C-840E-143A9F7B068E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77827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pic>
        <p:nvPicPr>
          <p:cNvPr id="7782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52900" y="152400"/>
            <a:ext cx="4991100" cy="625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Efficiency of Binary Search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Extremely fast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Compared with sequential search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Half of array eliminated at start!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Then a quarter, then 1/8, etc.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Essentially eliminate half with each call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Example:</a:t>
            </a:r>
            <a:br>
              <a:rPr lang="en-US" sz="2800" smtClean="0"/>
            </a:br>
            <a:r>
              <a:rPr lang="en-US" sz="2800" smtClean="0"/>
              <a:t>Array of 100 elements: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Binary search never needs more than 7 compares!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Logarithmic efficiency (log 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4DD46EC5-778D-40D1-9009-25445EA2C637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798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Recursive Solutions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Notice binary search algorithm actually</a:t>
            </a:r>
            <a:br>
              <a:rPr lang="en-US" smtClean="0"/>
            </a:br>
            <a:r>
              <a:rPr lang="en-US" smtClean="0"/>
              <a:t>solves "more general" problem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Original goal: design function to search an</a:t>
            </a:r>
            <a:br>
              <a:rPr lang="en-US" smtClean="0"/>
            </a:br>
            <a:r>
              <a:rPr lang="en-US" smtClean="0"/>
              <a:t>entire array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Our function: allows search of any interval of array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By specifying bounds </a:t>
            </a:r>
            <a:r>
              <a:rPr lang="en-US" i="1" smtClean="0"/>
              <a:t>first</a:t>
            </a:r>
            <a:r>
              <a:rPr lang="en-US" smtClean="0"/>
              <a:t> and </a:t>
            </a:r>
            <a:r>
              <a:rPr lang="en-US" i="1" smtClean="0"/>
              <a:t>last</a:t>
            </a:r>
            <a:endParaRPr lang="en-US" smtClean="0"/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Very common when designing </a:t>
            </a:r>
            <a:br>
              <a:rPr lang="en-US" smtClean="0"/>
            </a:br>
            <a:r>
              <a:rPr lang="en-US" smtClean="0"/>
              <a:t>recursive functions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7A11496E-4F52-4101-91B3-696965A36518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819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1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Reduce problem into smaller instances of</a:t>
            </a:r>
            <a:br>
              <a:rPr lang="en-US" sz="2800" smtClean="0"/>
            </a:br>
            <a:r>
              <a:rPr lang="en-US" sz="2800" smtClean="0"/>
              <a:t>same problem -&gt; recursive solution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Recursive algorithm has two cases: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Base/stopping case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Recursive case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Ensure no infinite recursion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Use criteria to determine recursion correct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Three essential properties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Typically solves "more general" problem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13-</a:t>
            </a:r>
            <a:fld id="{D8FD85EA-187D-46CA-A011-A9F7A629D96E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839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1663</Words>
  <Application>Microsoft Office PowerPoint</Application>
  <PresentationFormat>On-screen Show (4:3)</PresentationFormat>
  <Paragraphs>368</Paragraphs>
  <Slides>37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Design Template</vt:lpstr>
      </vt:variant>
      <vt:variant>
        <vt:i4>12</vt:i4>
      </vt:variant>
      <vt:variant>
        <vt:lpstr>Slide Titles</vt:lpstr>
      </vt:variant>
      <vt:variant>
        <vt:i4>37</vt:i4>
      </vt:variant>
    </vt:vector>
  </HeadingPairs>
  <TitlesOfParts>
    <vt:vector size="54" baseType="lpstr">
      <vt:lpstr>Arial</vt:lpstr>
      <vt:lpstr>Calibri</vt:lpstr>
      <vt:lpstr>Wingdings</vt:lpstr>
      <vt:lpstr>Symbol</vt:lpstr>
      <vt:lpstr>Times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Chapter 13</vt:lpstr>
      <vt:lpstr>Learning Objectives</vt:lpstr>
      <vt:lpstr>Introduction to Recursion</vt:lpstr>
      <vt:lpstr>Recursive void Functions</vt:lpstr>
      <vt:lpstr>Recursive void Function Example</vt:lpstr>
      <vt:lpstr>Recursive void Function:  Vertical Numbers</vt:lpstr>
      <vt:lpstr>Vertical Numbers:  Recursive Definition</vt:lpstr>
      <vt:lpstr>writeVertical Function Definition</vt:lpstr>
      <vt:lpstr>writeVertical Trace</vt:lpstr>
      <vt:lpstr>Recursion—A Closer Look</vt:lpstr>
      <vt:lpstr>Recursion Big Picture</vt:lpstr>
      <vt:lpstr>Infinite Recursion</vt:lpstr>
      <vt:lpstr>Infinite Recursion Example</vt:lpstr>
      <vt:lpstr>Stacks for Recursion</vt:lpstr>
      <vt:lpstr>Stack Overflow</vt:lpstr>
      <vt:lpstr>Recursion Versus Iteration</vt:lpstr>
      <vt:lpstr>Recursive Functions  that Return a Value</vt:lpstr>
      <vt:lpstr>Return a Value  Recursion Example: Powers</vt:lpstr>
      <vt:lpstr>Function Definition for power()</vt:lpstr>
      <vt:lpstr>Calling Function power()</vt:lpstr>
      <vt:lpstr>Calling Function power()</vt:lpstr>
      <vt:lpstr>Tracing Function power():  Display 13.4  Evaluating the Recursive Function Call power(2,3)</vt:lpstr>
      <vt:lpstr>Thinking Recursively</vt:lpstr>
      <vt:lpstr>Thinking Recursively: power</vt:lpstr>
      <vt:lpstr>Recursive Design Techniques</vt:lpstr>
      <vt:lpstr>Recursive Design Check: power()</vt:lpstr>
      <vt:lpstr>Tail recursion</vt:lpstr>
      <vt:lpstr>Mutual Recursion</vt:lpstr>
      <vt:lpstr>Mutual Recursion Example (1 of 2)</vt:lpstr>
      <vt:lpstr>Mutual Recursion Example (2 of 2)</vt:lpstr>
      <vt:lpstr>Binary Search</vt:lpstr>
      <vt:lpstr>Display 13.6   Pseudocode for Binary Search</vt:lpstr>
      <vt:lpstr>Checking the Recursion</vt:lpstr>
      <vt:lpstr>Execution of  Binary Search:  Display 13.8  Execution of the Function search</vt:lpstr>
      <vt:lpstr>Efficiency of Binary Search</vt:lpstr>
      <vt:lpstr>Recursive Solutions</vt:lpstr>
      <vt:lpstr>Summary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usnidem</cp:lastModifiedBy>
  <cp:revision>17</cp:revision>
  <dcterms:created xsi:type="dcterms:W3CDTF">2006-08-16T00:00:00Z</dcterms:created>
  <dcterms:modified xsi:type="dcterms:W3CDTF">2012-05-08T14:08:41Z</dcterms:modified>
</cp:coreProperties>
</file>