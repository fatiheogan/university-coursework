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tags/tag5.xml" ContentType="application/vnd.openxmlformats-officedocument.presentationml.tags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3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1" d="100"/>
          <a:sy n="101" d="100"/>
        </p:scale>
        <p:origin x="834" y="14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B49C929-C44A-42C0-A476-DB9D0C361A80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F5F7698-2832-41E0-AE2A-AC8FC3688F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4765DC-BF5B-403D-9808-BB667A0C68B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DA4E2E-7F73-4429-A508-469B9A6D6BE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D6A3AA0-1066-42D8-B6CA-AB5E36C1C4F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66314FA-8C05-478D-B6FF-1894559470A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3A0082C-26CB-4C95-BAA4-DBC9085E69F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0DADE2B-B29E-402C-A29C-C0D1EF7639A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D096EC-CB6C-44B1-8CFF-120E966BDE4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2EA07FD-308F-4D32-A78A-3FA2C5B744D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5CC82D7-7988-40CD-8F76-F3E9C7F752D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05D9F82-DD3E-4F25-B230-3D9B54734CE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990F97-ED1F-44FD-BCAA-A5037EE18E4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343FC65-F4E1-4AEC-AA50-93B7751ADB2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D0C180-7B05-4000-A40A-0A0929A7563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8EC0B88-60AA-4D39-AC27-2CC851858C9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DE6D790-3342-407F-A6F7-C9E1D46726A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8C99AF-E751-4751-BEBE-DA92BAE7FCD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DA96F71-D2AE-41D1-955B-C4B1DB9D137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48BD080-DEA8-431D-A44D-09E25F96B09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A38925D-502B-4070-B9CA-BAEB6A0F56E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477E51-8EF7-4CC7-B5B5-FC28B213D7A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5322AB-B6ED-4655-8B7F-3FF68455D33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52FF6D-05C4-4D93-AFD6-CA0CC27357E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91EE746-8E2D-4C71-A3D7-8603A5FB017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28A5A7-904E-4079-A0F0-861F9C3A666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85AF01-CA0E-4D40-8815-EB3D1FD3EDE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60C1C8-1C4F-4156-B9DC-9F7258A58E7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8596E8-A9C5-400A-B62D-BA8A09ED93D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EE5B3D-2AA9-48F2-AC5F-3B56DB3649A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86FB453-850D-433D-9CAD-055AB1ED5C9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9BC9E31-3824-479D-95EC-D57EF0A08C5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8C4B121-8E58-4A2B-868F-13D75A9BE2A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9825808-0E64-4854-8DA6-5CCD6E0313C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97FC775-8060-47EC-A00A-458B2FA8265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2B1A0C0-EB8A-4606-96C8-172E64C5019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89D00B0-D98D-4116-90D4-457D8477065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9B355C-A51D-4968-90A2-133491939E2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60904B2-694E-4BD5-B5B9-2C6E19B6C02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C1ACF25-4936-42CA-9712-71A2BD07D20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E8C4CDA-A643-4B8B-A134-78F79DAD83A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CA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96834DB-7372-48F2-A3BF-D73F65622EA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CA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CF82A90-F5B6-420B-8CCC-EC82A29856F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CA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35007D4-1B8D-4976-8FC0-59C8EC7E276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CA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DDE9E5-14E4-41EA-8541-3504BA37EE9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CA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B7C96D4-B63F-4C28-8EE7-DF4978017F1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en-CA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7130F7-C743-4999-B7E4-58EC8BD72C2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en-CA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A1E7629-E7EB-4CEF-B17A-5C9F47FF6D7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605DA-849B-40D8-B936-DDA94B06FCC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872EF874-5F4F-4AE2-978F-F74668FC9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D85CD7-789D-4461-AFED-F12252DCEB89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69AD1E7A-7326-477D-8D46-8EBEBBB024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D70036-C4C4-4A5D-88FE-08F848AA720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9D084B7C-8089-4556-8B5F-B8CD02E29A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EB6B-230F-4608-B7F0-0BB8A1B11795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362B2E7C-6940-4234-8741-86DA8693F0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1A901-1BAD-4825-A540-9907D2A2F2A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1243B7E2-22B3-4E4B-8F9B-F19F49FA27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852EF-A47A-43CC-B610-161E31645C88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AD4D99D4-CF24-4E28-AE05-C0145B9685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0648A-DB67-4C54-AC42-46102BF27346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82705D6C-E05A-4358-A439-4609665D27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7AB8A-7498-4859-BB3B-4DC9E5FE8A83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A417AAF3-FDBB-4CA7-8FAB-246E022D06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191F0-BBAE-4BBD-8C9F-186C504B576B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6DB1B223-C955-49EB-B296-152E5FD19E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C2F833-9FD9-4CCF-9BAC-02622EE4D2C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48811D71-0C2B-4A8E-B66E-22E3653DAF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BD7C2E-087D-4DBE-BB24-D6D0CC8B139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542A52E5-70ED-4A1C-9D4D-7ECDC18DB7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9BBAE6C-DBF7-4A5C-8645-B3C846B65E4A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4258CBD0-CAD0-4F06-9E00-35055A04F1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Operator Overloading, Friends, </a:t>
            </a:r>
            <a:br>
              <a:rPr lang="en-US" dirty="0" smtClean="0"/>
            </a:br>
            <a:r>
              <a:rPr lang="en-US" dirty="0" smtClean="0"/>
              <a:t>and References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Basic Operator Overloading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Unary operators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As member functions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Friends and Automatic Type Conversion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Friend functions, friend 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Constructors for automatic type conversion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References and More Overloading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&lt;&lt; and &gt;&gt;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Operators: = , [], ++, --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8F98157D-FE7E-4424-9CD7-88A7EE0DDE66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Operator Overloading Introduction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Operators +, -, %, ==, etc.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Really just functions!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Simply "called" with different syntax:</a:t>
            </a:r>
            <a:br>
              <a:rPr lang="en-US" sz="2400" smtClean="0"/>
            </a:br>
            <a:r>
              <a:rPr lang="en-US" sz="2400" smtClean="0"/>
              <a:t>x + 7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"+" is binary operator with x &amp; 7 as operands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We "like" this notation as humans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Think of it as:</a:t>
            </a:r>
            <a:br>
              <a:rPr lang="en-US" sz="2400" smtClean="0"/>
            </a:br>
            <a:r>
              <a:rPr lang="en-US" sz="2400" smtClean="0"/>
              <a:t>+(x, 7)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"+" is the function name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x, 7 are the arguments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Function "+" returns "sum" of it’s arguments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F7CB3D86-5C13-4E52-8EE6-C05848948D28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Operator Overloading Perspective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Built-in operators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e.g., +, -, = , %, ==,  /, *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Already work for C++ built-in types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In standard "binary" notation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We can overload them!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To work with OUR types!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To add "Chair types", or "Money types"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As appropriate for our needs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In "notation" we’re comfortable with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Always overload with similar "actions"!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3EBD4A17-3A5A-40ED-AE68-2F83A5E2F190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Overloading Basics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667250"/>
          </a:xfrm>
        </p:spPr>
        <p:txBody>
          <a:bodyPr/>
          <a:lstStyle/>
          <a:p>
            <a:pPr eaLnBrk="1" hangingPunct="1"/>
            <a:r>
              <a:rPr lang="en-US" sz="2800" smtClean="0"/>
              <a:t>Overloading operators</a:t>
            </a:r>
          </a:p>
          <a:p>
            <a:pPr lvl="1" eaLnBrk="1" hangingPunct="1"/>
            <a:r>
              <a:rPr lang="en-US" sz="2400" smtClean="0"/>
              <a:t>VERY similar to overloading functions</a:t>
            </a:r>
          </a:p>
          <a:p>
            <a:pPr lvl="1" eaLnBrk="1" hangingPunct="1"/>
            <a:r>
              <a:rPr lang="en-US" sz="2400" smtClean="0"/>
              <a:t>Operator itself is "name" of function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Example Declaration:</a:t>
            </a:r>
            <a:br>
              <a:rPr lang="en-US" sz="2800" smtClean="0"/>
            </a:br>
            <a:r>
              <a:rPr lang="en-US" sz="2000" smtClean="0"/>
              <a:t>const Money operator +(	const Money&amp; amount1,</a:t>
            </a:r>
            <a:br>
              <a:rPr lang="en-US" sz="2000" smtClean="0"/>
            </a:br>
            <a:r>
              <a:rPr lang="en-US" sz="2000" smtClean="0"/>
              <a:t>			        	const Money&amp; amount2);</a:t>
            </a:r>
          </a:p>
          <a:p>
            <a:pPr lvl="1" eaLnBrk="1" hangingPunct="1"/>
            <a:r>
              <a:rPr lang="en-US" sz="2400" smtClean="0"/>
              <a:t>Overloads + for operands of type Money</a:t>
            </a:r>
          </a:p>
          <a:p>
            <a:pPr lvl="1" eaLnBrk="1" hangingPunct="1"/>
            <a:r>
              <a:rPr lang="en-US" sz="2400" smtClean="0"/>
              <a:t>Uses constant reference parameters for efficiency</a:t>
            </a:r>
          </a:p>
          <a:p>
            <a:pPr lvl="1" eaLnBrk="1" hangingPunct="1"/>
            <a:r>
              <a:rPr lang="en-US" sz="2400" smtClean="0"/>
              <a:t>Returned value is type Money</a:t>
            </a:r>
          </a:p>
          <a:p>
            <a:pPr lvl="2" eaLnBrk="1" hangingPunct="1"/>
            <a:r>
              <a:rPr lang="en-US" sz="2000" smtClean="0"/>
              <a:t>Allows addition of "Money" objects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8E34A2B7-DF3E-4DA5-A406-EAA370A7314D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Overloaded "+"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Given previous example:</a:t>
            </a:r>
          </a:p>
          <a:p>
            <a:pPr lvl="1" eaLnBrk="1" hangingPunct="1"/>
            <a:r>
              <a:rPr lang="en-US" sz="2400" smtClean="0"/>
              <a:t>Note: overloaded "+" NOT member function</a:t>
            </a:r>
          </a:p>
          <a:p>
            <a:pPr lvl="1" eaLnBrk="1" hangingPunct="1"/>
            <a:r>
              <a:rPr lang="en-US" sz="2400" smtClean="0"/>
              <a:t>Definition is "more involved" than simple "add"</a:t>
            </a:r>
          </a:p>
          <a:p>
            <a:pPr lvl="2" eaLnBrk="1" hangingPunct="1"/>
            <a:r>
              <a:rPr lang="en-US" sz="2000" smtClean="0"/>
              <a:t>Requires issues of money type addition</a:t>
            </a:r>
          </a:p>
          <a:p>
            <a:pPr lvl="2" eaLnBrk="1" hangingPunct="1"/>
            <a:r>
              <a:rPr lang="en-US" sz="2000" smtClean="0"/>
              <a:t>Must handle negative/positive values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Operator overload definitions generally</a:t>
            </a:r>
            <a:br>
              <a:rPr lang="en-US" sz="2800" smtClean="0"/>
            </a:br>
            <a:r>
              <a:rPr lang="en-US" sz="2800" smtClean="0"/>
              <a:t>very simple</a:t>
            </a:r>
          </a:p>
          <a:p>
            <a:pPr lvl="1" eaLnBrk="1" hangingPunct="1"/>
            <a:r>
              <a:rPr lang="en-US" sz="2400" smtClean="0"/>
              <a:t>Just perform "addition" particular to "your" 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5260B6AC-F5E7-401E-AEEE-2D5336633562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Money "+" Definition: </a:t>
            </a:r>
            <a:br>
              <a:rPr lang="en-US" sz="3600"/>
            </a:br>
            <a:r>
              <a:rPr lang="en-US" sz="3600" b="1"/>
              <a:t>Display 8.1</a:t>
            </a:r>
            <a:r>
              <a:rPr lang="en-US" sz="3600"/>
              <a:t>  Operator Overloading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1146175"/>
          </a:xfrm>
        </p:spPr>
        <p:txBody>
          <a:bodyPr/>
          <a:lstStyle/>
          <a:p>
            <a:pPr eaLnBrk="1" hangingPunct="1"/>
            <a:r>
              <a:rPr lang="en-US" sz="2800" smtClean="0"/>
              <a:t>Definition of "+" operator for Money class:</a:t>
            </a:r>
          </a:p>
        </p:txBody>
      </p:sp>
      <p:pic>
        <p:nvPicPr>
          <p:cNvPr id="26627" name="Picture 4" descr="C:\WINDOWS\Desktop\Oh_type\sacitch_C++_ppt\gif\savitchc08d01_partA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263650" y="2171700"/>
            <a:ext cx="7232650" cy="403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E5D86428-9829-4746-A09F-648B8D1DEC8E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9" name="Footer Placeholder 7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Overloaded "=="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Equality operator, ==</a:t>
            </a:r>
          </a:p>
          <a:p>
            <a:pPr lvl="1" eaLnBrk="1" hangingPunct="1"/>
            <a:r>
              <a:rPr lang="en-US" smtClean="0"/>
              <a:t>Enables comparison of Money objects</a:t>
            </a:r>
          </a:p>
          <a:p>
            <a:pPr lvl="1" eaLnBrk="1" hangingPunct="1"/>
            <a:r>
              <a:rPr lang="en-US" smtClean="0"/>
              <a:t>Declaration:</a:t>
            </a:r>
            <a:br>
              <a:rPr lang="en-US" smtClean="0"/>
            </a:br>
            <a:r>
              <a:rPr lang="en-US" smtClean="0"/>
              <a:t>bool operator ==(const Money&amp; amount1,</a:t>
            </a:r>
            <a:br>
              <a:rPr lang="en-US" smtClean="0"/>
            </a:br>
            <a:r>
              <a:rPr lang="en-US" smtClean="0"/>
              <a:t>				const Money&amp; amount2);</a:t>
            </a:r>
          </a:p>
          <a:p>
            <a:pPr lvl="2" eaLnBrk="1" hangingPunct="1"/>
            <a:r>
              <a:rPr lang="en-US" smtClean="0"/>
              <a:t>Returns bool type for true/false equality</a:t>
            </a:r>
          </a:p>
          <a:p>
            <a:pPr lvl="1" eaLnBrk="1" hangingPunct="1"/>
            <a:r>
              <a:rPr lang="en-US" smtClean="0"/>
              <a:t>Again, it’s a non-member function</a:t>
            </a:r>
            <a:br>
              <a:rPr lang="en-US" smtClean="0"/>
            </a:br>
            <a:r>
              <a:rPr lang="en-US" smtClean="0"/>
              <a:t>(like "+" overload)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D6A20C79-E885-476A-95FC-90426BD32200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Overloaded "==" for Money:</a:t>
            </a:r>
            <a:br>
              <a:rPr lang="en-US" sz="3600"/>
            </a:br>
            <a:r>
              <a:rPr lang="en-US" sz="3600" b="1"/>
              <a:t>Display 8.1</a:t>
            </a:r>
            <a:r>
              <a:rPr lang="en-US" sz="3600"/>
              <a:t>  Operator Overloading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1262063"/>
          </a:xfrm>
        </p:spPr>
        <p:txBody>
          <a:bodyPr/>
          <a:lstStyle/>
          <a:p>
            <a:pPr eaLnBrk="1" hangingPunct="1"/>
            <a:r>
              <a:rPr lang="en-US" sz="2800" smtClean="0"/>
              <a:t>Definition of "==" operator for Money class:</a:t>
            </a:r>
          </a:p>
        </p:txBody>
      </p:sp>
      <p:pic>
        <p:nvPicPr>
          <p:cNvPr id="30723" name="Picture 4" descr="C:\WINDOWS\Desktop\Oh_type\sacitch_C++_ppt\gif\savitchc08d01_partB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31875" y="2819400"/>
            <a:ext cx="7772400" cy="144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67E60BAA-F955-4951-A07C-D6801C666FB3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5" name="Footer Placeholder 7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Constructors Returning Objects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5910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Constructor a "void" function?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We "think" that way, but no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 "special" function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With special properties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CAN return a value!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Recall return statement in "+" overload</a:t>
            </a:r>
            <a:br>
              <a:rPr lang="en-US" sz="2800" smtClean="0"/>
            </a:br>
            <a:r>
              <a:rPr lang="en-US" sz="2800" smtClean="0"/>
              <a:t>for Money type: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return Money(finalDollars, finalCents);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Returns an "invocation" of Money class!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So constructor actually "returns" an object!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Called an "anonymous object"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91F27D1B-2BB1-4842-B402-57FC7E554C2F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Returning by const Value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Consider "+" operator overload again:</a:t>
            </a:r>
            <a:br>
              <a:rPr lang="en-US" smtClean="0"/>
            </a:br>
            <a:r>
              <a:rPr lang="en-US" sz="2400" smtClean="0"/>
              <a:t>const Money operator +(const Money&amp; amount1,</a:t>
            </a:r>
            <a:br>
              <a:rPr lang="en-US" sz="2400" smtClean="0"/>
            </a:br>
            <a:r>
              <a:rPr lang="en-US" sz="2400" smtClean="0"/>
              <a:t>			        	   const Money&amp; amount2);</a:t>
            </a:r>
          </a:p>
          <a:p>
            <a:pPr lvl="1" eaLnBrk="1" hangingPunct="1"/>
            <a:r>
              <a:rPr lang="en-US" smtClean="0"/>
              <a:t>Returns a "constant object"?</a:t>
            </a:r>
          </a:p>
          <a:p>
            <a:pPr lvl="1" eaLnBrk="1" hangingPunct="1"/>
            <a:r>
              <a:rPr lang="en-US" smtClean="0"/>
              <a:t>Why?</a:t>
            </a:r>
          </a:p>
          <a:p>
            <a:pPr eaLnBrk="1" hangingPunct="1"/>
            <a:r>
              <a:rPr lang="en-US" smtClean="0"/>
              <a:t>Consider impact of returning "non-const"</a:t>
            </a:r>
            <a:br>
              <a:rPr lang="en-US" smtClean="0"/>
            </a:br>
            <a:r>
              <a:rPr lang="en-US" smtClean="0"/>
              <a:t>object to see…</a:t>
            </a:r>
            <a:r>
              <a:rPr lang="en-US" smtClean="0">
                <a:sym typeface="Wingdings" pitchFamily="2" charset="2"/>
              </a:rPr>
              <a:t></a:t>
            </a:r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02DEB122-5BC0-497B-9EBE-0FC3D1E3D990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Returning by non-const Value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Consider "no const" in declaration:</a:t>
            </a:r>
            <a:br>
              <a:rPr lang="en-US" sz="2800" smtClean="0"/>
            </a:br>
            <a:r>
              <a:rPr lang="en-US" sz="2800" smtClean="0"/>
              <a:t>Money operator +(	const Money&amp; amount1,</a:t>
            </a:r>
            <a:br>
              <a:rPr lang="en-US" sz="2800" smtClean="0"/>
            </a:br>
            <a:r>
              <a:rPr lang="en-US" sz="2800" smtClean="0"/>
              <a:t>		  	    	const Money&amp; amount2);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Consider expression that calls:</a:t>
            </a:r>
            <a:br>
              <a:rPr lang="en-US" sz="2800" smtClean="0"/>
            </a:br>
            <a:r>
              <a:rPr lang="en-US" sz="2800" smtClean="0"/>
              <a:t>m1 + m2</a:t>
            </a:r>
          </a:p>
          <a:p>
            <a:pPr lvl="1" eaLnBrk="1" hangingPunct="1"/>
            <a:r>
              <a:rPr lang="en-US" sz="2400" smtClean="0"/>
              <a:t>Where m1 &amp; m2 are Money objects</a:t>
            </a:r>
          </a:p>
          <a:p>
            <a:pPr lvl="1" eaLnBrk="1" hangingPunct="1"/>
            <a:r>
              <a:rPr lang="en-US" sz="2400" smtClean="0"/>
              <a:t>Object returned is Money object</a:t>
            </a:r>
          </a:p>
          <a:p>
            <a:pPr lvl="1" eaLnBrk="1" hangingPunct="1"/>
            <a:r>
              <a:rPr lang="en-US" sz="2400" smtClean="0"/>
              <a:t>We can "do things" with objects!</a:t>
            </a:r>
          </a:p>
          <a:p>
            <a:pPr lvl="2" eaLnBrk="1" hangingPunct="1"/>
            <a:r>
              <a:rPr lang="en-US" sz="2000" smtClean="0"/>
              <a:t>Like call member functions…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AB769E3B-569A-4BF7-8F52-7C80C2024445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What to do with Non-const Object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Can call member functions:</a:t>
            </a:r>
          </a:p>
          <a:p>
            <a:pPr lvl="1" eaLnBrk="1" hangingPunct="1"/>
            <a:r>
              <a:rPr lang="en-US" sz="2400" smtClean="0"/>
              <a:t>We could invoke member functions on</a:t>
            </a:r>
            <a:br>
              <a:rPr lang="en-US" sz="2400" smtClean="0"/>
            </a:br>
            <a:r>
              <a:rPr lang="en-US" sz="2400" smtClean="0"/>
              <a:t>object returned by expression m1+m2:</a:t>
            </a:r>
          </a:p>
          <a:p>
            <a:pPr lvl="2" eaLnBrk="1" hangingPunct="1"/>
            <a:r>
              <a:rPr lang="en-US" sz="2000" smtClean="0"/>
              <a:t>(m1+m2).output();  //Legal, right?</a:t>
            </a:r>
          </a:p>
          <a:p>
            <a:pPr lvl="3" eaLnBrk="1" hangingPunct="1"/>
            <a:r>
              <a:rPr lang="en-US" sz="1800" smtClean="0"/>
              <a:t>Not a problem: doesn’t change anything</a:t>
            </a:r>
          </a:p>
          <a:p>
            <a:pPr lvl="2" eaLnBrk="1" hangingPunct="1"/>
            <a:r>
              <a:rPr lang="en-US" sz="2000" smtClean="0"/>
              <a:t>(m1+m2).input();	  //Legal!</a:t>
            </a:r>
          </a:p>
          <a:p>
            <a:pPr lvl="3" eaLnBrk="1" hangingPunct="1"/>
            <a:r>
              <a:rPr lang="en-US" sz="1800" smtClean="0"/>
              <a:t>PROBLEM!	  //Legal, but MODIFIES!</a:t>
            </a:r>
          </a:p>
          <a:p>
            <a:pPr lvl="2" eaLnBrk="1" hangingPunct="1"/>
            <a:r>
              <a:rPr lang="en-US" sz="2000" smtClean="0"/>
              <a:t>Allows modification of "anonymous" object!</a:t>
            </a:r>
          </a:p>
          <a:p>
            <a:pPr lvl="2" eaLnBrk="1" hangingPunct="1"/>
            <a:r>
              <a:rPr lang="en-US" sz="2000" smtClean="0"/>
              <a:t>Can’t allow that here!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So we define the return object as const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1E9628DC-F55F-479F-9301-1813EBCD201F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Overloading Unary Operators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C++ has unary operators:</a:t>
            </a:r>
          </a:p>
          <a:p>
            <a:pPr lvl="1" eaLnBrk="1" hangingPunct="1"/>
            <a:r>
              <a:rPr lang="en-US" smtClean="0"/>
              <a:t>Defined as taking one operand</a:t>
            </a:r>
          </a:p>
          <a:p>
            <a:pPr lvl="1" eaLnBrk="1" hangingPunct="1"/>
            <a:r>
              <a:rPr lang="en-US" smtClean="0"/>
              <a:t>e.g., - (negation)</a:t>
            </a:r>
          </a:p>
          <a:p>
            <a:pPr lvl="2" eaLnBrk="1" hangingPunct="1"/>
            <a:r>
              <a:rPr lang="en-US" smtClean="0"/>
              <a:t>x = -y;	 // Sets x equal to negative of y</a:t>
            </a:r>
          </a:p>
          <a:p>
            <a:pPr lvl="1" eaLnBrk="1" hangingPunct="1"/>
            <a:r>
              <a:rPr lang="en-US" smtClean="0"/>
              <a:t>Other unary operators:</a:t>
            </a:r>
          </a:p>
          <a:p>
            <a:pPr lvl="2" eaLnBrk="1" hangingPunct="1"/>
            <a:r>
              <a:rPr lang="en-US" smtClean="0"/>
              <a:t>++, --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Unary operators can also be overloaded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D61C41AD-04ED-430E-AEFE-6A7ED1FD9E4E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 "-" for Money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Overloaded "-" function declaration</a:t>
            </a:r>
          </a:p>
          <a:p>
            <a:pPr lvl="1" eaLnBrk="1" hangingPunct="1"/>
            <a:r>
              <a:rPr lang="en-US" sz="2400" smtClean="0"/>
              <a:t>Placed outside class definition:</a:t>
            </a:r>
            <a:br>
              <a:rPr lang="en-US" sz="2400" smtClean="0"/>
            </a:br>
            <a:r>
              <a:rPr lang="en-US" sz="2400" smtClean="0"/>
              <a:t>const Money operator –(const Money&amp; amount);</a:t>
            </a:r>
          </a:p>
          <a:p>
            <a:pPr lvl="1" eaLnBrk="1" hangingPunct="1"/>
            <a:r>
              <a:rPr lang="en-US" sz="2400" smtClean="0"/>
              <a:t>Notice: only one argument</a:t>
            </a:r>
          </a:p>
          <a:p>
            <a:pPr lvl="2" eaLnBrk="1" hangingPunct="1"/>
            <a:r>
              <a:rPr lang="en-US" sz="2000" smtClean="0"/>
              <a:t>Since only 1 operand (unary)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"-" operator is overloaded twice!</a:t>
            </a:r>
          </a:p>
          <a:p>
            <a:pPr lvl="1" eaLnBrk="1" hangingPunct="1"/>
            <a:r>
              <a:rPr lang="en-US" sz="2400" smtClean="0"/>
              <a:t>For two operands/arguments (binary)</a:t>
            </a:r>
          </a:p>
          <a:p>
            <a:pPr lvl="1" eaLnBrk="1" hangingPunct="1"/>
            <a:r>
              <a:rPr lang="en-US" sz="2400" smtClean="0"/>
              <a:t>For one operand/argument (unary)</a:t>
            </a:r>
          </a:p>
          <a:p>
            <a:pPr lvl="1" eaLnBrk="1" hangingPunct="1"/>
            <a:r>
              <a:rPr lang="en-US" sz="2400" smtClean="0"/>
              <a:t>Definitions must exist for both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2F65B390-0C99-4BA9-901F-3D37E19C8A2A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Overloaded "-" Definition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Overloaded "-" function definition:</a:t>
            </a:r>
            <a:br>
              <a:rPr lang="en-US" sz="2800" smtClean="0"/>
            </a:br>
            <a:r>
              <a:rPr lang="en-US" sz="2400" smtClean="0"/>
              <a:t>const Money operator –(const Money&amp; amount)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return Money(-amount.getDollars(), </a:t>
            </a:r>
            <a:br>
              <a:rPr lang="en-US" sz="2400" smtClean="0"/>
            </a:br>
            <a:r>
              <a:rPr lang="en-US" sz="2400" smtClean="0"/>
              <a:t>			-amount.getCents());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Applies "-" unary operator to built-in type</a:t>
            </a:r>
          </a:p>
          <a:p>
            <a:pPr lvl="1" eaLnBrk="1" hangingPunct="1"/>
            <a:r>
              <a:rPr lang="en-US" sz="2400" smtClean="0"/>
              <a:t>Operation is "known" for built-in types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Returns anonymous object again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E5A1F1FF-A1FA-410E-B7E1-208325B1DF66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Overloaded "-" Usage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800" smtClean="0"/>
              <a:t>Money 	amount1(10),</a:t>
            </a:r>
            <a:br>
              <a:rPr lang="en-US" sz="2800" smtClean="0"/>
            </a:br>
            <a:r>
              <a:rPr lang="en-US" sz="2800" smtClean="0"/>
              <a:t>		amount2(6),</a:t>
            </a:r>
            <a:br>
              <a:rPr lang="en-US" sz="2800" smtClean="0"/>
            </a:br>
            <a:r>
              <a:rPr lang="en-US" sz="2800" smtClean="0"/>
              <a:t>		amount3;</a:t>
            </a:r>
            <a:br>
              <a:rPr lang="en-US" sz="2800" smtClean="0"/>
            </a:br>
            <a:r>
              <a:rPr lang="en-US" sz="2800" smtClean="0"/>
              <a:t>amount3 = amount1 – amount2;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Calls binary "-" overload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None/>
            </a:pPr>
            <a:r>
              <a:rPr lang="en-US" sz="2800" smtClean="0"/>
              <a:t> 	amount3.output();	//Displays $4.00</a:t>
            </a:r>
            <a:br>
              <a:rPr lang="en-US" sz="2800" smtClean="0"/>
            </a:br>
            <a:r>
              <a:rPr lang="en-US" sz="2800" smtClean="0"/>
              <a:t>amount3 = -amount1;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Calls unary "-" overload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None/>
            </a:pPr>
            <a:r>
              <a:rPr lang="en-US" sz="2800" smtClean="0"/>
              <a:t>	amount3.output()	//Displays -$10.00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9232F181-9038-4FEC-9CC0-BA8AD574C4C0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Overloading as Member Functions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Previous examples: standalone functions</a:t>
            </a:r>
          </a:p>
          <a:p>
            <a:pPr lvl="1" eaLnBrk="1" hangingPunct="1"/>
            <a:r>
              <a:rPr lang="en-US" sz="2400" smtClean="0"/>
              <a:t>Defined outside a class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Can overload as "member operator"</a:t>
            </a:r>
          </a:p>
          <a:p>
            <a:pPr lvl="1" eaLnBrk="1" hangingPunct="1"/>
            <a:r>
              <a:rPr lang="en-US" sz="2400" smtClean="0"/>
              <a:t>Considered "member function" like others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When operator is member function:</a:t>
            </a:r>
          </a:p>
          <a:p>
            <a:pPr lvl="1" eaLnBrk="1" hangingPunct="1"/>
            <a:r>
              <a:rPr lang="en-US" sz="2400" smtClean="0"/>
              <a:t>Only ONE parameter, not two!</a:t>
            </a:r>
          </a:p>
          <a:p>
            <a:pPr lvl="1" eaLnBrk="1" hangingPunct="1"/>
            <a:r>
              <a:rPr lang="en-US" sz="2400" smtClean="0"/>
              <a:t>Calling object serves as 1</a:t>
            </a:r>
            <a:r>
              <a:rPr lang="en-US" sz="2400" baseline="30000" smtClean="0"/>
              <a:t>st</a:t>
            </a:r>
            <a:r>
              <a:rPr lang="en-US" sz="2400" smtClean="0"/>
              <a:t> parameter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7645CBFF-BA2E-4B0D-A962-B0BA034D47F9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Member Operator in Action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Money  cost(1, 50), tax(0, 15), total;</a:t>
            </a:r>
            <a:br>
              <a:rPr lang="en-US" sz="2800" smtClean="0"/>
            </a:br>
            <a:r>
              <a:rPr lang="en-US" sz="2800" smtClean="0"/>
              <a:t>total = cost + tax;</a:t>
            </a:r>
          </a:p>
          <a:p>
            <a:pPr lvl="1" eaLnBrk="1" hangingPunct="1"/>
            <a:r>
              <a:rPr lang="en-US" sz="2400" smtClean="0"/>
              <a:t>If "+" overloaded as member operator:</a:t>
            </a:r>
          </a:p>
          <a:p>
            <a:pPr lvl="2" eaLnBrk="1" hangingPunct="1"/>
            <a:r>
              <a:rPr lang="en-US" sz="2000" smtClean="0"/>
              <a:t>Variable/object cost is calling object</a:t>
            </a:r>
          </a:p>
          <a:p>
            <a:pPr lvl="2" eaLnBrk="1" hangingPunct="1"/>
            <a:r>
              <a:rPr lang="en-US" sz="2000" smtClean="0"/>
              <a:t>Object tax is single argument</a:t>
            </a:r>
          </a:p>
          <a:p>
            <a:pPr lvl="1" eaLnBrk="1" hangingPunct="1"/>
            <a:r>
              <a:rPr lang="en-US" sz="2400" smtClean="0"/>
              <a:t>Think of as: total = cost.+(tax);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Declaration of "+" in class definition:</a:t>
            </a:r>
          </a:p>
          <a:p>
            <a:pPr lvl="1" eaLnBrk="1" hangingPunct="1"/>
            <a:r>
              <a:rPr lang="en-US" sz="2400" smtClean="0"/>
              <a:t>const Money operator +(const Money&amp; amount);</a:t>
            </a:r>
          </a:p>
          <a:p>
            <a:pPr lvl="1" eaLnBrk="1" hangingPunct="1"/>
            <a:r>
              <a:rPr lang="en-US" sz="2400" smtClean="0"/>
              <a:t>Notice only ONE argument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0311991F-9CCC-4B92-81AC-E456D25A2FB4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const Functions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When to make function const?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Constant functions not allowed to alter class</a:t>
            </a:r>
            <a:br>
              <a:rPr lang="en-US" sz="2400" smtClean="0"/>
            </a:br>
            <a:r>
              <a:rPr lang="en-US" sz="2400" smtClean="0"/>
              <a:t>member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Constant objects can ONLY call constant</a:t>
            </a:r>
            <a:br>
              <a:rPr lang="en-US" sz="2400" smtClean="0"/>
            </a:br>
            <a:r>
              <a:rPr lang="en-US" sz="2400" smtClean="0"/>
              <a:t>member functions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Good style dictates: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Any member function that will NOT modify data</a:t>
            </a:r>
            <a:br>
              <a:rPr lang="en-US" sz="2400" smtClean="0"/>
            </a:br>
            <a:r>
              <a:rPr lang="en-US" sz="2400" smtClean="0"/>
              <a:t>should be made const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Use keyword </a:t>
            </a:r>
            <a:r>
              <a:rPr lang="en-US" sz="2800" i="1" smtClean="0"/>
              <a:t>const</a:t>
            </a:r>
            <a:r>
              <a:rPr lang="en-US" sz="2800" smtClean="0"/>
              <a:t> after function</a:t>
            </a:r>
            <a:br>
              <a:rPr lang="en-US" sz="2800" smtClean="0"/>
            </a:br>
            <a:r>
              <a:rPr lang="en-US" sz="2800" smtClean="0"/>
              <a:t>declaration and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C8F41075-540B-46FF-A482-073532CD010E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Overloading Operators: </a:t>
            </a:r>
            <a:br>
              <a:rPr lang="en-US" sz="3600" smtClean="0"/>
            </a:br>
            <a:r>
              <a:rPr lang="en-US" sz="3600" smtClean="0"/>
              <a:t>Which Method?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Object-Oriented-Programming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Principles suggest member operators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Many agree, to maintain "spirit" of OOP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Member operators more efficient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No need to call accessor &amp; </a:t>
            </a:r>
            <a:br>
              <a:rPr lang="en-US" smtClean="0"/>
            </a:br>
            <a:r>
              <a:rPr lang="en-US" smtClean="0"/>
              <a:t>mutator functions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At least one significant disadvantage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(Later in chapter…)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C9150FFA-F592-4C8D-BB3F-8D96A98697C1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Overloading Function Application ()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533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Function call operator, ( 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Must be overloaded as member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Allows use of class object like a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Can overload for all possible numbers </a:t>
            </a:r>
            <a:br>
              <a:rPr lang="en-US" smtClean="0"/>
            </a:br>
            <a:r>
              <a:rPr lang="en-US" smtClean="0"/>
              <a:t>of arguments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Example:</a:t>
            </a:r>
            <a:br>
              <a:rPr lang="en-US" smtClean="0"/>
            </a:br>
            <a:r>
              <a:rPr lang="en-US" sz="2800" smtClean="0"/>
              <a:t>Aclass anObject;</a:t>
            </a:r>
            <a:br>
              <a:rPr lang="en-US" sz="2800" smtClean="0"/>
            </a:br>
            <a:r>
              <a:rPr lang="en-US" sz="2800" smtClean="0"/>
              <a:t>anObject(42);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If ( ) overloaded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calls overload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876EB250-4413-48F9-B5FC-512F508459C1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Other Overloads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&amp;&amp;, ||, and comma operator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Predefined versions work for bool types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Recall: use "short-circuit evaluation"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When overloaded no longer uses </a:t>
            </a:r>
            <a:br>
              <a:rPr lang="en-US" smtClean="0"/>
            </a:br>
            <a:r>
              <a:rPr lang="en-US" smtClean="0"/>
              <a:t>short-circuit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Uses "complete evaluation" instead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Contrary to expectations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Generally should not overload </a:t>
            </a:r>
            <a:br>
              <a:rPr lang="en-US" smtClean="0"/>
            </a:br>
            <a:r>
              <a:rPr lang="en-US" smtClean="0"/>
              <a:t>these operators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81744BED-C7E8-48FB-8056-296E653BF92B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Friend Functions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Nonmember functions</a:t>
            </a:r>
          </a:p>
          <a:p>
            <a:pPr lvl="1" eaLnBrk="1" hangingPunct="1"/>
            <a:r>
              <a:rPr lang="en-US" sz="2400" smtClean="0"/>
              <a:t>Recall: operator overloads as nonmembers</a:t>
            </a:r>
          </a:p>
          <a:p>
            <a:pPr lvl="2" eaLnBrk="1" hangingPunct="1"/>
            <a:r>
              <a:rPr lang="en-US" sz="2000" smtClean="0"/>
              <a:t>They access data through accessor and mutator</a:t>
            </a:r>
            <a:br>
              <a:rPr lang="en-US" sz="2000" smtClean="0"/>
            </a:br>
            <a:r>
              <a:rPr lang="en-US" sz="2000" smtClean="0"/>
              <a:t>functions</a:t>
            </a:r>
          </a:p>
          <a:p>
            <a:pPr lvl="2" eaLnBrk="1" hangingPunct="1"/>
            <a:r>
              <a:rPr lang="en-US" sz="2000" smtClean="0"/>
              <a:t>Very inefficient (overhead of calls)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Friends can directly access private class data</a:t>
            </a:r>
          </a:p>
          <a:p>
            <a:pPr lvl="1" eaLnBrk="1" hangingPunct="1"/>
            <a:r>
              <a:rPr lang="en-US" sz="2400" smtClean="0"/>
              <a:t>No overhead, more efficient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So: best to make nonmember operator</a:t>
            </a:r>
            <a:br>
              <a:rPr lang="en-US" sz="2800" smtClean="0"/>
            </a:br>
            <a:r>
              <a:rPr lang="en-US" sz="2800" smtClean="0"/>
              <a:t>overloads friends!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B7186EE5-7115-415E-B75C-9942C35411E6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Friend Functions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Friend function of a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Not a member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Has direct access to private members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Just as member functions do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Use keyword </a:t>
            </a:r>
            <a:r>
              <a:rPr lang="en-US" i="1" smtClean="0"/>
              <a:t>friend</a:t>
            </a:r>
            <a:r>
              <a:rPr lang="en-US" smtClean="0"/>
              <a:t> in front of </a:t>
            </a:r>
            <a:br>
              <a:rPr lang="en-US" smtClean="0"/>
            </a:br>
            <a:r>
              <a:rPr lang="en-US" smtClean="0"/>
              <a:t>function declaration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Specified IN class 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But they’re NOT member functions!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E5ACFC46-0888-43F7-9B2C-0E8A57D17524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Friend Function Uses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Operator Overloads  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Most common use of friends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Improves efficiency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Avoids need to call accessor/mutator</a:t>
            </a:r>
            <a:br>
              <a:rPr lang="en-US" smtClean="0"/>
            </a:br>
            <a:r>
              <a:rPr lang="en-US" smtClean="0"/>
              <a:t>member functions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Operator must have access anyway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Might as well give full access as friend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mtClean="0"/>
              <a:t>Friends can be any function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BDFF3A87-F5B5-4438-93E3-A5AC7DD4CEDF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Friend Function Purity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Friends not pure?</a:t>
            </a:r>
          </a:p>
          <a:p>
            <a:pPr lvl="1" eaLnBrk="1" hangingPunct="1"/>
            <a:r>
              <a:rPr lang="en-US" sz="2400" smtClean="0"/>
              <a:t>"Spirit" of OOP dictates all operators and functions be member functions</a:t>
            </a:r>
          </a:p>
          <a:p>
            <a:pPr lvl="1" eaLnBrk="1" hangingPunct="1"/>
            <a:r>
              <a:rPr lang="en-US" sz="2400" smtClean="0"/>
              <a:t>Many believe friends violate basic OOP principles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Advantageous?</a:t>
            </a:r>
          </a:p>
          <a:p>
            <a:pPr lvl="1" eaLnBrk="1" hangingPunct="1"/>
            <a:r>
              <a:rPr lang="en-US" sz="2400" smtClean="0"/>
              <a:t>For operators: very!</a:t>
            </a:r>
          </a:p>
          <a:p>
            <a:pPr lvl="1" eaLnBrk="1" hangingPunct="1"/>
            <a:r>
              <a:rPr lang="en-US" sz="2400" smtClean="0"/>
              <a:t>Allows automatic type conversion</a:t>
            </a:r>
          </a:p>
          <a:p>
            <a:pPr lvl="1" eaLnBrk="1" hangingPunct="1"/>
            <a:r>
              <a:rPr lang="en-US" sz="2400" smtClean="0"/>
              <a:t>Still encapsulates: friend is in class definition</a:t>
            </a:r>
          </a:p>
          <a:p>
            <a:pPr lvl="1" eaLnBrk="1" hangingPunct="1"/>
            <a:r>
              <a:rPr lang="en-US" sz="2400" smtClean="0"/>
              <a:t>Improves efficiency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6E382C8C-79B3-46F5-B558-E816C82B5750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Friend Classes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Entire classes can be friends</a:t>
            </a:r>
          </a:p>
          <a:p>
            <a:pPr lvl="1" eaLnBrk="1" hangingPunct="1"/>
            <a:r>
              <a:rPr lang="en-US" sz="2400" smtClean="0"/>
              <a:t>Similar to function being friend to class</a:t>
            </a:r>
          </a:p>
          <a:p>
            <a:pPr lvl="1" eaLnBrk="1" hangingPunct="1"/>
            <a:r>
              <a:rPr lang="en-US" sz="2400" smtClean="0"/>
              <a:t>Example:</a:t>
            </a:r>
            <a:br>
              <a:rPr lang="en-US" sz="2400" smtClean="0"/>
            </a:br>
            <a:r>
              <a:rPr lang="en-US" sz="2400" smtClean="0"/>
              <a:t>class F is friend of class C</a:t>
            </a:r>
          </a:p>
          <a:p>
            <a:pPr lvl="2" eaLnBrk="1" hangingPunct="1"/>
            <a:r>
              <a:rPr lang="en-US" sz="2000" smtClean="0"/>
              <a:t>All class F member functions are friends of C</a:t>
            </a:r>
          </a:p>
          <a:p>
            <a:pPr lvl="2" eaLnBrk="1" hangingPunct="1"/>
            <a:r>
              <a:rPr lang="en-US" sz="2000" smtClean="0"/>
              <a:t>NOT reciprocated</a:t>
            </a:r>
          </a:p>
          <a:p>
            <a:pPr lvl="2" eaLnBrk="1" hangingPunct="1"/>
            <a:r>
              <a:rPr lang="en-US" sz="2000" smtClean="0"/>
              <a:t>Friendship granted, not taken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Syntax:  friend class F</a:t>
            </a:r>
          </a:p>
          <a:p>
            <a:pPr lvl="1" eaLnBrk="1" hangingPunct="1"/>
            <a:r>
              <a:rPr lang="en-US" sz="2400" smtClean="0"/>
              <a:t>Goes inside class definition of "authorizing" 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D63E1B8A-F0D5-4854-8E84-96D2CF703C58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References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Reference defined:</a:t>
            </a:r>
          </a:p>
          <a:p>
            <a:pPr lvl="1" eaLnBrk="1" hangingPunct="1"/>
            <a:r>
              <a:rPr lang="en-US" sz="2400" smtClean="0"/>
              <a:t>Name of a storage location</a:t>
            </a:r>
          </a:p>
          <a:p>
            <a:pPr lvl="1" eaLnBrk="1" hangingPunct="1"/>
            <a:r>
              <a:rPr lang="en-US" sz="2400" smtClean="0"/>
              <a:t>Similar to "pointer"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Example of stand alone reference:</a:t>
            </a:r>
          </a:p>
          <a:p>
            <a:pPr lvl="1" eaLnBrk="1" hangingPunct="1"/>
            <a:r>
              <a:rPr lang="en-US" sz="2400" smtClean="0"/>
              <a:t>int robert;</a:t>
            </a:r>
            <a:br>
              <a:rPr lang="en-US" sz="2400" smtClean="0"/>
            </a:br>
            <a:r>
              <a:rPr lang="en-US" sz="2400" smtClean="0"/>
              <a:t>int&amp; bob = robert;</a:t>
            </a:r>
          </a:p>
          <a:p>
            <a:pPr lvl="2" eaLnBrk="1" hangingPunct="1"/>
            <a:r>
              <a:rPr lang="en-US" sz="2000" i="1" smtClean="0"/>
              <a:t>bob</a:t>
            </a:r>
            <a:r>
              <a:rPr lang="en-US" sz="2000" smtClean="0"/>
              <a:t> is reference to storage location for </a:t>
            </a:r>
            <a:r>
              <a:rPr lang="en-US" sz="2000" i="1" smtClean="0"/>
              <a:t>robert</a:t>
            </a:r>
            <a:endParaRPr lang="en-US" sz="2000" smtClean="0"/>
          </a:p>
          <a:p>
            <a:pPr lvl="2" eaLnBrk="1" hangingPunct="1"/>
            <a:r>
              <a:rPr lang="en-US" sz="2000" smtClean="0"/>
              <a:t>Changes made to </a:t>
            </a:r>
            <a:r>
              <a:rPr lang="en-US" sz="2000" i="1" smtClean="0"/>
              <a:t>bob</a:t>
            </a:r>
            <a:r>
              <a:rPr lang="en-US" sz="2000" smtClean="0"/>
              <a:t> will affect </a:t>
            </a:r>
            <a:r>
              <a:rPr lang="en-US" sz="2000" i="1" smtClean="0"/>
              <a:t>robert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Confusing?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B3818CBD-1A6C-4B1F-B564-AFB0ACBF6F75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References Usage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Seemingly dangerous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Useful in several cases: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Call-by-reference</a:t>
            </a:r>
          </a:p>
          <a:p>
            <a:pPr lvl="1" eaLnBrk="1" hangingPunct="1"/>
            <a:r>
              <a:rPr lang="en-US" sz="2400" smtClean="0"/>
              <a:t>Often used to implement this mechanism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Returning a reference</a:t>
            </a:r>
          </a:p>
          <a:p>
            <a:pPr lvl="1" eaLnBrk="1" hangingPunct="1"/>
            <a:r>
              <a:rPr lang="en-US" sz="2400" smtClean="0"/>
              <a:t>Allows operator overload implementations to</a:t>
            </a:r>
            <a:br>
              <a:rPr lang="en-US" sz="2400" smtClean="0"/>
            </a:br>
            <a:r>
              <a:rPr lang="en-US" sz="2400" smtClean="0"/>
              <a:t>be written more naturally</a:t>
            </a:r>
          </a:p>
          <a:p>
            <a:pPr lvl="1" eaLnBrk="1" hangingPunct="1"/>
            <a:r>
              <a:rPr lang="en-US" sz="2400" smtClean="0"/>
              <a:t>Think of as returning an "alias" to a variable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EB80F2BD-71E0-414B-975A-6394AAF78CAA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Returning Reference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Syntax:</a:t>
            </a:r>
            <a:br>
              <a:rPr lang="en-US" smtClean="0"/>
            </a:br>
            <a:r>
              <a:rPr lang="en-US" sz="2800" smtClean="0"/>
              <a:t>double&amp; sampleFunction(double&amp; variable);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double&amp; and double are different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Must match in function declaration </a:t>
            </a:r>
            <a:br>
              <a:rPr lang="en-US" smtClean="0"/>
            </a:br>
            <a:r>
              <a:rPr lang="en-US" smtClean="0"/>
              <a:t>and heading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Returned item must "have" a reference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Like a variable of that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Cannot be expression like "x+5"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Has no place in memory to "refer to"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50AEED22-4E88-49C7-AC82-D6A9F339B8D1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Returning Reference in Definition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6101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Example function definition:</a:t>
            </a:r>
            <a:br>
              <a:rPr lang="en-US" smtClean="0"/>
            </a:br>
            <a:r>
              <a:rPr lang="en-US" sz="2800" smtClean="0"/>
              <a:t>double&amp; sampleFunction(double&amp; variable)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return variable;</a:t>
            </a:r>
            <a:br>
              <a:rPr lang="en-US" sz="2800" smtClean="0"/>
            </a:br>
            <a:r>
              <a:rPr lang="en-US" sz="2800" smtClean="0"/>
              <a:t>}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Trivial, useless example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Shows concept only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Major use: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Certain overloaded operators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1D791770-49D0-4221-A9AD-82EA0159B2F9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Overloading &gt;&gt; and &lt;&lt;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Enables input and output of our objects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Similar to other operator overloads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New subtleties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Improves readability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Like all operator overloads do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Enables:</a:t>
            </a:r>
            <a:br>
              <a:rPr lang="en-US" sz="2400" smtClean="0"/>
            </a:br>
            <a:r>
              <a:rPr lang="en-US" sz="2400" smtClean="0"/>
              <a:t>cout &lt;&lt; myObject;</a:t>
            </a:r>
            <a:br>
              <a:rPr lang="en-US" sz="2400" smtClean="0"/>
            </a:br>
            <a:r>
              <a:rPr lang="en-US" sz="2400" smtClean="0"/>
              <a:t>cin &gt;&gt; myObject;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Instead of need for:</a:t>
            </a:r>
            <a:br>
              <a:rPr lang="en-US" sz="2400" smtClean="0"/>
            </a:br>
            <a:r>
              <a:rPr lang="en-US" sz="2400" smtClean="0"/>
              <a:t>myObject.output();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FE216F8E-512E-4C64-8AA5-50F0B3AE7819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Overloading &gt;&gt;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Insertion operator, &lt;&lt;</a:t>
            </a:r>
          </a:p>
          <a:p>
            <a:pPr lvl="1" eaLnBrk="1" hangingPunct="1"/>
            <a:r>
              <a:rPr lang="en-US" sz="2400" smtClean="0"/>
              <a:t>Used with cout</a:t>
            </a:r>
          </a:p>
          <a:p>
            <a:pPr lvl="1" eaLnBrk="1" hangingPunct="1"/>
            <a:r>
              <a:rPr lang="en-US" sz="2400" smtClean="0"/>
              <a:t>A binary operator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400" smtClean="0"/>
              <a:t>cout &lt;&lt; "Hello";</a:t>
            </a:r>
          </a:p>
          <a:p>
            <a:pPr lvl="1" eaLnBrk="1" hangingPunct="1"/>
            <a:r>
              <a:rPr lang="en-US" sz="2400" smtClean="0"/>
              <a:t>Operator is &lt;&lt;</a:t>
            </a:r>
          </a:p>
          <a:p>
            <a:pPr lvl="1" eaLnBrk="1" hangingPunct="1"/>
            <a:r>
              <a:rPr lang="en-US" sz="2400" smtClean="0"/>
              <a:t>1</a:t>
            </a:r>
            <a:r>
              <a:rPr lang="en-US" sz="2400" baseline="30000" smtClean="0"/>
              <a:t>st</a:t>
            </a:r>
            <a:r>
              <a:rPr lang="en-US" sz="2400" smtClean="0"/>
              <a:t> operand is predefined object </a:t>
            </a:r>
            <a:r>
              <a:rPr lang="en-US" sz="2400" i="1" smtClean="0"/>
              <a:t>cout</a:t>
            </a:r>
            <a:endParaRPr lang="en-US" sz="2400" smtClean="0"/>
          </a:p>
          <a:p>
            <a:pPr lvl="2" eaLnBrk="1" hangingPunct="1"/>
            <a:r>
              <a:rPr lang="en-US" sz="2000" smtClean="0"/>
              <a:t>From library iostream</a:t>
            </a:r>
          </a:p>
          <a:p>
            <a:pPr lvl="1" eaLnBrk="1" hangingPunct="1"/>
            <a:r>
              <a:rPr lang="en-US" sz="2400" smtClean="0"/>
              <a:t>2</a:t>
            </a:r>
            <a:r>
              <a:rPr lang="en-US" sz="2400" baseline="30000" smtClean="0"/>
              <a:t>nd</a:t>
            </a:r>
            <a:r>
              <a:rPr lang="en-US" sz="2400" smtClean="0"/>
              <a:t> operand is literal string "Hello"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64B2D43D-9712-48B1-9CA4-9C5F9A51FF0C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Overloading &gt;&gt;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Operands of &gt;&gt;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Cout object, of class type ostream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Our class type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Recall Money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Used member function output()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Nicer if we can use &gt;&gt; operator:</a:t>
            </a:r>
            <a:br>
              <a:rPr lang="en-US" sz="2400" smtClean="0"/>
            </a:br>
            <a:r>
              <a:rPr lang="en-US" sz="2400" smtClean="0"/>
              <a:t>Money amount(100);</a:t>
            </a:r>
            <a:br>
              <a:rPr lang="en-US" sz="2400" smtClean="0"/>
            </a:br>
            <a:r>
              <a:rPr lang="en-US" sz="2400" smtClean="0"/>
              <a:t>cout &lt;&lt; "I have " &lt;&lt; amount &lt;&lt; endl;</a:t>
            </a:r>
            <a:br>
              <a:rPr lang="en-US" sz="2400" smtClean="0"/>
            </a:br>
            <a:r>
              <a:rPr lang="en-US" sz="2400" smtClean="0"/>
              <a:t>		instead of:</a:t>
            </a:r>
            <a:br>
              <a:rPr lang="en-US" sz="2400" smtClean="0"/>
            </a:br>
            <a:r>
              <a:rPr lang="en-US" sz="2400" smtClean="0"/>
              <a:t>cout &lt;&lt; "I have ";</a:t>
            </a:r>
            <a:br>
              <a:rPr lang="en-US" sz="2400" smtClean="0"/>
            </a:br>
            <a:r>
              <a:rPr lang="en-US" sz="2400" smtClean="0"/>
              <a:t>amount.output()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572CE612-4BE3-42ED-A889-36A5F807EB73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Overloaded &gt;&gt; Return Value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Money amount(100);</a:t>
            </a:r>
            <a:br>
              <a:rPr lang="en-US" sz="2800" smtClean="0"/>
            </a:br>
            <a:r>
              <a:rPr lang="en-US" sz="2800" smtClean="0"/>
              <a:t>cout &lt;&lt; amount;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&lt;&lt; should return some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To allow cascades:</a:t>
            </a:r>
            <a:br>
              <a:rPr lang="en-US" sz="2400" smtClean="0"/>
            </a:br>
            <a:r>
              <a:rPr lang="en-US" sz="2400" smtClean="0"/>
              <a:t>cout &lt;&lt; "I have " &lt;&lt; amount;</a:t>
            </a:r>
            <a:br>
              <a:rPr lang="en-US" sz="2400" smtClean="0"/>
            </a:br>
            <a:r>
              <a:rPr lang="en-US" sz="2400" smtClean="0"/>
              <a:t>(cout &lt;&lt; "I have ") &lt;&lt; amount;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Two are equivalent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What to return?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cout object!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Returns its first argument type, ostream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F7097091-EB5F-4CAB-A500-59BEBF6E900D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Overloaded &gt;&gt; Example: </a:t>
            </a:r>
            <a:br>
              <a:rPr lang="en-US" sz="3000" smtClean="0"/>
            </a:br>
            <a:r>
              <a:rPr lang="en-US" sz="3000" b="1" smtClean="0"/>
              <a:t>Display 8.5  </a:t>
            </a:r>
            <a:r>
              <a:rPr lang="en-US" sz="3000" smtClean="0"/>
              <a:t>Overloading &lt;&lt; and &gt;&gt; (1 of 5)</a:t>
            </a:r>
          </a:p>
        </p:txBody>
      </p:sp>
      <p:pic>
        <p:nvPicPr>
          <p:cNvPr id="88066" name="Picture 7" descr="C:\WINDOWS\Desktop\Oh_type\sacitch_C++_ppt\gif\savitchc08d5_1of5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604963" y="1420813"/>
            <a:ext cx="6600825" cy="506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69BAC5A6-DA1A-4938-9516-D1D4BCDE047F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806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Overloaded &gt;&gt; Example: </a:t>
            </a:r>
            <a:br>
              <a:rPr lang="en-US" sz="3000" smtClean="0"/>
            </a:br>
            <a:r>
              <a:rPr lang="en-US" sz="3000" b="1" smtClean="0"/>
              <a:t>Display 8.5  </a:t>
            </a:r>
            <a:r>
              <a:rPr lang="en-US" sz="3000" smtClean="0"/>
              <a:t>Overloading &lt;&lt; and &gt;&gt; (2 of 5)</a:t>
            </a:r>
          </a:p>
        </p:txBody>
      </p:sp>
      <p:pic>
        <p:nvPicPr>
          <p:cNvPr id="90114" name="Picture 6" descr="C:\WINDOWS\Desktop\Oh_type\sacitch_C++_ppt\gif\savitchc08d5_2of5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524000" y="1430338"/>
            <a:ext cx="6508750" cy="497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94577A20-4BC9-4195-9C76-839DC8BDBB36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9011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Overloaded &gt;&gt; Example: </a:t>
            </a:r>
            <a:br>
              <a:rPr lang="en-US" sz="3000" smtClean="0"/>
            </a:br>
            <a:r>
              <a:rPr lang="en-US" sz="3000" b="1" smtClean="0"/>
              <a:t>Display 8.5  </a:t>
            </a:r>
            <a:r>
              <a:rPr lang="en-US" sz="3000" smtClean="0"/>
              <a:t>Overloading &lt;&lt; and &gt;&gt; (3 of 5)</a:t>
            </a:r>
          </a:p>
        </p:txBody>
      </p:sp>
      <p:pic>
        <p:nvPicPr>
          <p:cNvPr id="92162" name="Picture 7" descr="C:\WINDOWS\Desktop\Oh_type\sacitch_C++_ppt\gif\savitchc08d5_3of5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436688" y="1524000"/>
            <a:ext cx="6848475" cy="485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20835506-3848-47F3-99EA-7A6C53E2763C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92164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Overloaded &gt;&gt; Example: </a:t>
            </a:r>
            <a:br>
              <a:rPr lang="en-US" sz="3000" smtClean="0"/>
            </a:br>
            <a:r>
              <a:rPr lang="en-US" sz="3000" b="1" smtClean="0"/>
              <a:t>Display 8.5  </a:t>
            </a:r>
            <a:r>
              <a:rPr lang="en-US" sz="3000" smtClean="0"/>
              <a:t>Overloading &lt;&lt; and &gt;&gt; (4 of 5)</a:t>
            </a:r>
          </a:p>
        </p:txBody>
      </p:sp>
      <p:pic>
        <p:nvPicPr>
          <p:cNvPr id="94210" name="Picture 4" descr="C:\WINDOWS\Desktop\Oh_type\sacitch_C++_ppt\gif\savitchc08d5_4of5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301750" y="1624013"/>
            <a:ext cx="7196138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9760CD52-A960-4E5E-B954-39D80B10C17C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9421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smtClean="0"/>
              <a:t>Overloaded &gt;&gt; Example: </a:t>
            </a:r>
            <a:br>
              <a:rPr lang="en-US" sz="3000" smtClean="0"/>
            </a:br>
            <a:r>
              <a:rPr lang="en-US" sz="3000" b="1" smtClean="0"/>
              <a:t>Display 8.5  </a:t>
            </a:r>
            <a:r>
              <a:rPr lang="en-US" sz="3000" smtClean="0"/>
              <a:t>Overloading &lt;&lt; and &gt;&gt; (5 of 5)</a:t>
            </a:r>
          </a:p>
        </p:txBody>
      </p:sp>
      <p:pic>
        <p:nvPicPr>
          <p:cNvPr id="96258" name="Picture 4" descr="C:\WINDOWS\Desktop\Oh_type\sacitch_C++_ppt\gif\savitchc08d5_5of5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8700" y="2012950"/>
            <a:ext cx="7772400" cy="339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9DBACC74-7658-49B3-8FFF-F7F1368C5716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9626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Assignment Operator, =</a:t>
            </a:r>
          </a:p>
        </p:txBody>
      </p:sp>
      <p:sp>
        <p:nvSpPr>
          <p:cNvPr id="983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46291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Must be overloaded as </a:t>
            </a:r>
            <a:br>
              <a:rPr lang="en-US" smtClean="0"/>
            </a:br>
            <a:r>
              <a:rPr lang="en-US" smtClean="0"/>
              <a:t>member operator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Automatically overloaded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Default assignment operator: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Member-wise copy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Member variables from one object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corresponding member variables from other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Default OK for simple 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But with pointers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must write our own!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8E82A085-2087-459F-BFE3-DE4FF9DC91BF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983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Increment and Decrement</a:t>
            </a:r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Each operator has two versions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Prefix notation: ++x;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Postfix notation: x++;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mtClean="0"/>
              <a:t>Must distinguish in overload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Standard overload method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Prefix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/>
              <a:t>Add 2d parameter of type int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Postfix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Just a marker for compiler!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Specifies postfix is allowed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76B6116F-E75E-4115-9B50-7816706737E6}" type="slidenum">
              <a:rPr lang="en-US"/>
              <a:pPr>
                <a:defRPr/>
              </a:pPr>
              <a:t>43</a:t>
            </a:fld>
            <a:endParaRPr lang="en-US"/>
          </a:p>
        </p:txBody>
      </p:sp>
      <p:sp>
        <p:nvSpPr>
          <p:cNvPr id="1003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Overload Array Operator, [ ]</a:t>
            </a:r>
          </a:p>
        </p:txBody>
      </p:sp>
      <p:sp>
        <p:nvSpPr>
          <p:cNvPr id="1024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mtClean="0"/>
              <a:t>Can overload [ ] for your class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To be used with objects of your class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Operator must return a reference!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Operator [ ] must be a member function!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E1EB6236-3EAC-48F8-8CB8-CC8326D40B31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1024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1044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C++ built-in operators can be overloaded</a:t>
            </a:r>
          </a:p>
          <a:p>
            <a:pPr lvl="1" eaLnBrk="1" hangingPunct="1"/>
            <a:r>
              <a:rPr lang="en-US" sz="2400" smtClean="0"/>
              <a:t>To work with objects of your class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Operators are really just functions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Friend functions have direct private</a:t>
            </a:r>
            <a:br>
              <a:rPr lang="en-US" sz="2800" smtClean="0"/>
            </a:br>
            <a:r>
              <a:rPr lang="en-US" sz="2800" smtClean="0"/>
              <a:t>member access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Operators can be overloaded as </a:t>
            </a:r>
            <a:br>
              <a:rPr lang="en-US" sz="2800" smtClean="0"/>
            </a:br>
            <a:r>
              <a:rPr lang="en-US" sz="2800" smtClean="0"/>
              <a:t>member functions</a:t>
            </a:r>
          </a:p>
          <a:p>
            <a:pPr lvl="1" eaLnBrk="1" hangingPunct="1"/>
            <a:r>
              <a:rPr lang="en-US" sz="2400" smtClean="0"/>
              <a:t>1</a:t>
            </a:r>
            <a:r>
              <a:rPr lang="en-US" sz="2400" baseline="30000" smtClean="0"/>
              <a:t>st</a:t>
            </a:r>
            <a:r>
              <a:rPr lang="en-US" sz="2400" smtClean="0"/>
              <a:t> operand is calling object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5916D097-120F-4431-A2A7-CCF1C68D9B38}" type="slidenum">
              <a:rPr lang="en-US"/>
              <a:pPr>
                <a:defRPr/>
              </a:pPr>
              <a:t>45</a:t>
            </a:fld>
            <a:endParaRPr lang="en-US"/>
          </a:p>
        </p:txBody>
      </p:sp>
      <p:sp>
        <p:nvSpPr>
          <p:cNvPr id="1044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2</a:t>
            </a:r>
          </a:p>
        </p:txBody>
      </p:sp>
      <p:sp>
        <p:nvSpPr>
          <p:cNvPr id="1064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Friend functions add efficiency only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Not required if sufficient accessors/mutators</a:t>
            </a:r>
            <a:br>
              <a:rPr lang="en-US" smtClean="0"/>
            </a:br>
            <a:r>
              <a:rPr lang="en-US" smtClean="0"/>
              <a:t>available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Reference "names" a variable with </a:t>
            </a:r>
            <a:br>
              <a:rPr lang="en-US" smtClean="0"/>
            </a:br>
            <a:r>
              <a:rPr lang="en-US" smtClean="0"/>
              <a:t>an alias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Can overload &lt;&lt;, &gt;&gt;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Return type is a reference to stream 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8-</a:t>
            </a:r>
            <a:fld id="{6D76219F-1A52-4BD7-83C9-8ED27063D673}" type="slidenum">
              <a:rPr lang="en-US"/>
              <a:pPr>
                <a:defRPr/>
              </a:pPr>
              <a:t>46</a:t>
            </a:fld>
            <a:endParaRPr lang="en-US"/>
          </a:p>
        </p:txBody>
      </p:sp>
      <p:sp>
        <p:nvSpPr>
          <p:cNvPr id="1065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1926</Words>
  <Application>Microsoft Office PowerPoint</Application>
  <PresentationFormat>On-screen Show (4:3)</PresentationFormat>
  <Paragraphs>449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46</vt:i4>
      </vt:variant>
    </vt:vector>
  </HeadingPairs>
  <TitlesOfParts>
    <vt:vector size="62" baseType="lpstr">
      <vt:lpstr>Arial</vt:lpstr>
      <vt:lpstr>Calibri</vt:lpstr>
      <vt:lpstr>Wingdings</vt:lpstr>
      <vt:lpstr>Symbol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8</vt:lpstr>
      <vt:lpstr>Learning Objectives</vt:lpstr>
      <vt:lpstr>Operator Overloading Introduction</vt:lpstr>
      <vt:lpstr>Operator Overloading Perspective</vt:lpstr>
      <vt:lpstr>Overloading Basics</vt:lpstr>
      <vt:lpstr>Overloaded "+"</vt:lpstr>
      <vt:lpstr>Money "+" Definition:  Display 8.1  Operator Overloading</vt:lpstr>
      <vt:lpstr>Overloaded "=="</vt:lpstr>
      <vt:lpstr>Overloaded "==" for Money: Display 8.1  Operator Overloading</vt:lpstr>
      <vt:lpstr>Constructors Returning Objects</vt:lpstr>
      <vt:lpstr>Returning by const Value</vt:lpstr>
      <vt:lpstr>Returning by non-const Value</vt:lpstr>
      <vt:lpstr>What to do with Non-const Object</vt:lpstr>
      <vt:lpstr>Overloading Unary Operators</vt:lpstr>
      <vt:lpstr>Overload "-" for Money</vt:lpstr>
      <vt:lpstr>Overloaded "-" Definition</vt:lpstr>
      <vt:lpstr>Overloaded "-" Usage</vt:lpstr>
      <vt:lpstr>Overloading as Member Functions</vt:lpstr>
      <vt:lpstr>Member Operator in Action</vt:lpstr>
      <vt:lpstr>const Functions</vt:lpstr>
      <vt:lpstr>Overloading Operators:  Which Method?</vt:lpstr>
      <vt:lpstr>Overloading Function Application ()</vt:lpstr>
      <vt:lpstr>Other Overloads</vt:lpstr>
      <vt:lpstr>Friend Functions</vt:lpstr>
      <vt:lpstr>Friend Functions</vt:lpstr>
      <vt:lpstr>Friend Function Uses</vt:lpstr>
      <vt:lpstr>Friend Function Purity</vt:lpstr>
      <vt:lpstr>Friend Classes</vt:lpstr>
      <vt:lpstr>References</vt:lpstr>
      <vt:lpstr>References Usage</vt:lpstr>
      <vt:lpstr>Returning Reference</vt:lpstr>
      <vt:lpstr>Returning Reference in Definition</vt:lpstr>
      <vt:lpstr>Overloading &gt;&gt; and &lt;&lt;</vt:lpstr>
      <vt:lpstr>Overloading &gt;&gt;</vt:lpstr>
      <vt:lpstr>Overloading &gt;&gt;</vt:lpstr>
      <vt:lpstr>Overloaded &gt;&gt; Return Value</vt:lpstr>
      <vt:lpstr>Overloaded &gt;&gt; Example:  Display 8.5  Overloading &lt;&lt; and &gt;&gt; (1 of 5)</vt:lpstr>
      <vt:lpstr>Overloaded &gt;&gt; Example:  Display 8.5  Overloading &lt;&lt; and &gt;&gt; (2 of 5)</vt:lpstr>
      <vt:lpstr>Overloaded &gt;&gt; Example:  Display 8.5  Overloading &lt;&lt; and &gt;&gt; (3 of 5)</vt:lpstr>
      <vt:lpstr>Overloaded &gt;&gt; Example:  Display 8.5  Overloading &lt;&lt; and &gt;&gt; (4 of 5)</vt:lpstr>
      <vt:lpstr>Overloaded &gt;&gt; Example:  Display 8.5  Overloading &lt;&lt; and &gt;&gt; (5 of 5)</vt:lpstr>
      <vt:lpstr>Assignment Operator, =</vt:lpstr>
      <vt:lpstr>Increment and Decrement</vt:lpstr>
      <vt:lpstr>Overload Array Operator, [ ]</vt:lpstr>
      <vt:lpstr>Summary 1</vt:lpstr>
      <vt:lpstr>Summary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16</cp:revision>
  <dcterms:created xsi:type="dcterms:W3CDTF">2006-08-16T00:00:00Z</dcterms:created>
  <dcterms:modified xsi:type="dcterms:W3CDTF">2012-05-08T14:07:06Z</dcterms:modified>
</cp:coreProperties>
</file>