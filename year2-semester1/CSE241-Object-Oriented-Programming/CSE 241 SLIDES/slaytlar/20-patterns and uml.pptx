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2.xml" ContentType="application/vnd.openxmlformats-officedocument.presentationml.tags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4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2BBC316-CD71-4E77-9CFE-9F784F0F7296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566E0EA-882D-4744-A1B4-E6A08C83A5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5B4572-FB0F-4AEF-BEEB-213575C3048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DD1D9B-F5A4-46E0-9195-3F1C4A5563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94C58A6-1ACA-481F-835E-1601B94D2DB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9D2D96-4CCE-4FDE-B80C-FB924F4AE06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3F2C448-4D42-4F80-90AA-1AEAE32153C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33DE8EB-1847-43E8-A0F9-07CCF607A6D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7F65C1-20A8-4B16-B126-76267A3EAD2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ECCFF3-881E-4A6B-89DB-5DD2264100A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EB5527-62F1-4FA4-89C3-4AA8A76DC69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F783F3-CB0C-4A1F-8976-6E335463ADB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32CB49-315A-4312-BEEF-F4228D49B90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6496C0-B256-43C6-AFE1-26391A3E641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2F2356-A2F1-42A3-A7B1-FC4412AD658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D90F90A-2A9C-49F2-8B19-8A89ED3EA04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C0EAD5-7567-4DAA-8BD7-5453E64523C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714D55-719B-4974-8BF7-757BD0376C1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F7F121-ED20-404A-AB7A-104E3B213F6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127210-DBDB-4D2E-A978-379F5E68AC8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BECE28-CCA1-4BFF-ABB4-100D5412C1E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5FD536-658B-46AB-B4AD-351349F39CF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32D734A-3371-4CD8-B53A-94E4B4EB54E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277BA4-C51E-48B5-8B2B-7E09635F260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B6D90B-5D4F-4C0A-93A9-F9486280E8E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36C4ABD-DC19-4063-B8F1-1C8EE5FA517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85BC78-FDEF-41B3-8511-6783A4A10F1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81D373-087A-425C-A00E-FBC74BA4D13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3AA989-63F8-40FF-810B-A2BE72C4D5A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6F96C5E-F7B0-4CB8-849E-DA20AF41876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6305734-4872-4919-8895-5701D3A4880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CC632C0-3CFE-43B7-97B0-B64FD8E7BFE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10515EE-82BE-4379-BB58-7AB74AB7404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DEB89CD-1D64-4992-9A3B-5190D8F8578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779BCD-54DE-4D43-AF9D-388CA8B046C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97E07308-D5DF-4356-BE0B-37432089F3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E0C663-8EF7-42B6-8105-3675DDBE1487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15E81EC6-D8D8-442C-AA58-CC7A38EEAB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622F3-8626-4EC8-8644-8D754762EB1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3CC93C31-27DB-47B1-BCDB-456590BFEE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74914-F15A-4659-897B-D2A096D55EE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C020C96F-715D-45F9-AA81-593A59746E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03001A-BD23-4870-B30E-DE4283251ECF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4EE4B960-A292-4715-BECF-A536EEF681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8F818-C32F-42A1-B606-E4297F0F5C36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F6E972DD-33E0-4278-B4E8-0EFDDD1371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D5678-91F0-48BC-80DA-A9F2D37F39F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38005A27-E28B-42A0-AD2A-51C2C4BA6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391C8F-047E-41AA-A6D2-E0E7BB55752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1EF6B018-14E9-4C31-80DF-802928476F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2BFB6-4B04-4EAD-87EB-25DC06CD93B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49597E24-1DF9-4DA7-88ED-A4D74EABFE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F51C2-3915-49DA-9981-4C4CCB0DA24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B211F957-FE9C-462E-81DD-DB748F2249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22CFC-B052-4D35-A5AC-906F4F93F10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20-</a:t>
            </a:r>
            <a:fld id="{B16933FC-CBB1-42AA-9067-FB819CE06D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C92F256-A894-4C15-892E-A50FD67E682F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E75EE2B9-BD9C-403F-83D1-CADC8066B2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Patterns </a:t>
            </a:r>
            <a:br>
              <a:rPr lang="en-US" dirty="0" smtClean="0"/>
            </a:br>
            <a:r>
              <a:rPr lang="en-US" dirty="0" smtClean="0"/>
              <a:t>and UML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Patterns</a:t>
            </a:r>
          </a:p>
          <a:p>
            <a:pPr lvl="1" eaLnBrk="1" hangingPunct="1"/>
            <a:r>
              <a:rPr lang="en-US" sz="2400" smtClean="0"/>
              <a:t>Adapter pattern</a:t>
            </a:r>
          </a:p>
          <a:p>
            <a:pPr lvl="1" eaLnBrk="1" hangingPunct="1"/>
            <a:r>
              <a:rPr lang="en-US" sz="2400" smtClean="0"/>
              <a:t>Model-View-Controller pattern</a:t>
            </a:r>
          </a:p>
          <a:p>
            <a:pPr lvl="1" eaLnBrk="1" hangingPunct="1"/>
            <a:r>
              <a:rPr lang="en-US" sz="2400" smtClean="0"/>
              <a:t>Sorting pattern and it’s efficiency</a:t>
            </a:r>
          </a:p>
          <a:p>
            <a:pPr lvl="1" eaLnBrk="1" hangingPunct="1"/>
            <a:r>
              <a:rPr lang="en-US" sz="2400" smtClean="0"/>
              <a:t>Pattern formalism</a:t>
            </a:r>
          </a:p>
          <a:p>
            <a:pPr eaLnBrk="1" hangingPunct="1"/>
            <a:r>
              <a:rPr lang="en-US" sz="2800" smtClean="0"/>
              <a:t>UML</a:t>
            </a:r>
          </a:p>
          <a:p>
            <a:pPr lvl="1" eaLnBrk="1" hangingPunct="1"/>
            <a:r>
              <a:rPr lang="en-US" sz="2400" smtClean="0"/>
              <a:t>History of UML</a:t>
            </a:r>
          </a:p>
          <a:p>
            <a:pPr lvl="1" eaLnBrk="1" hangingPunct="1"/>
            <a:r>
              <a:rPr lang="en-US" sz="2400" smtClean="0"/>
              <a:t>UML class diagrams</a:t>
            </a:r>
          </a:p>
          <a:p>
            <a:pPr lvl="1" eaLnBrk="1" hangingPunct="1"/>
            <a:r>
              <a:rPr lang="en-US" sz="2400" smtClean="0"/>
              <a:t>Class interactions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2B097D54-7B08-409A-A8D2-D63751283719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387475"/>
            <a:ext cx="7815262" cy="46497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Patterns and UML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Software design tools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Programming-language independent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Assuming object-oriented-capable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Pattern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Like "ordinary" pattern in other contexts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An "outline" of software task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result in different code in different but</a:t>
            </a:r>
            <a:br>
              <a:rPr lang="en-US" sz="2400" smtClean="0"/>
            </a:br>
            <a:r>
              <a:rPr lang="en-US" sz="2400" smtClean="0"/>
              <a:t>similar tasks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UML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Graphical language for OOP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858080B9-2086-4459-A1F9-956EF2091169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Patterns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Patterns are design principles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Apply across variety of software </a:t>
            </a:r>
            <a:r>
              <a:rPr lang="en-US" i="1" smtClean="0"/>
              <a:t>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Must also apply across variety of </a:t>
            </a:r>
            <a:r>
              <a:rPr lang="en-US" i="1" smtClean="0"/>
              <a:t>situations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Must make assumptions about </a:t>
            </a:r>
            <a:br>
              <a:rPr lang="en-US" smtClean="0"/>
            </a:br>
            <a:r>
              <a:rPr lang="en-US" smtClean="0"/>
              <a:t>application domain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Example:</a:t>
            </a:r>
            <a:br>
              <a:rPr lang="en-US" smtClean="0"/>
            </a:br>
            <a:r>
              <a:rPr lang="en-US" sz="2800" smtClean="0"/>
              <a:t>Iterator pattern applies to containers of</a:t>
            </a:r>
            <a:br>
              <a:rPr lang="en-US" sz="2800" smtClean="0"/>
            </a:br>
            <a:r>
              <a:rPr lang="en-US" sz="2800" smtClean="0"/>
              <a:t>almost any kind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8BB53D68-4E5D-4B46-A5C9-0C29F376145F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Pattern Example: Iterators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Recall iterators</a:t>
            </a:r>
          </a:p>
          <a:p>
            <a:pPr eaLnBrk="1" hangingPunct="1"/>
            <a:r>
              <a:rPr lang="en-US" sz="2800" smtClean="0"/>
              <a:t>Iterator pattern applies to containers of</a:t>
            </a:r>
            <a:br>
              <a:rPr lang="en-US" sz="2800" smtClean="0"/>
            </a:br>
            <a:r>
              <a:rPr lang="en-US" sz="2800" smtClean="0"/>
              <a:t>almost any kind</a:t>
            </a:r>
          </a:p>
          <a:p>
            <a:pPr eaLnBrk="1" hangingPunct="1"/>
            <a:r>
              <a:rPr lang="en-US" sz="2800" smtClean="0"/>
              <a:t>1</a:t>
            </a:r>
            <a:r>
              <a:rPr lang="en-US" sz="2800" baseline="30000" smtClean="0"/>
              <a:t>st</a:t>
            </a:r>
            <a:r>
              <a:rPr lang="en-US" sz="2800" smtClean="0"/>
              <a:t> described as "abstract"</a:t>
            </a:r>
          </a:p>
          <a:p>
            <a:pPr lvl="1" eaLnBrk="1" hangingPunct="1"/>
            <a:r>
              <a:rPr lang="en-US" sz="2400" smtClean="0"/>
              <a:t>As ways of cycling thru any data in any container</a:t>
            </a:r>
          </a:p>
          <a:p>
            <a:pPr eaLnBrk="1" hangingPunct="1"/>
            <a:r>
              <a:rPr lang="en-US" sz="2800" smtClean="0"/>
              <a:t>Then gave specific applications</a:t>
            </a:r>
          </a:p>
          <a:p>
            <a:pPr lvl="1" eaLnBrk="1" hangingPunct="1"/>
            <a:r>
              <a:rPr lang="en-US" sz="2400" smtClean="0"/>
              <a:t>Such as list iterator, constant list iterator,</a:t>
            </a:r>
            <a:br>
              <a:rPr lang="en-US" sz="2400" smtClean="0"/>
            </a:br>
            <a:r>
              <a:rPr lang="en-US" sz="2400" smtClean="0"/>
              <a:t>reverse list iterator, etc.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21118A98-B84C-479E-9941-608F482BA132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Consider No Patterns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Iterators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Imagine huge amount of detail if all container</a:t>
            </a:r>
            <a:br>
              <a:rPr lang="en-US" sz="2400" smtClean="0"/>
            </a:br>
            <a:r>
              <a:rPr lang="en-US" sz="2400" smtClean="0"/>
              <a:t>iterators presented separately!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each had different names for begin(), end()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To make "sense" of it, learners might make</a:t>
            </a:r>
            <a:br>
              <a:rPr lang="en-US" sz="2400" smtClean="0"/>
            </a:br>
            <a:r>
              <a:rPr lang="en-US" sz="2400" smtClean="0"/>
              <a:t>pattern themselves!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Until pattern developed, all were different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"Seemed" similar, but not organized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 containers as well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Same issues!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16598241-F087-414C-A817-B0D5C8C37F5F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Adapter Pattern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sz="2800" smtClean="0"/>
              <a:t>Transforms one class into different class</a:t>
            </a:r>
          </a:p>
          <a:p>
            <a:pPr lvl="1" eaLnBrk="1" hangingPunct="1">
              <a:lnSpc>
                <a:spcPct val="95000"/>
              </a:lnSpc>
            </a:pPr>
            <a:r>
              <a:rPr lang="en-US" sz="2400" smtClean="0"/>
              <a:t>With no changes to underlying class</a:t>
            </a:r>
          </a:p>
          <a:p>
            <a:pPr lvl="1" eaLnBrk="1" hangingPunct="1">
              <a:lnSpc>
                <a:spcPct val="95000"/>
              </a:lnSpc>
            </a:pPr>
            <a:r>
              <a:rPr lang="en-US" sz="2400" smtClean="0"/>
              <a:t>Only "adding" to interface</a:t>
            </a:r>
          </a:p>
          <a:p>
            <a:pPr eaLnBrk="1" hangingPunct="1">
              <a:lnSpc>
                <a:spcPct val="95000"/>
              </a:lnSpc>
            </a:pPr>
            <a:r>
              <a:rPr lang="en-US" sz="2800" smtClean="0"/>
              <a:t>Recall stack and queue template classes</a:t>
            </a:r>
          </a:p>
          <a:p>
            <a:pPr lvl="1" eaLnBrk="1" hangingPunct="1">
              <a:lnSpc>
                <a:spcPct val="95000"/>
              </a:lnSpc>
            </a:pPr>
            <a:r>
              <a:rPr lang="en-US" sz="2400" smtClean="0"/>
              <a:t>Both can choose underlying class used to</a:t>
            </a:r>
            <a:br>
              <a:rPr lang="en-US" sz="2400" smtClean="0"/>
            </a:br>
            <a:r>
              <a:rPr lang="en-US" sz="2400" smtClean="0"/>
              <a:t>store data:</a:t>
            </a:r>
            <a:br>
              <a:rPr lang="en-US" sz="2400" smtClean="0"/>
            </a:br>
            <a:r>
              <a:rPr lang="en-US" sz="2400" smtClean="0"/>
              <a:t>stack&lt;vector&lt;int&gt;&gt;  -- int stack under vector</a:t>
            </a:r>
            <a:br>
              <a:rPr lang="en-US" sz="2400" smtClean="0"/>
            </a:br>
            <a:r>
              <a:rPr lang="en-US" sz="2400" smtClean="0"/>
              <a:t>stack&lt;list&lt;int&gt;&gt; -- int stack underlying list</a:t>
            </a:r>
          </a:p>
          <a:p>
            <a:pPr lvl="1" eaLnBrk="1" hangingPunct="1">
              <a:lnSpc>
                <a:spcPct val="95000"/>
              </a:lnSpc>
            </a:pPr>
            <a:r>
              <a:rPr lang="en-US" sz="2400" smtClean="0"/>
              <a:t>All cases underlying class not changed</a:t>
            </a:r>
          </a:p>
          <a:p>
            <a:pPr lvl="2" eaLnBrk="1" hangingPunct="1">
              <a:lnSpc>
                <a:spcPct val="95000"/>
              </a:lnSpc>
            </a:pPr>
            <a:r>
              <a:rPr lang="en-US" sz="2000" smtClean="0"/>
              <a:t>Only interface is added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26F7A08B-8692-4577-B90B-B0A649689E36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Adapter Pattern Interface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smtClean="0"/>
              <a:t>How to add interface?</a:t>
            </a:r>
          </a:p>
          <a:p>
            <a:pPr lvl="1" eaLnBrk="1" hangingPunct="1">
              <a:lnSpc>
                <a:spcPct val="95000"/>
              </a:lnSpc>
            </a:pPr>
            <a:r>
              <a:rPr lang="en-US" smtClean="0"/>
              <a:t>Implementation detail</a:t>
            </a:r>
          </a:p>
          <a:p>
            <a:pPr lvl="1" eaLnBrk="1" hangingPunct="1">
              <a:lnSpc>
                <a:spcPct val="95000"/>
              </a:lnSpc>
            </a:pPr>
            <a:r>
              <a:rPr lang="en-US" smtClean="0"/>
              <a:t>Not part of pattern</a:t>
            </a:r>
          </a:p>
          <a:p>
            <a:pPr eaLnBrk="1" hangingPunct="1">
              <a:lnSpc>
                <a:spcPct val="95000"/>
              </a:lnSpc>
            </a:pPr>
            <a:r>
              <a:rPr lang="en-US" smtClean="0"/>
              <a:t>But… two ways:</a:t>
            </a:r>
          </a:p>
          <a:p>
            <a:pPr lvl="1" eaLnBrk="1" hangingPunct="1">
              <a:lnSpc>
                <a:spcPct val="95000"/>
              </a:lnSpc>
            </a:pPr>
            <a:r>
              <a:rPr lang="en-US" smtClean="0"/>
              <a:t>Example: for stack adapter:</a:t>
            </a:r>
          </a:p>
          <a:p>
            <a:pPr lvl="2" eaLnBrk="1" hangingPunct="1">
              <a:lnSpc>
                <a:spcPct val="95000"/>
              </a:lnSpc>
            </a:pPr>
            <a:r>
              <a:rPr lang="en-US" smtClean="0"/>
              <a:t>Underlying container class could be member</a:t>
            </a:r>
            <a:br>
              <a:rPr lang="en-US" smtClean="0"/>
            </a:br>
            <a:r>
              <a:rPr lang="en-US" smtClean="0"/>
              <a:t>variable of stack class</a:t>
            </a:r>
          </a:p>
          <a:p>
            <a:pPr lvl="2" eaLnBrk="1" hangingPunct="1">
              <a:lnSpc>
                <a:spcPct val="95000"/>
              </a:lnSpc>
            </a:pPr>
            <a:r>
              <a:rPr lang="en-US" smtClean="0"/>
              <a:t>Or stack class could be derived class of</a:t>
            </a:r>
            <a:br>
              <a:rPr lang="en-US" smtClean="0"/>
            </a:br>
            <a:r>
              <a:rPr lang="en-US" smtClean="0"/>
              <a:t>underlying container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98F5BBB8-CD96-46AC-B1DD-F901B40B288D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Model-View-Controller Pattern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Way of dividing I/O task out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Model part: heart of application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View part: output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Displays picture of model’s state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Controller part: input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Relays commands from user to model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A divide and conquer strategy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One big task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three smaller tasks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Each with well-defined responsibilities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B57D2E5A-9520-4D64-B1E3-09C359225EF3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Model-View-Controller Pattern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Any application can fit</a:t>
            </a:r>
          </a:p>
          <a:p>
            <a:pPr eaLnBrk="1" hangingPunct="1"/>
            <a:r>
              <a:rPr lang="en-US" smtClean="0"/>
              <a:t>But particularly suited to GUI </a:t>
            </a:r>
            <a:br>
              <a:rPr lang="en-US" smtClean="0"/>
            </a:br>
            <a:r>
              <a:rPr lang="en-US" smtClean="0"/>
              <a:t>design projects</a:t>
            </a:r>
          </a:p>
          <a:p>
            <a:pPr lvl="1" eaLnBrk="1" hangingPunct="1"/>
            <a:r>
              <a:rPr lang="en-US" smtClean="0"/>
              <a:t>Where view can actually be visualization of</a:t>
            </a:r>
            <a:br>
              <a:rPr lang="en-US" smtClean="0"/>
            </a:br>
            <a:r>
              <a:rPr lang="en-US" smtClean="0"/>
              <a:t>state of model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D38597B1-50FB-481A-A1D6-12A21429348A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20.1  </a:t>
            </a:r>
            <a:br>
              <a:rPr lang="en-US" sz="3600" b="1"/>
            </a:br>
            <a:r>
              <a:rPr lang="en-US" sz="3600"/>
              <a:t>Model-View-Controller Pattern</a:t>
            </a:r>
          </a:p>
        </p:txBody>
      </p:sp>
      <p:pic>
        <p:nvPicPr>
          <p:cNvPr id="34818" name="Picture 4" descr="C:\WINDOWS\Desktop\Oh_type\sacitch_C++_ppt\gif\savitchc20d01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617663"/>
            <a:ext cx="7772400" cy="454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2644B686-C95D-4DF1-AA31-5290B7AE939D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Sorting Pattern Example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smtClean="0"/>
              <a:t>Similar pattern among "most-efficient"</a:t>
            </a:r>
            <a:br>
              <a:rPr lang="en-US" smtClean="0"/>
            </a:br>
            <a:r>
              <a:rPr lang="en-US" smtClean="0"/>
              <a:t>sorting algorithms: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Recursive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Divide list into smaller lists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Then recursively sort smaller lists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Recombine two sorted lists obtaining one</a:t>
            </a:r>
            <a:br>
              <a:rPr lang="en-US" smtClean="0"/>
            </a:br>
            <a:r>
              <a:rPr lang="en-US" smtClean="0"/>
              <a:t>final sorted list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CFB443D6-FDB8-42EA-8647-727294CD9B65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Sorting Pattern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Clearly a divide-and-conquer strategy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Heart of pattern:</a:t>
            </a:r>
            <a:br>
              <a:rPr lang="en-US" sz="2800" smtClean="0"/>
            </a:br>
            <a:r>
              <a:rPr lang="en-US" sz="2400" smtClean="0"/>
              <a:t>int splitPt = split(a, begin, end);</a:t>
            </a:r>
            <a:br>
              <a:rPr lang="en-US" sz="2400" smtClean="0"/>
            </a:br>
            <a:r>
              <a:rPr lang="en-US" sz="2400" smtClean="0"/>
              <a:t>sort(a, begin, splitPt);</a:t>
            </a:r>
            <a:br>
              <a:rPr lang="en-US" sz="2400" smtClean="0"/>
            </a:br>
            <a:r>
              <a:rPr lang="en-US" sz="2400" smtClean="0"/>
              <a:t>sort(a, splitPt, end);</a:t>
            </a:r>
            <a:br>
              <a:rPr lang="en-US" sz="2400" smtClean="0"/>
            </a:br>
            <a:r>
              <a:rPr lang="en-US" sz="2400" smtClean="0"/>
              <a:t>join(a, begin, splitPt, end);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Note no details on how split and join </a:t>
            </a:r>
            <a:br>
              <a:rPr lang="en-US" sz="2800" smtClean="0"/>
            </a:br>
            <a:r>
              <a:rPr lang="en-US" sz="2800" smtClean="0"/>
              <a:t>are defined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Different definitions will yield different </a:t>
            </a:r>
            <a:br>
              <a:rPr lang="en-US" sz="2400" smtClean="0"/>
            </a:br>
            <a:r>
              <a:rPr lang="en-US" sz="2400" smtClean="0"/>
              <a:t>sorting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AAD1F17A-AED4-4E2C-B409-34F9A404958D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split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Rearranges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 interval [begin, end]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Divides interval at split point, </a:t>
            </a:r>
            <a:r>
              <a:rPr lang="en-US" sz="2800" i="1" smtClean="0"/>
              <a:t>splitPt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Two new intervals then sorted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[begin, splitPt) – first half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[splitPt, end) – second half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 details in pattern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Nothing about how rearrange and divide</a:t>
            </a:r>
            <a:br>
              <a:rPr lang="en-US" sz="2400" smtClean="0"/>
            </a:br>
            <a:r>
              <a:rPr lang="en-US" sz="2400" smtClean="0"/>
              <a:t>takes place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85E8EFE8-98CB-4CC8-BF21-1160944A0241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join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Combines two sorted intervals</a:t>
            </a:r>
          </a:p>
          <a:p>
            <a:pPr lvl="1" eaLnBrk="1" hangingPunct="1"/>
            <a:r>
              <a:rPr lang="en-US" smtClean="0"/>
              <a:t>Produces final sorted version</a:t>
            </a:r>
          </a:p>
          <a:p>
            <a:pPr eaLnBrk="1" hangingPunct="1"/>
            <a:r>
              <a:rPr lang="en-US" smtClean="0"/>
              <a:t>Again, no details</a:t>
            </a:r>
          </a:p>
          <a:p>
            <a:pPr lvl="1" eaLnBrk="1" hangingPunct="1"/>
            <a:r>
              <a:rPr lang="en-US" smtClean="0"/>
              <a:t>join function could perform many ways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12F63185-1E0A-4088-8221-1876BE6B9758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Sample Realization </a:t>
            </a:r>
            <a:br>
              <a:rPr lang="en-US" sz="3600" smtClean="0"/>
            </a:br>
            <a:r>
              <a:rPr lang="en-US" sz="3600" smtClean="0"/>
              <a:t>of Sorting Pattern: Mergesort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Simplest "realization" of sorting pattern is</a:t>
            </a:r>
            <a:br>
              <a:rPr lang="en-US" sz="2800" smtClean="0"/>
            </a:br>
            <a:r>
              <a:rPr lang="en-US" sz="2800" smtClean="0"/>
              <a:t>mergesort</a:t>
            </a:r>
          </a:p>
          <a:p>
            <a:pPr eaLnBrk="1" hangingPunct="1"/>
            <a:r>
              <a:rPr lang="en-US" sz="2800" smtClean="0"/>
              <a:t>Definition of split very simple</a:t>
            </a:r>
          </a:p>
          <a:p>
            <a:pPr lvl="1" eaLnBrk="1" hangingPunct="1"/>
            <a:r>
              <a:rPr lang="en-US" sz="2400" smtClean="0"/>
              <a:t>Just divides array into two intervals</a:t>
            </a:r>
          </a:p>
          <a:p>
            <a:pPr lvl="1" eaLnBrk="1" hangingPunct="1"/>
            <a:r>
              <a:rPr lang="en-US" sz="2400" smtClean="0"/>
              <a:t>No rearranging of elements</a:t>
            </a:r>
          </a:p>
          <a:p>
            <a:pPr eaLnBrk="1" hangingPunct="1"/>
            <a:r>
              <a:rPr lang="en-US" sz="2800" smtClean="0"/>
              <a:t>Definition of join complex!</a:t>
            </a:r>
          </a:p>
          <a:p>
            <a:pPr lvl="1" eaLnBrk="1" hangingPunct="1"/>
            <a:r>
              <a:rPr lang="en-US" sz="2400" smtClean="0"/>
              <a:t>Must sort subintervals</a:t>
            </a:r>
          </a:p>
          <a:p>
            <a:pPr lvl="1" eaLnBrk="1" hangingPunct="1"/>
            <a:r>
              <a:rPr lang="en-US" sz="2400" smtClean="0"/>
              <a:t>Then merge, copying to temporary array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D8659C54-F914-4596-B000-37290B72CE6B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Mergesort’s join Function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Sequence: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Compare smallest elements in </a:t>
            </a:r>
            <a:br>
              <a:rPr lang="en-US" smtClean="0"/>
            </a:br>
            <a:r>
              <a:rPr lang="en-US" smtClean="0"/>
              <a:t>each interval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Smaller of two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next position in </a:t>
            </a:r>
            <a:br>
              <a:rPr lang="en-US" smtClean="0"/>
            </a:br>
            <a:r>
              <a:rPr lang="en-US" smtClean="0"/>
              <a:t>temporary array</a:t>
            </a:r>
          </a:p>
          <a:p>
            <a:pPr lvl="2" eaLnBrk="1" hangingPunct="1">
              <a:spcBef>
                <a:spcPct val="30000"/>
              </a:spcBef>
            </a:pPr>
            <a:r>
              <a:rPr lang="en-US" smtClean="0"/>
              <a:t>Repeated until through both intervals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Result is final sorted array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AC6B7DBB-FF0A-418F-8414-479370F7AAA6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Sort Pattern Complexity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Trade-off between split and join</a:t>
            </a:r>
          </a:p>
          <a:p>
            <a:pPr lvl="1" eaLnBrk="1" hangingPunct="1"/>
            <a:r>
              <a:rPr lang="en-US" smtClean="0"/>
              <a:t>Either can be simple at expense of other</a:t>
            </a:r>
          </a:p>
          <a:p>
            <a:pPr lvl="1" eaLnBrk="1" hangingPunct="1"/>
            <a:r>
              <a:rPr lang="en-US" smtClean="0"/>
              <a:t>e.g., In mergesort, split function simple at</a:t>
            </a:r>
            <a:br>
              <a:rPr lang="en-US" smtClean="0"/>
            </a:br>
            <a:r>
              <a:rPr lang="en-US" smtClean="0"/>
              <a:t>expense of complicated join function</a:t>
            </a:r>
          </a:p>
          <a:p>
            <a:pPr lvl="1" eaLnBrk="1" hangingPunct="1"/>
            <a:r>
              <a:rPr lang="en-US" smtClean="0"/>
              <a:t>Could vary in other algorithms</a:t>
            </a:r>
          </a:p>
          <a:p>
            <a:pPr eaLnBrk="1" hangingPunct="1"/>
            <a:r>
              <a:rPr lang="en-US" smtClean="0"/>
              <a:t>Comes down to "who does work?"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F891DFCA-585E-4102-8D1D-C801EE22A1CD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Consider Quicksort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Complexity switch</a:t>
            </a:r>
          </a:p>
          <a:p>
            <a:pPr lvl="1" eaLnBrk="1" hangingPunct="1"/>
            <a:r>
              <a:rPr lang="en-US" smtClean="0"/>
              <a:t>join function simple, split function complex</a:t>
            </a:r>
          </a:p>
          <a:p>
            <a:pPr eaLnBrk="1" hangingPunct="1"/>
            <a:r>
              <a:rPr lang="en-US" smtClean="0"/>
              <a:t>Library files</a:t>
            </a:r>
          </a:p>
          <a:p>
            <a:pPr lvl="1" eaLnBrk="1" hangingPunct="1"/>
            <a:r>
              <a:rPr lang="en-US" smtClean="0"/>
              <a:t>Include files "mergesort.cpp", "quicksort.cpp"</a:t>
            </a:r>
            <a:br>
              <a:rPr lang="en-US" smtClean="0"/>
            </a:br>
            <a:r>
              <a:rPr lang="en-US" smtClean="0"/>
              <a:t>both give two different realizations of same</a:t>
            </a:r>
            <a:br>
              <a:rPr lang="en-US" smtClean="0"/>
            </a:br>
            <a:r>
              <a:rPr lang="en-US" smtClean="0"/>
              <a:t>sort pattern</a:t>
            </a:r>
          </a:p>
          <a:p>
            <a:pPr lvl="1" eaLnBrk="1" hangingPunct="1"/>
            <a:r>
              <a:rPr lang="en-US" smtClean="0"/>
              <a:t>Provide same input and output!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F6E860E3-E3A9-4974-9E6C-90BB4A027DDB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Quicksort Realization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A sophisticated split function</a:t>
            </a:r>
          </a:p>
          <a:p>
            <a:pPr lvl="1" eaLnBrk="1" hangingPunct="1"/>
            <a:r>
              <a:rPr lang="en-US" sz="2400" smtClean="0"/>
              <a:t>Arbitrary value chosen, called "splitting value"</a:t>
            </a:r>
          </a:p>
          <a:p>
            <a:pPr lvl="1" eaLnBrk="1" hangingPunct="1"/>
            <a:r>
              <a:rPr lang="en-US" sz="2400" smtClean="0"/>
              <a:t>Array elements rearranged "around" splitting value</a:t>
            </a:r>
          </a:p>
          <a:p>
            <a:pPr lvl="2" eaLnBrk="1" hangingPunct="1"/>
            <a:r>
              <a:rPr lang="en-US" sz="2000" smtClean="0"/>
              <a:t>Those less than in front, greater than in back</a:t>
            </a:r>
          </a:p>
          <a:p>
            <a:pPr lvl="2" eaLnBrk="1" hangingPunct="1"/>
            <a:r>
              <a:rPr lang="en-US" sz="2000" smtClean="0"/>
              <a:t>Splitting value essentially "divides" array</a:t>
            </a:r>
          </a:p>
          <a:p>
            <a:pPr lvl="1" eaLnBrk="1" hangingPunct="1"/>
            <a:r>
              <a:rPr lang="en-US" sz="2400" smtClean="0"/>
              <a:t>Two "sides" then sorted recursively</a:t>
            </a:r>
          </a:p>
          <a:p>
            <a:pPr eaLnBrk="1" hangingPunct="1"/>
            <a:r>
              <a:rPr lang="en-US" sz="2800" smtClean="0"/>
              <a:t>Finally combined with join</a:t>
            </a:r>
          </a:p>
          <a:p>
            <a:pPr lvl="1" eaLnBrk="1" hangingPunct="1"/>
            <a:r>
              <a:rPr lang="en-US" sz="2400" smtClean="0"/>
              <a:t>Which does nothing!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F7C47214-0C0A-4EED-9EF6-C27BB104EAE7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Sorting Pattern Efficiency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Most efficient realizations "divide" list into </a:t>
            </a:r>
            <a:br>
              <a:rPr lang="en-US" sz="2800" smtClean="0"/>
            </a:br>
            <a:r>
              <a:rPr lang="en-US" sz="2800" smtClean="0"/>
              <a:t>two chunks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Such as half and half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Inefficient if divided into "few" and "rest"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Mergesort: O(N log N)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Quicksort: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Worst case: O(N</a:t>
            </a:r>
            <a:r>
              <a:rPr lang="en-US" sz="2400" baseline="30000" smtClean="0"/>
              <a:t>2</a:t>
            </a:r>
            <a:r>
              <a:rPr lang="en-US" sz="2400" smtClean="0"/>
              <a:t>) (if split uneven)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Average case: O(N log N)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In practice, one of best sort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7C7E1D04-B586-48B1-A93C-2071C9652B8C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Pragmatics and Patterns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Patterns are guides, not requirements</a:t>
            </a:r>
          </a:p>
          <a:p>
            <a:pPr lvl="1" eaLnBrk="1" hangingPunct="1"/>
            <a:r>
              <a:rPr lang="en-US" sz="2400" smtClean="0"/>
              <a:t>Not compelled to follow all fine details</a:t>
            </a:r>
          </a:p>
          <a:p>
            <a:pPr lvl="1" eaLnBrk="1" hangingPunct="1"/>
            <a:r>
              <a:rPr lang="en-US" sz="2400" smtClean="0"/>
              <a:t>Can take "liberties" and adjust for particular needs</a:t>
            </a:r>
          </a:p>
          <a:p>
            <a:pPr lvl="2" eaLnBrk="1" hangingPunct="1"/>
            <a:r>
              <a:rPr lang="en-US" sz="2000" smtClean="0"/>
              <a:t>Like efficiency issues</a:t>
            </a:r>
          </a:p>
          <a:p>
            <a:pPr eaLnBrk="1" hangingPunct="1"/>
            <a:r>
              <a:rPr lang="en-US" sz="2800" smtClean="0"/>
              <a:t>Pattern formalism</a:t>
            </a:r>
          </a:p>
          <a:p>
            <a:pPr lvl="1" eaLnBrk="1" hangingPunct="1"/>
            <a:r>
              <a:rPr lang="en-US" sz="2400" smtClean="0"/>
              <a:t>Standard techniques exist for using patterns</a:t>
            </a:r>
          </a:p>
          <a:p>
            <a:pPr lvl="1" eaLnBrk="1" hangingPunct="1"/>
            <a:r>
              <a:rPr lang="en-US" sz="2400" smtClean="0"/>
              <a:t>Place of patterns in sofware design process</a:t>
            </a:r>
            <a:br>
              <a:rPr lang="en-US" sz="2400" smtClean="0"/>
            </a:br>
            <a:r>
              <a:rPr lang="en-US" sz="2400" smtClean="0"/>
              <a:t>not yet clear</a:t>
            </a:r>
          </a:p>
          <a:p>
            <a:pPr lvl="2" eaLnBrk="1" hangingPunct="1"/>
            <a:r>
              <a:rPr lang="en-US" sz="2000" smtClean="0"/>
              <a:t>Is clear that many basic patterns are useful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F368FDD5-FE88-4DB7-A4B4-2F2C671E1811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UML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Unified Modeling Language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Attempt to produce "human-oriented"</a:t>
            </a:r>
            <a:br>
              <a:rPr lang="en-US" sz="2800" smtClean="0"/>
            </a:br>
            <a:r>
              <a:rPr lang="en-US" sz="2800" smtClean="0"/>
              <a:t>ways of representing programs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Like pseudocode: think of problem, without</a:t>
            </a:r>
            <a:br>
              <a:rPr lang="en-US" sz="2400" smtClean="0"/>
            </a:br>
            <a:r>
              <a:rPr lang="en-US" sz="2400" smtClean="0"/>
              <a:t>details of language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Pseudocode very standard, very used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it’s a linear, algebraic representation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Prefer "graphical" representation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Enter UML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D73C4832-A8B5-4163-8E64-47932B2E1F5C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UML Design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Designed to reflect/be used with</a:t>
            </a:r>
            <a:br>
              <a:rPr lang="en-US" smtClean="0"/>
            </a:br>
            <a:r>
              <a:rPr lang="en-US" smtClean="0"/>
              <a:t>object-oriented programming philosophy</a:t>
            </a:r>
          </a:p>
          <a:p>
            <a:pPr eaLnBrk="1" hangingPunct="1"/>
            <a:r>
              <a:rPr lang="en-US" smtClean="0"/>
              <a:t>A promising effort!</a:t>
            </a:r>
          </a:p>
          <a:p>
            <a:pPr eaLnBrk="1" hangingPunct="1"/>
            <a:r>
              <a:rPr lang="en-US" smtClean="0"/>
              <a:t>Many companies have adopted UML</a:t>
            </a:r>
            <a:br>
              <a:rPr lang="en-US" smtClean="0"/>
            </a:br>
            <a:r>
              <a:rPr lang="en-US" smtClean="0"/>
              <a:t>formalism in software design process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9D592452-3389-43E2-B44B-6CA87CD77592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History of UML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Developed with OOP</a:t>
            </a:r>
          </a:p>
          <a:p>
            <a:pPr eaLnBrk="1" hangingPunct="1"/>
            <a:r>
              <a:rPr lang="en-US" sz="2800" smtClean="0"/>
              <a:t>Different groups developed own graphical</a:t>
            </a:r>
            <a:br>
              <a:rPr lang="en-US" sz="2800" smtClean="0"/>
            </a:br>
            <a:r>
              <a:rPr lang="en-US" sz="2800" smtClean="0"/>
              <a:t>representations for OOP design</a:t>
            </a:r>
          </a:p>
          <a:p>
            <a:pPr eaLnBrk="1" hangingPunct="1"/>
            <a:r>
              <a:rPr lang="en-US" sz="2800" smtClean="0"/>
              <a:t>1996:</a:t>
            </a:r>
          </a:p>
          <a:p>
            <a:pPr lvl="1" eaLnBrk="1" hangingPunct="1"/>
            <a:r>
              <a:rPr lang="en-US" sz="2400" smtClean="0"/>
              <a:t>Booch, Jacobsen, Rumbaugh released </a:t>
            </a:r>
            <a:br>
              <a:rPr lang="en-US" sz="2400" smtClean="0"/>
            </a:br>
            <a:r>
              <a:rPr lang="en-US" sz="2400" smtClean="0"/>
              <a:t>early version of UML</a:t>
            </a:r>
          </a:p>
          <a:p>
            <a:pPr lvl="1" eaLnBrk="1" hangingPunct="1"/>
            <a:r>
              <a:rPr lang="en-US" sz="2400" smtClean="0"/>
              <a:t>Intended to "bring together" various other</a:t>
            </a:r>
            <a:br>
              <a:rPr lang="en-US" sz="2400" smtClean="0"/>
            </a:br>
            <a:r>
              <a:rPr lang="en-US" sz="2400" smtClean="0"/>
              <a:t>representations to produce standard for all</a:t>
            </a:r>
            <a:br>
              <a:rPr lang="en-US" sz="2400" smtClean="0"/>
            </a:br>
            <a:r>
              <a:rPr lang="en-US" sz="2400" smtClean="0"/>
              <a:t>object-oriented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779FCFAE-1B99-4DBF-B33B-14539B93240C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UML Lately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Since 1996:</a:t>
            </a:r>
          </a:p>
          <a:p>
            <a:pPr lvl="1" eaLnBrk="1" hangingPunct="1"/>
            <a:r>
              <a:rPr lang="en-US" smtClean="0"/>
              <a:t>Developed and revised with feedback from</a:t>
            </a:r>
            <a:br>
              <a:rPr lang="en-US" smtClean="0"/>
            </a:br>
            <a:r>
              <a:rPr lang="en-US" smtClean="0"/>
              <a:t>OOP community</a:t>
            </a:r>
          </a:p>
          <a:p>
            <a:pPr eaLnBrk="1" hangingPunct="1"/>
            <a:r>
              <a:rPr lang="en-US" smtClean="0"/>
              <a:t>Today:</a:t>
            </a:r>
          </a:p>
          <a:p>
            <a:pPr lvl="1" eaLnBrk="1" hangingPunct="1"/>
            <a:r>
              <a:rPr lang="en-US" smtClean="0"/>
              <a:t>UML standard maintained and certified by</a:t>
            </a:r>
            <a:br>
              <a:rPr lang="en-US" smtClean="0"/>
            </a:br>
            <a:r>
              <a:rPr lang="en-US" smtClean="0"/>
              <a:t>Object Management Group (OMG)</a:t>
            </a:r>
          </a:p>
          <a:p>
            <a:pPr lvl="2" eaLnBrk="1" hangingPunct="1"/>
            <a:r>
              <a:rPr lang="en-US" smtClean="0"/>
              <a:t>Non-profit organization that promotes use of</a:t>
            </a:r>
            <a:br>
              <a:rPr lang="en-US" smtClean="0"/>
            </a:br>
            <a:r>
              <a:rPr lang="en-US" smtClean="0"/>
              <a:t>object-oriented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6526A6A3-A444-47D3-AE93-875CD399BBA1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UML Class Diagrams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 classes are central to OOP…</a:t>
            </a:r>
          </a:p>
          <a:p>
            <a:pPr eaLnBrk="1" hangingPunct="1"/>
            <a:r>
              <a:rPr lang="en-US" smtClean="0"/>
              <a:t>Class diagram is simplest of UML </a:t>
            </a:r>
            <a:br>
              <a:rPr lang="en-US" smtClean="0"/>
            </a:br>
            <a:r>
              <a:rPr lang="en-US" smtClean="0"/>
              <a:t>graphical representations to use</a:t>
            </a:r>
          </a:p>
          <a:p>
            <a:pPr lvl="1" eaLnBrk="1" hangingPunct="1"/>
            <a:r>
              <a:rPr lang="en-US" smtClean="0"/>
              <a:t>Three-sectioned box contains:</a:t>
            </a:r>
          </a:p>
          <a:p>
            <a:pPr lvl="2" eaLnBrk="1" hangingPunct="1"/>
            <a:r>
              <a:rPr lang="en-US" smtClean="0"/>
              <a:t>Class name</a:t>
            </a:r>
          </a:p>
          <a:p>
            <a:pPr lvl="2" eaLnBrk="1" hangingPunct="1"/>
            <a:r>
              <a:rPr lang="en-US" smtClean="0"/>
              <a:t>Data specifications</a:t>
            </a:r>
          </a:p>
          <a:p>
            <a:pPr lvl="2" eaLnBrk="1" hangingPunct="1"/>
            <a:r>
              <a:rPr lang="en-US" smtClean="0"/>
              <a:t>Actions (class member functions)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4FE0BEB0-FA8F-47B5-9F16-12A85DC95D30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Class Diagrams Example: </a:t>
            </a:r>
            <a:br>
              <a:rPr lang="en-US" sz="3600" smtClean="0"/>
            </a:br>
            <a:r>
              <a:rPr lang="en-US" sz="3600" b="1" smtClean="0"/>
              <a:t>Display 20.6  </a:t>
            </a:r>
            <a:r>
              <a:rPr lang="en-US" sz="3600" smtClean="0"/>
              <a:t>A UML Class Diagram</a:t>
            </a:r>
          </a:p>
        </p:txBody>
      </p:sp>
      <p:pic>
        <p:nvPicPr>
          <p:cNvPr id="69634" name="Picture 4" descr="C:\WINDOWS\Desktop\Oh_type\sacitch_C++_ppt\gif\savitchc20d06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54088" y="2122488"/>
            <a:ext cx="7772400" cy="330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C7DC4222-3517-4D28-BE41-3A22531EF848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Diagrams Example Notes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Data section: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+ sign indicates public member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- sign indicates private member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# indicates protected member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Our example: both private (Typical in OOP)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Actions: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Same +, -, # for public, private, protected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Need not provide all details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Missing members indicated with ellipsis (…)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34A4AC0F-05D5-4C2C-8F10-16B700A371C0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Interactions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Class diagrams alone of little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Just repeat of class interface, often "less"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Must show how objects of various </a:t>
            </a:r>
            <a:br>
              <a:rPr lang="en-US" sz="2800" smtClean="0"/>
            </a:br>
            <a:r>
              <a:rPr lang="en-US" sz="2800" smtClean="0"/>
              <a:t>classes interact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Annotated arrows show information flow</a:t>
            </a:r>
            <a:br>
              <a:rPr lang="en-US" sz="2400" smtClean="0"/>
            </a:br>
            <a:r>
              <a:rPr lang="en-US" sz="2400" smtClean="0"/>
              <a:t>between class objects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Recall Model-View-Controller Pattern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Annotations also for class groupings into</a:t>
            </a:r>
            <a:br>
              <a:rPr lang="en-US" sz="2400" smtClean="0"/>
            </a:br>
            <a:r>
              <a:rPr lang="en-US" sz="2400" smtClean="0"/>
              <a:t>library-like aggregates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Such as for inheritance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5502ABEF-8EDD-4E99-A046-075E739161C3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Class Interactions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UML is extensible</a:t>
            </a:r>
          </a:p>
          <a:p>
            <a:pPr lvl="1" eaLnBrk="1" hangingPunct="1"/>
            <a:r>
              <a:rPr lang="en-US" smtClean="0"/>
              <a:t>If your needs not in UML, add them </a:t>
            </a:r>
            <a:br>
              <a:rPr lang="en-US" smtClean="0"/>
            </a:br>
            <a:r>
              <a:rPr lang="en-US" smtClean="0"/>
              <a:t>to UML!</a:t>
            </a:r>
          </a:p>
          <a:p>
            <a:pPr eaLnBrk="1" hangingPunct="1"/>
            <a:r>
              <a:rPr lang="en-US" smtClean="0"/>
              <a:t>Framework exists for this purpose</a:t>
            </a:r>
          </a:p>
          <a:p>
            <a:pPr lvl="1" eaLnBrk="1" hangingPunct="1"/>
            <a:r>
              <a:rPr lang="en-US" smtClean="0"/>
              <a:t>Prescribed standard for additions</a:t>
            </a:r>
          </a:p>
          <a:p>
            <a:pPr lvl="1" eaLnBrk="1" hangingPunct="1"/>
            <a:r>
              <a:rPr lang="en-US" smtClean="0"/>
              <a:t>Ensures different software developers</a:t>
            </a:r>
            <a:br>
              <a:rPr lang="en-US" smtClean="0"/>
            </a:br>
            <a:r>
              <a:rPr lang="en-US" smtClean="0"/>
              <a:t>understand each other’s UML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46D46795-55AC-4E18-94B0-BDF0BDE855CA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Patterns are design principles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Apply across variety of software applications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Pattern can provide framework for</a:t>
            </a:r>
            <a:br>
              <a:rPr lang="en-US" sz="2800" smtClean="0"/>
            </a:br>
            <a:r>
              <a:rPr lang="en-US" sz="2800" smtClean="0"/>
              <a:t>comparing related algorithms" efficiency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Unified Modeling Language (UML)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Graphical representation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Designed for object-oriented software design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UML is one formalism used to </a:t>
            </a:r>
            <a:br>
              <a:rPr lang="en-US" sz="2800" smtClean="0"/>
            </a:br>
            <a:r>
              <a:rPr lang="en-US" sz="2800" smtClean="0"/>
              <a:t>express patterns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20-</a:t>
            </a:r>
            <a:fld id="{21498C08-43C3-4FF3-AE52-17AFDD2DECD0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1376</Words>
  <Application>Microsoft Office PowerPoint</Application>
  <PresentationFormat>On-screen Show (4:3)</PresentationFormat>
  <Paragraphs>312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32</vt:i4>
      </vt:variant>
    </vt:vector>
  </HeadingPairs>
  <TitlesOfParts>
    <vt:vector size="47" baseType="lpstr">
      <vt:lpstr>Arial</vt:lpstr>
      <vt:lpstr>Calibri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20</vt:lpstr>
      <vt:lpstr>Learning Objectives</vt:lpstr>
      <vt:lpstr>Introduction</vt:lpstr>
      <vt:lpstr>Patterns</vt:lpstr>
      <vt:lpstr>Pattern Example: Iterators</vt:lpstr>
      <vt:lpstr>Consider No Patterns</vt:lpstr>
      <vt:lpstr>Adapter Pattern</vt:lpstr>
      <vt:lpstr>Adapter Pattern Interface</vt:lpstr>
      <vt:lpstr>Model-View-Controller Pattern</vt:lpstr>
      <vt:lpstr>Model-View-Controller Pattern</vt:lpstr>
      <vt:lpstr>Display 20.1   Model-View-Controller Pattern</vt:lpstr>
      <vt:lpstr>A Sorting Pattern Example</vt:lpstr>
      <vt:lpstr>Sorting Pattern</vt:lpstr>
      <vt:lpstr>Function split</vt:lpstr>
      <vt:lpstr>Function join</vt:lpstr>
      <vt:lpstr>Sample Realization  of Sorting Pattern: Mergesort</vt:lpstr>
      <vt:lpstr>Mergesort’s join Function</vt:lpstr>
      <vt:lpstr>Sort Pattern Complexity</vt:lpstr>
      <vt:lpstr>Consider Quicksort</vt:lpstr>
      <vt:lpstr>Quicksort Realization</vt:lpstr>
      <vt:lpstr>Sorting Pattern Efficiency</vt:lpstr>
      <vt:lpstr>Pragmatics and Patterns</vt:lpstr>
      <vt:lpstr>UML</vt:lpstr>
      <vt:lpstr>UML Design</vt:lpstr>
      <vt:lpstr>History of UML</vt:lpstr>
      <vt:lpstr>UML Lately</vt:lpstr>
      <vt:lpstr>UML Class Diagrams</vt:lpstr>
      <vt:lpstr>Class Diagrams Example:  Display 20.6  A UML Class Diagram</vt:lpstr>
      <vt:lpstr>Class Diagrams Example Notes</vt:lpstr>
      <vt:lpstr>Class Interactions</vt:lpstr>
      <vt:lpstr>More Class Interactions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16</cp:revision>
  <dcterms:created xsi:type="dcterms:W3CDTF">2006-08-16T00:00:00Z</dcterms:created>
  <dcterms:modified xsi:type="dcterms:W3CDTF">2012-05-08T14:09:54Z</dcterms:modified>
</cp:coreProperties>
</file>