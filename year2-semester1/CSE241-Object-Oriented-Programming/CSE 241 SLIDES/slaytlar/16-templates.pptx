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1" d="100"/>
          <a:sy n="101" d="100"/>
        </p:scale>
        <p:origin x="834" y="14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E6C0389-26B4-4A76-82E7-B1C11EADBF62}" type="datetimeFigureOut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FDE5DE2-8367-4684-B675-0A23BCF500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C19366C-EC7A-4ED0-B215-DE1CE6E7F7A9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CCA5053-49DD-440B-974D-5F078E213B4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CA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4DB78FB-0EA0-4652-8A04-A4260A03D47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CA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EDFAB62-A2DD-4E8E-960D-86FE27388B6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CA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E9065AF-4041-4F55-908F-79BEC5E03FD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CA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0D464C8-F843-41D5-80C2-08C0376ABFA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CA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06B4E74-CA34-4B7E-8432-19D98BD393A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CA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FB1B974-3920-4F1D-8E8D-D4A8CEEA126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CA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AB29A68-59AC-4CA1-801C-9E76C0D787A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CA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B4A8D93-E39E-43A6-984E-BDAEDA254FA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CA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820962-3C0B-46B9-8854-0C22F52DB75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CA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348979E-2748-4A9B-B10B-B9710AB97ED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CA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D3EAC48-AED2-4322-B6BC-FABA4834E2A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CA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5A2E500-50F8-4995-9621-1F8A151ECAB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CA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AB6756-B4D8-4FB5-B40F-21D96654D51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CA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2E10EFE-058A-4859-8DB8-A495391D836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CA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D07F934-EE63-4528-AE66-243248BB56C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CA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9457A0D-396D-46EB-89B4-97D9D6A48A1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CA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750064D-9BC8-47AD-8259-6DBDF34FEED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CA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7B14650-3389-4AEC-A641-1019FB21086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CA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C79B57E-6923-407D-8F20-149C8605DBC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CA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B44693D-DECF-4DF2-88CD-08D5F8A550E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CA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9A0E1F7-C18F-4F1D-A4AE-918BB4BAB6A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CA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9C2B6D3-3F1E-4B7B-B4C3-1D2AC986CE2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CA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B1FB0D2-5219-47F4-98A4-5D83B8A2DCD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CA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80142F-121D-4F3C-AF0E-902C8B84F87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en-CA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A953698-548D-43B4-AB35-CAF09C01BA1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en-CA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8633B01-302F-4107-A6A9-D3A4F49EE8D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28</a:t>
            </a:fld>
            <a:endParaRPr lang="en-CA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0C3524D-CE41-49A7-B211-E6D1C6C1E2A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29</a:t>
            </a:fld>
            <a:endParaRPr lang="en-CA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9BAAF9D-B906-48CB-9028-EB7857B0780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30</a:t>
            </a:fld>
            <a:endParaRPr lang="en-CA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490F167-5A14-451B-A80C-3846D4AA5DE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en-CA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DCAF1BB-DD64-4CF2-9095-641F52E6D51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32</a:t>
            </a:fld>
            <a:endParaRPr lang="en-CA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A56229-1B8E-4C71-9987-13A288601273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16-</a:t>
            </a:r>
            <a:fld id="{208B97A7-B971-4899-9C58-BA098516EC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876800" y="6324600"/>
            <a:ext cx="914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126EE0-BD09-4994-8C9E-C2DB0641F449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16-</a:t>
            </a:r>
            <a:fld id="{C89344DD-4D23-43E3-9B0E-0CF31E0A47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457200" y="6340475"/>
            <a:ext cx="4343400" cy="3651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98D996-B1B8-4530-A7EF-3F5DC77F8428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16-</a:t>
            </a:r>
            <a:fld id="{7BA433F3-F181-4A8E-BA51-66E1AD14EB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CC42C-68C4-49EE-BA8F-2F62450C3394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16-</a:t>
            </a:r>
            <a:fld id="{EA874D83-0AB0-47FE-B653-C9C9348EAC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BE42E4-94C5-4054-8D1B-F44F0BC3B525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16-</a:t>
            </a:r>
            <a:fld id="{5078B011-C89D-4319-AC02-F960E685CB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248633-6523-4606-91C0-6832AF0D00F3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16-</a:t>
            </a:r>
            <a:fld id="{AE44D71C-377D-4731-AE18-DB1CE5D1C3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491889-8C2A-45E7-A841-79BB97B0AB19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16-</a:t>
            </a:r>
            <a:fld id="{345B4678-369D-4AFA-99B1-5887082699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B9F5E8-9558-4815-9D04-77301F0EFE8D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16-</a:t>
            </a:r>
            <a:fld id="{30DE102B-18D4-4D73-A9BA-A41C3723A4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8F544C-A5B7-4B26-AD32-16359680055C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16-</a:t>
            </a:r>
            <a:fld id="{BE3811A1-D7F7-44D1-B895-E4F5505772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25D3B1-CBD4-4904-9575-B72B39ED0F0D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16-</a:t>
            </a:r>
            <a:fld id="{CBDBE594-BF65-4AF7-B448-31DB95D174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25678F-0602-4CFD-B134-D896FB30C653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16-</a:t>
            </a:r>
            <a:fld id="{892617D9-E518-4BAC-BF35-62C2E2DAA3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648200" y="6340475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1E3025-FA82-49E9-8B42-9DB3B67A1AE4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dirty="0">
                <a:solidFill>
                  <a:srgbClr val="898989"/>
                </a:solidFill>
                <a:latin typeface="Calibri" pitchFamily="34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1-</a:t>
            </a:r>
            <a:fld id="{F9F955B2-A9EC-48C3-962E-98A0B4E241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Picture 2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6986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ctrTitle"/>
          </p:nvPr>
        </p:nvSpPr>
        <p:spPr>
          <a:xfrm>
            <a:off x="5638800" y="457200"/>
            <a:ext cx="3276600" cy="1470025"/>
          </a:xfrm>
        </p:spPr>
        <p:txBody>
          <a:bodyPr/>
          <a:lstStyle/>
          <a:p>
            <a:pPr eaLnBrk="1" hangingPunct="1"/>
            <a:r>
              <a:rPr lang="en-US" smtClean="0"/>
              <a:t>Chapter 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38800" y="1905000"/>
            <a:ext cx="3352800" cy="1752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/>
              <a:t>Templates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dirty="0"/>
          </a:p>
        </p:txBody>
      </p:sp>
      <p:pic>
        <p:nvPicPr>
          <p:cNvPr id="14341" name="Picture 6" descr="http://vig-fp.prenhall.com/bigcovers/013283071X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0"/>
            <a:ext cx="554513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3" name="Picture 10" descr="DG_Bar_Blue_USLetter_RGB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63246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Learning Objectives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Function Templates</a:t>
            </a:r>
          </a:p>
          <a:p>
            <a:pPr lvl="1" eaLnBrk="1" hangingPunct="1"/>
            <a:r>
              <a:rPr lang="en-US" sz="2400" smtClean="0"/>
              <a:t>Syntax, defining</a:t>
            </a:r>
          </a:p>
          <a:p>
            <a:pPr lvl="1" eaLnBrk="1" hangingPunct="1"/>
            <a:r>
              <a:rPr lang="en-US" sz="2400" smtClean="0"/>
              <a:t>Compiler complications</a:t>
            </a:r>
          </a:p>
          <a:p>
            <a:pPr eaLnBrk="1" hangingPunct="1"/>
            <a:r>
              <a:rPr lang="en-US" sz="2800" smtClean="0"/>
              <a:t>Class Templates</a:t>
            </a:r>
          </a:p>
          <a:p>
            <a:pPr lvl="1" eaLnBrk="1" hangingPunct="1"/>
            <a:r>
              <a:rPr lang="en-US" sz="2400" smtClean="0"/>
              <a:t>Syntax</a:t>
            </a:r>
          </a:p>
          <a:p>
            <a:pPr lvl="1" eaLnBrk="1" hangingPunct="1"/>
            <a:r>
              <a:rPr lang="en-US" sz="2400" smtClean="0"/>
              <a:t>Example: array template class</a:t>
            </a:r>
          </a:p>
          <a:p>
            <a:pPr eaLnBrk="1" hangingPunct="1"/>
            <a:r>
              <a:rPr lang="en-US" sz="2800" smtClean="0"/>
              <a:t>Templates and Inheritance</a:t>
            </a:r>
          </a:p>
          <a:p>
            <a:pPr lvl="1" eaLnBrk="1" hangingPunct="1"/>
            <a:r>
              <a:rPr lang="en-US" sz="2400" smtClean="0"/>
              <a:t>Example: partially-filled array template class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16-</a:t>
            </a:r>
            <a:fld id="{AE8AEA80-51FD-4A7E-8A13-53B5FFC49194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1638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Introduction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C++ templates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mtClean="0"/>
              <a:t>Allow very "general" definitions for functions and classes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mtClean="0"/>
              <a:t>Type names are "parameters" instead of</a:t>
            </a:r>
            <a:br>
              <a:rPr lang="en-US" smtClean="0"/>
            </a:br>
            <a:r>
              <a:rPr lang="en-US" smtClean="0"/>
              <a:t>actual types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mtClean="0"/>
              <a:t>Precise definition determined at run-time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16-</a:t>
            </a:r>
            <a:fld id="{D2B32B50-C644-4FE2-8C0C-6D7E87450408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1843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Function Templates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sz="2800" smtClean="0"/>
              <a:t>Recall function swapValues:</a:t>
            </a:r>
            <a:br>
              <a:rPr lang="en-US" sz="2800" smtClean="0"/>
            </a:br>
            <a:r>
              <a:rPr lang="en-US" sz="2400" smtClean="0"/>
              <a:t>void swapValues(int&amp; var1, int&amp; var2)</a:t>
            </a:r>
            <a:br>
              <a:rPr lang="en-US" sz="2400" smtClean="0"/>
            </a:br>
            <a:r>
              <a:rPr lang="en-US" sz="2400" smtClean="0"/>
              <a:t>{</a:t>
            </a:r>
            <a:br>
              <a:rPr lang="en-US" sz="2400" smtClean="0"/>
            </a:br>
            <a:r>
              <a:rPr lang="en-US" sz="2400" smtClean="0"/>
              <a:t>	int temp;</a:t>
            </a:r>
            <a:br>
              <a:rPr lang="en-US" sz="2400" smtClean="0"/>
            </a:br>
            <a:r>
              <a:rPr lang="en-US" sz="2400" smtClean="0"/>
              <a:t>	temp = var1;</a:t>
            </a:r>
            <a:br>
              <a:rPr lang="en-US" sz="2400" smtClean="0"/>
            </a:br>
            <a:r>
              <a:rPr lang="en-US" sz="2400" smtClean="0"/>
              <a:t>	var1 = var2;</a:t>
            </a:r>
            <a:br>
              <a:rPr lang="en-US" sz="2400" smtClean="0"/>
            </a:br>
            <a:r>
              <a:rPr lang="en-US" sz="2400" smtClean="0"/>
              <a:t>	var2 = temp;</a:t>
            </a:r>
            <a:br>
              <a:rPr lang="en-US" sz="2400" smtClean="0"/>
            </a:br>
            <a:r>
              <a:rPr lang="en-US" sz="2400" smtClean="0"/>
              <a:t>}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sz="2800" smtClean="0"/>
              <a:t>Applies only to variables of type int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sz="2800" smtClean="0"/>
              <a:t>But code would work for any types!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16-</a:t>
            </a:r>
            <a:fld id="{FA805149-2091-4812-B2F8-13B3C10F437C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2048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Function Templates vs. Overloading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Could overload function for chars:</a:t>
            </a:r>
            <a:br>
              <a:rPr lang="en-US" smtClean="0"/>
            </a:br>
            <a:r>
              <a:rPr lang="en-US" sz="2800" smtClean="0"/>
              <a:t>void swapValues(char&amp; var1, char&amp; var2)</a:t>
            </a:r>
            <a:br>
              <a:rPr lang="en-US" sz="2800" smtClean="0"/>
            </a:br>
            <a:r>
              <a:rPr lang="en-US" sz="2800" smtClean="0"/>
              <a:t>{</a:t>
            </a:r>
            <a:br>
              <a:rPr lang="en-US" sz="2800" smtClean="0"/>
            </a:br>
            <a:r>
              <a:rPr lang="en-US" sz="2800" smtClean="0"/>
              <a:t>	char temp;</a:t>
            </a:r>
            <a:br>
              <a:rPr lang="en-US" sz="2800" smtClean="0"/>
            </a:br>
            <a:r>
              <a:rPr lang="en-US" sz="2800" smtClean="0"/>
              <a:t>	temp = var1;</a:t>
            </a:r>
            <a:br>
              <a:rPr lang="en-US" sz="2800" smtClean="0"/>
            </a:br>
            <a:r>
              <a:rPr lang="en-US" sz="2800" smtClean="0"/>
              <a:t>	var1 = var2;</a:t>
            </a:r>
            <a:br>
              <a:rPr lang="en-US" sz="2800" smtClean="0"/>
            </a:br>
            <a:r>
              <a:rPr lang="en-US" sz="2800" smtClean="0"/>
              <a:t>	var2 = temp;</a:t>
            </a:r>
            <a:br>
              <a:rPr lang="en-US" sz="2800" smtClean="0"/>
            </a:br>
            <a:r>
              <a:rPr lang="en-US" sz="2800" smtClean="0"/>
              <a:t>}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But notice: code is nearly identical!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Only difference is type used in 3 places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16-</a:t>
            </a:r>
            <a:fld id="{6BEA0F0E-E92C-4B52-A6E7-5021C225EAED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2253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Function Template Syntax</a:t>
            </a:r>
          </a:p>
        </p:txBody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Allow "swap values" of any type variables:</a:t>
            </a:r>
            <a:br>
              <a:rPr lang="en-US" sz="2800" smtClean="0"/>
            </a:br>
            <a:r>
              <a:rPr lang="en-US" sz="2400" smtClean="0"/>
              <a:t>template&lt;class T&gt;</a:t>
            </a:r>
            <a:br>
              <a:rPr lang="en-US" sz="2400" smtClean="0"/>
            </a:br>
            <a:r>
              <a:rPr lang="en-US" sz="2400" smtClean="0"/>
              <a:t>void swapValues(T&amp; var1, T&amp; var2)</a:t>
            </a:r>
            <a:br>
              <a:rPr lang="en-US" sz="2400" smtClean="0"/>
            </a:br>
            <a:r>
              <a:rPr lang="en-US" sz="2400" smtClean="0"/>
              <a:t>{</a:t>
            </a:r>
            <a:br>
              <a:rPr lang="en-US" sz="2400" smtClean="0"/>
            </a:br>
            <a:r>
              <a:rPr lang="en-US" sz="2400" smtClean="0"/>
              <a:t>	T temp;</a:t>
            </a:r>
            <a:br>
              <a:rPr lang="en-US" sz="2400" smtClean="0"/>
            </a:br>
            <a:r>
              <a:rPr lang="en-US" sz="2400" smtClean="0"/>
              <a:t>	temp = var1;</a:t>
            </a:r>
            <a:br>
              <a:rPr lang="en-US" sz="2400" smtClean="0"/>
            </a:br>
            <a:r>
              <a:rPr lang="en-US" sz="2400" smtClean="0"/>
              <a:t>	var1 = var2;</a:t>
            </a:r>
            <a:br>
              <a:rPr lang="en-US" sz="2400" smtClean="0"/>
            </a:br>
            <a:r>
              <a:rPr lang="en-US" sz="2400" smtClean="0"/>
              <a:t>	var2 = temp;</a:t>
            </a:r>
            <a:br>
              <a:rPr lang="en-US" sz="2400" smtClean="0"/>
            </a:br>
            <a:r>
              <a:rPr lang="en-US" sz="2400" smtClean="0"/>
              <a:t>}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First line called "template prefix"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Tells compiler what’s coming is "template"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And that T is a type parameter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16-</a:t>
            </a:r>
            <a:fld id="{809C412C-C112-453E-B02E-CF777F51CED7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2458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Template Prefix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Recall:</a:t>
            </a:r>
            <a:br>
              <a:rPr lang="en-US" sz="2800" smtClean="0"/>
            </a:br>
            <a:r>
              <a:rPr lang="en-US" sz="2800" smtClean="0"/>
              <a:t>template&lt;class T&gt;</a:t>
            </a:r>
          </a:p>
          <a:p>
            <a:pPr eaLnBrk="1" hangingPunct="1"/>
            <a:r>
              <a:rPr lang="en-US" sz="2800" smtClean="0"/>
              <a:t>In this usage, "class" means "type", or</a:t>
            </a:r>
            <a:br>
              <a:rPr lang="en-US" sz="2800" smtClean="0"/>
            </a:br>
            <a:r>
              <a:rPr lang="en-US" sz="2800" smtClean="0"/>
              <a:t>"classification"</a:t>
            </a:r>
          </a:p>
          <a:p>
            <a:pPr eaLnBrk="1" hangingPunct="1"/>
            <a:r>
              <a:rPr lang="en-US" sz="2800" smtClean="0"/>
              <a:t>Can be confused with other "known" use</a:t>
            </a:r>
            <a:br>
              <a:rPr lang="en-US" sz="2800" smtClean="0"/>
            </a:br>
            <a:r>
              <a:rPr lang="en-US" sz="2800" smtClean="0"/>
              <a:t>of word "class"!</a:t>
            </a:r>
          </a:p>
          <a:p>
            <a:pPr lvl="1" eaLnBrk="1" hangingPunct="1"/>
            <a:r>
              <a:rPr lang="en-US" sz="2400" smtClean="0"/>
              <a:t>C++ allows keyword "typename" in place of</a:t>
            </a:r>
            <a:br>
              <a:rPr lang="en-US" sz="2400" smtClean="0"/>
            </a:br>
            <a:r>
              <a:rPr lang="en-US" sz="2400" smtClean="0"/>
              <a:t>keyword "class" here</a:t>
            </a:r>
          </a:p>
          <a:p>
            <a:pPr lvl="1" eaLnBrk="1" hangingPunct="1"/>
            <a:r>
              <a:rPr lang="en-US" sz="2400" smtClean="0"/>
              <a:t>But most use "class" anyway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16-</a:t>
            </a:r>
            <a:fld id="{1D2E6061-89BC-4C18-8592-DA415F83444B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2662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Template Prefix 2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Again:</a:t>
            </a:r>
            <a:br>
              <a:rPr lang="en-US" sz="2800" smtClean="0"/>
            </a:br>
            <a:r>
              <a:rPr lang="en-US" sz="2800" smtClean="0"/>
              <a:t>template&lt;class T&gt;</a:t>
            </a:r>
          </a:p>
          <a:p>
            <a:pPr eaLnBrk="1" hangingPunct="1"/>
            <a:r>
              <a:rPr lang="en-US" sz="2800" smtClean="0"/>
              <a:t>T can be replaced by any type</a:t>
            </a:r>
          </a:p>
          <a:p>
            <a:pPr lvl="1" eaLnBrk="1" hangingPunct="1"/>
            <a:r>
              <a:rPr lang="en-US" sz="2400" smtClean="0"/>
              <a:t>Predefined or user-defined (like a C++ class type)</a:t>
            </a:r>
          </a:p>
          <a:p>
            <a:pPr eaLnBrk="1" hangingPunct="1"/>
            <a:r>
              <a:rPr lang="en-US" sz="2800" smtClean="0"/>
              <a:t>In function definition body:</a:t>
            </a:r>
          </a:p>
          <a:p>
            <a:pPr lvl="1" eaLnBrk="1" hangingPunct="1"/>
            <a:r>
              <a:rPr lang="en-US" sz="2400" smtClean="0"/>
              <a:t>T used like any other type</a:t>
            </a:r>
          </a:p>
          <a:p>
            <a:pPr eaLnBrk="1" hangingPunct="1"/>
            <a:r>
              <a:rPr lang="en-US" sz="2800" smtClean="0"/>
              <a:t>Note: can use other than "T", but T is</a:t>
            </a:r>
            <a:br>
              <a:rPr lang="en-US" sz="2800" smtClean="0"/>
            </a:br>
            <a:r>
              <a:rPr lang="en-US" sz="2800" smtClean="0"/>
              <a:t>"traditional" usage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16-</a:t>
            </a:r>
            <a:fld id="{7FDF1E28-93B2-4FCD-9528-930ED65E8169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2867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Function Template Definition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swapValues() function template is actually</a:t>
            </a:r>
            <a:br>
              <a:rPr lang="en-US" sz="2800" smtClean="0"/>
            </a:br>
            <a:r>
              <a:rPr lang="en-US" sz="2800" smtClean="0"/>
              <a:t>large "collection" of definitions!</a:t>
            </a:r>
          </a:p>
          <a:p>
            <a:pPr lvl="1" eaLnBrk="1" hangingPunct="1"/>
            <a:r>
              <a:rPr lang="en-US" sz="2400" smtClean="0"/>
              <a:t>A definition for each possible type!</a:t>
            </a:r>
          </a:p>
          <a:p>
            <a:pPr eaLnBrk="1" hangingPunct="1"/>
            <a:r>
              <a:rPr lang="en-US" sz="2800" smtClean="0"/>
              <a:t>Compiler only generates definitions when</a:t>
            </a:r>
            <a:br>
              <a:rPr lang="en-US" sz="2800" smtClean="0"/>
            </a:br>
            <a:r>
              <a:rPr lang="en-US" sz="2800" smtClean="0"/>
              <a:t>required</a:t>
            </a:r>
          </a:p>
          <a:p>
            <a:pPr lvl="1" eaLnBrk="1" hangingPunct="1"/>
            <a:r>
              <a:rPr lang="en-US" sz="2400" smtClean="0"/>
              <a:t>But it’s "as if" you’d defined for all types</a:t>
            </a:r>
          </a:p>
          <a:p>
            <a:pPr eaLnBrk="1" hangingPunct="1"/>
            <a:r>
              <a:rPr lang="en-US" sz="2800" smtClean="0"/>
              <a:t>Write one definition </a:t>
            </a:r>
            <a:r>
              <a:rPr lang="en-US" sz="2800" smtClean="0">
                <a:sym typeface="Wingdings" pitchFamily="2" charset="2"/>
              </a:rPr>
              <a:t></a:t>
            </a:r>
            <a:r>
              <a:rPr lang="en-US" sz="2800" smtClean="0"/>
              <a:t> works for all types</a:t>
            </a:r>
            <a:br>
              <a:rPr lang="en-US" sz="2800" smtClean="0"/>
            </a:br>
            <a:r>
              <a:rPr lang="en-US" sz="2800" smtClean="0"/>
              <a:t>that might be needed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16-</a:t>
            </a:r>
            <a:fld id="{6A5D067B-6ECF-4F67-BE6A-AE9B3295B3CD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3072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Calling a Function Template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Consider following call:</a:t>
            </a:r>
            <a:br>
              <a:rPr lang="en-US" smtClean="0"/>
            </a:br>
            <a:r>
              <a:rPr lang="en-US" smtClean="0"/>
              <a:t>swapValues(int1, int2);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C++ compiler "generates" function definition for two int parameters </a:t>
            </a:r>
            <a:br>
              <a:rPr lang="en-US" smtClean="0"/>
            </a:br>
            <a:r>
              <a:rPr lang="en-US" smtClean="0"/>
              <a:t>using template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Likewise for all other types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Needn’t do anything "special" in call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Required definition automatically generated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16-</a:t>
            </a:r>
            <a:fld id="{4040DFC6-2643-4C96-9970-0164BC8327D0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3277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Another Function Template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Declaration/prototype:</a:t>
            </a:r>
            <a:br>
              <a:rPr lang="en-US" sz="2800" smtClean="0"/>
            </a:br>
            <a:r>
              <a:rPr lang="en-US" sz="2400" smtClean="0"/>
              <a:t>Template&lt;class T&gt;</a:t>
            </a:r>
            <a:br>
              <a:rPr lang="en-US" sz="2400" smtClean="0"/>
            </a:br>
            <a:r>
              <a:rPr lang="en-US" sz="2400" smtClean="0"/>
              <a:t>void showStuff(int stuff1, T stuff2, T stuff3);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Definition:</a:t>
            </a:r>
            <a:br>
              <a:rPr lang="en-US" sz="2800" smtClean="0"/>
            </a:br>
            <a:r>
              <a:rPr lang="en-US" sz="2400" smtClean="0"/>
              <a:t>template&lt;class T&gt;</a:t>
            </a:r>
            <a:br>
              <a:rPr lang="en-US" sz="2400" smtClean="0"/>
            </a:br>
            <a:r>
              <a:rPr lang="en-US" sz="2400" smtClean="0"/>
              <a:t>void showStuff(int stuff1, T stuff2, T stuff3)</a:t>
            </a:r>
            <a:br>
              <a:rPr lang="en-US" sz="2400" smtClean="0"/>
            </a:br>
            <a:r>
              <a:rPr lang="en-US" sz="2400" smtClean="0"/>
              <a:t>{</a:t>
            </a:r>
            <a:br>
              <a:rPr lang="en-US" sz="2400" smtClean="0"/>
            </a:br>
            <a:r>
              <a:rPr lang="en-US" sz="2400" smtClean="0"/>
              <a:t>	cout &lt;&lt; stuff1 &lt;&lt; endl</a:t>
            </a:r>
            <a:br>
              <a:rPr lang="en-US" sz="2400" smtClean="0"/>
            </a:br>
            <a:r>
              <a:rPr lang="en-US" sz="2400" smtClean="0"/>
              <a:t>		&lt;&lt; stuff2 &lt;&lt; endl</a:t>
            </a:r>
            <a:br>
              <a:rPr lang="en-US" sz="2400" smtClean="0"/>
            </a:br>
            <a:r>
              <a:rPr lang="en-US" sz="2400" smtClean="0"/>
              <a:t>		&lt;&lt; stuff3 &lt;&lt; endl;</a:t>
            </a:r>
            <a:br>
              <a:rPr lang="en-US" sz="2400" smtClean="0"/>
            </a:br>
            <a:r>
              <a:rPr lang="en-US" sz="2400" smtClean="0"/>
              <a:t>}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16-</a:t>
            </a:r>
            <a:fld id="{67582F4E-DCE7-45C8-8E57-15AC99FA32BF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3482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showStuff Call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Consider function call:</a:t>
            </a:r>
            <a:br>
              <a:rPr lang="en-US" sz="2800" smtClean="0"/>
            </a:br>
            <a:r>
              <a:rPr lang="en-US" sz="2800" smtClean="0"/>
              <a:t>showStuff(2, 3.3, 4.4);</a:t>
            </a:r>
          </a:p>
          <a:p>
            <a:pPr eaLnBrk="1" hangingPunct="1"/>
            <a:r>
              <a:rPr lang="en-US" sz="2800" smtClean="0"/>
              <a:t>Compiler generates function definition</a:t>
            </a:r>
          </a:p>
          <a:p>
            <a:pPr lvl="1" eaLnBrk="1" hangingPunct="1"/>
            <a:r>
              <a:rPr lang="en-US" sz="2400" smtClean="0"/>
              <a:t>Replaces T with double</a:t>
            </a:r>
          </a:p>
          <a:p>
            <a:pPr lvl="2" eaLnBrk="1" hangingPunct="1"/>
            <a:r>
              <a:rPr lang="en-US" sz="2000" smtClean="0"/>
              <a:t>Since second parameter is type double</a:t>
            </a:r>
          </a:p>
          <a:p>
            <a:pPr eaLnBrk="1" hangingPunct="1"/>
            <a:r>
              <a:rPr lang="en-US" sz="2800" smtClean="0"/>
              <a:t>Displays:</a:t>
            </a:r>
            <a:br>
              <a:rPr lang="en-US" sz="2800" smtClean="0"/>
            </a:br>
            <a:r>
              <a:rPr lang="en-US" sz="2800" smtClean="0"/>
              <a:t>2</a:t>
            </a:r>
            <a:br>
              <a:rPr lang="en-US" sz="2800" smtClean="0"/>
            </a:br>
            <a:r>
              <a:rPr lang="en-US" sz="2800" smtClean="0"/>
              <a:t>3.3</a:t>
            </a:r>
            <a:br>
              <a:rPr lang="en-US" sz="2800" smtClean="0"/>
            </a:br>
            <a:r>
              <a:rPr lang="en-US" sz="2800" smtClean="0"/>
              <a:t>4.4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16-</a:t>
            </a:r>
            <a:fld id="{9BDF05FB-8A71-45EE-816C-6057B5F61B0D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3686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Compiler Complications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Function declarations and definitions</a:t>
            </a:r>
          </a:p>
          <a:p>
            <a:pPr lvl="1" eaLnBrk="1" hangingPunct="1"/>
            <a:r>
              <a:rPr lang="en-US" smtClean="0"/>
              <a:t>Typically we have them separate</a:t>
            </a:r>
          </a:p>
          <a:p>
            <a:pPr lvl="1" eaLnBrk="1" hangingPunct="1"/>
            <a:r>
              <a:rPr lang="en-US" smtClean="0"/>
              <a:t>For templates 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not supported on </a:t>
            </a:r>
            <a:br>
              <a:rPr lang="en-US" smtClean="0"/>
            </a:br>
            <a:r>
              <a:rPr lang="en-US" smtClean="0"/>
              <a:t>most compilers!</a:t>
            </a:r>
          </a:p>
          <a:p>
            <a:pPr eaLnBrk="1" hangingPunct="1"/>
            <a:r>
              <a:rPr lang="en-US" smtClean="0"/>
              <a:t>Safest to place template function</a:t>
            </a:r>
            <a:br>
              <a:rPr lang="en-US" smtClean="0"/>
            </a:br>
            <a:r>
              <a:rPr lang="en-US" smtClean="0"/>
              <a:t>definition in file where invoked</a:t>
            </a:r>
          </a:p>
          <a:p>
            <a:pPr lvl="1" eaLnBrk="1" hangingPunct="1"/>
            <a:r>
              <a:rPr lang="en-US" smtClean="0"/>
              <a:t>Many compilers require it appear 1</a:t>
            </a:r>
            <a:r>
              <a:rPr lang="en-US" baseline="30000" smtClean="0"/>
              <a:t>st</a:t>
            </a:r>
            <a:r>
              <a:rPr lang="en-US" smtClean="0"/>
              <a:t> </a:t>
            </a:r>
          </a:p>
          <a:p>
            <a:pPr lvl="1" eaLnBrk="1" hangingPunct="1"/>
            <a:r>
              <a:rPr lang="en-US" smtClean="0"/>
              <a:t>Often we #include all template definitions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16-</a:t>
            </a:r>
            <a:fld id="{1D05648E-9736-4A9A-9C66-DB34AF3FC312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3891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More Compiler Complications</a:t>
            </a:r>
          </a:p>
        </p:txBody>
      </p:sp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Check your compiler’s specific requirements</a:t>
            </a:r>
          </a:p>
          <a:p>
            <a:pPr lvl="1" eaLnBrk="1" hangingPunct="1"/>
            <a:r>
              <a:rPr lang="en-US" sz="2400" smtClean="0"/>
              <a:t>Some need to set special options</a:t>
            </a:r>
          </a:p>
          <a:p>
            <a:pPr lvl="1" eaLnBrk="1" hangingPunct="1"/>
            <a:r>
              <a:rPr lang="en-US" sz="2400" smtClean="0"/>
              <a:t>Some require special order of arrangement</a:t>
            </a:r>
            <a:br>
              <a:rPr lang="en-US" sz="2400" smtClean="0"/>
            </a:br>
            <a:r>
              <a:rPr lang="en-US" sz="2400" smtClean="0"/>
              <a:t>of template definitions vs. other file items</a:t>
            </a:r>
          </a:p>
          <a:p>
            <a:pPr eaLnBrk="1" hangingPunct="1"/>
            <a:r>
              <a:rPr lang="en-US" sz="2800" smtClean="0"/>
              <a:t>Most usable template program layout:</a:t>
            </a:r>
          </a:p>
          <a:p>
            <a:pPr lvl="1" eaLnBrk="1" hangingPunct="1"/>
            <a:r>
              <a:rPr lang="en-US" sz="2400" smtClean="0"/>
              <a:t>Template definition in same file it’s used</a:t>
            </a:r>
          </a:p>
          <a:p>
            <a:pPr lvl="1" eaLnBrk="1" hangingPunct="1"/>
            <a:r>
              <a:rPr lang="en-US" sz="2400" smtClean="0"/>
              <a:t>Ensure template definition precedes all uses</a:t>
            </a:r>
          </a:p>
          <a:p>
            <a:pPr lvl="2" eaLnBrk="1" hangingPunct="1"/>
            <a:r>
              <a:rPr lang="en-US" sz="2000" smtClean="0"/>
              <a:t>Can #include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16-</a:t>
            </a:r>
            <a:fld id="{76ED1817-1271-4CBA-8609-804BA1F29CF1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4096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Multiple Type Parameters</a:t>
            </a:r>
          </a:p>
        </p:txBody>
      </p:sp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Can have:</a:t>
            </a:r>
            <a:br>
              <a:rPr lang="en-US" smtClean="0"/>
            </a:br>
            <a:r>
              <a:rPr lang="en-US" smtClean="0"/>
              <a:t>template&lt;class T1, class T2&gt;</a:t>
            </a:r>
          </a:p>
          <a:p>
            <a:pPr eaLnBrk="1" hangingPunct="1"/>
            <a:r>
              <a:rPr lang="en-US" smtClean="0"/>
              <a:t>Not typical</a:t>
            </a:r>
          </a:p>
          <a:p>
            <a:pPr lvl="1" eaLnBrk="1" hangingPunct="1"/>
            <a:r>
              <a:rPr lang="en-US" smtClean="0"/>
              <a:t>Usually only need one "replaceable" type</a:t>
            </a:r>
          </a:p>
          <a:p>
            <a:pPr lvl="1" eaLnBrk="1" hangingPunct="1"/>
            <a:r>
              <a:rPr lang="en-US" smtClean="0"/>
              <a:t>Cannot have "unused" </a:t>
            </a:r>
            <a:br>
              <a:rPr lang="en-US" smtClean="0"/>
            </a:br>
            <a:r>
              <a:rPr lang="en-US" smtClean="0"/>
              <a:t>template parameters</a:t>
            </a:r>
          </a:p>
          <a:p>
            <a:pPr lvl="2" eaLnBrk="1" hangingPunct="1"/>
            <a:r>
              <a:rPr lang="en-US" smtClean="0"/>
              <a:t>Each must be "used" in definition</a:t>
            </a:r>
          </a:p>
          <a:p>
            <a:pPr lvl="2" eaLnBrk="1" hangingPunct="1"/>
            <a:r>
              <a:rPr lang="en-US" smtClean="0"/>
              <a:t>Error otherwise!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16-</a:t>
            </a:r>
            <a:fld id="{A76EA1D0-8BB0-44B9-818B-A1F275A21CAE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4301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Algorithm Abstraction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Refers to implementing templates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Express algorithms in "general" way: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Algorithm applies to variables of any type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Ignore incidental detail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Concentrate on substantive parts </a:t>
            </a:r>
            <a:br>
              <a:rPr lang="en-US" smtClean="0"/>
            </a:br>
            <a:r>
              <a:rPr lang="en-US" smtClean="0"/>
              <a:t>of algorithm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Function templates are one way C++</a:t>
            </a:r>
            <a:br>
              <a:rPr lang="en-US" smtClean="0"/>
            </a:br>
            <a:r>
              <a:rPr lang="en-US" smtClean="0"/>
              <a:t>supports algorithm abstraction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16-</a:t>
            </a:r>
            <a:fld id="{2A85908A-362D-4ABA-8D8E-D20E7923DDE6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4506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Defining Templates Strategies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Develop function normally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Using actual data types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Completely debug "ordinary" function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Then convert to template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Replace type names with type parameter </a:t>
            </a:r>
            <a:br>
              <a:rPr lang="en-US" sz="2400" smtClean="0"/>
            </a:br>
            <a:r>
              <a:rPr lang="en-US" sz="2400" smtClean="0"/>
              <a:t>as needed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Advantages: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Easier to solve "concrete" case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Deal with algorithm, not template syntax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16-</a:t>
            </a:r>
            <a:fld id="{8481A5D6-0FC3-4326-9FDF-B34E38D8F250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4710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Inappropriate Types in Templates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Can use any type in template for which</a:t>
            </a:r>
            <a:br>
              <a:rPr lang="en-US" sz="2800" smtClean="0"/>
            </a:br>
            <a:r>
              <a:rPr lang="en-US" sz="2800" smtClean="0"/>
              <a:t>code makes "sense"</a:t>
            </a:r>
          </a:p>
          <a:p>
            <a:pPr lvl="1" eaLnBrk="1" hangingPunct="1"/>
            <a:r>
              <a:rPr lang="en-US" sz="2400" smtClean="0"/>
              <a:t>Code must behave in appropriate way</a:t>
            </a:r>
          </a:p>
          <a:p>
            <a:pPr eaLnBrk="1" hangingPunct="1"/>
            <a:r>
              <a:rPr lang="en-US" sz="2800" smtClean="0"/>
              <a:t>e.g., swapValues() template function</a:t>
            </a:r>
          </a:p>
          <a:p>
            <a:pPr lvl="1" eaLnBrk="1" hangingPunct="1"/>
            <a:r>
              <a:rPr lang="en-US" sz="2400" smtClean="0"/>
              <a:t>Cannot use type for which assignment operator isn’t defined</a:t>
            </a:r>
          </a:p>
          <a:p>
            <a:pPr lvl="1" eaLnBrk="1" hangingPunct="1"/>
            <a:r>
              <a:rPr lang="en-US" sz="2400" smtClean="0"/>
              <a:t>Example: an array:</a:t>
            </a:r>
            <a:br>
              <a:rPr lang="en-US" sz="2400" smtClean="0"/>
            </a:br>
            <a:r>
              <a:rPr lang="en-US" sz="2400" smtClean="0"/>
              <a:t>int a[10], b[10];</a:t>
            </a:r>
            <a:br>
              <a:rPr lang="en-US" sz="2400" smtClean="0"/>
            </a:br>
            <a:r>
              <a:rPr lang="en-US" sz="2400" smtClean="0"/>
              <a:t>swapValues(a, b);</a:t>
            </a:r>
          </a:p>
          <a:p>
            <a:pPr lvl="2" eaLnBrk="1" hangingPunct="1"/>
            <a:r>
              <a:rPr lang="en-US" sz="2000" smtClean="0"/>
              <a:t>Arrays cannot be "assigned"!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16-</a:t>
            </a:r>
            <a:fld id="{FE42DC36-F159-4D0E-9EBF-35282A95FD70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4915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Class Templates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Can also "generalize" classes</a:t>
            </a:r>
            <a:br>
              <a:rPr lang="en-US" smtClean="0"/>
            </a:br>
            <a:r>
              <a:rPr lang="en-US" smtClean="0"/>
              <a:t>template&lt;class T&gt;</a:t>
            </a:r>
          </a:p>
          <a:p>
            <a:pPr lvl="1" eaLnBrk="1" hangingPunct="1"/>
            <a:r>
              <a:rPr lang="en-US" smtClean="0"/>
              <a:t>Can also apply to class definition</a:t>
            </a:r>
          </a:p>
          <a:p>
            <a:pPr lvl="1" eaLnBrk="1" hangingPunct="1"/>
            <a:r>
              <a:rPr lang="en-US" smtClean="0"/>
              <a:t>All instances of "T" in class definition replaced by type parameter</a:t>
            </a:r>
          </a:p>
          <a:p>
            <a:pPr lvl="1" eaLnBrk="1" hangingPunct="1"/>
            <a:r>
              <a:rPr lang="en-US" smtClean="0"/>
              <a:t>Just like for function templates!</a:t>
            </a:r>
          </a:p>
          <a:p>
            <a:pPr eaLnBrk="1" hangingPunct="1"/>
            <a:r>
              <a:rPr lang="en-US" smtClean="0"/>
              <a:t>Once template defined, can declare</a:t>
            </a:r>
            <a:br>
              <a:rPr lang="en-US" smtClean="0"/>
            </a:br>
            <a:r>
              <a:rPr lang="en-US" smtClean="0"/>
              <a:t>objects of the class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16-</a:t>
            </a:r>
            <a:fld id="{7E5E48DB-242A-4A3C-AED9-25B2C9D413C6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5120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Class Template Definition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5000"/>
              </a:lnSpc>
            </a:pPr>
            <a:r>
              <a:rPr lang="en-US" sz="2400" smtClean="0"/>
              <a:t>template&lt;class T&gt;</a:t>
            </a:r>
            <a:br>
              <a:rPr lang="en-US" sz="2400" smtClean="0"/>
            </a:br>
            <a:r>
              <a:rPr lang="en-US" sz="2400" smtClean="0"/>
              <a:t>class Pair</a:t>
            </a:r>
            <a:br>
              <a:rPr lang="en-US" sz="2400" smtClean="0"/>
            </a:br>
            <a:r>
              <a:rPr lang="en-US" sz="2400" smtClean="0"/>
              <a:t>{</a:t>
            </a:r>
            <a:br>
              <a:rPr lang="en-US" sz="2400" smtClean="0"/>
            </a:br>
            <a:r>
              <a:rPr lang="en-US" sz="2400" smtClean="0"/>
              <a:t>public:</a:t>
            </a:r>
            <a:br>
              <a:rPr lang="en-US" sz="2400" smtClean="0"/>
            </a:br>
            <a:r>
              <a:rPr lang="en-US" sz="2400" smtClean="0"/>
              <a:t>	Pair();</a:t>
            </a:r>
            <a:br>
              <a:rPr lang="en-US" sz="2400" smtClean="0"/>
            </a:br>
            <a:r>
              <a:rPr lang="en-US" sz="2400" smtClean="0"/>
              <a:t>	Pair(T firstVal, T secondVal);</a:t>
            </a:r>
            <a:br>
              <a:rPr lang="en-US" sz="2400" smtClean="0"/>
            </a:br>
            <a:r>
              <a:rPr lang="en-US" sz="2400" smtClean="0"/>
              <a:t>	void setFirst(T newVal);</a:t>
            </a:r>
            <a:br>
              <a:rPr lang="en-US" sz="2400" smtClean="0"/>
            </a:br>
            <a:r>
              <a:rPr lang="en-US" sz="2400" smtClean="0"/>
              <a:t>	void setSecond(T newVal);</a:t>
            </a:r>
            <a:br>
              <a:rPr lang="en-US" sz="2400" smtClean="0"/>
            </a:br>
            <a:r>
              <a:rPr lang="en-US" sz="2400" smtClean="0"/>
              <a:t>	T getFirst() const;</a:t>
            </a:r>
            <a:br>
              <a:rPr lang="en-US" sz="2400" smtClean="0"/>
            </a:br>
            <a:r>
              <a:rPr lang="en-US" sz="2400" smtClean="0"/>
              <a:t>	T getSecond() const;</a:t>
            </a:r>
            <a:br>
              <a:rPr lang="en-US" sz="2400" smtClean="0"/>
            </a:br>
            <a:r>
              <a:rPr lang="en-US" sz="2400" smtClean="0"/>
              <a:t>private:</a:t>
            </a:r>
            <a:br>
              <a:rPr lang="en-US" sz="2400" smtClean="0"/>
            </a:br>
            <a:r>
              <a:rPr lang="en-US" sz="2400" smtClean="0"/>
              <a:t>	T first; T second;</a:t>
            </a:r>
            <a:br>
              <a:rPr lang="en-US" sz="2400" smtClean="0"/>
            </a:br>
            <a:r>
              <a:rPr lang="en-US" sz="2400" smtClean="0"/>
              <a:t>};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16-</a:t>
            </a:r>
            <a:fld id="{0095E56D-2B1E-46A0-8BEA-6171D439FD63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5325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Template Class Pair Members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5000"/>
              </a:lnSpc>
            </a:pPr>
            <a:r>
              <a:rPr lang="en-US" sz="2800" smtClean="0"/>
              <a:t>template&lt;class T&gt;</a:t>
            </a:r>
            <a:br>
              <a:rPr lang="en-US" sz="2800" smtClean="0"/>
            </a:br>
            <a:r>
              <a:rPr lang="en-US" sz="2800" smtClean="0"/>
              <a:t>Pair&lt;T&gt;::Pair(T firstVal, T secondVal)</a:t>
            </a:r>
            <a:br>
              <a:rPr lang="en-US" sz="2800" smtClean="0"/>
            </a:br>
            <a:r>
              <a:rPr lang="en-US" sz="2800" smtClean="0"/>
              <a:t>{</a:t>
            </a:r>
            <a:br>
              <a:rPr lang="en-US" sz="2800" smtClean="0"/>
            </a:br>
            <a:r>
              <a:rPr lang="en-US" sz="2800" smtClean="0"/>
              <a:t>	first = firstVal;</a:t>
            </a:r>
            <a:br>
              <a:rPr lang="en-US" sz="2800" smtClean="0"/>
            </a:br>
            <a:r>
              <a:rPr lang="en-US" sz="2800" smtClean="0"/>
              <a:t>	second = secondVal;</a:t>
            </a:r>
            <a:br>
              <a:rPr lang="en-US" sz="2800" smtClean="0"/>
            </a:br>
            <a:r>
              <a:rPr lang="en-US" sz="2800" smtClean="0"/>
              <a:t>}</a:t>
            </a:r>
            <a:br>
              <a:rPr lang="en-US" sz="2800" smtClean="0"/>
            </a:br>
            <a:r>
              <a:rPr lang="en-US" sz="2800" smtClean="0"/>
              <a:t>template&lt;class T&gt;</a:t>
            </a:r>
            <a:br>
              <a:rPr lang="en-US" sz="2800" smtClean="0"/>
            </a:br>
            <a:r>
              <a:rPr lang="en-US" sz="2800" smtClean="0"/>
              <a:t>void Pair&lt;T&gt;::setFirst(T newVal)</a:t>
            </a:r>
            <a:br>
              <a:rPr lang="en-US" sz="2800" smtClean="0"/>
            </a:br>
            <a:r>
              <a:rPr lang="en-US" sz="2800" smtClean="0"/>
              <a:t>{</a:t>
            </a:r>
            <a:br>
              <a:rPr lang="en-US" sz="2800" smtClean="0"/>
            </a:br>
            <a:r>
              <a:rPr lang="en-US" sz="2800" smtClean="0"/>
              <a:t>	first = newVal;</a:t>
            </a:r>
            <a:br>
              <a:rPr lang="en-US" sz="2800" smtClean="0"/>
            </a:br>
            <a:r>
              <a:rPr lang="en-US" sz="2800" smtClean="0"/>
              <a:t>}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16-</a:t>
            </a:r>
            <a:fld id="{DC14FD20-97AA-4465-9063-C2B52ACE5F36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5530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Template Class Pair</a:t>
            </a:r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Objects of class have "pair" of values of </a:t>
            </a:r>
            <a:br>
              <a:rPr lang="en-US" sz="2800" smtClean="0"/>
            </a:br>
            <a:r>
              <a:rPr lang="en-US" sz="2800" smtClean="0"/>
              <a:t>type T</a:t>
            </a:r>
          </a:p>
          <a:p>
            <a:pPr eaLnBrk="1" hangingPunct="1"/>
            <a:r>
              <a:rPr lang="en-US" sz="2800" smtClean="0"/>
              <a:t>Can then declare objects:</a:t>
            </a:r>
            <a:br>
              <a:rPr lang="en-US" sz="2800" smtClean="0"/>
            </a:br>
            <a:r>
              <a:rPr lang="en-US" sz="2800" smtClean="0"/>
              <a:t>Pair&lt;int&gt; score;</a:t>
            </a:r>
            <a:br>
              <a:rPr lang="en-US" sz="2800" smtClean="0"/>
            </a:br>
            <a:r>
              <a:rPr lang="en-US" sz="2800" smtClean="0"/>
              <a:t>Pair&lt;char&gt; seats;</a:t>
            </a:r>
          </a:p>
          <a:p>
            <a:pPr lvl="1" eaLnBrk="1" hangingPunct="1"/>
            <a:r>
              <a:rPr lang="en-US" sz="2400" smtClean="0"/>
              <a:t>Objects then used like any other objects</a:t>
            </a:r>
          </a:p>
          <a:p>
            <a:pPr eaLnBrk="1" hangingPunct="1"/>
            <a:r>
              <a:rPr lang="en-US" sz="2800" smtClean="0"/>
              <a:t>Example uses:</a:t>
            </a:r>
            <a:br>
              <a:rPr lang="en-US" sz="2800" smtClean="0"/>
            </a:br>
            <a:r>
              <a:rPr lang="en-US" sz="2800" smtClean="0"/>
              <a:t>score.setFirst(3);</a:t>
            </a:r>
            <a:br>
              <a:rPr lang="en-US" sz="2800" smtClean="0"/>
            </a:br>
            <a:r>
              <a:rPr lang="en-US" sz="2800" smtClean="0"/>
              <a:t>score.setSecond(0);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16-</a:t>
            </a:r>
            <a:fld id="{7DDF4866-FA2E-4B73-9302-4C4DDBE02D05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5734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Pair Member Function Definitions</a:t>
            </a:r>
          </a:p>
        </p:txBody>
      </p:sp>
      <p:sp>
        <p:nvSpPr>
          <p:cNvPr id="593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Notice in member function definitions:</a:t>
            </a:r>
          </a:p>
          <a:p>
            <a:pPr lvl="1" eaLnBrk="1" hangingPunct="1"/>
            <a:r>
              <a:rPr lang="en-US" smtClean="0"/>
              <a:t>Each definition is itself a "template"</a:t>
            </a:r>
          </a:p>
          <a:p>
            <a:pPr lvl="1" eaLnBrk="1" hangingPunct="1"/>
            <a:r>
              <a:rPr lang="en-US" smtClean="0"/>
              <a:t>Requires template prefix before </a:t>
            </a:r>
            <a:br>
              <a:rPr lang="en-US" smtClean="0"/>
            </a:br>
            <a:r>
              <a:rPr lang="en-US" smtClean="0"/>
              <a:t>each definition</a:t>
            </a:r>
          </a:p>
          <a:p>
            <a:pPr lvl="1" eaLnBrk="1" hangingPunct="1"/>
            <a:r>
              <a:rPr lang="en-US" smtClean="0"/>
              <a:t>Class name before :: is "Pair&lt;T&gt;"</a:t>
            </a:r>
          </a:p>
          <a:p>
            <a:pPr lvl="2" eaLnBrk="1" hangingPunct="1"/>
            <a:r>
              <a:rPr lang="en-US" smtClean="0"/>
              <a:t>Not just "Pair"</a:t>
            </a:r>
          </a:p>
          <a:p>
            <a:pPr lvl="1" eaLnBrk="1" hangingPunct="1"/>
            <a:r>
              <a:rPr lang="en-US" smtClean="0"/>
              <a:t>But constructor name is just "Pair"</a:t>
            </a:r>
          </a:p>
          <a:p>
            <a:pPr lvl="1" eaLnBrk="1" hangingPunct="1"/>
            <a:r>
              <a:rPr lang="en-US" smtClean="0"/>
              <a:t>Destructor name is also just "~Pair"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16-</a:t>
            </a:r>
            <a:fld id="{F03DFDA7-D0E8-4D9E-AAE0-0B6E1CEE51A8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5939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Class Templates as Parameters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Consider:</a:t>
            </a:r>
            <a:br>
              <a:rPr lang="en-US" smtClean="0"/>
            </a:br>
            <a:r>
              <a:rPr lang="en-US" smtClean="0"/>
              <a:t>int addUP(const Pair&lt;int&gt;&amp; the Pair);</a:t>
            </a:r>
          </a:p>
          <a:p>
            <a:pPr lvl="1" eaLnBrk="1" hangingPunct="1"/>
            <a:r>
              <a:rPr lang="en-US" smtClean="0"/>
              <a:t>The type (int) is supplied to be used for T</a:t>
            </a:r>
            <a:br>
              <a:rPr lang="en-US" smtClean="0"/>
            </a:br>
            <a:r>
              <a:rPr lang="en-US" smtClean="0"/>
              <a:t>in defining this class type parameter</a:t>
            </a:r>
          </a:p>
          <a:p>
            <a:pPr lvl="1" eaLnBrk="1" hangingPunct="1"/>
            <a:r>
              <a:rPr lang="en-US" smtClean="0"/>
              <a:t>It "happens" to be call-by-reference here</a:t>
            </a:r>
          </a:p>
          <a:p>
            <a:pPr eaLnBrk="1" hangingPunct="1"/>
            <a:r>
              <a:rPr lang="en-US" smtClean="0"/>
              <a:t>Again: template types can be used</a:t>
            </a:r>
            <a:br>
              <a:rPr lang="en-US" smtClean="0"/>
            </a:br>
            <a:r>
              <a:rPr lang="en-US" smtClean="0"/>
              <a:t>anywhere standard types can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16-</a:t>
            </a:r>
            <a:fld id="{07787E42-65EE-4399-A732-A00BD816E5F4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6144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Class Templates </a:t>
            </a:r>
            <a:br>
              <a:rPr lang="en-US" sz="3600" smtClean="0"/>
            </a:br>
            <a:r>
              <a:rPr lang="en-US" sz="3600" smtClean="0"/>
              <a:t>Within Function Templates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Rather than defining new overload:</a:t>
            </a:r>
            <a:br>
              <a:rPr lang="en-US" smtClean="0"/>
            </a:br>
            <a:r>
              <a:rPr lang="en-US" sz="2800" smtClean="0"/>
              <a:t>template&lt;class T&gt;</a:t>
            </a:r>
            <a:br>
              <a:rPr lang="en-US" sz="2800" smtClean="0"/>
            </a:br>
            <a:r>
              <a:rPr lang="en-US" sz="2800" smtClean="0"/>
              <a:t>T addUp(const Pair&lt;T&gt;&amp; the Pair);</a:t>
            </a:r>
            <a:br>
              <a:rPr lang="en-US" sz="2800" smtClean="0"/>
            </a:br>
            <a:r>
              <a:rPr lang="en-US" sz="2800" smtClean="0"/>
              <a:t>//Precondition: Operator + is defined for values</a:t>
            </a:r>
            <a:br>
              <a:rPr lang="en-US" sz="2800" smtClean="0"/>
            </a:br>
            <a:r>
              <a:rPr lang="en-US" sz="2800" smtClean="0"/>
              <a:t>			of type T</a:t>
            </a:r>
            <a:br>
              <a:rPr lang="en-US" sz="2800" smtClean="0"/>
            </a:br>
            <a:r>
              <a:rPr lang="en-US" sz="2800" smtClean="0"/>
              <a:t>//Returns sum of two values in thePair</a:t>
            </a:r>
            <a:endParaRPr lang="en-US" smtClean="0"/>
          </a:p>
          <a:p>
            <a:pPr eaLnBrk="1" hangingPunct="1"/>
            <a:r>
              <a:rPr lang="en-US" smtClean="0"/>
              <a:t>Function now applies to all kinds </a:t>
            </a:r>
            <a:br>
              <a:rPr lang="en-US" smtClean="0"/>
            </a:br>
            <a:r>
              <a:rPr lang="en-US" smtClean="0"/>
              <a:t>of numbers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16-</a:t>
            </a:r>
            <a:fld id="{0831EF40-4C4F-477E-9DFE-507352BE8D53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6349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Restrictions on Type Parameter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Only "reasonable" types can be substituted</a:t>
            </a:r>
            <a:br>
              <a:rPr lang="en-US" sz="2800" smtClean="0"/>
            </a:br>
            <a:r>
              <a:rPr lang="en-US" sz="2800" smtClean="0"/>
              <a:t>for T</a:t>
            </a:r>
          </a:p>
          <a:p>
            <a:pPr eaLnBrk="1" hangingPunct="1"/>
            <a:r>
              <a:rPr lang="en-US" sz="2800" smtClean="0"/>
              <a:t>Consider:</a:t>
            </a:r>
          </a:p>
          <a:p>
            <a:pPr lvl="1" eaLnBrk="1" hangingPunct="1"/>
            <a:r>
              <a:rPr lang="en-US" sz="2400" smtClean="0"/>
              <a:t>Assignment operator must be "well-behaved"</a:t>
            </a:r>
          </a:p>
          <a:p>
            <a:pPr lvl="1" eaLnBrk="1" hangingPunct="1"/>
            <a:r>
              <a:rPr lang="en-US" sz="2400" smtClean="0"/>
              <a:t>Copy constructor must also work</a:t>
            </a:r>
          </a:p>
          <a:p>
            <a:pPr lvl="1" eaLnBrk="1" hangingPunct="1"/>
            <a:r>
              <a:rPr lang="en-US" sz="2400" smtClean="0"/>
              <a:t>If T involves pointers, then destructor must</a:t>
            </a:r>
            <a:br>
              <a:rPr lang="en-US" sz="2400" smtClean="0"/>
            </a:br>
            <a:r>
              <a:rPr lang="en-US" sz="2400" smtClean="0"/>
              <a:t>be suitable!</a:t>
            </a:r>
          </a:p>
          <a:p>
            <a:pPr eaLnBrk="1" hangingPunct="1"/>
            <a:r>
              <a:rPr lang="en-US" sz="2800" smtClean="0"/>
              <a:t>Similar issues as function templates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16-</a:t>
            </a:r>
            <a:fld id="{58AE5CA9-6615-410E-AC7F-60423CCF5931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6554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Type Definitions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Can define new "class type name"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To represent specialized class template name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Example:</a:t>
            </a:r>
            <a:br>
              <a:rPr lang="en-US" sz="2800" smtClean="0"/>
            </a:br>
            <a:r>
              <a:rPr lang="en-US" sz="2400" smtClean="0"/>
              <a:t>typedef Pair&lt;int&gt; PairOfInt;</a:t>
            </a:r>
            <a:endParaRPr lang="en-US" sz="2800" smtClean="0"/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Name "PairOfInt" now used to declare</a:t>
            </a:r>
            <a:br>
              <a:rPr lang="en-US" sz="2800" smtClean="0"/>
            </a:br>
            <a:r>
              <a:rPr lang="en-US" sz="2800" smtClean="0"/>
              <a:t>objects of type Pair&lt;int&gt;:</a:t>
            </a:r>
            <a:br>
              <a:rPr lang="en-US" sz="2800" smtClean="0"/>
            </a:br>
            <a:r>
              <a:rPr lang="en-US" sz="2400" smtClean="0"/>
              <a:t>PairOfInt pair1, pair2;</a:t>
            </a:r>
            <a:endParaRPr lang="en-US" sz="2800" smtClean="0"/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Name can also be used as parameter,</a:t>
            </a:r>
            <a:br>
              <a:rPr lang="en-US" sz="2800" smtClean="0"/>
            </a:br>
            <a:r>
              <a:rPr lang="en-US" sz="2800" smtClean="0"/>
              <a:t>or anywhere else type name allowed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16-</a:t>
            </a:r>
            <a:fld id="{5FFD2F68-A438-49F0-8559-5C5F44ADC546}" type="slidenum">
              <a:rPr lang="en-US"/>
              <a:pPr>
                <a:defRPr/>
              </a:pPr>
              <a:t>27</a:t>
            </a:fld>
            <a:endParaRPr lang="en-US"/>
          </a:p>
        </p:txBody>
      </p:sp>
      <p:sp>
        <p:nvSpPr>
          <p:cNvPr id="6758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Friends and Templates</a:t>
            </a:r>
          </a:p>
        </p:txBody>
      </p:sp>
      <p:sp>
        <p:nvSpPr>
          <p:cNvPr id="696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Friend functions can be used with</a:t>
            </a:r>
            <a:br>
              <a:rPr lang="en-US" smtClean="0"/>
            </a:br>
            <a:r>
              <a:rPr lang="en-US" smtClean="0"/>
              <a:t>template classes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Same as with ordinary classes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Simply requires type parameter </a:t>
            </a:r>
            <a:br>
              <a:rPr lang="en-US" smtClean="0"/>
            </a:br>
            <a:r>
              <a:rPr lang="en-US" smtClean="0"/>
              <a:t>where appropriate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Very common to have friends of</a:t>
            </a:r>
            <a:br>
              <a:rPr lang="en-US" smtClean="0"/>
            </a:br>
            <a:r>
              <a:rPr lang="en-US" smtClean="0"/>
              <a:t>template classes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Especially for operator overloads (as </a:t>
            </a:r>
            <a:br>
              <a:rPr lang="en-US" smtClean="0"/>
            </a:br>
            <a:r>
              <a:rPr lang="en-US" smtClean="0"/>
              <a:t>we’ve seen)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16-</a:t>
            </a:r>
            <a:fld id="{48F28B2F-0DD9-41B9-BDB5-896AA93336CF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6963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Predefined Template Classes</a:t>
            </a:r>
          </a:p>
        </p:txBody>
      </p:sp>
      <p:sp>
        <p:nvSpPr>
          <p:cNvPr id="716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Recall vector class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It’s a template class!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Another: basic_string template class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Deals with strings of "any-type" elements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e.g.,</a:t>
            </a:r>
          </a:p>
          <a:p>
            <a:pPr eaLnBrk="1" hangingPunct="1">
              <a:lnSpc>
                <a:spcPct val="90000"/>
              </a:lnSpc>
              <a:buFont typeface="Symbol" pitchFamily="18" charset="2"/>
              <a:buNone/>
            </a:pPr>
            <a:r>
              <a:rPr lang="en-US" sz="2800" smtClean="0"/>
              <a:t>	basic_string&lt;char&gt;		works for char’s</a:t>
            </a:r>
            <a:br>
              <a:rPr lang="en-US" sz="2800" smtClean="0"/>
            </a:br>
            <a:r>
              <a:rPr lang="en-US" sz="2800" smtClean="0"/>
              <a:t>basic_string&lt;double&gt;		works for doubles</a:t>
            </a:r>
            <a:br>
              <a:rPr lang="en-US" sz="2800" smtClean="0"/>
            </a:br>
            <a:r>
              <a:rPr lang="en-US" sz="2800" smtClean="0"/>
              <a:t>basic_string&lt;YourClass&gt;	works for</a:t>
            </a:r>
            <a:br>
              <a:rPr lang="en-US" sz="2800" smtClean="0"/>
            </a:br>
            <a:r>
              <a:rPr lang="en-US" sz="2800" smtClean="0"/>
              <a:t>					YourClass objects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16-</a:t>
            </a:r>
            <a:fld id="{77A39C39-B76A-4516-9133-6F52F5E4FA41}" type="slidenum">
              <a:rPr lang="en-US"/>
              <a:pPr>
                <a:defRPr/>
              </a:pPr>
              <a:t>29</a:t>
            </a:fld>
            <a:endParaRPr lang="en-US"/>
          </a:p>
        </p:txBody>
      </p:sp>
      <p:sp>
        <p:nvSpPr>
          <p:cNvPr id="7168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basic_string Template Class</a:t>
            </a:r>
          </a:p>
        </p:txBody>
      </p:sp>
      <p:sp>
        <p:nvSpPr>
          <p:cNvPr id="737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Already used it!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Recall "string"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It’s an alternate name for basic_string&lt;char&gt;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All member functions behave similarly for</a:t>
            </a:r>
            <a:br>
              <a:rPr lang="en-US" smtClean="0"/>
            </a:br>
            <a:r>
              <a:rPr lang="en-US" smtClean="0"/>
              <a:t>basic_string&lt;T&gt;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basic_string defined in library &lt;string&gt;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Definition is in std namespace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16-</a:t>
            </a:r>
            <a:fld id="{23B56791-EFDB-4744-8FF1-0EB157B12F71}" type="slidenum">
              <a:rPr lang="en-US"/>
              <a:pPr>
                <a:defRPr/>
              </a:pPr>
              <a:t>30</a:t>
            </a:fld>
            <a:endParaRPr lang="en-US"/>
          </a:p>
        </p:txBody>
      </p:sp>
      <p:sp>
        <p:nvSpPr>
          <p:cNvPr id="7373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Templates and Inheritance</a:t>
            </a:r>
          </a:p>
        </p:txBody>
      </p:sp>
      <p:sp>
        <p:nvSpPr>
          <p:cNvPr id="757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Nothing new here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Derived template classes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Can derive from template or </a:t>
            </a:r>
            <a:br>
              <a:rPr lang="en-US" smtClean="0"/>
            </a:br>
            <a:r>
              <a:rPr lang="en-US" smtClean="0"/>
              <a:t>nontemplate class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Derived class is then naturally a </a:t>
            </a:r>
            <a:br>
              <a:rPr lang="en-US" smtClean="0"/>
            </a:br>
            <a:r>
              <a:rPr lang="en-US" smtClean="0"/>
              <a:t>template class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Syntax same as ordinary class derived</a:t>
            </a:r>
            <a:br>
              <a:rPr lang="en-US" smtClean="0"/>
            </a:br>
            <a:r>
              <a:rPr lang="en-US" smtClean="0"/>
              <a:t>from ordinary class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16-</a:t>
            </a:r>
            <a:fld id="{9A107F80-403D-44C3-BEED-98D1C34B4C37}" type="slidenum">
              <a:rPr lang="en-US"/>
              <a:pPr>
                <a:defRPr/>
              </a:pPr>
              <a:t>31</a:t>
            </a:fld>
            <a:endParaRPr lang="en-US"/>
          </a:p>
        </p:txBody>
      </p:sp>
      <p:sp>
        <p:nvSpPr>
          <p:cNvPr id="7578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</a:t>
            </a:r>
          </a:p>
        </p:txBody>
      </p:sp>
      <p:sp>
        <p:nvSpPr>
          <p:cNvPr id="778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Function templates</a:t>
            </a:r>
          </a:p>
          <a:p>
            <a:pPr lvl="1" eaLnBrk="1" hangingPunct="1"/>
            <a:r>
              <a:rPr lang="en-US" sz="2400" smtClean="0"/>
              <a:t>Define functions with parameter for a type</a:t>
            </a:r>
          </a:p>
          <a:p>
            <a:pPr eaLnBrk="1" hangingPunct="1"/>
            <a:r>
              <a:rPr lang="en-US" sz="2800" smtClean="0"/>
              <a:t>Class templates</a:t>
            </a:r>
          </a:p>
          <a:p>
            <a:pPr lvl="1" eaLnBrk="1" hangingPunct="1"/>
            <a:r>
              <a:rPr lang="en-US" sz="2400" smtClean="0"/>
              <a:t>Define class with parameter for subparts of class</a:t>
            </a:r>
          </a:p>
          <a:p>
            <a:pPr eaLnBrk="1" hangingPunct="1"/>
            <a:r>
              <a:rPr lang="en-US" sz="2800" smtClean="0"/>
              <a:t>Predefined vector and basic_string</a:t>
            </a:r>
            <a:br>
              <a:rPr lang="en-US" sz="2800" smtClean="0"/>
            </a:br>
            <a:r>
              <a:rPr lang="en-US" sz="2800" smtClean="0"/>
              <a:t>classes are template classes</a:t>
            </a:r>
          </a:p>
          <a:p>
            <a:pPr eaLnBrk="1" hangingPunct="1"/>
            <a:r>
              <a:rPr lang="en-US" sz="2800" smtClean="0"/>
              <a:t>Can define template class derived from</a:t>
            </a:r>
            <a:br>
              <a:rPr lang="en-US" sz="2800" smtClean="0"/>
            </a:br>
            <a:r>
              <a:rPr lang="en-US" sz="2800" smtClean="0"/>
              <a:t>a template base class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16-</a:t>
            </a:r>
            <a:fld id="{FE3FB66B-5665-4E96-B4EB-1C8D8D72D989}" type="slidenum">
              <a:rPr lang="en-US"/>
              <a:pPr>
                <a:defRPr/>
              </a:pPr>
              <a:t>32</a:t>
            </a:fld>
            <a:endParaRPr lang="en-US"/>
          </a:p>
        </p:txBody>
      </p:sp>
      <p:sp>
        <p:nvSpPr>
          <p:cNvPr id="7782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1396</Words>
  <Application>Microsoft Office PowerPoint</Application>
  <PresentationFormat>On-screen Show (4:3)</PresentationFormat>
  <Paragraphs>279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Design Template</vt:lpstr>
      </vt:variant>
      <vt:variant>
        <vt:i4>12</vt:i4>
      </vt:variant>
      <vt:variant>
        <vt:lpstr>Slide Titles</vt:lpstr>
      </vt:variant>
      <vt:variant>
        <vt:i4>32</vt:i4>
      </vt:variant>
    </vt:vector>
  </HeadingPairs>
  <TitlesOfParts>
    <vt:vector size="48" baseType="lpstr">
      <vt:lpstr>Arial</vt:lpstr>
      <vt:lpstr>Calibri</vt:lpstr>
      <vt:lpstr>Wingdings</vt:lpstr>
      <vt:lpstr>Symbol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Chapter 16</vt:lpstr>
      <vt:lpstr>Learning Objectives</vt:lpstr>
      <vt:lpstr>Introduction</vt:lpstr>
      <vt:lpstr>Function Templates</vt:lpstr>
      <vt:lpstr>Function Templates vs. Overloading</vt:lpstr>
      <vt:lpstr>Function Template Syntax</vt:lpstr>
      <vt:lpstr>Template Prefix</vt:lpstr>
      <vt:lpstr>Template Prefix 2</vt:lpstr>
      <vt:lpstr>Function Template Definition</vt:lpstr>
      <vt:lpstr>Calling a Function Template</vt:lpstr>
      <vt:lpstr>Another Function Template</vt:lpstr>
      <vt:lpstr>showStuff Call</vt:lpstr>
      <vt:lpstr>Compiler Complications</vt:lpstr>
      <vt:lpstr>More Compiler Complications</vt:lpstr>
      <vt:lpstr>Multiple Type Parameters</vt:lpstr>
      <vt:lpstr>Algorithm Abstraction</vt:lpstr>
      <vt:lpstr>Defining Templates Strategies</vt:lpstr>
      <vt:lpstr>Inappropriate Types in Templates</vt:lpstr>
      <vt:lpstr>Class Templates</vt:lpstr>
      <vt:lpstr>Class Template Definition</vt:lpstr>
      <vt:lpstr>Template Class Pair Members</vt:lpstr>
      <vt:lpstr>Template Class Pair</vt:lpstr>
      <vt:lpstr>Pair Member Function Definitions</vt:lpstr>
      <vt:lpstr>Class Templates as Parameters</vt:lpstr>
      <vt:lpstr>Class Templates  Within Function Templates</vt:lpstr>
      <vt:lpstr>Restrictions on Type Parameter</vt:lpstr>
      <vt:lpstr>Type Definitions</vt:lpstr>
      <vt:lpstr>Friends and Templates</vt:lpstr>
      <vt:lpstr>Predefined Template Classes</vt:lpstr>
      <vt:lpstr>basic_string Template Class</vt:lpstr>
      <vt:lpstr>Templates and Inheritance</vt:lpstr>
      <vt:lpstr>Summary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Kenrick</dc:creator>
  <cp:lastModifiedBy>usnidem</cp:lastModifiedBy>
  <cp:revision>15</cp:revision>
  <dcterms:created xsi:type="dcterms:W3CDTF">2006-08-16T00:00:00Z</dcterms:created>
  <dcterms:modified xsi:type="dcterms:W3CDTF">2012-05-08T14:09:13Z</dcterms:modified>
</cp:coreProperties>
</file>