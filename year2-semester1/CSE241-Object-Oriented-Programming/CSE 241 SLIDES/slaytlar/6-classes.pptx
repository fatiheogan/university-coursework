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648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8E15B91-5E74-4315-97D8-4058C91CB5AA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D7669CD-5C59-47E7-80C9-D9716A65F8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49FF7C-0E03-4064-A5A2-7BEB5D62A51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9D0BB2-C019-4F13-818B-B24614B5A15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73C72D-F7A1-4CF8-A403-AAFB6FE61D8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0B5AF2-0622-4EE6-B462-47949CF795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7466ED-A873-432E-A22B-4995565A870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7A7753-684F-4F35-A37A-695A236C42C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1C05CC-5261-4C81-A879-39D64263127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D4C3D4-285C-4842-90A0-767E9BA9246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7972C3-1331-47B7-991D-DEF1C4BF6E9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B5AFF0-7B30-4507-91ED-7883F51B009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B6A65E-9028-4091-A595-C67B5890719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358C6C-9373-434B-ADF2-4B9419002B7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476A9B-53F0-4B12-9932-99119E4BE74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ED05E3-2639-4694-A901-A7C0819AA44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5AA6DF-0A80-4FA9-A43B-FB2866EDB69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B3F386-D9BF-4FE5-8FE9-1C698880447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5AEBAA-FE4C-40F2-95C5-687C270975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E4D861-7596-4807-A3AC-A354B55B949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F2E303-230B-4634-8ABF-6D4167B6536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F4689D-C8EC-4DC6-91F7-C185B7C1AA3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C8616D-F86F-47E5-BC98-93EEBFF8D2C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E69E80E-D79F-4F82-8020-BEDE8242C61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E52033-38A8-429A-B5C0-F172E9AA8FD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CDA3E0-933A-49B1-BA94-63F0CB789FF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2DF7F9-4B1F-4EC3-AE5D-5D5142A867C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20E384-C802-4250-9BD1-A5DFF529AF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34529A6-A02C-4A91-A947-B0D7D06D69B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F32ED3-147E-40EB-B9D2-EAA2EF77A0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156FAC-7521-402A-B7F7-76681F4B4C8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A7ADD5-EDC3-47DD-AD37-F71A7C49A4D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A1C07AA-B6D6-4BE0-81E1-5C958675B91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FAAFEA-2298-40C1-9BA6-FE750333613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D86777-78AF-4DF6-8547-9C199FD7F01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77BD40-FCD8-4D9A-A35C-726517071D8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EFDCAE-11D8-4178-99A0-4FB9C6EE80B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54D6F3-20CA-414E-B47F-2D84AD538C9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AFD72F-2319-4DB8-84CE-5F15762E30A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A9D758-9956-4C5A-8510-BBB715ED1D3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EBE60C-92BD-4623-A0D9-E4622896FAB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1BCAE-5579-4BA6-997A-317F6C63781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999B1D49-AAF4-4B9F-B8FA-6EE0B829D4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69A54-1454-4B60-B6FC-BE8D9A3C765F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280AB590-7173-4E3F-8230-F76D04B3B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EA3B6-999D-4F6D-9961-563BF5B9623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6B516230-F573-4216-B971-A870E98FEB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52414-CDA5-47F9-B366-01E6070FCB7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FC5A78F1-AC62-4E62-8F8B-41C578F509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E8031-2717-42AA-8430-087D632822D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23BCFA27-BC89-4A36-BE4E-D9ED9097E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A8979-4CC9-49EA-BED7-F7CF6E5F776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78888CBD-7880-4D23-8185-3F72E033EB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ABBB7-F910-4262-9BC5-E6947B3CCC7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CCA36B1B-EFF4-4210-8851-958CB9E480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BC6CA-94FD-4B86-AEFB-94A0DA06B51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796579F2-FA12-4872-A164-2BDD7A3A47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092CC-2BFC-4F96-8847-9AE60437F08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1D858705-E5ED-4021-93E1-85B5305C01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C16A7-4C78-4822-8363-84BD8AA9D61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8E018FA4-52F7-4227-A17A-23C38E319A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F35EA-8B5D-436E-ADE2-BC235DCEBD86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6-</a:t>
            </a:r>
            <a:fld id="{6D6B8408-AB8A-44BE-AE89-8E13415FC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320AEB-7730-42BF-9E12-B17CE0366659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AD4900CB-6695-460B-B728-324E8D1CED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Structures </a:t>
            </a:r>
            <a:br>
              <a:rPr lang="en-US" dirty="0" smtClean="0"/>
            </a:br>
            <a:r>
              <a:rPr lang="en-US" dirty="0" smtClean="0"/>
              <a:t>and Classes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Structure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Structures as function 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Initializing structures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Defining, member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Public and private members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Accessor and mutator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Structures vs. classes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EA217A34-D1EF-44F2-832F-36175B0C5463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Structures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2</a:t>
            </a:r>
            <a:r>
              <a:rPr lang="en-US" sz="2800" baseline="30000" smtClean="0"/>
              <a:t>nd</a:t>
            </a:r>
            <a:r>
              <a:rPr lang="en-US" sz="2800" smtClean="0"/>
              <a:t> aggregate data type: struct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Recall: aggregate meaning "grouping"</a:t>
            </a:r>
          </a:p>
          <a:p>
            <a:pPr lvl="1" eaLnBrk="1" hangingPunct="1"/>
            <a:r>
              <a:rPr lang="en-US" sz="2400" smtClean="0"/>
              <a:t>Recall array: collection of values of same type</a:t>
            </a:r>
          </a:p>
          <a:p>
            <a:pPr lvl="1" eaLnBrk="1" hangingPunct="1"/>
            <a:r>
              <a:rPr lang="en-US" sz="2400" smtClean="0"/>
              <a:t>Structure: collection of values of different types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Treated as a single item, like arrays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Major difference: Must first "define" struct</a:t>
            </a:r>
          </a:p>
          <a:p>
            <a:pPr lvl="1" eaLnBrk="1" hangingPunct="1"/>
            <a:r>
              <a:rPr lang="en-US" sz="2400" smtClean="0"/>
              <a:t>Prior to declaring any variables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6856BB54-13A7-4D5B-B871-6A2FD9ABF92B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Structure Types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Define struct globally (typically)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No memory is allocated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Just a "placeholder" for what our struct </a:t>
            </a:r>
            <a:br>
              <a:rPr lang="en-US" sz="2400" smtClean="0"/>
            </a:br>
            <a:r>
              <a:rPr lang="en-US" sz="2400" smtClean="0"/>
              <a:t>will "look like"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Definition:</a:t>
            </a:r>
            <a:br>
              <a:rPr lang="en-US" sz="2800" smtClean="0"/>
            </a:br>
            <a:r>
              <a:rPr lang="en-US" sz="2400" smtClean="0"/>
              <a:t>	struct CDAccountV1   </a:t>
            </a:r>
            <a:r>
              <a:rPr lang="en-US" sz="2400" smtClean="0">
                <a:sym typeface="Wingdings" pitchFamily="2" charset="2"/>
              </a:rPr>
              <a:t></a:t>
            </a:r>
            <a:r>
              <a:rPr lang="en-US" sz="2400" smtClean="0"/>
              <a:t>Name of new struct "type"</a:t>
            </a:r>
            <a:br>
              <a:rPr lang="en-US" sz="2400" smtClean="0"/>
            </a:br>
            <a:r>
              <a:rPr lang="en-US" sz="2400" smtClean="0"/>
              <a:t>	{</a:t>
            </a:r>
            <a:br>
              <a:rPr lang="en-US" sz="2400" smtClean="0"/>
            </a:br>
            <a:r>
              <a:rPr lang="en-US" sz="2400" smtClean="0"/>
              <a:t>		double balance;	</a:t>
            </a:r>
            <a:r>
              <a:rPr lang="en-US" sz="2400" smtClean="0">
                <a:sym typeface="Wingdings" pitchFamily="2" charset="2"/>
              </a:rPr>
              <a:t></a:t>
            </a:r>
            <a:r>
              <a:rPr lang="en-US" sz="2400" smtClean="0"/>
              <a:t> member names</a:t>
            </a:r>
            <a:br>
              <a:rPr lang="en-US" sz="2400" smtClean="0"/>
            </a:br>
            <a:r>
              <a:rPr lang="en-US" sz="2400" smtClean="0"/>
              <a:t>		double interestRate;</a:t>
            </a:r>
            <a:br>
              <a:rPr lang="en-US" sz="2400" smtClean="0"/>
            </a:br>
            <a:r>
              <a:rPr lang="en-US" sz="2400" smtClean="0"/>
              <a:t>		int term;</a:t>
            </a:r>
            <a:br>
              <a:rPr lang="en-US" sz="2400" smtClean="0"/>
            </a:br>
            <a:r>
              <a:rPr lang="en-US" sz="2400" smtClean="0"/>
              <a:t>	};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F1804F2E-48B8-4F99-BAB4-6C8A357E5A83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Declare Structure Variable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With structure type defined, now declare</a:t>
            </a:r>
            <a:br>
              <a:rPr lang="en-US" smtClean="0"/>
            </a:br>
            <a:r>
              <a:rPr lang="en-US" smtClean="0"/>
              <a:t>variables of this new type:</a:t>
            </a:r>
            <a:br>
              <a:rPr lang="en-US" smtClean="0"/>
            </a:br>
            <a:r>
              <a:rPr lang="en-US" smtClean="0"/>
              <a:t>CDAccountV1 account;</a:t>
            </a:r>
          </a:p>
          <a:p>
            <a:pPr lvl="1" eaLnBrk="1" hangingPunct="1"/>
            <a:r>
              <a:rPr lang="en-US" smtClean="0"/>
              <a:t>Just like declaring simple types</a:t>
            </a:r>
          </a:p>
          <a:p>
            <a:pPr lvl="1" eaLnBrk="1" hangingPunct="1"/>
            <a:r>
              <a:rPr lang="en-US" smtClean="0"/>
              <a:t>Variable </a:t>
            </a:r>
            <a:r>
              <a:rPr lang="en-US" i="1" smtClean="0"/>
              <a:t>account</a:t>
            </a:r>
            <a:r>
              <a:rPr lang="en-US" smtClean="0"/>
              <a:t> now of type CDAccountV1</a:t>
            </a:r>
          </a:p>
          <a:p>
            <a:pPr lvl="1" eaLnBrk="1" hangingPunct="1"/>
            <a:r>
              <a:rPr lang="en-US" smtClean="0"/>
              <a:t>It contains "member values"</a:t>
            </a:r>
          </a:p>
          <a:p>
            <a:pPr lvl="2" eaLnBrk="1" hangingPunct="1"/>
            <a:r>
              <a:rPr lang="en-US" smtClean="0"/>
              <a:t>Each of the struct "parts"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5453FCE8-14B9-412A-AAFA-2A8730F6C9ED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Accessing Structure Members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Dot Operator to access members</a:t>
            </a:r>
          </a:p>
          <a:p>
            <a:pPr lvl="1" eaLnBrk="1" hangingPunct="1"/>
            <a:r>
              <a:rPr lang="en-US" sz="2400" smtClean="0"/>
              <a:t>account.balance</a:t>
            </a:r>
          </a:p>
          <a:p>
            <a:pPr lvl="1" eaLnBrk="1" hangingPunct="1"/>
            <a:r>
              <a:rPr lang="en-US" sz="2400" smtClean="0"/>
              <a:t>account.interestRate</a:t>
            </a:r>
          </a:p>
          <a:p>
            <a:pPr lvl="1" eaLnBrk="1" hangingPunct="1"/>
            <a:r>
              <a:rPr lang="en-US" sz="2400" smtClean="0"/>
              <a:t>account.term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Called "member variables"</a:t>
            </a:r>
          </a:p>
          <a:p>
            <a:pPr lvl="1" eaLnBrk="1" hangingPunct="1"/>
            <a:r>
              <a:rPr lang="en-US" sz="2400" smtClean="0"/>
              <a:t>The "parts" of the structure variable</a:t>
            </a:r>
          </a:p>
          <a:p>
            <a:pPr lvl="1" eaLnBrk="1" hangingPunct="1"/>
            <a:r>
              <a:rPr lang="en-US" sz="2400" smtClean="0"/>
              <a:t>Different structs can have same name </a:t>
            </a:r>
            <a:br>
              <a:rPr lang="en-US" sz="2400" smtClean="0"/>
            </a:br>
            <a:r>
              <a:rPr lang="en-US" sz="2400" smtClean="0"/>
              <a:t>member variables</a:t>
            </a:r>
          </a:p>
          <a:p>
            <a:pPr lvl="2" eaLnBrk="1" hangingPunct="1"/>
            <a:r>
              <a:rPr lang="en-US" sz="2000" smtClean="0"/>
              <a:t>No conflicts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5CAC9CE8-76A5-4C5E-9674-5DF3715C274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Structure Example: </a:t>
            </a:r>
            <a:br>
              <a:rPr lang="en-US" sz="3200" smtClean="0"/>
            </a:br>
            <a:r>
              <a:rPr lang="en-US" sz="3200" b="1" smtClean="0"/>
              <a:t>Display 6.1  </a:t>
            </a:r>
            <a:r>
              <a:rPr lang="en-US" sz="3200" smtClean="0"/>
              <a:t>A Structure Definition (1 of 3)</a:t>
            </a:r>
          </a:p>
        </p:txBody>
      </p:sp>
      <p:pic>
        <p:nvPicPr>
          <p:cNvPr id="26626" name="Picture 4" descr="C:\WINDOWS\Desktop\Oh_type\sacitch_C++_ppt\gif\savitchc06d01_1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09650" y="1828800"/>
            <a:ext cx="7772400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1729DD9B-A340-4AB1-95A1-444969D0A8F2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Structure Example: </a:t>
            </a:r>
            <a:br>
              <a:rPr lang="en-US" sz="3200" smtClean="0"/>
            </a:br>
            <a:r>
              <a:rPr lang="en-US" sz="3200" b="1" smtClean="0"/>
              <a:t>Display 6.1  </a:t>
            </a:r>
            <a:r>
              <a:rPr lang="en-US" sz="3200" smtClean="0"/>
              <a:t>A Structure Definition (2 of 3)</a:t>
            </a:r>
          </a:p>
        </p:txBody>
      </p:sp>
      <p:pic>
        <p:nvPicPr>
          <p:cNvPr id="28674" name="Picture 6" descr="C:\WINDOWS\Desktop\Oh_type\sacitch_C++_ppt\gif\savitchc06d01_2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49350" y="1611313"/>
            <a:ext cx="7526338" cy="454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96D87948-A8E3-4A42-AE4F-056D59550198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Structure Example: </a:t>
            </a:r>
            <a:br>
              <a:rPr lang="en-US" sz="3200" smtClean="0"/>
            </a:br>
            <a:r>
              <a:rPr lang="en-US" sz="3200" b="1" smtClean="0"/>
              <a:t>Display 6.1  </a:t>
            </a:r>
            <a:r>
              <a:rPr lang="en-US" sz="3200" smtClean="0"/>
              <a:t>A Structure Definition (3 of 3)</a:t>
            </a:r>
          </a:p>
        </p:txBody>
      </p:sp>
      <p:pic>
        <p:nvPicPr>
          <p:cNvPr id="30722" name="Picture 4" descr="C:\WINDOWS\Desktop\Oh_type\sacitch_C++_ppt\gif\savitchc06d01_3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3938" y="1619250"/>
            <a:ext cx="7758112" cy="449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EFB25A01-B304-4D30-9EE6-D19377D24B3A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152400"/>
            <a:ext cx="7815262" cy="1143000"/>
          </a:xfrm>
        </p:spPr>
        <p:txBody>
          <a:bodyPr/>
          <a:lstStyle/>
          <a:p>
            <a:pPr eaLnBrk="1" hangingPunct="1"/>
            <a:r>
              <a:rPr lang="en-US" smtClean="0"/>
              <a:t>Structure Pitfall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mtClean="0"/>
              <a:t>Semicolon after structure definition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; MUST exist:</a:t>
            </a:r>
            <a:br>
              <a:rPr lang="en-US" smtClean="0"/>
            </a:br>
            <a:r>
              <a:rPr lang="en-US" smtClean="0"/>
              <a:t>struct WeatherData</a:t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	double temperature;</a:t>
            </a:r>
            <a:br>
              <a:rPr lang="en-US" smtClean="0"/>
            </a:br>
            <a:r>
              <a:rPr lang="en-US" smtClean="0"/>
              <a:t>	double windVelocity;</a:t>
            </a:r>
            <a:br>
              <a:rPr lang="en-US" smtClean="0"/>
            </a:br>
            <a:r>
              <a:rPr lang="en-US" smtClean="0"/>
              <a:t>}; </a:t>
            </a:r>
            <a:r>
              <a:rPr lang="en-US" smtClean="0">
                <a:sym typeface="Wingdings" pitchFamily="2" charset="2"/>
              </a:rPr>
              <a:t></a:t>
            </a:r>
            <a:r>
              <a:rPr lang="en-US" smtClean="0"/>
              <a:t> REQUIRED semicolon!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Required since you "can" declare structure</a:t>
            </a:r>
            <a:br>
              <a:rPr lang="en-US" smtClean="0"/>
            </a:br>
            <a:r>
              <a:rPr lang="en-US" smtClean="0"/>
              <a:t>variables in this location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CFA88029-899D-4130-8003-53FE91B781A8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Structure Assignments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2800" smtClean="0"/>
              <a:t>Given structure named CropYield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Declare two structure variables:</a:t>
            </a:r>
            <a:br>
              <a:rPr lang="en-US" sz="2800" smtClean="0"/>
            </a:br>
            <a:r>
              <a:rPr lang="en-US" sz="2800" smtClean="0"/>
              <a:t>CropYield apples, oranges;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Both are variables of "struct type CropYield"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Simple assignments are legal:</a:t>
            </a:r>
            <a:br>
              <a:rPr lang="en-US" sz="2400" smtClean="0"/>
            </a:br>
            <a:r>
              <a:rPr lang="en-US" sz="2400" smtClean="0"/>
              <a:t>apples = oranges;</a:t>
            </a:r>
          </a:p>
          <a:p>
            <a:pPr lvl="2" eaLnBrk="1" hangingPunct="1"/>
            <a:r>
              <a:rPr lang="en-US" sz="2000" smtClean="0"/>
              <a:t>Simply copies each member variable from apples</a:t>
            </a:r>
            <a:br>
              <a:rPr lang="en-US" sz="2000" smtClean="0"/>
            </a:br>
            <a:r>
              <a:rPr lang="en-US" sz="2000" smtClean="0"/>
              <a:t>into member variables from oranges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D13A078F-22A6-4860-8E43-05162EE9C8CD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Structures as Function Arguments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Passed like any simple data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Pass-by-value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Pass-by-reference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Or combination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Can also be returned by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Return-type is structure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Return statement in function definition</a:t>
            </a:r>
            <a:br>
              <a:rPr lang="en-US" smtClean="0"/>
            </a:br>
            <a:r>
              <a:rPr lang="en-US" smtClean="0"/>
              <a:t>sends structure variable back to caller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D7F5FDE9-CFDC-4A36-B92D-252A52CC160B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Initializing Structures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Can initialize at declaration</a:t>
            </a:r>
          </a:p>
          <a:p>
            <a:pPr lvl="1" eaLnBrk="1" hangingPunct="1"/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	struct Date</a:t>
            </a:r>
            <a:br>
              <a:rPr lang="en-US" sz="2400" smtClean="0"/>
            </a:br>
            <a:r>
              <a:rPr lang="en-US" sz="2400" smtClean="0"/>
              <a:t>	{</a:t>
            </a:r>
            <a:br>
              <a:rPr lang="en-US" sz="2400" smtClean="0"/>
            </a:br>
            <a:r>
              <a:rPr lang="en-US" sz="2400" smtClean="0"/>
              <a:t>		int month;</a:t>
            </a:r>
            <a:br>
              <a:rPr lang="en-US" sz="2400" smtClean="0"/>
            </a:br>
            <a:r>
              <a:rPr lang="en-US" sz="2400" smtClean="0"/>
              <a:t>		int day;</a:t>
            </a:r>
            <a:br>
              <a:rPr lang="en-US" sz="2400" smtClean="0"/>
            </a:br>
            <a:r>
              <a:rPr lang="en-US" sz="2400" smtClean="0"/>
              <a:t>		int year;</a:t>
            </a:r>
            <a:br>
              <a:rPr lang="en-US" sz="2400" smtClean="0"/>
            </a:br>
            <a:r>
              <a:rPr lang="en-US" sz="2400" smtClean="0"/>
              <a:t>	};</a:t>
            </a:r>
            <a:br>
              <a:rPr lang="en-US" sz="2400" smtClean="0"/>
            </a:br>
            <a:r>
              <a:rPr lang="en-US" sz="2400" smtClean="0"/>
              <a:t>	Date dueDate = {12, 31, 2003};</a:t>
            </a:r>
          </a:p>
          <a:p>
            <a:pPr lvl="1" eaLnBrk="1" hangingPunct="1"/>
            <a:r>
              <a:rPr lang="en-US" sz="2400" smtClean="0"/>
              <a:t>Declaration provides initial data to all three member variables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0538F7B5-6B48-4D59-9D50-D146FC992836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Classes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Similar to structures</a:t>
            </a:r>
          </a:p>
          <a:p>
            <a:pPr lvl="1" eaLnBrk="1" hangingPunct="1"/>
            <a:r>
              <a:rPr lang="en-US" smtClean="0"/>
              <a:t>Adds member FUNCTIONS</a:t>
            </a:r>
          </a:p>
          <a:p>
            <a:pPr lvl="1" eaLnBrk="1" hangingPunct="1"/>
            <a:r>
              <a:rPr lang="en-US" smtClean="0"/>
              <a:t>Not just member data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Integral to object-oriented programming</a:t>
            </a:r>
          </a:p>
          <a:p>
            <a:pPr lvl="1" eaLnBrk="1" hangingPunct="1"/>
            <a:r>
              <a:rPr lang="en-US" smtClean="0"/>
              <a:t>Focus on objects</a:t>
            </a:r>
          </a:p>
          <a:p>
            <a:pPr lvl="2" eaLnBrk="1" hangingPunct="1"/>
            <a:r>
              <a:rPr lang="en-US" smtClean="0"/>
              <a:t>Object: Contains data and operations</a:t>
            </a:r>
          </a:p>
          <a:p>
            <a:pPr lvl="2" eaLnBrk="1" hangingPunct="1"/>
            <a:r>
              <a:rPr lang="en-US" smtClean="0"/>
              <a:t>In C++, variables of class type are objects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5892BD8E-F14D-4384-BE41-DF2244F70EBA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Definitions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Defined similar to structures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400" smtClean="0"/>
              <a:t>class DayOfYear    </a:t>
            </a:r>
            <a:r>
              <a:rPr lang="en-US" sz="2400" smtClean="0">
                <a:sym typeface="Wingdings" pitchFamily="2" charset="2"/>
              </a:rPr>
              <a:t></a:t>
            </a:r>
            <a:r>
              <a:rPr lang="en-US" sz="2400" smtClean="0"/>
              <a:t> name of new class type</a:t>
            </a:r>
            <a:br>
              <a:rPr lang="en-US" sz="2400" smtClean="0"/>
            </a:br>
            <a:r>
              <a:rPr lang="en-US" sz="2400" smtClean="0"/>
              <a:t>	{</a:t>
            </a:r>
            <a:br>
              <a:rPr lang="en-US" sz="2400" smtClean="0"/>
            </a:br>
            <a:r>
              <a:rPr lang="en-US" sz="2400" smtClean="0"/>
              <a:t>	public:</a:t>
            </a:r>
            <a:br>
              <a:rPr lang="en-US" sz="2400" smtClean="0"/>
            </a:br>
            <a:r>
              <a:rPr lang="en-US" sz="2400" smtClean="0"/>
              <a:t>		void output();	   </a:t>
            </a:r>
            <a:r>
              <a:rPr lang="en-US" sz="2400" smtClean="0">
                <a:sym typeface="Wingdings" pitchFamily="2" charset="2"/>
              </a:rPr>
              <a:t></a:t>
            </a:r>
            <a:r>
              <a:rPr lang="en-US" sz="2400" smtClean="0"/>
              <a:t> member function!</a:t>
            </a:r>
            <a:br>
              <a:rPr lang="en-US" sz="2400" smtClean="0"/>
            </a:br>
            <a:r>
              <a:rPr lang="en-US" sz="2400" smtClean="0"/>
              <a:t>		int month;</a:t>
            </a:r>
            <a:br>
              <a:rPr lang="en-US" sz="2400" smtClean="0"/>
            </a:br>
            <a:r>
              <a:rPr lang="en-US" sz="2400" smtClean="0"/>
              <a:t>		int day;</a:t>
            </a:r>
            <a:br>
              <a:rPr lang="en-US" sz="2400" smtClean="0"/>
            </a:br>
            <a:r>
              <a:rPr lang="en-US" sz="2400" smtClean="0"/>
              <a:t>	};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Notice only member function’s prototype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Function’s implementation is elsewhere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E26BFA02-51B0-40FD-8BA3-0EF3A7D5EEE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Declaring Objects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Declared same as all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Predefined types, structure types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	DayOfYear today, birthday;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Declares two objects of class type DayOfYear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Objects include: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Members month, day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Operations (member functions)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output()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A9D47104-772B-4165-90B8-A41AF29248C4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Member Access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Members accessed same as structures</a:t>
            </a:r>
          </a:p>
          <a:p>
            <a:pPr eaLnBrk="1" hangingPunct="1"/>
            <a:r>
              <a:rPr lang="en-US" smtClean="0"/>
              <a:t>Example:</a:t>
            </a:r>
            <a:br>
              <a:rPr lang="en-US" smtClean="0"/>
            </a:br>
            <a:r>
              <a:rPr lang="en-US" smtClean="0"/>
              <a:t>	</a:t>
            </a:r>
            <a:r>
              <a:rPr lang="en-US" sz="2800" smtClean="0"/>
              <a:t>today.month</a:t>
            </a:r>
            <a:br>
              <a:rPr lang="en-US" sz="2800" smtClean="0"/>
            </a:br>
            <a:r>
              <a:rPr lang="en-US" sz="2800" smtClean="0"/>
              <a:t>	today.day	</a:t>
            </a:r>
          </a:p>
          <a:p>
            <a:pPr lvl="1" eaLnBrk="1" hangingPunct="1"/>
            <a:r>
              <a:rPr lang="en-US" smtClean="0"/>
              <a:t>And to access member function:</a:t>
            </a:r>
            <a:br>
              <a:rPr lang="en-US" smtClean="0"/>
            </a:br>
            <a:r>
              <a:rPr lang="en-US" smtClean="0"/>
              <a:t>today.output();  </a:t>
            </a:r>
            <a:r>
              <a:rPr lang="en-US" smtClean="0">
                <a:sym typeface="Wingdings" pitchFamily="2" charset="2"/>
              </a:rPr>
              <a:t></a:t>
            </a:r>
            <a:r>
              <a:rPr lang="en-US" smtClean="0"/>
              <a:t> Invokes member function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EC081150-88B3-42E6-84AA-939B3CF5C355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Member Functions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Must define or "implement" class member</a:t>
            </a:r>
            <a:br>
              <a:rPr lang="en-US" sz="2800" smtClean="0"/>
            </a:br>
            <a:r>
              <a:rPr lang="en-US" sz="2800" smtClean="0"/>
              <a:t>functions</a:t>
            </a:r>
          </a:p>
          <a:p>
            <a:pPr eaLnBrk="1" hangingPunct="1"/>
            <a:r>
              <a:rPr lang="en-US" sz="2800" smtClean="0"/>
              <a:t>Like other function definitions</a:t>
            </a:r>
          </a:p>
          <a:p>
            <a:pPr lvl="1" eaLnBrk="1" hangingPunct="1"/>
            <a:r>
              <a:rPr lang="en-US" sz="2400" smtClean="0"/>
              <a:t>Can be after main() definition</a:t>
            </a:r>
          </a:p>
          <a:p>
            <a:pPr lvl="1" eaLnBrk="1" hangingPunct="1"/>
            <a:r>
              <a:rPr lang="en-US" sz="2400" smtClean="0"/>
              <a:t>Must specify class:</a:t>
            </a:r>
            <a:br>
              <a:rPr lang="en-US" sz="2400" smtClean="0"/>
            </a:br>
            <a:r>
              <a:rPr lang="en-US" sz="2400" smtClean="0"/>
              <a:t>void DayOfYear::output()</a:t>
            </a:r>
            <a:br>
              <a:rPr lang="en-US" sz="2400" smtClean="0"/>
            </a:br>
            <a:r>
              <a:rPr lang="en-US" sz="2400" smtClean="0"/>
              <a:t>{…}</a:t>
            </a:r>
          </a:p>
          <a:p>
            <a:pPr lvl="2" eaLnBrk="1" hangingPunct="1"/>
            <a:r>
              <a:rPr lang="en-US" sz="2000" smtClean="0"/>
              <a:t>:: is scope resolution operator</a:t>
            </a:r>
          </a:p>
          <a:p>
            <a:pPr lvl="2" eaLnBrk="1" hangingPunct="1"/>
            <a:r>
              <a:rPr lang="en-US" sz="2000" smtClean="0"/>
              <a:t>Instructs compiler "what class" member is from</a:t>
            </a:r>
          </a:p>
          <a:p>
            <a:pPr lvl="2" eaLnBrk="1" hangingPunct="1"/>
            <a:r>
              <a:rPr lang="en-US" sz="2000" smtClean="0"/>
              <a:t>Item before :: called type qualifier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DB1CA65D-1F89-46DB-AA64-4E1E394F7F18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Class Member Functions Definition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Notice output() member function’s</a:t>
            </a:r>
            <a:br>
              <a:rPr lang="en-US" sz="2800" smtClean="0"/>
            </a:br>
            <a:r>
              <a:rPr lang="en-US" sz="2800" smtClean="0"/>
              <a:t>definition (in next example)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Refers to member data of class</a:t>
            </a:r>
          </a:p>
          <a:p>
            <a:pPr lvl="1" eaLnBrk="1" hangingPunct="1"/>
            <a:r>
              <a:rPr lang="en-US" sz="2400" smtClean="0"/>
              <a:t>No qualifiers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Function used for all objects of the class</a:t>
            </a:r>
          </a:p>
          <a:p>
            <a:pPr lvl="1" eaLnBrk="1" hangingPunct="1"/>
            <a:r>
              <a:rPr lang="en-US" sz="2400" smtClean="0"/>
              <a:t>Will refer to "that object’s" data when invoked</a:t>
            </a:r>
          </a:p>
          <a:p>
            <a:pPr lvl="1" eaLnBrk="1" hangingPunct="1"/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today.output();</a:t>
            </a:r>
          </a:p>
          <a:p>
            <a:pPr lvl="2" eaLnBrk="1" hangingPunct="1"/>
            <a:r>
              <a:rPr lang="en-US" sz="2000" smtClean="0"/>
              <a:t>Displays "today" object’s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CC998DF8-09CB-4B66-85AF-F6F1DF4C75BF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763000" cy="1143000"/>
          </a:xfrm>
        </p:spPr>
        <p:txBody>
          <a:bodyPr/>
          <a:lstStyle/>
          <a:p>
            <a:pPr eaLnBrk="1" hangingPunct="1"/>
            <a:r>
              <a:rPr lang="en-US" sz="3200" smtClean="0"/>
              <a:t>Complete Class Example: </a:t>
            </a:r>
            <a:br>
              <a:rPr lang="en-US" sz="3200" smtClean="0"/>
            </a:br>
            <a:r>
              <a:rPr lang="en-US" sz="3200" b="1" smtClean="0"/>
              <a:t>Display 6.3</a:t>
            </a:r>
            <a:r>
              <a:rPr lang="en-US" sz="3200" smtClean="0"/>
              <a:t>  Class With a Member Function (1 of 4)</a:t>
            </a:r>
          </a:p>
        </p:txBody>
      </p:sp>
      <p:pic>
        <p:nvPicPr>
          <p:cNvPr id="53250" name="Picture 5" descr="C:\WINDOWS\Desktop\Oh_type\sacitch_C++_ppt\gif\savitchc06d03_1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846263" y="1587500"/>
            <a:ext cx="6135687" cy="486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69638408-545D-4D6D-99B8-18BBFD438931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Complete Class Example: </a:t>
            </a:r>
            <a:br>
              <a:rPr lang="en-US" sz="3200" smtClean="0"/>
            </a:br>
            <a:r>
              <a:rPr lang="en-US" sz="3200" b="1" smtClean="0"/>
              <a:t>Display 6.3</a:t>
            </a:r>
            <a:r>
              <a:rPr lang="en-US" sz="3200" smtClean="0"/>
              <a:t>  Class With a Member Function (2 of 4)</a:t>
            </a:r>
          </a:p>
        </p:txBody>
      </p:sp>
      <p:pic>
        <p:nvPicPr>
          <p:cNvPr id="55298" name="Picture 6" descr="C:\WINDOWS\Desktop\Oh_type\sacitch_C++_ppt\gif\savitchc06d03_2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782763" y="1609725"/>
            <a:ext cx="6254750" cy="483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73DECEE3-982A-4586-B5B8-D29DB4FD7C25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Complete Class Example: </a:t>
            </a:r>
            <a:br>
              <a:rPr lang="en-US" sz="3200" smtClean="0"/>
            </a:br>
            <a:r>
              <a:rPr lang="en-US" sz="3200" b="1" smtClean="0"/>
              <a:t>Display 6.3</a:t>
            </a:r>
            <a:r>
              <a:rPr lang="en-US" sz="3200" smtClean="0"/>
              <a:t>  Class With a Member Function (3 of 4)</a:t>
            </a:r>
          </a:p>
        </p:txBody>
      </p:sp>
      <p:pic>
        <p:nvPicPr>
          <p:cNvPr id="57346" name="Picture 4" descr="C:\WINDOWS\Desktop\Oh_type\sacitch_C++_ppt\gif\savitchc06d03_3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77950" y="1760538"/>
            <a:ext cx="7080250" cy="452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287E8ADF-21EB-40C2-AA9D-FB84F3455CB4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Complete Class Example: </a:t>
            </a:r>
            <a:br>
              <a:rPr lang="en-US" sz="3200" smtClean="0"/>
            </a:br>
            <a:r>
              <a:rPr lang="en-US" sz="3200" b="1" smtClean="0"/>
              <a:t>Display 6.3</a:t>
            </a:r>
            <a:r>
              <a:rPr lang="en-US" sz="3200" smtClean="0"/>
              <a:t>  Class With a Member Function (4 of 4)</a:t>
            </a:r>
          </a:p>
        </p:txBody>
      </p:sp>
      <p:pic>
        <p:nvPicPr>
          <p:cNvPr id="59394" name="Picture 4" descr="C:\WINDOWS\Desktop\Oh_type\sacitch_C++_ppt\gif\savitchc06d03_4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3938" y="1989138"/>
            <a:ext cx="7772400" cy="304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B04AD46F-60F1-4E35-8201-CABECE9AFACF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Dot and Scope Resolution Operator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Used to specify "of what thing" they are</a:t>
            </a:r>
            <a:br>
              <a:rPr lang="en-US" smtClean="0"/>
            </a:br>
            <a:r>
              <a:rPr lang="en-US" smtClean="0"/>
              <a:t>members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Dot operator:</a:t>
            </a:r>
          </a:p>
          <a:p>
            <a:pPr lvl="1" eaLnBrk="1" hangingPunct="1"/>
            <a:r>
              <a:rPr lang="en-US" smtClean="0"/>
              <a:t>Specifies member of particular object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Scope resolution operator:</a:t>
            </a:r>
          </a:p>
          <a:p>
            <a:pPr lvl="1" eaLnBrk="1" hangingPunct="1"/>
            <a:r>
              <a:rPr lang="en-US" smtClean="0"/>
              <a:t>Specifies what class the function</a:t>
            </a:r>
            <a:br>
              <a:rPr lang="en-US" smtClean="0"/>
            </a:br>
            <a:r>
              <a:rPr lang="en-US" smtClean="0"/>
              <a:t>definition comes from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5E01AE57-FE21-4E09-B11D-F9C2BD2F70D8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Class’s Place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Class is full-fledged type!</a:t>
            </a:r>
          </a:p>
          <a:p>
            <a:pPr lvl="1" eaLnBrk="1" hangingPunct="1"/>
            <a:r>
              <a:rPr lang="en-US" sz="2400" smtClean="0"/>
              <a:t>Just like data types int, double, etc.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Can have variables of a class type</a:t>
            </a:r>
          </a:p>
          <a:p>
            <a:pPr lvl="1" eaLnBrk="1" hangingPunct="1"/>
            <a:r>
              <a:rPr lang="en-US" sz="2400" smtClean="0"/>
              <a:t>We simply call them "objects"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Can have parameters of a class type</a:t>
            </a:r>
          </a:p>
          <a:p>
            <a:pPr lvl="1" eaLnBrk="1" hangingPunct="1"/>
            <a:r>
              <a:rPr lang="en-US" sz="2400" smtClean="0"/>
              <a:t>Pass-by-value</a:t>
            </a:r>
          </a:p>
          <a:p>
            <a:pPr lvl="1" eaLnBrk="1" hangingPunct="1"/>
            <a:r>
              <a:rPr lang="en-US" sz="2400" smtClean="0"/>
              <a:t>Pass-by-reference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Can use class type like any other type!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53C0A54C-CBE9-424D-AB17-96C98C72B340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Encapsulation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Any data type includes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Data (range of data)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Operations (that can be performed on data)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800" i="1" smtClean="0"/>
              <a:t>int</a:t>
            </a:r>
            <a:r>
              <a:rPr lang="en-US" sz="2800" smtClean="0"/>
              <a:t> data type has:</a:t>
            </a:r>
            <a:br>
              <a:rPr lang="en-US" sz="2800" smtClean="0"/>
            </a:br>
            <a:r>
              <a:rPr lang="en-US" sz="2800" smtClean="0"/>
              <a:t>	Data: -2147483648 to 2147483647 (for 32 bit int)</a:t>
            </a:r>
            <a:br>
              <a:rPr lang="en-US" sz="2800" smtClean="0"/>
            </a:br>
            <a:r>
              <a:rPr lang="en-US" sz="2800" smtClean="0"/>
              <a:t>	Operations: +,-,*,/,%,logical,etc.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Same with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WE specify data, and the operations to</a:t>
            </a:r>
            <a:br>
              <a:rPr lang="en-US" sz="2400" smtClean="0"/>
            </a:br>
            <a:r>
              <a:rPr lang="en-US" sz="2400" smtClean="0"/>
              <a:t>be allowed on our data!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C3D41024-6B40-40EC-87E9-86EC1E848BCC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Abstract Data Types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"Abstract"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Programmers don’t know details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Abbreviated "ADT"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Collection of data values together with set</a:t>
            </a:r>
            <a:br>
              <a:rPr lang="en-US" sz="2400" smtClean="0"/>
            </a:br>
            <a:r>
              <a:rPr lang="en-US" sz="2400" smtClean="0"/>
              <a:t>of basic operations defined for the values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ADT’s often "language-independent"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We implement ADT’s in C++ with classes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C++ class "defines" the ADT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Other languages implement ADT’s as 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CA585673-FACD-4A11-AE20-72F1E86A1B1F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Encapsulation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Encapsulation</a:t>
            </a:r>
          </a:p>
          <a:p>
            <a:pPr lvl="1" eaLnBrk="1" hangingPunct="1"/>
            <a:r>
              <a:rPr lang="en-US" smtClean="0"/>
              <a:t>Means "bringing together as one"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Declare a class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get an object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Object is "encapsulation" of</a:t>
            </a:r>
          </a:p>
          <a:p>
            <a:pPr lvl="1" eaLnBrk="1" hangingPunct="1"/>
            <a:r>
              <a:rPr lang="en-US" smtClean="0"/>
              <a:t>Data values</a:t>
            </a:r>
          </a:p>
          <a:p>
            <a:pPr lvl="1" eaLnBrk="1" hangingPunct="1"/>
            <a:r>
              <a:rPr lang="en-US" smtClean="0"/>
              <a:t>Operations on the data (member functions)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25E958C3-0D14-4BBA-B79D-DD8350AF69EA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Principles of OOP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Information Hiding</a:t>
            </a:r>
          </a:p>
          <a:p>
            <a:pPr lvl="1" eaLnBrk="1" hangingPunct="1"/>
            <a:r>
              <a:rPr lang="en-US" sz="2400" smtClean="0"/>
              <a:t>Details of how operations work not known to "user" of class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Data Abstraction</a:t>
            </a:r>
          </a:p>
          <a:p>
            <a:pPr lvl="1" eaLnBrk="1" hangingPunct="1"/>
            <a:r>
              <a:rPr lang="en-US" sz="2400" smtClean="0"/>
              <a:t>Details of how data is manipulated within</a:t>
            </a:r>
            <a:br>
              <a:rPr lang="en-US" sz="2400" smtClean="0"/>
            </a:br>
            <a:r>
              <a:rPr lang="en-US" sz="2400" smtClean="0"/>
              <a:t>ADT/class not known to user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Encapsulation</a:t>
            </a:r>
          </a:p>
          <a:p>
            <a:pPr lvl="1" eaLnBrk="1" hangingPunct="1"/>
            <a:r>
              <a:rPr lang="en-US" sz="2400" smtClean="0"/>
              <a:t>Bring together data and operations, but keep "details" hidden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A30814C6-7378-46C5-9138-236A884406FE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Public and Private Members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in class almost always designated</a:t>
            </a:r>
            <a:br>
              <a:rPr lang="en-US" smtClean="0"/>
            </a:br>
            <a:r>
              <a:rPr lang="en-US" smtClean="0"/>
              <a:t>private in definition!</a:t>
            </a:r>
          </a:p>
          <a:p>
            <a:pPr lvl="1" eaLnBrk="1" hangingPunct="1"/>
            <a:r>
              <a:rPr lang="en-US" smtClean="0"/>
              <a:t>Upholds principles of OOP</a:t>
            </a:r>
          </a:p>
          <a:p>
            <a:pPr lvl="1" eaLnBrk="1" hangingPunct="1"/>
            <a:r>
              <a:rPr lang="en-US" smtClean="0"/>
              <a:t>Hide data from user</a:t>
            </a:r>
          </a:p>
          <a:p>
            <a:pPr lvl="1" eaLnBrk="1" hangingPunct="1"/>
            <a:r>
              <a:rPr lang="en-US" smtClean="0"/>
              <a:t>Allow manipulation only via operations</a:t>
            </a:r>
          </a:p>
          <a:p>
            <a:pPr lvl="2" eaLnBrk="1" hangingPunct="1"/>
            <a:r>
              <a:rPr lang="en-US" smtClean="0"/>
              <a:t>Which are member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Public items (usually member functions)</a:t>
            </a:r>
            <a:br>
              <a:rPr lang="en-US" smtClean="0"/>
            </a:br>
            <a:r>
              <a:rPr lang="en-US" smtClean="0"/>
              <a:t>are "user-accessible"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DCF7BBEE-0EDD-43EA-97DD-3258F0F0F331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Public and Private Example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Modify previous example:</a:t>
            </a:r>
            <a:br>
              <a:rPr lang="en-US" sz="2800" smtClean="0"/>
            </a:br>
            <a:r>
              <a:rPr lang="en-US" sz="2400" smtClean="0"/>
              <a:t>class DayOfYear    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public:</a:t>
            </a:r>
            <a:br>
              <a:rPr lang="en-US" sz="2400" smtClean="0"/>
            </a:br>
            <a:r>
              <a:rPr lang="en-US" sz="2400" smtClean="0"/>
              <a:t>	void input();		</a:t>
            </a:r>
            <a:br>
              <a:rPr lang="en-US" sz="2400" smtClean="0"/>
            </a:br>
            <a:r>
              <a:rPr lang="en-US" sz="2400" smtClean="0"/>
              <a:t>	void output();</a:t>
            </a:r>
            <a:br>
              <a:rPr lang="en-US" sz="2400" smtClean="0"/>
            </a:br>
            <a:r>
              <a:rPr lang="en-US" sz="2400" smtClean="0"/>
              <a:t>private:		</a:t>
            </a:r>
            <a:br>
              <a:rPr lang="en-US" sz="2400" smtClean="0"/>
            </a:br>
            <a:r>
              <a:rPr lang="en-US" sz="2400" smtClean="0"/>
              <a:t>	int month;</a:t>
            </a:r>
            <a:br>
              <a:rPr lang="en-US" sz="2400" smtClean="0"/>
            </a:br>
            <a:r>
              <a:rPr lang="en-US" sz="2400" smtClean="0"/>
              <a:t>	int day;</a:t>
            </a:r>
            <a:br>
              <a:rPr lang="en-US" sz="2400" smtClean="0"/>
            </a:br>
            <a:r>
              <a:rPr lang="en-US" sz="2400" smtClean="0"/>
              <a:t>};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Data now private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Objects have no direct access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CCAF88BB-3675-4F1B-A283-38B5FCFF4DB5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Public and Private Example 2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Given previous example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Declare object:</a:t>
            </a:r>
            <a:br>
              <a:rPr lang="en-US" sz="2800" smtClean="0"/>
            </a:br>
            <a:r>
              <a:rPr lang="en-US" sz="2800" smtClean="0"/>
              <a:t>DayOfYear today;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Object </a:t>
            </a:r>
            <a:r>
              <a:rPr lang="en-US" sz="2800" i="1" smtClean="0"/>
              <a:t>today</a:t>
            </a:r>
            <a:r>
              <a:rPr lang="en-US" sz="2800" smtClean="0"/>
              <a:t> can ONLY access</a:t>
            </a:r>
            <a:br>
              <a:rPr lang="en-US" sz="2800" smtClean="0"/>
            </a:br>
            <a:r>
              <a:rPr lang="en-US" sz="2800" smtClean="0"/>
              <a:t>public members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cin &gt;&gt; today.month;  // NOT ALLOWED!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cout &lt;&lt; today.day;    // NOT ALLOWED!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Must instead call public operations: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today.input();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today.output();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B6EAB14B-893B-4CBB-8083-C26871ED90B1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Public and Private Style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Can mix &amp; match public &amp; private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More typically place public first</a:t>
            </a:r>
          </a:p>
          <a:p>
            <a:pPr lvl="1" eaLnBrk="1" hangingPunct="1"/>
            <a:r>
              <a:rPr lang="en-US" sz="2400" smtClean="0"/>
              <a:t>Allows easy viewing of portions that can be</a:t>
            </a:r>
            <a:br>
              <a:rPr lang="en-US" sz="2400" smtClean="0"/>
            </a:br>
            <a:r>
              <a:rPr lang="en-US" sz="2400" smtClean="0"/>
              <a:t>USED by programmers using the class</a:t>
            </a:r>
          </a:p>
          <a:p>
            <a:pPr lvl="1" eaLnBrk="1" hangingPunct="1"/>
            <a:r>
              <a:rPr lang="en-US" sz="2400" smtClean="0"/>
              <a:t>Private data is "hidden", so irrelevant to users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Outside of class definition, cannot change </a:t>
            </a:r>
            <a:br>
              <a:rPr lang="en-US" sz="2800" smtClean="0"/>
            </a:br>
            <a:r>
              <a:rPr lang="en-US" sz="2800" smtClean="0"/>
              <a:t>(or even access) private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1DA0D92D-E9A3-4BE5-B14C-D9A5031D9293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Accessor and Mutator Functions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Object needs to "do something" with its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Call accessor member functions</a:t>
            </a:r>
          </a:p>
          <a:p>
            <a:pPr lvl="1" eaLnBrk="1" hangingPunct="1"/>
            <a:r>
              <a:rPr lang="en-US" sz="2400" smtClean="0"/>
              <a:t>Allow object to read data</a:t>
            </a:r>
          </a:p>
          <a:p>
            <a:pPr lvl="1" eaLnBrk="1" hangingPunct="1"/>
            <a:r>
              <a:rPr lang="en-US" sz="2400" smtClean="0"/>
              <a:t>Also called "get member functions"</a:t>
            </a:r>
          </a:p>
          <a:p>
            <a:pPr lvl="1" eaLnBrk="1" hangingPunct="1"/>
            <a:r>
              <a:rPr lang="en-US" sz="2400" smtClean="0"/>
              <a:t>Simple retrieval of member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Mutator member functions</a:t>
            </a:r>
          </a:p>
          <a:p>
            <a:pPr lvl="1" eaLnBrk="1" hangingPunct="1"/>
            <a:r>
              <a:rPr lang="en-US" sz="2400" smtClean="0"/>
              <a:t>Allow object to change data</a:t>
            </a:r>
          </a:p>
          <a:p>
            <a:pPr lvl="1" eaLnBrk="1" hangingPunct="1"/>
            <a:r>
              <a:rPr lang="en-US" sz="2400" smtClean="0"/>
              <a:t>Manipulated based on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643C8D2C-8CC5-4D8C-BC03-B0CF751CD69F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Separate Interface </a:t>
            </a:r>
            <a:br>
              <a:rPr lang="en-US" sz="3600" smtClean="0"/>
            </a:br>
            <a:r>
              <a:rPr lang="en-US" sz="3600" smtClean="0"/>
              <a:t>and Implementation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User of class need not see details of how</a:t>
            </a:r>
            <a:br>
              <a:rPr lang="en-US" sz="2800" smtClean="0"/>
            </a:br>
            <a:r>
              <a:rPr lang="en-US" sz="2800" smtClean="0"/>
              <a:t>class is implemented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Principle of OOP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encapsulation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User only needs "rules"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"interface" for the class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 C++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public member functions and</a:t>
            </a:r>
            <a:br>
              <a:rPr lang="en-US" sz="2000" smtClean="0"/>
            </a:br>
            <a:r>
              <a:rPr lang="en-US" sz="2000" smtClean="0"/>
              <a:t>associated comments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Implementation of class hidden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Member function definitions elsewhere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User need not see them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9B394D19-E785-437F-B1A3-BF7F3AFF1A47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Structures versus Classes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Typically all members public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 member 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Typically all data members private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Interface member functions public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Technically, same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Perceptionally, very different mechanisms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541659D1-8F9A-42E2-AB5C-E15F7997122E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Thinking Objects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Focus for programming changes</a:t>
            </a:r>
          </a:p>
          <a:p>
            <a:pPr lvl="1" eaLnBrk="1" hangingPunct="1"/>
            <a:r>
              <a:rPr lang="en-US" sz="2400" smtClean="0"/>
              <a:t>Before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algorithms center stage</a:t>
            </a:r>
          </a:p>
          <a:p>
            <a:pPr lvl="1" eaLnBrk="1" hangingPunct="1"/>
            <a:r>
              <a:rPr lang="en-US" sz="2400" smtClean="0"/>
              <a:t>OOP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data is focus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Algorithms still exist</a:t>
            </a:r>
          </a:p>
          <a:p>
            <a:pPr lvl="1" eaLnBrk="1" hangingPunct="1"/>
            <a:r>
              <a:rPr lang="en-US" sz="2400" smtClean="0"/>
              <a:t>They simply focus on their data</a:t>
            </a:r>
          </a:p>
          <a:p>
            <a:pPr lvl="1" eaLnBrk="1" hangingPunct="1"/>
            <a:r>
              <a:rPr lang="en-US" sz="2400" smtClean="0"/>
              <a:t>Are "made" to "fit" the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Designing software solution</a:t>
            </a:r>
          </a:p>
          <a:p>
            <a:pPr lvl="1" eaLnBrk="1" hangingPunct="1"/>
            <a:r>
              <a:rPr lang="en-US" sz="2400" smtClean="0"/>
              <a:t>Define variety of objects and how they interact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0FB661F8-A657-47FE-9205-8D8E6BF8A5AF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Structure is collection of different types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Class used to combine data and functions</a:t>
            </a:r>
            <a:br>
              <a:rPr lang="en-US" sz="2800" smtClean="0"/>
            </a:br>
            <a:r>
              <a:rPr lang="en-US" sz="2800" smtClean="0"/>
              <a:t>into single unit -&gt; object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Member variables and member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be public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accessed outside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be private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accessed only in a member</a:t>
            </a:r>
            <a:br>
              <a:rPr lang="en-US" sz="2400" smtClean="0"/>
            </a:br>
            <a:r>
              <a:rPr lang="en-US" sz="2400" smtClean="0"/>
              <a:t>function’s definition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Class and structure types can be formal</a:t>
            </a:r>
            <a:br>
              <a:rPr lang="en-US" sz="2800" smtClean="0"/>
            </a:br>
            <a:r>
              <a:rPr lang="en-US" sz="2800" smtClean="0"/>
              <a:t>parameters to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46AB102B-421A-40FC-8507-B6C374C975B8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C++ class definition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Should separate two key parts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smtClean="0"/>
              <a:t>Interface: what user needs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smtClean="0"/>
              <a:t>Implementation: details of how class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6-</a:t>
            </a:r>
            <a:fld id="{A8A47A99-1FF5-4BAA-86AD-65EE61C9B3B9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1535</Words>
  <Application>Microsoft Office PowerPoint</Application>
  <PresentationFormat>On-screen Show (4:3)</PresentationFormat>
  <Paragraphs>346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Arial</vt:lpstr>
      <vt:lpstr>Calibri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6</vt:lpstr>
      <vt:lpstr>Learning Objectives</vt:lpstr>
      <vt:lpstr>Structures</vt:lpstr>
      <vt:lpstr>Structure Types</vt:lpstr>
      <vt:lpstr>Declare Structure Variable</vt:lpstr>
      <vt:lpstr>Accessing Structure Members</vt:lpstr>
      <vt:lpstr>Structure Example:  Display 6.1  A Structure Definition (1 of 3)</vt:lpstr>
      <vt:lpstr>Structure Example:  Display 6.1  A Structure Definition (2 of 3)</vt:lpstr>
      <vt:lpstr>Structure Example:  Display 6.1  A Structure Definition (3 of 3)</vt:lpstr>
      <vt:lpstr>Structure Pitfall</vt:lpstr>
      <vt:lpstr>Structure Assignments</vt:lpstr>
      <vt:lpstr>Structures as Function Arguments</vt:lpstr>
      <vt:lpstr>Initializing Structures</vt:lpstr>
      <vt:lpstr>Classes</vt:lpstr>
      <vt:lpstr>Class Definitions</vt:lpstr>
      <vt:lpstr>Declaring Objects</vt:lpstr>
      <vt:lpstr>Class Member Access</vt:lpstr>
      <vt:lpstr>Class Member Functions</vt:lpstr>
      <vt:lpstr>Class Member Functions Definition</vt:lpstr>
      <vt:lpstr>Complete Class Example:  Display 6.3  Class With a Member Function (1 of 4)</vt:lpstr>
      <vt:lpstr>Complete Class Example:  Display 6.3  Class With a Member Function (2 of 4)</vt:lpstr>
      <vt:lpstr>Complete Class Example:  Display 6.3  Class With a Member Function (3 of 4)</vt:lpstr>
      <vt:lpstr>Complete Class Example:  Display 6.3  Class With a Member Function (4 of 4)</vt:lpstr>
      <vt:lpstr>Dot and Scope Resolution Operator</vt:lpstr>
      <vt:lpstr>A Class’s Place</vt:lpstr>
      <vt:lpstr>Encapsulation</vt:lpstr>
      <vt:lpstr>Abstract Data Types</vt:lpstr>
      <vt:lpstr>More Encapsulation</vt:lpstr>
      <vt:lpstr>Principles of OOP</vt:lpstr>
      <vt:lpstr>Public and Private Members</vt:lpstr>
      <vt:lpstr>Public and Private Example</vt:lpstr>
      <vt:lpstr>Public and Private Example 2</vt:lpstr>
      <vt:lpstr>Public and Private Style</vt:lpstr>
      <vt:lpstr>Accessor and Mutator Functions</vt:lpstr>
      <vt:lpstr>Separate Interface  and Implementation</vt:lpstr>
      <vt:lpstr>Structures versus Classes</vt:lpstr>
      <vt:lpstr>Thinking Objects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17</cp:revision>
  <dcterms:created xsi:type="dcterms:W3CDTF">2006-08-16T00:00:00Z</dcterms:created>
  <dcterms:modified xsi:type="dcterms:W3CDTF">2012-05-08T14:06:47Z</dcterms:modified>
</cp:coreProperties>
</file>