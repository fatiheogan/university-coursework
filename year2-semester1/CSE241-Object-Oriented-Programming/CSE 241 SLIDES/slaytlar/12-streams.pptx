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00" r:id="rId41"/>
    <p:sldId id="301" r:id="rId42"/>
    <p:sldId id="302" r:id="rId43"/>
    <p:sldId id="303" r:id="rId44"/>
    <p:sldId id="304" r:id="rId45"/>
    <p:sldId id="305" r:id="rId46"/>
    <p:sldId id="295" r:id="rId47"/>
    <p:sldId id="296" r:id="rId48"/>
    <p:sldId id="297" r:id="rId49"/>
    <p:sldId id="298" r:id="rId50"/>
    <p:sldId id="299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BE7D1ED-7EBE-48B0-B684-FFBCB0E3283F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6E0F0C-16F2-48E2-8EE0-F77E2AC90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E450FE-D995-4B75-A38D-30A6FA9C156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710778-BED5-4C56-AF2C-64940281420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07330E-48DB-4CE1-9FB9-A0708901B4D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D0E5FB-06F6-4279-BE07-9026ABBB1EA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99E1A6-AB8A-4716-8EA9-5EFDFA7D42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6D1763-8C94-4FD2-9255-BF41D15D11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795D3B-E80F-48AB-862F-4394299383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66B17A-2AE3-4F9A-9A9E-56EF555B9F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36B95E-1AA9-42E4-9DC7-00C6E6601E9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6A760-31FC-45B7-A655-9ADEA39146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CB6197-6F29-4288-89CE-16CD53C0F0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31B3C1-51C3-42A9-BDBB-DA9A0C1BCA1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2D8D81-252A-4F05-BD2F-B62E4A62143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343C75-4516-43B5-B6AA-C8F3A8CD05B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DE84EA-6E16-4BE6-B505-D29CA928B1E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81CD9F-F88A-4227-93AE-38AFFA1EAC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706490-FD98-41FA-81CD-F6E01904F2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80C655-335D-4F7E-8385-A7BEA20D6AF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F8C8D1-43F0-4509-AD68-F7283328210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4282B1-020F-43D8-998C-7A5DB2C8B7E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4C39AE-D220-4F86-AF38-1DFFBD6F289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773F46-DE5B-41A4-B41A-9C7FD7D421B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C63E5F-E699-4240-81D7-B6A952C1EC3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B11C48-52ED-4B10-B66A-E44073277B7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7DF116-3845-4DFA-820D-0E4919E03CC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71719B-F8A3-4C36-855D-794C58CEA31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82A30D-AFA3-49DC-A8AB-C3EB40341C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95BA3F-4A79-4CB6-8826-7D42525D982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32A52F-3649-4347-B25F-885F308C41C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86571A-6C5B-4F5C-94F5-F1DCEBC4CB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89CB95-61DB-4732-ACE4-39554C7C9B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432AB-FB9E-46E9-A236-69514B5E197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1505A0-3711-44EA-B37C-26D0F556278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59268-89B5-4281-8C82-B3375AA6D5A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593E1E-2064-4E7C-B0C3-52ADCC0B629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E97052-3C32-40F1-A067-7627E61F032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D29C4B-13EC-4E1C-ABEF-AC4D47634B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9FB73-FE7E-4997-A8D8-411185A759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94756C-9E64-4929-809D-91223340FEC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43CB7E-FC31-4063-8A07-A1A8C1BD689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5B66F1D-1709-4932-99D1-DE1EDE01957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491DC5-B8DE-4DD6-A4E1-EABEFA9C66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CF79D3-6B6C-47BE-A1FE-E91E1E30855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6454EA-130D-4122-B7A7-ACB50FC95ED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22BBB-2CA6-498A-AC76-643375E890A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57ADD968-B1DB-480C-B601-0E3C26A437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D504F-C136-4863-87BD-564602022987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828753F2-9DE3-4C79-BBFF-236FA2166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83A6F-A9D3-4E7E-9021-FABC0B67BD6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EC3F1FE4-D523-4969-A786-D775773106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16F4-0C85-41F7-9601-41E3A7AE8C8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996DBD49-D5B6-477C-A2E8-90B72E04C2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68672-EF96-4039-96E6-EC032EAD203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65A7E6A5-FBA9-4D50-AFFA-905B9D15CB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BD0CF-7BE3-46EA-BA43-EAD257D8C71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00B73C62-4789-4DA2-A9BE-02528F13A7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5298C-2008-4CEF-ADB0-72EA360C52C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F49832E6-FD34-4C1A-9D5A-0548FC11E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10A7E-0E0C-42C3-8959-4D960B53A00E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945170FE-FB7E-4122-94A7-6FBCD04F9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E64C5-CE47-4D99-B1EA-9A5714B0E03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5BCCD61C-6CFE-45A1-BA30-50E237ABFE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B0161-7257-454A-ACF4-2661EE5F303E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6C865DE0-043E-4A8F-825D-5FC5B436D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B6C81-F73A-4CE3-8357-E510AE1C06A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12-</a:t>
            </a:r>
            <a:fld id="{61305401-3F43-4E0D-B399-A5625A0C2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5620A6-A376-4E45-A6C1-4D488A65E695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E3B8B21D-71E6-4441-97C8-CF518C14D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Streams </a:t>
            </a:r>
            <a:br>
              <a:rPr lang="en-US" dirty="0" smtClean="0"/>
            </a:br>
            <a:r>
              <a:rPr lang="en-US" dirty="0" smtClean="0"/>
              <a:t>and File I/O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I/O Streams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File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Character I/O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Tools for Stream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File names as input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Formatting output, flag settings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Stream Hierarchies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Preview of inheritance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Random Access to Files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453D003A-77E1-49B5-A58B-9CC2AA91897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Streams</a:t>
            </a:r>
          </a:p>
          <a:p>
            <a:pPr lvl="1" eaLnBrk="1" hangingPunct="1"/>
            <a:r>
              <a:rPr lang="en-US" smtClean="0"/>
              <a:t>Special objects</a:t>
            </a:r>
          </a:p>
          <a:p>
            <a:pPr lvl="1" eaLnBrk="1" hangingPunct="1"/>
            <a:r>
              <a:rPr lang="en-US" smtClean="0"/>
              <a:t>Deliver program input and output</a:t>
            </a:r>
          </a:p>
          <a:p>
            <a:pPr eaLnBrk="1" hangingPunct="1"/>
            <a:r>
              <a:rPr lang="en-US" smtClean="0"/>
              <a:t>File I/O</a:t>
            </a:r>
          </a:p>
          <a:p>
            <a:pPr lvl="1" eaLnBrk="1" hangingPunct="1"/>
            <a:r>
              <a:rPr lang="en-US" smtClean="0"/>
              <a:t>Uses inheritance</a:t>
            </a:r>
          </a:p>
          <a:p>
            <a:pPr lvl="2" eaLnBrk="1" hangingPunct="1"/>
            <a:r>
              <a:rPr lang="en-US" smtClean="0"/>
              <a:t>Not covered until chapter 14</a:t>
            </a:r>
          </a:p>
          <a:p>
            <a:pPr lvl="1" eaLnBrk="1" hangingPunct="1"/>
            <a:r>
              <a:rPr lang="en-US" smtClean="0"/>
              <a:t>File I/O very useful, so covered here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E0221840-282C-4D15-8623-800F82EE136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 flow of characters</a:t>
            </a:r>
          </a:p>
          <a:p>
            <a:pPr eaLnBrk="1" hangingPunct="1"/>
            <a:r>
              <a:rPr lang="en-US" sz="2800" smtClean="0"/>
              <a:t>Input stream</a:t>
            </a:r>
          </a:p>
          <a:p>
            <a:pPr lvl="1" eaLnBrk="1" hangingPunct="1"/>
            <a:r>
              <a:rPr lang="en-US" sz="2400" smtClean="0"/>
              <a:t>Flow into program</a:t>
            </a:r>
          </a:p>
          <a:p>
            <a:pPr lvl="2" eaLnBrk="1" hangingPunct="1"/>
            <a:r>
              <a:rPr lang="en-US" sz="2000" smtClean="0"/>
              <a:t>Can come from keyboard</a:t>
            </a:r>
          </a:p>
          <a:p>
            <a:pPr lvl="2" eaLnBrk="1" hangingPunct="1"/>
            <a:r>
              <a:rPr lang="en-US" sz="2000" smtClean="0"/>
              <a:t>Can come from file</a:t>
            </a:r>
          </a:p>
          <a:p>
            <a:pPr eaLnBrk="1" hangingPunct="1"/>
            <a:r>
              <a:rPr lang="en-US" sz="2800" smtClean="0"/>
              <a:t>Output stream</a:t>
            </a:r>
          </a:p>
          <a:p>
            <a:pPr lvl="1" eaLnBrk="1" hangingPunct="1"/>
            <a:r>
              <a:rPr lang="en-US" sz="2400" smtClean="0"/>
              <a:t>Flow out of program</a:t>
            </a:r>
          </a:p>
          <a:p>
            <a:pPr lvl="2" eaLnBrk="1" hangingPunct="1"/>
            <a:r>
              <a:rPr lang="en-US" sz="2000" smtClean="0"/>
              <a:t>Can go to screen</a:t>
            </a:r>
          </a:p>
          <a:p>
            <a:pPr lvl="2" eaLnBrk="1" hangingPunct="1"/>
            <a:r>
              <a:rPr lang="en-US" sz="2000" smtClean="0"/>
              <a:t>Can go to file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54970C37-1AE4-4C14-B1B1-78356F4A9279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Streams Usage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We’ve used streams already</a:t>
            </a:r>
          </a:p>
          <a:p>
            <a:pPr lvl="1" eaLnBrk="1" hangingPunct="1"/>
            <a:r>
              <a:rPr lang="en-US" smtClean="0"/>
              <a:t>cin</a:t>
            </a:r>
          </a:p>
          <a:p>
            <a:pPr lvl="2" eaLnBrk="1" hangingPunct="1"/>
            <a:r>
              <a:rPr lang="en-US" smtClean="0"/>
              <a:t>Input stream object connected to keyboard</a:t>
            </a:r>
          </a:p>
          <a:p>
            <a:pPr lvl="1" eaLnBrk="1" hangingPunct="1"/>
            <a:r>
              <a:rPr lang="en-US" smtClean="0"/>
              <a:t>cout</a:t>
            </a:r>
          </a:p>
          <a:p>
            <a:pPr lvl="2" eaLnBrk="1" hangingPunct="1"/>
            <a:r>
              <a:rPr lang="en-US" smtClean="0"/>
              <a:t>Output stream object connected to screen</a:t>
            </a:r>
          </a:p>
          <a:p>
            <a:pPr eaLnBrk="1" hangingPunct="1"/>
            <a:r>
              <a:rPr lang="en-US" smtClean="0"/>
              <a:t>Can define other streams</a:t>
            </a:r>
          </a:p>
          <a:p>
            <a:pPr lvl="1" eaLnBrk="1" hangingPunct="1"/>
            <a:r>
              <a:rPr lang="en-US" smtClean="0"/>
              <a:t>To or from files</a:t>
            </a:r>
          </a:p>
          <a:p>
            <a:pPr lvl="1" eaLnBrk="1" hangingPunct="1"/>
            <a:r>
              <a:rPr lang="en-US" smtClean="0"/>
              <a:t>Used similarly as cin, cout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F8EB6496-84DC-4ECB-ACBB-38137D91B0D2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Streams Usage Like cin, cout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Given program defines stream inStream</a:t>
            </a:r>
            <a:br>
              <a:rPr lang="en-US" sz="2400" smtClean="0"/>
            </a:br>
            <a:r>
              <a:rPr lang="en-US" sz="2400" smtClean="0"/>
              <a:t>that comes from some file:</a:t>
            </a:r>
            <a:br>
              <a:rPr lang="en-US" sz="2400" smtClean="0"/>
            </a:br>
            <a:r>
              <a:rPr lang="en-US" sz="2000" smtClean="0"/>
              <a:t>int theNumber;</a:t>
            </a:r>
            <a:br>
              <a:rPr lang="en-US" sz="2000" smtClean="0"/>
            </a:br>
            <a:r>
              <a:rPr lang="en-US" sz="2000" smtClean="0"/>
              <a:t>inStream &gt;&gt; theNumber;</a:t>
            </a:r>
          </a:p>
          <a:p>
            <a:pPr lvl="2" eaLnBrk="1" hangingPunct="1"/>
            <a:r>
              <a:rPr lang="en-US" sz="2000" smtClean="0"/>
              <a:t>Reads value from stream, assigned to </a:t>
            </a:r>
            <a:r>
              <a:rPr lang="en-US" sz="2000" i="1" smtClean="0"/>
              <a:t>theNumber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Program defines stream outStream that goes</a:t>
            </a:r>
            <a:br>
              <a:rPr lang="en-US" sz="2400" smtClean="0"/>
            </a:br>
            <a:r>
              <a:rPr lang="en-US" sz="2400" smtClean="0"/>
              <a:t>to some file</a:t>
            </a:r>
            <a:br>
              <a:rPr lang="en-US" sz="2400" smtClean="0"/>
            </a:br>
            <a:r>
              <a:rPr lang="en-US" sz="2000" smtClean="0"/>
              <a:t>outStream &lt;&lt; "theNumber is " &lt;&lt; theNumber;</a:t>
            </a:r>
          </a:p>
          <a:p>
            <a:pPr lvl="2" eaLnBrk="1" hangingPunct="1"/>
            <a:r>
              <a:rPr lang="en-US" sz="2000" smtClean="0"/>
              <a:t>Writes value to stream, which goes to file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9CBD0CC5-654D-468C-A5B6-6907CC1AF958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Files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We’ll use text files</a:t>
            </a:r>
          </a:p>
          <a:p>
            <a:pPr eaLnBrk="1" hangingPunct="1"/>
            <a:r>
              <a:rPr lang="en-US" sz="2800" smtClean="0"/>
              <a:t>Reading from file</a:t>
            </a:r>
          </a:p>
          <a:p>
            <a:pPr lvl="1" eaLnBrk="1" hangingPunct="1"/>
            <a:r>
              <a:rPr lang="en-US" sz="2400" smtClean="0"/>
              <a:t>When program takes input</a:t>
            </a:r>
          </a:p>
          <a:p>
            <a:pPr eaLnBrk="1" hangingPunct="1"/>
            <a:r>
              <a:rPr lang="en-US" sz="2800" smtClean="0"/>
              <a:t>Writing to file</a:t>
            </a:r>
          </a:p>
          <a:p>
            <a:pPr lvl="1" eaLnBrk="1" hangingPunct="1"/>
            <a:r>
              <a:rPr lang="en-US" sz="2400" smtClean="0"/>
              <a:t>When program sends output</a:t>
            </a:r>
          </a:p>
          <a:p>
            <a:pPr eaLnBrk="1" hangingPunct="1"/>
            <a:r>
              <a:rPr lang="en-US" sz="2800" smtClean="0"/>
              <a:t>Start at beginning of file to end</a:t>
            </a:r>
          </a:p>
          <a:p>
            <a:pPr lvl="1" eaLnBrk="1" hangingPunct="1"/>
            <a:r>
              <a:rPr lang="en-US" sz="2400" smtClean="0"/>
              <a:t>Other methods available</a:t>
            </a:r>
          </a:p>
          <a:p>
            <a:pPr lvl="1" eaLnBrk="1" hangingPunct="1"/>
            <a:r>
              <a:rPr lang="en-US" sz="2400" smtClean="0"/>
              <a:t>We’ll discuss this simple text file access here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35A361A5-9302-441B-8FAE-4C4AC350FBE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File Connection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Must first connect </a:t>
            </a:r>
            <a:r>
              <a:rPr lang="en-US" sz="2800" i="1" smtClean="0"/>
              <a:t>file</a:t>
            </a:r>
            <a:r>
              <a:rPr lang="en-US" sz="2800" smtClean="0"/>
              <a:t> to </a:t>
            </a:r>
            <a:r>
              <a:rPr lang="en-US" sz="2800" i="1" smtClean="0"/>
              <a:t>stream object</a:t>
            </a:r>
          </a:p>
          <a:p>
            <a:pPr eaLnBrk="1" hangingPunct="1"/>
            <a:r>
              <a:rPr lang="en-US" sz="2800" smtClean="0"/>
              <a:t>For input:</a:t>
            </a:r>
          </a:p>
          <a:p>
            <a:pPr lvl="1" eaLnBrk="1" hangingPunct="1"/>
            <a:r>
              <a:rPr lang="en-US" sz="2400" smtClean="0"/>
              <a:t>File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ifstream object</a:t>
            </a:r>
          </a:p>
          <a:p>
            <a:pPr eaLnBrk="1" hangingPunct="1"/>
            <a:r>
              <a:rPr lang="en-US" sz="2800" smtClean="0"/>
              <a:t>For output:</a:t>
            </a:r>
          </a:p>
          <a:p>
            <a:pPr lvl="1" eaLnBrk="1" hangingPunct="1"/>
            <a:r>
              <a:rPr lang="en-US" sz="2400" smtClean="0"/>
              <a:t>File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ofstream object</a:t>
            </a:r>
          </a:p>
          <a:p>
            <a:pPr eaLnBrk="1" hangingPunct="1"/>
            <a:r>
              <a:rPr lang="en-US" sz="2800" smtClean="0"/>
              <a:t>Classes ifstream and ofstream</a:t>
            </a:r>
          </a:p>
          <a:p>
            <a:pPr lvl="1" eaLnBrk="1" hangingPunct="1"/>
            <a:r>
              <a:rPr lang="en-US" sz="2400" smtClean="0"/>
              <a:t>Defined in library &lt;fstream&gt;</a:t>
            </a:r>
          </a:p>
          <a:p>
            <a:pPr lvl="1" eaLnBrk="1" hangingPunct="1"/>
            <a:r>
              <a:rPr lang="en-US" sz="2400" smtClean="0"/>
              <a:t>Named in std namespace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27AB5B3C-9A03-4652-9BFD-500A06AD1A8B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File I/O Libraries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To allow both file input and output in your</a:t>
            </a:r>
            <a:br>
              <a:rPr lang="en-US" sz="2800" smtClean="0"/>
            </a:br>
            <a:r>
              <a:rPr lang="en-US" sz="2800" smtClean="0"/>
              <a:t>program:</a:t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>#include &lt;fstream&gt;</a:t>
            </a:r>
            <a:br>
              <a:rPr lang="en-US" sz="2800" smtClean="0"/>
            </a:br>
            <a:r>
              <a:rPr lang="en-US" sz="2800" smtClean="0"/>
              <a:t>using namespace std;</a:t>
            </a:r>
            <a:br>
              <a:rPr lang="en-US" sz="2800" smtClean="0"/>
            </a:br>
            <a:r>
              <a:rPr lang="en-US" sz="2800" smtClean="0"/>
              <a:t>		OR</a:t>
            </a:r>
            <a:br>
              <a:rPr lang="en-US" sz="2800" smtClean="0"/>
            </a:br>
            <a:r>
              <a:rPr lang="en-US" sz="2800" smtClean="0"/>
              <a:t>#include &lt;fstream&gt;</a:t>
            </a:r>
            <a:br>
              <a:rPr lang="en-US" sz="2800" smtClean="0"/>
            </a:br>
            <a:r>
              <a:rPr lang="en-US" sz="2800" smtClean="0"/>
              <a:t>using std::ifstream;</a:t>
            </a:r>
            <a:br>
              <a:rPr lang="en-US" sz="2800" smtClean="0"/>
            </a:br>
            <a:r>
              <a:rPr lang="en-US" sz="2800" smtClean="0"/>
              <a:t>using std::ofstream;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5E78C62C-E9C8-4A1B-99B9-C57D2E055617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Streams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Stream must be declared like any other</a:t>
            </a:r>
            <a:br>
              <a:rPr lang="en-US" smtClean="0"/>
            </a:br>
            <a:r>
              <a:rPr lang="en-US" smtClean="0"/>
              <a:t>class variable: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sz="2800" smtClean="0"/>
              <a:t>ifstream inStream;</a:t>
            </a:r>
            <a:br>
              <a:rPr lang="en-US" sz="2800" smtClean="0"/>
            </a:br>
            <a:r>
              <a:rPr lang="en-US" sz="2800" smtClean="0"/>
              <a:t>	ofstream outStream;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Must then "connect" to file: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sz="2800" smtClean="0"/>
              <a:t>inStream.open("infile.txt");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Called "opening the file"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Uses member function </a:t>
            </a:r>
            <a:r>
              <a:rPr lang="en-US" i="1" smtClean="0"/>
              <a:t>open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specify complete pathname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015A6084-89B9-47FA-B1D3-4E76D7042086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Streams Usage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Once declared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use normally!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int oneNumber, anotherNumber;</a:t>
            </a:r>
            <a:br>
              <a:rPr lang="en-US" sz="2400" smtClean="0"/>
            </a:br>
            <a:r>
              <a:rPr lang="en-US" sz="2400" smtClean="0"/>
              <a:t>	inStream &gt;&gt; oneNumber &gt;&gt; anotherNumber;</a:t>
            </a:r>
          </a:p>
          <a:p>
            <a:pPr eaLnBrk="1" hangingPunct="1"/>
            <a:r>
              <a:rPr lang="en-US" sz="2800" smtClean="0"/>
              <a:t>Output stream similar: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ofstream outStream;</a:t>
            </a:r>
            <a:br>
              <a:rPr lang="en-US" sz="2400" smtClean="0"/>
            </a:br>
            <a:r>
              <a:rPr lang="en-US" sz="2400" smtClean="0"/>
              <a:t>	outStream.open("outfile.txt");</a:t>
            </a:r>
            <a:br>
              <a:rPr lang="en-US" sz="2400" smtClean="0"/>
            </a:br>
            <a:r>
              <a:rPr lang="en-US" sz="2400" smtClean="0"/>
              <a:t>	outStream 	&lt;&lt; "oneNumber = " &lt;&lt; oneNumber</a:t>
            </a:r>
            <a:br>
              <a:rPr lang="en-US" sz="2400" smtClean="0"/>
            </a:br>
            <a:r>
              <a:rPr lang="en-US" sz="2400" smtClean="0"/>
              <a:t>			&lt;&lt; " anotherNumber = "</a:t>
            </a:r>
            <a:br>
              <a:rPr lang="en-US" sz="2400" smtClean="0"/>
            </a:br>
            <a:r>
              <a:rPr lang="en-US" sz="2400" smtClean="0"/>
              <a:t>			&lt;&lt; anotherNumber;</a:t>
            </a:r>
          </a:p>
          <a:p>
            <a:pPr lvl="1" eaLnBrk="1" hangingPunct="1"/>
            <a:r>
              <a:rPr lang="en-US" sz="2400" smtClean="0"/>
              <a:t>Sends items to output file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1C25A546-76AF-4131-AE4C-2B204EACC46A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File Names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Programs and files</a:t>
            </a:r>
          </a:p>
          <a:p>
            <a:pPr eaLnBrk="1" hangingPunct="1"/>
            <a:r>
              <a:rPr lang="en-US" sz="2800" smtClean="0"/>
              <a:t>Files have two names to our programs</a:t>
            </a:r>
          </a:p>
          <a:p>
            <a:pPr lvl="1" eaLnBrk="1" hangingPunct="1"/>
            <a:r>
              <a:rPr lang="en-US" sz="2400" smtClean="0"/>
              <a:t>External file name</a:t>
            </a:r>
          </a:p>
          <a:p>
            <a:pPr lvl="2" eaLnBrk="1" hangingPunct="1"/>
            <a:r>
              <a:rPr lang="en-US" sz="2000" smtClean="0"/>
              <a:t>Also called "physical file name"</a:t>
            </a:r>
          </a:p>
          <a:p>
            <a:pPr lvl="2" eaLnBrk="1" hangingPunct="1"/>
            <a:r>
              <a:rPr lang="en-US" sz="2000" smtClean="0"/>
              <a:t>Like "infile.txt"</a:t>
            </a:r>
          </a:p>
          <a:p>
            <a:pPr lvl="2" eaLnBrk="1" hangingPunct="1"/>
            <a:r>
              <a:rPr lang="en-US" sz="2000" smtClean="0"/>
              <a:t>Sometimes considered "real file name"</a:t>
            </a:r>
          </a:p>
          <a:p>
            <a:pPr lvl="2" eaLnBrk="1" hangingPunct="1"/>
            <a:r>
              <a:rPr lang="en-US" sz="2000" smtClean="0"/>
              <a:t>Used only once in program (to open)</a:t>
            </a:r>
          </a:p>
          <a:p>
            <a:pPr lvl="1" eaLnBrk="1" hangingPunct="1"/>
            <a:r>
              <a:rPr lang="en-US" sz="2400" smtClean="0"/>
              <a:t>Stream name</a:t>
            </a:r>
          </a:p>
          <a:p>
            <a:pPr lvl="2" eaLnBrk="1" hangingPunct="1"/>
            <a:r>
              <a:rPr lang="en-US" sz="2000" smtClean="0"/>
              <a:t>Also called "logical file name"</a:t>
            </a:r>
          </a:p>
          <a:p>
            <a:pPr lvl="2" eaLnBrk="1" hangingPunct="1"/>
            <a:r>
              <a:rPr lang="en-US" sz="2000" smtClean="0"/>
              <a:t>Program uses this name for all file activity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A2B10D67-68C9-453F-8007-02855B013508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Closing Files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Files should be closed</a:t>
            </a:r>
          </a:p>
          <a:p>
            <a:pPr lvl="1" eaLnBrk="1" hangingPunct="1"/>
            <a:r>
              <a:rPr lang="en-US" sz="2400" smtClean="0"/>
              <a:t>When program completed getting input or</a:t>
            </a:r>
            <a:br>
              <a:rPr lang="en-US" sz="2400" smtClean="0"/>
            </a:br>
            <a:r>
              <a:rPr lang="en-US" sz="2400" smtClean="0"/>
              <a:t>sending output</a:t>
            </a:r>
          </a:p>
          <a:p>
            <a:pPr lvl="1" eaLnBrk="1" hangingPunct="1"/>
            <a:r>
              <a:rPr lang="en-US" sz="2400" smtClean="0"/>
              <a:t>Disconnects stream from file</a:t>
            </a:r>
          </a:p>
          <a:p>
            <a:pPr lvl="1" eaLnBrk="1" hangingPunct="1"/>
            <a:r>
              <a:rPr lang="en-US" sz="2400" smtClean="0"/>
              <a:t>In action:</a:t>
            </a:r>
            <a:br>
              <a:rPr lang="en-US" sz="2400" smtClean="0"/>
            </a:br>
            <a:r>
              <a:rPr lang="en-US" sz="2400" smtClean="0"/>
              <a:t>	inStream.close();</a:t>
            </a:r>
            <a:br>
              <a:rPr lang="en-US" sz="2400" smtClean="0"/>
            </a:br>
            <a:r>
              <a:rPr lang="en-US" sz="2400" smtClean="0"/>
              <a:t>	outStream.close();</a:t>
            </a:r>
          </a:p>
          <a:p>
            <a:pPr lvl="2" eaLnBrk="1" hangingPunct="1"/>
            <a:r>
              <a:rPr lang="en-US" sz="2000" smtClean="0"/>
              <a:t>Note no arguments</a:t>
            </a:r>
          </a:p>
          <a:p>
            <a:pPr eaLnBrk="1" hangingPunct="1"/>
            <a:r>
              <a:rPr lang="en-US" sz="2800" smtClean="0"/>
              <a:t>Files automatically close when program ends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9A091AF0-9A21-4DCD-844B-EDAE36A29D5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File Flush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Output often "buffered"</a:t>
            </a:r>
          </a:p>
          <a:p>
            <a:pPr lvl="1" eaLnBrk="1" hangingPunct="1"/>
            <a:r>
              <a:rPr lang="en-US" sz="2400" smtClean="0"/>
              <a:t>Temporarily stored before written to file</a:t>
            </a:r>
          </a:p>
          <a:p>
            <a:pPr lvl="1" eaLnBrk="1" hangingPunct="1"/>
            <a:r>
              <a:rPr lang="en-US" sz="2400" smtClean="0"/>
              <a:t>Written in "groups"</a:t>
            </a:r>
          </a:p>
          <a:p>
            <a:pPr eaLnBrk="1" hangingPunct="1"/>
            <a:r>
              <a:rPr lang="en-US" sz="2800" smtClean="0"/>
              <a:t>Occasionally might need to force writing:</a:t>
            </a:r>
            <a:br>
              <a:rPr lang="en-US" sz="2800" smtClean="0"/>
            </a:br>
            <a:r>
              <a:rPr lang="en-US" sz="2800" smtClean="0"/>
              <a:t>outStream.flush();</a:t>
            </a:r>
          </a:p>
          <a:p>
            <a:pPr lvl="1" eaLnBrk="1" hangingPunct="1"/>
            <a:r>
              <a:rPr lang="en-US" sz="2400" smtClean="0"/>
              <a:t>Member function </a:t>
            </a:r>
            <a:r>
              <a:rPr lang="en-US" sz="2400" i="1" smtClean="0"/>
              <a:t>flush</a:t>
            </a:r>
            <a:r>
              <a:rPr lang="en-US" sz="2400" smtClean="0"/>
              <a:t>, for all output streams</a:t>
            </a:r>
          </a:p>
          <a:p>
            <a:pPr lvl="1" eaLnBrk="1" hangingPunct="1"/>
            <a:r>
              <a:rPr lang="en-US" sz="2400" smtClean="0"/>
              <a:t>All buffered output is physically written</a:t>
            </a:r>
          </a:p>
          <a:p>
            <a:pPr eaLnBrk="1" hangingPunct="1"/>
            <a:r>
              <a:rPr lang="en-US" sz="2800" smtClean="0"/>
              <a:t>Closing file automatically calls flush()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37008DE8-300E-42CA-B6D3-A55F5E78E87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File Example: </a:t>
            </a:r>
            <a:br>
              <a:rPr lang="en-US" sz="3000" smtClean="0"/>
            </a:br>
            <a:r>
              <a:rPr lang="en-US" sz="3000" b="1" smtClean="0"/>
              <a:t>Display 12.1</a:t>
            </a:r>
            <a:r>
              <a:rPr lang="en-US" sz="3000" smtClean="0"/>
              <a:t>  Simple File </a:t>
            </a:r>
            <a:br>
              <a:rPr lang="en-US" sz="3000" smtClean="0"/>
            </a:br>
            <a:r>
              <a:rPr lang="en-US" sz="3000" smtClean="0"/>
              <a:t>Input/Output (1 of 2)</a:t>
            </a:r>
          </a:p>
        </p:txBody>
      </p:sp>
      <p:pic>
        <p:nvPicPr>
          <p:cNvPr id="43010" name="Picture 9" descr="C:\WINDOWS\Desktop\Oh_type\sacitch_C++_ppt\gif\savitchc12d01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73175" y="1644650"/>
            <a:ext cx="7272338" cy="474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CA3F6F4B-96F6-4B0C-A628-914E59E59D8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File Example: </a:t>
            </a:r>
            <a:br>
              <a:rPr lang="en-US" sz="3000" smtClean="0"/>
            </a:br>
            <a:r>
              <a:rPr lang="en-US" sz="3000" b="1" smtClean="0"/>
              <a:t>Display 12.1</a:t>
            </a:r>
            <a:r>
              <a:rPr lang="en-US" sz="3000" smtClean="0"/>
              <a:t>  Simple File </a:t>
            </a:r>
            <a:br>
              <a:rPr lang="en-US" sz="3000" smtClean="0"/>
            </a:br>
            <a:r>
              <a:rPr lang="en-US" sz="3000" smtClean="0"/>
              <a:t>Input/Output (1 of 2)</a:t>
            </a:r>
          </a:p>
        </p:txBody>
      </p:sp>
      <p:pic>
        <p:nvPicPr>
          <p:cNvPr id="45058" name="Picture 4" descr="C:\WINDOWS\Desktop\Oh_type\sacitch_C++_ppt\gif\savitchc12d01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93800" y="1736725"/>
            <a:ext cx="7418388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DA1BEA11-B9A6-45DE-9E0F-2D6F4F5AC5B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Appending to a File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Standard open operation begins with </a:t>
            </a:r>
            <a:br>
              <a:rPr lang="en-US" sz="2800" smtClean="0"/>
            </a:br>
            <a:r>
              <a:rPr lang="en-US" sz="2800" smtClean="0"/>
              <a:t>empty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Even if file exists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contents lost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Open for append: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ofstream outStream;</a:t>
            </a:r>
            <a:br>
              <a:rPr lang="en-US" sz="2400" smtClean="0"/>
            </a:br>
            <a:r>
              <a:rPr lang="en-US" sz="2400" smtClean="0"/>
              <a:t>	outStream.open("important.txt", ios::app);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file doesn’t exist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creates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file exists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appends to end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2</a:t>
            </a:r>
            <a:r>
              <a:rPr lang="en-US" sz="2400" baseline="30000" smtClean="0"/>
              <a:t>nd</a:t>
            </a:r>
            <a:r>
              <a:rPr lang="en-US" sz="2400" smtClean="0"/>
              <a:t> argument is class </a:t>
            </a:r>
            <a:r>
              <a:rPr lang="en-US" sz="2400" i="1" smtClean="0"/>
              <a:t>ios</a:t>
            </a:r>
            <a:r>
              <a:rPr lang="en-US" sz="2400" smtClean="0"/>
              <a:t> defined constant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 &lt;iostream&gt; library, std namespace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91172550-B59E-4B00-BE8F-2C495C863031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Alternative Syntax for File Opens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specify filename at declaration</a:t>
            </a:r>
          </a:p>
          <a:p>
            <a:pPr lvl="1" eaLnBrk="1" hangingPunct="1"/>
            <a:r>
              <a:rPr lang="en-US" smtClean="0"/>
              <a:t>Passed as argument to constructor</a:t>
            </a:r>
          </a:p>
          <a:p>
            <a:pPr eaLnBrk="1" hangingPunct="1"/>
            <a:r>
              <a:rPr lang="en-US" smtClean="0"/>
              <a:t>ifstream inStream;</a:t>
            </a:r>
            <a:br>
              <a:rPr lang="en-US" smtClean="0"/>
            </a:br>
            <a:r>
              <a:rPr lang="en-US" smtClean="0"/>
              <a:t>inStream.open("infile.txt");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EQUIVALENT TO: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ifstream inStream("infile.txt");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3CB7260A-0BC7-48D7-81F8-AA5999EEFBDE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Checking File Open Success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2413"/>
            <a:ext cx="7815262" cy="4514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File opens could fail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input file doesn’t exist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 write permissions to output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Unexpected results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Member function fail()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Place call to fail() to check stream operation</a:t>
            </a:r>
            <a:br>
              <a:rPr lang="en-US" sz="2400" smtClean="0"/>
            </a:br>
            <a:r>
              <a:rPr lang="en-US" sz="2400" smtClean="0"/>
              <a:t>success</a:t>
            </a:r>
            <a:br>
              <a:rPr lang="en-US" sz="2400" smtClean="0"/>
            </a:br>
            <a:r>
              <a:rPr lang="en-US" sz="2000" smtClean="0"/>
              <a:t>inStream.open("stuff.txt");</a:t>
            </a:r>
            <a:br>
              <a:rPr lang="en-US" sz="2000" smtClean="0"/>
            </a:br>
            <a:r>
              <a:rPr lang="en-US" sz="2000" smtClean="0"/>
              <a:t>if (inStream.fail())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cout &lt;&lt; "File open failed.\n";</a:t>
            </a:r>
            <a:br>
              <a:rPr lang="en-US" sz="2000" smtClean="0"/>
            </a:br>
            <a:r>
              <a:rPr lang="en-US" sz="2000" smtClean="0"/>
              <a:t>	exit(1);</a:t>
            </a:r>
            <a:br>
              <a:rPr lang="en-US" sz="2000" smtClean="0"/>
            </a:br>
            <a:r>
              <a:rPr lang="en-US" sz="2000" smtClean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B786C441-5BE7-4203-8A71-B0E777381CE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Character I/O with Files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All cin and cout character I/O same </a:t>
            </a:r>
            <a:br>
              <a:rPr lang="en-US" smtClean="0"/>
            </a:br>
            <a:r>
              <a:rPr lang="en-US" smtClean="0"/>
              <a:t>for files!</a:t>
            </a:r>
          </a:p>
          <a:p>
            <a:pPr eaLnBrk="1" hangingPunct="1"/>
            <a:r>
              <a:rPr lang="en-US" smtClean="0"/>
              <a:t>Member functions work same:</a:t>
            </a:r>
          </a:p>
          <a:p>
            <a:pPr lvl="1" eaLnBrk="1" hangingPunct="1"/>
            <a:r>
              <a:rPr lang="en-US" smtClean="0"/>
              <a:t>get, getline</a:t>
            </a:r>
          </a:p>
          <a:p>
            <a:pPr lvl="1" eaLnBrk="1" hangingPunct="1"/>
            <a:r>
              <a:rPr lang="en-US" smtClean="0"/>
              <a:t>put, putback, </a:t>
            </a:r>
          </a:p>
          <a:p>
            <a:pPr lvl="1" eaLnBrk="1" hangingPunct="1"/>
            <a:r>
              <a:rPr lang="en-US" smtClean="0"/>
              <a:t>peek, ignore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02C6C5F4-7007-43CD-8ED4-275400DB5CA0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Checking End of File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Use loop to process file until end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Typical approach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 ways to test for end of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Member function eof()</a:t>
            </a:r>
            <a:br>
              <a:rPr lang="en-US" sz="2400" smtClean="0"/>
            </a:br>
            <a:r>
              <a:rPr lang="en-US" sz="2000" smtClean="0"/>
              <a:t>inStream.get(next);</a:t>
            </a:r>
            <a:br>
              <a:rPr lang="en-US" sz="2000" smtClean="0"/>
            </a:br>
            <a:r>
              <a:rPr lang="en-US" sz="2000" smtClean="0"/>
              <a:t>while (!inStream.eof())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     cout &lt;&lt; next;</a:t>
            </a:r>
            <a:br>
              <a:rPr lang="en-US" sz="2000" smtClean="0"/>
            </a:br>
            <a:r>
              <a:rPr lang="en-US" sz="2000" smtClean="0"/>
              <a:t>     inStream.get(next);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Reads each character until file ends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eof() member function returns bool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F62F3B8C-97CF-4705-B71A-E89EA5FD4195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End of File Check with Read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8083550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Second method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read operation returns bool value!</a:t>
            </a:r>
            <a:br>
              <a:rPr lang="en-US" smtClean="0"/>
            </a:br>
            <a:r>
              <a:rPr lang="en-US" smtClean="0"/>
              <a:t>(inStream &gt;&gt; next)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Expression returns true if read successful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Returns false if attempt to read beyond end of file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In action:</a:t>
            </a:r>
            <a:br>
              <a:rPr lang="en-US" smtClean="0"/>
            </a:br>
            <a:r>
              <a:rPr lang="en-US" sz="2400" smtClean="0"/>
              <a:t>double next, sum = 0;</a:t>
            </a:r>
            <a:br>
              <a:rPr lang="en-US" sz="2400" smtClean="0"/>
            </a:br>
            <a:r>
              <a:rPr lang="en-US" sz="2400" smtClean="0"/>
              <a:t>while (inStream &gt;&gt; next)</a:t>
            </a:r>
            <a:br>
              <a:rPr lang="en-US" sz="2400" smtClean="0"/>
            </a:br>
            <a:r>
              <a:rPr lang="en-US" sz="2400" smtClean="0"/>
              <a:t>	sum = sum + next;</a:t>
            </a:r>
            <a:br>
              <a:rPr lang="en-US" sz="2400" smtClean="0"/>
            </a:br>
            <a:r>
              <a:rPr lang="en-US" sz="2400" smtClean="0"/>
              <a:t>cout &lt;&lt; "the sum is " &lt;&lt; sum &lt;&lt; endl;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7D124B3D-0C7F-4215-874C-9C985D85156E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Tools: File Names as Input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 open operation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Argument to open() is string type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Can be literal (used so far) or variable</a:t>
            </a:r>
            <a:br>
              <a:rPr lang="en-US" smtClean="0"/>
            </a:br>
            <a:r>
              <a:rPr lang="en-US" sz="2400" smtClean="0"/>
              <a:t>char fileName[16];</a:t>
            </a:r>
            <a:br>
              <a:rPr lang="en-US" sz="2400" smtClean="0"/>
            </a:br>
            <a:r>
              <a:rPr lang="en-US" sz="2400" smtClean="0"/>
              <a:t>ifstream inStream;</a:t>
            </a:r>
            <a:br>
              <a:rPr lang="en-US" sz="2400" smtClean="0"/>
            </a:br>
            <a:r>
              <a:rPr lang="en-US" sz="2400" smtClean="0"/>
              <a:t>cout &lt;&lt; "Enter file name: ";</a:t>
            </a:r>
            <a:br>
              <a:rPr lang="en-US" sz="2400" smtClean="0"/>
            </a:br>
            <a:r>
              <a:rPr lang="en-US" sz="2400" smtClean="0"/>
              <a:t>cin &gt;&gt; fileName;</a:t>
            </a:r>
            <a:br>
              <a:rPr lang="en-US" sz="2400" smtClean="0"/>
            </a:br>
            <a:r>
              <a:rPr lang="en-US" sz="2400" smtClean="0"/>
              <a:t>inStream.open(fileName);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Provides more flexibility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0326F888-EFDC-4C67-8ED9-E260F49C0731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Formatting Output </a:t>
            </a:r>
            <a:br>
              <a:rPr lang="en-US" sz="3600" smtClean="0"/>
            </a:br>
            <a:r>
              <a:rPr lang="en-US" sz="3600" smtClean="0"/>
              <a:t>with Stream Functions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Recall chapter 1 "magic formula":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sz="2800" smtClean="0"/>
              <a:t>cout.setf(ios::fixed);</a:t>
            </a:r>
            <a:br>
              <a:rPr lang="en-US" sz="2800" smtClean="0"/>
            </a:br>
            <a:r>
              <a:rPr lang="en-US" sz="2800" smtClean="0"/>
              <a:t>	cout.setf(ios::showpoint);</a:t>
            </a:r>
            <a:br>
              <a:rPr lang="en-US" sz="2800" smtClean="0"/>
            </a:br>
            <a:r>
              <a:rPr lang="en-US" sz="2800" smtClean="0"/>
              <a:t>	cout.precision(2);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Outputs numbers in "money" </a:t>
            </a:r>
            <a:br>
              <a:rPr lang="en-US" smtClean="0"/>
            </a:br>
            <a:r>
              <a:rPr lang="en-US" smtClean="0"/>
              <a:t>form (12.52)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Can use on any output stream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File streams have same member functions</a:t>
            </a:r>
            <a:br>
              <a:rPr lang="en-US" smtClean="0"/>
            </a:br>
            <a:r>
              <a:rPr lang="en-US" smtClean="0"/>
              <a:t>as cout object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F7C7992F-6690-41C2-B2C3-9E2361051B83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Output Member Functions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outStream.setf(ios::fixed);</a:t>
            </a:r>
            <a:br>
              <a:rPr lang="en-US" sz="2400" smtClean="0"/>
            </a:br>
            <a:r>
              <a:rPr lang="en-US" sz="2400" smtClean="0"/>
              <a:t>	outStream.setf(ios::showpoint);</a:t>
            </a:r>
            <a:br>
              <a:rPr lang="en-US" sz="2400" smtClean="0"/>
            </a:br>
            <a:r>
              <a:rPr lang="en-US" sz="2400" smtClean="0"/>
              <a:t>	outStream.precision(2);</a:t>
            </a:r>
          </a:p>
          <a:p>
            <a:pPr eaLnBrk="1" hangingPunct="1"/>
            <a:r>
              <a:rPr lang="en-US" sz="2800" smtClean="0"/>
              <a:t>Member function precision(x)</a:t>
            </a:r>
          </a:p>
          <a:p>
            <a:pPr lvl="1" eaLnBrk="1" hangingPunct="1"/>
            <a:r>
              <a:rPr lang="en-US" sz="2400" smtClean="0"/>
              <a:t>Decimals written with "x" digits after decimal</a:t>
            </a:r>
          </a:p>
          <a:p>
            <a:pPr eaLnBrk="1" hangingPunct="1"/>
            <a:r>
              <a:rPr lang="en-US" sz="2800" smtClean="0"/>
              <a:t>Member function setf()</a:t>
            </a:r>
          </a:p>
          <a:p>
            <a:pPr lvl="1" eaLnBrk="1" hangingPunct="1"/>
            <a:r>
              <a:rPr lang="en-US" sz="2400" smtClean="0"/>
              <a:t>Allows multitude of output flags to be set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B6872453-E828-4914-A002-136CEEFF1E5D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Output Member Functions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	outStream.width(5);</a:t>
            </a:r>
          </a:p>
          <a:p>
            <a:pPr eaLnBrk="1" hangingPunct="1"/>
            <a:r>
              <a:rPr lang="en-US" sz="2800" smtClean="0"/>
              <a:t>Member function width(x)</a:t>
            </a:r>
          </a:p>
          <a:p>
            <a:pPr lvl="1" eaLnBrk="1" hangingPunct="1"/>
            <a:r>
              <a:rPr lang="en-US" sz="2400" smtClean="0"/>
              <a:t>Sets width to "x" for outputted value</a:t>
            </a:r>
          </a:p>
          <a:p>
            <a:pPr lvl="1" eaLnBrk="1" hangingPunct="1"/>
            <a:r>
              <a:rPr lang="en-US" sz="2400" smtClean="0"/>
              <a:t>Only affects "next" value outputted</a:t>
            </a:r>
          </a:p>
          <a:p>
            <a:pPr lvl="1" eaLnBrk="1" hangingPunct="1"/>
            <a:r>
              <a:rPr lang="en-US" sz="2400" smtClean="0"/>
              <a:t>Must set width before each value in order to</a:t>
            </a:r>
            <a:br>
              <a:rPr lang="en-US" sz="2400" smtClean="0"/>
            </a:br>
            <a:r>
              <a:rPr lang="en-US" sz="2400" smtClean="0"/>
              <a:t>affect all</a:t>
            </a:r>
          </a:p>
          <a:p>
            <a:pPr lvl="2" eaLnBrk="1" hangingPunct="1"/>
            <a:r>
              <a:rPr lang="en-US" sz="2000" smtClean="0"/>
              <a:t>Typical to have "varying" widths</a:t>
            </a:r>
          </a:p>
          <a:p>
            <a:pPr lvl="2" eaLnBrk="1" hangingPunct="1"/>
            <a:r>
              <a:rPr lang="en-US" sz="2000" smtClean="0"/>
              <a:t>To form "columns"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1B77AD94-0236-4F34-BB8D-D408A2B0D466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Flags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Recall: member function setf()</a:t>
            </a:r>
          </a:p>
          <a:p>
            <a:pPr lvl="1" eaLnBrk="1" hangingPunct="1"/>
            <a:r>
              <a:rPr lang="en-US" smtClean="0"/>
              <a:t>Sets condition of output flags</a:t>
            </a:r>
          </a:p>
          <a:p>
            <a:pPr eaLnBrk="1" hangingPunct="1"/>
            <a:r>
              <a:rPr lang="en-US" smtClean="0"/>
              <a:t>All output streams have setf() member</a:t>
            </a:r>
          </a:p>
          <a:p>
            <a:pPr eaLnBrk="1" hangingPunct="1"/>
            <a:r>
              <a:rPr lang="en-US" smtClean="0"/>
              <a:t>Flags are constants in class ios</a:t>
            </a:r>
          </a:p>
          <a:p>
            <a:pPr lvl="1" eaLnBrk="1" hangingPunct="1"/>
            <a:r>
              <a:rPr lang="en-US" smtClean="0"/>
              <a:t>In library &lt;iostream&gt;, std namespace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7009180E-2EAC-49D5-9D30-EC6E0EF75A03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setf() Examples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Common flag constants: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outStream.setf(ios::fixed);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Sets fixed-point notation (decimal)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outStream.setf(ios::showPoint)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Always include decimal point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outStream.setf(ios::right);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Sets right-justification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Set multiple flags with one call: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outStream.setf(ios::fixed | ios::showpoint |</a:t>
            </a:r>
            <a:br>
              <a:rPr lang="en-US" sz="2400" smtClean="0"/>
            </a:br>
            <a:r>
              <a:rPr lang="en-US" sz="2400" smtClean="0"/>
              <a:t>				ios::right);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ED102A47-352A-49EC-9CDF-ACA1E9B84F55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Manipulators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Manipulator defined:</a:t>
            </a:r>
            <a:br>
              <a:rPr lang="en-US" sz="2800" smtClean="0"/>
            </a:br>
            <a:r>
              <a:rPr lang="en-US" sz="2800" smtClean="0"/>
              <a:t>"A function called in nontraditional way"</a:t>
            </a:r>
          </a:p>
          <a:p>
            <a:pPr lvl="1" eaLnBrk="1" hangingPunct="1"/>
            <a:r>
              <a:rPr lang="en-US" sz="2400" smtClean="0"/>
              <a:t>Can have arguments</a:t>
            </a:r>
          </a:p>
          <a:p>
            <a:pPr lvl="1" eaLnBrk="1" hangingPunct="1"/>
            <a:r>
              <a:rPr lang="en-US" sz="2400" smtClean="0"/>
              <a:t>Placed after insertion operator</a:t>
            </a:r>
          </a:p>
          <a:p>
            <a:pPr lvl="1" eaLnBrk="1" hangingPunct="1"/>
            <a:r>
              <a:rPr lang="en-US" sz="2400" smtClean="0"/>
              <a:t>Do same things as member functions!</a:t>
            </a:r>
          </a:p>
          <a:p>
            <a:pPr lvl="2" eaLnBrk="1" hangingPunct="1"/>
            <a:r>
              <a:rPr lang="en-US" sz="2000" smtClean="0"/>
              <a:t>In different way</a:t>
            </a:r>
          </a:p>
          <a:p>
            <a:pPr lvl="1" eaLnBrk="1" hangingPunct="1"/>
            <a:r>
              <a:rPr lang="en-US" sz="2400" smtClean="0"/>
              <a:t>Common to use both "together"</a:t>
            </a:r>
          </a:p>
          <a:p>
            <a:pPr eaLnBrk="1" hangingPunct="1"/>
            <a:r>
              <a:rPr lang="en-US" sz="2800" smtClean="0"/>
              <a:t>setw() and setprecision() are in library</a:t>
            </a:r>
            <a:br>
              <a:rPr lang="en-US" sz="2800" smtClean="0"/>
            </a:br>
            <a:r>
              <a:rPr lang="en-US" sz="2800" smtClean="0"/>
              <a:t>&lt;iomanip&gt;, std namespace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15C993B0-0405-4173-BBFF-B2CFC3F0B929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Manipulator Example: setw()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setw() manipulator:</a:t>
            </a:r>
            <a:br>
              <a:rPr lang="en-US" sz="2800" smtClean="0"/>
            </a:br>
            <a:r>
              <a:rPr lang="en-US" sz="2800" smtClean="0"/>
              <a:t>cout 	&lt;&lt; "Start" &lt;&lt; setw(4) &lt;&lt; 10</a:t>
            </a:r>
            <a:br>
              <a:rPr lang="en-US" sz="2800" smtClean="0"/>
            </a:br>
            <a:r>
              <a:rPr lang="en-US" sz="2800" smtClean="0"/>
              <a:t>		&lt;&lt; setw(4) &lt;&lt; 20 &lt;&lt; setw(6) &lt;&lt; 30;</a:t>
            </a:r>
          </a:p>
          <a:p>
            <a:pPr lvl="1" eaLnBrk="1" hangingPunct="1"/>
            <a:r>
              <a:rPr lang="en-US" sz="2400" smtClean="0"/>
              <a:t>Results in:</a:t>
            </a:r>
            <a:br>
              <a:rPr lang="en-US" sz="2400" smtClean="0"/>
            </a:br>
            <a:r>
              <a:rPr lang="en-US" sz="2400" smtClean="0"/>
              <a:t>Start  10  20    30</a:t>
            </a:r>
          </a:p>
          <a:p>
            <a:pPr eaLnBrk="1" hangingPunct="1"/>
            <a:r>
              <a:rPr lang="en-US" sz="2800" smtClean="0"/>
              <a:t>Note: setw() affects only NEXT </a:t>
            </a:r>
            <a:br>
              <a:rPr lang="en-US" sz="2800" smtClean="0"/>
            </a:br>
            <a:r>
              <a:rPr lang="en-US" sz="2800" smtClean="0"/>
              <a:t>outputted value</a:t>
            </a:r>
          </a:p>
          <a:p>
            <a:pPr lvl="1" eaLnBrk="1" hangingPunct="1"/>
            <a:r>
              <a:rPr lang="en-US" sz="2400" smtClean="0"/>
              <a:t>Must include setw() manipulator before each</a:t>
            </a:r>
            <a:br>
              <a:rPr lang="en-US" sz="2400" smtClean="0"/>
            </a:br>
            <a:r>
              <a:rPr lang="en-US" sz="2400" smtClean="0"/>
              <a:t>outputted item to affect all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6BF2DFE2-02CA-4E7A-9143-93554A2E61B3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Manipulator  setprecision()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setprecision() manipulator: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sz="2400" smtClean="0"/>
              <a:t>cout.setf(ios::fixed | ios::showpoint);</a:t>
            </a:r>
            <a:br>
              <a:rPr lang="en-US" sz="2400" smtClean="0"/>
            </a:br>
            <a:r>
              <a:rPr lang="en-US" sz="2400" smtClean="0"/>
              <a:t>	cout 	&lt;&lt; "$" &lt;&lt; setprecision(2) &lt;&lt; 10.3 &lt;&lt; "  "</a:t>
            </a:r>
            <a:br>
              <a:rPr lang="en-US" sz="2400" smtClean="0"/>
            </a:br>
            <a:r>
              <a:rPr lang="en-US" sz="2400" smtClean="0"/>
              <a:t>		&lt;&lt; "$" &lt;&lt; 20.5 &lt;&lt; endl;</a:t>
            </a:r>
          </a:p>
          <a:p>
            <a:pPr eaLnBrk="1" hangingPunct="1"/>
            <a:r>
              <a:rPr lang="en-US" smtClean="0"/>
              <a:t>Results in:</a:t>
            </a:r>
            <a:br>
              <a:rPr lang="en-US" smtClean="0"/>
            </a:br>
            <a:r>
              <a:rPr lang="en-US" smtClean="0"/>
              <a:t>$10.30  $20.50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A8A3455D-6AC3-41AA-A917-2D9A12B2D71A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Saving Flag Settings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Flag settings "stay" until changed</a:t>
            </a:r>
          </a:p>
          <a:p>
            <a:pPr eaLnBrk="1" hangingPunct="1"/>
            <a:r>
              <a:rPr lang="en-US" smtClean="0"/>
              <a:t>Precision and setf flags can be saved</a:t>
            </a:r>
            <a:br>
              <a:rPr lang="en-US" smtClean="0"/>
            </a:br>
            <a:r>
              <a:rPr lang="en-US" smtClean="0"/>
              <a:t>and restored</a:t>
            </a:r>
          </a:p>
          <a:p>
            <a:pPr lvl="1" eaLnBrk="1" hangingPunct="1"/>
            <a:r>
              <a:rPr lang="en-US" smtClean="0"/>
              <a:t>Function precision() returns current setting</a:t>
            </a:r>
            <a:br>
              <a:rPr lang="en-US" smtClean="0"/>
            </a:br>
            <a:r>
              <a:rPr lang="en-US" smtClean="0"/>
              <a:t>if called with no arguments</a:t>
            </a:r>
          </a:p>
          <a:p>
            <a:pPr lvl="1" eaLnBrk="1" hangingPunct="1"/>
            <a:r>
              <a:rPr lang="en-US" smtClean="0"/>
              <a:t>Member function flags() provides </a:t>
            </a:r>
            <a:br>
              <a:rPr lang="en-US" smtClean="0"/>
            </a:br>
            <a:r>
              <a:rPr lang="en-US" smtClean="0"/>
              <a:t>similar capability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2A0ED837-065C-4DA9-A442-02A8886E475D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Saving Flag Settings Example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void outputStuff(ofstream&amp; outStream)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int precisionSetting = outStream.precision();</a:t>
            </a:r>
            <a:br>
              <a:rPr lang="en-US" sz="2400" smtClean="0"/>
            </a:br>
            <a:r>
              <a:rPr lang="en-US" sz="2400" smtClean="0"/>
              <a:t>	long flagSettings = outStream.flags();</a:t>
            </a:r>
            <a:br>
              <a:rPr lang="en-US" sz="2400" smtClean="0"/>
            </a:br>
            <a:r>
              <a:rPr lang="en-US" sz="2400" smtClean="0"/>
              <a:t>	outStream.setf(ios::fixed | ios::showpoint);</a:t>
            </a:r>
            <a:br>
              <a:rPr lang="en-US" sz="2400" smtClean="0"/>
            </a:br>
            <a:r>
              <a:rPr lang="en-US" sz="2400" smtClean="0"/>
              <a:t>	outStream.precision(2);</a:t>
            </a:r>
            <a:br>
              <a:rPr lang="en-US" sz="2400" smtClean="0"/>
            </a:br>
            <a:r>
              <a:rPr lang="en-US" sz="2400" smtClean="0"/>
              <a:t>	outStream.precision(precisionSetting);</a:t>
            </a:r>
            <a:br>
              <a:rPr lang="en-US" sz="2400" smtClean="0"/>
            </a:br>
            <a:r>
              <a:rPr lang="en-US" sz="2400" smtClean="0"/>
              <a:t>	outStream.flags(flagSettings);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/>
            <a:r>
              <a:rPr lang="en-US" sz="2400" smtClean="0"/>
              <a:t>Function to save &amp; restore "typical" settings</a:t>
            </a:r>
          </a:p>
          <a:p>
            <a:pPr lvl="1" eaLnBrk="1" hangingPunct="1"/>
            <a:r>
              <a:rPr lang="en-US" sz="2000" smtClean="0"/>
              <a:t>Call: outputStuff(myStream);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DDDE30CF-33E0-452A-ACAA-8FC0DA95BC84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Restoring Default setf Settings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also restore default settings:</a:t>
            </a:r>
            <a:br>
              <a:rPr lang="en-US" smtClean="0"/>
            </a:br>
            <a:r>
              <a:rPr lang="en-US" smtClean="0"/>
              <a:t>	cout.setf(0, ios::floatfield);</a:t>
            </a:r>
          </a:p>
          <a:p>
            <a:pPr eaLnBrk="1" hangingPunct="1"/>
            <a:r>
              <a:rPr lang="en-US" smtClean="0"/>
              <a:t>Not necessarily the "last" setting!</a:t>
            </a:r>
          </a:p>
          <a:p>
            <a:pPr eaLnBrk="1" hangingPunct="1"/>
            <a:r>
              <a:rPr lang="en-US" smtClean="0"/>
              <a:t>Default values are implementation-</a:t>
            </a:r>
            <a:br>
              <a:rPr lang="en-US" smtClean="0"/>
            </a:br>
            <a:r>
              <a:rPr lang="en-US" smtClean="0"/>
              <a:t>dependent</a:t>
            </a:r>
          </a:p>
          <a:p>
            <a:pPr eaLnBrk="1" hangingPunct="1"/>
            <a:r>
              <a:rPr lang="en-US" smtClean="0"/>
              <a:t>Does not reset precision settings</a:t>
            </a:r>
          </a:p>
          <a:p>
            <a:pPr lvl="1" eaLnBrk="1" hangingPunct="1"/>
            <a:r>
              <a:rPr lang="en-US" smtClean="0"/>
              <a:t>Only setf settings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3F982704-E7E7-4429-8A6E-9798497E145B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 Hierarchies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Class Relationships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"Derived from"</a:t>
            </a:r>
          </a:p>
          <a:p>
            <a:pPr lvl="2" eaLnBrk="1" hangingPunct="1"/>
            <a:r>
              <a:rPr lang="en-US" sz="2000" smtClean="0"/>
              <a:t>One class obtained from another class</a:t>
            </a:r>
          </a:p>
          <a:p>
            <a:pPr lvl="2" eaLnBrk="1" hangingPunct="1"/>
            <a:r>
              <a:rPr lang="en-US" sz="2000" smtClean="0"/>
              <a:t>Then features are "added"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Example:</a:t>
            </a:r>
          </a:p>
          <a:p>
            <a:pPr lvl="1" eaLnBrk="1" hangingPunct="1"/>
            <a:r>
              <a:rPr lang="en-US" sz="2400" i="1" smtClean="0"/>
              <a:t>Input file</a:t>
            </a:r>
            <a:r>
              <a:rPr lang="en-US" sz="2400" smtClean="0"/>
              <a:t> streams class is derived from class</a:t>
            </a:r>
            <a:br>
              <a:rPr lang="en-US" sz="2400" smtClean="0"/>
            </a:br>
            <a:r>
              <a:rPr lang="en-US" sz="2400" smtClean="0"/>
              <a:t>of </a:t>
            </a:r>
            <a:r>
              <a:rPr lang="en-US" sz="2400" i="1" smtClean="0"/>
              <a:t>all</a:t>
            </a:r>
            <a:r>
              <a:rPr lang="en-US" sz="2400" smtClean="0"/>
              <a:t> input streams</a:t>
            </a:r>
          </a:p>
          <a:p>
            <a:pPr lvl="2" eaLnBrk="1" hangingPunct="1"/>
            <a:r>
              <a:rPr lang="en-US" sz="2000" smtClean="0"/>
              <a:t>It then adds open and close member functions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i.e.: ifstream is derived from istream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0686D03D-8319-4C54-8D8D-F01E5F460712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Inheritance "Real" Example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of all convertibles is derived from</a:t>
            </a:r>
            <a:br>
              <a:rPr lang="en-US" smtClean="0"/>
            </a:br>
            <a:r>
              <a:rPr lang="en-US" smtClean="0"/>
              <a:t>class of all automobiles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Every convertible is an automobile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Convertible "adds features" to automobile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2F8E5FD0-620C-45A7-844B-DD57E67A9999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Stream Class Inheritance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Consider: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If D is derived class of class B </a:t>
            </a:r>
            <a:r>
              <a:rPr lang="en-US" smtClean="0">
                <a:sym typeface="Wingdings" pitchFamily="2" charset="2"/>
              </a:rPr>
              <a:t>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All objects of type D are also of type B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e.g., A convertible is also an automobile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Regarding streams: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An ifstream object is also an istream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Should use istream objects for parameters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More objects can be plugged in!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4E00FABB-C13C-4C3A-8D04-E63A35FB90CD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Stream Class Inheritance Example</a:t>
            </a:r>
          </a:p>
        </p:txBody>
      </p:sp>
      <p:pic>
        <p:nvPicPr>
          <p:cNvPr id="90114" name="Picture 4" descr="C:\WINDOWS\Desktop\Oh_type\sacitch_C++_ppt\gif\savitchc12d_p55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2825" y="1922463"/>
            <a:ext cx="779145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189C2457-3028-45B5-9519-D9F63450B660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Stream Class Inheritance </a:t>
            </a:r>
            <a:br>
              <a:rPr lang="en-US" sz="3600" smtClean="0"/>
            </a:br>
            <a:r>
              <a:rPr lang="en-US" sz="3600" smtClean="0"/>
              <a:t>Example Calls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Considering previous functions: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twoSumVersion1(fileIn);	// Legal!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twoSumVersion1(cin);	// ILLEGAL!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Because cin is not of type ifstream!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twoSumVersion2(fileIn);	// Legal!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twoSumVersion2(cin);	// Legal!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More versatile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istream parameter accepts both objects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2879C294-9ED1-4268-AD22-3DC1376E803F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stringstream</a:t>
            </a:r>
          </a:p>
        </p:txBody>
      </p:sp>
      <p:sp>
        <p:nvSpPr>
          <p:cNvPr id="942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stringstream class is another example of inheritance</a:t>
            </a:r>
          </a:p>
          <a:p>
            <a:pPr lvl="1"/>
            <a:r>
              <a:rPr lang="en-US" smtClean="0"/>
              <a:t>Derived from the iostream class</a:t>
            </a:r>
          </a:p>
          <a:p>
            <a:pPr lvl="1"/>
            <a:r>
              <a:rPr lang="en-US" smtClean="0"/>
              <a:t>Allows you to perform stream operations to or from a string, similar to how you perform stream operations from cin or from a file</a:t>
            </a:r>
          </a:p>
          <a:p>
            <a:pPr lvl="2"/>
            <a:r>
              <a:rPr lang="en-US" smtClean="0"/>
              <a:t>Shares or </a:t>
            </a:r>
            <a:r>
              <a:rPr lang="en-US" b="1" i="1" smtClean="0"/>
              <a:t>inherits</a:t>
            </a:r>
            <a:r>
              <a:rPr lang="en-US" smtClean="0"/>
              <a:t> the same methods</a:t>
            </a:r>
          </a:p>
          <a:p>
            <a:r>
              <a:rPr lang="en-US" smtClean="0"/>
              <a:t>Useful for converting strings to other data types and vice versa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303F6CDF-7FBE-4850-8C25-57B62997092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stringstream</a:t>
            </a:r>
          </a:p>
        </p:txBody>
      </p:sp>
      <p:sp>
        <p:nvSpPr>
          <p:cNvPr id="952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To use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#include &lt;sstream&gt;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using std::stringstream;</a:t>
            </a:r>
          </a:p>
          <a:p>
            <a:r>
              <a:rPr lang="en-US" sz="2800" smtClean="0"/>
              <a:t>Create an object of type stringstream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stringstream ss;</a:t>
            </a:r>
          </a:p>
          <a:p>
            <a:r>
              <a:rPr lang="en-US" sz="2800" smtClean="0"/>
              <a:t>To clear and initialize to blank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ss.clear( );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ss.str("");</a:t>
            </a:r>
          </a:p>
          <a:p>
            <a:r>
              <a:rPr lang="en-US" sz="2800" smtClean="0"/>
              <a:t>To create a string from other variables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ss &lt;&lt; c &lt;&lt; " " &lt;&lt; num;	</a:t>
            </a:r>
            <a:r>
              <a:rPr lang="en-US" sz="1400" smtClean="0">
                <a:latin typeface="Courier New" pitchFamily="49" charset="0"/>
                <a:cs typeface="Courier New" pitchFamily="49" charset="0"/>
              </a:rPr>
              <a:t>// c is a char, num is an int</a:t>
            </a:r>
            <a:endParaRPr lang="en-US" sz="240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4DE731FA-EC90-4F6C-8231-00305B93F6D5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95236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stringstream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90800"/>
          </a:xfrm>
        </p:spPr>
        <p:txBody>
          <a:bodyPr/>
          <a:lstStyle/>
          <a:p>
            <a:r>
              <a:rPr lang="en-US" sz="2800" smtClean="0"/>
              <a:t>To extract variables from a string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ss &lt;&lt; "x 10";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ss &gt;&gt; c &gt;&gt; num;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// c is set to 'x' and num is set to 10</a:t>
            </a:r>
          </a:p>
          <a:p>
            <a:pPr marL="457200" lvl="1" indent="0">
              <a:buFont typeface="Arial" charset="0"/>
              <a:buNone/>
            </a:pPr>
            <a:endParaRPr lang="en-US" sz="200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3323EF79-FC04-4B31-976A-D1FE7822E123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96260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6888" y="3995738"/>
            <a:ext cx="8037512" cy="13858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This class is sometimes useful when reading a string from some source and extracting fields from the string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stringstream Demo (1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2181930F-C4AE-4AD7-8429-95266948EE52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9728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97284" name="TextBox 5"/>
          <p:cNvSpPr txBox="1">
            <a:spLocks noChangeArrowheads="1"/>
          </p:cNvSpPr>
          <p:nvPr/>
        </p:nvSpPr>
        <p:spPr bwMode="auto">
          <a:xfrm>
            <a:off x="762000" y="1524000"/>
            <a:ext cx="6540500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//Demonstration of the stringstream class.  This program takes</a:t>
            </a:r>
          </a:p>
          <a:p>
            <a:r>
              <a:rPr lang="en-US"/>
              <a:t>//a string with a name followed by scores.  It uses a</a:t>
            </a:r>
          </a:p>
          <a:p>
            <a:r>
              <a:rPr lang="en-US"/>
              <a:t>//stringstream to extract the name as a string, the scores</a:t>
            </a:r>
          </a:p>
          <a:p>
            <a:r>
              <a:rPr lang="en-US"/>
              <a:t>//as integers, then calculates the average score.  The name</a:t>
            </a:r>
          </a:p>
          <a:p>
            <a:r>
              <a:rPr lang="en-US"/>
              <a:t>//and average are placed into a new string.</a:t>
            </a:r>
          </a:p>
          <a:p>
            <a:endParaRPr lang="en-US"/>
          </a:p>
          <a:p>
            <a:r>
              <a:rPr lang="en-US"/>
              <a:t>#include &lt;iostream&gt;</a:t>
            </a:r>
          </a:p>
          <a:p>
            <a:r>
              <a:rPr lang="en-US"/>
              <a:t>#include &lt;string&gt;</a:t>
            </a:r>
          </a:p>
          <a:p>
            <a:r>
              <a:rPr lang="en-US"/>
              <a:t>#include &lt;sstream&gt;</a:t>
            </a:r>
          </a:p>
          <a:p>
            <a:endParaRPr lang="en-US"/>
          </a:p>
          <a:p>
            <a:r>
              <a:rPr lang="en-US"/>
              <a:t>using namespace std;</a:t>
            </a:r>
          </a:p>
          <a:p>
            <a:endParaRPr lang="en-US"/>
          </a:p>
          <a:p>
            <a:r>
              <a:rPr lang="en-US"/>
              <a:t>int main( )</a:t>
            </a:r>
          </a:p>
          <a:p>
            <a:r>
              <a:rPr lang="en-US"/>
              <a:t>{</a:t>
            </a:r>
          </a:p>
          <a:p>
            <a:r>
              <a:rPr lang="en-US"/>
              <a:t>	stringstream ss;</a:t>
            </a:r>
          </a:p>
          <a:p>
            <a:r>
              <a:rPr lang="en-US"/>
              <a:t>	string scores = "Luigi 70 100 90";</a:t>
            </a:r>
          </a:p>
          <a:p>
            <a:endParaRPr lang="en-US"/>
          </a:p>
          <a:p>
            <a:r>
              <a:rPr lang="en-US"/>
              <a:t>	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stringstream demo (2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AE4165FF-CD5C-4EAB-957C-D9FA33440DFD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9830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98308" name="TextBox 5"/>
          <p:cNvSpPr txBox="1">
            <a:spLocks noChangeArrowheads="1"/>
          </p:cNvSpPr>
          <p:nvPr/>
        </p:nvSpPr>
        <p:spPr bwMode="auto">
          <a:xfrm>
            <a:off x="762000" y="1549400"/>
            <a:ext cx="6507163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	// Clear the stringstream</a:t>
            </a:r>
          </a:p>
          <a:p>
            <a:r>
              <a:rPr lang="en-US"/>
              <a:t>	ss.str("");</a:t>
            </a:r>
          </a:p>
          <a:p>
            <a:r>
              <a:rPr lang="en-US"/>
              <a:t>	ss.clear();</a:t>
            </a:r>
          </a:p>
          <a:p>
            <a:endParaRPr lang="en-US"/>
          </a:p>
          <a:p>
            <a:r>
              <a:rPr lang="en-US"/>
              <a:t>	// Put the scores into the stringstream</a:t>
            </a:r>
          </a:p>
          <a:p>
            <a:r>
              <a:rPr lang="en-US"/>
              <a:t>	ss &lt;&lt; scores;</a:t>
            </a:r>
          </a:p>
          <a:p>
            <a:endParaRPr lang="en-US"/>
          </a:p>
          <a:p>
            <a:r>
              <a:rPr lang="en-US"/>
              <a:t>	// Extract the name and average the scores</a:t>
            </a:r>
          </a:p>
          <a:p>
            <a:r>
              <a:rPr lang="en-US"/>
              <a:t>	string name = "";</a:t>
            </a:r>
          </a:p>
          <a:p>
            <a:r>
              <a:rPr lang="en-US"/>
              <a:t>	int total = 0, count = 0, average = 0;</a:t>
            </a:r>
          </a:p>
          <a:p>
            <a:r>
              <a:rPr lang="en-US"/>
              <a:t>	int score;</a:t>
            </a:r>
          </a:p>
          <a:p>
            <a:r>
              <a:rPr lang="en-US"/>
              <a:t>	ss &gt;&gt; name;		// Read the name</a:t>
            </a:r>
          </a:p>
          <a:p>
            <a:r>
              <a:rPr lang="en-US"/>
              <a:t>	while (ss &gt;&gt; score)  // Read until the end of the string</a:t>
            </a:r>
          </a:p>
          <a:p>
            <a:r>
              <a:rPr lang="en-US"/>
              <a:t>	{</a:t>
            </a:r>
          </a:p>
          <a:p>
            <a:r>
              <a:rPr lang="en-US"/>
              <a:t>		count++;</a:t>
            </a:r>
          </a:p>
          <a:p>
            <a:r>
              <a:rPr lang="en-US"/>
              <a:t>		total += score;</a:t>
            </a:r>
          </a:p>
          <a:p>
            <a:r>
              <a:rPr lang="en-US"/>
              <a:t>	}</a:t>
            </a:r>
          </a:p>
          <a:p>
            <a:r>
              <a:rPr lang="en-US"/>
              <a:t>	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stringstream demo (3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12-</a:t>
            </a:r>
            <a:fld id="{CAED4942-D7B9-4A68-B83B-FDC548B5EF77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99331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99332" name="TextBox 5"/>
          <p:cNvSpPr txBox="1">
            <a:spLocks noChangeArrowheads="1"/>
          </p:cNvSpPr>
          <p:nvPr/>
        </p:nvSpPr>
        <p:spPr bwMode="auto">
          <a:xfrm>
            <a:off x="685800" y="1514475"/>
            <a:ext cx="6508750" cy="535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	if (count &gt; 0)</a:t>
            </a:r>
          </a:p>
          <a:p>
            <a:r>
              <a:rPr lang="en-US"/>
              <a:t>	{</a:t>
            </a:r>
          </a:p>
          <a:p>
            <a:r>
              <a:rPr lang="en-US"/>
              <a:t>		average = total / count;</a:t>
            </a:r>
          </a:p>
          <a:p>
            <a:r>
              <a:rPr lang="en-US"/>
              <a:t>	}</a:t>
            </a:r>
          </a:p>
          <a:p>
            <a:endParaRPr lang="en-US"/>
          </a:p>
          <a:p>
            <a:r>
              <a:rPr lang="en-US"/>
              <a:t>	// Clear the stringstream</a:t>
            </a:r>
          </a:p>
          <a:p>
            <a:r>
              <a:rPr lang="en-US"/>
              <a:t>	ss.clear();</a:t>
            </a:r>
          </a:p>
          <a:p>
            <a:r>
              <a:rPr lang="en-US"/>
              <a:t>	ss.str("");</a:t>
            </a:r>
          </a:p>
          <a:p>
            <a:r>
              <a:rPr lang="en-US"/>
              <a:t>	// Put in the name and average</a:t>
            </a:r>
          </a:p>
          <a:p>
            <a:r>
              <a:rPr lang="en-US"/>
              <a:t>	ss &lt;&lt; "Name: " &lt;&lt; name &lt;&lt; " Average: " &lt;&lt; average;</a:t>
            </a:r>
          </a:p>
          <a:p>
            <a:endParaRPr lang="en-US"/>
          </a:p>
          <a:p>
            <a:r>
              <a:rPr lang="en-US"/>
              <a:t>	// Output as a string</a:t>
            </a:r>
          </a:p>
          <a:p>
            <a:r>
              <a:rPr lang="en-US"/>
              <a:t>	cout &lt;&lt; ss.str() &lt;&lt; endl;</a:t>
            </a:r>
          </a:p>
          <a:p>
            <a:endParaRPr lang="en-US"/>
          </a:p>
          <a:p>
            <a:r>
              <a:rPr lang="en-US"/>
              <a:t>	return 0;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Access to Files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Sequential Access</a:t>
            </a:r>
          </a:p>
          <a:p>
            <a:pPr lvl="1" eaLnBrk="1" hangingPunct="1"/>
            <a:r>
              <a:rPr lang="en-US" smtClean="0"/>
              <a:t>Most commonly used</a:t>
            </a:r>
          </a:p>
          <a:p>
            <a:pPr eaLnBrk="1" hangingPunct="1"/>
            <a:r>
              <a:rPr lang="en-US" smtClean="0"/>
              <a:t>Random Access</a:t>
            </a:r>
          </a:p>
          <a:p>
            <a:pPr lvl="1" eaLnBrk="1" hangingPunct="1"/>
            <a:r>
              <a:rPr lang="en-US" smtClean="0"/>
              <a:t>Rapid access to records</a:t>
            </a:r>
          </a:p>
          <a:p>
            <a:pPr lvl="1" eaLnBrk="1" hangingPunct="1"/>
            <a:r>
              <a:rPr lang="en-US" smtClean="0"/>
              <a:t>Perhaps very large database</a:t>
            </a:r>
          </a:p>
          <a:p>
            <a:pPr lvl="1" eaLnBrk="1" hangingPunct="1"/>
            <a:r>
              <a:rPr lang="en-US" smtClean="0"/>
              <a:t>Access "randomly" to any part of file</a:t>
            </a:r>
          </a:p>
          <a:p>
            <a:pPr lvl="1" eaLnBrk="1" hangingPunct="1"/>
            <a:r>
              <a:rPr lang="en-US" smtClean="0"/>
              <a:t>Use  fstream objects</a:t>
            </a:r>
          </a:p>
          <a:p>
            <a:pPr lvl="2" eaLnBrk="1" hangingPunct="1"/>
            <a:r>
              <a:rPr lang="en-US" smtClean="0"/>
              <a:t>input and output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E0DB6597-7B2E-47B7-A56D-FB33EDCB0D2F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035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Access Tools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Opens same as istream or ostream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Adds second argument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fstream rwStream;</a:t>
            </a:r>
            <a:br>
              <a:rPr lang="en-US" sz="2400" smtClean="0"/>
            </a:br>
            <a:r>
              <a:rPr lang="en-US" sz="2400" smtClean="0"/>
              <a:t>rwStream.open("stuff", ios::in | ios:: out);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Opens with read and write capability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Move about in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rwStream.seekp(1000);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Positions put-pointer at 1000</a:t>
            </a:r>
            <a:r>
              <a:rPr lang="en-US" sz="2000" baseline="30000" smtClean="0"/>
              <a:t>th</a:t>
            </a:r>
            <a:r>
              <a:rPr lang="en-US" sz="2000" smtClean="0"/>
              <a:t> byte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rwStream.seekg(1000);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Positions get-pointer at 1000</a:t>
            </a:r>
            <a:r>
              <a:rPr lang="en-US" sz="2000" baseline="30000" smtClean="0"/>
              <a:t>th</a:t>
            </a:r>
            <a:r>
              <a:rPr lang="en-US" sz="2000" smtClean="0"/>
              <a:t> byte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00993E30-3CF1-44A0-B3D1-1FAB761D164C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0240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Access Sizes</a:t>
            </a:r>
          </a:p>
        </p:txBody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To move about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must know sizes</a:t>
            </a:r>
          </a:p>
          <a:p>
            <a:pPr lvl="1" eaLnBrk="1" hangingPunct="1"/>
            <a:r>
              <a:rPr lang="en-US" sz="2400" smtClean="0"/>
              <a:t>sizeof() operator determines number of bytes</a:t>
            </a:r>
            <a:br>
              <a:rPr lang="en-US" sz="2400" smtClean="0"/>
            </a:br>
            <a:r>
              <a:rPr lang="en-US" sz="2400" smtClean="0"/>
              <a:t>required for an object:</a:t>
            </a:r>
            <a:br>
              <a:rPr lang="en-US" sz="2400" smtClean="0"/>
            </a:br>
            <a:r>
              <a:rPr lang="en-US" sz="2400" smtClean="0"/>
              <a:t>sizeof(s)	//Where s is string s = "Hello"</a:t>
            </a:r>
            <a:br>
              <a:rPr lang="en-US" sz="2400" smtClean="0"/>
            </a:br>
            <a:r>
              <a:rPr lang="en-US" sz="2400" smtClean="0"/>
              <a:t>sizeof(10)</a:t>
            </a:r>
            <a:br>
              <a:rPr lang="en-US" sz="2400" smtClean="0"/>
            </a:br>
            <a:r>
              <a:rPr lang="en-US" sz="2400" smtClean="0"/>
              <a:t>sizeof(double)</a:t>
            </a:r>
            <a:br>
              <a:rPr lang="en-US" sz="2400" smtClean="0"/>
            </a:br>
            <a:r>
              <a:rPr lang="en-US" sz="2400" smtClean="0"/>
              <a:t>sizeof(myObject)</a:t>
            </a:r>
          </a:p>
          <a:p>
            <a:pPr lvl="1" eaLnBrk="1" hangingPunct="1"/>
            <a:r>
              <a:rPr lang="en-US" sz="2400" smtClean="0"/>
              <a:t>Position put-pointer at 100</a:t>
            </a:r>
            <a:r>
              <a:rPr lang="en-US" sz="2400" baseline="30000" smtClean="0"/>
              <a:t>th</a:t>
            </a:r>
            <a:r>
              <a:rPr lang="en-US" sz="2400" smtClean="0"/>
              <a:t> record of objects:</a:t>
            </a:r>
            <a:br>
              <a:rPr lang="en-US" sz="2400" smtClean="0"/>
            </a:br>
            <a:r>
              <a:rPr lang="en-US" sz="2400" smtClean="0"/>
              <a:t/>
            </a:r>
            <a:br>
              <a:rPr lang="en-US" sz="2400" smtClean="0"/>
            </a:br>
            <a:r>
              <a:rPr lang="en-US" sz="2400" smtClean="0"/>
              <a:t>rwStream.seekp(100*sizeof(myObject) – 1);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DC50169A-DB00-47BB-A00E-D481B43AE820}" type="slidenum">
              <a:rPr lang="en-US"/>
              <a:pPr>
                <a:defRPr/>
              </a:pPr>
              <a:t>48</a:t>
            </a:fld>
            <a:endParaRPr lang="en-US"/>
          </a:p>
        </p:txBody>
      </p:sp>
      <p:sp>
        <p:nvSpPr>
          <p:cNvPr id="10445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Streams connect to files with open operation</a:t>
            </a:r>
          </a:p>
          <a:p>
            <a:pPr eaLnBrk="1" hangingPunct="1"/>
            <a:r>
              <a:rPr lang="en-US" sz="2800" smtClean="0"/>
              <a:t>Member function fail() checks successes</a:t>
            </a:r>
          </a:p>
          <a:p>
            <a:pPr eaLnBrk="1" hangingPunct="1"/>
            <a:r>
              <a:rPr lang="en-US" sz="2800" smtClean="0"/>
              <a:t>Stream member functions format output</a:t>
            </a:r>
          </a:p>
          <a:p>
            <a:pPr lvl="1" eaLnBrk="1" hangingPunct="1"/>
            <a:r>
              <a:rPr lang="en-US" sz="2400" smtClean="0"/>
              <a:t>e.g., width, setf, precision</a:t>
            </a:r>
          </a:p>
          <a:p>
            <a:pPr lvl="1" eaLnBrk="1" hangingPunct="1"/>
            <a:r>
              <a:rPr lang="en-US" sz="2400" smtClean="0"/>
              <a:t>Same usage for cout (screen) or files</a:t>
            </a:r>
          </a:p>
          <a:p>
            <a:pPr eaLnBrk="1" hangingPunct="1"/>
            <a:r>
              <a:rPr lang="en-US" sz="2800" smtClean="0"/>
              <a:t>Stream types can be formal parameters</a:t>
            </a:r>
          </a:p>
          <a:p>
            <a:pPr lvl="1" eaLnBrk="1" hangingPunct="1"/>
            <a:r>
              <a:rPr lang="en-US" sz="2400" smtClean="0"/>
              <a:t>But must be call-by-reference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BD76DD87-3332-4A28-9803-BA5B864537E6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10650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istream (no "f") parameters accept cin</a:t>
            </a:r>
            <a:br>
              <a:rPr lang="en-US" smtClean="0"/>
            </a:br>
            <a:r>
              <a:rPr lang="en-US" smtClean="0"/>
              <a:t>or ifstream objects as arguments</a:t>
            </a:r>
          </a:p>
          <a:p>
            <a:pPr eaLnBrk="1" hangingPunct="1"/>
            <a:r>
              <a:rPr lang="en-US" smtClean="0"/>
              <a:t>ostream (no "f) parameters accept cout</a:t>
            </a:r>
            <a:br>
              <a:rPr lang="en-US" smtClean="0"/>
            </a:br>
            <a:r>
              <a:rPr lang="en-US" smtClean="0"/>
              <a:t>or ofstream objects as arguments</a:t>
            </a:r>
          </a:p>
          <a:p>
            <a:pPr eaLnBrk="1" hangingPunct="1"/>
            <a:r>
              <a:rPr lang="en-US" smtClean="0"/>
              <a:t>Member function eof</a:t>
            </a:r>
          </a:p>
          <a:p>
            <a:pPr lvl="1" eaLnBrk="1" hangingPunct="1"/>
            <a:r>
              <a:rPr lang="en-US" smtClean="0"/>
              <a:t>Used to test for end of input file </a:t>
            </a:r>
          </a:p>
          <a:p>
            <a:pPr eaLnBrk="1" hangingPunct="1"/>
            <a:r>
              <a:rPr lang="en-US" smtClean="0"/>
              <a:t>Streams use inheritance to share common methods and variables in an “is-a” relationship between classes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12-</a:t>
            </a:r>
            <a:fld id="{667BE7AA-7560-4FE5-9FAA-E1932669A591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10854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2178</Words>
  <Application>Microsoft Office PowerPoint</Application>
  <PresentationFormat>On-screen Show (4:3)</PresentationFormat>
  <Paragraphs>501</Paragraphs>
  <Slides>50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50</vt:i4>
      </vt:variant>
    </vt:vector>
  </HeadingPairs>
  <TitlesOfParts>
    <vt:vector size="66" baseType="lpstr">
      <vt:lpstr>Arial</vt:lpstr>
      <vt:lpstr>Calibri</vt:lpstr>
      <vt:lpstr>Wingdings</vt:lpstr>
      <vt:lpstr>Courier New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12</vt:lpstr>
      <vt:lpstr>Learning Objectives</vt:lpstr>
      <vt:lpstr>Introduction</vt:lpstr>
      <vt:lpstr>Streams</vt:lpstr>
      <vt:lpstr>Streams Usage</vt:lpstr>
      <vt:lpstr>Streams Usage Like cin, cout</vt:lpstr>
      <vt:lpstr>Files</vt:lpstr>
      <vt:lpstr>File Connection</vt:lpstr>
      <vt:lpstr>File I/O Libraries</vt:lpstr>
      <vt:lpstr>Declaring Streams</vt:lpstr>
      <vt:lpstr>Streams Usage</vt:lpstr>
      <vt:lpstr>File Names</vt:lpstr>
      <vt:lpstr>Closing Files</vt:lpstr>
      <vt:lpstr>File Flush</vt:lpstr>
      <vt:lpstr>File Example:  Display 12.1  Simple File  Input/Output (1 of 2)</vt:lpstr>
      <vt:lpstr>File Example:  Display 12.1  Simple File  Input/Output (1 of 2)</vt:lpstr>
      <vt:lpstr>Appending to a File</vt:lpstr>
      <vt:lpstr>Alternative Syntax for File Opens</vt:lpstr>
      <vt:lpstr>Checking File Open Success</vt:lpstr>
      <vt:lpstr>Character I/O with Files</vt:lpstr>
      <vt:lpstr>Checking End of File</vt:lpstr>
      <vt:lpstr>End of File Check with Read</vt:lpstr>
      <vt:lpstr>Tools: File Names as Input</vt:lpstr>
      <vt:lpstr>Formatting Output  with Stream Functions</vt:lpstr>
      <vt:lpstr>Output Member Functions</vt:lpstr>
      <vt:lpstr>More Output Member Functions</vt:lpstr>
      <vt:lpstr>Flags</vt:lpstr>
      <vt:lpstr>setf() Examples</vt:lpstr>
      <vt:lpstr>Manipulators</vt:lpstr>
      <vt:lpstr>Manipulator Example: setw()</vt:lpstr>
      <vt:lpstr>Manipulator  setprecision()</vt:lpstr>
      <vt:lpstr>Saving Flag Settings</vt:lpstr>
      <vt:lpstr>Saving Flag Settings Example</vt:lpstr>
      <vt:lpstr>Restoring Default setf Settings</vt:lpstr>
      <vt:lpstr>Stream Hierarchies</vt:lpstr>
      <vt:lpstr>Class Inheritance "Real" Example</vt:lpstr>
      <vt:lpstr>Stream Class Inheritance</vt:lpstr>
      <vt:lpstr>Stream Class Inheritance Example</vt:lpstr>
      <vt:lpstr>Stream Class Inheritance  Example Calls</vt:lpstr>
      <vt:lpstr>stringstream</vt:lpstr>
      <vt:lpstr>Using stringstream</vt:lpstr>
      <vt:lpstr>Using stringstream</vt:lpstr>
      <vt:lpstr>stringstream Demo (1 of 3)</vt:lpstr>
      <vt:lpstr>stringstream demo (2 of 3)</vt:lpstr>
      <vt:lpstr>stringstream demo (3 of 3)</vt:lpstr>
      <vt:lpstr>Random Access to Files</vt:lpstr>
      <vt:lpstr>Random Access Tools</vt:lpstr>
      <vt:lpstr>Random Access Sizes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18</cp:revision>
  <dcterms:created xsi:type="dcterms:W3CDTF">2006-08-16T00:00:00Z</dcterms:created>
  <dcterms:modified xsi:type="dcterms:W3CDTF">2012-05-08T14:08:31Z</dcterms:modified>
</cp:coreProperties>
</file>