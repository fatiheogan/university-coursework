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6" r:id="rId32"/>
    <p:sldId id="297" r:id="rId33"/>
    <p:sldId id="298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36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B1A716C-54C1-48BA-A75A-ED39AF167C87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C58F992-F993-4BD6-8E44-9AC1C0D43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B9ABF6-31C3-4FBC-A736-355E295AFAF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3653D9-AF57-49B7-9EDB-601D80FC1F0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E93FB3-0D3A-43AD-9AA9-D4AFE311365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332AF5-8D57-47ED-A261-325D7E66C45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353767-FDEC-441C-8B16-71EBD54A0F6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0CF436-8175-48DB-A011-B2335F7E98D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E5C011-E436-4EA8-AB88-720DC6EF645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F45B13-B935-49EE-A905-B24C660A292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D2DC1B-4AF4-4395-842D-95FD87FFD9F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AB1E1A-5277-46AF-8FD8-43A29236BB8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3B1577-08BF-4F8C-9C9D-9BD81F24B87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57E745-C4EE-406D-A5D1-B987F6C5945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887C45-EB6A-4212-9852-D821107ED28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02D51F-1698-467F-A7F6-7D76B89CC98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08C6C75-5DB9-492C-A135-293EB68CDD3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1E0DF7-1DE5-4850-BFAD-ABCBBDD3011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E5F748-92EB-4EAF-B0C3-21A6F4309D2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6B3F90-C7AE-4E8B-851F-CBAACE7E733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FA6E8F-8B9E-48A0-8E50-DC39C8C5A99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C91EA0-ED12-4D4B-B85D-811745FAE6D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D2AC81-8818-4083-A38B-2AE4F3C7788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45B30D4-427A-49D1-8769-B542CBCD7D5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9625EAB-48FA-4F55-B267-16DC11CA7C9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794190-2EE7-47F1-AFDA-C3CAD4E22A2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080D99-0426-4875-9C77-7F84FBD4DE4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27D187-3A4A-4E45-9B13-E01678E9229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CD8E68-BAC0-4FAA-9DA6-C3E73CE1B0E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79493C-5878-4D29-9457-3623194ACDD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EBB2CF7-87DA-4A8E-9D6E-46CE97D84BD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FF4DB8-8CFB-4DF0-BC44-B7BB96E897A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1232984-C4DD-4A06-859E-5292BA3EE16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1A1EED-6AE6-44A7-AA6E-57E8A9B1A72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552057-1E02-4075-AE7C-A8DF56A3CC2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B311F5-4371-411B-AB86-FE42896CF03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04874C-F160-434F-BE7B-351CE4A9B99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13AAC3C-30D0-4F69-ACD6-FFE04CB7505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4C5CC1-FCF1-44FA-AC9C-78756146ABA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A21576-C5FD-408B-81B9-CC5D4CF8B17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A82675-4193-4897-9BDC-440FB45DE7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49BB87-5CAB-4CBF-9283-904759AF884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80058-EBCF-4E87-B07F-C123BFB1E63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AAEAB7F4-EE9D-4D23-BFC9-F1F272ADB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323A8-32B6-4F38-B8FE-F878A546BA53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4BBDE54-26C5-4569-B629-EB41EA12D6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F1798-1C11-4C1A-9808-9FB7B5F2C400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8D2118F9-1CF1-4BCC-AD37-C21275A32E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F6F12-0994-4807-986D-AF55EB315341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52C3CB51-833E-48D4-B9D5-E5775123CF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13295-5082-45B3-897C-F21A999C87C0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E886B6DF-C002-4D3F-9B49-6947CA4FF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E2EB-9FB9-44D9-9CA9-913663697960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0D75F94-A5C1-4DF6-8C06-8A353B4773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185B-37E2-4B3D-A223-223BDE63E52B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6D06A06C-7AB4-44FC-9A32-0BE1573DF1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37CBE-17DE-49E0-B308-8E0AF5C004FA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F1AFCEC0-5C0E-464A-8C88-B3CA1D834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793DB-C40A-413D-9393-6A2E0E4FFE77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946A3919-0C43-45C6-9D62-2DD13D28A5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04591-F5F8-40BB-89E5-70D3D50CC9E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D8D91318-7E51-4A78-8BD0-2FB94E4D51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52C71C-F749-427A-9931-4FE7A09CD39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54D5FD42-B97A-4DF6-A536-C4EC0F8A52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6E461E1-A480-43CE-86BC-342EEAFDC52C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FC1E5FF3-3C9C-4B27-8703-09470E78C0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C++ Basics</a:t>
            </a:r>
            <a:endParaRPr lang="en-US" dirty="0"/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5715000" y="6427788"/>
            <a:ext cx="281940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>
                <a:latin typeface="Calibri" pitchFamily="34" charset="0"/>
              </a:rPr>
              <a:t>Copyright © 2012 Pearson Addison-Wesley. All rights reserved</a:t>
            </a:r>
            <a:endParaRPr lang="en-CA" sz="1100">
              <a:latin typeface="Calibri" pitchFamily="34" charset="0"/>
            </a:endParaRPr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58200" y="6324600"/>
            <a:ext cx="68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10" descr="http://vig-fp.prenhall.com/bigcovers/013283071X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11CBEE87-04B9-4533-917D-806604CCFF78}" type="slidenum">
              <a:rPr lang="en-US"/>
              <a:pPr>
                <a:defRPr/>
              </a:pPr>
              <a:t>2</a:t>
            </a:fld>
            <a:endParaRPr lang="en-CA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Introduction to C++</a:t>
            </a:r>
          </a:p>
          <a:p>
            <a:pPr lvl="1" eaLnBrk="1" hangingPunct="1"/>
            <a:r>
              <a:rPr lang="en-US" sz="2400" smtClean="0"/>
              <a:t>Origins, Object-Oriented Programming, Terms</a:t>
            </a:r>
          </a:p>
          <a:p>
            <a:pPr eaLnBrk="1" hangingPunct="1">
              <a:spcBef>
                <a:spcPct val="60000"/>
              </a:spcBef>
            </a:pPr>
            <a:r>
              <a:rPr lang="en-US" sz="2800" smtClean="0"/>
              <a:t>Variables, Expressions, and </a:t>
            </a:r>
            <a:br>
              <a:rPr lang="en-US" sz="2800" smtClean="0"/>
            </a:br>
            <a:r>
              <a:rPr lang="en-US" sz="2800" smtClean="0"/>
              <a:t>Assignment Statements</a:t>
            </a:r>
          </a:p>
          <a:p>
            <a:pPr eaLnBrk="1" hangingPunct="1">
              <a:spcBef>
                <a:spcPct val="60000"/>
              </a:spcBef>
            </a:pPr>
            <a:r>
              <a:rPr lang="en-US" sz="2800" smtClean="0"/>
              <a:t>Console Input/Output</a:t>
            </a:r>
          </a:p>
          <a:p>
            <a:pPr eaLnBrk="1" hangingPunct="1">
              <a:spcBef>
                <a:spcPct val="60000"/>
              </a:spcBef>
            </a:pPr>
            <a:r>
              <a:rPr lang="en-US" sz="2800" smtClean="0"/>
              <a:t>Program Style</a:t>
            </a:r>
          </a:p>
          <a:p>
            <a:pPr eaLnBrk="1" hangingPunct="1">
              <a:spcBef>
                <a:spcPct val="60000"/>
              </a:spcBef>
            </a:pPr>
            <a:r>
              <a:rPr lang="en-US" sz="2800" smtClean="0"/>
              <a:t>Libraries and Namespaces</a:t>
            </a:r>
          </a:p>
        </p:txBody>
      </p:sp>
      <p:sp>
        <p:nvSpPr>
          <p:cNvPr id="16388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0F58A467-DF54-44D4-B4BA-4989D835B11E}" type="slidenum">
              <a:rPr lang="en-US"/>
              <a:pPr>
                <a:defRPr/>
              </a:pPr>
              <a:t>3</a:t>
            </a:fld>
            <a:endParaRPr lang="en-CA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 to C++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C++ Origins</a:t>
            </a:r>
          </a:p>
          <a:p>
            <a:pPr lvl="1" eaLnBrk="1" hangingPunct="1"/>
            <a:r>
              <a:rPr lang="en-US" sz="2400" smtClean="0"/>
              <a:t>Low-level languages</a:t>
            </a:r>
          </a:p>
          <a:p>
            <a:pPr lvl="2" eaLnBrk="1" hangingPunct="1"/>
            <a:r>
              <a:rPr lang="en-US" sz="2000" smtClean="0"/>
              <a:t>Machine, assembly</a:t>
            </a:r>
          </a:p>
          <a:p>
            <a:pPr lvl="1" eaLnBrk="1" hangingPunct="1"/>
            <a:r>
              <a:rPr lang="en-US" sz="2400" smtClean="0"/>
              <a:t>High-level languages</a:t>
            </a:r>
          </a:p>
          <a:p>
            <a:pPr lvl="2" eaLnBrk="1" hangingPunct="1"/>
            <a:r>
              <a:rPr lang="en-US" sz="2000" smtClean="0"/>
              <a:t>  C, C++, ADA, COBOL, FORTRAN</a:t>
            </a:r>
          </a:p>
          <a:p>
            <a:pPr lvl="1" eaLnBrk="1" hangingPunct="1"/>
            <a:r>
              <a:rPr lang="en-US" sz="2400" smtClean="0"/>
              <a:t>Object-Oriented-Programming in C++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C++ Terminology</a:t>
            </a:r>
          </a:p>
          <a:p>
            <a:pPr lvl="1" eaLnBrk="1" hangingPunct="1"/>
            <a:r>
              <a:rPr lang="en-US" sz="2400" i="1" smtClean="0"/>
              <a:t>Programs</a:t>
            </a:r>
            <a:r>
              <a:rPr lang="en-US" sz="2400" smtClean="0"/>
              <a:t> and </a:t>
            </a:r>
            <a:r>
              <a:rPr lang="en-US" sz="2400" i="1" smtClean="0"/>
              <a:t>functions</a:t>
            </a:r>
            <a:endParaRPr lang="en-US" sz="2400" smtClean="0"/>
          </a:p>
          <a:p>
            <a:pPr lvl="1" eaLnBrk="1" hangingPunct="1"/>
            <a:r>
              <a:rPr lang="en-US" sz="2400" smtClean="0"/>
              <a:t>Basic Input/Output (I/O) with cin and cout</a:t>
            </a:r>
          </a:p>
        </p:txBody>
      </p:sp>
      <p:sp>
        <p:nvSpPr>
          <p:cNvPr id="18436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43F0B20D-FE04-427F-82A8-9D165AFD6242}" type="slidenum">
              <a:rPr lang="en-US"/>
              <a:pPr>
                <a:defRPr/>
              </a:pPr>
              <a:t>4</a:t>
            </a:fld>
            <a:endParaRPr lang="en-CA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1.1  </a:t>
            </a:r>
            <a:br>
              <a:rPr lang="en-US" sz="3600" b="1"/>
            </a:br>
            <a:r>
              <a:rPr lang="en-US" sz="3600"/>
              <a:t>A Sample C++ Program (1 of 2)</a:t>
            </a:r>
          </a:p>
        </p:txBody>
      </p:sp>
      <p:pic>
        <p:nvPicPr>
          <p:cNvPr id="20483" name="Picture 4" descr="C:\WINDOWS\Desktop\Oh_type\sacitch_C++_ppt\gif\savitchc01d01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71600" y="1541463"/>
            <a:ext cx="7086600" cy="462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1.1  </a:t>
            </a:r>
            <a:br>
              <a:rPr lang="en-US" sz="3600" b="1"/>
            </a:br>
            <a:r>
              <a:rPr lang="en-US" sz="3600"/>
              <a:t>A Sample C++ Program (2 of 2)</a:t>
            </a:r>
          </a:p>
        </p:txBody>
      </p:sp>
      <p:pic>
        <p:nvPicPr>
          <p:cNvPr id="22530" name="Picture 4" descr="C:\WINDOWS\Desktop\Oh_type\sacitch_C++_ppt\gif\savitchc01d01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5525" y="1981200"/>
            <a:ext cx="7772400" cy="330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74EA12F1-627F-4C27-88E1-60EF7EF7AA3A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B50B7ABB-8995-454A-8943-4CB27D74CB13}" type="slidenum">
              <a:rPr lang="en-US"/>
              <a:pPr>
                <a:defRPr/>
              </a:pPr>
              <a:t>6</a:t>
            </a:fld>
            <a:endParaRPr lang="en-CA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C++ Variables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C++ Identifiers</a:t>
            </a:r>
          </a:p>
          <a:p>
            <a:pPr lvl="1" eaLnBrk="1" hangingPunct="1"/>
            <a:r>
              <a:rPr lang="en-US" sz="2400" smtClean="0"/>
              <a:t>Keywords/reserved words vs. Identifiers</a:t>
            </a:r>
          </a:p>
          <a:p>
            <a:pPr lvl="1" eaLnBrk="1" hangingPunct="1"/>
            <a:r>
              <a:rPr lang="en-US" sz="2400" smtClean="0"/>
              <a:t>Case-sensitivity and validity of identifiers</a:t>
            </a:r>
          </a:p>
          <a:p>
            <a:pPr lvl="1" eaLnBrk="1" hangingPunct="1"/>
            <a:r>
              <a:rPr lang="en-US" sz="2400" smtClean="0"/>
              <a:t>Meaningful names!</a:t>
            </a:r>
          </a:p>
          <a:p>
            <a:pPr eaLnBrk="1" hangingPunct="1">
              <a:spcBef>
                <a:spcPct val="60000"/>
              </a:spcBef>
            </a:pPr>
            <a:r>
              <a:rPr lang="en-US" sz="2800" smtClean="0"/>
              <a:t>Variables</a:t>
            </a:r>
          </a:p>
          <a:p>
            <a:pPr lvl="1" eaLnBrk="1" hangingPunct="1"/>
            <a:r>
              <a:rPr lang="en-US" sz="2400" smtClean="0"/>
              <a:t>A memory location to store data for a program</a:t>
            </a:r>
          </a:p>
          <a:p>
            <a:pPr lvl="1" eaLnBrk="1" hangingPunct="1"/>
            <a:r>
              <a:rPr lang="en-US" sz="2400" smtClean="0"/>
              <a:t>Must declare all data before use in program</a:t>
            </a:r>
          </a:p>
        </p:txBody>
      </p:sp>
      <p:sp>
        <p:nvSpPr>
          <p:cNvPr id="2458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Data Types: </a:t>
            </a:r>
            <a:br>
              <a:rPr lang="en-US" sz="3600"/>
            </a:br>
            <a:r>
              <a:rPr lang="en-US" sz="3600" b="1"/>
              <a:t>Display 1.2</a:t>
            </a:r>
            <a:r>
              <a:rPr lang="en-US" sz="3600"/>
              <a:t>  Simple Types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2F2441B5-A8EE-4E12-B749-9C21D21D3400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  <p:pic>
        <p:nvPicPr>
          <p:cNvPr id="2662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600200"/>
            <a:ext cx="7513638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Data Types: </a:t>
            </a:r>
            <a:br>
              <a:rPr lang="en-US" sz="3600"/>
            </a:br>
            <a:r>
              <a:rPr lang="en-US" sz="3600" b="1"/>
              <a:t>Display 1.2</a:t>
            </a:r>
            <a:r>
              <a:rPr lang="en-US" sz="3600"/>
              <a:t>  Simple Types (2 of 2)</a:t>
            </a:r>
          </a:p>
        </p:txBody>
      </p:sp>
      <p:pic>
        <p:nvPicPr>
          <p:cNvPr id="28674" name="Picture 4" descr="C:\WINDOWS\Desktop\Oh_type\sacitch_C++_ppt\gif\savitchc01d02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31875" y="1676400"/>
            <a:ext cx="7772400" cy="432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D1EC6ACB-897F-4738-814C-5412809083EC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19D6B0E7-B82C-4E30-9548-0008A7E3A9EB}" type="slidenum">
              <a:rPr lang="en-US"/>
              <a:pPr>
                <a:defRPr/>
              </a:pPr>
              <a:t>9</a:t>
            </a:fld>
            <a:endParaRPr lang="en-CA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Assigning Data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Initializing data in declaration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Results "undefined" if you don’t!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int myValue = 0;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Assigning data during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Lvalues (left-side) &amp; Rvalues (right-side)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Lvalues must be variables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Rvalues can be any expression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Example:</a:t>
            </a:r>
            <a:br>
              <a:rPr lang="en-US" sz="2000" smtClean="0"/>
            </a:br>
            <a:r>
              <a:rPr lang="en-US" sz="2000" smtClean="0"/>
              <a:t>distance = rate * time;</a:t>
            </a:r>
            <a:br>
              <a:rPr lang="en-US" sz="2000" smtClean="0"/>
            </a:br>
            <a:r>
              <a:rPr lang="en-US" sz="2000" smtClean="0"/>
              <a:t>Lvalue:  "distance"</a:t>
            </a:r>
            <a:br>
              <a:rPr lang="en-US" sz="2000" smtClean="0"/>
            </a:br>
            <a:r>
              <a:rPr lang="en-US" sz="2000" smtClean="0"/>
              <a:t>Rvalue: "rate * time" </a:t>
            </a:r>
          </a:p>
        </p:txBody>
      </p:sp>
      <p:sp>
        <p:nvSpPr>
          <p:cNvPr id="3072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5CC394A8-3E14-4756-984B-B3EAF9454AB8}" type="slidenum">
              <a:rPr lang="en-US"/>
              <a:pPr>
                <a:defRPr/>
              </a:pPr>
              <a:t>10</a:t>
            </a:fld>
            <a:endParaRPr lang="en-CA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Assigning Data: Shorthand Notations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Display, page 14</a:t>
            </a:r>
          </a:p>
        </p:txBody>
      </p:sp>
      <p:pic>
        <p:nvPicPr>
          <p:cNvPr id="32772" name="Picture 4" descr="C:\WINDOWS\Desktop\Oh_type\sacitch_C++_ppt\gif\savitchc01d_p01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66788" y="2514600"/>
            <a:ext cx="78898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3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4396DA2-BB44-4602-875A-F1FF00044B10}" type="slidenum">
              <a:rPr lang="en-US"/>
              <a:pPr>
                <a:defRPr/>
              </a:pPr>
              <a:t>11</a:t>
            </a:fld>
            <a:endParaRPr lang="en-CA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Assignment Rules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Compatibility of Data Assignments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Type mismatches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General Rule: Cannot place value of one type into variable of another type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intVar = 2.99;	// 2 is assigned to intVar!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Only integer part "fits", so that’s all that goes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Called "implicit" or "automatic type conversion" 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Literals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2, 5.75, "Z", "Hello World"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Considered "constants": can’t change in program</a:t>
            </a:r>
          </a:p>
        </p:txBody>
      </p:sp>
      <p:sp>
        <p:nvSpPr>
          <p:cNvPr id="3482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BC4746DE-40DA-4721-A651-DAE3CF4691FB}" type="slidenum">
              <a:rPr lang="en-US"/>
              <a:pPr>
                <a:defRPr/>
              </a:pPr>
              <a:t>12</a:t>
            </a:fld>
            <a:endParaRPr lang="en-CA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Literal Data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3149600" algn="l"/>
              </a:tabLst>
            </a:pPr>
            <a:r>
              <a:rPr lang="en-US" sz="2800" smtClean="0"/>
              <a:t>Literals</a:t>
            </a:r>
          </a:p>
          <a:p>
            <a:pPr lvl="1" eaLnBrk="1" hangingPunct="1">
              <a:tabLst>
                <a:tab pos="3149600" algn="l"/>
              </a:tabLst>
            </a:pPr>
            <a:r>
              <a:rPr lang="en-US" sz="2400" smtClean="0"/>
              <a:t>Examples:</a:t>
            </a:r>
          </a:p>
          <a:p>
            <a:pPr lvl="2" eaLnBrk="1" hangingPunct="1">
              <a:tabLst>
                <a:tab pos="3149600" algn="l"/>
              </a:tabLst>
            </a:pPr>
            <a:r>
              <a:rPr lang="en-US" sz="2000" smtClean="0"/>
              <a:t>2	// Literal constant int</a:t>
            </a:r>
          </a:p>
          <a:p>
            <a:pPr lvl="2" eaLnBrk="1" hangingPunct="1">
              <a:tabLst>
                <a:tab pos="3149600" algn="l"/>
              </a:tabLst>
            </a:pPr>
            <a:r>
              <a:rPr lang="en-US" sz="2000" smtClean="0"/>
              <a:t>5.75	// Literal constant double</a:t>
            </a:r>
          </a:p>
          <a:p>
            <a:pPr lvl="2" eaLnBrk="1" hangingPunct="1">
              <a:tabLst>
                <a:tab pos="3149600" algn="l"/>
              </a:tabLst>
            </a:pPr>
            <a:r>
              <a:rPr lang="en-US" sz="2000" smtClean="0"/>
              <a:t>"Z"	// Literal constant char</a:t>
            </a:r>
          </a:p>
          <a:p>
            <a:pPr lvl="2" eaLnBrk="1" hangingPunct="1">
              <a:tabLst>
                <a:tab pos="3149600" algn="l"/>
              </a:tabLst>
            </a:pPr>
            <a:r>
              <a:rPr lang="en-US" sz="2000" smtClean="0"/>
              <a:t>"Hello World"	// Literal constant string</a:t>
            </a:r>
          </a:p>
          <a:p>
            <a:pPr eaLnBrk="1" hangingPunct="1">
              <a:spcBef>
                <a:spcPct val="50000"/>
              </a:spcBef>
              <a:tabLst>
                <a:tab pos="3149600" algn="l"/>
              </a:tabLst>
            </a:pPr>
            <a:r>
              <a:rPr lang="en-US" sz="2800" smtClean="0"/>
              <a:t>Cannot change values during execution</a:t>
            </a:r>
          </a:p>
          <a:p>
            <a:pPr eaLnBrk="1" hangingPunct="1">
              <a:spcBef>
                <a:spcPct val="50000"/>
              </a:spcBef>
              <a:tabLst>
                <a:tab pos="3149600" algn="l"/>
              </a:tabLst>
            </a:pPr>
            <a:r>
              <a:rPr lang="en-US" sz="2800" smtClean="0"/>
              <a:t>Called "literals" because you "literally typed"</a:t>
            </a:r>
            <a:br>
              <a:rPr lang="en-US" sz="2800" smtClean="0"/>
            </a:br>
            <a:r>
              <a:rPr lang="en-US" sz="2800" smtClean="0"/>
              <a:t>them in your program!</a:t>
            </a:r>
          </a:p>
        </p:txBody>
      </p:sp>
      <p:sp>
        <p:nvSpPr>
          <p:cNvPr id="36868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DA9FC776-275E-4215-87CA-346EB6F30F74}" type="slidenum">
              <a:rPr lang="en-US"/>
              <a:pPr>
                <a:defRPr/>
              </a:pPr>
              <a:t>13</a:t>
            </a:fld>
            <a:endParaRPr lang="en-CA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Escape Sequences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"Extend" character set</a:t>
            </a:r>
          </a:p>
          <a:p>
            <a:pPr eaLnBrk="1" hangingPunct="1"/>
            <a:r>
              <a:rPr lang="en-US" smtClean="0"/>
              <a:t>Backslash, \  preceding a character</a:t>
            </a:r>
          </a:p>
          <a:p>
            <a:pPr lvl="1" eaLnBrk="1" hangingPunct="1"/>
            <a:r>
              <a:rPr lang="en-US" smtClean="0"/>
              <a:t>Instructs compiler: a special "escape</a:t>
            </a:r>
            <a:br>
              <a:rPr lang="en-US" smtClean="0"/>
            </a:br>
            <a:r>
              <a:rPr lang="en-US" smtClean="0"/>
              <a:t>character" is coming</a:t>
            </a:r>
          </a:p>
          <a:p>
            <a:pPr lvl="1" eaLnBrk="1" hangingPunct="1"/>
            <a:r>
              <a:rPr lang="en-US" smtClean="0"/>
              <a:t>Following character treated as</a:t>
            </a:r>
            <a:br>
              <a:rPr lang="en-US" smtClean="0"/>
            </a:br>
            <a:r>
              <a:rPr lang="en-US" smtClean="0"/>
              <a:t>"escape sequence char"</a:t>
            </a:r>
          </a:p>
          <a:p>
            <a:pPr lvl="1" eaLnBrk="1" hangingPunct="1"/>
            <a:r>
              <a:rPr lang="en-US" smtClean="0"/>
              <a:t>Display 1.3 next slide</a:t>
            </a:r>
          </a:p>
        </p:txBody>
      </p:sp>
      <p:sp>
        <p:nvSpPr>
          <p:cNvPr id="38916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1.3</a:t>
            </a:r>
            <a:r>
              <a:rPr lang="en-US" sz="3600"/>
              <a:t>  </a:t>
            </a:r>
            <a:br>
              <a:rPr lang="en-US" sz="3600"/>
            </a:br>
            <a:r>
              <a:rPr lang="en-US" sz="3600"/>
              <a:t>Some Escape Sequences (1 of 2)</a:t>
            </a:r>
          </a:p>
        </p:txBody>
      </p:sp>
      <p:pic>
        <p:nvPicPr>
          <p:cNvPr id="40962" name="Picture 4" descr="C:\WINDOWS\Desktop\Oh_type\sacitch_C++_ppt\gif\savitchc01d03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66800" y="1654175"/>
            <a:ext cx="7772400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498D37E0-7680-4E01-A3A2-813906231EB4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1.3</a:t>
            </a:r>
            <a:r>
              <a:rPr lang="en-US" sz="3600"/>
              <a:t>  </a:t>
            </a:r>
            <a:br>
              <a:rPr lang="en-US" sz="3600"/>
            </a:br>
            <a:r>
              <a:rPr lang="en-US" sz="3600"/>
              <a:t>Some Escape Sequences (2 of 2)</a:t>
            </a:r>
          </a:p>
        </p:txBody>
      </p:sp>
      <p:pic>
        <p:nvPicPr>
          <p:cNvPr id="43010" name="Picture 4" descr="C:\WINDOWS\Desktop\Oh_type\sacitch_C++_ppt\gif\savitchc01d03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565275" y="1676400"/>
            <a:ext cx="6705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0B7D8CCC-478D-4A0E-9999-E1BA87B7DA88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D73D7A1D-8988-4CA2-B0CA-5E6343024881}" type="slidenum">
              <a:rPr lang="en-US"/>
              <a:pPr>
                <a:defRPr/>
              </a:pPr>
              <a:t>16</a:t>
            </a:fld>
            <a:endParaRPr lang="en-CA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Constants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Naming your constants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Literal constants are "OK", but provide </a:t>
            </a:r>
            <a:br>
              <a:rPr lang="en-US" sz="2400" smtClean="0"/>
            </a:br>
            <a:r>
              <a:rPr lang="en-US" sz="2400" smtClean="0"/>
              <a:t>little meaning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e.g., seeing 24 in a pgm, tells nothing about</a:t>
            </a:r>
            <a:br>
              <a:rPr lang="en-US" sz="2000" smtClean="0"/>
            </a:br>
            <a:r>
              <a:rPr lang="en-US" sz="2000" smtClean="0"/>
              <a:t>what it represents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Use named constants instead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Meaningful name to represent data</a:t>
            </a:r>
            <a:br>
              <a:rPr lang="en-US" sz="2400" smtClean="0"/>
            </a:br>
            <a:r>
              <a:rPr lang="en-US" sz="2400" smtClean="0"/>
              <a:t>const int NUMBER_OF_STUDENTS = 24;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Called a "declared constant" or "named constant"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Now use it’s name wherever needed in program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Added benefit: changes to value result in one fix</a:t>
            </a:r>
          </a:p>
        </p:txBody>
      </p:sp>
      <p:sp>
        <p:nvSpPr>
          <p:cNvPr id="4506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451F864D-620C-4251-BFB1-85A119DBA7EB}" type="slidenum">
              <a:rPr lang="en-US"/>
              <a:pPr>
                <a:defRPr/>
              </a:pPr>
              <a:t>17</a:t>
            </a:fld>
            <a:endParaRPr lang="en-CA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Arithmetic Operators:</a:t>
            </a:r>
            <a:br>
              <a:rPr lang="en-US" sz="3200" smtClean="0"/>
            </a:br>
            <a:r>
              <a:rPr lang="en-US" sz="3200" b="1" smtClean="0"/>
              <a:t>Display 1.4</a:t>
            </a:r>
            <a:r>
              <a:rPr lang="en-US" sz="3200" smtClean="0"/>
              <a:t>  Named Constant (1 of 2)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Standard Arithmetic Operators</a:t>
            </a:r>
          </a:p>
          <a:p>
            <a:pPr lvl="1" eaLnBrk="1" hangingPunct="1"/>
            <a:r>
              <a:rPr lang="en-US" smtClean="0"/>
              <a:t>Precedence rules – standard rules</a:t>
            </a:r>
          </a:p>
        </p:txBody>
      </p:sp>
      <p:pic>
        <p:nvPicPr>
          <p:cNvPr id="47108" name="Picture 4" descr="C:\WINDOWS\Desktop\Oh_type\sacitch_C++_ppt\gif\savitchc01d04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66800" y="3003550"/>
            <a:ext cx="7772400" cy="263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9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Arithmetic Operators:</a:t>
            </a:r>
            <a:br>
              <a:rPr lang="en-US" sz="3200" smtClean="0"/>
            </a:br>
            <a:r>
              <a:rPr lang="en-US" sz="3200" b="1" smtClean="0"/>
              <a:t>Display 1.4</a:t>
            </a:r>
            <a:r>
              <a:rPr lang="en-US" sz="3200" smtClean="0"/>
              <a:t>  Named Constant (2 of 2)</a:t>
            </a:r>
          </a:p>
        </p:txBody>
      </p:sp>
      <p:pic>
        <p:nvPicPr>
          <p:cNvPr id="49154" name="Picture 4" descr="C:\WINDOWS\Desktop\Oh_type\sacitch_C++_ppt\gif\savitchc01d04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31875" y="2136775"/>
            <a:ext cx="7772400" cy="281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D36CC1DA-935B-420E-B7D0-42395A171A3A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01631175-966D-4D90-98E0-5E61D0D9C63A}" type="slidenum">
              <a:rPr lang="en-US"/>
              <a:pPr>
                <a:defRPr/>
              </a:pPr>
              <a:t>19</a:t>
            </a:fld>
            <a:endParaRPr lang="en-CA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Arithmetic Precision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Precision of Calculations</a:t>
            </a:r>
          </a:p>
          <a:p>
            <a:pPr lvl="1" eaLnBrk="1" hangingPunct="1"/>
            <a:r>
              <a:rPr lang="en-US" smtClean="0"/>
              <a:t>VERY important consideration!</a:t>
            </a:r>
          </a:p>
          <a:p>
            <a:pPr lvl="2" eaLnBrk="1" hangingPunct="1"/>
            <a:r>
              <a:rPr lang="en-US" smtClean="0"/>
              <a:t>Expressions in C++ might not evaluate as </a:t>
            </a:r>
            <a:br>
              <a:rPr lang="en-US" smtClean="0"/>
            </a:br>
            <a:r>
              <a:rPr lang="en-US" smtClean="0"/>
              <a:t>you’d "expect"!</a:t>
            </a:r>
          </a:p>
          <a:p>
            <a:pPr lvl="1" eaLnBrk="1" hangingPunct="1"/>
            <a:r>
              <a:rPr lang="en-US" smtClean="0"/>
              <a:t>"Highest-order operand" determines type</a:t>
            </a:r>
            <a:br>
              <a:rPr lang="en-US" smtClean="0"/>
            </a:br>
            <a:r>
              <a:rPr lang="en-US" smtClean="0"/>
              <a:t>of arithmetic "precision" performed</a:t>
            </a:r>
          </a:p>
          <a:p>
            <a:pPr lvl="1" eaLnBrk="1" hangingPunct="1"/>
            <a:r>
              <a:rPr lang="en-US" smtClean="0"/>
              <a:t>Common pitfall!</a:t>
            </a:r>
          </a:p>
        </p:txBody>
      </p:sp>
      <p:sp>
        <p:nvSpPr>
          <p:cNvPr id="5120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7C340D3D-7261-4C94-8185-4BB1585FC86E}" type="slidenum">
              <a:rPr lang="en-US"/>
              <a:pPr>
                <a:defRPr/>
              </a:pPr>
              <a:t>20</a:t>
            </a:fld>
            <a:endParaRPr lang="en-CA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Arithmetic Precision Examples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Examples: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17 / 5  evaluates to 3 in C++!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Both operands are integers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Integer division is performed!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17.0 / 5 equals 3.4 in C++!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Highest-order operand is "double type"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Double "precision" division is performed!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int intVar1 =1, intVar2=2;</a:t>
            </a:r>
            <a:br>
              <a:rPr lang="en-US" sz="2400" smtClean="0"/>
            </a:br>
            <a:r>
              <a:rPr lang="en-US" sz="2400" smtClean="0"/>
              <a:t>intVar1 / intVar2;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Performs integer division!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Result: 0!</a:t>
            </a:r>
          </a:p>
        </p:txBody>
      </p:sp>
      <p:sp>
        <p:nvSpPr>
          <p:cNvPr id="53252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5573BCF1-2DE0-4559-946F-EF84569B9DDF}" type="slidenum">
              <a:rPr lang="en-US"/>
              <a:pPr>
                <a:defRPr/>
              </a:pPr>
              <a:t>21</a:t>
            </a:fld>
            <a:endParaRPr lang="en-CA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Individual Arithmetic Precision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Calculations done "one-by-one"</a:t>
            </a:r>
          </a:p>
          <a:p>
            <a:pPr lvl="1" eaLnBrk="1" hangingPunct="1"/>
            <a:r>
              <a:rPr lang="en-US" sz="2400" smtClean="0"/>
              <a:t>1 / 2 / 3.0 / 4  performs 3 separate divisions.</a:t>
            </a:r>
          </a:p>
          <a:p>
            <a:pPr lvl="2" eaLnBrk="1" hangingPunct="1"/>
            <a:r>
              <a:rPr lang="en-US" sz="2000" smtClean="0"/>
              <a:t>First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 1 / 2    equals 0</a:t>
            </a:r>
          </a:p>
          <a:p>
            <a:pPr lvl="2" eaLnBrk="1" hangingPunct="1"/>
            <a:r>
              <a:rPr lang="en-US" sz="2000" smtClean="0"/>
              <a:t>Then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0 / 3.0 equals 0.0</a:t>
            </a:r>
          </a:p>
          <a:p>
            <a:pPr lvl="2" eaLnBrk="1" hangingPunct="1"/>
            <a:r>
              <a:rPr lang="en-US" sz="2000" smtClean="0"/>
              <a:t>Then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0.0 / 4 equals 0.0!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So not necessarily sufficient to change</a:t>
            </a:r>
            <a:br>
              <a:rPr lang="en-US" sz="2800" smtClean="0"/>
            </a:br>
            <a:r>
              <a:rPr lang="en-US" sz="2800" smtClean="0"/>
              <a:t>just "one operand" in a large expression</a:t>
            </a:r>
          </a:p>
          <a:p>
            <a:pPr lvl="1" eaLnBrk="1" hangingPunct="1"/>
            <a:r>
              <a:rPr lang="en-US" sz="2400" smtClean="0"/>
              <a:t>Must keep in mind all individual calculations</a:t>
            </a:r>
            <a:br>
              <a:rPr lang="en-US" sz="2400" smtClean="0"/>
            </a:br>
            <a:r>
              <a:rPr lang="en-US" sz="2400" smtClean="0"/>
              <a:t>that will be performed during evaluation!</a:t>
            </a:r>
          </a:p>
        </p:txBody>
      </p:sp>
      <p:sp>
        <p:nvSpPr>
          <p:cNvPr id="5530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13FBDFC8-8A14-46CB-8511-B58606950321}" type="slidenum">
              <a:rPr lang="en-US"/>
              <a:pPr>
                <a:defRPr/>
              </a:pPr>
              <a:t>22</a:t>
            </a:fld>
            <a:endParaRPr lang="en-CA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Type Casting 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Casting for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add ".0" to literals to force precision</a:t>
            </a:r>
            <a:br>
              <a:rPr lang="en-US" sz="2400" smtClean="0"/>
            </a:br>
            <a:r>
              <a:rPr lang="en-US" sz="2400" smtClean="0"/>
              <a:t>arithmetic, but what about variables?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We can’t use "myInt.0"!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static_cast&lt;double&gt;intVar 	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Explicitly "casts" or "converts" intVar to </a:t>
            </a:r>
            <a:br>
              <a:rPr lang="en-US" sz="2400" smtClean="0"/>
            </a:br>
            <a:r>
              <a:rPr lang="en-US" sz="2400" smtClean="0"/>
              <a:t>double 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Result of conversion is then used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Example expression:</a:t>
            </a:r>
            <a:br>
              <a:rPr lang="en-US" sz="2000" smtClean="0"/>
            </a:br>
            <a:r>
              <a:rPr lang="en-US" sz="2000" smtClean="0"/>
              <a:t>doubleVar = static_cast&lt;double&gt;intVar1 / intVar2;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800" smtClean="0"/>
              <a:t>Casting forces double-precision division to take place</a:t>
            </a:r>
            <a:br>
              <a:rPr lang="en-US" sz="1800" smtClean="0"/>
            </a:br>
            <a:r>
              <a:rPr lang="en-US" sz="1800" smtClean="0"/>
              <a:t>among two integer variables!</a:t>
            </a:r>
          </a:p>
        </p:txBody>
      </p:sp>
      <p:sp>
        <p:nvSpPr>
          <p:cNvPr id="57348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3AE469B4-5D7F-484F-B39C-514CA868C8FB}" type="slidenum">
              <a:rPr lang="en-US"/>
              <a:pPr>
                <a:defRPr/>
              </a:pPr>
              <a:t>23</a:t>
            </a:fld>
            <a:endParaRPr lang="en-CA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Type Casting 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Two types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Implicit—also called "Automatic"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Done FOR you, automatically</a:t>
            </a:r>
            <a:br>
              <a:rPr lang="en-US" sz="2000" smtClean="0"/>
            </a:br>
            <a:r>
              <a:rPr lang="en-US" sz="2000" smtClean="0"/>
              <a:t>17 / 5.5</a:t>
            </a:r>
            <a:br>
              <a:rPr lang="en-US" sz="2000" smtClean="0"/>
            </a:br>
            <a:r>
              <a:rPr lang="en-US" sz="2000" smtClean="0"/>
              <a:t>This expression causes an "implicit type cast" to</a:t>
            </a:r>
            <a:br>
              <a:rPr lang="en-US" sz="2000" smtClean="0"/>
            </a:br>
            <a:r>
              <a:rPr lang="en-US" sz="2000" smtClean="0"/>
              <a:t>take place, casting the 17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17.0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Explicit type conversion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Programmer specifies conversion with cast operator</a:t>
            </a:r>
            <a:br>
              <a:rPr lang="en-US" sz="2000" smtClean="0"/>
            </a:br>
            <a:r>
              <a:rPr lang="en-US" sz="2000" smtClean="0"/>
              <a:t>(double)17 / 5.5</a:t>
            </a:r>
            <a:br>
              <a:rPr lang="en-US" sz="2000" smtClean="0"/>
            </a:br>
            <a:r>
              <a:rPr lang="en-US" sz="2000" smtClean="0"/>
              <a:t>	Same expression as above, using explicit cast</a:t>
            </a:r>
            <a:br>
              <a:rPr lang="en-US" sz="2000" smtClean="0"/>
            </a:br>
            <a:r>
              <a:rPr lang="en-US" sz="2000" smtClean="0"/>
              <a:t>(double)myInt / myDouble</a:t>
            </a:r>
            <a:br>
              <a:rPr lang="en-US" sz="2000" smtClean="0"/>
            </a:br>
            <a:r>
              <a:rPr lang="en-US" sz="2000" smtClean="0"/>
              <a:t>	More typical use; cast operator on variable</a:t>
            </a:r>
          </a:p>
        </p:txBody>
      </p:sp>
      <p:sp>
        <p:nvSpPr>
          <p:cNvPr id="59396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257151AD-E1C5-491E-BB1C-3EFEFAF8E1D3}" type="slidenum">
              <a:rPr lang="en-US"/>
              <a:pPr>
                <a:defRPr/>
              </a:pPr>
              <a:t>24</a:t>
            </a:fld>
            <a:endParaRPr lang="en-CA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Shorthand Operators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Increment &amp; Decrement Operators</a:t>
            </a:r>
          </a:p>
          <a:p>
            <a:pPr lvl="1" eaLnBrk="1" hangingPunct="1"/>
            <a:r>
              <a:rPr lang="en-US" smtClean="0"/>
              <a:t>Just short-hand notation</a:t>
            </a:r>
          </a:p>
          <a:p>
            <a:pPr lvl="1" eaLnBrk="1" hangingPunct="1"/>
            <a:r>
              <a:rPr lang="en-US" smtClean="0"/>
              <a:t>Increment operator, ++</a:t>
            </a:r>
            <a:br>
              <a:rPr lang="en-US" smtClean="0"/>
            </a:br>
            <a:r>
              <a:rPr lang="en-US" smtClean="0"/>
              <a:t>intVar++;  is equivalent to</a:t>
            </a:r>
            <a:br>
              <a:rPr lang="en-US" smtClean="0"/>
            </a:br>
            <a:r>
              <a:rPr lang="en-US" smtClean="0"/>
              <a:t>intVar = intVar + 1;</a:t>
            </a:r>
          </a:p>
          <a:p>
            <a:pPr lvl="1" eaLnBrk="1" hangingPunct="1"/>
            <a:r>
              <a:rPr lang="en-US" smtClean="0"/>
              <a:t>Decrement operator, --</a:t>
            </a:r>
            <a:br>
              <a:rPr lang="en-US" smtClean="0"/>
            </a:br>
            <a:r>
              <a:rPr lang="en-US" smtClean="0"/>
              <a:t>intVar--;   is equivalent to</a:t>
            </a:r>
            <a:br>
              <a:rPr lang="en-US" smtClean="0"/>
            </a:br>
            <a:r>
              <a:rPr lang="en-US" smtClean="0"/>
              <a:t>intVar = intVar – 1;</a:t>
            </a:r>
          </a:p>
        </p:txBody>
      </p:sp>
      <p:sp>
        <p:nvSpPr>
          <p:cNvPr id="6144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ED4EAE5D-5064-45C9-B9E1-9FE8EBEB9010}" type="slidenum">
              <a:rPr lang="en-US"/>
              <a:pPr>
                <a:defRPr/>
              </a:pPr>
              <a:t>25</a:t>
            </a:fld>
            <a:endParaRPr lang="en-CA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Shorthand Operators: Two Options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Post-Increment</a:t>
            </a:r>
            <a:br>
              <a:rPr lang="en-US" sz="2800" smtClean="0"/>
            </a:br>
            <a:r>
              <a:rPr lang="en-US" sz="2800" smtClean="0"/>
              <a:t>intVar++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Uses current value of variable, THEN increments it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Pre-Increment</a:t>
            </a:r>
            <a:br>
              <a:rPr lang="en-US" sz="2800" smtClean="0"/>
            </a:br>
            <a:r>
              <a:rPr lang="en-US" sz="2800" smtClean="0"/>
              <a:t>++intVar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Increments variable first, THEN uses new value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"Use" is defined as whatever "context"</a:t>
            </a:r>
            <a:br>
              <a:rPr lang="en-US" sz="2800" smtClean="0"/>
            </a:br>
            <a:r>
              <a:rPr lang="en-US" sz="2800" smtClean="0"/>
              <a:t>variable is currently in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 difference if "alone" in statement:</a:t>
            </a:r>
            <a:br>
              <a:rPr lang="en-US" sz="2800" smtClean="0"/>
            </a:br>
            <a:r>
              <a:rPr lang="en-US" sz="2800" smtClean="0"/>
              <a:t>intVar++; and ++intVar;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identical result</a:t>
            </a:r>
          </a:p>
        </p:txBody>
      </p:sp>
      <p:sp>
        <p:nvSpPr>
          <p:cNvPr id="63492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49EEC0BF-06C7-46F5-92AC-B5F255B40846}" type="slidenum">
              <a:rPr lang="en-US"/>
              <a:pPr>
                <a:defRPr/>
              </a:pPr>
              <a:t>26</a:t>
            </a:fld>
            <a:endParaRPr lang="en-CA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Post-Increment in Action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1828800" algn="l"/>
              </a:tabLst>
            </a:pPr>
            <a:r>
              <a:rPr lang="en-US" sz="2800" smtClean="0"/>
              <a:t>Post-Increment in Expressions:</a:t>
            </a:r>
            <a:br>
              <a:rPr lang="en-US" sz="2800" smtClean="0"/>
            </a:br>
            <a:r>
              <a:rPr lang="en-US" sz="2800" smtClean="0"/>
              <a:t>int 	n = 2,</a:t>
            </a:r>
            <a:br>
              <a:rPr lang="en-US" sz="2800" smtClean="0"/>
            </a:br>
            <a:r>
              <a:rPr lang="en-US" sz="2800" smtClean="0"/>
              <a:t>	valueProduced;</a:t>
            </a:r>
            <a:br>
              <a:rPr lang="en-US" sz="2800" smtClean="0"/>
            </a:br>
            <a:r>
              <a:rPr lang="en-US" sz="2800" smtClean="0"/>
              <a:t>valueProduced = 2 * (n++);</a:t>
            </a:r>
            <a:br>
              <a:rPr lang="en-US" sz="2800" smtClean="0"/>
            </a:br>
            <a:r>
              <a:rPr lang="en-US" sz="2800" smtClean="0"/>
              <a:t>cout &lt;&lt; valueProduced &lt;&lt; endl;</a:t>
            </a:r>
            <a:br>
              <a:rPr lang="en-US" sz="2800" smtClean="0"/>
            </a:br>
            <a:r>
              <a:rPr lang="en-US" sz="2800" smtClean="0"/>
              <a:t>cout &lt;&lt; n &lt;&lt; endl;</a:t>
            </a:r>
          </a:p>
          <a:p>
            <a:pPr lvl="1" eaLnBrk="1" hangingPunct="1">
              <a:tabLst>
                <a:tab pos="1828800" algn="l"/>
              </a:tabLst>
            </a:pPr>
            <a:r>
              <a:rPr lang="en-US" sz="2400" smtClean="0"/>
              <a:t>This code segment produces the output:</a:t>
            </a:r>
            <a:br>
              <a:rPr lang="en-US" sz="2400" smtClean="0"/>
            </a:br>
            <a:r>
              <a:rPr lang="en-US" sz="2400" smtClean="0"/>
              <a:t>4</a:t>
            </a:r>
            <a:br>
              <a:rPr lang="en-US" sz="2400" smtClean="0"/>
            </a:br>
            <a:r>
              <a:rPr lang="en-US" sz="2400" smtClean="0"/>
              <a:t>3</a:t>
            </a:r>
          </a:p>
          <a:p>
            <a:pPr lvl="1" eaLnBrk="1" hangingPunct="1">
              <a:tabLst>
                <a:tab pos="1828800" algn="l"/>
              </a:tabLst>
            </a:pPr>
            <a:r>
              <a:rPr lang="en-US" sz="2400" smtClean="0"/>
              <a:t>Since post-increment was used</a:t>
            </a:r>
          </a:p>
        </p:txBody>
      </p:sp>
      <p:sp>
        <p:nvSpPr>
          <p:cNvPr id="6554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A76F9EB1-95D0-46BA-8C7D-F8F6F6E8F7F5}" type="slidenum">
              <a:rPr lang="en-US"/>
              <a:pPr>
                <a:defRPr/>
              </a:pPr>
              <a:t>27</a:t>
            </a:fld>
            <a:endParaRPr lang="en-CA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Pre-Increment in Action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1828800" algn="l"/>
              </a:tabLst>
            </a:pPr>
            <a:r>
              <a:rPr lang="en-US" sz="2800" smtClean="0"/>
              <a:t>Now using Pre-increment:</a:t>
            </a:r>
            <a:br>
              <a:rPr lang="en-US" sz="2800" smtClean="0"/>
            </a:br>
            <a:r>
              <a:rPr lang="en-US" sz="2800" smtClean="0"/>
              <a:t>int 	n = 2,</a:t>
            </a:r>
            <a:br>
              <a:rPr lang="en-US" sz="2800" smtClean="0"/>
            </a:br>
            <a:r>
              <a:rPr lang="en-US" sz="2800" smtClean="0"/>
              <a:t>	valueProduced;</a:t>
            </a:r>
            <a:br>
              <a:rPr lang="en-US" sz="2800" smtClean="0"/>
            </a:br>
            <a:r>
              <a:rPr lang="en-US" sz="2800" smtClean="0"/>
              <a:t>valueProduced = 2 * (++n);</a:t>
            </a:r>
            <a:br>
              <a:rPr lang="en-US" sz="2800" smtClean="0"/>
            </a:br>
            <a:r>
              <a:rPr lang="en-US" sz="2800" smtClean="0"/>
              <a:t>cout &lt;&lt; valueProduced &lt;&lt; endl;</a:t>
            </a:r>
            <a:br>
              <a:rPr lang="en-US" sz="2800" smtClean="0"/>
            </a:br>
            <a:r>
              <a:rPr lang="en-US" sz="2800" smtClean="0"/>
              <a:t>cout &lt;&lt; n &lt;&lt; endl;</a:t>
            </a:r>
          </a:p>
          <a:p>
            <a:pPr lvl="1" eaLnBrk="1" hangingPunct="1">
              <a:tabLst>
                <a:tab pos="1828800" algn="l"/>
              </a:tabLst>
            </a:pPr>
            <a:r>
              <a:rPr lang="en-US" sz="2400" smtClean="0"/>
              <a:t>This code segment produces the output:</a:t>
            </a:r>
            <a:br>
              <a:rPr lang="en-US" sz="2400" smtClean="0"/>
            </a:br>
            <a:r>
              <a:rPr lang="en-US" sz="2400" smtClean="0"/>
              <a:t>6</a:t>
            </a:r>
            <a:br>
              <a:rPr lang="en-US" sz="2400" smtClean="0"/>
            </a:br>
            <a:r>
              <a:rPr lang="en-US" sz="2400" smtClean="0"/>
              <a:t>3</a:t>
            </a:r>
          </a:p>
          <a:p>
            <a:pPr lvl="1" eaLnBrk="1" hangingPunct="1">
              <a:tabLst>
                <a:tab pos="1828800" algn="l"/>
              </a:tabLst>
            </a:pPr>
            <a:r>
              <a:rPr lang="en-US" sz="2400" smtClean="0"/>
              <a:t>Because pre-increment was used</a:t>
            </a:r>
          </a:p>
        </p:txBody>
      </p:sp>
      <p:sp>
        <p:nvSpPr>
          <p:cNvPr id="67588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5F6F10C-19AA-46BD-9722-B49D84522709}" type="slidenum">
              <a:rPr lang="en-US"/>
              <a:pPr>
                <a:defRPr/>
              </a:pPr>
              <a:t>28</a:t>
            </a:fld>
            <a:endParaRPr lang="en-CA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Console Input/Output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I/O objects cin, cout, cerr</a:t>
            </a:r>
          </a:p>
          <a:p>
            <a:pPr eaLnBrk="1" hangingPunct="1"/>
            <a:r>
              <a:rPr lang="en-US" sz="2800" smtClean="0"/>
              <a:t>Defined in the C++ library called</a:t>
            </a:r>
            <a:br>
              <a:rPr lang="en-US" sz="2800" smtClean="0"/>
            </a:br>
            <a:r>
              <a:rPr lang="en-US" sz="2800" smtClean="0"/>
              <a:t>&lt;iostream&gt;</a:t>
            </a:r>
          </a:p>
          <a:p>
            <a:pPr eaLnBrk="1" hangingPunct="1"/>
            <a:r>
              <a:rPr lang="en-US" sz="2800" smtClean="0"/>
              <a:t>Must have these lines (called pre-</a:t>
            </a:r>
            <a:br>
              <a:rPr lang="en-US" sz="2800" smtClean="0"/>
            </a:br>
            <a:r>
              <a:rPr lang="en-US" sz="2800" smtClean="0"/>
              <a:t>processor directives) near start of file:</a:t>
            </a:r>
          </a:p>
          <a:p>
            <a:pPr lvl="1" eaLnBrk="1" hangingPunct="1"/>
            <a:r>
              <a:rPr lang="en-US" sz="2400" smtClean="0"/>
              <a:t>#include &lt;iostream&gt;</a:t>
            </a:r>
            <a:br>
              <a:rPr lang="en-US" sz="2400" smtClean="0"/>
            </a:br>
            <a:r>
              <a:rPr lang="en-US" sz="2400" smtClean="0"/>
              <a:t>using namespace std;</a:t>
            </a:r>
          </a:p>
          <a:p>
            <a:pPr lvl="1" eaLnBrk="1" hangingPunct="1"/>
            <a:r>
              <a:rPr lang="en-US" sz="2400" smtClean="0"/>
              <a:t>Tells C++ to use appropriate library so we can</a:t>
            </a:r>
            <a:br>
              <a:rPr lang="en-US" sz="2400" smtClean="0"/>
            </a:br>
            <a:r>
              <a:rPr lang="en-US" sz="2400" smtClean="0"/>
              <a:t>use the I/O objects cin, cout, cerr</a:t>
            </a:r>
          </a:p>
        </p:txBody>
      </p:sp>
      <p:sp>
        <p:nvSpPr>
          <p:cNvPr id="69636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8C4E451-25B9-4D25-B042-52983DB8C14E}" type="slidenum">
              <a:rPr lang="en-US"/>
              <a:pPr>
                <a:defRPr/>
              </a:pPr>
              <a:t>29</a:t>
            </a:fld>
            <a:endParaRPr lang="en-CA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Console Output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800" smtClean="0"/>
              <a:t>What can be outputted?</a:t>
            </a:r>
          </a:p>
          <a:p>
            <a:pPr lvl="1"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400" smtClean="0"/>
              <a:t>Any data can be outputted to display screen</a:t>
            </a:r>
          </a:p>
          <a:p>
            <a:pPr lvl="2"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000" smtClean="0"/>
              <a:t>Variables</a:t>
            </a:r>
          </a:p>
          <a:p>
            <a:pPr lvl="2"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000" smtClean="0"/>
              <a:t>Constants</a:t>
            </a:r>
          </a:p>
          <a:p>
            <a:pPr lvl="2"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000" smtClean="0"/>
              <a:t>Literals</a:t>
            </a:r>
          </a:p>
          <a:p>
            <a:pPr lvl="2"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000" smtClean="0"/>
              <a:t>Expressions (which can include all of above)</a:t>
            </a:r>
          </a:p>
          <a:p>
            <a:pPr lvl="1"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400" smtClean="0"/>
              <a:t>cout &lt;&lt; numberOfGames &lt;&lt; " games played.";</a:t>
            </a:r>
            <a:br>
              <a:rPr lang="en-US" sz="2400" smtClean="0"/>
            </a:br>
            <a:r>
              <a:rPr lang="en-US" sz="2400" smtClean="0"/>
              <a:t>2 values are outputted:</a:t>
            </a:r>
            <a:br>
              <a:rPr lang="en-US" sz="2400" smtClean="0"/>
            </a:br>
            <a:r>
              <a:rPr lang="en-US" sz="2400" smtClean="0"/>
              <a:t>	"value" of variable numberOfGames,</a:t>
            </a:r>
            <a:br>
              <a:rPr lang="en-US" sz="2400" smtClean="0"/>
            </a:br>
            <a:r>
              <a:rPr lang="en-US" sz="2400" smtClean="0"/>
              <a:t>	literal string " games played."</a:t>
            </a:r>
          </a:p>
          <a:p>
            <a:pPr eaLnBrk="1" hangingPunct="1">
              <a:lnSpc>
                <a:spcPct val="90000"/>
              </a:lnSpc>
              <a:tabLst>
                <a:tab pos="1539875" algn="l"/>
              </a:tabLst>
            </a:pPr>
            <a:r>
              <a:rPr lang="en-US" sz="2800" smtClean="0"/>
              <a:t>Cascading: multiple values in one cout</a:t>
            </a:r>
          </a:p>
        </p:txBody>
      </p:sp>
      <p:sp>
        <p:nvSpPr>
          <p:cNvPr id="7168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8F6D175C-2C2E-4C08-AF90-A01ED49E2E88}" type="slidenum">
              <a:rPr lang="en-US"/>
              <a:pPr>
                <a:defRPr/>
              </a:pPr>
              <a:t>30</a:t>
            </a:fld>
            <a:endParaRPr lang="en-CA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Separating Lines of Output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New lines in output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Recall: "\n" is escape sequence for the </a:t>
            </a:r>
            <a:br>
              <a:rPr lang="en-US" sz="2400" smtClean="0"/>
            </a:br>
            <a:r>
              <a:rPr lang="en-US" sz="2400" smtClean="0"/>
              <a:t>char "newline"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 second method: object endl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Examples:</a:t>
            </a:r>
          </a:p>
          <a:p>
            <a:pPr lvl="1"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400" smtClean="0"/>
              <a:t>cout &lt;&lt; "Hello World\n";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Sends string "Hello World" to display, &amp; escape</a:t>
            </a:r>
            <a:br>
              <a:rPr lang="en-US" sz="2000" smtClean="0"/>
            </a:br>
            <a:r>
              <a:rPr lang="en-US" sz="2000" smtClean="0"/>
              <a:t>sequence "\n", skipping to next line </a:t>
            </a:r>
          </a:p>
          <a:p>
            <a:pPr lvl="1"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400" smtClean="0"/>
              <a:t>cout &lt;&lt; "Hello World" &lt;&lt; endl;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Same result as above</a:t>
            </a:r>
          </a:p>
        </p:txBody>
      </p:sp>
      <p:sp>
        <p:nvSpPr>
          <p:cNvPr id="73732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String type</a:t>
            </a:r>
          </a:p>
        </p:txBody>
      </p:sp>
      <p:sp>
        <p:nvSpPr>
          <p:cNvPr id="75778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525963"/>
          </a:xfrm>
        </p:spPr>
        <p:txBody>
          <a:bodyPr/>
          <a:lstStyle/>
          <a:p>
            <a:r>
              <a:rPr lang="en-US" smtClean="0"/>
              <a:t>C++ has a data type of “string” to store sequences of characters</a:t>
            </a:r>
          </a:p>
          <a:p>
            <a:pPr lvl="1"/>
            <a:r>
              <a:rPr lang="en-US" smtClean="0"/>
              <a:t>Not a primitive data type; distinction will be made later</a:t>
            </a:r>
          </a:p>
          <a:p>
            <a:pPr lvl="1"/>
            <a:r>
              <a:rPr lang="en-US" smtClean="0"/>
              <a:t>Must add </a:t>
            </a: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#include &lt;string&gt; </a:t>
            </a:r>
            <a:r>
              <a:rPr lang="en-US" smtClean="0"/>
              <a:t>at the top of the program</a:t>
            </a:r>
          </a:p>
          <a:p>
            <a:pPr lvl="1"/>
            <a:r>
              <a:rPr lang="en-US" smtClean="0"/>
              <a:t>The “+” operator on strings concatenates two strings together</a:t>
            </a:r>
          </a:p>
          <a:p>
            <a:pPr lvl="1"/>
            <a:r>
              <a:rPr lang="en-US" smtClean="0"/>
              <a:t>cin &gt;&gt; str where str is a string only reads up to the first whitespace character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1-</a:t>
            </a:r>
            <a:fld id="{2FCFA4FF-4857-43F1-90FB-578CECECFE2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Input/Output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1-</a:t>
            </a:r>
            <a:fld id="{3C46A149-9D7C-4281-AA8E-EDC631114DD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7680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  <p:pic>
        <p:nvPicPr>
          <p:cNvPr id="7680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47775"/>
            <a:ext cx="5626100" cy="512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Input/Output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1-</a:t>
            </a:r>
            <a:fld id="{9ADB3349-9D1B-4134-A894-F2CCD771C3D3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7782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  <p:pic>
        <p:nvPicPr>
          <p:cNvPr id="7782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504113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E1CC0EC4-F966-4A81-B1AE-41FE6AA7233B}" type="slidenum">
              <a:rPr lang="en-US"/>
              <a:pPr>
                <a:defRPr/>
              </a:pPr>
              <a:t>34</a:t>
            </a:fld>
            <a:endParaRPr lang="en-CA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Formatting Output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Formatting numeric values for output</a:t>
            </a:r>
          </a:p>
          <a:p>
            <a:pPr lvl="1" eaLnBrk="1" hangingPunct="1"/>
            <a:r>
              <a:rPr lang="en-US" smtClean="0"/>
              <a:t>Values may not display as you’d expect!</a:t>
            </a:r>
            <a:br>
              <a:rPr lang="en-US" smtClean="0"/>
            </a:br>
            <a:r>
              <a:rPr lang="en-US" smtClean="0"/>
              <a:t>cout &lt;&lt; "The price is $" &lt;&lt; price &lt;&lt; endl;</a:t>
            </a:r>
          </a:p>
          <a:p>
            <a:pPr lvl="2" eaLnBrk="1" hangingPunct="1"/>
            <a:r>
              <a:rPr lang="en-US" smtClean="0"/>
              <a:t>If price (declared double) has value 78.5, you</a:t>
            </a:r>
            <a:br>
              <a:rPr lang="en-US" smtClean="0"/>
            </a:br>
            <a:r>
              <a:rPr lang="en-US" smtClean="0"/>
              <a:t>might get:</a:t>
            </a:r>
          </a:p>
          <a:p>
            <a:pPr lvl="3" eaLnBrk="1" hangingPunct="1"/>
            <a:r>
              <a:rPr lang="en-US" smtClean="0"/>
              <a:t>The price is $78.500000    or:</a:t>
            </a:r>
          </a:p>
          <a:p>
            <a:pPr lvl="3" eaLnBrk="1" hangingPunct="1"/>
            <a:r>
              <a:rPr lang="en-US" smtClean="0"/>
              <a:t>The price is $78.5</a:t>
            </a:r>
          </a:p>
          <a:p>
            <a:pPr eaLnBrk="1" hangingPunct="1"/>
            <a:r>
              <a:rPr lang="en-US" smtClean="0"/>
              <a:t>We must explicitly tell C++ how to output numbers in our programs!</a:t>
            </a:r>
          </a:p>
        </p:txBody>
      </p:sp>
      <p:sp>
        <p:nvSpPr>
          <p:cNvPr id="78852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0A430D0F-1FE4-47DE-B6AB-5363DBB30432}" type="slidenum">
              <a:rPr lang="en-US"/>
              <a:pPr>
                <a:defRPr/>
              </a:pPr>
              <a:t>35</a:t>
            </a:fld>
            <a:endParaRPr lang="en-CA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Formatting Numbers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"Magic Formula" to force decimal sizes:</a:t>
            </a:r>
            <a:br>
              <a:rPr lang="en-US" sz="2800" smtClean="0"/>
            </a:br>
            <a:r>
              <a:rPr lang="en-US" sz="2800" smtClean="0"/>
              <a:t>cout.setf(ios::fixed);</a:t>
            </a:r>
            <a:br>
              <a:rPr lang="en-US" sz="2800" smtClean="0"/>
            </a:br>
            <a:r>
              <a:rPr lang="en-US" sz="2800" smtClean="0"/>
              <a:t>cout.setf(ios::showpoint);</a:t>
            </a:r>
            <a:br>
              <a:rPr lang="en-US" sz="2800" smtClean="0"/>
            </a:br>
            <a:r>
              <a:rPr lang="en-US" sz="2800" smtClean="0"/>
              <a:t>cout.precision(2);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These stmts force all future cout’ed values: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have exactly two digits after the decimal place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cout &lt;&lt; "The price is $" &lt;&lt; price &lt;&lt; endl;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Now results in the following:</a:t>
            </a:r>
            <a:br>
              <a:rPr lang="en-US" sz="2000" smtClean="0"/>
            </a:br>
            <a:r>
              <a:rPr lang="en-US" sz="2000" smtClean="0"/>
              <a:t>The price is $78.50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Can modify precision "as you go" as well!</a:t>
            </a:r>
          </a:p>
        </p:txBody>
      </p:sp>
      <p:sp>
        <p:nvSpPr>
          <p:cNvPr id="8090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911AD0AA-E914-4B73-A172-EEF7B016ADA5}" type="slidenum">
              <a:rPr lang="en-US"/>
              <a:pPr>
                <a:defRPr/>
              </a:pPr>
              <a:t>36</a:t>
            </a:fld>
            <a:endParaRPr lang="en-CA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Error Output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Output with cerr</a:t>
            </a:r>
          </a:p>
          <a:p>
            <a:pPr lvl="1" eaLnBrk="1" hangingPunct="1"/>
            <a:r>
              <a:rPr lang="en-US" smtClean="0"/>
              <a:t>cerr works same as cout</a:t>
            </a:r>
          </a:p>
          <a:p>
            <a:pPr lvl="1" eaLnBrk="1" hangingPunct="1"/>
            <a:r>
              <a:rPr lang="en-US" smtClean="0"/>
              <a:t>Provides mechanism for distinguishing</a:t>
            </a:r>
            <a:br>
              <a:rPr lang="en-US" smtClean="0"/>
            </a:br>
            <a:r>
              <a:rPr lang="en-US" smtClean="0"/>
              <a:t>between regular output and error output</a:t>
            </a:r>
          </a:p>
          <a:p>
            <a:pPr eaLnBrk="1" hangingPunct="1"/>
            <a:r>
              <a:rPr lang="en-US" smtClean="0"/>
              <a:t>Re-direct output streams</a:t>
            </a:r>
          </a:p>
          <a:p>
            <a:pPr lvl="1" eaLnBrk="1" hangingPunct="1"/>
            <a:r>
              <a:rPr lang="en-US" smtClean="0"/>
              <a:t>Most systems allow cout and cerr to be </a:t>
            </a:r>
            <a:br>
              <a:rPr lang="en-US" smtClean="0"/>
            </a:br>
            <a:r>
              <a:rPr lang="en-US" smtClean="0"/>
              <a:t>"redirected" to other devices</a:t>
            </a:r>
          </a:p>
          <a:p>
            <a:pPr lvl="2" eaLnBrk="1" hangingPunct="1"/>
            <a:r>
              <a:rPr lang="en-US" smtClean="0"/>
              <a:t>e.g., line printer, output file, error console, etc.</a:t>
            </a:r>
          </a:p>
        </p:txBody>
      </p:sp>
      <p:sp>
        <p:nvSpPr>
          <p:cNvPr id="82948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D286C416-2416-4B90-8388-7652315471AA}" type="slidenum">
              <a:rPr lang="en-US"/>
              <a:pPr>
                <a:defRPr/>
              </a:pPr>
              <a:t>37</a:t>
            </a:fld>
            <a:endParaRPr lang="en-CA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Input Using cin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cin for input, cout for output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Differences: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"&gt;&gt;" (extraction operator) points opposite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Think of it as "pointing toward where the data goes"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Object name "cin" used instead of "cout"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 literals allowed for cin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Must input "to a variable"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cin &gt;&gt; num;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Waits on-screen for keyboard entry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Value entered at keyboard is "assigned" to num</a:t>
            </a:r>
          </a:p>
        </p:txBody>
      </p:sp>
      <p:sp>
        <p:nvSpPr>
          <p:cNvPr id="84996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88FB1424-39DE-42EA-8249-6AE470F081D3}" type="slidenum">
              <a:rPr lang="en-US"/>
              <a:pPr>
                <a:defRPr/>
              </a:pPr>
              <a:t>38</a:t>
            </a:fld>
            <a:endParaRPr lang="en-CA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Prompting for Input: cin and cout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Always "prompt" user for input</a:t>
            </a:r>
            <a:br>
              <a:rPr lang="en-US" sz="2800" smtClean="0"/>
            </a:br>
            <a:r>
              <a:rPr lang="en-US" sz="2800" smtClean="0"/>
              <a:t>cout &lt;&lt; "Enter number of dragons: ";</a:t>
            </a:r>
            <a:br>
              <a:rPr lang="en-US" sz="2800" smtClean="0"/>
            </a:br>
            <a:r>
              <a:rPr lang="en-US" sz="2800" smtClean="0"/>
              <a:t>cin &gt;&gt; numOfDragons;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Note no "\n" in cout.  Prompt "waits" on same</a:t>
            </a:r>
            <a:br>
              <a:rPr lang="en-US" sz="2400" smtClean="0"/>
            </a:br>
            <a:r>
              <a:rPr lang="en-US" sz="2400" smtClean="0"/>
              <a:t>line for keyboard input as follows:</a:t>
            </a:r>
          </a:p>
          <a:p>
            <a:pPr lvl="2"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000" smtClean="0"/>
              <a:t/>
            </a:r>
            <a:br>
              <a:rPr lang="en-US" sz="2000" smtClean="0"/>
            </a:br>
            <a:r>
              <a:rPr lang="en-US" sz="2000" smtClean="0"/>
              <a:t>Enter number of dragons: ____</a:t>
            </a:r>
          </a:p>
          <a:p>
            <a:pPr lvl="2" eaLnBrk="1" hangingPunct="1">
              <a:lnSpc>
                <a:spcPct val="90000"/>
              </a:lnSpc>
            </a:pPr>
            <a:endParaRPr lang="en-US" sz="2000" smtClean="0"/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Underscore above denotes where keyboard entry</a:t>
            </a:r>
            <a:br>
              <a:rPr lang="en-US" sz="2000" smtClean="0"/>
            </a:br>
            <a:r>
              <a:rPr lang="en-US" sz="2000" smtClean="0"/>
              <a:t>is made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Every cin should have cout prompt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Maximizes user-friendly input/output</a:t>
            </a:r>
          </a:p>
        </p:txBody>
      </p:sp>
      <p:sp>
        <p:nvSpPr>
          <p:cNvPr id="8704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F43B9971-B196-4CE7-8AA2-94B0EB558DCC}" type="slidenum">
              <a:rPr lang="en-US"/>
              <a:pPr>
                <a:defRPr/>
              </a:pPr>
              <a:t>39</a:t>
            </a:fld>
            <a:endParaRPr lang="en-CA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Program Style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Bottom-line: Make programs easy to read and modify</a:t>
            </a:r>
          </a:p>
          <a:p>
            <a:pPr eaLnBrk="1" hangingPunct="1">
              <a:spcBef>
                <a:spcPct val="60000"/>
              </a:spcBef>
            </a:pPr>
            <a:r>
              <a:rPr lang="en-US" sz="2400" smtClean="0"/>
              <a:t>Comments, two methods:</a:t>
            </a:r>
          </a:p>
          <a:p>
            <a:pPr lvl="1" eaLnBrk="1" hangingPunct="1"/>
            <a:r>
              <a:rPr lang="en-US" sz="2000" smtClean="0"/>
              <a:t>// Two slashes indicate entire line is to be ignored</a:t>
            </a:r>
          </a:p>
          <a:p>
            <a:pPr lvl="1" eaLnBrk="1" hangingPunct="1"/>
            <a:r>
              <a:rPr lang="en-US" sz="2000" smtClean="0"/>
              <a:t>/*Delimiters indicates everything between is ignored*/</a:t>
            </a:r>
          </a:p>
          <a:p>
            <a:pPr lvl="1" eaLnBrk="1" hangingPunct="1"/>
            <a:r>
              <a:rPr lang="en-US" sz="2000" smtClean="0"/>
              <a:t>Both methods commonly used</a:t>
            </a:r>
          </a:p>
          <a:p>
            <a:pPr eaLnBrk="1" hangingPunct="1">
              <a:spcBef>
                <a:spcPct val="60000"/>
              </a:spcBef>
            </a:pPr>
            <a:r>
              <a:rPr lang="en-US" sz="2400" smtClean="0"/>
              <a:t>Identifier naming</a:t>
            </a:r>
          </a:p>
          <a:p>
            <a:pPr lvl="1" eaLnBrk="1" hangingPunct="1"/>
            <a:r>
              <a:rPr lang="en-US" sz="2000" smtClean="0"/>
              <a:t>ALL_CAPS for constants</a:t>
            </a:r>
          </a:p>
          <a:p>
            <a:pPr lvl="1" eaLnBrk="1" hangingPunct="1"/>
            <a:r>
              <a:rPr lang="en-US" sz="2000" smtClean="0"/>
              <a:t>lowerToUpper for variables</a:t>
            </a:r>
          </a:p>
          <a:p>
            <a:pPr lvl="1" eaLnBrk="1" hangingPunct="1"/>
            <a:r>
              <a:rPr lang="en-US" sz="2000" smtClean="0"/>
              <a:t>Most important: MEANINGFUL NAMES!</a:t>
            </a:r>
          </a:p>
        </p:txBody>
      </p:sp>
      <p:sp>
        <p:nvSpPr>
          <p:cNvPr id="89092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66E39322-42A1-4362-9F70-1F185F2C129B}" type="slidenum">
              <a:rPr lang="en-US"/>
              <a:pPr>
                <a:defRPr/>
              </a:pPr>
              <a:t>40</a:t>
            </a:fld>
            <a:endParaRPr lang="en-CA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Libraries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C++ Standard Libraries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#include &lt;Library_Name&gt;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Directive to "add" contents of library file to</a:t>
            </a:r>
            <a:br>
              <a:rPr lang="en-US" smtClean="0"/>
            </a:br>
            <a:r>
              <a:rPr lang="en-US" smtClean="0"/>
              <a:t>your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Called "preprocessor directive"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Executes before compiler, and simply "copies"</a:t>
            </a:r>
            <a:br>
              <a:rPr lang="en-US" smtClean="0"/>
            </a:br>
            <a:r>
              <a:rPr lang="en-US" smtClean="0"/>
              <a:t>library file into your program file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C++ has many libraries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Input/output, math, strings, etc.</a:t>
            </a:r>
          </a:p>
        </p:txBody>
      </p:sp>
      <p:sp>
        <p:nvSpPr>
          <p:cNvPr id="91140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DCC2E418-0451-4B2B-B42B-7527494C3ED5}" type="slidenum">
              <a:rPr lang="en-US"/>
              <a:pPr>
                <a:defRPr/>
              </a:pPr>
              <a:t>41</a:t>
            </a:fld>
            <a:endParaRPr lang="en-CA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Namespaces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1238" y="1506538"/>
            <a:ext cx="7777162" cy="443706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/>
              <a:t>Namespaces defined: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/>
              <a:t>Collection of name definitions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/>
              <a:t>For now: interested in namespace "std"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/>
              <a:t>Has all standard library definitions we need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/>
              <a:t>Examples:</a:t>
            </a:r>
            <a:br>
              <a:rPr lang="en-US" sz="2800"/>
            </a:br>
            <a:r>
              <a:rPr lang="en-US" sz="2800"/>
              <a:t>#include &lt;iostream&gt;</a:t>
            </a:r>
            <a:br>
              <a:rPr lang="en-US" sz="2800"/>
            </a:br>
            <a:r>
              <a:rPr lang="en-US" sz="2800"/>
              <a:t>using namespace std;	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/>
              <a:t>Includes entire standard library of name definitions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/>
              <a:t>     #include &lt;iostream&gt;using std::cin;	</a:t>
            </a:r>
            <a:br>
              <a:rPr lang="en-US" sz="2800"/>
            </a:br>
            <a:r>
              <a:rPr lang="en-US" sz="2800"/>
              <a:t>using std::cout;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/>
              <a:t>Can specify just the objects we want</a:t>
            </a:r>
          </a:p>
        </p:txBody>
      </p:sp>
      <p:sp>
        <p:nvSpPr>
          <p:cNvPr id="93188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72D9527C-2DB4-43B9-BFA3-F50369696131}" type="slidenum">
              <a:rPr lang="en-US"/>
              <a:pPr>
                <a:defRPr/>
              </a:pPr>
              <a:t>42</a:t>
            </a:fld>
            <a:endParaRPr lang="en-CA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C++ is case-sensitive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Use meaningful names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For variables and constants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Variables must be declared before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Should also be initialized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Use care in numeric manipulation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Precision, parentheses, order of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#include C++ libraries as needed</a:t>
            </a:r>
          </a:p>
        </p:txBody>
      </p:sp>
      <p:sp>
        <p:nvSpPr>
          <p:cNvPr id="95236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173E0584-898F-4BAB-9FC1-991E4B656A8B}" type="slidenum">
              <a:rPr lang="en-US"/>
              <a:pPr>
                <a:defRPr/>
              </a:pPr>
              <a:t>43</a:t>
            </a:fld>
            <a:endParaRPr lang="en-CA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Object cout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Used for console output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Object cin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Used for console input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Object cerr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Used for error messages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Use comments to aid understanding of</a:t>
            </a:r>
            <a:br>
              <a:rPr lang="en-US" sz="2800" smtClean="0"/>
            </a:br>
            <a:r>
              <a:rPr lang="en-US" sz="2800" smtClean="0"/>
              <a:t>your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Do not overcomment</a:t>
            </a:r>
          </a:p>
        </p:txBody>
      </p:sp>
      <p:sp>
        <p:nvSpPr>
          <p:cNvPr id="97284" name="Footer Placeholder 5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1805</Words>
  <Application>Microsoft Office PowerPoint</Application>
  <PresentationFormat>On-screen Show (4:3)</PresentationFormat>
  <Paragraphs>384</Paragraphs>
  <Slides>43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5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Wingdings</vt:lpstr>
      <vt:lpstr>Symbol</vt:lpstr>
      <vt:lpstr>Courier New</vt:lpstr>
      <vt:lpstr>Office Theme</vt:lpstr>
      <vt:lpstr>Office Theme</vt:lpstr>
      <vt:lpstr>Office Theme</vt:lpstr>
      <vt:lpstr>Office Theme</vt:lpstr>
      <vt:lpstr>Office Theme</vt:lpstr>
      <vt:lpstr>Chapter 1</vt:lpstr>
      <vt:lpstr>Learning Objectives</vt:lpstr>
      <vt:lpstr>Introduction to C++</vt:lpstr>
      <vt:lpstr>Display 1.1   A Sample C++ Program (1 of 2)</vt:lpstr>
      <vt:lpstr>Display 1.1   A Sample C++ Program (2 of 2)</vt:lpstr>
      <vt:lpstr>C++ Variables</vt:lpstr>
      <vt:lpstr>Data Types:  Display 1.2  Simple Types (1 of 2)</vt:lpstr>
      <vt:lpstr>Data Types:  Display 1.2  Simple Types (2 of 2)</vt:lpstr>
      <vt:lpstr>Assigning Data</vt:lpstr>
      <vt:lpstr>Assigning Data: Shorthand Notations</vt:lpstr>
      <vt:lpstr>Data Assignment Rules</vt:lpstr>
      <vt:lpstr>Literal Data</vt:lpstr>
      <vt:lpstr>Escape Sequences</vt:lpstr>
      <vt:lpstr>Display 1.3   Some Escape Sequences (1 of 2)</vt:lpstr>
      <vt:lpstr>Display 1.3   Some Escape Sequences (2 of 2)</vt:lpstr>
      <vt:lpstr>Constants</vt:lpstr>
      <vt:lpstr>Arithmetic Operators: Display 1.4  Named Constant (1 of 2)</vt:lpstr>
      <vt:lpstr>Arithmetic Operators: Display 1.4  Named Constant (2 of 2)</vt:lpstr>
      <vt:lpstr>Arithmetic Precision</vt:lpstr>
      <vt:lpstr>Arithmetic Precision Examples</vt:lpstr>
      <vt:lpstr>Individual Arithmetic Precision </vt:lpstr>
      <vt:lpstr>Type Casting </vt:lpstr>
      <vt:lpstr>Type Casting </vt:lpstr>
      <vt:lpstr>Shorthand Operators</vt:lpstr>
      <vt:lpstr>Shorthand Operators: Two Options</vt:lpstr>
      <vt:lpstr>Post-Increment in Action</vt:lpstr>
      <vt:lpstr>Pre-Increment in Action</vt:lpstr>
      <vt:lpstr>Console Input/Output</vt:lpstr>
      <vt:lpstr>Console Output</vt:lpstr>
      <vt:lpstr>Separating Lines of Output</vt:lpstr>
      <vt:lpstr>String type</vt:lpstr>
      <vt:lpstr>Input/Output (1 of 2)</vt:lpstr>
      <vt:lpstr>Input/Output (2 of 2)</vt:lpstr>
      <vt:lpstr>Formatting Output</vt:lpstr>
      <vt:lpstr>Formatting Numbers</vt:lpstr>
      <vt:lpstr>Error Output</vt:lpstr>
      <vt:lpstr>Input Using cin</vt:lpstr>
      <vt:lpstr>Prompting for Input: cin and cout</vt:lpstr>
      <vt:lpstr>Program Style</vt:lpstr>
      <vt:lpstr>Libraries</vt:lpstr>
      <vt:lpstr>Namespaces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16</cp:revision>
  <dcterms:created xsi:type="dcterms:W3CDTF">2006-08-16T00:00:00Z</dcterms:created>
  <dcterms:modified xsi:type="dcterms:W3CDTF">2012-05-08T14:05:28Z</dcterms:modified>
</cp:coreProperties>
</file>