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366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0DE5D75-F565-4E3C-A766-15F6064418B9}" type="datetimeFigureOut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EAB2E17-9711-47E4-914D-42526ED85A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194B672-C220-4894-B138-39707BBCCDF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E597EEC-EC68-451B-B70E-962D3A62C02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CA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E348363-6D0C-43BA-A248-81BD941C3FA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CA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96C61F7-97F5-42BA-A77A-763F3EACF32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B58D013-DD38-465F-8D67-08FD1A85657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786FAA1-F15B-4206-88B7-93EE643E96A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7D75842-9344-4B90-B828-630FBF8448B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A09A93F-6870-4061-8A7C-1E7C7243341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D11EFAF-3D1B-4F8C-B768-B53FD9A943C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54B6FAE-6321-492A-B6DD-F74DE99F50F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3F009F-CF8C-4CBB-9225-399DB50DBCD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CA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69A59F3-E225-4588-B0A9-49CE945B2B1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CA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3DE409B-5C7D-4F90-9A4A-245A402D2DE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CA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F42CCC5-A0CE-4F02-B1F0-C6E51BFCD1F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CA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74B5D78-87CB-4548-BB65-B97ACE6DAF9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CA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6B448B6-E934-42E2-88F7-6F88E57480E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CA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A2DBC7E-3306-404B-8972-0CD876E3588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CA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6E71A8E-5BED-4AB7-B0A4-55C58DE61A6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CA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725DBFE-EE99-443B-8633-1111B18C62B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CA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123E570-0647-40B9-BA51-833FC16FC87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CA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E14A85-5F8F-4CAE-A8B4-5F8D080D444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CA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A62AF9B-C5AD-48F5-8EA1-E7C4C857AC5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CA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0503652-2BC7-4766-B1A8-8E20C8E1F5A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CA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83F07D-824C-49E4-99A9-879B5010FE6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CA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9CF54DB-01C2-4F90-8556-43C754D77A6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CA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A7077F4-642D-4931-8859-4ECAC3F576B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CA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3BF30CE-CF34-426D-9CF9-1517E72B99D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CA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A4B1826-8B4F-4CC4-AB4E-CE7489E9195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CA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9F04C27-4882-417A-940A-B4A2273C890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CA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4FF57B-B60F-4F9C-A9F9-2CA8C82527A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CA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88FC609-CE8E-4379-B5E1-F604B568B8F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CA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E39FD6-7B05-4053-87A7-4431B8F213B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CA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C352AD0-82F4-4EAC-8B6F-60BC9BBBA63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CA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1EB1A43-4F35-4737-A2E9-681B14554D6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CA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EDB3AE-08E2-447D-8193-7E43409F080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CA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45E5B6C-DDD2-4DAB-98BE-0223606B4AD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CA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5E83699-6A12-4E32-B35A-EFC9DD4543E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CA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C291343-6371-443D-A809-47CB7482A8C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CA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FA50219-A851-446C-BD00-ABC53D6D7DA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n-CA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CE773F8-338A-49F5-B132-F34472D7999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40</a:t>
            </a:fld>
            <a:endParaRPr lang="en-CA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08FD68-2A37-4EEC-8538-BD9D5132123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41</a:t>
            </a:fld>
            <a:endParaRPr lang="en-CA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FAB259-9DFF-47D3-8428-012BB0149C0B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BFD8A896-90FB-42FC-9A0F-D0402DB26C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876800" y="6324600"/>
            <a:ext cx="914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915E8A-D9E9-48CC-9F25-F7F61BB34FEB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DD09B0CA-3105-4AA3-B8F0-05D9654FF6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457200" y="6340475"/>
            <a:ext cx="43434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3085D6-EE4F-42E3-BE65-1F017F55E774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08A8B50-DA41-4A89-9050-5EE76B173F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E4D46-455A-4B26-ABFE-1CEACE2D6687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D004FB25-2D48-4AD6-8EAF-089B6C03C3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BFB34E-B033-43B2-B016-C8DB07857086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F02818E5-AB4E-46CE-91EE-668E5A4DE8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D940A-B7CB-4412-B52B-FBCEEE4E92D5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84FAF750-3899-4987-B8BE-C6DF21DE19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F53B3-1A6E-4EB4-8627-B394A2A4FB19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9A3627E0-D3DD-4D7C-AFF8-737E5BDE79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46AA5-C3BF-4B8F-8909-234D62450D47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CF9F0791-7B1E-4D87-B116-92842F88CC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647FEE-2054-47CA-ABAA-C96665860667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3318DE74-770A-481D-AD49-2D62369C9E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431BD-C3C1-44CB-8687-945B745AEF2D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A6D499EE-CF91-41F7-BAEF-ED2C17F79D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AC5C3-C440-4BCA-8536-EF3471371797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1988F68-B42E-428A-8C8D-0DFCA1FCB3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48200" y="63404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85B1106-4A0A-4794-A88D-8542BF1D5324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 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B6923E65-6905-4E3E-898B-6B293F0A24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6986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Relationship Id="rId4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5638800" y="457200"/>
            <a:ext cx="3276600" cy="1470025"/>
          </a:xfrm>
        </p:spPr>
        <p:txBody>
          <a:bodyPr/>
          <a:lstStyle/>
          <a:p>
            <a:pPr eaLnBrk="1" hangingPunct="1"/>
            <a:r>
              <a:rPr lang="en-US" smtClean="0"/>
              <a:t>Chapter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1905000"/>
            <a:ext cx="3352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Parameters </a:t>
            </a:r>
            <a:br>
              <a:rPr lang="en-US" dirty="0" smtClean="0"/>
            </a:br>
            <a:r>
              <a:rPr lang="en-US" dirty="0" smtClean="0"/>
              <a:t>and Overloading</a:t>
            </a:r>
            <a:endParaRPr lang="en-US" dirty="0"/>
          </a:p>
        </p:txBody>
      </p:sp>
      <p:pic>
        <p:nvPicPr>
          <p:cNvPr id="14341" name="Picture 6" descr="http://vig-fp.prenhall.com/bigcovers/013283071X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0"/>
            <a:ext cx="55451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10" descr="DG_Bar_Blue_USLetter_RG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Parameters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Call-by-value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Call-by-reference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Mixed parameter-lists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Overloading and Default Arguments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Examples, Rules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Testing and Debugging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assert Macro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Stubs, Drivers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4ACEDA1B-B73E-42A8-937B-9ED4999D7647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63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Parameters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Two methods of passing arguments </a:t>
            </a:r>
            <a:br>
              <a:rPr lang="en-US" smtClean="0"/>
            </a:br>
            <a:r>
              <a:rPr lang="en-US" smtClean="0"/>
              <a:t>as parameters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Call-by-value</a:t>
            </a:r>
          </a:p>
          <a:p>
            <a:pPr lvl="1" eaLnBrk="1" hangingPunct="1"/>
            <a:r>
              <a:rPr lang="en-US" smtClean="0"/>
              <a:t>"copy" of value is passed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Call-by-reference</a:t>
            </a:r>
          </a:p>
          <a:p>
            <a:pPr lvl="1" eaLnBrk="1" hangingPunct="1"/>
            <a:r>
              <a:rPr lang="en-US" smtClean="0"/>
              <a:t>"address of" actual argument is passed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B625EF37-B94F-4A93-B7E3-98416031911B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184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Call-by-Value Parameters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Copy of actual argument passed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Considered "local variable" inside function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If modified, only "local copy" changes</a:t>
            </a:r>
          </a:p>
          <a:p>
            <a:pPr lvl="1" eaLnBrk="1" hangingPunct="1"/>
            <a:r>
              <a:rPr lang="en-US" sz="2400" smtClean="0"/>
              <a:t>Function has no access to "actual argument"</a:t>
            </a:r>
            <a:br>
              <a:rPr lang="en-US" sz="2400" smtClean="0"/>
            </a:br>
            <a:r>
              <a:rPr lang="en-US" sz="2400" smtClean="0"/>
              <a:t>from caller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This is the default method</a:t>
            </a:r>
          </a:p>
          <a:p>
            <a:pPr lvl="1" eaLnBrk="1" hangingPunct="1"/>
            <a:r>
              <a:rPr lang="en-US" sz="2400" smtClean="0"/>
              <a:t>Used in all examples thus far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38135254-CD77-4370-BEC3-FF8EB10690E1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04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/>
              <a:t>Call-by-Value Example: </a:t>
            </a:r>
            <a:br>
              <a:rPr lang="en-US" sz="3200"/>
            </a:br>
            <a:r>
              <a:rPr lang="en-US" sz="3200" b="1"/>
              <a:t>Display 4.1  </a:t>
            </a:r>
            <a:r>
              <a:rPr lang="en-US" sz="3200"/>
              <a:t>Formal Parameter Used </a:t>
            </a:r>
            <a:br>
              <a:rPr lang="en-US" sz="3200"/>
            </a:br>
            <a:r>
              <a:rPr lang="en-US" sz="3200"/>
              <a:t>as a Local Variable (1 of 3) </a:t>
            </a:r>
          </a:p>
        </p:txBody>
      </p:sp>
      <p:pic>
        <p:nvPicPr>
          <p:cNvPr id="22530" name="Picture 4" descr="C:\WINDOWS\Desktop\Oh_type\sacitch_C++_ppt\gif\savitchc04d01_1of3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28700" y="1981200"/>
            <a:ext cx="7772400" cy="333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0D75C043-95EF-49A8-ABC7-72099F861900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2532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82" name="Rectangle 6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/>
              <a:t>Call-by-Value Example: </a:t>
            </a:r>
            <a:br>
              <a:rPr lang="en-US" sz="3200"/>
            </a:br>
            <a:r>
              <a:rPr lang="en-US" sz="3200" b="1"/>
              <a:t>Display 4.1  </a:t>
            </a:r>
            <a:r>
              <a:rPr lang="en-US" sz="3200"/>
              <a:t>Formal Parameter Used </a:t>
            </a:r>
            <a:br>
              <a:rPr lang="en-US" sz="3200"/>
            </a:br>
            <a:r>
              <a:rPr lang="en-US" sz="3200"/>
              <a:t>as a Local Variable (2 of 3) </a:t>
            </a:r>
          </a:p>
        </p:txBody>
      </p:sp>
      <p:pic>
        <p:nvPicPr>
          <p:cNvPr id="24578" name="Picture 7" descr="C:\WINDOWS\Desktop\Oh_type\sacitch_C++_ppt\gif\savitchc04d01_2of3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28700" y="1981200"/>
            <a:ext cx="7772400" cy="387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63232B26-269F-4A09-80D8-641E23B60773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4580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1" name="Rectangle 3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/>
              <a:t>Call-by-Value Example: </a:t>
            </a:r>
            <a:br>
              <a:rPr lang="en-US" sz="3200"/>
            </a:br>
            <a:r>
              <a:rPr lang="en-US" sz="3200" b="1"/>
              <a:t>Display 4.1  </a:t>
            </a:r>
            <a:r>
              <a:rPr lang="en-US" sz="3200"/>
              <a:t>Formal Parameter Used </a:t>
            </a:r>
            <a:br>
              <a:rPr lang="en-US" sz="3200"/>
            </a:br>
            <a:r>
              <a:rPr lang="en-US" sz="3200"/>
              <a:t>as a Local Variable (3 of 3) </a:t>
            </a:r>
          </a:p>
        </p:txBody>
      </p:sp>
      <p:pic>
        <p:nvPicPr>
          <p:cNvPr id="26626" name="Picture 4" descr="C:\WINDOWS\Desktop\Oh_type\sacitch_C++_ppt\gif\savitchc04d01_3of3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66800" y="1828800"/>
            <a:ext cx="7694613" cy="423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0DC5D1A5-2238-45FD-8B48-FA87E81CD0E7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6628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Call-by-Value Pitfall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 Common Mistake: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Declaring parameter "again" inside function:</a:t>
            </a:r>
            <a:br>
              <a:rPr lang="en-US" sz="2400" smtClean="0"/>
            </a:br>
            <a:r>
              <a:rPr lang="en-US" sz="2400" smtClean="0"/>
              <a:t>double fee(int hoursWorked, int minutesWorked)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	int quarterHours;		// local variable</a:t>
            </a:r>
            <a:br>
              <a:rPr lang="en-US" sz="2400" smtClean="0"/>
            </a:br>
            <a:r>
              <a:rPr lang="en-US" sz="2400" smtClean="0"/>
              <a:t>	int minutesWorked		// NO!</a:t>
            </a:r>
            <a:br>
              <a:rPr lang="en-US" sz="2400" smtClean="0"/>
            </a:br>
            <a:r>
              <a:rPr lang="en-US" sz="2400" smtClean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Compiler error results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"Redefinition error…"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Value arguments ARE like "local variables"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But function gets them "automatically"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6E2AB085-C5FE-4252-A774-6739E000C580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86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Call-By-Reference Parameters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Used to provide access to caller’s</a:t>
            </a:r>
            <a:br>
              <a:rPr lang="en-US" sz="2800" smtClean="0"/>
            </a:br>
            <a:r>
              <a:rPr lang="en-US" sz="2800" smtClean="0"/>
              <a:t>actual argument</a:t>
            </a:r>
          </a:p>
          <a:p>
            <a:pPr eaLnBrk="1" hangingPunct="1"/>
            <a:r>
              <a:rPr lang="en-US" sz="2800" smtClean="0"/>
              <a:t>Caller’s data can be modified by called function!</a:t>
            </a:r>
          </a:p>
          <a:p>
            <a:pPr eaLnBrk="1" hangingPunct="1"/>
            <a:r>
              <a:rPr lang="en-US" sz="2800" smtClean="0"/>
              <a:t>Typically used for input function</a:t>
            </a:r>
          </a:p>
          <a:p>
            <a:pPr lvl="1" eaLnBrk="1" hangingPunct="1"/>
            <a:r>
              <a:rPr lang="en-US" sz="2400" smtClean="0"/>
              <a:t>To retrieve data for caller</a:t>
            </a:r>
          </a:p>
          <a:p>
            <a:pPr lvl="1" eaLnBrk="1" hangingPunct="1"/>
            <a:r>
              <a:rPr lang="en-US" sz="2400" smtClean="0"/>
              <a:t>Data is then "given" to caller</a:t>
            </a:r>
          </a:p>
          <a:p>
            <a:pPr eaLnBrk="1" hangingPunct="1"/>
            <a:r>
              <a:rPr lang="en-US" sz="2800" smtClean="0"/>
              <a:t>Specified by ampersand, &amp;, after type </a:t>
            </a:r>
            <a:br>
              <a:rPr lang="en-US" sz="2800" smtClean="0"/>
            </a:br>
            <a:r>
              <a:rPr lang="en-US" sz="2800" smtClean="0"/>
              <a:t>in formal parameter list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0C4797AA-33E9-40B6-B7AB-2FEE9B9B288A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07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/>
              <a:t>Call-By-Reference Example: </a:t>
            </a:r>
            <a:br>
              <a:rPr lang="en-US" sz="3200"/>
            </a:br>
            <a:r>
              <a:rPr lang="en-US" sz="3200" b="1"/>
              <a:t>Display 4.1  </a:t>
            </a:r>
            <a:r>
              <a:rPr lang="en-US" sz="3200"/>
              <a:t>Call-by-Reference Parameters (1 of 3)</a:t>
            </a:r>
          </a:p>
        </p:txBody>
      </p:sp>
      <p:pic>
        <p:nvPicPr>
          <p:cNvPr id="32770" name="Picture 4" descr="C:\WINDOWS\Desktop\Oh_type\sacitch_C++_ppt\gif\savitchc04d02_1of3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447800" y="1668463"/>
            <a:ext cx="6915150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B2159B62-8D53-4F8E-92E6-DFBA021D4249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2772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7" name="Rectangle 5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/>
              <a:t>Call-By-Reference Example: </a:t>
            </a:r>
            <a:br>
              <a:rPr lang="en-US" sz="3200"/>
            </a:br>
            <a:r>
              <a:rPr lang="en-US" sz="3200" b="1"/>
              <a:t>Display 4.1  </a:t>
            </a:r>
            <a:r>
              <a:rPr lang="en-US" sz="3200"/>
              <a:t>Call-by-Reference Parameters (2 of 3)</a:t>
            </a:r>
          </a:p>
        </p:txBody>
      </p:sp>
      <p:pic>
        <p:nvPicPr>
          <p:cNvPr id="34818" name="Picture 6" descr="C:\WINDOWS\Desktop\Oh_type\sacitch_C++_ppt\gif\savitchc04d02_2of3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790700" y="1787525"/>
            <a:ext cx="4914900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955287EA-40AA-49EC-B8C5-0FDB07D89CEA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4820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3" name="Rectangle 3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/>
              <a:t>Call-By-Reference Example: </a:t>
            </a:r>
            <a:br>
              <a:rPr lang="en-US" sz="3200"/>
            </a:br>
            <a:r>
              <a:rPr lang="en-US" sz="3200" b="1"/>
              <a:t>Display 4.1  </a:t>
            </a:r>
            <a:r>
              <a:rPr lang="en-US" sz="3200"/>
              <a:t>Call-by-Reference Parameters (3 of 3)</a:t>
            </a:r>
          </a:p>
        </p:txBody>
      </p:sp>
      <p:pic>
        <p:nvPicPr>
          <p:cNvPr id="36866" name="Picture 4" descr="C:\WINDOWS\Desktop\Oh_type\sacitch_C++_ppt\gif\savitchc04d02_3of3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47750" y="2514600"/>
            <a:ext cx="7772400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3D7ED879-5CE7-4BC5-A029-548828F55FA6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6868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Call-By-Reference Details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What’s really passed in?</a:t>
            </a:r>
          </a:p>
          <a:p>
            <a:pPr eaLnBrk="1" hangingPunct="1"/>
            <a:r>
              <a:rPr lang="en-US" smtClean="0"/>
              <a:t>A "reference" back to caller’s</a:t>
            </a:r>
            <a:br>
              <a:rPr lang="en-US" smtClean="0"/>
            </a:br>
            <a:r>
              <a:rPr lang="en-US" smtClean="0"/>
              <a:t>actual argument!</a:t>
            </a:r>
          </a:p>
          <a:p>
            <a:pPr lvl="1" eaLnBrk="1" hangingPunct="1"/>
            <a:r>
              <a:rPr lang="en-US" smtClean="0"/>
              <a:t>Refers to memory location of </a:t>
            </a:r>
            <a:br>
              <a:rPr lang="en-US" smtClean="0"/>
            </a:br>
            <a:r>
              <a:rPr lang="en-US" smtClean="0"/>
              <a:t>actual argument</a:t>
            </a:r>
          </a:p>
          <a:p>
            <a:pPr lvl="1" eaLnBrk="1" hangingPunct="1"/>
            <a:r>
              <a:rPr lang="en-US" smtClean="0"/>
              <a:t>Called "address", which is a unique number</a:t>
            </a:r>
            <a:br>
              <a:rPr lang="en-US" smtClean="0"/>
            </a:br>
            <a:r>
              <a:rPr lang="en-US" smtClean="0"/>
              <a:t>referring to distinct place in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734B226C-A675-4FCD-9D7C-67E8C860EA07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3891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Constant Reference Parameters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Reference arguments inherently</a:t>
            </a:r>
            <a:br>
              <a:rPr lang="en-US" sz="2800" smtClean="0"/>
            </a:br>
            <a:r>
              <a:rPr lang="en-US" sz="2800" smtClean="0"/>
              <a:t>"dangerous"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Caller’s data can be changed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Often this is desired, sometimes not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To "protect" data, &amp; still pass by reference: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Use const keyword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void sendConstRef(	const int &amp;par1,</a:t>
            </a:r>
            <a:br>
              <a:rPr lang="en-US" sz="2000" smtClean="0"/>
            </a:br>
            <a:r>
              <a:rPr lang="en-US" sz="2000" smtClean="0"/>
              <a:t>			const int &amp;par2);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Makes arguments "read-only" by function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No changes allowed inside function body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0D3AC2C2-1AAC-4BEE-A954-79926BC93930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096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Parameters and Arguments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Confusing terms, often used interchangeably</a:t>
            </a:r>
          </a:p>
          <a:p>
            <a:pPr eaLnBrk="1" hangingPunct="1"/>
            <a:r>
              <a:rPr lang="en-US" sz="2800" smtClean="0"/>
              <a:t>True meanings:</a:t>
            </a:r>
          </a:p>
          <a:p>
            <a:pPr lvl="1" eaLnBrk="1" hangingPunct="1"/>
            <a:r>
              <a:rPr lang="en-US" sz="2400" smtClean="0"/>
              <a:t>Formal parameters</a:t>
            </a:r>
          </a:p>
          <a:p>
            <a:pPr lvl="2" eaLnBrk="1" hangingPunct="1"/>
            <a:r>
              <a:rPr lang="en-US" sz="2000" smtClean="0"/>
              <a:t>In function declaration and function definition</a:t>
            </a:r>
          </a:p>
          <a:p>
            <a:pPr lvl="1" eaLnBrk="1" hangingPunct="1"/>
            <a:r>
              <a:rPr lang="en-US" sz="2400" smtClean="0"/>
              <a:t>Arguments</a:t>
            </a:r>
          </a:p>
          <a:p>
            <a:pPr lvl="2" eaLnBrk="1" hangingPunct="1"/>
            <a:r>
              <a:rPr lang="en-US" sz="2000" smtClean="0"/>
              <a:t>Used to "fill-in" a formal parameter</a:t>
            </a:r>
          </a:p>
          <a:p>
            <a:pPr lvl="2" eaLnBrk="1" hangingPunct="1"/>
            <a:r>
              <a:rPr lang="en-US" sz="2000" smtClean="0"/>
              <a:t>In function call (argument list)</a:t>
            </a:r>
          </a:p>
          <a:p>
            <a:pPr lvl="1" eaLnBrk="1" hangingPunct="1"/>
            <a:r>
              <a:rPr lang="en-US" sz="2400" smtClean="0"/>
              <a:t>Call-by-value &amp; Call-by-reference</a:t>
            </a:r>
          </a:p>
          <a:p>
            <a:pPr lvl="2" eaLnBrk="1" hangingPunct="1"/>
            <a:r>
              <a:rPr lang="en-US" sz="2000" smtClean="0"/>
              <a:t>Simply the "mechanism" used in plug-in process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C7553E16-7447-4B34-A9DE-BB3DCA0DDA32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301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Mixed Parameter Lists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Can combine passing mechanisms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Parameter lists can include pass-by-value</a:t>
            </a:r>
            <a:br>
              <a:rPr lang="en-US" sz="2800" smtClean="0"/>
            </a:br>
            <a:r>
              <a:rPr lang="en-US" sz="2800" smtClean="0"/>
              <a:t>and pass-by-reference parameters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Order of arguments in list is critical:</a:t>
            </a:r>
            <a:br>
              <a:rPr lang="en-US" sz="2800" smtClean="0"/>
            </a:br>
            <a:r>
              <a:rPr lang="en-US" sz="2800" smtClean="0"/>
              <a:t>void mixedCall(int &amp; par1, int par2, double &amp; par3);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Function call:</a:t>
            </a:r>
            <a:br>
              <a:rPr lang="en-US" sz="2400" smtClean="0"/>
            </a:br>
            <a:r>
              <a:rPr lang="en-US" sz="2400" smtClean="0"/>
              <a:t>mixedCall(arg1, arg2, arg3);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arg1 must be integer type, is passed by reference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arg2 must be integer type, is passed by value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arg3 must be double type, is passed by reference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08290FCA-37B0-444D-85A4-19D870DBC4FB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506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Choosing Formal Parameter Names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Same rule as naming any identifier: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Meaningful names!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Functions as "self-contained modules"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Designed separately from rest of program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Assigned to teams of programmers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All must "understand" proper function use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OK if formal parameter names are same</a:t>
            </a:r>
            <a:br>
              <a:rPr lang="en-US" sz="2400" smtClean="0"/>
            </a:br>
            <a:r>
              <a:rPr lang="en-US" sz="2400" smtClean="0"/>
              <a:t>as argument names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Choose function names with same rules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56866021-697F-484A-AAC5-BEB158B9A853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710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Overloading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sz="2800" smtClean="0"/>
              <a:t>Same function name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Different parameter lists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Two separate function definitions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Function "signature"</a:t>
            </a:r>
          </a:p>
          <a:p>
            <a:pPr lvl="1" eaLnBrk="1" hangingPunct="1"/>
            <a:r>
              <a:rPr lang="en-US" sz="2400" smtClean="0"/>
              <a:t>Function name &amp; parameter list</a:t>
            </a:r>
          </a:p>
          <a:p>
            <a:pPr lvl="1" eaLnBrk="1" hangingPunct="1"/>
            <a:r>
              <a:rPr lang="en-US" sz="2400" smtClean="0"/>
              <a:t>Must be "unique" for each function definition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Allows same task performed on different data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368C0F2D-6974-4DC3-B0CA-B890252716C1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915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Overloading Example: Average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sz="2400" smtClean="0"/>
              <a:t>Function computes average of 2 numbers:</a:t>
            </a:r>
            <a:br>
              <a:rPr lang="en-US" sz="2400" smtClean="0"/>
            </a:br>
            <a:r>
              <a:rPr lang="en-US" sz="2400" smtClean="0"/>
              <a:t>double average(double n1, double n2)</a:t>
            </a:r>
            <a:br>
              <a:rPr lang="en-US" sz="2400" smtClean="0"/>
            </a:br>
            <a:r>
              <a:rPr lang="en-US" sz="2000" smtClean="0"/>
              <a:t>{</a:t>
            </a:r>
            <a:br>
              <a:rPr lang="en-US" sz="2000" smtClean="0"/>
            </a:br>
            <a:r>
              <a:rPr lang="en-US" sz="2000" smtClean="0"/>
              <a:t>	return ((n1 + n2) / 2.0);</a:t>
            </a:r>
            <a:br>
              <a:rPr lang="en-US" sz="2000" smtClean="0"/>
            </a:br>
            <a:r>
              <a:rPr lang="en-US" sz="2000" smtClean="0"/>
              <a:t>}</a:t>
            </a:r>
          </a:p>
          <a:p>
            <a:pPr eaLnBrk="1" hangingPunct="1">
              <a:spcBef>
                <a:spcPct val="60000"/>
              </a:spcBef>
            </a:pPr>
            <a:r>
              <a:rPr lang="en-US" sz="2400" smtClean="0"/>
              <a:t>Now compute average of 3 numbers:</a:t>
            </a:r>
            <a:br>
              <a:rPr lang="en-US" sz="2400" smtClean="0"/>
            </a:br>
            <a:r>
              <a:rPr lang="en-US" sz="2400" smtClean="0"/>
              <a:t>double average(double n1, double n2, double n3)</a:t>
            </a:r>
            <a:br>
              <a:rPr lang="en-US" sz="2400" smtClean="0"/>
            </a:br>
            <a:r>
              <a:rPr lang="en-US" sz="2000" smtClean="0"/>
              <a:t>{</a:t>
            </a:r>
            <a:br>
              <a:rPr lang="en-US" sz="2000" smtClean="0"/>
            </a:br>
            <a:r>
              <a:rPr lang="en-US" sz="2000" smtClean="0"/>
              <a:t>	return ((n1 + n2) / 2.0);</a:t>
            </a:r>
            <a:br>
              <a:rPr lang="en-US" sz="2000" smtClean="0"/>
            </a:br>
            <a:r>
              <a:rPr lang="en-US" sz="2000" smtClean="0"/>
              <a:t>}</a:t>
            </a:r>
          </a:p>
          <a:p>
            <a:pPr eaLnBrk="1" hangingPunct="1">
              <a:spcBef>
                <a:spcPct val="60000"/>
              </a:spcBef>
            </a:pPr>
            <a:r>
              <a:rPr lang="en-US" sz="2400" smtClean="0"/>
              <a:t>Same name, two functions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56A4481F-8545-4D92-862C-81128CD0093B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120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Overloaded Average() Cont’d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Which function gets called?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Depends on function call itself: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avg = average(5.2, 6.7);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Calls "two-parameter average()"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avg = average(6.5, 8.5, 4.2);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Calls "three-parameter average()"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Compiler resolves invocation based on</a:t>
            </a:r>
            <a:br>
              <a:rPr lang="en-US" sz="2800" smtClean="0"/>
            </a:br>
            <a:r>
              <a:rPr lang="en-US" sz="2800" smtClean="0"/>
              <a:t>signature of function call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"Matches" call with appropriate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Each considered separate function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D7EE3C19-7040-4D16-9084-721AE23C165B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325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Overloading Pitfall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Only overload "same-task" functions</a:t>
            </a:r>
          </a:p>
          <a:p>
            <a:pPr lvl="1" eaLnBrk="1" hangingPunct="1"/>
            <a:r>
              <a:rPr lang="en-US" smtClean="0"/>
              <a:t>A mpg() function should always perform</a:t>
            </a:r>
            <a:br>
              <a:rPr lang="en-US" smtClean="0"/>
            </a:br>
            <a:r>
              <a:rPr lang="en-US" smtClean="0"/>
              <a:t>same task, in all overloads</a:t>
            </a:r>
          </a:p>
          <a:p>
            <a:pPr lvl="1" eaLnBrk="1" hangingPunct="1"/>
            <a:r>
              <a:rPr lang="en-US" smtClean="0"/>
              <a:t>Otherwise, unpredictable results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C++ function call resolution:</a:t>
            </a:r>
          </a:p>
          <a:p>
            <a:pPr lvl="1" eaLnBrk="1" hangingPunct="1"/>
            <a:r>
              <a:rPr lang="en-US" smtClean="0"/>
              <a:t>1</a:t>
            </a:r>
            <a:r>
              <a:rPr lang="en-US" baseline="30000" smtClean="0"/>
              <a:t>st</a:t>
            </a:r>
            <a:r>
              <a:rPr lang="en-US" smtClean="0"/>
              <a:t>: looks for exact signature</a:t>
            </a:r>
          </a:p>
          <a:p>
            <a:pPr lvl="1" eaLnBrk="1" hangingPunct="1"/>
            <a:r>
              <a:rPr lang="en-US" smtClean="0"/>
              <a:t>2</a:t>
            </a:r>
            <a:r>
              <a:rPr lang="en-US" baseline="30000" smtClean="0"/>
              <a:t>nd</a:t>
            </a:r>
            <a:r>
              <a:rPr lang="en-US" smtClean="0"/>
              <a:t>: looks for "compatible" signature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E5F137D5-FD74-4597-9A40-A8A17A9AB96B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530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Overloading Resolution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1</a:t>
            </a:r>
            <a:r>
              <a:rPr lang="en-US" sz="2800" baseline="30000" smtClean="0"/>
              <a:t>st</a:t>
            </a:r>
            <a:r>
              <a:rPr lang="en-US" sz="2800" smtClean="0"/>
              <a:t>: Exact Match</a:t>
            </a:r>
          </a:p>
          <a:p>
            <a:pPr lvl="1" eaLnBrk="1" hangingPunct="1"/>
            <a:r>
              <a:rPr lang="en-US" sz="2400" smtClean="0"/>
              <a:t>Looks for exact signature</a:t>
            </a:r>
          </a:p>
          <a:p>
            <a:pPr lvl="2" eaLnBrk="1" hangingPunct="1"/>
            <a:r>
              <a:rPr lang="en-US" sz="2000" smtClean="0"/>
              <a:t>Where no argument conversion required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2</a:t>
            </a:r>
            <a:r>
              <a:rPr lang="en-US" sz="2800" baseline="30000" smtClean="0"/>
              <a:t>nd</a:t>
            </a:r>
            <a:r>
              <a:rPr lang="en-US" sz="2800" smtClean="0"/>
              <a:t>: Compatible Match</a:t>
            </a:r>
          </a:p>
          <a:p>
            <a:pPr lvl="1" eaLnBrk="1" hangingPunct="1"/>
            <a:r>
              <a:rPr lang="en-US" sz="2400" smtClean="0"/>
              <a:t>Looks for "compatible" signature where</a:t>
            </a:r>
            <a:br>
              <a:rPr lang="en-US" sz="2400" smtClean="0"/>
            </a:br>
            <a:r>
              <a:rPr lang="en-US" sz="2400" smtClean="0"/>
              <a:t>automatic type conversion is possible:</a:t>
            </a:r>
          </a:p>
          <a:p>
            <a:pPr lvl="2" eaLnBrk="1" hangingPunct="1"/>
            <a:r>
              <a:rPr lang="en-US" sz="2000" smtClean="0"/>
              <a:t>1</a:t>
            </a:r>
            <a:r>
              <a:rPr lang="en-US" sz="2000" baseline="30000" smtClean="0"/>
              <a:t>st</a:t>
            </a:r>
            <a:r>
              <a:rPr lang="en-US" sz="2000" smtClean="0"/>
              <a:t> with promotion (e.g., int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double)</a:t>
            </a:r>
          </a:p>
          <a:p>
            <a:pPr lvl="3" eaLnBrk="1" hangingPunct="1"/>
            <a:r>
              <a:rPr lang="en-US" sz="1800" smtClean="0"/>
              <a:t>No loss of data</a:t>
            </a:r>
          </a:p>
          <a:p>
            <a:pPr lvl="2" eaLnBrk="1" hangingPunct="1"/>
            <a:r>
              <a:rPr lang="en-US" sz="2000" smtClean="0"/>
              <a:t>2</a:t>
            </a:r>
            <a:r>
              <a:rPr lang="en-US" sz="2000" baseline="30000" smtClean="0"/>
              <a:t>nd</a:t>
            </a:r>
            <a:r>
              <a:rPr lang="en-US" sz="2000" smtClean="0"/>
              <a:t> with demotion (e.g., double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int)</a:t>
            </a:r>
          </a:p>
          <a:p>
            <a:pPr lvl="3" eaLnBrk="1" hangingPunct="1"/>
            <a:r>
              <a:rPr lang="en-US" sz="1800" smtClean="0"/>
              <a:t>Possible loss of data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633F6E96-21B6-44C1-9542-73B7AB79F2F2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5734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Overloading Resolution Example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Given following functions: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1.  void f(int n, double m);</a:t>
            </a:r>
            <a:br>
              <a:rPr lang="en-US" smtClean="0"/>
            </a:br>
            <a:r>
              <a:rPr lang="en-US" smtClean="0"/>
              <a:t>2.  void f(double n, 	int m);</a:t>
            </a:r>
            <a:br>
              <a:rPr lang="en-US" smtClean="0"/>
            </a:br>
            <a:r>
              <a:rPr lang="en-US" smtClean="0"/>
              <a:t>3.  void f(int n, int m);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These calls:</a:t>
            </a:r>
            <a:br>
              <a:rPr lang="en-US" smtClean="0"/>
            </a:br>
            <a:r>
              <a:rPr lang="en-US" smtClean="0"/>
              <a:t>f(98, 99);	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Calls #3</a:t>
            </a:r>
            <a:br>
              <a:rPr lang="en-US" smtClean="0"/>
            </a:br>
            <a:r>
              <a:rPr lang="en-US" smtClean="0"/>
              <a:t>f(5.3, 4);	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Calls #2</a:t>
            </a:r>
            <a:br>
              <a:rPr lang="en-US" smtClean="0"/>
            </a:br>
            <a:r>
              <a:rPr lang="en-US" smtClean="0"/>
              <a:t>f(4.3, 5.2);	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Calls ???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Avoid such confusing overloading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012F1A97-8596-4242-ABBD-7DF197713B84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5939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Automatic Type Conversion </a:t>
            </a:r>
            <a:br>
              <a:rPr lang="en-US" sz="3600" smtClean="0"/>
            </a:br>
            <a:r>
              <a:rPr lang="en-US" sz="3600" smtClean="0"/>
              <a:t>and Overloading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Numeric formal parameters typically</a:t>
            </a:r>
            <a:br>
              <a:rPr lang="en-US" sz="2800" smtClean="0"/>
            </a:br>
            <a:r>
              <a:rPr lang="en-US" sz="2800" smtClean="0"/>
              <a:t>made "double" type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Allows for "any" numeric type</a:t>
            </a:r>
          </a:p>
          <a:p>
            <a:pPr lvl="1" eaLnBrk="1" hangingPunct="1"/>
            <a:r>
              <a:rPr lang="en-US" sz="2400" smtClean="0"/>
              <a:t>Any "subordinate" data automatically promoted</a:t>
            </a:r>
          </a:p>
          <a:p>
            <a:pPr lvl="2" eaLnBrk="1" hangingPunct="1"/>
            <a:r>
              <a:rPr lang="en-US" sz="2000" smtClean="0"/>
              <a:t>int 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double</a:t>
            </a:r>
          </a:p>
          <a:p>
            <a:pPr lvl="2" eaLnBrk="1" hangingPunct="1"/>
            <a:r>
              <a:rPr lang="en-US" sz="2000" smtClean="0"/>
              <a:t>float 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double</a:t>
            </a:r>
          </a:p>
          <a:p>
            <a:pPr lvl="2" eaLnBrk="1" hangingPunct="1"/>
            <a:r>
              <a:rPr lang="en-US" sz="2000" smtClean="0"/>
              <a:t>char 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double	*More on this later!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Avoids overloading for different numeric types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69F19DD3-97C8-4368-8D2A-551FD7E958A3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6144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Automatic Type Conversion </a:t>
            </a:r>
            <a:br>
              <a:rPr lang="en-US" smtClean="0"/>
            </a:br>
            <a:r>
              <a:rPr lang="en-US" smtClean="0"/>
              <a:t>and Overloading Example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double mpg(double miles, double gallons)</a:t>
            </a:r>
            <a:br>
              <a:rPr lang="en-US" sz="28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	return (miles/gallons);</a:t>
            </a:r>
            <a:br>
              <a:rPr lang="en-US" sz="2400" smtClean="0"/>
            </a:br>
            <a:r>
              <a:rPr lang="en-US" sz="2400" smtClean="0"/>
              <a:t>}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Example function calls: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mpgComputed = mpg(5, 20);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Converts 5 &amp; 20 to doubles, then passes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mpgComputed = mpg(5.8, 20.2);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No conversion necessary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mpgComputed = mpg(5, 2.4);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Converts 5 to 5.0, then passes values to function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F004069C-F162-47ED-9CA7-378BAEA59D9C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349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Default Arguments	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Allows omitting some arguments </a:t>
            </a:r>
          </a:p>
          <a:p>
            <a:pPr eaLnBrk="1" hangingPunct="1"/>
            <a:r>
              <a:rPr lang="en-US" sz="2800" smtClean="0"/>
              <a:t>Specified in function declaration/prototype</a:t>
            </a:r>
          </a:p>
          <a:p>
            <a:pPr lvl="1" eaLnBrk="1" hangingPunct="1"/>
            <a:r>
              <a:rPr lang="en-US" sz="2400" smtClean="0"/>
              <a:t>void showVolume(	int length,</a:t>
            </a:r>
            <a:br>
              <a:rPr lang="en-US" sz="2400" smtClean="0"/>
            </a:br>
            <a:r>
              <a:rPr lang="en-US" sz="2400" smtClean="0"/>
              <a:t>				int width = 1,</a:t>
            </a:r>
            <a:br>
              <a:rPr lang="en-US" sz="2400" smtClean="0"/>
            </a:br>
            <a:r>
              <a:rPr lang="en-US" sz="2400" smtClean="0"/>
              <a:t>				int height = 1);</a:t>
            </a:r>
          </a:p>
          <a:p>
            <a:pPr lvl="2" eaLnBrk="1" hangingPunct="1"/>
            <a:r>
              <a:rPr lang="en-US" sz="2000" smtClean="0"/>
              <a:t>Last 2 arguments are defaulted</a:t>
            </a:r>
          </a:p>
          <a:p>
            <a:pPr lvl="1" eaLnBrk="1" hangingPunct="1"/>
            <a:r>
              <a:rPr lang="en-US" sz="2400" smtClean="0"/>
              <a:t>Possible calls:</a:t>
            </a:r>
          </a:p>
          <a:p>
            <a:pPr lvl="2" eaLnBrk="1" hangingPunct="1"/>
            <a:r>
              <a:rPr lang="en-US" sz="2000" smtClean="0"/>
              <a:t>showVolume(2, 4, 6); //All arguments supplied</a:t>
            </a:r>
          </a:p>
          <a:p>
            <a:pPr lvl="2" eaLnBrk="1" hangingPunct="1"/>
            <a:r>
              <a:rPr lang="en-US" sz="2000" smtClean="0"/>
              <a:t>showVolume(3, 5); //height defaulted to 1</a:t>
            </a:r>
          </a:p>
          <a:p>
            <a:pPr lvl="2" eaLnBrk="1" hangingPunct="1"/>
            <a:r>
              <a:rPr lang="en-US" sz="2000" smtClean="0"/>
              <a:t>showVolume(7); //width &amp; height defaulted to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27386124-B91F-484B-9D8F-F45254EE71A8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554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Default Arguments Example: </a:t>
            </a:r>
            <a:br>
              <a:rPr lang="en-US" sz="3200" smtClean="0"/>
            </a:br>
            <a:r>
              <a:rPr lang="en-US" sz="3200" b="1" smtClean="0"/>
              <a:t>Display 4.1  </a:t>
            </a:r>
            <a:r>
              <a:rPr lang="en-US" sz="3200" smtClean="0"/>
              <a:t>Default Arguments (1 of 2)</a:t>
            </a:r>
          </a:p>
        </p:txBody>
      </p:sp>
      <p:pic>
        <p:nvPicPr>
          <p:cNvPr id="67586" name="Picture 4" descr="C:\WINDOWS\Desktop\Oh_type\sacitch_C++_ppt\gif\savitchc04d08_1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146175" y="1673225"/>
            <a:ext cx="7521575" cy="451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33513E9D-E5D6-4621-AEBD-7E1F11697C59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7588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Default Arguments Example: </a:t>
            </a:r>
            <a:br>
              <a:rPr lang="en-US" sz="3200" smtClean="0"/>
            </a:br>
            <a:r>
              <a:rPr lang="en-US" sz="3200" b="1" smtClean="0"/>
              <a:t>Display 4.1  </a:t>
            </a:r>
            <a:r>
              <a:rPr lang="en-US" sz="3200" smtClean="0"/>
              <a:t>Default Arguments (2 of 2)</a:t>
            </a:r>
          </a:p>
        </p:txBody>
      </p:sp>
      <p:pic>
        <p:nvPicPr>
          <p:cNvPr id="69634" name="Picture 4" descr="C:\WINDOWS\Desktop\Oh_type\sacitch_C++_ppt\gif\savitchc04d08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28700" y="1892300"/>
            <a:ext cx="7772400" cy="412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EAC181E3-6E0D-4B1D-8ECC-6A36F00AF4E2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69636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Testing and Debugging Functions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Many methods: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Lots of cout statements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In calls and definitions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Used to "trace" execution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Compiler Debugger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Environment-dependent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assert Macro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Early termination as needed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Stubs and drivers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Incremental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7FACE028-10B3-480F-BDC4-E6742144B260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16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assert Macro</a:t>
            </a:r>
          </a:p>
        </p:txBody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506538"/>
            <a:ext cx="7815262" cy="44370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Assertion: a true or false statement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Used to document and check correctness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Preconditions &amp; Postconditions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Typical assert use: confirm their validity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Syntax:</a:t>
            </a:r>
            <a:br>
              <a:rPr lang="en-US" sz="2400" smtClean="0"/>
            </a:br>
            <a:r>
              <a:rPr lang="en-US" sz="2400" smtClean="0"/>
              <a:t>assert(&lt;assert_condition&gt;);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No return value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Evaluates assert_condition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Terminates if false, continues if true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Predefined in library &lt;cassert&gt;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Macros used similarly as functions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AA13EE5D-85A6-41B0-B4D1-BCF97805F957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737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 assert Macro Example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969250" cy="44370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Given Function Declaration:</a:t>
            </a:r>
            <a:br>
              <a:rPr lang="en-US" sz="2400" smtClean="0"/>
            </a:br>
            <a:r>
              <a:rPr lang="en-US" sz="2400" smtClean="0"/>
              <a:t>void computeCoin(	int coinValue,</a:t>
            </a:r>
            <a:br>
              <a:rPr lang="en-US" sz="2400" smtClean="0"/>
            </a:br>
            <a:r>
              <a:rPr lang="en-US" sz="2400" smtClean="0"/>
              <a:t>				int&amp; number,</a:t>
            </a:r>
            <a:br>
              <a:rPr lang="en-US" sz="2400" smtClean="0"/>
            </a:br>
            <a:r>
              <a:rPr lang="en-US" sz="2400" smtClean="0"/>
              <a:t>				int&amp; amountLeft);</a:t>
            </a:r>
            <a:br>
              <a:rPr lang="en-US" sz="2400" smtClean="0"/>
            </a:br>
            <a:r>
              <a:rPr lang="en-US" sz="2400" smtClean="0"/>
              <a:t>//Precondition: 0 &lt; coinValue &lt; 100</a:t>
            </a:r>
            <a:br>
              <a:rPr lang="en-US" sz="2400" smtClean="0"/>
            </a:br>
            <a:r>
              <a:rPr lang="en-US" sz="2400" smtClean="0"/>
              <a:t>			  0 &lt;= amountLeft &lt;100</a:t>
            </a:r>
            <a:br>
              <a:rPr lang="en-US" sz="2400" smtClean="0"/>
            </a:br>
            <a:r>
              <a:rPr lang="en-US" sz="2400" smtClean="0"/>
              <a:t>//Postcondition: number set to max. number</a:t>
            </a:r>
            <a:br>
              <a:rPr lang="en-US" sz="2400" smtClean="0"/>
            </a:br>
            <a:r>
              <a:rPr lang="en-US" sz="2400" smtClean="0"/>
              <a:t>			   of coins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Check precondition: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assert ((0 &lt; currentCoin) &amp;&amp; (currentCoin &lt; 100)</a:t>
            </a:r>
            <a:br>
              <a:rPr lang="en-US" sz="2000" smtClean="0"/>
            </a:br>
            <a:r>
              <a:rPr lang="en-US" sz="2000" smtClean="0"/>
              <a:t>  &amp;&amp; (0 &lt;= currentAmountLeft) &amp;&amp; (currentAmountLeft &lt; 100));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If precondition not satisfied 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condition is false 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program execution terminates!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E2FAE8A9-4F16-472A-9F77-98AF06F37A3B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57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 assert Macro Example Cont’d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smtClean="0"/>
              <a:t>Useful in debugging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Stops execution so problem can </a:t>
            </a:r>
            <a:br>
              <a:rPr lang="en-US" smtClean="0"/>
            </a:br>
            <a:r>
              <a:rPr lang="en-US" smtClean="0"/>
              <a:t>be investigated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71DC72C8-9C63-4364-9505-341B59DE71B7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782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assert On/Off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Preprocessor provides means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#define NDEBUG</a:t>
            </a:r>
            <a:br>
              <a:rPr lang="en-US" smtClean="0"/>
            </a:br>
            <a:r>
              <a:rPr lang="en-US" smtClean="0"/>
              <a:t>#include &lt;cassert&gt;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Add "#define" line before #include line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Turns OFF all assertions throughout</a:t>
            </a:r>
            <a:br>
              <a:rPr lang="en-US" smtClean="0"/>
            </a:br>
            <a:r>
              <a:rPr lang="en-US" smtClean="0"/>
              <a:t>program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Remove "#define" line (or comment out)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Turns assertions back 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6FAE58F7-8442-4618-A07A-8538D12D9A43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798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Stubs and Drivers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Separate compilation units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Each function designed, coded, tested</a:t>
            </a:r>
            <a:br>
              <a:rPr lang="en-US" smtClean="0"/>
            </a:br>
            <a:r>
              <a:rPr lang="en-US" smtClean="0"/>
              <a:t>separately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Ensures validity of each unit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Divide &amp; Conquer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Transforms one big task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smaller, </a:t>
            </a:r>
            <a:br>
              <a:rPr lang="en-US" smtClean="0"/>
            </a:br>
            <a:r>
              <a:rPr lang="en-US" smtClean="0"/>
              <a:t>manageable tasks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But how to test independently?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Driver programs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907D60FB-0A62-4DE4-B0E3-3D081D65CD80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819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69" name="Picture 4" descr="C:\WINDOWS\Desktop\Oh_type\sacitch_C++_ppt\gif\savitchc04d09_1of3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143000" y="1714500"/>
            <a:ext cx="7535863" cy="449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397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Driver Program Example: </a:t>
            </a:r>
            <a:br>
              <a:rPr lang="en-US" sz="3600" smtClean="0"/>
            </a:br>
            <a:r>
              <a:rPr lang="en-US" sz="3600" b="1" smtClean="0"/>
              <a:t>Display 4.9  </a:t>
            </a:r>
            <a:r>
              <a:rPr lang="en-US" sz="3600" smtClean="0"/>
              <a:t>Driver Program (1 of 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9B6F19D2-804E-446A-924F-697687C0863C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83972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Driver Program Example: </a:t>
            </a:r>
            <a:br>
              <a:rPr lang="en-US" sz="3600" smtClean="0"/>
            </a:br>
            <a:r>
              <a:rPr lang="en-US" sz="3600" b="1" smtClean="0"/>
              <a:t>Display 4.9  </a:t>
            </a:r>
            <a:r>
              <a:rPr lang="en-US" sz="3600" smtClean="0"/>
              <a:t>Driver Program (2 of 3)</a:t>
            </a:r>
          </a:p>
        </p:txBody>
      </p:sp>
      <p:pic>
        <p:nvPicPr>
          <p:cNvPr id="86018" name="Picture 4" descr="C:\WINDOWS\Desktop\Oh_type\sacitch_C++_ppt\gif\savitchc04d09_2of3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219200" y="1709738"/>
            <a:ext cx="7364413" cy="453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F9913A69-F4AA-49E0-AD96-CF8B8DDB8497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86020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Driver Program Example: </a:t>
            </a:r>
            <a:br>
              <a:rPr lang="en-US" sz="3600" smtClean="0"/>
            </a:br>
            <a:r>
              <a:rPr lang="en-US" sz="3600" b="1" smtClean="0"/>
              <a:t>Display 4.9  </a:t>
            </a:r>
            <a:r>
              <a:rPr lang="en-US" sz="3600" smtClean="0"/>
              <a:t>Driver Program (3 of 3)</a:t>
            </a:r>
          </a:p>
        </p:txBody>
      </p:sp>
      <p:pic>
        <p:nvPicPr>
          <p:cNvPr id="88066" name="Picture 4" descr="C:\WINDOWS\Desktop\Oh_type\sacitch_C++_ppt\gif\savitchc04d09_3of3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25525" y="2209800"/>
            <a:ext cx="7772400" cy="304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8BD90E9A-8700-406D-A60E-06C9B6C09022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88068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Stubs</a:t>
            </a:r>
          </a:p>
        </p:txBody>
      </p:sp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Develop incrementally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Write "big-picture" functions first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Low-level functions last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"Stub-out" functions until implementation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Example:</a:t>
            </a:r>
            <a:br>
              <a:rPr lang="en-US" sz="2400" smtClean="0"/>
            </a:br>
            <a:r>
              <a:rPr lang="en-US" sz="2400" smtClean="0"/>
              <a:t>double unitPrice(int diameter, double price)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     return (9.99);	// not valid, but noticeably</a:t>
            </a:r>
            <a:br>
              <a:rPr lang="en-US" sz="2400" smtClean="0"/>
            </a:br>
            <a:r>
              <a:rPr lang="en-US" sz="2400" smtClean="0"/>
              <a:t>				// a "temporary" value</a:t>
            </a:r>
            <a:br>
              <a:rPr lang="en-US" sz="2400" smtClean="0"/>
            </a:br>
            <a:r>
              <a:rPr lang="en-US" sz="2400" smtClean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Calls to function will still "work"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40C34F45-9035-4261-A6F1-D6046760A417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9011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Fundamental Testing Rule</a:t>
            </a:r>
          </a:p>
        </p:txBody>
      </p:sp>
      <p:sp>
        <p:nvSpPr>
          <p:cNvPr id="921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To write "correct" programs</a:t>
            </a:r>
          </a:p>
          <a:p>
            <a:pPr eaLnBrk="1" hangingPunct="1"/>
            <a:r>
              <a:rPr lang="en-US" smtClean="0"/>
              <a:t>Minimize errors, "bugs"</a:t>
            </a:r>
          </a:p>
          <a:p>
            <a:pPr eaLnBrk="1" hangingPunct="1"/>
            <a:r>
              <a:rPr lang="en-US" smtClean="0"/>
              <a:t>Ensure validity of data</a:t>
            </a:r>
          </a:p>
          <a:p>
            <a:pPr lvl="1" eaLnBrk="1" hangingPunct="1"/>
            <a:r>
              <a:rPr lang="en-US" smtClean="0"/>
              <a:t>Test every function in a program where every other function has already been </a:t>
            </a:r>
            <a:br>
              <a:rPr lang="en-US" smtClean="0"/>
            </a:br>
            <a:r>
              <a:rPr lang="en-US" smtClean="0"/>
              <a:t>fully tested and debugged</a:t>
            </a:r>
          </a:p>
          <a:p>
            <a:pPr lvl="1" eaLnBrk="1" hangingPunct="1"/>
            <a:r>
              <a:rPr lang="en-US" smtClean="0"/>
              <a:t>Avoids "error-cascading" &amp; </a:t>
            </a:r>
            <a:br>
              <a:rPr lang="en-US" smtClean="0"/>
            </a:br>
            <a:r>
              <a:rPr lang="en-US" smtClean="0"/>
              <a:t>conflicting results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876B2091-C888-410C-A713-3F18A440F0A3}" type="slidenum">
              <a:rPr lang="en-US"/>
              <a:pPr>
                <a:defRPr/>
              </a:pPr>
              <a:t>39</a:t>
            </a:fld>
            <a:endParaRPr lang="en-US"/>
          </a:p>
        </p:txBody>
      </p:sp>
      <p:sp>
        <p:nvSpPr>
          <p:cNvPr id="9216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1</a:t>
            </a:r>
          </a:p>
        </p:txBody>
      </p:sp>
      <p:sp>
        <p:nvSpPr>
          <p:cNvPr id="942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Formal parameter is placeholder, filled in with actual argument in function call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Call-by-value parameters are "local copies" in receiving function body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Actual argument cannot be modified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Call-by-reference passes memory address of actual argument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Actual argument can be modified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Argument MUST be variable, not constant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32E9DE57-0D1D-4263-951A-9EDCD25E19F5}" type="slidenum">
              <a:rPr lang="en-US"/>
              <a:pPr>
                <a:defRPr/>
              </a:pPr>
              <a:t>40</a:t>
            </a:fld>
            <a:endParaRPr lang="en-US"/>
          </a:p>
        </p:txBody>
      </p:sp>
      <p:sp>
        <p:nvSpPr>
          <p:cNvPr id="9421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2</a:t>
            </a:r>
          </a:p>
        </p:txBody>
      </p:sp>
      <p:sp>
        <p:nvSpPr>
          <p:cNvPr id="962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Multiple definitions of same function name</a:t>
            </a:r>
            <a:br>
              <a:rPr lang="en-US" sz="2800" smtClean="0"/>
            </a:br>
            <a:r>
              <a:rPr lang="en-US" sz="2800" smtClean="0"/>
              <a:t>possible: called overloading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Default arguments allow function call to</a:t>
            </a:r>
            <a:br>
              <a:rPr lang="en-US" sz="2800" smtClean="0"/>
            </a:br>
            <a:r>
              <a:rPr lang="en-US" sz="2800" smtClean="0"/>
              <a:t>"omit" some or all arguments in list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If not provided 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default values assigned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assert macro initiates program</a:t>
            </a:r>
            <a:br>
              <a:rPr lang="en-US" sz="2800" smtClean="0"/>
            </a:br>
            <a:r>
              <a:rPr lang="en-US" sz="2800" smtClean="0"/>
              <a:t>termination if assertions fail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Functions should be tested independently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As separate compilation units, with drivers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5DDCE2B7-4499-41AD-B900-109892555620}" type="slidenum">
              <a:rPr lang="en-US"/>
              <a:pPr>
                <a:defRPr/>
              </a:pPr>
              <a:t>41</a:t>
            </a:fld>
            <a:endParaRPr lang="en-US"/>
          </a:p>
        </p:txBody>
      </p:sp>
      <p:sp>
        <p:nvSpPr>
          <p:cNvPr id="9626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 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1609</Words>
  <Application>Microsoft Office PowerPoint</Application>
  <PresentationFormat>On-screen Show (4:3)</PresentationFormat>
  <Paragraphs>354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Design Template</vt:lpstr>
      </vt:variant>
      <vt:variant>
        <vt:i4>12</vt:i4>
      </vt:variant>
      <vt:variant>
        <vt:lpstr>Slide Titles</vt:lpstr>
      </vt:variant>
      <vt:variant>
        <vt:i4>41</vt:i4>
      </vt:variant>
    </vt:vector>
  </HeadingPairs>
  <TitlesOfParts>
    <vt:vector size="56" baseType="lpstr">
      <vt:lpstr>Arial</vt:lpstr>
      <vt:lpstr>Calibri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Chapter 4</vt:lpstr>
      <vt:lpstr>Learning Objectives</vt:lpstr>
      <vt:lpstr>Parameters</vt:lpstr>
      <vt:lpstr>Call-by-Value Parameters</vt:lpstr>
      <vt:lpstr>Call-by-Value Example:  Display 4.1  Formal Parameter Used  as a Local Variable (1 of 3) </vt:lpstr>
      <vt:lpstr>Call-by-Value Example:  Display 4.1  Formal Parameter Used  as a Local Variable (2 of 3) </vt:lpstr>
      <vt:lpstr>Call-by-Value Example:  Display 4.1  Formal Parameter Used  as a Local Variable (3 of 3) </vt:lpstr>
      <vt:lpstr>Call-by-Value Pitfall</vt:lpstr>
      <vt:lpstr>Call-By-Reference Parameters</vt:lpstr>
      <vt:lpstr>Call-By-Reference Example:  Display 4.1  Call-by-Reference Parameters (1 of 3)</vt:lpstr>
      <vt:lpstr>Call-By-Reference Example:  Display 4.1  Call-by-Reference Parameters (2 of 3)</vt:lpstr>
      <vt:lpstr>Call-By-Reference Example:  Display 4.1  Call-by-Reference Parameters (3 of 3)</vt:lpstr>
      <vt:lpstr>Call-By-Reference Details</vt:lpstr>
      <vt:lpstr>Constant Reference Parameters</vt:lpstr>
      <vt:lpstr>Parameters and Arguments</vt:lpstr>
      <vt:lpstr>Mixed Parameter Lists</vt:lpstr>
      <vt:lpstr>Choosing Formal Parameter Names</vt:lpstr>
      <vt:lpstr>Overloading</vt:lpstr>
      <vt:lpstr>Overloading Example: Average</vt:lpstr>
      <vt:lpstr>Overloaded Average() Cont’d</vt:lpstr>
      <vt:lpstr>Overloading Pitfall</vt:lpstr>
      <vt:lpstr>Overloading Resolution</vt:lpstr>
      <vt:lpstr>Overloading Resolution Example</vt:lpstr>
      <vt:lpstr>Automatic Type Conversion  and Overloading</vt:lpstr>
      <vt:lpstr>Automatic Type Conversion  and Overloading Example</vt:lpstr>
      <vt:lpstr>Default Arguments </vt:lpstr>
      <vt:lpstr>Default Arguments Example:  Display 4.1  Default Arguments (1 of 2)</vt:lpstr>
      <vt:lpstr>Default Arguments Example:  Display 4.1  Default Arguments (2 of 2)</vt:lpstr>
      <vt:lpstr>Testing and Debugging Functions</vt:lpstr>
      <vt:lpstr>The assert Macro</vt:lpstr>
      <vt:lpstr>An assert Macro Example</vt:lpstr>
      <vt:lpstr>An assert Macro Example Cont’d</vt:lpstr>
      <vt:lpstr>assert On/Off</vt:lpstr>
      <vt:lpstr>Stubs and Drivers</vt:lpstr>
      <vt:lpstr>Driver Program Example:  Display 4.9  Driver Program (1 of 3)</vt:lpstr>
      <vt:lpstr>Driver Program Example:  Display 4.9  Driver Program (2 of 3)</vt:lpstr>
      <vt:lpstr>Driver Program Example:  Display 4.9  Driver Program (3 of 3)</vt:lpstr>
      <vt:lpstr>Stubs</vt:lpstr>
      <vt:lpstr>Fundamental Testing Rule</vt:lpstr>
      <vt:lpstr>Summary 1</vt:lpstr>
      <vt:lpstr>Summary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Kenrick</dc:creator>
  <cp:lastModifiedBy>usnidem</cp:lastModifiedBy>
  <cp:revision>17</cp:revision>
  <dcterms:created xsi:type="dcterms:W3CDTF">2006-08-16T00:00:00Z</dcterms:created>
  <dcterms:modified xsi:type="dcterms:W3CDTF">2012-05-08T14:06:22Z</dcterms:modified>
</cp:coreProperties>
</file>