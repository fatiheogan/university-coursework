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xima Nova Bold" charset="1" panose="02000506030000020004"/>
      <p:regular r:id="rId15"/>
    </p:embeddedFont>
    <p:embeddedFont>
      <p:font typeface="Proxima Nova" charset="1" panose="0200050603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15912" y="1457309"/>
            <a:ext cx="7157913" cy="7372383"/>
          </a:xfrm>
          <a:custGeom>
            <a:avLst/>
            <a:gdLst/>
            <a:ahLst/>
            <a:cxnLst/>
            <a:rect r="r" b="b" t="t" l="l"/>
            <a:pathLst>
              <a:path h="7372383" w="7157913">
                <a:moveTo>
                  <a:pt x="0" y="0"/>
                </a:moveTo>
                <a:lnTo>
                  <a:pt x="7157913" y="0"/>
                </a:lnTo>
                <a:lnTo>
                  <a:pt x="7157913" y="7372383"/>
                </a:lnTo>
                <a:lnTo>
                  <a:pt x="0" y="7372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30" r="0" b="-3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348185"/>
            <a:ext cx="7419975" cy="2039874"/>
            <a:chOff x="0" y="0"/>
            <a:chExt cx="9893300" cy="2719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93300" cy="2719832"/>
            </a:xfrm>
            <a:custGeom>
              <a:avLst/>
              <a:gdLst/>
              <a:ahLst/>
              <a:cxnLst/>
              <a:rect r="r" b="b" t="t" l="l"/>
              <a:pathLst>
                <a:path h="2719832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2719832"/>
                  </a:lnTo>
                  <a:lnTo>
                    <a:pt x="0" y="2719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9893300" cy="2615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“ERİŞİLEBİLİRLİK HERKESİN HAKKI”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32105" y="3965717"/>
            <a:ext cx="8183808" cy="630219"/>
            <a:chOff x="0" y="0"/>
            <a:chExt cx="10911744" cy="8402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11744" cy="840292"/>
            </a:xfrm>
            <a:custGeom>
              <a:avLst/>
              <a:gdLst/>
              <a:ahLst/>
              <a:cxnLst/>
              <a:rect r="r" b="b" t="t" l="l"/>
              <a:pathLst>
                <a:path h="840292" w="10911744">
                  <a:moveTo>
                    <a:pt x="0" y="0"/>
                  </a:moveTo>
                  <a:lnTo>
                    <a:pt x="10911744" y="0"/>
                  </a:lnTo>
                  <a:lnTo>
                    <a:pt x="10911744" y="840292"/>
                  </a:lnTo>
                  <a:lnTo>
                    <a:pt x="0" y="8402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76200"/>
              <a:ext cx="10911744" cy="91649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163"/>
                </a:lnSpc>
              </a:pPr>
              <a:r>
                <a:rPr lang="en-US" sz="3687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FATİH EMRE OĞAN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80012" y="3262371"/>
            <a:ext cx="7631328" cy="1056555"/>
            <a:chOff x="0" y="0"/>
            <a:chExt cx="10175104" cy="14087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5104" cy="1408740"/>
            </a:xfrm>
            <a:custGeom>
              <a:avLst/>
              <a:gdLst/>
              <a:ahLst/>
              <a:cxnLst/>
              <a:rect r="r" b="b" t="t" l="l"/>
              <a:pathLst>
                <a:path h="1408740" w="10175104">
                  <a:moveTo>
                    <a:pt x="0" y="0"/>
                  </a:moveTo>
                  <a:lnTo>
                    <a:pt x="10175104" y="0"/>
                  </a:lnTo>
                  <a:lnTo>
                    <a:pt x="10175104" y="1408740"/>
                  </a:lnTo>
                  <a:lnTo>
                    <a:pt x="0" y="1408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175104" cy="14754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23"/>
                </a:lnSpc>
              </a:pPr>
              <a:r>
                <a:rPr lang="en-US" sz="3588">
                  <a:solidFill>
                    <a:srgbClr val="4D2F2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PES140 GÖNÜLLÜLÜK ÇALIŞMALARI </a:t>
              </a:r>
            </a:p>
            <a:p>
              <a:pPr algn="l">
                <a:lnSpc>
                  <a:spcPts val="345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523809">
            <a:off x="1637109" y="8229626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32105" y="4973708"/>
            <a:ext cx="2838093" cy="564257"/>
            <a:chOff x="0" y="0"/>
            <a:chExt cx="3784124" cy="7523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84124" cy="752343"/>
            </a:xfrm>
            <a:custGeom>
              <a:avLst/>
              <a:gdLst/>
              <a:ahLst/>
              <a:cxnLst/>
              <a:rect r="r" b="b" t="t" l="l"/>
              <a:pathLst>
                <a:path h="752343" w="3784124">
                  <a:moveTo>
                    <a:pt x="0" y="0"/>
                  </a:moveTo>
                  <a:lnTo>
                    <a:pt x="3784124" y="0"/>
                  </a:lnTo>
                  <a:lnTo>
                    <a:pt x="3784124" y="752343"/>
                  </a:lnTo>
                  <a:lnTo>
                    <a:pt x="0" y="752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3784124" cy="72376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400"/>
                </a:lnSpc>
              </a:pPr>
              <a:r>
                <a:rPr lang="en-US" b="true" sz="4000" spc="44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11.04.2025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25267" y="1112950"/>
            <a:ext cx="6375597" cy="8061100"/>
          </a:xfrm>
          <a:custGeom>
            <a:avLst/>
            <a:gdLst/>
            <a:ahLst/>
            <a:cxnLst/>
            <a:rect r="r" b="b" t="t" l="l"/>
            <a:pathLst>
              <a:path h="8061100" w="6375597">
                <a:moveTo>
                  <a:pt x="0" y="0"/>
                </a:moveTo>
                <a:lnTo>
                  <a:pt x="6375597" y="0"/>
                </a:lnTo>
                <a:lnTo>
                  <a:pt x="6375597" y="8061100"/>
                </a:lnTo>
                <a:lnTo>
                  <a:pt x="0" y="80611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2" t="0" r="-8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133475"/>
            <a:ext cx="7419975" cy="2039874"/>
            <a:chOff x="0" y="0"/>
            <a:chExt cx="9893300" cy="2719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93300" cy="2719832"/>
            </a:xfrm>
            <a:custGeom>
              <a:avLst/>
              <a:gdLst/>
              <a:ahLst/>
              <a:cxnLst/>
              <a:rect r="r" b="b" t="t" l="l"/>
              <a:pathLst>
                <a:path h="2719832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2719832"/>
                  </a:lnTo>
                  <a:lnTo>
                    <a:pt x="0" y="2719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04775"/>
              <a:ext cx="9893300" cy="2615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ERİŞİLEBİLİRLİK SORUNU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1090" y="2895560"/>
            <a:ext cx="7419975" cy="5546715"/>
            <a:chOff x="0" y="0"/>
            <a:chExt cx="9893300" cy="73956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93300" cy="7395620"/>
            </a:xfrm>
            <a:custGeom>
              <a:avLst/>
              <a:gdLst/>
              <a:ahLst/>
              <a:cxnLst/>
              <a:rect r="r" b="b" t="t" l="l"/>
              <a:pathLst>
                <a:path h="7395620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7395620"/>
                  </a:lnTo>
                  <a:lnTo>
                    <a:pt x="0" y="739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9893300" cy="74527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Spor salonları, gönüllülük dersi ve bazı öğretmen ofisleri binanın 1. katındadır.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Bu kata çıkmak için sadece merdiven bulunmaktadır.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Asansör veya başka bir erişim alternatifi mevcut değildir.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Tekerlekli sandalye kullanan bireyler bu alanlara ulaşamamaktadır.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Bu durum eğitimde, sporda ve iletişimde eşitliğin önüne geçmektedir.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27004" y="1119803"/>
            <a:ext cx="6939918" cy="8138497"/>
          </a:xfrm>
          <a:custGeom>
            <a:avLst/>
            <a:gdLst/>
            <a:ahLst/>
            <a:cxnLst/>
            <a:rect r="r" b="b" t="t" l="l"/>
            <a:pathLst>
              <a:path h="8138497" w="6939918">
                <a:moveTo>
                  <a:pt x="0" y="0"/>
                </a:moveTo>
                <a:lnTo>
                  <a:pt x="6939918" y="0"/>
                </a:lnTo>
                <a:lnTo>
                  <a:pt x="6939918" y="8138497"/>
                </a:lnTo>
                <a:lnTo>
                  <a:pt x="0" y="8138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64" r="0" b="-64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93640" y="950039"/>
            <a:ext cx="7419975" cy="1631899"/>
            <a:chOff x="0" y="0"/>
            <a:chExt cx="9893300" cy="21758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893300" cy="2175866"/>
            </a:xfrm>
            <a:custGeom>
              <a:avLst/>
              <a:gdLst/>
              <a:ahLst/>
              <a:cxnLst/>
              <a:rect r="r" b="b" t="t" l="l"/>
              <a:pathLst>
                <a:path h="2175866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2175866"/>
                  </a:lnTo>
                  <a:lnTo>
                    <a:pt x="0" y="21758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95250"/>
              <a:ext cx="9893300" cy="20806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b="true" sz="4800" spc="48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NEDEN BU PROJEYİ SEÇTİM?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2900785"/>
            <a:ext cx="10178678" cy="3643558"/>
            <a:chOff x="0" y="0"/>
            <a:chExt cx="13571571" cy="48580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71570" cy="4858077"/>
            </a:xfrm>
            <a:custGeom>
              <a:avLst/>
              <a:gdLst/>
              <a:ahLst/>
              <a:cxnLst/>
              <a:rect r="r" b="b" t="t" l="l"/>
              <a:pathLst>
                <a:path h="4858077" w="13571570">
                  <a:moveTo>
                    <a:pt x="0" y="0"/>
                  </a:moveTo>
                  <a:lnTo>
                    <a:pt x="13571570" y="0"/>
                  </a:lnTo>
                  <a:lnTo>
                    <a:pt x="13571570" y="4858077"/>
                  </a:lnTo>
                  <a:lnTo>
                    <a:pt x="0" y="485807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38100"/>
              <a:ext cx="13571571" cy="481997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 marL="594883" indent="-198294" lvl="2">
                <a:lnSpc>
                  <a:spcPts val="2601"/>
                </a:lnSpc>
                <a:buFont typeface="Arial"/>
                <a:buChar char="⚬"/>
              </a:pPr>
              <a:r>
                <a:rPr lang="en-US" b="true" sz="2601" spc="25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FIZIKSEL PROBLEMLERI OLAN  BIREYLERIN ERIŞIM SORUNLARINA DIKKAT ÇEKMEK ISTEDIM.</a:t>
              </a:r>
            </a:p>
            <a:p>
              <a:pPr algn="just" marL="594883" indent="-198294" lvl="2">
                <a:lnSpc>
                  <a:spcPts val="2601"/>
                </a:lnSpc>
              </a:pPr>
            </a:p>
            <a:p>
              <a:pPr algn="just" marL="594883" indent="-198294" lvl="2">
                <a:lnSpc>
                  <a:spcPts val="2601"/>
                </a:lnSpc>
                <a:buFont typeface="Arial"/>
                <a:buChar char="⚬"/>
              </a:pPr>
              <a:r>
                <a:rPr lang="en-US" b="true" sz="2601" spc="25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HERKESIN EĞITIM VE ETKINLIKLERE EŞIT KATILIM HAKKI OLMALI.</a:t>
              </a:r>
            </a:p>
            <a:p>
              <a:pPr algn="just" marL="594883" indent="-198294" lvl="2">
                <a:lnSpc>
                  <a:spcPts val="2601"/>
                </a:lnSpc>
              </a:pPr>
            </a:p>
            <a:p>
              <a:pPr algn="just" marL="594883" indent="-198294" lvl="2">
                <a:lnSpc>
                  <a:spcPts val="2601"/>
                </a:lnSpc>
                <a:buFont typeface="Arial"/>
                <a:buChar char="⚬"/>
              </a:pPr>
              <a:r>
                <a:rPr lang="en-US" b="true" sz="2601" spc="25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BU SORUNU KENDI GÖZLERIMLE GÖRDÜM VE ÇÖZÜM ÜRETMEK ISTIYORUM.</a:t>
              </a:r>
            </a:p>
            <a:p>
              <a:pPr algn="just" marL="594883" indent="-198294" lvl="2">
                <a:lnSpc>
                  <a:spcPts val="2601"/>
                </a:lnSpc>
              </a:pPr>
            </a:p>
            <a:p>
              <a:pPr algn="just" marL="594883" indent="-198294" lvl="2">
                <a:lnSpc>
                  <a:spcPts val="2601"/>
                </a:lnSpc>
                <a:buFont typeface="Arial"/>
                <a:buChar char="⚬"/>
              </a:pPr>
              <a:r>
                <a:rPr lang="en-US" b="true" sz="2601" spc="25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ERIŞILEBILIRLIK, TEMEL BIR HAK OLMALI, LÜKS DEĞIL</a:t>
              </a:r>
            </a:p>
            <a:p>
              <a:pPr algn="just" marL="594883" indent="-198294" lvl="2">
                <a:lnSpc>
                  <a:spcPts val="2601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05591" y="1976754"/>
            <a:ext cx="7110062" cy="7110062"/>
            <a:chOff x="0" y="0"/>
            <a:chExt cx="9480083" cy="94800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80042" cy="9480042"/>
            </a:xfrm>
            <a:custGeom>
              <a:avLst/>
              <a:gdLst/>
              <a:ahLst/>
              <a:cxnLst/>
              <a:rect r="r" b="b" t="t" l="l"/>
              <a:pathLst>
                <a:path h="9480042" w="9480042">
                  <a:moveTo>
                    <a:pt x="0" y="0"/>
                  </a:moveTo>
                  <a:lnTo>
                    <a:pt x="9480042" y="0"/>
                  </a:lnTo>
                  <a:lnTo>
                    <a:pt x="9480042" y="9480042"/>
                  </a:lnTo>
                  <a:lnTo>
                    <a:pt x="0" y="94800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80011" y="1706085"/>
            <a:ext cx="7419975" cy="1277874"/>
            <a:chOff x="0" y="0"/>
            <a:chExt cx="9893300" cy="17038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93300" cy="1703832"/>
            </a:xfrm>
            <a:custGeom>
              <a:avLst/>
              <a:gdLst/>
              <a:ahLst/>
              <a:cxnLst/>
              <a:rect r="r" b="b" t="t" l="l"/>
              <a:pathLst>
                <a:path h="1703832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1703832"/>
                  </a:lnTo>
                  <a:lnTo>
                    <a:pt x="0" y="1703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4775"/>
              <a:ext cx="9893300" cy="1599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ÇÖZÜM ÖNERİLERİ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6990" y="4284620"/>
            <a:ext cx="7419975" cy="2957830"/>
            <a:chOff x="0" y="0"/>
            <a:chExt cx="9893300" cy="39437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93300" cy="3943773"/>
            </a:xfrm>
            <a:custGeom>
              <a:avLst/>
              <a:gdLst/>
              <a:ahLst/>
              <a:cxnLst/>
              <a:rect r="r" b="b" t="t" l="l"/>
              <a:pathLst>
                <a:path h="3943773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3943773"/>
                  </a:lnTo>
                  <a:lnTo>
                    <a:pt x="0" y="39437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893300" cy="400092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19"/>
                </a:lnSpc>
              </a:pPr>
            </a:p>
            <a:p>
              <a:pPr algn="l" marL="639958" indent="-213319" lvl="2">
                <a:lnSpc>
                  <a:spcPts val="3919"/>
                </a:lnSpc>
                <a:buAutoNum type="arabicPeriod" startAt="1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kata erişimi sağlayacak bir asansör ya da platform asansörü kurulabilir.</a:t>
              </a:r>
            </a:p>
            <a:p>
              <a:pPr algn="l" marL="639958" indent="-213319" lvl="2">
                <a:lnSpc>
                  <a:spcPts val="3919"/>
                </a:lnSpc>
                <a:buFont typeface="Arial"/>
                <a:buChar char="⚬"/>
              </a:pPr>
              <a:r>
                <a:rPr lang="en-US" b="true" sz="2799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Böylece engelsiz bireyler bağımsız bir şekilde bu alanlara ulaşabilir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29339" y="3132751"/>
            <a:ext cx="7757626" cy="1209019"/>
            <a:chOff x="0" y="0"/>
            <a:chExt cx="10343501" cy="1612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43501" cy="1612025"/>
            </a:xfrm>
            <a:custGeom>
              <a:avLst/>
              <a:gdLst/>
              <a:ahLst/>
              <a:cxnLst/>
              <a:rect r="r" b="b" t="t" l="l"/>
              <a:pathLst>
                <a:path h="1612025" w="10343501">
                  <a:moveTo>
                    <a:pt x="0" y="0"/>
                  </a:moveTo>
                  <a:lnTo>
                    <a:pt x="10343501" y="0"/>
                  </a:lnTo>
                  <a:lnTo>
                    <a:pt x="10343501" y="1612025"/>
                  </a:lnTo>
                  <a:lnTo>
                    <a:pt x="0" y="1612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57150"/>
              <a:ext cx="10343501" cy="15548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69"/>
                </a:lnSpc>
              </a:pPr>
              <a:r>
                <a:rPr lang="en-US" b="true" sz="2869" spc="27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ENGELSİZ BİREYLER İÇİN ASANSÖR KURULUMU</a:t>
              </a:r>
            </a:p>
            <a:p>
              <a:pPr algn="ctr">
                <a:lnSpc>
                  <a:spcPts val="3585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77489" y="1853010"/>
            <a:ext cx="6356958" cy="6356958"/>
            <a:chOff x="0" y="0"/>
            <a:chExt cx="8475944" cy="84759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475980" cy="8475980"/>
            </a:xfrm>
            <a:custGeom>
              <a:avLst/>
              <a:gdLst/>
              <a:ahLst/>
              <a:cxnLst/>
              <a:rect r="r" b="b" t="t" l="l"/>
              <a:pathLst>
                <a:path h="8475980" w="8475980">
                  <a:moveTo>
                    <a:pt x="0" y="0"/>
                  </a:moveTo>
                  <a:lnTo>
                    <a:pt x="8475980" y="0"/>
                  </a:lnTo>
                  <a:lnTo>
                    <a:pt x="8475980" y="8475980"/>
                  </a:lnTo>
                  <a:lnTo>
                    <a:pt x="0" y="84759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1500585"/>
            <a:ext cx="7419975" cy="1294109"/>
            <a:chOff x="0" y="0"/>
            <a:chExt cx="9893300" cy="1725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93300" cy="1725479"/>
            </a:xfrm>
            <a:custGeom>
              <a:avLst/>
              <a:gdLst/>
              <a:ahLst/>
              <a:cxnLst/>
              <a:rect r="r" b="b" t="t" l="l"/>
              <a:pathLst>
                <a:path h="1725479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1725479"/>
                  </a:lnTo>
                  <a:lnTo>
                    <a:pt x="0" y="17254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104775"/>
              <a:ext cx="9893300" cy="16207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ÇÖZÜM ÖNERİLERİ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6110" y="3013769"/>
            <a:ext cx="7419975" cy="563880"/>
            <a:chOff x="0" y="0"/>
            <a:chExt cx="9893300" cy="751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93300" cy="751840"/>
            </a:xfrm>
            <a:custGeom>
              <a:avLst/>
              <a:gdLst/>
              <a:ahLst/>
              <a:cxnLst/>
              <a:rect r="r" b="b" t="t" l="l"/>
              <a:pathLst>
                <a:path h="751840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751840"/>
                  </a:lnTo>
                  <a:lnTo>
                    <a:pt x="0" y="7518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9893300" cy="8185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618"/>
                </a:lnSpc>
              </a:pPr>
              <a:r>
                <a:rPr lang="en-US" sz="3298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Engelsiz Bireyler için Rampa Kurulumu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6110" y="4311074"/>
            <a:ext cx="7419975" cy="3018130"/>
            <a:chOff x="0" y="0"/>
            <a:chExt cx="9893300" cy="4024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3300" cy="4024173"/>
            </a:xfrm>
            <a:custGeom>
              <a:avLst/>
              <a:gdLst/>
              <a:ahLst/>
              <a:cxnLst/>
              <a:rect r="r" b="b" t="t" l="l"/>
              <a:pathLst>
                <a:path h="4024173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4024173"/>
                  </a:lnTo>
                  <a:lnTo>
                    <a:pt x="0" y="4024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93300" cy="40622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Spor salonunun seyirci kısmı altında yer alan beton yapıya bir rampa entegre edilerek tekerlekli sandalye kullanan bireylerin üst kattaki dersliklere ve ofislere erişimi sağlanabilir.</a:t>
              </a:r>
            </a:p>
            <a:p>
              <a:pPr algn="l">
                <a:lnSpc>
                  <a:spcPts val="3359"/>
                </a:lnSpc>
              </a:pPr>
              <a:r>
                <a:rPr lang="en-US" sz="2400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Bu çözüm, fiziksel erişim sorununu ortadan kaldırarak eğitim ve etkinliklere katılımı mümkün kılar.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0011" y="1706085"/>
            <a:ext cx="7419975" cy="1277874"/>
            <a:chOff x="0" y="0"/>
            <a:chExt cx="9893300" cy="17038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93300" cy="1703832"/>
            </a:xfrm>
            <a:custGeom>
              <a:avLst/>
              <a:gdLst/>
              <a:ahLst/>
              <a:cxnLst/>
              <a:rect r="r" b="b" t="t" l="l"/>
              <a:pathLst>
                <a:path h="1703832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1703832"/>
                  </a:lnTo>
                  <a:lnTo>
                    <a:pt x="0" y="1703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04775"/>
              <a:ext cx="9893300" cy="1599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ÇÖZÜM ÖNERİLERİ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8164" y="4599761"/>
            <a:ext cx="7419975" cy="3070215"/>
            <a:chOff x="0" y="0"/>
            <a:chExt cx="9893300" cy="40936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93300" cy="4093620"/>
            </a:xfrm>
            <a:custGeom>
              <a:avLst/>
              <a:gdLst/>
              <a:ahLst/>
              <a:cxnLst/>
              <a:rect r="r" b="b" t="t" l="l"/>
              <a:pathLst>
                <a:path h="4093620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4093620"/>
                  </a:lnTo>
                  <a:lnTo>
                    <a:pt x="0" y="4093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893300" cy="41507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919"/>
                </a:lnSpc>
              </a:pPr>
              <a:r>
                <a:rPr lang="en-US" sz="2799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Görme </a:t>
              </a:r>
              <a:r>
                <a:rPr lang="en-US" sz="2799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engelli bireylerin kampüs içinde güvenli ve bağımsız bir şekilde hareket edebilmeleri için kaldırımlara sarı</a:t>
              </a:r>
              <a:r>
                <a:rPr lang="en-US" sz="2799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çizgilerin doğru ve eksiksiz bir şekilde yerleştirilmesi büyük önem taşır. </a:t>
              </a:r>
            </a:p>
            <a:p>
              <a:pPr algn="l" marL="639958" indent="-213319" lvl="2">
                <a:lnSpc>
                  <a:spcPts val="391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9339" y="3132751"/>
            <a:ext cx="7757626" cy="1734669"/>
            <a:chOff x="0" y="0"/>
            <a:chExt cx="10343501" cy="23128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43501" cy="2312892"/>
            </a:xfrm>
            <a:custGeom>
              <a:avLst/>
              <a:gdLst/>
              <a:ahLst/>
              <a:cxnLst/>
              <a:rect r="r" b="b" t="t" l="l"/>
              <a:pathLst>
                <a:path h="2312892" w="10343501">
                  <a:moveTo>
                    <a:pt x="0" y="0"/>
                  </a:moveTo>
                  <a:lnTo>
                    <a:pt x="10343501" y="0"/>
                  </a:lnTo>
                  <a:lnTo>
                    <a:pt x="10343501" y="2312892"/>
                  </a:lnTo>
                  <a:lnTo>
                    <a:pt x="0" y="231289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10343501" cy="225574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868"/>
                </a:lnSpc>
              </a:pPr>
              <a:r>
                <a:rPr lang="en-US" b="true" sz="2868" spc="25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ÜNİVERSİTEMİZ İÇİNDE KALDIRIMLARA</a:t>
              </a:r>
            </a:p>
            <a:p>
              <a:pPr algn="ctr">
                <a:lnSpc>
                  <a:spcPts val="2869"/>
                </a:lnSpc>
              </a:pPr>
              <a:r>
                <a:rPr lang="en-US" b="true" sz="2869" spc="27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SARI ÇİZGİLERİN TAM OLARAK YERLEŞTİRİLMESİ</a:t>
              </a:r>
            </a:p>
            <a:p>
              <a:pPr algn="ctr">
                <a:lnSpc>
                  <a:spcPts val="3585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8442416" y="2773182"/>
            <a:ext cx="9119746" cy="5129857"/>
          </a:xfrm>
          <a:custGeom>
            <a:avLst/>
            <a:gdLst/>
            <a:ahLst/>
            <a:cxnLst/>
            <a:rect r="r" b="b" t="t" l="l"/>
            <a:pathLst>
              <a:path h="5129857" w="9119746">
                <a:moveTo>
                  <a:pt x="0" y="0"/>
                </a:moveTo>
                <a:lnTo>
                  <a:pt x="9119746" y="0"/>
                </a:lnTo>
                <a:lnTo>
                  <a:pt x="9119746" y="5129857"/>
                </a:lnTo>
                <a:lnTo>
                  <a:pt x="0" y="51298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62585"/>
            <a:ext cx="7243935" cy="6264328"/>
            <a:chOff x="0" y="0"/>
            <a:chExt cx="9658580" cy="83524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8580" cy="8352437"/>
            </a:xfrm>
            <a:custGeom>
              <a:avLst/>
              <a:gdLst/>
              <a:ahLst/>
              <a:cxnLst/>
              <a:rect r="r" b="b" t="t" l="l"/>
              <a:pathLst>
                <a:path h="8352437" w="9658580">
                  <a:moveTo>
                    <a:pt x="0" y="0"/>
                  </a:moveTo>
                  <a:lnTo>
                    <a:pt x="9658580" y="0"/>
                  </a:lnTo>
                  <a:lnTo>
                    <a:pt x="9658580" y="8352437"/>
                  </a:lnTo>
                  <a:lnTo>
                    <a:pt x="0" y="83524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658580" cy="840006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1. Online Katılım Seçenekleri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Dersler ve etkinlikler çevrim içi olarak da sunulabilir.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2. Dersliklerin Giriş Kata Taşınması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Geçici çözüm olarak bazı dersler giriş kata alınabilir.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3. Gönüllü Destek Ekibi Oluşturulması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Engelsiz bireylere yardımcı olacak gönüllü öğrenciler destek sağlayabilir.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4. Farkındalık Çalışmaları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Erişilebilirlik konusunda bilgilendirme ve empati etkinlikleri yapılabilir.</a:t>
              </a:r>
            </a:p>
            <a:p>
              <a:pPr algn="l">
                <a:lnSpc>
                  <a:spcPts val="382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04778" y="1976754"/>
            <a:ext cx="6762139" cy="6762139"/>
            <a:chOff x="0" y="0"/>
            <a:chExt cx="9016185" cy="90161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16238" cy="9016238"/>
            </a:xfrm>
            <a:custGeom>
              <a:avLst/>
              <a:gdLst/>
              <a:ahLst/>
              <a:cxnLst/>
              <a:rect r="r" b="b" t="t" l="l"/>
              <a:pathLst>
                <a:path h="9016238" w="9016238">
                  <a:moveTo>
                    <a:pt x="0" y="0"/>
                  </a:moveTo>
                  <a:lnTo>
                    <a:pt x="9016238" y="0"/>
                  </a:lnTo>
                  <a:lnTo>
                    <a:pt x="9016238" y="9016238"/>
                  </a:lnTo>
                  <a:lnTo>
                    <a:pt x="0" y="9016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1167129"/>
            <a:ext cx="7419975" cy="1277874"/>
            <a:chOff x="0" y="0"/>
            <a:chExt cx="9893300" cy="17038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93300" cy="1703832"/>
            </a:xfrm>
            <a:custGeom>
              <a:avLst/>
              <a:gdLst/>
              <a:ahLst/>
              <a:cxnLst/>
              <a:rect r="r" b="b" t="t" l="l"/>
              <a:pathLst>
                <a:path h="1703832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1703832"/>
                  </a:lnTo>
                  <a:lnTo>
                    <a:pt x="0" y="1703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04775"/>
              <a:ext cx="9893300" cy="1599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ÇÖZÜM ÖNERİLERİ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58400" y="0"/>
            <a:ext cx="8229600" cy="10287000"/>
            <a:chOff x="0" y="0"/>
            <a:chExt cx="109728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262585"/>
            <a:ext cx="7243935" cy="1912388"/>
            <a:chOff x="0" y="0"/>
            <a:chExt cx="9658580" cy="25498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8580" cy="2549851"/>
            </a:xfrm>
            <a:custGeom>
              <a:avLst/>
              <a:gdLst/>
              <a:ahLst/>
              <a:cxnLst/>
              <a:rect r="r" b="b" t="t" l="l"/>
              <a:pathLst>
                <a:path h="2549851" w="9658580">
                  <a:moveTo>
                    <a:pt x="0" y="0"/>
                  </a:moveTo>
                  <a:lnTo>
                    <a:pt x="9658580" y="0"/>
                  </a:lnTo>
                  <a:lnTo>
                    <a:pt x="9658580" y="2549851"/>
                  </a:lnTo>
                  <a:lnTo>
                    <a:pt x="0" y="25498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658580" cy="259747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Okulumuzun da düzenlemiş olduğu Engel Avı’na katıl projesiyle sizler de kampüsümüzde görmüş olduğunuz engelleri üniversitemizle paylaşabilirsiniz.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1203323"/>
            <a:ext cx="7419975" cy="1213980"/>
            <a:chOff x="0" y="0"/>
            <a:chExt cx="9893300" cy="161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93300" cy="1618640"/>
            </a:xfrm>
            <a:custGeom>
              <a:avLst/>
              <a:gdLst/>
              <a:ahLst/>
              <a:cxnLst/>
              <a:rect r="r" b="b" t="t" l="l"/>
              <a:pathLst>
                <a:path h="1618640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1618640"/>
                  </a:lnTo>
                  <a:lnTo>
                    <a:pt x="0" y="16186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95250"/>
              <a:ext cx="9893300" cy="152339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700"/>
                </a:lnSpc>
              </a:pPr>
              <a:r>
                <a:rPr lang="en-US" b="true" sz="5700" spc="57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ENGEL AVI’NA KATIL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619054"/>
            <a:ext cx="7243935" cy="945290"/>
            <a:chOff x="0" y="0"/>
            <a:chExt cx="9658580" cy="12603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58580" cy="1260387"/>
            </a:xfrm>
            <a:custGeom>
              <a:avLst/>
              <a:gdLst/>
              <a:ahLst/>
              <a:cxnLst/>
              <a:rect r="r" b="b" t="t" l="l"/>
              <a:pathLst>
                <a:path h="1260387" w="9658580">
                  <a:moveTo>
                    <a:pt x="0" y="0"/>
                  </a:moveTo>
                  <a:lnTo>
                    <a:pt x="9658580" y="0"/>
                  </a:lnTo>
                  <a:lnTo>
                    <a:pt x="9658580" y="1260387"/>
                  </a:lnTo>
                  <a:lnTo>
                    <a:pt x="0" y="12603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658580" cy="13080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Küçük bir gözlem, büyük bir fark yaratır.</a:t>
              </a:r>
            </a:p>
            <a:p>
              <a:pPr algn="l">
                <a:lnSpc>
                  <a:spcPts val="3826"/>
                </a:lnSpc>
              </a:pPr>
              <a:r>
                <a:rPr lang="en-US" sz="2733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El ele verirsek engelsiz bir kampüs mümkün!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D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092896" y="2015660"/>
            <a:ext cx="5171945" cy="6065181"/>
          </a:xfrm>
          <a:custGeom>
            <a:avLst/>
            <a:gdLst/>
            <a:ahLst/>
            <a:cxnLst/>
            <a:rect r="r" b="b" t="t" l="l"/>
            <a:pathLst>
              <a:path h="6065181" w="5171945">
                <a:moveTo>
                  <a:pt x="0" y="0"/>
                </a:moveTo>
                <a:lnTo>
                  <a:pt x="5171945" y="0"/>
                </a:lnTo>
                <a:lnTo>
                  <a:pt x="5171945" y="6065181"/>
                </a:lnTo>
                <a:lnTo>
                  <a:pt x="0" y="6065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95" r="0" b="-9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500960">
            <a:off x="-375897" y="7488093"/>
            <a:ext cx="3111817" cy="4114800"/>
          </a:xfrm>
          <a:custGeom>
            <a:avLst/>
            <a:gdLst/>
            <a:ahLst/>
            <a:cxnLst/>
            <a:rect r="r" b="b" t="t" l="l"/>
            <a:pathLst>
              <a:path h="4114800" w="3111817">
                <a:moveTo>
                  <a:pt x="0" y="0"/>
                </a:moveTo>
                <a:lnTo>
                  <a:pt x="3111817" y="0"/>
                </a:lnTo>
                <a:lnTo>
                  <a:pt x="31118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23809">
            <a:off x="1676502" y="8176090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3840000">
            <a:off x="15659745" y="-1028700"/>
            <a:ext cx="3111818" cy="4114800"/>
          </a:xfrm>
          <a:custGeom>
            <a:avLst/>
            <a:gdLst/>
            <a:ahLst/>
            <a:cxnLst/>
            <a:rect r="r" b="b" t="t" l="l"/>
            <a:pathLst>
              <a:path h="4114800" w="3111818">
                <a:moveTo>
                  <a:pt x="3111818" y="0"/>
                </a:moveTo>
                <a:lnTo>
                  <a:pt x="0" y="0"/>
                </a:lnTo>
                <a:lnTo>
                  <a:pt x="0" y="4114800"/>
                </a:lnTo>
                <a:lnTo>
                  <a:pt x="3111818" y="4114800"/>
                </a:lnTo>
                <a:lnTo>
                  <a:pt x="31118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85" r="0" b="-18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23809">
            <a:off x="13062473" y="-2091637"/>
            <a:ext cx="3887671" cy="3795339"/>
          </a:xfrm>
          <a:custGeom>
            <a:avLst/>
            <a:gdLst/>
            <a:ahLst/>
            <a:cxnLst/>
            <a:rect r="r" b="b" t="t" l="l"/>
            <a:pathLst>
              <a:path h="3795339" w="3887671">
                <a:moveTo>
                  <a:pt x="0" y="0"/>
                </a:moveTo>
                <a:lnTo>
                  <a:pt x="3887671" y="0"/>
                </a:lnTo>
                <a:lnTo>
                  <a:pt x="3887671" y="3795339"/>
                </a:lnTo>
                <a:lnTo>
                  <a:pt x="0" y="37953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9" r="0" b="-89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966626" y="7101059"/>
            <a:ext cx="8676675" cy="570865"/>
            <a:chOff x="0" y="0"/>
            <a:chExt cx="11568900" cy="7611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568900" cy="761153"/>
            </a:xfrm>
            <a:custGeom>
              <a:avLst/>
              <a:gdLst/>
              <a:ahLst/>
              <a:cxnLst/>
              <a:rect r="r" b="b" t="t" l="l"/>
              <a:pathLst>
                <a:path h="761153" w="11568900">
                  <a:moveTo>
                    <a:pt x="0" y="0"/>
                  </a:moveTo>
                  <a:lnTo>
                    <a:pt x="11568900" y="0"/>
                  </a:lnTo>
                  <a:lnTo>
                    <a:pt x="11568900" y="761153"/>
                  </a:lnTo>
                  <a:lnTo>
                    <a:pt x="0" y="7611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11568900" cy="81830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4759"/>
                </a:lnSpc>
              </a:pPr>
              <a:r>
                <a:rPr lang="en-US" sz="3400" b="true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FATİH EMRE OĞAN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310442" y="3571875"/>
            <a:ext cx="8676675" cy="2039874"/>
            <a:chOff x="0" y="0"/>
            <a:chExt cx="11568900" cy="27198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68900" cy="2719832"/>
            </a:xfrm>
            <a:custGeom>
              <a:avLst/>
              <a:gdLst/>
              <a:ahLst/>
              <a:cxnLst/>
              <a:rect r="r" b="b" t="t" l="l"/>
              <a:pathLst>
                <a:path h="2719832" w="11568900">
                  <a:moveTo>
                    <a:pt x="0" y="0"/>
                  </a:moveTo>
                  <a:lnTo>
                    <a:pt x="11568900" y="0"/>
                  </a:lnTo>
                  <a:lnTo>
                    <a:pt x="11568900" y="2719832"/>
                  </a:lnTo>
                  <a:lnTo>
                    <a:pt x="0" y="27198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04775"/>
              <a:ext cx="11568900" cy="26150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b="true" sz="6000" spc="60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“ERİŞİLEBİLİRLİK HERKESİN HAKKI”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59635" y="1594037"/>
            <a:ext cx="4346028" cy="6908426"/>
          </a:xfrm>
          <a:custGeom>
            <a:avLst/>
            <a:gdLst/>
            <a:ahLst/>
            <a:cxnLst/>
            <a:rect r="r" b="b" t="t" l="l"/>
            <a:pathLst>
              <a:path h="6908426" w="4346028">
                <a:moveTo>
                  <a:pt x="0" y="0"/>
                </a:moveTo>
                <a:lnTo>
                  <a:pt x="4346028" y="0"/>
                </a:lnTo>
                <a:lnTo>
                  <a:pt x="4346028" y="6908426"/>
                </a:lnTo>
                <a:lnTo>
                  <a:pt x="0" y="6908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40" t="0" r="-14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232370" y="6315303"/>
            <a:ext cx="7419975" cy="720954"/>
            <a:chOff x="0" y="0"/>
            <a:chExt cx="9893300" cy="961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93300" cy="961271"/>
            </a:xfrm>
            <a:custGeom>
              <a:avLst/>
              <a:gdLst/>
              <a:ahLst/>
              <a:cxnLst/>
              <a:rect r="r" b="b" t="t" l="l"/>
              <a:pathLst>
                <a:path h="961271" w="9893300">
                  <a:moveTo>
                    <a:pt x="0" y="0"/>
                  </a:moveTo>
                  <a:lnTo>
                    <a:pt x="9893300" y="0"/>
                  </a:lnTo>
                  <a:lnTo>
                    <a:pt x="9893300" y="961271"/>
                  </a:lnTo>
                  <a:lnTo>
                    <a:pt x="0" y="9612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66675"/>
              <a:ext cx="9893300" cy="89459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400"/>
                </a:lnSpc>
              </a:pPr>
              <a:r>
                <a:rPr lang="en-US" b="true" sz="3400" spc="34">
                  <a:solidFill>
                    <a:srgbClr val="4B6E29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DİNLEDİĞİNİZ İÇİN  TEŞEKKÜRLER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DAGkRJariF0</dc:identifier>
  <dcterms:modified xsi:type="dcterms:W3CDTF">2011-08-01T06:04:30Z</dcterms:modified>
  <cp:revision>1</cp:revision>
  <dc:title>ÜNİVERSİTEMİZ İÇİNDE KALDIRIMLARA SARI ÇİZGİLERİN TAM OLARAK YERLEŞTİRİLMESİ</dc:title>
</cp:coreProperties>
</file>