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58" r:id="rId3"/>
    <p:sldId id="259" r:id="rId4"/>
    <p:sldId id="260" r:id="rId5"/>
    <p:sldId id="262" r:id="rId6"/>
    <p:sldId id="263" r:id="rId7"/>
    <p:sldId id="264" r:id="rId8"/>
    <p:sldId id="266" r:id="rId9"/>
    <p:sldId id="267" r:id="rId10"/>
    <p:sldId id="268" r:id="rId11"/>
    <p:sldId id="270" r:id="rId12"/>
    <p:sldId id="271" r:id="rId13"/>
    <p:sldId id="295" r:id="rId14"/>
    <p:sldId id="286" r:id="rId15"/>
    <p:sldId id="287" r:id="rId16"/>
    <p:sldId id="288" r:id="rId17"/>
    <p:sldId id="289" r:id="rId18"/>
    <p:sldId id="290" r:id="rId19"/>
    <p:sldId id="291" r:id="rId20"/>
    <p:sldId id="292" r:id="rId21"/>
    <p:sldId id="293" r:id="rId22"/>
    <p:sldId id="294" r:id="rId23"/>
    <p:sldId id="296" r:id="rId24"/>
    <p:sldId id="297" r:id="rId25"/>
    <p:sldId id="298" r:id="rId26"/>
    <p:sldId id="299" r:id="rId27"/>
    <p:sldId id="280" r:id="rId28"/>
    <p:sldId id="300" r:id="rId29"/>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B798A12-AEC4-41B2-9027-D09C3E42225D}" type="datetimeFigureOut">
              <a:rPr lang="tr-TR" smtClean="0"/>
              <a:t>8.05.2025</a:t>
            </a:fld>
            <a:endParaRPr lang="tr-TR"/>
          </a:p>
        </p:txBody>
      </p:sp>
      <p:sp>
        <p:nvSpPr>
          <p:cNvPr id="4" name="Slayt Resmi Yer Tutucusu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40466B9C-4750-4B3C-A275-AF0DDDB2744E}" type="slidenum">
              <a:rPr lang="tr-TR" smtClean="0"/>
              <a:t>‹#›</a:t>
            </a:fld>
            <a:endParaRPr lang="tr-TR"/>
          </a:p>
        </p:txBody>
      </p:sp>
    </p:spTree>
    <p:extLst>
      <p:ext uri="{BB962C8B-B14F-4D97-AF65-F5344CB8AC3E}">
        <p14:creationId xmlns:p14="http://schemas.microsoft.com/office/powerpoint/2010/main" val="1000443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0466B9C-4750-4B3C-A275-AF0DDDB2744E}" type="slidenum">
              <a:rPr lang="tr-TR" smtClean="0"/>
              <a:t>15</a:t>
            </a:fld>
            <a:endParaRPr lang="tr-TR"/>
          </a:p>
        </p:txBody>
      </p:sp>
    </p:spTree>
    <p:extLst>
      <p:ext uri="{BB962C8B-B14F-4D97-AF65-F5344CB8AC3E}">
        <p14:creationId xmlns:p14="http://schemas.microsoft.com/office/powerpoint/2010/main" val="1058433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36244" y="1510650"/>
            <a:ext cx="5373370" cy="1196975"/>
          </a:xfrm>
          <a:prstGeom prst="rect">
            <a:avLst/>
          </a:prstGeom>
        </p:spPr>
        <p:txBody>
          <a:bodyPr wrap="square" lIns="0" tIns="0" rIns="0" bIns="0">
            <a:spAutoFit/>
          </a:bodyPr>
          <a:lstStyle>
            <a:lvl1pPr>
              <a:defRPr sz="4000" b="1" i="0">
                <a:solidFill>
                  <a:srgbClr val="FF0000"/>
                </a:solidFill>
                <a:latin typeface="Calibri"/>
                <a:cs typeface="Calibri"/>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3200" b="0" i="0">
                <a:solidFill>
                  <a:schemeClr val="tx1"/>
                </a:solidFill>
                <a:latin typeface="Microsoft Sans Serif"/>
                <a:cs typeface="Microsoft Sans Serif"/>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FF00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Microsoft Sans Serif"/>
                <a:cs typeface="Microsoft Sans Serif"/>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FF0000"/>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FF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50544" y="490550"/>
            <a:ext cx="5840653" cy="1063498"/>
          </a:xfrm>
          <a:prstGeom prst="rect">
            <a:avLst/>
          </a:prstGeom>
        </p:spPr>
        <p:txBody>
          <a:bodyPr wrap="square" lIns="0" tIns="0" rIns="0" bIns="0">
            <a:spAutoFit/>
          </a:bodyPr>
          <a:lstStyle>
            <a:lvl1pPr>
              <a:defRPr sz="4000" b="1" i="0">
                <a:solidFill>
                  <a:srgbClr val="FF0000"/>
                </a:solidFill>
                <a:latin typeface="Calibri"/>
                <a:cs typeface="Calibri"/>
              </a:defRPr>
            </a:lvl1pPr>
          </a:lstStyle>
          <a:p>
            <a:endParaRPr/>
          </a:p>
        </p:txBody>
      </p:sp>
      <p:sp>
        <p:nvSpPr>
          <p:cNvPr id="3" name="Holder 3"/>
          <p:cNvSpPr>
            <a:spLocks noGrp="1"/>
          </p:cNvSpPr>
          <p:nvPr>
            <p:ph type="body" idx="1"/>
          </p:nvPr>
        </p:nvSpPr>
        <p:spPr>
          <a:xfrm>
            <a:off x="793495" y="2249728"/>
            <a:ext cx="4431030" cy="2346325"/>
          </a:xfrm>
          <a:prstGeom prst="rect">
            <a:avLst/>
          </a:prstGeom>
        </p:spPr>
        <p:txBody>
          <a:bodyPr wrap="square" lIns="0" tIns="0" rIns="0" bIns="0">
            <a:spAutoFit/>
          </a:bodyPr>
          <a:lstStyle>
            <a:lvl1pPr>
              <a:defRPr sz="3200" b="0" i="0">
                <a:solidFill>
                  <a:schemeClr val="tx1"/>
                </a:solidFill>
                <a:latin typeface="Microsoft Sans Serif"/>
                <a:cs typeface="Microsoft Sans Serif"/>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5/8/2025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7.jpg"/><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5.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5.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2.jpeg"/><Relationship Id="rId4" Type="http://schemas.openxmlformats.org/officeDocument/2006/relationships/image" Target="../media/image21.jpeg"/></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5.xml"/><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5.xml"/><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5.xml"/><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29.jpe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0.jpe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5.xml"/><Relationship Id="rId4"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3.jpe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4.jp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214287" y="285750"/>
            <a:ext cx="1905" cy="5072380"/>
          </a:xfrm>
          <a:custGeom>
            <a:avLst/>
            <a:gdLst/>
            <a:ahLst/>
            <a:cxnLst/>
            <a:rect l="l" t="t" r="r" b="b"/>
            <a:pathLst>
              <a:path w="1904" h="5072380">
                <a:moveTo>
                  <a:pt x="1587" y="0"/>
                </a:moveTo>
                <a:lnTo>
                  <a:pt x="0" y="5072126"/>
                </a:lnTo>
              </a:path>
            </a:pathLst>
          </a:custGeom>
          <a:ln w="76200">
            <a:solidFill>
              <a:srgbClr val="C00000"/>
            </a:solidFill>
          </a:ln>
        </p:spPr>
        <p:txBody>
          <a:bodyPr wrap="square" lIns="0" tIns="0" rIns="0" bIns="0" rtlCol="0"/>
          <a:lstStyle/>
          <a:p>
            <a:endParaRPr/>
          </a:p>
        </p:txBody>
      </p:sp>
      <p:sp>
        <p:nvSpPr>
          <p:cNvPr id="4" name="object 4"/>
          <p:cNvSpPr/>
          <p:nvPr/>
        </p:nvSpPr>
        <p:spPr>
          <a:xfrm>
            <a:off x="8928100" y="285750"/>
            <a:ext cx="1905" cy="6120130"/>
          </a:xfrm>
          <a:custGeom>
            <a:avLst/>
            <a:gdLst/>
            <a:ahLst/>
            <a:cxnLst/>
            <a:rect l="l" t="t" r="r" b="b"/>
            <a:pathLst>
              <a:path w="1904" h="6120130">
                <a:moveTo>
                  <a:pt x="1650" y="0"/>
                </a:moveTo>
                <a:lnTo>
                  <a:pt x="0" y="6119977"/>
                </a:lnTo>
              </a:path>
            </a:pathLst>
          </a:custGeom>
          <a:ln w="76200">
            <a:solidFill>
              <a:srgbClr val="C00000"/>
            </a:solidFill>
          </a:ln>
        </p:spPr>
        <p:txBody>
          <a:bodyPr wrap="square" lIns="0" tIns="0" rIns="0" bIns="0" rtlCol="0"/>
          <a:lstStyle/>
          <a:p>
            <a:endParaRPr/>
          </a:p>
        </p:txBody>
      </p:sp>
      <p:sp>
        <p:nvSpPr>
          <p:cNvPr id="5" name="object 5"/>
          <p:cNvSpPr/>
          <p:nvPr/>
        </p:nvSpPr>
        <p:spPr>
          <a:xfrm>
            <a:off x="1857375" y="6357963"/>
            <a:ext cx="6948170" cy="1905"/>
          </a:xfrm>
          <a:custGeom>
            <a:avLst/>
            <a:gdLst/>
            <a:ahLst/>
            <a:cxnLst/>
            <a:rect l="l" t="t" r="r" b="b"/>
            <a:pathLst>
              <a:path w="6948170" h="1904">
                <a:moveTo>
                  <a:pt x="0" y="0"/>
                </a:moveTo>
                <a:lnTo>
                  <a:pt x="6948043" y="1587"/>
                </a:lnTo>
              </a:path>
            </a:pathLst>
          </a:custGeom>
          <a:ln w="76200">
            <a:solidFill>
              <a:srgbClr val="C00000"/>
            </a:solidFill>
          </a:ln>
        </p:spPr>
        <p:txBody>
          <a:bodyPr wrap="square" lIns="0" tIns="0" rIns="0" bIns="0" rtlCol="0"/>
          <a:lstStyle/>
          <a:p>
            <a:endParaRPr/>
          </a:p>
        </p:txBody>
      </p:sp>
      <p:sp>
        <p:nvSpPr>
          <p:cNvPr id="6" name="object 6"/>
          <p:cNvSpPr/>
          <p:nvPr/>
        </p:nvSpPr>
        <p:spPr>
          <a:xfrm>
            <a:off x="357162" y="334009"/>
            <a:ext cx="8424545" cy="1905"/>
          </a:xfrm>
          <a:custGeom>
            <a:avLst/>
            <a:gdLst/>
            <a:ahLst/>
            <a:cxnLst/>
            <a:rect l="l" t="t" r="r" b="b"/>
            <a:pathLst>
              <a:path w="8424545" h="1904">
                <a:moveTo>
                  <a:pt x="0" y="0"/>
                </a:moveTo>
                <a:lnTo>
                  <a:pt x="8423998" y="1650"/>
                </a:lnTo>
              </a:path>
            </a:pathLst>
          </a:custGeom>
          <a:ln w="76200">
            <a:solidFill>
              <a:srgbClr val="C00000"/>
            </a:solidFill>
          </a:ln>
        </p:spPr>
        <p:txBody>
          <a:bodyPr wrap="square" lIns="0" tIns="0" rIns="0" bIns="0" rtlCol="0"/>
          <a:lstStyle/>
          <a:p>
            <a:endParaRPr/>
          </a:p>
        </p:txBody>
      </p:sp>
      <p:sp>
        <p:nvSpPr>
          <p:cNvPr id="8" name="Metin kutusu 7">
            <a:extLst>
              <a:ext uri="{FF2B5EF4-FFF2-40B4-BE49-F238E27FC236}">
                <a16:creationId xmlns:a16="http://schemas.microsoft.com/office/drawing/2014/main" id="{9798AD64-B1D9-93FE-73F3-2D5C4440B99D}"/>
              </a:ext>
            </a:extLst>
          </p:cNvPr>
          <p:cNvSpPr txBox="1"/>
          <p:nvPr/>
        </p:nvSpPr>
        <p:spPr>
          <a:xfrm>
            <a:off x="533400" y="685800"/>
            <a:ext cx="7956024" cy="861774"/>
          </a:xfrm>
          <a:prstGeom prst="rect">
            <a:avLst/>
          </a:prstGeom>
          <a:noFill/>
        </p:spPr>
        <p:txBody>
          <a:bodyPr wrap="none" rtlCol="0">
            <a:spAutoFit/>
          </a:bodyPr>
          <a:lstStyle/>
          <a:p>
            <a:pPr rtl="0"/>
            <a:r>
              <a:rPr lang="tr-TR" sz="3200" b="1" dirty="0">
                <a:solidFill>
                  <a:srgbClr val="C00000"/>
                </a:solidFill>
              </a:rPr>
              <a:t>KIZILAY İLE GÖNÜLLÜLÜK DENEYİMİM</a:t>
            </a:r>
          </a:p>
          <a:p>
            <a:endParaRPr lang="tr-TR" dirty="0"/>
          </a:p>
        </p:txBody>
      </p:sp>
      <p:sp>
        <p:nvSpPr>
          <p:cNvPr id="7" name="Metin kutusu 6">
            <a:extLst>
              <a:ext uri="{FF2B5EF4-FFF2-40B4-BE49-F238E27FC236}">
                <a16:creationId xmlns:a16="http://schemas.microsoft.com/office/drawing/2014/main" id="{CB7562AD-9FD6-18CF-F14B-7A2E643E164E}"/>
              </a:ext>
            </a:extLst>
          </p:cNvPr>
          <p:cNvSpPr txBox="1"/>
          <p:nvPr/>
        </p:nvSpPr>
        <p:spPr>
          <a:xfrm>
            <a:off x="533400" y="1486019"/>
            <a:ext cx="7290778" cy="738664"/>
          </a:xfrm>
          <a:prstGeom prst="rect">
            <a:avLst/>
          </a:prstGeom>
          <a:noFill/>
        </p:spPr>
        <p:txBody>
          <a:bodyPr wrap="none" rtlCol="0">
            <a:spAutoFit/>
          </a:bodyPr>
          <a:lstStyle/>
          <a:p>
            <a:pPr rtl="0"/>
            <a:r>
              <a:rPr lang="tr-TR" sz="2400" dirty="0"/>
              <a:t>PES140 Gönüllülük Çalışmaları Dersi Final Sunumu</a:t>
            </a:r>
          </a:p>
          <a:p>
            <a:endParaRPr lang="tr-TR" dirty="0"/>
          </a:p>
        </p:txBody>
      </p:sp>
      <p:sp>
        <p:nvSpPr>
          <p:cNvPr id="10" name="Metin kutusu 9">
            <a:extLst>
              <a:ext uri="{FF2B5EF4-FFF2-40B4-BE49-F238E27FC236}">
                <a16:creationId xmlns:a16="http://schemas.microsoft.com/office/drawing/2014/main" id="{47B09DAE-81A1-A932-8579-207C160B3938}"/>
              </a:ext>
            </a:extLst>
          </p:cNvPr>
          <p:cNvSpPr txBox="1"/>
          <p:nvPr/>
        </p:nvSpPr>
        <p:spPr>
          <a:xfrm>
            <a:off x="511277" y="2083276"/>
            <a:ext cx="4570095" cy="738664"/>
          </a:xfrm>
          <a:prstGeom prst="rect">
            <a:avLst/>
          </a:prstGeom>
          <a:noFill/>
        </p:spPr>
        <p:txBody>
          <a:bodyPr wrap="square" rtlCol="0">
            <a:spAutoFit/>
          </a:bodyPr>
          <a:lstStyle/>
          <a:p>
            <a:pPr rtl="0"/>
            <a:r>
              <a:rPr lang="tr-TR" sz="2400" dirty="0"/>
              <a:t>Fatih Emre OĞAN</a:t>
            </a:r>
          </a:p>
          <a:p>
            <a:endParaRPr lang="tr-TR" dirty="0"/>
          </a:p>
        </p:txBody>
      </p:sp>
      <p:sp>
        <p:nvSpPr>
          <p:cNvPr id="11" name="Metin kutusu 10">
            <a:extLst>
              <a:ext uri="{FF2B5EF4-FFF2-40B4-BE49-F238E27FC236}">
                <a16:creationId xmlns:a16="http://schemas.microsoft.com/office/drawing/2014/main" id="{B60E74EA-BD6A-389C-999A-5AEBBFEAB256}"/>
              </a:ext>
            </a:extLst>
          </p:cNvPr>
          <p:cNvSpPr txBox="1"/>
          <p:nvPr/>
        </p:nvSpPr>
        <p:spPr>
          <a:xfrm>
            <a:off x="508819" y="2736278"/>
            <a:ext cx="1826895" cy="677108"/>
          </a:xfrm>
          <a:prstGeom prst="rect">
            <a:avLst/>
          </a:prstGeom>
          <a:noFill/>
        </p:spPr>
        <p:txBody>
          <a:bodyPr wrap="square" rtlCol="0">
            <a:spAutoFit/>
          </a:bodyPr>
          <a:lstStyle/>
          <a:p>
            <a:pPr rtl="0"/>
            <a:r>
              <a:rPr lang="tr-TR" sz="2000" dirty="0"/>
              <a:t>9 Mayıs 2025</a:t>
            </a:r>
          </a:p>
          <a:p>
            <a:endParaRPr lang="tr-TR" dirty="0"/>
          </a:p>
        </p:txBody>
      </p:sp>
      <p:pic>
        <p:nvPicPr>
          <p:cNvPr id="12" name="object 7">
            <a:extLst>
              <a:ext uri="{FF2B5EF4-FFF2-40B4-BE49-F238E27FC236}">
                <a16:creationId xmlns:a16="http://schemas.microsoft.com/office/drawing/2014/main" id="{6BF1EDCC-06DF-5EFE-89DE-0F353B94D50B}"/>
              </a:ext>
            </a:extLst>
          </p:cNvPr>
          <p:cNvPicPr/>
          <p:nvPr/>
        </p:nvPicPr>
        <p:blipFill>
          <a:blip r:embed="rId2" cstate="print"/>
          <a:stretch>
            <a:fillRect/>
          </a:stretch>
        </p:blipFill>
        <p:spPr>
          <a:xfrm>
            <a:off x="3129911" y="2144831"/>
            <a:ext cx="5675505" cy="3624690"/>
          </a:xfrm>
          <a:prstGeom prst="rect">
            <a:avLst/>
          </a:prstGeom>
        </p:spPr>
      </p:pic>
      <p:pic>
        <p:nvPicPr>
          <p:cNvPr id="9" name="Resim 8">
            <a:extLst>
              <a:ext uri="{FF2B5EF4-FFF2-40B4-BE49-F238E27FC236}">
                <a16:creationId xmlns:a16="http://schemas.microsoft.com/office/drawing/2014/main" id="{9153FEDF-BFB7-DE97-8BA3-7B78BEF2AA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0291" y="5222304"/>
            <a:ext cx="1255499" cy="1368151"/>
          </a:xfrm>
          <a:prstGeom prst="rect">
            <a:avLst/>
          </a:prstGeom>
        </p:spPr>
      </p:pic>
      <p:pic>
        <p:nvPicPr>
          <p:cNvPr id="2" name="Resim 1">
            <a:extLst>
              <a:ext uri="{FF2B5EF4-FFF2-40B4-BE49-F238E27FC236}">
                <a16:creationId xmlns:a16="http://schemas.microsoft.com/office/drawing/2014/main" id="{270A2867-2D8D-8603-1435-0DBB20365E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2691" y="5374704"/>
            <a:ext cx="1255499" cy="13681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2911" y="11759"/>
            <a:ext cx="3159455" cy="1051236"/>
          </a:xfrm>
          <a:prstGeom prst="rect">
            <a:avLst/>
          </a:prstGeom>
        </p:spPr>
        <p:txBody>
          <a:bodyPr vert="horz" wrap="square" lIns="0" tIns="492429" rIns="0" bIns="0" rtlCol="0">
            <a:spAutoFit/>
          </a:bodyPr>
          <a:lstStyle/>
          <a:p>
            <a:pPr marL="440690">
              <a:lnSpc>
                <a:spcPct val="100000"/>
              </a:lnSpc>
              <a:spcBef>
                <a:spcPts val="100"/>
              </a:spcBef>
            </a:pPr>
            <a:r>
              <a:rPr sz="3600" spc="-50" dirty="0">
                <a:latin typeface="Arial"/>
                <a:cs typeface="Arial"/>
              </a:rPr>
              <a:t>TARİHÇE</a:t>
            </a:r>
            <a:endParaRPr sz="3600" dirty="0">
              <a:latin typeface="Arial"/>
              <a:cs typeface="Arial"/>
            </a:endParaRPr>
          </a:p>
        </p:txBody>
      </p:sp>
      <p:sp>
        <p:nvSpPr>
          <p:cNvPr id="3" name="object 3"/>
          <p:cNvSpPr txBox="1"/>
          <p:nvPr/>
        </p:nvSpPr>
        <p:spPr>
          <a:xfrm>
            <a:off x="1066800" y="1667677"/>
            <a:ext cx="3873907" cy="1858842"/>
          </a:xfrm>
          <a:prstGeom prst="rect">
            <a:avLst/>
          </a:prstGeom>
        </p:spPr>
        <p:txBody>
          <a:bodyPr vert="horz" wrap="square" lIns="0" tIns="12065" rIns="0" bIns="0" rtlCol="0">
            <a:spAutoFit/>
          </a:bodyPr>
          <a:lstStyle/>
          <a:p>
            <a:pPr marL="12700">
              <a:lnSpc>
                <a:spcPct val="100000"/>
              </a:lnSpc>
              <a:spcBef>
                <a:spcPts val="95"/>
              </a:spcBef>
            </a:pPr>
            <a:r>
              <a:rPr lang="tr-TR" sz="2400" b="1" i="0" u="sng" dirty="0">
                <a:solidFill>
                  <a:srgbClr val="FF0000"/>
                </a:solidFill>
                <a:effectLst/>
                <a:latin typeface="Open Sans" panose="020F0502020204030204" pitchFamily="34" charset="0"/>
              </a:rPr>
              <a:t>KIZILAY</a:t>
            </a:r>
            <a:r>
              <a:rPr lang="tr-TR" sz="2400" b="0" i="0" dirty="0">
                <a:solidFill>
                  <a:srgbClr val="666666"/>
                </a:solidFill>
                <a:effectLst/>
                <a:latin typeface="Open Sans" panose="020F0502020204030204" pitchFamily="34" charset="0"/>
              </a:rPr>
              <a:t> 1868 yılında ‘</a:t>
            </a:r>
            <a:r>
              <a:rPr lang="tr-TR" sz="2400" b="1" i="0" dirty="0">
                <a:solidFill>
                  <a:srgbClr val="666666"/>
                </a:solidFill>
                <a:effectLst/>
                <a:latin typeface="Open Sans" panose="020F0502020204030204" pitchFamily="34" charset="0"/>
              </a:rPr>
              <a:t>’Osmanlı Yaralı ve Hasta Askerlere Yardım Cemiyeti</a:t>
            </a:r>
            <a:r>
              <a:rPr lang="tr-TR" sz="2400" i="0" dirty="0">
                <a:solidFill>
                  <a:srgbClr val="666666"/>
                </a:solidFill>
                <a:effectLst/>
                <a:latin typeface="Open Sans" panose="020F0502020204030204" pitchFamily="34" charset="0"/>
              </a:rPr>
              <a:t>’’ adıyla kurulmuştur. </a:t>
            </a:r>
            <a:endParaRPr sz="2400" dirty="0">
              <a:latin typeface="Microsoft Sans Serif"/>
              <a:cs typeface="Microsoft Sans Serif"/>
            </a:endParaRPr>
          </a:p>
        </p:txBody>
      </p:sp>
      <p:pic>
        <p:nvPicPr>
          <p:cNvPr id="4" name="object 4"/>
          <p:cNvPicPr/>
          <p:nvPr/>
        </p:nvPicPr>
        <p:blipFill>
          <a:blip r:embed="rId2" cstate="print"/>
          <a:stretch>
            <a:fillRect/>
          </a:stretch>
        </p:blipFill>
        <p:spPr>
          <a:xfrm>
            <a:off x="5082635" y="1578358"/>
            <a:ext cx="3357092" cy="2290638"/>
          </a:xfrm>
          <a:prstGeom prst="rect">
            <a:avLst/>
          </a:prstGeom>
        </p:spPr>
      </p:pic>
      <p:sp>
        <p:nvSpPr>
          <p:cNvPr id="5" name="object 5"/>
          <p:cNvSpPr/>
          <p:nvPr/>
        </p:nvSpPr>
        <p:spPr>
          <a:xfrm>
            <a:off x="8928100" y="1280794"/>
            <a:ext cx="1905" cy="5220335"/>
          </a:xfrm>
          <a:custGeom>
            <a:avLst/>
            <a:gdLst/>
            <a:ahLst/>
            <a:cxnLst/>
            <a:rect l="l" t="t" r="r" b="b"/>
            <a:pathLst>
              <a:path w="1904" h="5220335">
                <a:moveTo>
                  <a:pt x="1650" y="0"/>
                </a:moveTo>
                <a:lnTo>
                  <a:pt x="0" y="5220042"/>
                </a:lnTo>
              </a:path>
            </a:pathLst>
          </a:custGeom>
          <a:ln w="76200">
            <a:solidFill>
              <a:srgbClr val="C00000"/>
            </a:solidFill>
          </a:ln>
        </p:spPr>
        <p:txBody>
          <a:bodyPr wrap="square" lIns="0" tIns="0" rIns="0" bIns="0" rtlCol="0"/>
          <a:lstStyle/>
          <a:p>
            <a:endParaRPr/>
          </a:p>
        </p:txBody>
      </p:sp>
      <p:sp>
        <p:nvSpPr>
          <p:cNvPr id="7" name="object 7"/>
          <p:cNvSpPr/>
          <p:nvPr/>
        </p:nvSpPr>
        <p:spPr>
          <a:xfrm>
            <a:off x="369582" y="268478"/>
            <a:ext cx="7560309" cy="1905"/>
          </a:xfrm>
          <a:custGeom>
            <a:avLst/>
            <a:gdLst/>
            <a:ahLst/>
            <a:cxnLst/>
            <a:rect l="l" t="t" r="r" b="b"/>
            <a:pathLst>
              <a:path w="7560309" h="1904">
                <a:moveTo>
                  <a:pt x="0" y="0"/>
                </a:moveTo>
                <a:lnTo>
                  <a:pt x="7560043" y="1650"/>
                </a:lnTo>
              </a:path>
            </a:pathLst>
          </a:custGeom>
          <a:ln w="76200">
            <a:solidFill>
              <a:srgbClr val="C00000"/>
            </a:solidFill>
          </a:ln>
        </p:spPr>
        <p:txBody>
          <a:bodyPr wrap="square" lIns="0" tIns="0" rIns="0" bIns="0" rtlCol="0"/>
          <a:lstStyle/>
          <a:p>
            <a:endParaRPr/>
          </a:p>
        </p:txBody>
      </p:sp>
      <p:sp>
        <p:nvSpPr>
          <p:cNvPr id="10" name="object 10"/>
          <p:cNvSpPr/>
          <p:nvPr/>
        </p:nvSpPr>
        <p:spPr>
          <a:xfrm>
            <a:off x="214287" y="242188"/>
            <a:ext cx="8591550" cy="6187440"/>
          </a:xfrm>
          <a:custGeom>
            <a:avLst/>
            <a:gdLst/>
            <a:ahLst/>
            <a:cxnLst/>
            <a:rect l="l" t="t" r="r" b="b"/>
            <a:pathLst>
              <a:path w="8591550" h="6187440">
                <a:moveTo>
                  <a:pt x="1587" y="0"/>
                </a:moveTo>
                <a:lnTo>
                  <a:pt x="0" y="5072125"/>
                </a:lnTo>
              </a:path>
              <a:path w="8591550" h="6187440">
                <a:moveTo>
                  <a:pt x="1643087" y="6185623"/>
                </a:moveTo>
                <a:lnTo>
                  <a:pt x="8591130" y="6187211"/>
                </a:lnTo>
              </a:path>
            </a:pathLst>
          </a:custGeom>
          <a:ln w="76200">
            <a:solidFill>
              <a:srgbClr val="C00000"/>
            </a:solidFill>
          </a:ln>
        </p:spPr>
        <p:txBody>
          <a:bodyPr wrap="square" lIns="0" tIns="0" rIns="0" bIns="0" rtlCol="0"/>
          <a:lstStyle/>
          <a:p>
            <a:endParaRPr/>
          </a:p>
        </p:txBody>
      </p:sp>
      <p:pic>
        <p:nvPicPr>
          <p:cNvPr id="9" name="Resim 8">
            <a:extLst>
              <a:ext uri="{FF2B5EF4-FFF2-40B4-BE49-F238E27FC236}">
                <a16:creationId xmlns:a16="http://schemas.microsoft.com/office/drawing/2014/main" id="{6A003CAC-DEE9-4944-1B79-755E4A89B59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88501" y="1111"/>
            <a:ext cx="1255499" cy="1368151"/>
          </a:xfrm>
          <a:prstGeom prst="rect">
            <a:avLst/>
          </a:prstGeom>
        </p:spPr>
      </p:pic>
      <p:pic>
        <p:nvPicPr>
          <p:cNvPr id="11" name="Resim 10">
            <a:extLst>
              <a:ext uri="{FF2B5EF4-FFF2-40B4-BE49-F238E27FC236}">
                <a16:creationId xmlns:a16="http://schemas.microsoft.com/office/drawing/2014/main" id="{E5788D34-98CF-DEE5-8D07-9061ED02C9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8163" y="5221371"/>
            <a:ext cx="1255499" cy="136815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3030" rIns="0" bIns="0" rtlCol="0">
            <a:spAutoFit/>
          </a:bodyPr>
          <a:lstStyle/>
          <a:p>
            <a:pPr marL="372110">
              <a:lnSpc>
                <a:spcPct val="100000"/>
              </a:lnSpc>
              <a:spcBef>
                <a:spcPts val="110"/>
              </a:spcBef>
            </a:pPr>
            <a:r>
              <a:rPr spc="-45" dirty="0">
                <a:latin typeface="Arial"/>
                <a:cs typeface="Arial"/>
              </a:rPr>
              <a:t>KIZILAY</a:t>
            </a:r>
            <a:r>
              <a:rPr spc="-225" dirty="0">
                <a:latin typeface="Arial"/>
                <a:cs typeface="Arial"/>
              </a:rPr>
              <a:t> </a:t>
            </a:r>
            <a:r>
              <a:rPr spc="-10" dirty="0">
                <a:latin typeface="Arial"/>
                <a:cs typeface="Arial"/>
              </a:rPr>
              <a:t>KURUCULARI</a:t>
            </a:r>
          </a:p>
        </p:txBody>
      </p:sp>
      <p:pic>
        <p:nvPicPr>
          <p:cNvPr id="3" name="object 3"/>
          <p:cNvPicPr/>
          <p:nvPr/>
        </p:nvPicPr>
        <p:blipFill>
          <a:blip r:embed="rId2" cstate="print"/>
          <a:stretch>
            <a:fillRect/>
          </a:stretch>
        </p:blipFill>
        <p:spPr>
          <a:xfrm>
            <a:off x="1357249" y="2071751"/>
            <a:ext cx="1424432" cy="1799971"/>
          </a:xfrm>
          <a:prstGeom prst="rect">
            <a:avLst/>
          </a:prstGeom>
        </p:spPr>
      </p:pic>
      <p:sp>
        <p:nvSpPr>
          <p:cNvPr id="4" name="object 4"/>
          <p:cNvSpPr txBox="1"/>
          <p:nvPr/>
        </p:nvSpPr>
        <p:spPr>
          <a:xfrm>
            <a:off x="1514602" y="3959174"/>
            <a:ext cx="1092835" cy="208915"/>
          </a:xfrm>
          <a:prstGeom prst="rect">
            <a:avLst/>
          </a:prstGeom>
        </p:spPr>
        <p:txBody>
          <a:bodyPr vert="horz" wrap="square" lIns="0" tIns="12700" rIns="0" bIns="0" rtlCol="0">
            <a:spAutoFit/>
          </a:bodyPr>
          <a:lstStyle/>
          <a:p>
            <a:pPr marL="12700">
              <a:lnSpc>
                <a:spcPct val="100000"/>
              </a:lnSpc>
              <a:spcBef>
                <a:spcPts val="100"/>
              </a:spcBef>
            </a:pPr>
            <a:r>
              <a:rPr sz="1200" spc="-10" dirty="0">
                <a:latin typeface="Franklin Gothic Medium"/>
                <a:cs typeface="Franklin Gothic Medium"/>
              </a:rPr>
              <a:t>Dr.</a:t>
            </a:r>
            <a:r>
              <a:rPr sz="1200" spc="-60" dirty="0">
                <a:latin typeface="Franklin Gothic Medium"/>
                <a:cs typeface="Franklin Gothic Medium"/>
              </a:rPr>
              <a:t> </a:t>
            </a:r>
            <a:r>
              <a:rPr sz="1200" dirty="0">
                <a:latin typeface="Franklin Gothic Medium"/>
                <a:cs typeface="Franklin Gothic Medium"/>
              </a:rPr>
              <a:t>Abdullah</a:t>
            </a:r>
            <a:r>
              <a:rPr sz="1200" spc="-25" dirty="0">
                <a:latin typeface="Franklin Gothic Medium"/>
                <a:cs typeface="Franklin Gothic Medium"/>
              </a:rPr>
              <a:t> Bey</a:t>
            </a:r>
            <a:endParaRPr sz="1200">
              <a:latin typeface="Franklin Gothic Medium"/>
              <a:cs typeface="Franklin Gothic Medium"/>
            </a:endParaRPr>
          </a:p>
        </p:txBody>
      </p:sp>
      <p:pic>
        <p:nvPicPr>
          <p:cNvPr id="5" name="object 5"/>
          <p:cNvPicPr/>
          <p:nvPr/>
        </p:nvPicPr>
        <p:blipFill>
          <a:blip r:embed="rId3" cstate="print"/>
          <a:stretch>
            <a:fillRect/>
          </a:stretch>
        </p:blipFill>
        <p:spPr>
          <a:xfrm>
            <a:off x="3060573" y="2074798"/>
            <a:ext cx="1297051" cy="1796923"/>
          </a:xfrm>
          <a:prstGeom prst="rect">
            <a:avLst/>
          </a:prstGeom>
        </p:spPr>
      </p:pic>
      <p:sp>
        <p:nvSpPr>
          <p:cNvPr id="6" name="object 6"/>
          <p:cNvSpPr txBox="1"/>
          <p:nvPr/>
        </p:nvSpPr>
        <p:spPr>
          <a:xfrm>
            <a:off x="3167633" y="3948810"/>
            <a:ext cx="102235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Franklin Gothic Medium"/>
                <a:cs typeface="Franklin Gothic Medium"/>
              </a:rPr>
              <a:t>Dr.</a:t>
            </a:r>
            <a:r>
              <a:rPr sz="1200" spc="-60" dirty="0">
                <a:latin typeface="Franklin Gothic Medium"/>
                <a:cs typeface="Franklin Gothic Medium"/>
              </a:rPr>
              <a:t> </a:t>
            </a:r>
            <a:r>
              <a:rPr sz="1200" dirty="0">
                <a:latin typeface="Franklin Gothic Medium"/>
                <a:cs typeface="Franklin Gothic Medium"/>
              </a:rPr>
              <a:t>Marko</a:t>
            </a:r>
            <a:r>
              <a:rPr sz="1200" spc="-30" dirty="0">
                <a:latin typeface="Franklin Gothic Medium"/>
                <a:cs typeface="Franklin Gothic Medium"/>
              </a:rPr>
              <a:t> </a:t>
            </a:r>
            <a:r>
              <a:rPr sz="1200" spc="-20" dirty="0">
                <a:latin typeface="Franklin Gothic Medium"/>
                <a:cs typeface="Franklin Gothic Medium"/>
              </a:rPr>
              <a:t>Paşa</a:t>
            </a:r>
            <a:endParaRPr sz="1200">
              <a:latin typeface="Franklin Gothic Medium"/>
              <a:cs typeface="Franklin Gothic Medium"/>
            </a:endParaRPr>
          </a:p>
        </p:txBody>
      </p:sp>
      <p:pic>
        <p:nvPicPr>
          <p:cNvPr id="7" name="object 7"/>
          <p:cNvPicPr/>
          <p:nvPr/>
        </p:nvPicPr>
        <p:blipFill>
          <a:blip r:embed="rId4" cstate="print"/>
          <a:stretch>
            <a:fillRect/>
          </a:stretch>
        </p:blipFill>
        <p:spPr>
          <a:xfrm>
            <a:off x="4625847" y="2071751"/>
            <a:ext cx="1374902" cy="1799971"/>
          </a:xfrm>
          <a:prstGeom prst="rect">
            <a:avLst/>
          </a:prstGeom>
        </p:spPr>
      </p:pic>
      <p:pic>
        <p:nvPicPr>
          <p:cNvPr id="8" name="object 8"/>
          <p:cNvPicPr/>
          <p:nvPr/>
        </p:nvPicPr>
        <p:blipFill>
          <a:blip r:embed="rId5" cstate="print"/>
          <a:stretch>
            <a:fillRect/>
          </a:stretch>
        </p:blipFill>
        <p:spPr>
          <a:xfrm>
            <a:off x="6485001" y="2084451"/>
            <a:ext cx="1373124" cy="1799971"/>
          </a:xfrm>
          <a:prstGeom prst="rect">
            <a:avLst/>
          </a:prstGeom>
        </p:spPr>
      </p:pic>
      <p:sp>
        <p:nvSpPr>
          <p:cNvPr id="9" name="object 9"/>
          <p:cNvSpPr txBox="1"/>
          <p:nvPr/>
        </p:nvSpPr>
        <p:spPr>
          <a:xfrm>
            <a:off x="4694301" y="3958285"/>
            <a:ext cx="1233170" cy="208915"/>
          </a:xfrm>
          <a:prstGeom prst="rect">
            <a:avLst/>
          </a:prstGeom>
        </p:spPr>
        <p:txBody>
          <a:bodyPr vert="horz" wrap="square" lIns="0" tIns="12700" rIns="0" bIns="0" rtlCol="0">
            <a:spAutoFit/>
          </a:bodyPr>
          <a:lstStyle/>
          <a:p>
            <a:pPr marL="12700">
              <a:lnSpc>
                <a:spcPct val="100000"/>
              </a:lnSpc>
              <a:spcBef>
                <a:spcPts val="100"/>
              </a:spcBef>
            </a:pPr>
            <a:r>
              <a:rPr sz="1200" spc="-10" dirty="0">
                <a:latin typeface="Franklin Gothic Medium"/>
                <a:cs typeface="Franklin Gothic Medium"/>
              </a:rPr>
              <a:t>Dr.</a:t>
            </a:r>
            <a:r>
              <a:rPr sz="1200" spc="-50" dirty="0">
                <a:latin typeface="Franklin Gothic Medium"/>
                <a:cs typeface="Franklin Gothic Medium"/>
              </a:rPr>
              <a:t> </a:t>
            </a:r>
            <a:r>
              <a:rPr sz="1200" dirty="0">
                <a:latin typeface="Franklin Gothic Medium"/>
                <a:cs typeface="Franklin Gothic Medium"/>
              </a:rPr>
              <a:t>Kırımlı</a:t>
            </a:r>
            <a:r>
              <a:rPr sz="1200" spc="-30" dirty="0">
                <a:latin typeface="Franklin Gothic Medium"/>
                <a:cs typeface="Franklin Gothic Medium"/>
              </a:rPr>
              <a:t> </a:t>
            </a:r>
            <a:r>
              <a:rPr sz="1200" dirty="0">
                <a:latin typeface="Franklin Gothic Medium"/>
                <a:cs typeface="Franklin Gothic Medium"/>
              </a:rPr>
              <a:t>Aziz</a:t>
            </a:r>
            <a:r>
              <a:rPr sz="1200" spc="-30" dirty="0">
                <a:latin typeface="Franklin Gothic Medium"/>
                <a:cs typeface="Franklin Gothic Medium"/>
              </a:rPr>
              <a:t> </a:t>
            </a:r>
            <a:r>
              <a:rPr sz="1200" spc="-25" dirty="0">
                <a:latin typeface="Franklin Gothic Medium"/>
                <a:cs typeface="Franklin Gothic Medium"/>
              </a:rPr>
              <a:t>Bey</a:t>
            </a:r>
            <a:endParaRPr sz="1200">
              <a:latin typeface="Franklin Gothic Medium"/>
              <a:cs typeface="Franklin Gothic Medium"/>
            </a:endParaRPr>
          </a:p>
        </p:txBody>
      </p:sp>
      <p:sp>
        <p:nvSpPr>
          <p:cNvPr id="10" name="object 10"/>
          <p:cNvSpPr txBox="1"/>
          <p:nvPr/>
        </p:nvSpPr>
        <p:spPr>
          <a:xfrm>
            <a:off x="6248146" y="3958285"/>
            <a:ext cx="1795780" cy="208915"/>
          </a:xfrm>
          <a:prstGeom prst="rect">
            <a:avLst/>
          </a:prstGeom>
        </p:spPr>
        <p:txBody>
          <a:bodyPr vert="horz" wrap="square" lIns="0" tIns="12700" rIns="0" bIns="0" rtlCol="0">
            <a:spAutoFit/>
          </a:bodyPr>
          <a:lstStyle/>
          <a:p>
            <a:pPr marL="12700">
              <a:lnSpc>
                <a:spcPct val="100000"/>
              </a:lnSpc>
              <a:spcBef>
                <a:spcPts val="100"/>
              </a:spcBef>
            </a:pPr>
            <a:r>
              <a:rPr sz="1200" spc="-10" dirty="0">
                <a:latin typeface="Franklin Gothic Medium"/>
                <a:cs typeface="Franklin Gothic Medium"/>
              </a:rPr>
              <a:t>Serdar-</a:t>
            </a:r>
            <a:r>
              <a:rPr sz="1200" dirty="0">
                <a:latin typeface="Franklin Gothic Medium"/>
                <a:cs typeface="Franklin Gothic Medium"/>
              </a:rPr>
              <a:t>ı</a:t>
            </a:r>
            <a:r>
              <a:rPr sz="1200" spc="-50" dirty="0">
                <a:latin typeface="Franklin Gothic Medium"/>
                <a:cs typeface="Franklin Gothic Medium"/>
              </a:rPr>
              <a:t> </a:t>
            </a:r>
            <a:r>
              <a:rPr sz="1200" dirty="0">
                <a:latin typeface="Franklin Gothic Medium"/>
                <a:cs typeface="Franklin Gothic Medium"/>
              </a:rPr>
              <a:t>Ekrem</a:t>
            </a:r>
            <a:r>
              <a:rPr sz="1200" spc="265" dirty="0">
                <a:latin typeface="Franklin Gothic Medium"/>
                <a:cs typeface="Franklin Gothic Medium"/>
              </a:rPr>
              <a:t> </a:t>
            </a:r>
            <a:r>
              <a:rPr sz="1200" dirty="0">
                <a:latin typeface="Franklin Gothic Medium"/>
                <a:cs typeface="Franklin Gothic Medium"/>
              </a:rPr>
              <a:t>Ömer</a:t>
            </a:r>
            <a:r>
              <a:rPr sz="1200" spc="-10" dirty="0">
                <a:latin typeface="Franklin Gothic Medium"/>
                <a:cs typeface="Franklin Gothic Medium"/>
              </a:rPr>
              <a:t> </a:t>
            </a:r>
            <a:r>
              <a:rPr sz="1200" spc="-20" dirty="0">
                <a:latin typeface="Franklin Gothic Medium"/>
                <a:cs typeface="Franklin Gothic Medium"/>
              </a:rPr>
              <a:t>Paşa</a:t>
            </a:r>
            <a:endParaRPr sz="1200">
              <a:latin typeface="Franklin Gothic Medium"/>
              <a:cs typeface="Franklin Gothic Medium"/>
            </a:endParaRPr>
          </a:p>
        </p:txBody>
      </p:sp>
      <p:sp>
        <p:nvSpPr>
          <p:cNvPr id="11" name="object 11"/>
          <p:cNvSpPr/>
          <p:nvPr/>
        </p:nvSpPr>
        <p:spPr>
          <a:xfrm>
            <a:off x="8928100" y="1280794"/>
            <a:ext cx="1905" cy="5220335"/>
          </a:xfrm>
          <a:custGeom>
            <a:avLst/>
            <a:gdLst/>
            <a:ahLst/>
            <a:cxnLst/>
            <a:rect l="l" t="t" r="r" b="b"/>
            <a:pathLst>
              <a:path w="1904" h="5220335">
                <a:moveTo>
                  <a:pt x="1650" y="0"/>
                </a:moveTo>
                <a:lnTo>
                  <a:pt x="0" y="5220042"/>
                </a:lnTo>
              </a:path>
            </a:pathLst>
          </a:custGeom>
          <a:ln w="76200">
            <a:solidFill>
              <a:srgbClr val="C00000"/>
            </a:solidFill>
          </a:ln>
        </p:spPr>
        <p:txBody>
          <a:bodyPr wrap="square" lIns="0" tIns="0" rIns="0" bIns="0" rtlCol="0"/>
          <a:lstStyle/>
          <a:p>
            <a:endParaRPr/>
          </a:p>
        </p:txBody>
      </p:sp>
      <p:sp>
        <p:nvSpPr>
          <p:cNvPr id="13" name="object 13"/>
          <p:cNvSpPr/>
          <p:nvPr/>
        </p:nvSpPr>
        <p:spPr>
          <a:xfrm>
            <a:off x="369582" y="268478"/>
            <a:ext cx="7560309" cy="1905"/>
          </a:xfrm>
          <a:custGeom>
            <a:avLst/>
            <a:gdLst/>
            <a:ahLst/>
            <a:cxnLst/>
            <a:rect l="l" t="t" r="r" b="b"/>
            <a:pathLst>
              <a:path w="7560309" h="1904">
                <a:moveTo>
                  <a:pt x="0" y="0"/>
                </a:moveTo>
                <a:lnTo>
                  <a:pt x="7560043" y="1650"/>
                </a:lnTo>
              </a:path>
            </a:pathLst>
          </a:custGeom>
          <a:ln w="76200">
            <a:solidFill>
              <a:srgbClr val="C00000"/>
            </a:solidFill>
          </a:ln>
        </p:spPr>
        <p:txBody>
          <a:bodyPr wrap="square" lIns="0" tIns="0" rIns="0" bIns="0" rtlCol="0"/>
          <a:lstStyle/>
          <a:p>
            <a:endParaRPr/>
          </a:p>
        </p:txBody>
      </p:sp>
      <p:sp>
        <p:nvSpPr>
          <p:cNvPr id="16" name="object 16"/>
          <p:cNvSpPr/>
          <p:nvPr/>
        </p:nvSpPr>
        <p:spPr>
          <a:xfrm>
            <a:off x="214287" y="242188"/>
            <a:ext cx="8591550" cy="6187440"/>
          </a:xfrm>
          <a:custGeom>
            <a:avLst/>
            <a:gdLst/>
            <a:ahLst/>
            <a:cxnLst/>
            <a:rect l="l" t="t" r="r" b="b"/>
            <a:pathLst>
              <a:path w="8591550" h="6187440">
                <a:moveTo>
                  <a:pt x="1587" y="0"/>
                </a:moveTo>
                <a:lnTo>
                  <a:pt x="0" y="5072125"/>
                </a:lnTo>
              </a:path>
              <a:path w="8591550" h="6187440">
                <a:moveTo>
                  <a:pt x="1643087" y="6185623"/>
                </a:moveTo>
                <a:lnTo>
                  <a:pt x="8591130" y="6187211"/>
                </a:lnTo>
              </a:path>
            </a:pathLst>
          </a:custGeom>
          <a:ln w="76200">
            <a:solidFill>
              <a:srgbClr val="C00000"/>
            </a:solidFill>
          </a:ln>
        </p:spPr>
        <p:txBody>
          <a:bodyPr wrap="square" lIns="0" tIns="0" rIns="0" bIns="0" rtlCol="0"/>
          <a:lstStyle/>
          <a:p>
            <a:endParaRPr/>
          </a:p>
        </p:txBody>
      </p:sp>
      <p:pic>
        <p:nvPicPr>
          <p:cNvPr id="15" name="Resim 14">
            <a:extLst>
              <a:ext uri="{FF2B5EF4-FFF2-40B4-BE49-F238E27FC236}">
                <a16:creationId xmlns:a16="http://schemas.microsoft.com/office/drawing/2014/main" id="{CEEADF48-A5F2-0525-C60B-27632186297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888501" y="0"/>
            <a:ext cx="1255499" cy="1368151"/>
          </a:xfrm>
          <a:prstGeom prst="rect">
            <a:avLst/>
          </a:prstGeom>
        </p:spPr>
      </p:pic>
      <p:pic>
        <p:nvPicPr>
          <p:cNvPr id="17" name="Resim 16">
            <a:extLst>
              <a:ext uri="{FF2B5EF4-FFF2-40B4-BE49-F238E27FC236}">
                <a16:creationId xmlns:a16="http://schemas.microsoft.com/office/drawing/2014/main" id="{DFD00BA4-B8EC-671F-661D-2F38A936CF1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38163" y="5221371"/>
            <a:ext cx="1255499" cy="136815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793495" y="2249728"/>
            <a:ext cx="4431030" cy="2483693"/>
          </a:xfrm>
          <a:prstGeom prst="rect">
            <a:avLst/>
          </a:prstGeom>
        </p:spPr>
        <p:txBody>
          <a:bodyPr vert="horz" wrap="square" lIns="0" tIns="128905" rIns="0" bIns="0" rtlCol="0">
            <a:spAutoFit/>
          </a:bodyPr>
          <a:lstStyle/>
          <a:p>
            <a:pPr marL="12700">
              <a:lnSpc>
                <a:spcPct val="100000"/>
              </a:lnSpc>
              <a:spcBef>
                <a:spcPts val="1015"/>
              </a:spcBef>
            </a:pPr>
            <a:r>
              <a:rPr b="1" u="sng" dirty="0">
                <a:solidFill>
                  <a:srgbClr val="FF0000"/>
                </a:solidFill>
                <a:uFill>
                  <a:solidFill>
                    <a:srgbClr val="FF0000"/>
                  </a:solidFill>
                </a:uFill>
                <a:latin typeface="Arial"/>
                <a:cs typeface="Arial"/>
              </a:rPr>
              <a:t>1935</a:t>
            </a:r>
            <a:r>
              <a:rPr b="1" spc="-25" dirty="0">
                <a:solidFill>
                  <a:srgbClr val="FF0000"/>
                </a:solidFill>
                <a:latin typeface="Arial"/>
                <a:cs typeface="Arial"/>
              </a:rPr>
              <a:t> </a:t>
            </a:r>
            <a:r>
              <a:rPr spc="-10" dirty="0"/>
              <a:t>yılında</a:t>
            </a:r>
          </a:p>
          <a:p>
            <a:pPr marL="12700" marR="5080">
              <a:lnSpc>
                <a:spcPts val="4780"/>
              </a:lnSpc>
              <a:spcBef>
                <a:spcPts val="290"/>
              </a:spcBef>
              <a:tabLst>
                <a:tab pos="1675764" algn="l"/>
                <a:tab pos="3378200" algn="l"/>
              </a:tabLst>
            </a:pPr>
            <a:r>
              <a:rPr spc="-10" dirty="0"/>
              <a:t>Mustafa</a:t>
            </a:r>
            <a:r>
              <a:rPr dirty="0"/>
              <a:t>	Kemal</a:t>
            </a:r>
            <a:r>
              <a:rPr spc="-215" dirty="0"/>
              <a:t> </a:t>
            </a:r>
            <a:r>
              <a:rPr spc="-10" dirty="0"/>
              <a:t>Atatürk </a:t>
            </a:r>
            <a:r>
              <a:rPr dirty="0"/>
              <a:t>derneğe</a:t>
            </a:r>
            <a:r>
              <a:rPr spc="-25" dirty="0"/>
              <a:t> </a:t>
            </a:r>
            <a:r>
              <a:rPr b="1" spc="-10" dirty="0">
                <a:solidFill>
                  <a:srgbClr val="FF0000"/>
                </a:solidFill>
                <a:latin typeface="Arial"/>
                <a:cs typeface="Arial"/>
              </a:rPr>
              <a:t>KIZILAY</a:t>
            </a:r>
            <a:r>
              <a:rPr b="1" dirty="0">
                <a:solidFill>
                  <a:srgbClr val="FF0000"/>
                </a:solidFill>
                <a:latin typeface="Arial"/>
                <a:cs typeface="Arial"/>
              </a:rPr>
              <a:t>	</a:t>
            </a:r>
            <a:r>
              <a:rPr spc="-20" dirty="0" err="1"/>
              <a:t>ismini</a:t>
            </a:r>
            <a:endParaRPr lang="tr-TR" spc="-20" dirty="0"/>
          </a:p>
          <a:p>
            <a:pPr marL="12700" marR="5080">
              <a:lnSpc>
                <a:spcPts val="4780"/>
              </a:lnSpc>
              <a:spcBef>
                <a:spcPts val="290"/>
              </a:spcBef>
              <a:tabLst>
                <a:tab pos="1675764" algn="l"/>
                <a:tab pos="3378200" algn="l"/>
              </a:tabLst>
            </a:pPr>
            <a:r>
              <a:rPr lang="tr-TR" spc="-10" dirty="0"/>
              <a:t>verdi.</a:t>
            </a:r>
          </a:p>
        </p:txBody>
      </p:sp>
      <p:sp>
        <p:nvSpPr>
          <p:cNvPr id="3" name="object 3"/>
          <p:cNvSpPr txBox="1">
            <a:spLocks noGrp="1"/>
          </p:cNvSpPr>
          <p:nvPr>
            <p:ph type="title"/>
          </p:nvPr>
        </p:nvSpPr>
        <p:spPr>
          <a:prstGeom prst="rect">
            <a:avLst/>
          </a:prstGeom>
        </p:spPr>
        <p:txBody>
          <a:bodyPr vert="horz" wrap="square" lIns="0" tIns="227203" rIns="0" bIns="0" rtlCol="0">
            <a:spAutoFit/>
          </a:bodyPr>
          <a:lstStyle/>
          <a:p>
            <a:pPr marL="83820">
              <a:lnSpc>
                <a:spcPct val="100000"/>
              </a:lnSpc>
              <a:spcBef>
                <a:spcPts val="100"/>
              </a:spcBef>
            </a:pPr>
            <a:r>
              <a:rPr sz="5400" spc="-35" dirty="0"/>
              <a:t>KIZILAY</a:t>
            </a:r>
            <a:r>
              <a:rPr sz="5400" spc="-250" dirty="0"/>
              <a:t> </a:t>
            </a:r>
            <a:r>
              <a:rPr sz="5400" spc="-20" dirty="0"/>
              <a:t>İSMİ</a:t>
            </a:r>
            <a:endParaRPr sz="5400"/>
          </a:p>
        </p:txBody>
      </p:sp>
      <p:pic>
        <p:nvPicPr>
          <p:cNvPr id="4" name="object 4"/>
          <p:cNvPicPr/>
          <p:nvPr/>
        </p:nvPicPr>
        <p:blipFill>
          <a:blip r:embed="rId2" cstate="print"/>
          <a:stretch>
            <a:fillRect/>
          </a:stretch>
        </p:blipFill>
        <p:spPr>
          <a:xfrm>
            <a:off x="5680075" y="2071687"/>
            <a:ext cx="2606675" cy="3641725"/>
          </a:xfrm>
          <a:prstGeom prst="rect">
            <a:avLst/>
          </a:prstGeom>
        </p:spPr>
      </p:pic>
      <p:sp>
        <p:nvSpPr>
          <p:cNvPr id="5" name="object 5"/>
          <p:cNvSpPr/>
          <p:nvPr/>
        </p:nvSpPr>
        <p:spPr>
          <a:xfrm>
            <a:off x="8928100" y="1280794"/>
            <a:ext cx="1905" cy="5220335"/>
          </a:xfrm>
          <a:custGeom>
            <a:avLst/>
            <a:gdLst/>
            <a:ahLst/>
            <a:cxnLst/>
            <a:rect l="l" t="t" r="r" b="b"/>
            <a:pathLst>
              <a:path w="1904" h="5220335">
                <a:moveTo>
                  <a:pt x="1650" y="0"/>
                </a:moveTo>
                <a:lnTo>
                  <a:pt x="0" y="5220042"/>
                </a:lnTo>
              </a:path>
            </a:pathLst>
          </a:custGeom>
          <a:ln w="76200">
            <a:solidFill>
              <a:srgbClr val="C00000"/>
            </a:solidFill>
          </a:ln>
        </p:spPr>
        <p:txBody>
          <a:bodyPr wrap="square" lIns="0" tIns="0" rIns="0" bIns="0" rtlCol="0"/>
          <a:lstStyle/>
          <a:p>
            <a:endParaRPr/>
          </a:p>
        </p:txBody>
      </p:sp>
      <p:sp>
        <p:nvSpPr>
          <p:cNvPr id="7" name="object 7"/>
          <p:cNvSpPr/>
          <p:nvPr/>
        </p:nvSpPr>
        <p:spPr>
          <a:xfrm>
            <a:off x="369582" y="268478"/>
            <a:ext cx="7560309" cy="1905"/>
          </a:xfrm>
          <a:custGeom>
            <a:avLst/>
            <a:gdLst/>
            <a:ahLst/>
            <a:cxnLst/>
            <a:rect l="l" t="t" r="r" b="b"/>
            <a:pathLst>
              <a:path w="7560309" h="1904">
                <a:moveTo>
                  <a:pt x="0" y="0"/>
                </a:moveTo>
                <a:lnTo>
                  <a:pt x="7560043" y="1650"/>
                </a:lnTo>
              </a:path>
            </a:pathLst>
          </a:custGeom>
          <a:ln w="76200">
            <a:solidFill>
              <a:srgbClr val="C00000"/>
            </a:solidFill>
          </a:ln>
        </p:spPr>
        <p:txBody>
          <a:bodyPr wrap="square" lIns="0" tIns="0" rIns="0" bIns="0" rtlCol="0"/>
          <a:lstStyle/>
          <a:p>
            <a:endParaRPr/>
          </a:p>
        </p:txBody>
      </p:sp>
      <p:sp>
        <p:nvSpPr>
          <p:cNvPr id="10" name="object 10"/>
          <p:cNvSpPr/>
          <p:nvPr/>
        </p:nvSpPr>
        <p:spPr>
          <a:xfrm>
            <a:off x="214287" y="242188"/>
            <a:ext cx="8591550" cy="6187440"/>
          </a:xfrm>
          <a:custGeom>
            <a:avLst/>
            <a:gdLst/>
            <a:ahLst/>
            <a:cxnLst/>
            <a:rect l="l" t="t" r="r" b="b"/>
            <a:pathLst>
              <a:path w="8591550" h="6187440">
                <a:moveTo>
                  <a:pt x="1587" y="0"/>
                </a:moveTo>
                <a:lnTo>
                  <a:pt x="0" y="5072125"/>
                </a:lnTo>
              </a:path>
              <a:path w="8591550" h="6187440">
                <a:moveTo>
                  <a:pt x="1643087" y="6185623"/>
                </a:moveTo>
                <a:lnTo>
                  <a:pt x="8591130" y="6187211"/>
                </a:lnTo>
              </a:path>
            </a:pathLst>
          </a:custGeom>
          <a:ln w="76200">
            <a:solidFill>
              <a:srgbClr val="C00000"/>
            </a:solidFill>
          </a:ln>
        </p:spPr>
        <p:txBody>
          <a:bodyPr wrap="square" lIns="0" tIns="0" rIns="0" bIns="0" rtlCol="0"/>
          <a:lstStyle/>
          <a:p>
            <a:endParaRPr/>
          </a:p>
        </p:txBody>
      </p:sp>
      <p:pic>
        <p:nvPicPr>
          <p:cNvPr id="9" name="Resim 8">
            <a:extLst>
              <a:ext uri="{FF2B5EF4-FFF2-40B4-BE49-F238E27FC236}">
                <a16:creationId xmlns:a16="http://schemas.microsoft.com/office/drawing/2014/main" id="{1F1BF5FA-C34C-E0C9-BCEB-97B31C2FE0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65706" y="0"/>
            <a:ext cx="1255499" cy="1368151"/>
          </a:xfrm>
          <a:prstGeom prst="rect">
            <a:avLst/>
          </a:prstGeom>
        </p:spPr>
      </p:pic>
      <p:pic>
        <p:nvPicPr>
          <p:cNvPr id="11" name="Resim 10">
            <a:extLst>
              <a:ext uri="{FF2B5EF4-FFF2-40B4-BE49-F238E27FC236}">
                <a16:creationId xmlns:a16="http://schemas.microsoft.com/office/drawing/2014/main" id="{88D15C42-963D-B33E-9B60-15CCF72496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8163" y="5221371"/>
            <a:ext cx="1255499" cy="136815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7766" rIns="0" bIns="0" rtlCol="0">
            <a:spAutoFit/>
          </a:bodyPr>
          <a:lstStyle/>
          <a:p>
            <a:pPr marL="784225">
              <a:lnSpc>
                <a:spcPct val="100000"/>
              </a:lnSpc>
              <a:spcBef>
                <a:spcPts val="100"/>
              </a:spcBef>
            </a:pPr>
            <a:r>
              <a:rPr sz="3600" dirty="0"/>
              <a:t>7</a:t>
            </a:r>
            <a:r>
              <a:rPr sz="3600" spc="-35" dirty="0"/>
              <a:t> </a:t>
            </a:r>
            <a:r>
              <a:rPr sz="3600" dirty="0"/>
              <a:t>TEMEL</a:t>
            </a:r>
            <a:r>
              <a:rPr sz="3600" spc="-5" dirty="0"/>
              <a:t> </a:t>
            </a:r>
            <a:r>
              <a:rPr sz="3600" spc="-20" dirty="0"/>
              <a:t>İLKE</a:t>
            </a:r>
            <a:endParaRPr sz="3600"/>
          </a:p>
        </p:txBody>
      </p:sp>
      <p:sp>
        <p:nvSpPr>
          <p:cNvPr id="3" name="object 3"/>
          <p:cNvSpPr/>
          <p:nvPr/>
        </p:nvSpPr>
        <p:spPr>
          <a:xfrm>
            <a:off x="8928100" y="1280794"/>
            <a:ext cx="1905" cy="5220335"/>
          </a:xfrm>
          <a:custGeom>
            <a:avLst/>
            <a:gdLst/>
            <a:ahLst/>
            <a:cxnLst/>
            <a:rect l="l" t="t" r="r" b="b"/>
            <a:pathLst>
              <a:path w="1904" h="5220335">
                <a:moveTo>
                  <a:pt x="1650" y="0"/>
                </a:moveTo>
                <a:lnTo>
                  <a:pt x="0" y="5220042"/>
                </a:lnTo>
              </a:path>
            </a:pathLst>
          </a:custGeom>
          <a:ln w="76200">
            <a:solidFill>
              <a:srgbClr val="C00000"/>
            </a:solidFill>
          </a:ln>
        </p:spPr>
        <p:txBody>
          <a:bodyPr wrap="square" lIns="0" tIns="0" rIns="0" bIns="0" rtlCol="0"/>
          <a:lstStyle/>
          <a:p>
            <a:endParaRPr/>
          </a:p>
        </p:txBody>
      </p:sp>
      <p:sp>
        <p:nvSpPr>
          <p:cNvPr id="5" name="object 5"/>
          <p:cNvSpPr/>
          <p:nvPr/>
        </p:nvSpPr>
        <p:spPr>
          <a:xfrm>
            <a:off x="369582" y="268478"/>
            <a:ext cx="7560309" cy="1905"/>
          </a:xfrm>
          <a:custGeom>
            <a:avLst/>
            <a:gdLst/>
            <a:ahLst/>
            <a:cxnLst/>
            <a:rect l="l" t="t" r="r" b="b"/>
            <a:pathLst>
              <a:path w="7560309" h="1904">
                <a:moveTo>
                  <a:pt x="0" y="0"/>
                </a:moveTo>
                <a:lnTo>
                  <a:pt x="7560043" y="1650"/>
                </a:lnTo>
              </a:path>
            </a:pathLst>
          </a:custGeom>
          <a:ln w="76200">
            <a:solidFill>
              <a:srgbClr val="C00000"/>
            </a:solidFill>
          </a:ln>
        </p:spPr>
        <p:txBody>
          <a:bodyPr wrap="square" lIns="0" tIns="0" rIns="0" bIns="0" rtlCol="0"/>
          <a:lstStyle/>
          <a:p>
            <a:endParaRPr/>
          </a:p>
        </p:txBody>
      </p:sp>
      <p:grpSp>
        <p:nvGrpSpPr>
          <p:cNvPr id="7" name="object 7"/>
          <p:cNvGrpSpPr/>
          <p:nvPr/>
        </p:nvGrpSpPr>
        <p:grpSpPr>
          <a:xfrm>
            <a:off x="214287" y="242188"/>
            <a:ext cx="8591550" cy="6187440"/>
            <a:chOff x="214287" y="242188"/>
            <a:chExt cx="8591550" cy="6187440"/>
          </a:xfrm>
        </p:grpSpPr>
        <p:sp>
          <p:nvSpPr>
            <p:cNvPr id="8" name="object 8"/>
            <p:cNvSpPr/>
            <p:nvPr/>
          </p:nvSpPr>
          <p:spPr>
            <a:xfrm>
              <a:off x="214287" y="242188"/>
              <a:ext cx="8591550" cy="6187440"/>
            </a:xfrm>
            <a:custGeom>
              <a:avLst/>
              <a:gdLst/>
              <a:ahLst/>
              <a:cxnLst/>
              <a:rect l="l" t="t" r="r" b="b"/>
              <a:pathLst>
                <a:path w="8591550" h="6187440">
                  <a:moveTo>
                    <a:pt x="1587" y="0"/>
                  </a:moveTo>
                  <a:lnTo>
                    <a:pt x="0" y="5072125"/>
                  </a:lnTo>
                </a:path>
                <a:path w="8591550" h="6187440">
                  <a:moveTo>
                    <a:pt x="1643087" y="6185623"/>
                  </a:moveTo>
                  <a:lnTo>
                    <a:pt x="8591130" y="6187211"/>
                  </a:lnTo>
                </a:path>
              </a:pathLst>
            </a:custGeom>
            <a:ln w="76200">
              <a:solidFill>
                <a:srgbClr val="C00000"/>
              </a:solidFill>
            </a:ln>
          </p:spPr>
          <p:txBody>
            <a:bodyPr wrap="square" lIns="0" tIns="0" rIns="0" bIns="0" rtlCol="0"/>
            <a:lstStyle/>
            <a:p>
              <a:endParaRPr/>
            </a:p>
          </p:txBody>
        </p:sp>
        <p:sp>
          <p:nvSpPr>
            <p:cNvPr id="10" name="object 10"/>
            <p:cNvSpPr/>
            <p:nvPr/>
          </p:nvSpPr>
          <p:spPr>
            <a:xfrm>
              <a:off x="2179193" y="3462019"/>
              <a:ext cx="1675764" cy="1438910"/>
            </a:xfrm>
            <a:custGeom>
              <a:avLst/>
              <a:gdLst/>
              <a:ahLst/>
              <a:cxnLst/>
              <a:rect l="l" t="t" r="r" b="b"/>
              <a:pathLst>
                <a:path w="1675764" h="1438910">
                  <a:moveTo>
                    <a:pt x="1315720" y="0"/>
                  </a:moveTo>
                  <a:lnTo>
                    <a:pt x="359663" y="0"/>
                  </a:lnTo>
                  <a:lnTo>
                    <a:pt x="0" y="719327"/>
                  </a:lnTo>
                  <a:lnTo>
                    <a:pt x="359663" y="1438655"/>
                  </a:lnTo>
                  <a:lnTo>
                    <a:pt x="1315720" y="1438655"/>
                  </a:lnTo>
                  <a:lnTo>
                    <a:pt x="1675510" y="719327"/>
                  </a:lnTo>
                  <a:lnTo>
                    <a:pt x="1315720" y="0"/>
                  </a:lnTo>
                  <a:close/>
                </a:path>
              </a:pathLst>
            </a:custGeom>
            <a:solidFill>
              <a:srgbClr val="DE0000"/>
            </a:solidFill>
          </p:spPr>
          <p:txBody>
            <a:bodyPr wrap="square" lIns="0" tIns="0" rIns="0" bIns="0" rtlCol="0"/>
            <a:lstStyle/>
            <a:p>
              <a:endParaRPr/>
            </a:p>
          </p:txBody>
        </p:sp>
      </p:grpSp>
      <p:sp>
        <p:nvSpPr>
          <p:cNvPr id="11" name="object 11"/>
          <p:cNvSpPr txBox="1"/>
          <p:nvPr/>
        </p:nvSpPr>
        <p:spPr>
          <a:xfrm>
            <a:off x="2676905" y="4022216"/>
            <a:ext cx="678180" cy="270510"/>
          </a:xfrm>
          <a:prstGeom prst="rect">
            <a:avLst/>
          </a:prstGeom>
        </p:spPr>
        <p:txBody>
          <a:bodyPr vert="horz" wrap="square" lIns="0" tIns="13335" rIns="0" bIns="0" rtlCol="0">
            <a:spAutoFit/>
          </a:bodyPr>
          <a:lstStyle/>
          <a:p>
            <a:pPr marL="12700">
              <a:lnSpc>
                <a:spcPct val="100000"/>
              </a:lnSpc>
              <a:spcBef>
                <a:spcPts val="105"/>
              </a:spcBef>
            </a:pPr>
            <a:r>
              <a:rPr sz="1600" b="1" spc="-10" dirty="0">
                <a:solidFill>
                  <a:srgbClr val="FFFFFF"/>
                </a:solidFill>
                <a:latin typeface="Calibri"/>
                <a:cs typeface="Calibri"/>
              </a:rPr>
              <a:t>İnsanlık</a:t>
            </a:r>
            <a:endParaRPr sz="1600">
              <a:latin typeface="Calibri"/>
              <a:cs typeface="Calibri"/>
            </a:endParaRPr>
          </a:p>
        </p:txBody>
      </p:sp>
      <p:sp>
        <p:nvSpPr>
          <p:cNvPr id="12" name="object 12"/>
          <p:cNvSpPr/>
          <p:nvPr/>
        </p:nvSpPr>
        <p:spPr>
          <a:xfrm>
            <a:off x="3621023" y="2662047"/>
            <a:ext cx="1675764" cy="1438910"/>
          </a:xfrm>
          <a:custGeom>
            <a:avLst/>
            <a:gdLst/>
            <a:ahLst/>
            <a:cxnLst/>
            <a:rect l="l" t="t" r="r" b="b"/>
            <a:pathLst>
              <a:path w="1675764" h="1438910">
                <a:moveTo>
                  <a:pt x="1315847" y="0"/>
                </a:moveTo>
                <a:lnTo>
                  <a:pt x="359663" y="0"/>
                </a:lnTo>
                <a:lnTo>
                  <a:pt x="0" y="719327"/>
                </a:lnTo>
                <a:lnTo>
                  <a:pt x="359663" y="1438783"/>
                </a:lnTo>
                <a:lnTo>
                  <a:pt x="1315847" y="1438783"/>
                </a:lnTo>
                <a:lnTo>
                  <a:pt x="1675511" y="719327"/>
                </a:lnTo>
                <a:lnTo>
                  <a:pt x="1315847" y="0"/>
                </a:lnTo>
                <a:close/>
              </a:path>
            </a:pathLst>
          </a:custGeom>
          <a:solidFill>
            <a:srgbClr val="FF9933"/>
          </a:solidFill>
        </p:spPr>
        <p:txBody>
          <a:bodyPr wrap="square" lIns="0" tIns="0" rIns="0" bIns="0" rtlCol="0"/>
          <a:lstStyle/>
          <a:p>
            <a:endParaRPr/>
          </a:p>
        </p:txBody>
      </p:sp>
      <p:sp>
        <p:nvSpPr>
          <p:cNvPr id="13" name="object 13"/>
          <p:cNvSpPr txBox="1"/>
          <p:nvPr/>
        </p:nvSpPr>
        <p:spPr>
          <a:xfrm>
            <a:off x="3881373" y="3110230"/>
            <a:ext cx="1152525" cy="496570"/>
          </a:xfrm>
          <a:prstGeom prst="rect">
            <a:avLst/>
          </a:prstGeom>
        </p:spPr>
        <p:txBody>
          <a:bodyPr vert="horz" wrap="square" lIns="0" tIns="35560" rIns="0" bIns="0" rtlCol="0">
            <a:spAutoFit/>
          </a:bodyPr>
          <a:lstStyle/>
          <a:p>
            <a:pPr marL="12700" marR="5080" indent="310515">
              <a:lnSpc>
                <a:spcPts val="1780"/>
              </a:lnSpc>
              <a:spcBef>
                <a:spcPts val="280"/>
              </a:spcBef>
            </a:pPr>
            <a:r>
              <a:rPr sz="1600" b="1" spc="-10" dirty="0">
                <a:latin typeface="Calibri"/>
                <a:cs typeface="Calibri"/>
              </a:rPr>
              <a:t>Ayrım Gözetmemek</a:t>
            </a:r>
            <a:endParaRPr sz="1600">
              <a:latin typeface="Calibri"/>
              <a:cs typeface="Calibri"/>
            </a:endParaRPr>
          </a:p>
        </p:txBody>
      </p:sp>
      <p:sp>
        <p:nvSpPr>
          <p:cNvPr id="14" name="object 14"/>
          <p:cNvSpPr/>
          <p:nvPr/>
        </p:nvSpPr>
        <p:spPr>
          <a:xfrm>
            <a:off x="2179192" y="1871472"/>
            <a:ext cx="1675764" cy="1438910"/>
          </a:xfrm>
          <a:custGeom>
            <a:avLst/>
            <a:gdLst/>
            <a:ahLst/>
            <a:cxnLst/>
            <a:rect l="l" t="t" r="r" b="b"/>
            <a:pathLst>
              <a:path w="1675764" h="1438910">
                <a:moveTo>
                  <a:pt x="1315720" y="0"/>
                </a:moveTo>
                <a:lnTo>
                  <a:pt x="359663" y="0"/>
                </a:lnTo>
                <a:lnTo>
                  <a:pt x="0" y="719327"/>
                </a:lnTo>
                <a:lnTo>
                  <a:pt x="359663" y="1438655"/>
                </a:lnTo>
                <a:lnTo>
                  <a:pt x="1315720" y="1438655"/>
                </a:lnTo>
                <a:lnTo>
                  <a:pt x="1675510" y="719327"/>
                </a:lnTo>
                <a:lnTo>
                  <a:pt x="1315720" y="0"/>
                </a:lnTo>
                <a:close/>
              </a:path>
            </a:pathLst>
          </a:custGeom>
          <a:solidFill>
            <a:srgbClr val="B3A1C6"/>
          </a:solidFill>
        </p:spPr>
        <p:txBody>
          <a:bodyPr wrap="square" lIns="0" tIns="0" rIns="0" bIns="0" rtlCol="0"/>
          <a:lstStyle/>
          <a:p>
            <a:endParaRPr/>
          </a:p>
        </p:txBody>
      </p:sp>
      <p:sp>
        <p:nvSpPr>
          <p:cNvPr id="15" name="object 15"/>
          <p:cNvSpPr txBox="1"/>
          <p:nvPr/>
        </p:nvSpPr>
        <p:spPr>
          <a:xfrm>
            <a:off x="2591561" y="2430856"/>
            <a:ext cx="851535" cy="271145"/>
          </a:xfrm>
          <a:prstGeom prst="rect">
            <a:avLst/>
          </a:prstGeom>
        </p:spPr>
        <p:txBody>
          <a:bodyPr vert="horz" wrap="square" lIns="0" tIns="13970" rIns="0" bIns="0" rtlCol="0">
            <a:spAutoFit/>
          </a:bodyPr>
          <a:lstStyle/>
          <a:p>
            <a:pPr marL="12700">
              <a:lnSpc>
                <a:spcPct val="100000"/>
              </a:lnSpc>
              <a:spcBef>
                <a:spcPts val="110"/>
              </a:spcBef>
            </a:pPr>
            <a:r>
              <a:rPr sz="1600" b="1" spc="-10" dirty="0">
                <a:latin typeface="Calibri"/>
                <a:cs typeface="Calibri"/>
              </a:rPr>
              <a:t>Tarafsızlık</a:t>
            </a:r>
            <a:endParaRPr sz="1600">
              <a:latin typeface="Calibri"/>
              <a:cs typeface="Calibri"/>
            </a:endParaRPr>
          </a:p>
        </p:txBody>
      </p:sp>
      <p:sp>
        <p:nvSpPr>
          <p:cNvPr id="16" name="object 16"/>
          <p:cNvSpPr/>
          <p:nvPr/>
        </p:nvSpPr>
        <p:spPr>
          <a:xfrm>
            <a:off x="5061965" y="1868170"/>
            <a:ext cx="1675764" cy="1438910"/>
          </a:xfrm>
          <a:custGeom>
            <a:avLst/>
            <a:gdLst/>
            <a:ahLst/>
            <a:cxnLst/>
            <a:rect l="l" t="t" r="r" b="b"/>
            <a:pathLst>
              <a:path w="1675765" h="1438910">
                <a:moveTo>
                  <a:pt x="1315847" y="0"/>
                </a:moveTo>
                <a:lnTo>
                  <a:pt x="359663" y="0"/>
                </a:lnTo>
                <a:lnTo>
                  <a:pt x="0" y="719327"/>
                </a:lnTo>
                <a:lnTo>
                  <a:pt x="359663" y="1438655"/>
                </a:lnTo>
                <a:lnTo>
                  <a:pt x="1315847" y="1438655"/>
                </a:lnTo>
                <a:lnTo>
                  <a:pt x="1675511" y="719327"/>
                </a:lnTo>
                <a:lnTo>
                  <a:pt x="1315847" y="0"/>
                </a:lnTo>
                <a:close/>
              </a:path>
            </a:pathLst>
          </a:custGeom>
          <a:solidFill>
            <a:srgbClr val="375F92"/>
          </a:solidFill>
        </p:spPr>
        <p:txBody>
          <a:bodyPr wrap="square" lIns="0" tIns="0" rIns="0" bIns="0" rtlCol="0"/>
          <a:lstStyle/>
          <a:p>
            <a:endParaRPr/>
          </a:p>
        </p:txBody>
      </p:sp>
      <p:sp>
        <p:nvSpPr>
          <p:cNvPr id="17" name="object 17"/>
          <p:cNvSpPr txBox="1"/>
          <p:nvPr/>
        </p:nvSpPr>
        <p:spPr>
          <a:xfrm>
            <a:off x="5417311" y="2427858"/>
            <a:ext cx="964565" cy="270510"/>
          </a:xfrm>
          <a:prstGeom prst="rect">
            <a:avLst/>
          </a:prstGeom>
        </p:spPr>
        <p:txBody>
          <a:bodyPr vert="horz" wrap="square" lIns="0" tIns="13335" rIns="0" bIns="0" rtlCol="0">
            <a:spAutoFit/>
          </a:bodyPr>
          <a:lstStyle/>
          <a:p>
            <a:pPr marL="12700">
              <a:lnSpc>
                <a:spcPct val="100000"/>
              </a:lnSpc>
              <a:spcBef>
                <a:spcPts val="105"/>
              </a:spcBef>
            </a:pPr>
            <a:r>
              <a:rPr sz="1600" b="1" spc="-10" dirty="0">
                <a:solidFill>
                  <a:srgbClr val="FFFFFF"/>
                </a:solidFill>
                <a:latin typeface="Calibri"/>
                <a:cs typeface="Calibri"/>
              </a:rPr>
              <a:t>Bağımsızlık</a:t>
            </a:r>
            <a:endParaRPr sz="1600">
              <a:latin typeface="Calibri"/>
              <a:cs typeface="Calibri"/>
            </a:endParaRPr>
          </a:p>
        </p:txBody>
      </p:sp>
      <p:sp>
        <p:nvSpPr>
          <p:cNvPr id="18" name="object 18"/>
          <p:cNvSpPr/>
          <p:nvPr/>
        </p:nvSpPr>
        <p:spPr>
          <a:xfrm>
            <a:off x="6493764" y="2636773"/>
            <a:ext cx="1675764" cy="1438910"/>
          </a:xfrm>
          <a:custGeom>
            <a:avLst/>
            <a:gdLst/>
            <a:ahLst/>
            <a:cxnLst/>
            <a:rect l="l" t="t" r="r" b="b"/>
            <a:pathLst>
              <a:path w="1675765" h="1438910">
                <a:moveTo>
                  <a:pt x="1315719" y="0"/>
                </a:moveTo>
                <a:lnTo>
                  <a:pt x="359663" y="0"/>
                </a:lnTo>
                <a:lnTo>
                  <a:pt x="0" y="719327"/>
                </a:lnTo>
                <a:lnTo>
                  <a:pt x="359663" y="1438783"/>
                </a:lnTo>
                <a:lnTo>
                  <a:pt x="1315719" y="1438783"/>
                </a:lnTo>
                <a:lnTo>
                  <a:pt x="1675384" y="719327"/>
                </a:lnTo>
                <a:lnTo>
                  <a:pt x="1315719" y="0"/>
                </a:lnTo>
                <a:close/>
              </a:path>
            </a:pathLst>
          </a:custGeom>
          <a:solidFill>
            <a:srgbClr val="99CC00"/>
          </a:solidFill>
        </p:spPr>
        <p:txBody>
          <a:bodyPr wrap="square" lIns="0" tIns="0" rIns="0" bIns="0" rtlCol="0"/>
          <a:lstStyle/>
          <a:p>
            <a:endParaRPr/>
          </a:p>
        </p:txBody>
      </p:sp>
      <p:sp>
        <p:nvSpPr>
          <p:cNvPr id="19" name="object 19"/>
          <p:cNvSpPr txBox="1"/>
          <p:nvPr/>
        </p:nvSpPr>
        <p:spPr>
          <a:xfrm>
            <a:off x="6986778" y="3084956"/>
            <a:ext cx="692785" cy="496570"/>
          </a:xfrm>
          <a:prstGeom prst="rect">
            <a:avLst/>
          </a:prstGeom>
        </p:spPr>
        <p:txBody>
          <a:bodyPr vert="horz" wrap="square" lIns="0" tIns="35560" rIns="0" bIns="0" rtlCol="0">
            <a:spAutoFit/>
          </a:bodyPr>
          <a:lstStyle/>
          <a:p>
            <a:pPr marL="45720" marR="5080" indent="-33655">
              <a:lnSpc>
                <a:spcPts val="1780"/>
              </a:lnSpc>
              <a:spcBef>
                <a:spcPts val="280"/>
              </a:spcBef>
            </a:pPr>
            <a:r>
              <a:rPr sz="1600" b="1" spc="-10" dirty="0">
                <a:latin typeface="Calibri"/>
                <a:cs typeface="Calibri"/>
              </a:rPr>
              <a:t>Gönüllü Hizmet</a:t>
            </a:r>
            <a:endParaRPr sz="1600">
              <a:latin typeface="Calibri"/>
              <a:cs typeface="Calibri"/>
            </a:endParaRPr>
          </a:p>
        </p:txBody>
      </p:sp>
      <p:sp>
        <p:nvSpPr>
          <p:cNvPr id="20" name="object 20"/>
          <p:cNvSpPr/>
          <p:nvPr/>
        </p:nvSpPr>
        <p:spPr>
          <a:xfrm>
            <a:off x="5065014" y="3422650"/>
            <a:ext cx="1675764" cy="1438910"/>
          </a:xfrm>
          <a:custGeom>
            <a:avLst/>
            <a:gdLst/>
            <a:ahLst/>
            <a:cxnLst/>
            <a:rect l="l" t="t" r="r" b="b"/>
            <a:pathLst>
              <a:path w="1675765" h="1438910">
                <a:moveTo>
                  <a:pt x="1315720" y="0"/>
                </a:moveTo>
                <a:lnTo>
                  <a:pt x="359663" y="0"/>
                </a:lnTo>
                <a:lnTo>
                  <a:pt x="0" y="719327"/>
                </a:lnTo>
                <a:lnTo>
                  <a:pt x="359663" y="1438656"/>
                </a:lnTo>
                <a:lnTo>
                  <a:pt x="1315720" y="1438656"/>
                </a:lnTo>
                <a:lnTo>
                  <a:pt x="1675384" y="719327"/>
                </a:lnTo>
                <a:lnTo>
                  <a:pt x="1315720" y="0"/>
                </a:lnTo>
                <a:close/>
              </a:path>
            </a:pathLst>
          </a:custGeom>
          <a:solidFill>
            <a:srgbClr val="FF6699"/>
          </a:solidFill>
        </p:spPr>
        <p:txBody>
          <a:bodyPr wrap="square" lIns="0" tIns="0" rIns="0" bIns="0" rtlCol="0"/>
          <a:lstStyle/>
          <a:p>
            <a:endParaRPr/>
          </a:p>
        </p:txBody>
      </p:sp>
      <p:sp>
        <p:nvSpPr>
          <p:cNvPr id="21" name="object 21"/>
          <p:cNvSpPr txBox="1"/>
          <p:nvPr/>
        </p:nvSpPr>
        <p:spPr>
          <a:xfrm>
            <a:off x="5673344" y="3982973"/>
            <a:ext cx="458470" cy="270510"/>
          </a:xfrm>
          <a:prstGeom prst="rect">
            <a:avLst/>
          </a:prstGeom>
        </p:spPr>
        <p:txBody>
          <a:bodyPr vert="horz" wrap="square" lIns="0" tIns="13335" rIns="0" bIns="0" rtlCol="0">
            <a:spAutoFit/>
          </a:bodyPr>
          <a:lstStyle/>
          <a:p>
            <a:pPr marL="12700">
              <a:lnSpc>
                <a:spcPct val="100000"/>
              </a:lnSpc>
              <a:spcBef>
                <a:spcPts val="105"/>
              </a:spcBef>
            </a:pPr>
            <a:r>
              <a:rPr sz="1600" b="1" spc="-10" dirty="0">
                <a:latin typeface="Calibri"/>
                <a:cs typeface="Calibri"/>
              </a:rPr>
              <a:t>Birlik</a:t>
            </a:r>
            <a:endParaRPr sz="1600">
              <a:latin typeface="Calibri"/>
              <a:cs typeface="Calibri"/>
            </a:endParaRPr>
          </a:p>
        </p:txBody>
      </p:sp>
      <p:sp>
        <p:nvSpPr>
          <p:cNvPr id="22" name="object 22"/>
          <p:cNvSpPr/>
          <p:nvPr/>
        </p:nvSpPr>
        <p:spPr>
          <a:xfrm>
            <a:off x="3619246" y="4255896"/>
            <a:ext cx="1675764" cy="1438910"/>
          </a:xfrm>
          <a:custGeom>
            <a:avLst/>
            <a:gdLst/>
            <a:ahLst/>
            <a:cxnLst/>
            <a:rect l="l" t="t" r="r" b="b"/>
            <a:pathLst>
              <a:path w="1675764" h="1438910">
                <a:moveTo>
                  <a:pt x="1315846" y="0"/>
                </a:moveTo>
                <a:lnTo>
                  <a:pt x="359663" y="0"/>
                </a:lnTo>
                <a:lnTo>
                  <a:pt x="0" y="719327"/>
                </a:lnTo>
                <a:lnTo>
                  <a:pt x="359663" y="1438681"/>
                </a:lnTo>
                <a:lnTo>
                  <a:pt x="1315846" y="1438681"/>
                </a:lnTo>
                <a:lnTo>
                  <a:pt x="1675511" y="719327"/>
                </a:lnTo>
                <a:lnTo>
                  <a:pt x="1315846" y="0"/>
                </a:lnTo>
                <a:close/>
              </a:path>
            </a:pathLst>
          </a:custGeom>
          <a:solidFill>
            <a:srgbClr val="0099FF"/>
          </a:solidFill>
        </p:spPr>
        <p:txBody>
          <a:bodyPr wrap="square" lIns="0" tIns="0" rIns="0" bIns="0" rtlCol="0"/>
          <a:lstStyle/>
          <a:p>
            <a:endParaRPr/>
          </a:p>
        </p:txBody>
      </p:sp>
      <p:sp>
        <p:nvSpPr>
          <p:cNvPr id="23" name="object 23"/>
          <p:cNvSpPr txBox="1"/>
          <p:nvPr/>
        </p:nvSpPr>
        <p:spPr>
          <a:xfrm>
            <a:off x="3992371" y="4816602"/>
            <a:ext cx="930275" cy="270510"/>
          </a:xfrm>
          <a:prstGeom prst="rect">
            <a:avLst/>
          </a:prstGeom>
        </p:spPr>
        <p:txBody>
          <a:bodyPr vert="horz" wrap="square" lIns="0" tIns="13335" rIns="0" bIns="0" rtlCol="0">
            <a:spAutoFit/>
          </a:bodyPr>
          <a:lstStyle/>
          <a:p>
            <a:pPr marL="12700">
              <a:lnSpc>
                <a:spcPct val="100000"/>
              </a:lnSpc>
              <a:spcBef>
                <a:spcPts val="105"/>
              </a:spcBef>
            </a:pPr>
            <a:r>
              <a:rPr sz="1600" b="1" spc="-10" dirty="0">
                <a:latin typeface="Calibri"/>
                <a:cs typeface="Calibri"/>
              </a:rPr>
              <a:t>Evrensellik</a:t>
            </a:r>
            <a:endParaRPr sz="1600">
              <a:latin typeface="Calibri"/>
              <a:cs typeface="Calibri"/>
            </a:endParaRPr>
          </a:p>
        </p:txBody>
      </p:sp>
      <p:pic>
        <p:nvPicPr>
          <p:cNvPr id="9" name="Resim 8">
            <a:extLst>
              <a:ext uri="{FF2B5EF4-FFF2-40B4-BE49-F238E27FC236}">
                <a16:creationId xmlns:a16="http://schemas.microsoft.com/office/drawing/2014/main" id="{0008DC20-92ED-B175-C56B-94877770EBD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95478" y="0"/>
            <a:ext cx="1255499" cy="1368151"/>
          </a:xfrm>
          <a:prstGeom prst="rect">
            <a:avLst/>
          </a:prstGeom>
        </p:spPr>
      </p:pic>
      <p:pic>
        <p:nvPicPr>
          <p:cNvPr id="25" name="Resim 24">
            <a:extLst>
              <a:ext uri="{FF2B5EF4-FFF2-40B4-BE49-F238E27FC236}">
                <a16:creationId xmlns:a16="http://schemas.microsoft.com/office/drawing/2014/main" id="{50147EA7-4371-0CE5-8085-EBC165B2CC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8163" y="5229925"/>
            <a:ext cx="1255499" cy="136815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151377" y="1754200"/>
            <a:ext cx="5064125" cy="3355340"/>
          </a:xfrm>
          <a:prstGeom prst="rect">
            <a:avLst/>
          </a:prstGeom>
        </p:spPr>
        <p:txBody>
          <a:bodyPr vert="horz" wrap="square" lIns="0" tIns="12065" rIns="0" bIns="0" rtlCol="0">
            <a:spAutoFit/>
          </a:bodyPr>
          <a:lstStyle/>
          <a:p>
            <a:pPr marL="12700" marR="590550">
              <a:lnSpc>
                <a:spcPct val="130000"/>
              </a:lnSpc>
              <a:spcBef>
                <a:spcPts val="95"/>
              </a:spcBef>
            </a:pPr>
            <a:r>
              <a:rPr sz="2800" spc="-10" dirty="0">
                <a:latin typeface="Calibri"/>
                <a:cs typeface="Calibri"/>
              </a:rPr>
              <a:t>Kızılay</a:t>
            </a:r>
            <a:r>
              <a:rPr sz="2800" spc="-114" dirty="0">
                <a:latin typeface="Calibri"/>
                <a:cs typeface="Calibri"/>
              </a:rPr>
              <a:t> </a:t>
            </a:r>
            <a:r>
              <a:rPr sz="2800" dirty="0">
                <a:latin typeface="Calibri"/>
                <a:cs typeface="Calibri"/>
              </a:rPr>
              <a:t>her</a:t>
            </a:r>
            <a:r>
              <a:rPr sz="2800" spc="-40" dirty="0">
                <a:latin typeface="Calibri"/>
                <a:cs typeface="Calibri"/>
              </a:rPr>
              <a:t> </a:t>
            </a:r>
            <a:r>
              <a:rPr sz="2800" dirty="0">
                <a:latin typeface="Calibri"/>
                <a:cs typeface="Calibri"/>
              </a:rPr>
              <a:t>nerede</a:t>
            </a:r>
            <a:r>
              <a:rPr sz="2800" spc="-30" dirty="0">
                <a:latin typeface="Calibri"/>
                <a:cs typeface="Calibri"/>
              </a:rPr>
              <a:t> </a:t>
            </a:r>
            <a:r>
              <a:rPr sz="2800" dirty="0">
                <a:latin typeface="Calibri"/>
                <a:cs typeface="Calibri"/>
              </a:rPr>
              <a:t>olursa</a:t>
            </a:r>
            <a:r>
              <a:rPr sz="2800" spc="-40" dirty="0">
                <a:latin typeface="Calibri"/>
                <a:cs typeface="Calibri"/>
              </a:rPr>
              <a:t> </a:t>
            </a:r>
            <a:r>
              <a:rPr sz="2800" spc="-10" dirty="0">
                <a:latin typeface="Calibri"/>
                <a:cs typeface="Calibri"/>
              </a:rPr>
              <a:t>olsun </a:t>
            </a:r>
            <a:r>
              <a:rPr sz="2800" dirty="0">
                <a:latin typeface="Calibri"/>
                <a:cs typeface="Calibri"/>
              </a:rPr>
              <a:t>insan</a:t>
            </a:r>
            <a:r>
              <a:rPr sz="2800" spc="-50" dirty="0">
                <a:latin typeface="Calibri"/>
                <a:cs typeface="Calibri"/>
              </a:rPr>
              <a:t> </a:t>
            </a:r>
            <a:r>
              <a:rPr sz="2800" spc="-10" dirty="0">
                <a:latin typeface="Calibri"/>
                <a:cs typeface="Calibri"/>
              </a:rPr>
              <a:t>ızdırabını</a:t>
            </a:r>
            <a:r>
              <a:rPr sz="2800" spc="-70" dirty="0">
                <a:latin typeface="Calibri"/>
                <a:cs typeface="Calibri"/>
              </a:rPr>
              <a:t> </a:t>
            </a:r>
            <a:r>
              <a:rPr sz="2800" dirty="0">
                <a:latin typeface="Calibri"/>
                <a:cs typeface="Calibri"/>
              </a:rPr>
              <a:t>önlemek</a:t>
            </a:r>
            <a:r>
              <a:rPr sz="2800" spc="-40" dirty="0">
                <a:latin typeface="Calibri"/>
                <a:cs typeface="Calibri"/>
              </a:rPr>
              <a:t> </a:t>
            </a:r>
            <a:r>
              <a:rPr sz="2800" spc="-25" dirty="0">
                <a:latin typeface="Calibri"/>
                <a:cs typeface="Calibri"/>
              </a:rPr>
              <a:t>ve </a:t>
            </a:r>
            <a:r>
              <a:rPr sz="2800" dirty="0">
                <a:latin typeface="Calibri"/>
                <a:cs typeface="Calibri"/>
              </a:rPr>
              <a:t>dindirmek</a:t>
            </a:r>
            <a:r>
              <a:rPr sz="2800" spc="-55" dirty="0">
                <a:latin typeface="Calibri"/>
                <a:cs typeface="Calibri"/>
              </a:rPr>
              <a:t> </a:t>
            </a:r>
            <a:r>
              <a:rPr sz="2800" dirty="0">
                <a:latin typeface="Calibri"/>
                <a:cs typeface="Calibri"/>
              </a:rPr>
              <a:t>için</a:t>
            </a:r>
            <a:r>
              <a:rPr sz="2800" spc="-65" dirty="0">
                <a:latin typeface="Calibri"/>
                <a:cs typeface="Calibri"/>
              </a:rPr>
              <a:t> </a:t>
            </a:r>
            <a:r>
              <a:rPr sz="2800" spc="-10" dirty="0">
                <a:latin typeface="Calibri"/>
                <a:cs typeface="Calibri"/>
              </a:rPr>
              <a:t>gayret</a:t>
            </a:r>
            <a:r>
              <a:rPr sz="2800" spc="-55" dirty="0">
                <a:latin typeface="Calibri"/>
                <a:cs typeface="Calibri"/>
              </a:rPr>
              <a:t> </a:t>
            </a:r>
            <a:r>
              <a:rPr sz="2800" dirty="0">
                <a:latin typeface="Calibri"/>
                <a:cs typeface="Calibri"/>
              </a:rPr>
              <a:t>sarf</a:t>
            </a:r>
            <a:r>
              <a:rPr sz="2800" spc="-65" dirty="0">
                <a:latin typeface="Calibri"/>
                <a:cs typeface="Calibri"/>
              </a:rPr>
              <a:t> </a:t>
            </a:r>
            <a:r>
              <a:rPr sz="2800" spc="-40" dirty="0">
                <a:latin typeface="Calibri"/>
                <a:cs typeface="Calibri"/>
              </a:rPr>
              <a:t>eder.</a:t>
            </a:r>
            <a:endParaRPr sz="2800">
              <a:latin typeface="Calibri"/>
              <a:cs typeface="Calibri"/>
            </a:endParaRPr>
          </a:p>
          <a:p>
            <a:pPr marL="12700" marR="5080">
              <a:lnSpc>
                <a:spcPts val="4370"/>
              </a:lnSpc>
              <a:spcBef>
                <a:spcPts val="114"/>
              </a:spcBef>
            </a:pPr>
            <a:r>
              <a:rPr sz="2800" dirty="0">
                <a:latin typeface="Calibri"/>
                <a:cs typeface="Calibri"/>
              </a:rPr>
              <a:t>İnsanlar</a:t>
            </a:r>
            <a:r>
              <a:rPr sz="2800" spc="-85" dirty="0">
                <a:latin typeface="Calibri"/>
                <a:cs typeface="Calibri"/>
              </a:rPr>
              <a:t> </a:t>
            </a:r>
            <a:r>
              <a:rPr sz="2800" dirty="0">
                <a:latin typeface="Calibri"/>
                <a:cs typeface="Calibri"/>
              </a:rPr>
              <a:t>arasında</a:t>
            </a:r>
            <a:r>
              <a:rPr sz="2800" spc="-90" dirty="0">
                <a:latin typeface="Calibri"/>
                <a:cs typeface="Calibri"/>
              </a:rPr>
              <a:t> </a:t>
            </a:r>
            <a:r>
              <a:rPr sz="2800" dirty="0">
                <a:latin typeface="Calibri"/>
                <a:cs typeface="Calibri"/>
              </a:rPr>
              <a:t>karşılıklı</a:t>
            </a:r>
            <a:r>
              <a:rPr sz="2800" spc="-100" dirty="0">
                <a:latin typeface="Calibri"/>
                <a:cs typeface="Calibri"/>
              </a:rPr>
              <a:t> </a:t>
            </a:r>
            <a:r>
              <a:rPr sz="2800" spc="-10" dirty="0">
                <a:latin typeface="Calibri"/>
                <a:cs typeface="Calibri"/>
              </a:rPr>
              <a:t>hoşgörü, </a:t>
            </a:r>
            <a:r>
              <a:rPr sz="2800" dirty="0">
                <a:latin typeface="Calibri"/>
                <a:cs typeface="Calibri"/>
              </a:rPr>
              <a:t>dostluk,</a:t>
            </a:r>
            <a:r>
              <a:rPr sz="2800" spc="-65" dirty="0">
                <a:latin typeface="Calibri"/>
                <a:cs typeface="Calibri"/>
              </a:rPr>
              <a:t> </a:t>
            </a:r>
            <a:r>
              <a:rPr sz="2800" dirty="0">
                <a:latin typeface="Calibri"/>
                <a:cs typeface="Calibri"/>
              </a:rPr>
              <a:t>işbirliği</a:t>
            </a:r>
            <a:r>
              <a:rPr sz="2800" spc="-70" dirty="0">
                <a:latin typeface="Calibri"/>
                <a:cs typeface="Calibri"/>
              </a:rPr>
              <a:t> </a:t>
            </a:r>
            <a:r>
              <a:rPr sz="2800" dirty="0">
                <a:latin typeface="Calibri"/>
                <a:cs typeface="Calibri"/>
              </a:rPr>
              <a:t>ve</a:t>
            </a:r>
            <a:r>
              <a:rPr sz="2800" spc="-40" dirty="0">
                <a:latin typeface="Calibri"/>
                <a:cs typeface="Calibri"/>
              </a:rPr>
              <a:t> </a:t>
            </a:r>
            <a:r>
              <a:rPr sz="2800" dirty="0">
                <a:latin typeface="Calibri"/>
                <a:cs typeface="Calibri"/>
              </a:rPr>
              <a:t>kalıcı</a:t>
            </a:r>
            <a:r>
              <a:rPr sz="2800" spc="-25" dirty="0">
                <a:latin typeface="Calibri"/>
                <a:cs typeface="Calibri"/>
              </a:rPr>
              <a:t> </a:t>
            </a:r>
            <a:r>
              <a:rPr sz="2800" spc="-10" dirty="0">
                <a:latin typeface="Calibri"/>
                <a:cs typeface="Calibri"/>
              </a:rPr>
              <a:t>barışın </a:t>
            </a:r>
            <a:r>
              <a:rPr sz="2800" dirty="0">
                <a:latin typeface="Calibri"/>
                <a:cs typeface="Calibri"/>
              </a:rPr>
              <a:t>gelişmesine</a:t>
            </a:r>
            <a:r>
              <a:rPr sz="2800" spc="-140" dirty="0">
                <a:latin typeface="Calibri"/>
                <a:cs typeface="Calibri"/>
              </a:rPr>
              <a:t> </a:t>
            </a:r>
            <a:r>
              <a:rPr sz="2800" dirty="0">
                <a:latin typeface="Calibri"/>
                <a:cs typeface="Calibri"/>
              </a:rPr>
              <a:t>yardımcı</a:t>
            </a:r>
            <a:r>
              <a:rPr sz="2800" spc="-80" dirty="0">
                <a:latin typeface="Calibri"/>
                <a:cs typeface="Calibri"/>
              </a:rPr>
              <a:t> </a:t>
            </a:r>
            <a:r>
              <a:rPr sz="2800" spc="-10" dirty="0">
                <a:latin typeface="Calibri"/>
                <a:cs typeface="Calibri"/>
              </a:rPr>
              <a:t>olur.</a:t>
            </a:r>
            <a:endParaRPr sz="2800">
              <a:latin typeface="Calibri"/>
              <a:cs typeface="Calibri"/>
            </a:endParaRPr>
          </a:p>
        </p:txBody>
      </p:sp>
      <p:sp>
        <p:nvSpPr>
          <p:cNvPr id="3" name="object 3"/>
          <p:cNvSpPr/>
          <p:nvPr/>
        </p:nvSpPr>
        <p:spPr>
          <a:xfrm>
            <a:off x="8928100" y="1280794"/>
            <a:ext cx="1905" cy="5220335"/>
          </a:xfrm>
          <a:custGeom>
            <a:avLst/>
            <a:gdLst/>
            <a:ahLst/>
            <a:cxnLst/>
            <a:rect l="l" t="t" r="r" b="b"/>
            <a:pathLst>
              <a:path w="1904" h="5220335">
                <a:moveTo>
                  <a:pt x="1650" y="0"/>
                </a:moveTo>
                <a:lnTo>
                  <a:pt x="0" y="5220042"/>
                </a:lnTo>
              </a:path>
            </a:pathLst>
          </a:custGeom>
          <a:ln w="76200">
            <a:solidFill>
              <a:srgbClr val="C00000"/>
            </a:solidFill>
          </a:ln>
        </p:spPr>
        <p:txBody>
          <a:bodyPr wrap="square" lIns="0" tIns="0" rIns="0" bIns="0" rtlCol="0"/>
          <a:lstStyle/>
          <a:p>
            <a:endParaRPr/>
          </a:p>
        </p:txBody>
      </p:sp>
      <p:sp>
        <p:nvSpPr>
          <p:cNvPr id="5" name="object 5"/>
          <p:cNvSpPr/>
          <p:nvPr/>
        </p:nvSpPr>
        <p:spPr>
          <a:xfrm>
            <a:off x="369582" y="268478"/>
            <a:ext cx="7560309" cy="1905"/>
          </a:xfrm>
          <a:custGeom>
            <a:avLst/>
            <a:gdLst/>
            <a:ahLst/>
            <a:cxnLst/>
            <a:rect l="l" t="t" r="r" b="b"/>
            <a:pathLst>
              <a:path w="7560309" h="1904">
                <a:moveTo>
                  <a:pt x="0" y="0"/>
                </a:moveTo>
                <a:lnTo>
                  <a:pt x="7560043" y="1650"/>
                </a:lnTo>
              </a:path>
            </a:pathLst>
          </a:custGeom>
          <a:ln w="76200">
            <a:solidFill>
              <a:srgbClr val="C00000"/>
            </a:solidFill>
          </a:ln>
        </p:spPr>
        <p:txBody>
          <a:bodyPr wrap="square" lIns="0" tIns="0" rIns="0" bIns="0" rtlCol="0"/>
          <a:lstStyle/>
          <a:p>
            <a:endParaRPr/>
          </a:p>
        </p:txBody>
      </p:sp>
      <p:grpSp>
        <p:nvGrpSpPr>
          <p:cNvPr id="7" name="object 7"/>
          <p:cNvGrpSpPr/>
          <p:nvPr/>
        </p:nvGrpSpPr>
        <p:grpSpPr>
          <a:xfrm>
            <a:off x="71405" y="204088"/>
            <a:ext cx="8772525" cy="6654165"/>
            <a:chOff x="71405" y="204088"/>
            <a:chExt cx="8772525" cy="6654165"/>
          </a:xfrm>
        </p:grpSpPr>
        <p:sp>
          <p:nvSpPr>
            <p:cNvPr id="8" name="object 8"/>
            <p:cNvSpPr/>
            <p:nvPr/>
          </p:nvSpPr>
          <p:spPr>
            <a:xfrm>
              <a:off x="214287" y="242188"/>
              <a:ext cx="8591550" cy="6187440"/>
            </a:xfrm>
            <a:custGeom>
              <a:avLst/>
              <a:gdLst/>
              <a:ahLst/>
              <a:cxnLst/>
              <a:rect l="l" t="t" r="r" b="b"/>
              <a:pathLst>
                <a:path w="8591550" h="6187440">
                  <a:moveTo>
                    <a:pt x="1587" y="0"/>
                  </a:moveTo>
                  <a:lnTo>
                    <a:pt x="0" y="5072125"/>
                  </a:lnTo>
                </a:path>
                <a:path w="8591550" h="6187440">
                  <a:moveTo>
                    <a:pt x="1643087" y="6185623"/>
                  </a:moveTo>
                  <a:lnTo>
                    <a:pt x="8591130" y="6187211"/>
                  </a:lnTo>
                </a:path>
              </a:pathLst>
            </a:custGeom>
            <a:ln w="76200">
              <a:solidFill>
                <a:srgbClr val="C00000"/>
              </a:solidFill>
            </a:ln>
          </p:spPr>
          <p:txBody>
            <a:bodyPr wrap="square" lIns="0" tIns="0" rIns="0" bIns="0" rtlCol="0"/>
            <a:lstStyle/>
            <a:p>
              <a:endParaRPr/>
            </a:p>
          </p:txBody>
        </p:sp>
        <p:pic>
          <p:nvPicPr>
            <p:cNvPr id="9" name="object 9"/>
            <p:cNvPicPr/>
            <p:nvPr/>
          </p:nvPicPr>
          <p:blipFill>
            <a:blip r:embed="rId2" cstate="print"/>
            <a:stretch>
              <a:fillRect/>
            </a:stretch>
          </p:blipFill>
          <p:spPr>
            <a:xfrm>
              <a:off x="71405" y="3500397"/>
              <a:ext cx="2714625" cy="3357602"/>
            </a:xfrm>
            <a:prstGeom prst="rect">
              <a:avLst/>
            </a:prstGeom>
          </p:spPr>
        </p:pic>
      </p:grpSp>
      <p:pic>
        <p:nvPicPr>
          <p:cNvPr id="10" name="Resim 9">
            <a:extLst>
              <a:ext uri="{FF2B5EF4-FFF2-40B4-BE49-F238E27FC236}">
                <a16:creationId xmlns:a16="http://schemas.microsoft.com/office/drawing/2014/main" id="{A39AA1EA-3D94-606A-FCE4-BB3F1502F1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88501" y="2458"/>
            <a:ext cx="1255499" cy="136815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009135" y="2152599"/>
            <a:ext cx="4032885" cy="2588260"/>
          </a:xfrm>
          <a:prstGeom prst="rect">
            <a:avLst/>
          </a:prstGeom>
        </p:spPr>
        <p:txBody>
          <a:bodyPr vert="horz" wrap="square" lIns="0" tIns="13970" rIns="0" bIns="0" rtlCol="0">
            <a:spAutoFit/>
          </a:bodyPr>
          <a:lstStyle/>
          <a:p>
            <a:pPr marL="12700" marR="5080">
              <a:lnSpc>
                <a:spcPct val="100000"/>
              </a:lnSpc>
              <a:spcBef>
                <a:spcPts val="110"/>
              </a:spcBef>
            </a:pPr>
            <a:r>
              <a:rPr sz="2800" spc="-35" dirty="0">
                <a:latin typeface="Calibri"/>
                <a:cs typeface="Calibri"/>
              </a:rPr>
              <a:t>Kızılay,</a:t>
            </a:r>
            <a:r>
              <a:rPr sz="2800" spc="-105" dirty="0">
                <a:latin typeface="Calibri"/>
                <a:cs typeface="Calibri"/>
              </a:rPr>
              <a:t> </a:t>
            </a:r>
            <a:r>
              <a:rPr sz="2800" dirty="0">
                <a:latin typeface="Calibri"/>
                <a:cs typeface="Calibri"/>
              </a:rPr>
              <a:t>milliyet,</a:t>
            </a:r>
            <a:r>
              <a:rPr sz="2800" spc="-85" dirty="0">
                <a:latin typeface="Calibri"/>
                <a:cs typeface="Calibri"/>
              </a:rPr>
              <a:t> </a:t>
            </a:r>
            <a:r>
              <a:rPr sz="2800" dirty="0">
                <a:latin typeface="Calibri"/>
                <a:cs typeface="Calibri"/>
              </a:rPr>
              <a:t>ırk,</a:t>
            </a:r>
            <a:r>
              <a:rPr sz="2800" spc="-35" dirty="0">
                <a:latin typeface="Calibri"/>
                <a:cs typeface="Calibri"/>
              </a:rPr>
              <a:t> </a:t>
            </a:r>
            <a:r>
              <a:rPr sz="2800" spc="-20" dirty="0">
                <a:latin typeface="Calibri"/>
                <a:cs typeface="Calibri"/>
              </a:rPr>
              <a:t>dini </a:t>
            </a:r>
            <a:r>
              <a:rPr sz="2800" dirty="0">
                <a:latin typeface="Calibri"/>
                <a:cs typeface="Calibri"/>
              </a:rPr>
              <a:t>inanç,</a:t>
            </a:r>
            <a:r>
              <a:rPr sz="2800" spc="-85" dirty="0">
                <a:latin typeface="Calibri"/>
                <a:cs typeface="Calibri"/>
              </a:rPr>
              <a:t> </a:t>
            </a:r>
            <a:r>
              <a:rPr sz="2800" dirty="0">
                <a:latin typeface="Calibri"/>
                <a:cs typeface="Calibri"/>
              </a:rPr>
              <a:t>sınıf</a:t>
            </a:r>
            <a:r>
              <a:rPr sz="2800" spc="-60" dirty="0">
                <a:latin typeface="Calibri"/>
                <a:cs typeface="Calibri"/>
              </a:rPr>
              <a:t> </a:t>
            </a:r>
            <a:r>
              <a:rPr sz="2800" dirty="0">
                <a:latin typeface="Calibri"/>
                <a:cs typeface="Calibri"/>
              </a:rPr>
              <a:t>veya</a:t>
            </a:r>
            <a:r>
              <a:rPr sz="2800" spc="-95" dirty="0">
                <a:latin typeface="Calibri"/>
                <a:cs typeface="Calibri"/>
              </a:rPr>
              <a:t> </a:t>
            </a:r>
            <a:r>
              <a:rPr sz="2800" dirty="0">
                <a:latin typeface="Calibri"/>
                <a:cs typeface="Calibri"/>
              </a:rPr>
              <a:t>siyasi</a:t>
            </a:r>
            <a:r>
              <a:rPr sz="2800" spc="-85" dirty="0">
                <a:latin typeface="Calibri"/>
                <a:cs typeface="Calibri"/>
              </a:rPr>
              <a:t> </a:t>
            </a:r>
            <a:r>
              <a:rPr sz="2800" spc="-10" dirty="0">
                <a:latin typeface="Calibri"/>
                <a:cs typeface="Calibri"/>
              </a:rPr>
              <a:t>görüş </a:t>
            </a:r>
            <a:r>
              <a:rPr sz="2800" dirty="0">
                <a:latin typeface="Calibri"/>
                <a:cs typeface="Calibri"/>
              </a:rPr>
              <a:t>bakımından</a:t>
            </a:r>
            <a:r>
              <a:rPr sz="2800" spc="-90" dirty="0">
                <a:latin typeface="Calibri"/>
                <a:cs typeface="Calibri"/>
              </a:rPr>
              <a:t> </a:t>
            </a:r>
            <a:r>
              <a:rPr sz="2800" dirty="0">
                <a:latin typeface="Calibri"/>
                <a:cs typeface="Calibri"/>
              </a:rPr>
              <a:t>ayrım</a:t>
            </a:r>
            <a:r>
              <a:rPr sz="2800" spc="-95" dirty="0">
                <a:latin typeface="Calibri"/>
                <a:cs typeface="Calibri"/>
              </a:rPr>
              <a:t> </a:t>
            </a:r>
            <a:r>
              <a:rPr sz="2800" spc="-10" dirty="0">
                <a:latin typeface="Calibri"/>
                <a:cs typeface="Calibri"/>
              </a:rPr>
              <a:t>yapmaz.</a:t>
            </a:r>
            <a:endParaRPr sz="2800">
              <a:latin typeface="Calibri"/>
              <a:cs typeface="Calibri"/>
            </a:endParaRPr>
          </a:p>
          <a:p>
            <a:pPr marL="12700" marR="247015" algn="just">
              <a:lnSpc>
                <a:spcPct val="100000"/>
              </a:lnSpc>
              <a:spcBef>
                <a:spcPts val="5"/>
              </a:spcBef>
            </a:pPr>
            <a:r>
              <a:rPr sz="2800" dirty="0">
                <a:latin typeface="Calibri"/>
                <a:cs typeface="Calibri"/>
              </a:rPr>
              <a:t>İnsan</a:t>
            </a:r>
            <a:r>
              <a:rPr sz="2800" spc="-45" dirty="0">
                <a:latin typeface="Calibri"/>
                <a:cs typeface="Calibri"/>
              </a:rPr>
              <a:t> </a:t>
            </a:r>
            <a:r>
              <a:rPr sz="2800" spc="-10" dirty="0">
                <a:latin typeface="Calibri"/>
                <a:cs typeface="Calibri"/>
              </a:rPr>
              <a:t>ızdırabını,</a:t>
            </a:r>
            <a:r>
              <a:rPr sz="2800" spc="-35" dirty="0">
                <a:latin typeface="Calibri"/>
                <a:cs typeface="Calibri"/>
              </a:rPr>
              <a:t> </a:t>
            </a:r>
            <a:r>
              <a:rPr sz="2800" dirty="0">
                <a:latin typeface="Calibri"/>
                <a:cs typeface="Calibri"/>
              </a:rPr>
              <a:t>en</a:t>
            </a:r>
            <a:r>
              <a:rPr sz="2800" spc="-35" dirty="0">
                <a:latin typeface="Calibri"/>
                <a:cs typeface="Calibri"/>
              </a:rPr>
              <a:t> </a:t>
            </a:r>
            <a:r>
              <a:rPr sz="2800" dirty="0">
                <a:latin typeface="Calibri"/>
                <a:cs typeface="Calibri"/>
              </a:rPr>
              <a:t>acil</a:t>
            </a:r>
            <a:r>
              <a:rPr sz="2800" spc="-50" dirty="0">
                <a:latin typeface="Calibri"/>
                <a:cs typeface="Calibri"/>
              </a:rPr>
              <a:t> </a:t>
            </a:r>
            <a:r>
              <a:rPr sz="2800" spc="-25" dirty="0">
                <a:latin typeface="Calibri"/>
                <a:cs typeface="Calibri"/>
              </a:rPr>
              <a:t>ve </a:t>
            </a:r>
            <a:r>
              <a:rPr sz="2800" dirty="0">
                <a:latin typeface="Calibri"/>
                <a:cs typeface="Calibri"/>
              </a:rPr>
              <a:t>zorunlu</a:t>
            </a:r>
            <a:r>
              <a:rPr sz="2800" spc="-100" dirty="0">
                <a:latin typeface="Calibri"/>
                <a:cs typeface="Calibri"/>
              </a:rPr>
              <a:t> </a:t>
            </a:r>
            <a:r>
              <a:rPr sz="2800" spc="-10" dirty="0">
                <a:latin typeface="Calibri"/>
                <a:cs typeface="Calibri"/>
              </a:rPr>
              <a:t>ihtiyaçlara</a:t>
            </a:r>
            <a:r>
              <a:rPr sz="2800" spc="-130" dirty="0">
                <a:latin typeface="Calibri"/>
                <a:cs typeface="Calibri"/>
              </a:rPr>
              <a:t> </a:t>
            </a:r>
            <a:r>
              <a:rPr sz="2800" spc="-10" dirty="0">
                <a:latin typeface="Calibri"/>
                <a:cs typeface="Calibri"/>
              </a:rPr>
              <a:t>öncelik vererek</a:t>
            </a:r>
            <a:r>
              <a:rPr sz="2800" spc="-140" dirty="0">
                <a:latin typeface="Calibri"/>
                <a:cs typeface="Calibri"/>
              </a:rPr>
              <a:t> </a:t>
            </a:r>
            <a:r>
              <a:rPr sz="2800" dirty="0">
                <a:latin typeface="Calibri"/>
                <a:cs typeface="Calibri"/>
              </a:rPr>
              <a:t>dindirmeye</a:t>
            </a:r>
            <a:r>
              <a:rPr sz="2800" spc="-110" dirty="0">
                <a:latin typeface="Calibri"/>
                <a:cs typeface="Calibri"/>
              </a:rPr>
              <a:t> </a:t>
            </a:r>
            <a:r>
              <a:rPr sz="2800" spc="-30" dirty="0">
                <a:latin typeface="Calibri"/>
                <a:cs typeface="Calibri"/>
              </a:rPr>
              <a:t>çalışır.</a:t>
            </a:r>
            <a:endParaRPr sz="2800">
              <a:latin typeface="Calibri"/>
              <a:cs typeface="Calibri"/>
            </a:endParaRPr>
          </a:p>
        </p:txBody>
      </p:sp>
      <p:sp>
        <p:nvSpPr>
          <p:cNvPr id="3" name="object 3"/>
          <p:cNvSpPr/>
          <p:nvPr/>
        </p:nvSpPr>
        <p:spPr>
          <a:xfrm>
            <a:off x="8928100" y="1280794"/>
            <a:ext cx="1905" cy="5220335"/>
          </a:xfrm>
          <a:custGeom>
            <a:avLst/>
            <a:gdLst/>
            <a:ahLst/>
            <a:cxnLst/>
            <a:rect l="l" t="t" r="r" b="b"/>
            <a:pathLst>
              <a:path w="1904" h="5220335">
                <a:moveTo>
                  <a:pt x="1650" y="0"/>
                </a:moveTo>
                <a:lnTo>
                  <a:pt x="0" y="5220042"/>
                </a:lnTo>
              </a:path>
            </a:pathLst>
          </a:custGeom>
          <a:ln w="76200">
            <a:solidFill>
              <a:srgbClr val="C00000"/>
            </a:solidFill>
          </a:ln>
        </p:spPr>
        <p:txBody>
          <a:bodyPr wrap="square" lIns="0" tIns="0" rIns="0" bIns="0" rtlCol="0"/>
          <a:lstStyle/>
          <a:p>
            <a:endParaRPr/>
          </a:p>
        </p:txBody>
      </p:sp>
      <p:sp>
        <p:nvSpPr>
          <p:cNvPr id="5" name="object 5"/>
          <p:cNvSpPr/>
          <p:nvPr/>
        </p:nvSpPr>
        <p:spPr>
          <a:xfrm>
            <a:off x="369582" y="268478"/>
            <a:ext cx="7560309" cy="1905"/>
          </a:xfrm>
          <a:custGeom>
            <a:avLst/>
            <a:gdLst/>
            <a:ahLst/>
            <a:cxnLst/>
            <a:rect l="l" t="t" r="r" b="b"/>
            <a:pathLst>
              <a:path w="7560309" h="1904">
                <a:moveTo>
                  <a:pt x="0" y="0"/>
                </a:moveTo>
                <a:lnTo>
                  <a:pt x="7560043" y="1650"/>
                </a:lnTo>
              </a:path>
            </a:pathLst>
          </a:custGeom>
          <a:ln w="76200">
            <a:solidFill>
              <a:srgbClr val="C00000"/>
            </a:solidFill>
          </a:ln>
        </p:spPr>
        <p:txBody>
          <a:bodyPr wrap="square" lIns="0" tIns="0" rIns="0" bIns="0" rtlCol="0"/>
          <a:lstStyle/>
          <a:p>
            <a:endParaRPr/>
          </a:p>
        </p:txBody>
      </p:sp>
      <p:grpSp>
        <p:nvGrpSpPr>
          <p:cNvPr id="7" name="object 7"/>
          <p:cNvGrpSpPr/>
          <p:nvPr/>
        </p:nvGrpSpPr>
        <p:grpSpPr>
          <a:xfrm>
            <a:off x="0" y="204088"/>
            <a:ext cx="8843645" cy="6600190"/>
            <a:chOff x="0" y="204088"/>
            <a:chExt cx="8843645" cy="6600190"/>
          </a:xfrm>
        </p:grpSpPr>
        <p:sp>
          <p:nvSpPr>
            <p:cNvPr id="8" name="object 8"/>
            <p:cNvSpPr/>
            <p:nvPr/>
          </p:nvSpPr>
          <p:spPr>
            <a:xfrm>
              <a:off x="214287" y="242188"/>
              <a:ext cx="8591550" cy="6187440"/>
            </a:xfrm>
            <a:custGeom>
              <a:avLst/>
              <a:gdLst/>
              <a:ahLst/>
              <a:cxnLst/>
              <a:rect l="l" t="t" r="r" b="b"/>
              <a:pathLst>
                <a:path w="8591550" h="6187440">
                  <a:moveTo>
                    <a:pt x="1587" y="0"/>
                  </a:moveTo>
                  <a:lnTo>
                    <a:pt x="0" y="5072125"/>
                  </a:lnTo>
                </a:path>
                <a:path w="8591550" h="6187440">
                  <a:moveTo>
                    <a:pt x="1643087" y="6185623"/>
                  </a:moveTo>
                  <a:lnTo>
                    <a:pt x="8591130" y="6187211"/>
                  </a:lnTo>
                </a:path>
              </a:pathLst>
            </a:custGeom>
            <a:ln w="76200">
              <a:solidFill>
                <a:srgbClr val="C00000"/>
              </a:solidFill>
            </a:ln>
          </p:spPr>
          <p:txBody>
            <a:bodyPr wrap="square" lIns="0" tIns="0" rIns="0" bIns="0" rtlCol="0"/>
            <a:lstStyle/>
            <a:p>
              <a:endParaRPr/>
            </a:p>
          </p:txBody>
        </p:sp>
        <p:pic>
          <p:nvPicPr>
            <p:cNvPr id="9" name="object 9"/>
            <p:cNvPicPr/>
            <p:nvPr/>
          </p:nvPicPr>
          <p:blipFill>
            <a:blip r:embed="rId2" cstate="print"/>
            <a:stretch>
              <a:fillRect/>
            </a:stretch>
          </p:blipFill>
          <p:spPr>
            <a:xfrm>
              <a:off x="0" y="3286122"/>
              <a:ext cx="3405124" cy="3517900"/>
            </a:xfrm>
            <a:prstGeom prst="rect">
              <a:avLst/>
            </a:prstGeom>
          </p:spPr>
        </p:pic>
      </p:grpSp>
      <p:pic>
        <p:nvPicPr>
          <p:cNvPr id="10" name="object 8">
            <a:extLst>
              <a:ext uri="{FF2B5EF4-FFF2-40B4-BE49-F238E27FC236}">
                <a16:creationId xmlns:a16="http://schemas.microsoft.com/office/drawing/2014/main" id="{DBFE6002-9D4E-2E20-A3D0-EEA062C140E9}"/>
              </a:ext>
            </a:extLst>
          </p:cNvPr>
          <p:cNvPicPr/>
          <p:nvPr/>
        </p:nvPicPr>
        <p:blipFill>
          <a:blip r:embed="rId3" cstate="print"/>
          <a:stretch>
            <a:fillRect/>
          </a:stretch>
        </p:blipFill>
        <p:spPr>
          <a:xfrm>
            <a:off x="318499" y="330364"/>
            <a:ext cx="3405597" cy="2857750"/>
          </a:xfrm>
          <a:prstGeom prst="rect">
            <a:avLst/>
          </a:prstGeom>
        </p:spPr>
      </p:pic>
      <p:pic>
        <p:nvPicPr>
          <p:cNvPr id="11" name="Resim 10">
            <a:extLst>
              <a:ext uri="{FF2B5EF4-FFF2-40B4-BE49-F238E27FC236}">
                <a16:creationId xmlns:a16="http://schemas.microsoft.com/office/drawing/2014/main" id="{CD691C11-145B-09E9-6D24-44EC89F4DCA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88501" y="0"/>
            <a:ext cx="1255499" cy="136815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723259" y="1652092"/>
            <a:ext cx="4047490" cy="2588895"/>
          </a:xfrm>
          <a:prstGeom prst="rect">
            <a:avLst/>
          </a:prstGeom>
        </p:spPr>
        <p:txBody>
          <a:bodyPr vert="horz" wrap="square" lIns="0" tIns="13970" rIns="0" bIns="0" rtlCol="0">
            <a:spAutoFit/>
          </a:bodyPr>
          <a:lstStyle/>
          <a:p>
            <a:pPr marL="12700" marR="391795">
              <a:lnSpc>
                <a:spcPct val="100000"/>
              </a:lnSpc>
              <a:spcBef>
                <a:spcPts val="110"/>
              </a:spcBef>
            </a:pPr>
            <a:r>
              <a:rPr sz="2800" spc="-35" dirty="0">
                <a:latin typeface="Calibri"/>
                <a:cs typeface="Calibri"/>
              </a:rPr>
              <a:t>Kızılay,</a:t>
            </a:r>
            <a:r>
              <a:rPr sz="2800" spc="-135" dirty="0">
                <a:latin typeface="Calibri"/>
                <a:cs typeface="Calibri"/>
              </a:rPr>
              <a:t> </a:t>
            </a:r>
            <a:r>
              <a:rPr sz="2800" spc="-10" dirty="0">
                <a:latin typeface="Calibri"/>
                <a:cs typeface="Calibri"/>
              </a:rPr>
              <a:t>herkesin</a:t>
            </a:r>
            <a:r>
              <a:rPr sz="2800" spc="-65" dirty="0">
                <a:latin typeface="Calibri"/>
                <a:cs typeface="Calibri"/>
              </a:rPr>
              <a:t> </a:t>
            </a:r>
            <a:r>
              <a:rPr sz="2800" spc="-10" dirty="0">
                <a:latin typeface="Calibri"/>
                <a:cs typeface="Calibri"/>
              </a:rPr>
              <a:t>güvenini </a:t>
            </a:r>
            <a:r>
              <a:rPr sz="2800" spc="-20" dirty="0">
                <a:latin typeface="Calibri"/>
                <a:cs typeface="Calibri"/>
              </a:rPr>
              <a:t>kazanmaya</a:t>
            </a:r>
            <a:r>
              <a:rPr sz="2800" spc="-114" dirty="0">
                <a:latin typeface="Calibri"/>
                <a:cs typeface="Calibri"/>
              </a:rPr>
              <a:t> </a:t>
            </a:r>
            <a:r>
              <a:rPr sz="2800" dirty="0">
                <a:latin typeface="Calibri"/>
                <a:cs typeface="Calibri"/>
              </a:rPr>
              <a:t>devam</a:t>
            </a:r>
            <a:r>
              <a:rPr sz="2800" spc="-80" dirty="0">
                <a:latin typeface="Calibri"/>
                <a:cs typeface="Calibri"/>
              </a:rPr>
              <a:t> </a:t>
            </a:r>
            <a:r>
              <a:rPr sz="2800" spc="-10" dirty="0">
                <a:latin typeface="Calibri"/>
                <a:cs typeface="Calibri"/>
              </a:rPr>
              <a:t>etmek</a:t>
            </a:r>
            <a:endParaRPr sz="2800">
              <a:latin typeface="Calibri"/>
              <a:cs typeface="Calibri"/>
            </a:endParaRPr>
          </a:p>
          <a:p>
            <a:pPr marL="12700" marR="5080">
              <a:lnSpc>
                <a:spcPct val="100000"/>
              </a:lnSpc>
              <a:spcBef>
                <a:spcPts val="5"/>
              </a:spcBef>
            </a:pPr>
            <a:r>
              <a:rPr sz="2800" dirty="0">
                <a:latin typeface="Calibri"/>
                <a:cs typeface="Calibri"/>
              </a:rPr>
              <a:t>için,</a:t>
            </a:r>
            <a:r>
              <a:rPr sz="2800" spc="-95" dirty="0">
                <a:latin typeface="Calibri"/>
                <a:cs typeface="Calibri"/>
              </a:rPr>
              <a:t> </a:t>
            </a:r>
            <a:r>
              <a:rPr sz="2800" spc="-10" dirty="0">
                <a:latin typeface="Calibri"/>
                <a:cs typeface="Calibri"/>
              </a:rPr>
              <a:t>savaşlarda</a:t>
            </a:r>
            <a:r>
              <a:rPr sz="2800" spc="-100" dirty="0">
                <a:latin typeface="Calibri"/>
                <a:cs typeface="Calibri"/>
              </a:rPr>
              <a:t> </a:t>
            </a:r>
            <a:r>
              <a:rPr sz="2800" dirty="0">
                <a:latin typeface="Calibri"/>
                <a:cs typeface="Calibri"/>
              </a:rPr>
              <a:t>taraf</a:t>
            </a:r>
            <a:r>
              <a:rPr sz="2800" spc="-90" dirty="0">
                <a:latin typeface="Calibri"/>
                <a:cs typeface="Calibri"/>
              </a:rPr>
              <a:t> </a:t>
            </a:r>
            <a:r>
              <a:rPr sz="2800" spc="-10" dirty="0">
                <a:latin typeface="Calibri"/>
                <a:cs typeface="Calibri"/>
              </a:rPr>
              <a:t>tutmaz </a:t>
            </a:r>
            <a:r>
              <a:rPr sz="2800" dirty="0">
                <a:latin typeface="Calibri"/>
                <a:cs typeface="Calibri"/>
              </a:rPr>
              <a:t>veya</a:t>
            </a:r>
            <a:r>
              <a:rPr sz="2800" spc="-95" dirty="0">
                <a:latin typeface="Calibri"/>
                <a:cs typeface="Calibri"/>
              </a:rPr>
              <a:t> </a:t>
            </a:r>
            <a:r>
              <a:rPr sz="2800" dirty="0">
                <a:latin typeface="Calibri"/>
                <a:cs typeface="Calibri"/>
              </a:rPr>
              <a:t>siyasal,</a:t>
            </a:r>
            <a:r>
              <a:rPr sz="2800" spc="-114" dirty="0">
                <a:latin typeface="Calibri"/>
                <a:cs typeface="Calibri"/>
              </a:rPr>
              <a:t> </a:t>
            </a:r>
            <a:r>
              <a:rPr sz="2800" dirty="0">
                <a:latin typeface="Calibri"/>
                <a:cs typeface="Calibri"/>
              </a:rPr>
              <a:t>ırksal,</a:t>
            </a:r>
            <a:r>
              <a:rPr sz="2800" spc="-65" dirty="0">
                <a:latin typeface="Calibri"/>
                <a:cs typeface="Calibri"/>
              </a:rPr>
              <a:t> </a:t>
            </a:r>
            <a:r>
              <a:rPr sz="2800" spc="-10" dirty="0">
                <a:latin typeface="Calibri"/>
                <a:cs typeface="Calibri"/>
              </a:rPr>
              <a:t>dinsel </a:t>
            </a:r>
            <a:r>
              <a:rPr sz="2800" dirty="0">
                <a:latin typeface="Calibri"/>
                <a:cs typeface="Calibri"/>
              </a:rPr>
              <a:t>veya</a:t>
            </a:r>
            <a:r>
              <a:rPr sz="2800" spc="-100" dirty="0">
                <a:latin typeface="Calibri"/>
                <a:cs typeface="Calibri"/>
              </a:rPr>
              <a:t> </a:t>
            </a:r>
            <a:r>
              <a:rPr sz="2800" dirty="0">
                <a:latin typeface="Calibri"/>
                <a:cs typeface="Calibri"/>
              </a:rPr>
              <a:t>ideolojik</a:t>
            </a:r>
            <a:r>
              <a:rPr sz="2800" spc="-120" dirty="0">
                <a:latin typeface="Calibri"/>
                <a:cs typeface="Calibri"/>
              </a:rPr>
              <a:t> </a:t>
            </a:r>
            <a:r>
              <a:rPr sz="2800" spc="-10" dirty="0">
                <a:latin typeface="Calibri"/>
                <a:cs typeface="Calibri"/>
              </a:rPr>
              <a:t>nitelikteki</a:t>
            </a:r>
            <a:endParaRPr sz="2800">
              <a:latin typeface="Calibri"/>
              <a:cs typeface="Calibri"/>
            </a:endParaRPr>
          </a:p>
          <a:p>
            <a:pPr marL="12700">
              <a:lnSpc>
                <a:spcPct val="100000"/>
              </a:lnSpc>
              <a:spcBef>
                <a:spcPts val="5"/>
              </a:spcBef>
            </a:pPr>
            <a:r>
              <a:rPr sz="2800" spc="-10" dirty="0">
                <a:latin typeface="Calibri"/>
                <a:cs typeface="Calibri"/>
              </a:rPr>
              <a:t>anlaşmazlıklarda</a:t>
            </a:r>
            <a:r>
              <a:rPr sz="2800" spc="-85" dirty="0">
                <a:latin typeface="Calibri"/>
                <a:cs typeface="Calibri"/>
              </a:rPr>
              <a:t> </a:t>
            </a:r>
            <a:r>
              <a:rPr sz="2800" dirty="0">
                <a:latin typeface="Calibri"/>
                <a:cs typeface="Calibri"/>
              </a:rPr>
              <a:t>yer </a:t>
            </a:r>
            <a:r>
              <a:rPr sz="2800" spc="-10" dirty="0">
                <a:latin typeface="Calibri"/>
                <a:cs typeface="Calibri"/>
              </a:rPr>
              <a:t>almaz.</a:t>
            </a:r>
            <a:endParaRPr sz="2800">
              <a:latin typeface="Calibri"/>
              <a:cs typeface="Calibri"/>
            </a:endParaRPr>
          </a:p>
        </p:txBody>
      </p:sp>
      <p:sp>
        <p:nvSpPr>
          <p:cNvPr id="3" name="object 3"/>
          <p:cNvSpPr/>
          <p:nvPr/>
        </p:nvSpPr>
        <p:spPr>
          <a:xfrm>
            <a:off x="8928100" y="1280794"/>
            <a:ext cx="1905" cy="5220335"/>
          </a:xfrm>
          <a:custGeom>
            <a:avLst/>
            <a:gdLst/>
            <a:ahLst/>
            <a:cxnLst/>
            <a:rect l="l" t="t" r="r" b="b"/>
            <a:pathLst>
              <a:path w="1904" h="5220335">
                <a:moveTo>
                  <a:pt x="1650" y="0"/>
                </a:moveTo>
                <a:lnTo>
                  <a:pt x="0" y="5220042"/>
                </a:lnTo>
              </a:path>
            </a:pathLst>
          </a:custGeom>
          <a:ln w="76200">
            <a:solidFill>
              <a:srgbClr val="C00000"/>
            </a:solidFill>
          </a:ln>
        </p:spPr>
        <p:txBody>
          <a:bodyPr wrap="square" lIns="0" tIns="0" rIns="0" bIns="0" rtlCol="0"/>
          <a:lstStyle/>
          <a:p>
            <a:endParaRPr/>
          </a:p>
        </p:txBody>
      </p:sp>
      <p:sp>
        <p:nvSpPr>
          <p:cNvPr id="5" name="object 5"/>
          <p:cNvSpPr/>
          <p:nvPr/>
        </p:nvSpPr>
        <p:spPr>
          <a:xfrm>
            <a:off x="369582" y="268478"/>
            <a:ext cx="7560309" cy="1905"/>
          </a:xfrm>
          <a:custGeom>
            <a:avLst/>
            <a:gdLst/>
            <a:ahLst/>
            <a:cxnLst/>
            <a:rect l="l" t="t" r="r" b="b"/>
            <a:pathLst>
              <a:path w="7560309" h="1904">
                <a:moveTo>
                  <a:pt x="0" y="0"/>
                </a:moveTo>
                <a:lnTo>
                  <a:pt x="7560043" y="1650"/>
                </a:lnTo>
              </a:path>
            </a:pathLst>
          </a:custGeom>
          <a:ln w="76200">
            <a:solidFill>
              <a:srgbClr val="C00000"/>
            </a:solidFill>
          </a:ln>
        </p:spPr>
        <p:txBody>
          <a:bodyPr wrap="square" lIns="0" tIns="0" rIns="0" bIns="0" rtlCol="0"/>
          <a:lstStyle/>
          <a:p>
            <a:endParaRPr/>
          </a:p>
        </p:txBody>
      </p:sp>
      <p:grpSp>
        <p:nvGrpSpPr>
          <p:cNvPr id="7" name="object 7"/>
          <p:cNvGrpSpPr/>
          <p:nvPr/>
        </p:nvGrpSpPr>
        <p:grpSpPr>
          <a:xfrm>
            <a:off x="0" y="204088"/>
            <a:ext cx="8843645" cy="6654165"/>
            <a:chOff x="0" y="204088"/>
            <a:chExt cx="8843645" cy="6654165"/>
          </a:xfrm>
        </p:grpSpPr>
        <p:sp>
          <p:nvSpPr>
            <p:cNvPr id="8" name="object 8"/>
            <p:cNvSpPr/>
            <p:nvPr/>
          </p:nvSpPr>
          <p:spPr>
            <a:xfrm>
              <a:off x="214287" y="242188"/>
              <a:ext cx="8591550" cy="6187440"/>
            </a:xfrm>
            <a:custGeom>
              <a:avLst/>
              <a:gdLst/>
              <a:ahLst/>
              <a:cxnLst/>
              <a:rect l="l" t="t" r="r" b="b"/>
              <a:pathLst>
                <a:path w="8591550" h="6187440">
                  <a:moveTo>
                    <a:pt x="1587" y="0"/>
                  </a:moveTo>
                  <a:lnTo>
                    <a:pt x="0" y="5072125"/>
                  </a:lnTo>
                </a:path>
                <a:path w="8591550" h="6187440">
                  <a:moveTo>
                    <a:pt x="1643087" y="6185623"/>
                  </a:moveTo>
                  <a:lnTo>
                    <a:pt x="8591130" y="6187211"/>
                  </a:lnTo>
                </a:path>
              </a:pathLst>
            </a:custGeom>
            <a:ln w="76200">
              <a:solidFill>
                <a:srgbClr val="C00000"/>
              </a:solidFill>
            </a:ln>
          </p:spPr>
          <p:txBody>
            <a:bodyPr wrap="square" lIns="0" tIns="0" rIns="0" bIns="0" rtlCol="0"/>
            <a:lstStyle/>
            <a:p>
              <a:endParaRPr/>
            </a:p>
          </p:txBody>
        </p:sp>
        <p:pic>
          <p:nvPicPr>
            <p:cNvPr id="9" name="object 9"/>
            <p:cNvPicPr/>
            <p:nvPr/>
          </p:nvPicPr>
          <p:blipFill>
            <a:blip r:embed="rId2" cstate="print"/>
            <a:stretch>
              <a:fillRect/>
            </a:stretch>
          </p:blipFill>
          <p:spPr>
            <a:xfrm>
              <a:off x="0" y="3775074"/>
              <a:ext cx="3482975" cy="3082925"/>
            </a:xfrm>
            <a:prstGeom prst="rect">
              <a:avLst/>
            </a:prstGeom>
          </p:spPr>
        </p:pic>
      </p:grpSp>
      <p:pic>
        <p:nvPicPr>
          <p:cNvPr id="10" name="Resim 9">
            <a:extLst>
              <a:ext uri="{FF2B5EF4-FFF2-40B4-BE49-F238E27FC236}">
                <a16:creationId xmlns:a16="http://schemas.microsoft.com/office/drawing/2014/main" id="{DDF08B01-B085-AFFE-B379-188CAF18AE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93020" y="0"/>
            <a:ext cx="1255499" cy="136815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23259" y="2236581"/>
            <a:ext cx="3842385" cy="1151084"/>
          </a:xfrm>
          <a:prstGeom prst="rect">
            <a:avLst/>
          </a:prstGeom>
        </p:spPr>
        <p:txBody>
          <a:bodyPr vert="horz" wrap="square" lIns="0" tIns="12700" rIns="0" bIns="0" rtlCol="0">
            <a:spAutoFit/>
          </a:bodyPr>
          <a:lstStyle/>
          <a:p>
            <a:pPr marL="12700" marR="5080">
              <a:lnSpc>
                <a:spcPct val="150100"/>
              </a:lnSpc>
              <a:spcBef>
                <a:spcPts val="100"/>
              </a:spcBef>
              <a:tabLst>
                <a:tab pos="859790" algn="l"/>
                <a:tab pos="2030730" algn="l"/>
                <a:tab pos="3463925" algn="l"/>
              </a:tabLst>
            </a:pPr>
            <a:r>
              <a:rPr sz="2600" b="0" spc="-20" dirty="0">
                <a:solidFill>
                  <a:srgbClr val="000000"/>
                </a:solidFill>
                <a:latin typeface="Calibri"/>
                <a:cs typeface="Calibri"/>
              </a:rPr>
              <a:t>Türk</a:t>
            </a:r>
            <a:r>
              <a:rPr sz="2600" b="0" dirty="0">
                <a:solidFill>
                  <a:srgbClr val="000000"/>
                </a:solidFill>
                <a:latin typeface="Calibri"/>
                <a:cs typeface="Calibri"/>
              </a:rPr>
              <a:t>	</a:t>
            </a:r>
            <a:r>
              <a:rPr sz="2600" b="0" spc="-10" dirty="0" err="1">
                <a:solidFill>
                  <a:srgbClr val="000000"/>
                </a:solidFill>
                <a:latin typeface="Calibri"/>
                <a:cs typeface="Calibri"/>
              </a:rPr>
              <a:t>Kızılay</a:t>
            </a:r>
            <a:r>
              <a:rPr sz="2600" b="0" dirty="0">
                <a:solidFill>
                  <a:srgbClr val="000000"/>
                </a:solidFill>
                <a:latin typeface="Calibri"/>
                <a:cs typeface="Calibri"/>
              </a:rPr>
              <a:t>	</a:t>
            </a:r>
            <a:r>
              <a:rPr sz="2600" b="0" spc="-10" dirty="0">
                <a:solidFill>
                  <a:srgbClr val="000000"/>
                </a:solidFill>
                <a:latin typeface="Calibri"/>
                <a:cs typeface="Calibri"/>
              </a:rPr>
              <a:t>bağımsız</a:t>
            </a:r>
            <a:r>
              <a:rPr sz="2600" b="0" dirty="0">
                <a:solidFill>
                  <a:srgbClr val="000000"/>
                </a:solidFill>
                <a:latin typeface="Calibri"/>
                <a:cs typeface="Calibri"/>
              </a:rPr>
              <a:t>	</a:t>
            </a:r>
            <a:r>
              <a:rPr sz="2600" b="0" spc="-25" dirty="0">
                <a:solidFill>
                  <a:srgbClr val="000000"/>
                </a:solidFill>
                <a:latin typeface="Calibri"/>
                <a:cs typeface="Calibri"/>
              </a:rPr>
              <a:t>bir </a:t>
            </a:r>
            <a:r>
              <a:rPr sz="2600" b="0" spc="-10" dirty="0">
                <a:solidFill>
                  <a:srgbClr val="000000"/>
                </a:solidFill>
                <a:latin typeface="Calibri"/>
                <a:cs typeface="Calibri"/>
              </a:rPr>
              <a:t>kurumdur.</a:t>
            </a:r>
            <a:endParaRPr sz="2600" dirty="0">
              <a:latin typeface="Calibri"/>
              <a:cs typeface="Calibri"/>
            </a:endParaRPr>
          </a:p>
        </p:txBody>
      </p:sp>
      <p:sp>
        <p:nvSpPr>
          <p:cNvPr id="3" name="object 3"/>
          <p:cNvSpPr/>
          <p:nvPr/>
        </p:nvSpPr>
        <p:spPr>
          <a:xfrm>
            <a:off x="8928100" y="1280794"/>
            <a:ext cx="1905" cy="5220335"/>
          </a:xfrm>
          <a:custGeom>
            <a:avLst/>
            <a:gdLst/>
            <a:ahLst/>
            <a:cxnLst/>
            <a:rect l="l" t="t" r="r" b="b"/>
            <a:pathLst>
              <a:path w="1904" h="5220335">
                <a:moveTo>
                  <a:pt x="1650" y="0"/>
                </a:moveTo>
                <a:lnTo>
                  <a:pt x="0" y="5220042"/>
                </a:lnTo>
              </a:path>
            </a:pathLst>
          </a:custGeom>
          <a:ln w="76200">
            <a:solidFill>
              <a:srgbClr val="C00000"/>
            </a:solidFill>
          </a:ln>
        </p:spPr>
        <p:txBody>
          <a:bodyPr wrap="square" lIns="0" tIns="0" rIns="0" bIns="0" rtlCol="0"/>
          <a:lstStyle/>
          <a:p>
            <a:endParaRPr/>
          </a:p>
        </p:txBody>
      </p:sp>
      <p:sp>
        <p:nvSpPr>
          <p:cNvPr id="5" name="object 5"/>
          <p:cNvSpPr/>
          <p:nvPr/>
        </p:nvSpPr>
        <p:spPr>
          <a:xfrm>
            <a:off x="369582" y="268478"/>
            <a:ext cx="7560309" cy="1905"/>
          </a:xfrm>
          <a:custGeom>
            <a:avLst/>
            <a:gdLst/>
            <a:ahLst/>
            <a:cxnLst/>
            <a:rect l="l" t="t" r="r" b="b"/>
            <a:pathLst>
              <a:path w="7560309" h="1904">
                <a:moveTo>
                  <a:pt x="0" y="0"/>
                </a:moveTo>
                <a:lnTo>
                  <a:pt x="7560043" y="1650"/>
                </a:lnTo>
              </a:path>
            </a:pathLst>
          </a:custGeom>
          <a:ln w="76200">
            <a:solidFill>
              <a:srgbClr val="C00000"/>
            </a:solidFill>
          </a:ln>
        </p:spPr>
        <p:txBody>
          <a:bodyPr wrap="square" lIns="0" tIns="0" rIns="0" bIns="0" rtlCol="0"/>
          <a:lstStyle/>
          <a:p>
            <a:endParaRPr/>
          </a:p>
        </p:txBody>
      </p:sp>
      <p:grpSp>
        <p:nvGrpSpPr>
          <p:cNvPr id="7" name="object 7"/>
          <p:cNvGrpSpPr/>
          <p:nvPr/>
        </p:nvGrpSpPr>
        <p:grpSpPr>
          <a:xfrm>
            <a:off x="71428" y="204088"/>
            <a:ext cx="8772525" cy="6565265"/>
            <a:chOff x="71428" y="204088"/>
            <a:chExt cx="8772525" cy="6565265"/>
          </a:xfrm>
        </p:grpSpPr>
        <p:sp>
          <p:nvSpPr>
            <p:cNvPr id="8" name="object 8"/>
            <p:cNvSpPr/>
            <p:nvPr/>
          </p:nvSpPr>
          <p:spPr>
            <a:xfrm>
              <a:off x="214287" y="242188"/>
              <a:ext cx="8591550" cy="6187440"/>
            </a:xfrm>
            <a:custGeom>
              <a:avLst/>
              <a:gdLst/>
              <a:ahLst/>
              <a:cxnLst/>
              <a:rect l="l" t="t" r="r" b="b"/>
              <a:pathLst>
                <a:path w="8591550" h="6187440">
                  <a:moveTo>
                    <a:pt x="1587" y="0"/>
                  </a:moveTo>
                  <a:lnTo>
                    <a:pt x="0" y="5072125"/>
                  </a:lnTo>
                </a:path>
                <a:path w="8591550" h="6187440">
                  <a:moveTo>
                    <a:pt x="1643087" y="6185623"/>
                  </a:moveTo>
                  <a:lnTo>
                    <a:pt x="8591130" y="6187211"/>
                  </a:lnTo>
                </a:path>
              </a:pathLst>
            </a:custGeom>
            <a:ln w="76200">
              <a:solidFill>
                <a:srgbClr val="C00000"/>
              </a:solidFill>
            </a:ln>
          </p:spPr>
          <p:txBody>
            <a:bodyPr wrap="square" lIns="0" tIns="0" rIns="0" bIns="0" rtlCol="0"/>
            <a:lstStyle/>
            <a:p>
              <a:endParaRPr/>
            </a:p>
          </p:txBody>
        </p:sp>
        <p:pic>
          <p:nvPicPr>
            <p:cNvPr id="9" name="object 9"/>
            <p:cNvPicPr/>
            <p:nvPr/>
          </p:nvPicPr>
          <p:blipFill>
            <a:blip r:embed="rId2" cstate="print"/>
            <a:stretch>
              <a:fillRect/>
            </a:stretch>
          </p:blipFill>
          <p:spPr>
            <a:xfrm>
              <a:off x="71428" y="3500373"/>
              <a:ext cx="3214624" cy="3268726"/>
            </a:xfrm>
            <a:prstGeom prst="rect">
              <a:avLst/>
            </a:prstGeom>
          </p:spPr>
        </p:pic>
      </p:grpSp>
      <p:pic>
        <p:nvPicPr>
          <p:cNvPr id="10" name="Resim 9">
            <a:extLst>
              <a:ext uri="{FF2B5EF4-FFF2-40B4-BE49-F238E27FC236}">
                <a16:creationId xmlns:a16="http://schemas.microsoft.com/office/drawing/2014/main" id="{B22C3AAA-4704-1768-1FAC-ADEAEBDDFA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17998" y="0"/>
            <a:ext cx="1255499" cy="136815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38015" y="1682603"/>
            <a:ext cx="3190875" cy="2245360"/>
          </a:xfrm>
          <a:prstGeom prst="rect">
            <a:avLst/>
          </a:prstGeom>
        </p:spPr>
        <p:txBody>
          <a:bodyPr vert="horz" wrap="square" lIns="0" tIns="12065" rIns="0" bIns="0" rtlCol="0">
            <a:spAutoFit/>
          </a:bodyPr>
          <a:lstStyle/>
          <a:p>
            <a:pPr marL="12700" marR="183515">
              <a:lnSpc>
                <a:spcPct val="130100"/>
              </a:lnSpc>
              <a:spcBef>
                <a:spcPts val="95"/>
              </a:spcBef>
            </a:pPr>
            <a:r>
              <a:rPr sz="2800" b="0" dirty="0">
                <a:solidFill>
                  <a:srgbClr val="000000"/>
                </a:solidFill>
                <a:latin typeface="Calibri"/>
                <a:cs typeface="Calibri"/>
              </a:rPr>
              <a:t>Hizmetlerinde</a:t>
            </a:r>
            <a:r>
              <a:rPr sz="2800" b="0" spc="-130" dirty="0">
                <a:solidFill>
                  <a:srgbClr val="000000"/>
                </a:solidFill>
                <a:latin typeface="Calibri"/>
                <a:cs typeface="Calibri"/>
              </a:rPr>
              <a:t> </a:t>
            </a:r>
            <a:r>
              <a:rPr sz="2800" b="0" spc="-10" dirty="0">
                <a:solidFill>
                  <a:srgbClr val="000000"/>
                </a:solidFill>
                <a:latin typeface="Calibri"/>
                <a:cs typeface="Calibri"/>
              </a:rPr>
              <a:t>hiçbir </a:t>
            </a:r>
            <a:r>
              <a:rPr sz="2800" b="0" dirty="0">
                <a:solidFill>
                  <a:srgbClr val="000000"/>
                </a:solidFill>
                <a:latin typeface="Calibri"/>
                <a:cs typeface="Calibri"/>
              </a:rPr>
              <a:t>şekilde</a:t>
            </a:r>
            <a:r>
              <a:rPr sz="2800" b="0" spc="-125" dirty="0">
                <a:solidFill>
                  <a:srgbClr val="000000"/>
                </a:solidFill>
                <a:latin typeface="Calibri"/>
                <a:cs typeface="Calibri"/>
              </a:rPr>
              <a:t> </a:t>
            </a:r>
            <a:r>
              <a:rPr sz="2800" b="0" dirty="0">
                <a:solidFill>
                  <a:srgbClr val="000000"/>
                </a:solidFill>
                <a:latin typeface="Calibri"/>
                <a:cs typeface="Calibri"/>
              </a:rPr>
              <a:t>kazanç</a:t>
            </a:r>
            <a:r>
              <a:rPr sz="2800" b="0" spc="-85" dirty="0">
                <a:solidFill>
                  <a:srgbClr val="000000"/>
                </a:solidFill>
                <a:latin typeface="Calibri"/>
                <a:cs typeface="Calibri"/>
              </a:rPr>
              <a:t> </a:t>
            </a:r>
            <a:r>
              <a:rPr sz="2800" b="0" spc="-20" dirty="0">
                <a:solidFill>
                  <a:srgbClr val="000000"/>
                </a:solidFill>
                <a:latin typeface="Calibri"/>
                <a:cs typeface="Calibri"/>
              </a:rPr>
              <a:t>amacı</a:t>
            </a:r>
            <a:endParaRPr sz="2800">
              <a:latin typeface="Calibri"/>
              <a:cs typeface="Calibri"/>
            </a:endParaRPr>
          </a:p>
          <a:p>
            <a:pPr marL="12700" marR="5080">
              <a:lnSpc>
                <a:spcPct val="130000"/>
              </a:lnSpc>
            </a:pPr>
            <a:r>
              <a:rPr sz="2800" b="0" dirty="0">
                <a:solidFill>
                  <a:srgbClr val="000000"/>
                </a:solidFill>
                <a:latin typeface="Calibri"/>
                <a:cs typeface="Calibri"/>
              </a:rPr>
              <a:t>gütmeyen,</a:t>
            </a:r>
            <a:r>
              <a:rPr sz="2800" b="0" spc="-120" dirty="0">
                <a:solidFill>
                  <a:srgbClr val="000000"/>
                </a:solidFill>
                <a:latin typeface="Calibri"/>
                <a:cs typeface="Calibri"/>
              </a:rPr>
              <a:t> </a:t>
            </a:r>
            <a:r>
              <a:rPr sz="2800" b="0" dirty="0">
                <a:solidFill>
                  <a:srgbClr val="000000"/>
                </a:solidFill>
                <a:latin typeface="Calibri"/>
                <a:cs typeface="Calibri"/>
              </a:rPr>
              <a:t>gönüllü</a:t>
            </a:r>
            <a:r>
              <a:rPr sz="2800" b="0" spc="-114" dirty="0">
                <a:solidFill>
                  <a:srgbClr val="000000"/>
                </a:solidFill>
                <a:latin typeface="Calibri"/>
                <a:cs typeface="Calibri"/>
              </a:rPr>
              <a:t> </a:t>
            </a:r>
            <a:r>
              <a:rPr sz="2800" b="0" spc="-25" dirty="0">
                <a:solidFill>
                  <a:srgbClr val="000000"/>
                </a:solidFill>
                <a:latin typeface="Calibri"/>
                <a:cs typeface="Calibri"/>
              </a:rPr>
              <a:t>bir </a:t>
            </a:r>
            <a:r>
              <a:rPr sz="2800" b="0" dirty="0">
                <a:solidFill>
                  <a:srgbClr val="000000"/>
                </a:solidFill>
                <a:latin typeface="Calibri"/>
                <a:cs typeface="Calibri"/>
              </a:rPr>
              <a:t>yardım</a:t>
            </a:r>
            <a:r>
              <a:rPr sz="2800" b="0" spc="-150" dirty="0">
                <a:solidFill>
                  <a:srgbClr val="000000"/>
                </a:solidFill>
                <a:latin typeface="Calibri"/>
                <a:cs typeface="Calibri"/>
              </a:rPr>
              <a:t> </a:t>
            </a:r>
            <a:r>
              <a:rPr sz="2800" b="0" spc="-10" dirty="0">
                <a:solidFill>
                  <a:srgbClr val="000000"/>
                </a:solidFill>
                <a:latin typeface="Calibri"/>
                <a:cs typeface="Calibri"/>
              </a:rPr>
              <a:t>kurumudur.</a:t>
            </a:r>
            <a:endParaRPr sz="2800">
              <a:latin typeface="Calibri"/>
              <a:cs typeface="Calibri"/>
            </a:endParaRPr>
          </a:p>
        </p:txBody>
      </p:sp>
      <p:sp>
        <p:nvSpPr>
          <p:cNvPr id="3" name="object 3"/>
          <p:cNvSpPr/>
          <p:nvPr/>
        </p:nvSpPr>
        <p:spPr>
          <a:xfrm>
            <a:off x="8928100" y="1280794"/>
            <a:ext cx="1905" cy="5220335"/>
          </a:xfrm>
          <a:custGeom>
            <a:avLst/>
            <a:gdLst/>
            <a:ahLst/>
            <a:cxnLst/>
            <a:rect l="l" t="t" r="r" b="b"/>
            <a:pathLst>
              <a:path w="1904" h="5220335">
                <a:moveTo>
                  <a:pt x="1650" y="0"/>
                </a:moveTo>
                <a:lnTo>
                  <a:pt x="0" y="5220042"/>
                </a:lnTo>
              </a:path>
            </a:pathLst>
          </a:custGeom>
          <a:ln w="76200">
            <a:solidFill>
              <a:srgbClr val="C00000"/>
            </a:solidFill>
          </a:ln>
        </p:spPr>
        <p:txBody>
          <a:bodyPr wrap="square" lIns="0" tIns="0" rIns="0" bIns="0" rtlCol="0"/>
          <a:lstStyle/>
          <a:p>
            <a:endParaRPr/>
          </a:p>
        </p:txBody>
      </p:sp>
      <p:sp>
        <p:nvSpPr>
          <p:cNvPr id="5" name="object 5"/>
          <p:cNvSpPr/>
          <p:nvPr/>
        </p:nvSpPr>
        <p:spPr>
          <a:xfrm>
            <a:off x="369582" y="268478"/>
            <a:ext cx="7560309" cy="1905"/>
          </a:xfrm>
          <a:custGeom>
            <a:avLst/>
            <a:gdLst/>
            <a:ahLst/>
            <a:cxnLst/>
            <a:rect l="l" t="t" r="r" b="b"/>
            <a:pathLst>
              <a:path w="7560309" h="1904">
                <a:moveTo>
                  <a:pt x="0" y="0"/>
                </a:moveTo>
                <a:lnTo>
                  <a:pt x="7560043" y="1650"/>
                </a:lnTo>
              </a:path>
            </a:pathLst>
          </a:custGeom>
          <a:ln w="76200">
            <a:solidFill>
              <a:srgbClr val="C00000"/>
            </a:solidFill>
          </a:ln>
        </p:spPr>
        <p:txBody>
          <a:bodyPr wrap="square" lIns="0" tIns="0" rIns="0" bIns="0" rtlCol="0"/>
          <a:lstStyle/>
          <a:p>
            <a:endParaRPr/>
          </a:p>
        </p:txBody>
      </p:sp>
      <p:grpSp>
        <p:nvGrpSpPr>
          <p:cNvPr id="7" name="object 7"/>
          <p:cNvGrpSpPr/>
          <p:nvPr/>
        </p:nvGrpSpPr>
        <p:grpSpPr>
          <a:xfrm>
            <a:off x="47622" y="204088"/>
            <a:ext cx="8796020" cy="6612890"/>
            <a:chOff x="47622" y="204088"/>
            <a:chExt cx="8796020" cy="6612890"/>
          </a:xfrm>
        </p:grpSpPr>
        <p:sp>
          <p:nvSpPr>
            <p:cNvPr id="8" name="object 8"/>
            <p:cNvSpPr/>
            <p:nvPr/>
          </p:nvSpPr>
          <p:spPr>
            <a:xfrm>
              <a:off x="214287" y="242188"/>
              <a:ext cx="8591550" cy="6187440"/>
            </a:xfrm>
            <a:custGeom>
              <a:avLst/>
              <a:gdLst/>
              <a:ahLst/>
              <a:cxnLst/>
              <a:rect l="l" t="t" r="r" b="b"/>
              <a:pathLst>
                <a:path w="8591550" h="6187440">
                  <a:moveTo>
                    <a:pt x="1587" y="0"/>
                  </a:moveTo>
                  <a:lnTo>
                    <a:pt x="0" y="5072125"/>
                  </a:lnTo>
                </a:path>
                <a:path w="8591550" h="6187440">
                  <a:moveTo>
                    <a:pt x="1643087" y="6185623"/>
                  </a:moveTo>
                  <a:lnTo>
                    <a:pt x="8591130" y="6187211"/>
                  </a:lnTo>
                </a:path>
              </a:pathLst>
            </a:custGeom>
            <a:ln w="76200">
              <a:solidFill>
                <a:srgbClr val="C00000"/>
              </a:solidFill>
            </a:ln>
          </p:spPr>
          <p:txBody>
            <a:bodyPr wrap="square" lIns="0" tIns="0" rIns="0" bIns="0" rtlCol="0"/>
            <a:lstStyle/>
            <a:p>
              <a:endParaRPr/>
            </a:p>
          </p:txBody>
        </p:sp>
        <p:pic>
          <p:nvPicPr>
            <p:cNvPr id="9" name="object 9"/>
            <p:cNvPicPr/>
            <p:nvPr/>
          </p:nvPicPr>
          <p:blipFill>
            <a:blip r:embed="rId2" cstate="print"/>
            <a:stretch>
              <a:fillRect/>
            </a:stretch>
          </p:blipFill>
          <p:spPr>
            <a:xfrm>
              <a:off x="47622" y="3286122"/>
              <a:ext cx="4167124" cy="3530600"/>
            </a:xfrm>
            <a:prstGeom prst="rect">
              <a:avLst/>
            </a:prstGeom>
          </p:spPr>
        </p:pic>
      </p:grpSp>
      <p:pic>
        <p:nvPicPr>
          <p:cNvPr id="10" name="object 2">
            <a:extLst>
              <a:ext uri="{FF2B5EF4-FFF2-40B4-BE49-F238E27FC236}">
                <a16:creationId xmlns:a16="http://schemas.microsoft.com/office/drawing/2014/main" id="{DE8DE2E5-688D-179A-019D-1D449355F481}"/>
              </a:ext>
            </a:extLst>
          </p:cNvPr>
          <p:cNvPicPr/>
          <p:nvPr/>
        </p:nvPicPr>
        <p:blipFill>
          <a:blip r:embed="rId3" cstate="print"/>
          <a:stretch>
            <a:fillRect/>
          </a:stretch>
        </p:blipFill>
        <p:spPr>
          <a:xfrm>
            <a:off x="323415" y="428372"/>
            <a:ext cx="3984963" cy="2804655"/>
          </a:xfrm>
          <a:prstGeom prst="rect">
            <a:avLst/>
          </a:prstGeom>
        </p:spPr>
      </p:pic>
      <p:pic>
        <p:nvPicPr>
          <p:cNvPr id="11" name="Resim 10">
            <a:extLst>
              <a:ext uri="{FF2B5EF4-FFF2-40B4-BE49-F238E27FC236}">
                <a16:creationId xmlns:a16="http://schemas.microsoft.com/office/drawing/2014/main" id="{715396A0-9A5E-B95F-85A9-B296E5C4918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88501" y="27039"/>
            <a:ext cx="1255499" cy="136815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580257" y="1383897"/>
            <a:ext cx="4185285" cy="3910329"/>
          </a:xfrm>
          <a:prstGeom prst="rect">
            <a:avLst/>
          </a:prstGeom>
        </p:spPr>
        <p:txBody>
          <a:bodyPr vert="horz" wrap="square" lIns="0" tIns="12700" rIns="0" bIns="0" rtlCol="0">
            <a:spAutoFit/>
          </a:bodyPr>
          <a:lstStyle/>
          <a:p>
            <a:pPr marL="12700" marR="350520" algn="just">
              <a:lnSpc>
                <a:spcPct val="130000"/>
              </a:lnSpc>
              <a:spcBef>
                <a:spcPts val="100"/>
              </a:spcBef>
            </a:pPr>
            <a:r>
              <a:rPr sz="2800" spc="-40" dirty="0">
                <a:latin typeface="Calibri"/>
                <a:cs typeface="Calibri"/>
              </a:rPr>
              <a:t>Türkiye’de</a:t>
            </a:r>
            <a:r>
              <a:rPr sz="2800" spc="-130" dirty="0">
                <a:latin typeface="Calibri"/>
                <a:cs typeface="Calibri"/>
              </a:rPr>
              <a:t> </a:t>
            </a:r>
            <a:r>
              <a:rPr sz="2800" dirty="0">
                <a:latin typeface="Calibri"/>
                <a:cs typeface="Calibri"/>
              </a:rPr>
              <a:t>“Türkiye</a:t>
            </a:r>
            <a:r>
              <a:rPr sz="2800" spc="-120" dirty="0">
                <a:latin typeface="Calibri"/>
                <a:cs typeface="Calibri"/>
              </a:rPr>
              <a:t> </a:t>
            </a:r>
            <a:r>
              <a:rPr sz="2800" spc="-10" dirty="0">
                <a:latin typeface="Calibri"/>
                <a:cs typeface="Calibri"/>
              </a:rPr>
              <a:t>Kızılay </a:t>
            </a:r>
            <a:r>
              <a:rPr sz="2800" spc="-25" dirty="0">
                <a:latin typeface="Calibri"/>
                <a:cs typeface="Calibri"/>
              </a:rPr>
              <a:t>Derneği”,</a:t>
            </a:r>
            <a:r>
              <a:rPr sz="2800" spc="-90" dirty="0">
                <a:latin typeface="Calibri"/>
                <a:cs typeface="Calibri"/>
              </a:rPr>
              <a:t> </a:t>
            </a:r>
            <a:r>
              <a:rPr sz="2800" dirty="0">
                <a:latin typeface="Calibri"/>
                <a:cs typeface="Calibri"/>
              </a:rPr>
              <a:t>“Türk</a:t>
            </a:r>
            <a:r>
              <a:rPr sz="2800" spc="-60" dirty="0">
                <a:latin typeface="Calibri"/>
                <a:cs typeface="Calibri"/>
              </a:rPr>
              <a:t> </a:t>
            </a:r>
            <a:r>
              <a:rPr sz="2800" spc="-10" dirty="0">
                <a:latin typeface="Calibri"/>
                <a:cs typeface="Calibri"/>
              </a:rPr>
              <a:t>Kızılayı”</a:t>
            </a:r>
            <a:r>
              <a:rPr sz="2800" spc="-120" dirty="0">
                <a:latin typeface="Calibri"/>
                <a:cs typeface="Calibri"/>
              </a:rPr>
              <a:t> </a:t>
            </a:r>
            <a:r>
              <a:rPr sz="2800" spc="-25" dirty="0">
                <a:latin typeface="Calibri"/>
                <a:cs typeface="Calibri"/>
              </a:rPr>
              <a:t>ve </a:t>
            </a:r>
            <a:r>
              <a:rPr sz="2800" dirty="0">
                <a:latin typeface="Calibri"/>
                <a:cs typeface="Calibri"/>
              </a:rPr>
              <a:t>“Kızılay”</a:t>
            </a:r>
            <a:r>
              <a:rPr sz="2800" spc="-130" dirty="0">
                <a:latin typeface="Calibri"/>
                <a:cs typeface="Calibri"/>
              </a:rPr>
              <a:t> </a:t>
            </a:r>
            <a:r>
              <a:rPr sz="2800" dirty="0">
                <a:latin typeface="Calibri"/>
                <a:cs typeface="Calibri"/>
              </a:rPr>
              <a:t>adı</a:t>
            </a:r>
            <a:r>
              <a:rPr sz="2800" spc="-10" dirty="0">
                <a:latin typeface="Calibri"/>
                <a:cs typeface="Calibri"/>
              </a:rPr>
              <a:t> </a:t>
            </a:r>
            <a:r>
              <a:rPr sz="2800" dirty="0">
                <a:latin typeface="Calibri"/>
                <a:cs typeface="Calibri"/>
              </a:rPr>
              <a:t>altında</a:t>
            </a:r>
            <a:r>
              <a:rPr sz="2800" spc="-35" dirty="0">
                <a:latin typeface="Calibri"/>
                <a:cs typeface="Calibri"/>
              </a:rPr>
              <a:t> </a:t>
            </a:r>
            <a:r>
              <a:rPr sz="2800" dirty="0">
                <a:latin typeface="Calibri"/>
                <a:cs typeface="Calibri"/>
              </a:rPr>
              <a:t>tek</a:t>
            </a:r>
            <a:r>
              <a:rPr sz="2800" spc="-45" dirty="0">
                <a:latin typeface="Calibri"/>
                <a:cs typeface="Calibri"/>
              </a:rPr>
              <a:t> </a:t>
            </a:r>
            <a:r>
              <a:rPr sz="2800" spc="-25" dirty="0">
                <a:latin typeface="Calibri"/>
                <a:cs typeface="Calibri"/>
              </a:rPr>
              <a:t>bir</a:t>
            </a:r>
            <a:endParaRPr sz="2800">
              <a:latin typeface="Calibri"/>
              <a:cs typeface="Calibri"/>
            </a:endParaRPr>
          </a:p>
          <a:p>
            <a:pPr marL="12700" marR="5080">
              <a:lnSpc>
                <a:spcPct val="130000"/>
              </a:lnSpc>
            </a:pPr>
            <a:r>
              <a:rPr sz="2800" dirty="0">
                <a:latin typeface="Calibri"/>
                <a:cs typeface="Calibri"/>
              </a:rPr>
              <a:t>dernek</a:t>
            </a:r>
            <a:r>
              <a:rPr sz="2800" spc="-55" dirty="0">
                <a:latin typeface="Calibri"/>
                <a:cs typeface="Calibri"/>
              </a:rPr>
              <a:t> </a:t>
            </a:r>
            <a:r>
              <a:rPr sz="2800" spc="-25" dirty="0">
                <a:latin typeface="Calibri"/>
                <a:cs typeface="Calibri"/>
              </a:rPr>
              <a:t>kurulabilir.</a:t>
            </a:r>
            <a:r>
              <a:rPr sz="2800" spc="-60" dirty="0">
                <a:latin typeface="Calibri"/>
                <a:cs typeface="Calibri"/>
              </a:rPr>
              <a:t> </a:t>
            </a:r>
            <a:r>
              <a:rPr sz="2800" dirty="0">
                <a:latin typeface="Calibri"/>
                <a:cs typeface="Calibri"/>
              </a:rPr>
              <a:t>Bu</a:t>
            </a:r>
            <a:r>
              <a:rPr sz="2800" spc="-50" dirty="0">
                <a:latin typeface="Calibri"/>
                <a:cs typeface="Calibri"/>
              </a:rPr>
              <a:t> </a:t>
            </a:r>
            <a:r>
              <a:rPr sz="2800" spc="-10" dirty="0">
                <a:latin typeface="Calibri"/>
                <a:cs typeface="Calibri"/>
              </a:rPr>
              <a:t>dernek herkese</a:t>
            </a:r>
            <a:r>
              <a:rPr sz="2800" spc="-90" dirty="0">
                <a:latin typeface="Calibri"/>
                <a:cs typeface="Calibri"/>
              </a:rPr>
              <a:t> </a:t>
            </a:r>
            <a:r>
              <a:rPr sz="2800" dirty="0">
                <a:latin typeface="Calibri"/>
                <a:cs typeface="Calibri"/>
              </a:rPr>
              <a:t>açıktır</a:t>
            </a:r>
            <a:r>
              <a:rPr sz="2800" spc="-50" dirty="0">
                <a:latin typeface="Calibri"/>
                <a:cs typeface="Calibri"/>
              </a:rPr>
              <a:t> </a:t>
            </a:r>
            <a:r>
              <a:rPr sz="2800" dirty="0">
                <a:latin typeface="Calibri"/>
                <a:cs typeface="Calibri"/>
              </a:rPr>
              <a:t>ve</a:t>
            </a:r>
            <a:r>
              <a:rPr sz="2800" spc="-60" dirty="0">
                <a:latin typeface="Calibri"/>
                <a:cs typeface="Calibri"/>
              </a:rPr>
              <a:t> </a:t>
            </a:r>
            <a:r>
              <a:rPr sz="2800" spc="-10" dirty="0">
                <a:latin typeface="Calibri"/>
                <a:cs typeface="Calibri"/>
              </a:rPr>
              <a:t>insani çalışmalarını</a:t>
            </a:r>
            <a:r>
              <a:rPr sz="2800" spc="-130" dirty="0">
                <a:latin typeface="Calibri"/>
                <a:cs typeface="Calibri"/>
              </a:rPr>
              <a:t> </a:t>
            </a:r>
            <a:r>
              <a:rPr sz="2800" dirty="0">
                <a:latin typeface="Calibri"/>
                <a:cs typeface="Calibri"/>
              </a:rPr>
              <a:t>ülkenin</a:t>
            </a:r>
            <a:r>
              <a:rPr sz="2800" spc="-50" dirty="0">
                <a:latin typeface="Calibri"/>
                <a:cs typeface="Calibri"/>
              </a:rPr>
              <a:t> </a:t>
            </a:r>
            <a:r>
              <a:rPr sz="2800" spc="-25" dirty="0">
                <a:latin typeface="Calibri"/>
                <a:cs typeface="Calibri"/>
              </a:rPr>
              <a:t>her </a:t>
            </a:r>
            <a:r>
              <a:rPr sz="2800" spc="-10" dirty="0">
                <a:latin typeface="Calibri"/>
                <a:cs typeface="Calibri"/>
              </a:rPr>
              <a:t>köşesinde</a:t>
            </a:r>
            <a:r>
              <a:rPr sz="2800" spc="-105" dirty="0">
                <a:latin typeface="Calibri"/>
                <a:cs typeface="Calibri"/>
              </a:rPr>
              <a:t> </a:t>
            </a:r>
            <a:r>
              <a:rPr sz="2800" dirty="0">
                <a:latin typeface="Calibri"/>
                <a:cs typeface="Calibri"/>
              </a:rPr>
              <a:t>yerine</a:t>
            </a:r>
            <a:r>
              <a:rPr sz="2800" spc="-90" dirty="0">
                <a:latin typeface="Calibri"/>
                <a:cs typeface="Calibri"/>
              </a:rPr>
              <a:t> </a:t>
            </a:r>
            <a:r>
              <a:rPr sz="2800" spc="-10" dirty="0">
                <a:latin typeface="Calibri"/>
                <a:cs typeface="Calibri"/>
              </a:rPr>
              <a:t>getirir.</a:t>
            </a:r>
            <a:endParaRPr sz="2800">
              <a:latin typeface="Calibri"/>
              <a:cs typeface="Calibri"/>
            </a:endParaRPr>
          </a:p>
        </p:txBody>
      </p:sp>
      <p:sp>
        <p:nvSpPr>
          <p:cNvPr id="3" name="object 3"/>
          <p:cNvSpPr/>
          <p:nvPr/>
        </p:nvSpPr>
        <p:spPr>
          <a:xfrm>
            <a:off x="8928100" y="1280794"/>
            <a:ext cx="1905" cy="5220335"/>
          </a:xfrm>
          <a:custGeom>
            <a:avLst/>
            <a:gdLst/>
            <a:ahLst/>
            <a:cxnLst/>
            <a:rect l="l" t="t" r="r" b="b"/>
            <a:pathLst>
              <a:path w="1904" h="5220335">
                <a:moveTo>
                  <a:pt x="1650" y="0"/>
                </a:moveTo>
                <a:lnTo>
                  <a:pt x="0" y="5220042"/>
                </a:lnTo>
              </a:path>
            </a:pathLst>
          </a:custGeom>
          <a:ln w="76200">
            <a:solidFill>
              <a:srgbClr val="C00000"/>
            </a:solidFill>
          </a:ln>
        </p:spPr>
        <p:txBody>
          <a:bodyPr wrap="square" lIns="0" tIns="0" rIns="0" bIns="0" rtlCol="0"/>
          <a:lstStyle/>
          <a:p>
            <a:endParaRPr/>
          </a:p>
        </p:txBody>
      </p:sp>
      <p:sp>
        <p:nvSpPr>
          <p:cNvPr id="5" name="object 5"/>
          <p:cNvSpPr/>
          <p:nvPr/>
        </p:nvSpPr>
        <p:spPr>
          <a:xfrm>
            <a:off x="369582" y="268478"/>
            <a:ext cx="7560309" cy="1905"/>
          </a:xfrm>
          <a:custGeom>
            <a:avLst/>
            <a:gdLst/>
            <a:ahLst/>
            <a:cxnLst/>
            <a:rect l="l" t="t" r="r" b="b"/>
            <a:pathLst>
              <a:path w="7560309" h="1904">
                <a:moveTo>
                  <a:pt x="0" y="0"/>
                </a:moveTo>
                <a:lnTo>
                  <a:pt x="7560043" y="1650"/>
                </a:lnTo>
              </a:path>
            </a:pathLst>
          </a:custGeom>
          <a:ln w="76200">
            <a:solidFill>
              <a:srgbClr val="C00000"/>
            </a:solidFill>
          </a:ln>
        </p:spPr>
        <p:txBody>
          <a:bodyPr wrap="square" lIns="0" tIns="0" rIns="0" bIns="0" rtlCol="0"/>
          <a:lstStyle/>
          <a:p>
            <a:endParaRPr/>
          </a:p>
        </p:txBody>
      </p:sp>
      <p:grpSp>
        <p:nvGrpSpPr>
          <p:cNvPr id="7" name="object 7"/>
          <p:cNvGrpSpPr/>
          <p:nvPr/>
        </p:nvGrpSpPr>
        <p:grpSpPr>
          <a:xfrm>
            <a:off x="63488" y="204088"/>
            <a:ext cx="8780145" cy="6503670"/>
            <a:chOff x="63488" y="204088"/>
            <a:chExt cx="8780145" cy="6503670"/>
          </a:xfrm>
        </p:grpSpPr>
        <p:sp>
          <p:nvSpPr>
            <p:cNvPr id="8" name="object 8"/>
            <p:cNvSpPr/>
            <p:nvPr/>
          </p:nvSpPr>
          <p:spPr>
            <a:xfrm>
              <a:off x="214287" y="242188"/>
              <a:ext cx="8591550" cy="6187440"/>
            </a:xfrm>
            <a:custGeom>
              <a:avLst/>
              <a:gdLst/>
              <a:ahLst/>
              <a:cxnLst/>
              <a:rect l="l" t="t" r="r" b="b"/>
              <a:pathLst>
                <a:path w="8591550" h="6187440">
                  <a:moveTo>
                    <a:pt x="1587" y="0"/>
                  </a:moveTo>
                  <a:lnTo>
                    <a:pt x="0" y="5072125"/>
                  </a:lnTo>
                </a:path>
                <a:path w="8591550" h="6187440">
                  <a:moveTo>
                    <a:pt x="1643087" y="6185623"/>
                  </a:moveTo>
                  <a:lnTo>
                    <a:pt x="8591130" y="6187211"/>
                  </a:lnTo>
                </a:path>
              </a:pathLst>
            </a:custGeom>
            <a:ln w="76200">
              <a:solidFill>
                <a:srgbClr val="C00000"/>
              </a:solidFill>
            </a:ln>
          </p:spPr>
          <p:txBody>
            <a:bodyPr wrap="square" lIns="0" tIns="0" rIns="0" bIns="0" rtlCol="0"/>
            <a:lstStyle/>
            <a:p>
              <a:endParaRPr/>
            </a:p>
          </p:txBody>
        </p:sp>
        <p:pic>
          <p:nvPicPr>
            <p:cNvPr id="9" name="object 9"/>
            <p:cNvPicPr/>
            <p:nvPr/>
          </p:nvPicPr>
          <p:blipFill>
            <a:blip r:embed="rId2" cstate="print"/>
            <a:stretch>
              <a:fillRect/>
            </a:stretch>
          </p:blipFill>
          <p:spPr>
            <a:xfrm>
              <a:off x="63488" y="3071812"/>
              <a:ext cx="2865374" cy="3635375"/>
            </a:xfrm>
            <a:prstGeom prst="rect">
              <a:avLst/>
            </a:prstGeom>
          </p:spPr>
        </p:pic>
      </p:grpSp>
      <p:pic>
        <p:nvPicPr>
          <p:cNvPr id="10" name="Resim 9">
            <a:extLst>
              <a:ext uri="{FF2B5EF4-FFF2-40B4-BE49-F238E27FC236}">
                <a16:creationId xmlns:a16="http://schemas.microsoft.com/office/drawing/2014/main" id="{4503BE13-6F5E-C200-DCA9-CD0B232EBD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12685" y="-11293"/>
            <a:ext cx="1255499" cy="136815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723259" y="1539855"/>
            <a:ext cx="4191635" cy="3355340"/>
          </a:xfrm>
          <a:prstGeom prst="rect">
            <a:avLst/>
          </a:prstGeom>
        </p:spPr>
        <p:txBody>
          <a:bodyPr vert="horz" wrap="square" lIns="0" tIns="11430" rIns="0" bIns="0" rtlCol="0">
            <a:spAutoFit/>
          </a:bodyPr>
          <a:lstStyle/>
          <a:p>
            <a:pPr marL="12700" marR="248285">
              <a:lnSpc>
                <a:spcPct val="130100"/>
              </a:lnSpc>
              <a:spcBef>
                <a:spcPts val="90"/>
              </a:spcBef>
            </a:pPr>
            <a:r>
              <a:rPr sz="2800" dirty="0">
                <a:latin typeface="Calibri"/>
                <a:cs typeface="Calibri"/>
              </a:rPr>
              <a:t>Diğer</a:t>
            </a:r>
            <a:r>
              <a:rPr sz="2800" spc="-114" dirty="0">
                <a:latin typeface="Calibri"/>
                <a:cs typeface="Calibri"/>
              </a:rPr>
              <a:t> </a:t>
            </a:r>
            <a:r>
              <a:rPr sz="2800" dirty="0">
                <a:latin typeface="Calibri"/>
                <a:cs typeface="Calibri"/>
              </a:rPr>
              <a:t>ülke</a:t>
            </a:r>
            <a:r>
              <a:rPr sz="2800" spc="-55" dirty="0">
                <a:latin typeface="Calibri"/>
                <a:cs typeface="Calibri"/>
              </a:rPr>
              <a:t> </a:t>
            </a:r>
            <a:r>
              <a:rPr sz="2800" dirty="0">
                <a:latin typeface="Calibri"/>
                <a:cs typeface="Calibri"/>
              </a:rPr>
              <a:t>ulusal</a:t>
            </a:r>
            <a:r>
              <a:rPr sz="2800" spc="-55" dirty="0">
                <a:latin typeface="Calibri"/>
                <a:cs typeface="Calibri"/>
              </a:rPr>
              <a:t> </a:t>
            </a:r>
            <a:r>
              <a:rPr sz="2800" spc="-10" dirty="0">
                <a:latin typeface="Calibri"/>
                <a:cs typeface="Calibri"/>
              </a:rPr>
              <a:t>dernekleri </a:t>
            </a:r>
            <a:r>
              <a:rPr sz="2800" dirty="0">
                <a:latin typeface="Calibri"/>
                <a:cs typeface="Calibri"/>
              </a:rPr>
              <a:t>ile</a:t>
            </a:r>
            <a:r>
              <a:rPr sz="2800" spc="-65" dirty="0">
                <a:latin typeface="Calibri"/>
                <a:cs typeface="Calibri"/>
              </a:rPr>
              <a:t> </a:t>
            </a:r>
            <a:r>
              <a:rPr sz="2800" dirty="0">
                <a:latin typeface="Calibri"/>
                <a:cs typeface="Calibri"/>
              </a:rPr>
              <a:t>eşit</a:t>
            </a:r>
            <a:r>
              <a:rPr sz="2800" spc="-65" dirty="0">
                <a:latin typeface="Calibri"/>
                <a:cs typeface="Calibri"/>
              </a:rPr>
              <a:t> </a:t>
            </a:r>
            <a:r>
              <a:rPr sz="2800" spc="-10" dirty="0">
                <a:latin typeface="Calibri"/>
                <a:cs typeface="Calibri"/>
              </a:rPr>
              <a:t>statüye</a:t>
            </a:r>
            <a:r>
              <a:rPr sz="2800" spc="-65" dirty="0">
                <a:latin typeface="Calibri"/>
                <a:cs typeface="Calibri"/>
              </a:rPr>
              <a:t> </a:t>
            </a:r>
            <a:r>
              <a:rPr sz="2800" dirty="0">
                <a:latin typeface="Calibri"/>
                <a:cs typeface="Calibri"/>
              </a:rPr>
              <a:t>sahip</a:t>
            </a:r>
            <a:r>
              <a:rPr sz="2800" spc="-25" dirty="0">
                <a:latin typeface="Calibri"/>
                <a:cs typeface="Calibri"/>
              </a:rPr>
              <a:t> ve</a:t>
            </a:r>
            <a:endParaRPr sz="2800">
              <a:latin typeface="Calibri"/>
              <a:cs typeface="Calibri"/>
            </a:endParaRPr>
          </a:p>
          <a:p>
            <a:pPr marL="12700" marR="5080">
              <a:lnSpc>
                <a:spcPct val="130000"/>
              </a:lnSpc>
              <a:spcBef>
                <a:spcPts val="5"/>
              </a:spcBef>
            </a:pPr>
            <a:r>
              <a:rPr sz="2800" spc="-10" dirty="0">
                <a:latin typeface="Calibri"/>
                <a:cs typeface="Calibri"/>
              </a:rPr>
              <a:t>karşılıklı</a:t>
            </a:r>
            <a:r>
              <a:rPr sz="2800" spc="-85" dirty="0">
                <a:latin typeface="Calibri"/>
                <a:cs typeface="Calibri"/>
              </a:rPr>
              <a:t> </a:t>
            </a:r>
            <a:r>
              <a:rPr sz="2800" spc="-10" dirty="0">
                <a:latin typeface="Calibri"/>
                <a:cs typeface="Calibri"/>
              </a:rPr>
              <a:t>yardımlaşmada </a:t>
            </a:r>
            <a:r>
              <a:rPr sz="2800" dirty="0">
                <a:latin typeface="Calibri"/>
                <a:cs typeface="Calibri"/>
              </a:rPr>
              <a:t>onlarla</a:t>
            </a:r>
            <a:r>
              <a:rPr sz="2800" spc="-75" dirty="0">
                <a:latin typeface="Calibri"/>
                <a:cs typeface="Calibri"/>
              </a:rPr>
              <a:t> </a:t>
            </a:r>
            <a:r>
              <a:rPr sz="2800" dirty="0">
                <a:latin typeface="Calibri"/>
                <a:cs typeface="Calibri"/>
              </a:rPr>
              <a:t>eşit</a:t>
            </a:r>
            <a:r>
              <a:rPr sz="2800" spc="-30" dirty="0">
                <a:latin typeface="Calibri"/>
                <a:cs typeface="Calibri"/>
              </a:rPr>
              <a:t> </a:t>
            </a:r>
            <a:r>
              <a:rPr sz="2800" dirty="0">
                <a:latin typeface="Calibri"/>
                <a:cs typeface="Calibri"/>
              </a:rPr>
              <a:t>sorumlulukları</a:t>
            </a:r>
            <a:r>
              <a:rPr sz="2800" spc="-70" dirty="0">
                <a:latin typeface="Calibri"/>
                <a:cs typeface="Calibri"/>
              </a:rPr>
              <a:t> </a:t>
            </a:r>
            <a:r>
              <a:rPr sz="2800" spc="-25" dirty="0">
                <a:latin typeface="Calibri"/>
                <a:cs typeface="Calibri"/>
              </a:rPr>
              <a:t>ve </a:t>
            </a:r>
            <a:r>
              <a:rPr sz="2800" spc="-10" dirty="0">
                <a:latin typeface="Calibri"/>
                <a:cs typeface="Calibri"/>
              </a:rPr>
              <a:t>görevleri</a:t>
            </a:r>
            <a:r>
              <a:rPr sz="2800" spc="-135" dirty="0">
                <a:latin typeface="Calibri"/>
                <a:cs typeface="Calibri"/>
              </a:rPr>
              <a:t> </a:t>
            </a:r>
            <a:r>
              <a:rPr sz="2800" dirty="0">
                <a:latin typeface="Calibri"/>
                <a:cs typeface="Calibri"/>
              </a:rPr>
              <a:t>paylaşan</a:t>
            </a:r>
            <a:r>
              <a:rPr sz="2800" spc="-65" dirty="0">
                <a:latin typeface="Calibri"/>
                <a:cs typeface="Calibri"/>
              </a:rPr>
              <a:t> </a:t>
            </a:r>
            <a:r>
              <a:rPr sz="2800" spc="-10" dirty="0">
                <a:latin typeface="Calibri"/>
                <a:cs typeface="Calibri"/>
              </a:rPr>
              <a:t>Kızılay, </a:t>
            </a:r>
            <a:r>
              <a:rPr sz="2800" dirty="0">
                <a:latin typeface="Calibri"/>
                <a:cs typeface="Calibri"/>
              </a:rPr>
              <a:t>evrensel</a:t>
            </a:r>
            <a:r>
              <a:rPr sz="2800" spc="-95" dirty="0">
                <a:latin typeface="Calibri"/>
                <a:cs typeface="Calibri"/>
              </a:rPr>
              <a:t> </a:t>
            </a:r>
            <a:r>
              <a:rPr sz="2800" dirty="0">
                <a:latin typeface="Calibri"/>
                <a:cs typeface="Calibri"/>
              </a:rPr>
              <a:t>bir</a:t>
            </a:r>
            <a:r>
              <a:rPr sz="2800" spc="-55" dirty="0">
                <a:latin typeface="Calibri"/>
                <a:cs typeface="Calibri"/>
              </a:rPr>
              <a:t> </a:t>
            </a:r>
            <a:r>
              <a:rPr sz="2800" spc="-10" dirty="0">
                <a:latin typeface="Calibri"/>
                <a:cs typeface="Calibri"/>
              </a:rPr>
              <a:t>kurumdur.</a:t>
            </a:r>
            <a:endParaRPr sz="2800">
              <a:latin typeface="Calibri"/>
              <a:cs typeface="Calibri"/>
            </a:endParaRPr>
          </a:p>
        </p:txBody>
      </p:sp>
      <p:sp>
        <p:nvSpPr>
          <p:cNvPr id="3" name="object 3"/>
          <p:cNvSpPr/>
          <p:nvPr/>
        </p:nvSpPr>
        <p:spPr>
          <a:xfrm>
            <a:off x="8928100" y="1280794"/>
            <a:ext cx="1905" cy="5220335"/>
          </a:xfrm>
          <a:custGeom>
            <a:avLst/>
            <a:gdLst/>
            <a:ahLst/>
            <a:cxnLst/>
            <a:rect l="l" t="t" r="r" b="b"/>
            <a:pathLst>
              <a:path w="1904" h="5220335">
                <a:moveTo>
                  <a:pt x="1650" y="0"/>
                </a:moveTo>
                <a:lnTo>
                  <a:pt x="0" y="5220042"/>
                </a:lnTo>
              </a:path>
            </a:pathLst>
          </a:custGeom>
          <a:ln w="76200">
            <a:solidFill>
              <a:srgbClr val="C00000"/>
            </a:solidFill>
          </a:ln>
        </p:spPr>
        <p:txBody>
          <a:bodyPr wrap="square" lIns="0" tIns="0" rIns="0" bIns="0" rtlCol="0"/>
          <a:lstStyle/>
          <a:p>
            <a:endParaRPr/>
          </a:p>
        </p:txBody>
      </p:sp>
      <p:sp>
        <p:nvSpPr>
          <p:cNvPr id="5" name="object 5"/>
          <p:cNvSpPr/>
          <p:nvPr/>
        </p:nvSpPr>
        <p:spPr>
          <a:xfrm>
            <a:off x="369582" y="268478"/>
            <a:ext cx="7560309" cy="1905"/>
          </a:xfrm>
          <a:custGeom>
            <a:avLst/>
            <a:gdLst/>
            <a:ahLst/>
            <a:cxnLst/>
            <a:rect l="l" t="t" r="r" b="b"/>
            <a:pathLst>
              <a:path w="7560309" h="1904">
                <a:moveTo>
                  <a:pt x="0" y="0"/>
                </a:moveTo>
                <a:lnTo>
                  <a:pt x="7560043" y="1650"/>
                </a:lnTo>
              </a:path>
            </a:pathLst>
          </a:custGeom>
          <a:ln w="76200">
            <a:solidFill>
              <a:srgbClr val="C00000"/>
            </a:solidFill>
          </a:ln>
        </p:spPr>
        <p:txBody>
          <a:bodyPr wrap="square" lIns="0" tIns="0" rIns="0" bIns="0" rtlCol="0"/>
          <a:lstStyle/>
          <a:p>
            <a:endParaRPr/>
          </a:p>
        </p:txBody>
      </p:sp>
      <p:grpSp>
        <p:nvGrpSpPr>
          <p:cNvPr id="7" name="object 7"/>
          <p:cNvGrpSpPr/>
          <p:nvPr/>
        </p:nvGrpSpPr>
        <p:grpSpPr>
          <a:xfrm>
            <a:off x="71429" y="204088"/>
            <a:ext cx="8772525" cy="6535420"/>
            <a:chOff x="71429" y="204088"/>
            <a:chExt cx="8772525" cy="6535420"/>
          </a:xfrm>
        </p:grpSpPr>
        <p:sp>
          <p:nvSpPr>
            <p:cNvPr id="8" name="object 8"/>
            <p:cNvSpPr/>
            <p:nvPr/>
          </p:nvSpPr>
          <p:spPr>
            <a:xfrm>
              <a:off x="214287" y="242188"/>
              <a:ext cx="8591550" cy="6187440"/>
            </a:xfrm>
            <a:custGeom>
              <a:avLst/>
              <a:gdLst/>
              <a:ahLst/>
              <a:cxnLst/>
              <a:rect l="l" t="t" r="r" b="b"/>
              <a:pathLst>
                <a:path w="8591550" h="6187440">
                  <a:moveTo>
                    <a:pt x="1587" y="0"/>
                  </a:moveTo>
                  <a:lnTo>
                    <a:pt x="0" y="5072125"/>
                  </a:lnTo>
                </a:path>
                <a:path w="8591550" h="6187440">
                  <a:moveTo>
                    <a:pt x="1643087" y="6185623"/>
                  </a:moveTo>
                  <a:lnTo>
                    <a:pt x="8591130" y="6187211"/>
                  </a:lnTo>
                </a:path>
              </a:pathLst>
            </a:custGeom>
            <a:ln w="76200">
              <a:solidFill>
                <a:srgbClr val="C00000"/>
              </a:solidFill>
            </a:ln>
          </p:spPr>
          <p:txBody>
            <a:bodyPr wrap="square" lIns="0" tIns="0" rIns="0" bIns="0" rtlCol="0"/>
            <a:lstStyle/>
            <a:p>
              <a:endParaRPr/>
            </a:p>
          </p:txBody>
        </p:sp>
        <p:pic>
          <p:nvPicPr>
            <p:cNvPr id="9" name="object 9"/>
            <p:cNvPicPr/>
            <p:nvPr/>
          </p:nvPicPr>
          <p:blipFill>
            <a:blip r:embed="rId2" cstate="print"/>
            <a:stretch>
              <a:fillRect/>
            </a:stretch>
          </p:blipFill>
          <p:spPr>
            <a:xfrm>
              <a:off x="71429" y="3214684"/>
              <a:ext cx="3429000" cy="3524250"/>
            </a:xfrm>
            <a:prstGeom prst="rect">
              <a:avLst/>
            </a:prstGeom>
          </p:spPr>
        </p:pic>
      </p:grpSp>
      <p:pic>
        <p:nvPicPr>
          <p:cNvPr id="10" name="Resim 9">
            <a:extLst>
              <a:ext uri="{FF2B5EF4-FFF2-40B4-BE49-F238E27FC236}">
                <a16:creationId xmlns:a16="http://schemas.microsoft.com/office/drawing/2014/main" id="{470439EA-D674-3FB2-90CC-D1C32ADDFE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88501" y="0"/>
            <a:ext cx="1255499" cy="136815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858C9-C2C1-546B-C353-4486D55C295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8157A58-BDA9-887C-F98A-134D58C1DE38}"/>
              </a:ext>
            </a:extLst>
          </p:cNvPr>
          <p:cNvSpPr/>
          <p:nvPr/>
        </p:nvSpPr>
        <p:spPr>
          <a:xfrm>
            <a:off x="214287" y="285750"/>
            <a:ext cx="1905" cy="5072380"/>
          </a:xfrm>
          <a:custGeom>
            <a:avLst/>
            <a:gdLst/>
            <a:ahLst/>
            <a:cxnLst/>
            <a:rect l="l" t="t" r="r" b="b"/>
            <a:pathLst>
              <a:path w="1904" h="5072380">
                <a:moveTo>
                  <a:pt x="1587" y="0"/>
                </a:moveTo>
                <a:lnTo>
                  <a:pt x="0" y="5072126"/>
                </a:lnTo>
              </a:path>
            </a:pathLst>
          </a:custGeom>
          <a:ln w="76200">
            <a:solidFill>
              <a:srgbClr val="C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F6588753-AFB5-0122-36FB-5EB9AA18B836}"/>
              </a:ext>
            </a:extLst>
          </p:cNvPr>
          <p:cNvSpPr/>
          <p:nvPr/>
        </p:nvSpPr>
        <p:spPr>
          <a:xfrm>
            <a:off x="8928100" y="285750"/>
            <a:ext cx="1905" cy="6120130"/>
          </a:xfrm>
          <a:custGeom>
            <a:avLst/>
            <a:gdLst/>
            <a:ahLst/>
            <a:cxnLst/>
            <a:rect l="l" t="t" r="r" b="b"/>
            <a:pathLst>
              <a:path w="1904" h="6120130">
                <a:moveTo>
                  <a:pt x="1650" y="0"/>
                </a:moveTo>
                <a:lnTo>
                  <a:pt x="0" y="6119977"/>
                </a:lnTo>
              </a:path>
            </a:pathLst>
          </a:custGeom>
          <a:ln w="76200">
            <a:solidFill>
              <a:srgbClr val="C00000"/>
            </a:solidFill>
          </a:ln>
        </p:spPr>
        <p:txBody>
          <a:bodyPr wrap="square" lIns="0" tIns="0" rIns="0" bIns="0" rtlCol="0"/>
          <a:lstStyle/>
          <a:p>
            <a:endParaRPr/>
          </a:p>
        </p:txBody>
      </p:sp>
      <p:sp>
        <p:nvSpPr>
          <p:cNvPr id="5" name="object 5">
            <a:extLst>
              <a:ext uri="{FF2B5EF4-FFF2-40B4-BE49-F238E27FC236}">
                <a16:creationId xmlns:a16="http://schemas.microsoft.com/office/drawing/2014/main" id="{3AA87122-39CD-8C3D-6732-7B1ADAD99360}"/>
              </a:ext>
            </a:extLst>
          </p:cNvPr>
          <p:cNvSpPr/>
          <p:nvPr/>
        </p:nvSpPr>
        <p:spPr>
          <a:xfrm>
            <a:off x="1857375" y="6357963"/>
            <a:ext cx="6948170" cy="1905"/>
          </a:xfrm>
          <a:custGeom>
            <a:avLst/>
            <a:gdLst/>
            <a:ahLst/>
            <a:cxnLst/>
            <a:rect l="l" t="t" r="r" b="b"/>
            <a:pathLst>
              <a:path w="6948170" h="1904">
                <a:moveTo>
                  <a:pt x="0" y="0"/>
                </a:moveTo>
                <a:lnTo>
                  <a:pt x="6948043" y="1587"/>
                </a:lnTo>
              </a:path>
            </a:pathLst>
          </a:custGeom>
          <a:ln w="76200">
            <a:solidFill>
              <a:srgbClr val="C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07A061F7-3D62-DA82-FC5F-7D6174020F6C}"/>
              </a:ext>
            </a:extLst>
          </p:cNvPr>
          <p:cNvSpPr/>
          <p:nvPr/>
        </p:nvSpPr>
        <p:spPr>
          <a:xfrm>
            <a:off x="357162" y="334009"/>
            <a:ext cx="8424545" cy="1905"/>
          </a:xfrm>
          <a:custGeom>
            <a:avLst/>
            <a:gdLst/>
            <a:ahLst/>
            <a:cxnLst/>
            <a:rect l="l" t="t" r="r" b="b"/>
            <a:pathLst>
              <a:path w="8424545" h="1904">
                <a:moveTo>
                  <a:pt x="0" y="0"/>
                </a:moveTo>
                <a:lnTo>
                  <a:pt x="8423998" y="1650"/>
                </a:lnTo>
              </a:path>
            </a:pathLst>
          </a:custGeom>
          <a:ln w="76200">
            <a:solidFill>
              <a:srgbClr val="C00000"/>
            </a:solidFill>
          </a:ln>
        </p:spPr>
        <p:txBody>
          <a:bodyPr wrap="square" lIns="0" tIns="0" rIns="0" bIns="0" rtlCol="0"/>
          <a:lstStyle/>
          <a:p>
            <a:endParaRPr/>
          </a:p>
        </p:txBody>
      </p:sp>
      <p:sp>
        <p:nvSpPr>
          <p:cNvPr id="9" name="Metin kutusu 8">
            <a:extLst>
              <a:ext uri="{FF2B5EF4-FFF2-40B4-BE49-F238E27FC236}">
                <a16:creationId xmlns:a16="http://schemas.microsoft.com/office/drawing/2014/main" id="{A014B02E-30ED-1547-D072-81B1F9944F41}"/>
              </a:ext>
            </a:extLst>
          </p:cNvPr>
          <p:cNvSpPr txBox="1"/>
          <p:nvPr/>
        </p:nvSpPr>
        <p:spPr>
          <a:xfrm>
            <a:off x="609600" y="524774"/>
            <a:ext cx="5562600" cy="830997"/>
          </a:xfrm>
          <a:prstGeom prst="rect">
            <a:avLst/>
          </a:prstGeom>
          <a:noFill/>
        </p:spPr>
        <p:txBody>
          <a:bodyPr wrap="square">
            <a:spAutoFit/>
          </a:bodyPr>
          <a:lstStyle/>
          <a:p>
            <a:r>
              <a:rPr lang="tr-TR" sz="2400" b="1" dirty="0">
                <a:solidFill>
                  <a:srgbClr val="FF0000"/>
                </a:solidFill>
              </a:rPr>
              <a:t>KIZILAY HAFTASI </a:t>
            </a:r>
          </a:p>
          <a:p>
            <a:r>
              <a:rPr lang="tr-TR" sz="2400" b="1" dirty="0">
                <a:solidFill>
                  <a:srgbClr val="FF0000"/>
                </a:solidFill>
              </a:rPr>
              <a:t>KIZILAYA NASIL ULAŞABİLİRİM</a:t>
            </a:r>
          </a:p>
        </p:txBody>
      </p:sp>
      <p:sp>
        <p:nvSpPr>
          <p:cNvPr id="13" name="Metin kutusu 12">
            <a:extLst>
              <a:ext uri="{FF2B5EF4-FFF2-40B4-BE49-F238E27FC236}">
                <a16:creationId xmlns:a16="http://schemas.microsoft.com/office/drawing/2014/main" id="{E53D38AC-1B1C-E19A-3DF7-FDE45FAD349C}"/>
              </a:ext>
            </a:extLst>
          </p:cNvPr>
          <p:cNvSpPr txBox="1"/>
          <p:nvPr/>
        </p:nvSpPr>
        <p:spPr>
          <a:xfrm>
            <a:off x="609600" y="1566469"/>
            <a:ext cx="4572000" cy="830997"/>
          </a:xfrm>
          <a:prstGeom prst="rect">
            <a:avLst/>
          </a:prstGeom>
          <a:noFill/>
        </p:spPr>
        <p:txBody>
          <a:bodyPr wrap="square">
            <a:spAutoFit/>
          </a:bodyPr>
          <a:lstStyle/>
          <a:p>
            <a:r>
              <a:rPr lang="tr-TR" sz="2400" b="1" spc="-10" dirty="0">
                <a:solidFill>
                  <a:srgbClr val="C00000"/>
                </a:solidFill>
                <a:latin typeface="Calibri"/>
                <a:cs typeface="Calibri"/>
              </a:rPr>
              <a:t>Kızılay</a:t>
            </a:r>
            <a:r>
              <a:rPr lang="tr-TR" sz="2400" b="1" spc="-170" dirty="0">
                <a:solidFill>
                  <a:srgbClr val="C00000"/>
                </a:solidFill>
                <a:latin typeface="Calibri"/>
                <a:cs typeface="Calibri"/>
              </a:rPr>
              <a:t> </a:t>
            </a:r>
            <a:r>
              <a:rPr lang="tr-TR" sz="2400" b="1" dirty="0">
                <a:solidFill>
                  <a:srgbClr val="C00000"/>
                </a:solidFill>
                <a:latin typeface="Calibri"/>
                <a:cs typeface="Calibri"/>
              </a:rPr>
              <a:t>Haftası</a:t>
            </a:r>
            <a:r>
              <a:rPr lang="tr-TR" sz="2400" b="1" spc="-80" dirty="0">
                <a:solidFill>
                  <a:srgbClr val="C00000"/>
                </a:solidFill>
                <a:latin typeface="Calibri"/>
                <a:cs typeface="Calibri"/>
              </a:rPr>
              <a:t> </a:t>
            </a:r>
            <a:r>
              <a:rPr lang="tr-TR" sz="2400" b="0" spc="-50" dirty="0">
                <a:solidFill>
                  <a:srgbClr val="000000"/>
                </a:solidFill>
                <a:latin typeface="Calibri"/>
                <a:cs typeface="Calibri"/>
              </a:rPr>
              <a:t>:</a:t>
            </a:r>
            <a:r>
              <a:rPr lang="tr-TR" sz="2400" b="0" dirty="0">
                <a:solidFill>
                  <a:srgbClr val="000000"/>
                </a:solidFill>
                <a:latin typeface="Calibri"/>
                <a:cs typeface="Calibri"/>
              </a:rPr>
              <a:t>29</a:t>
            </a:r>
            <a:r>
              <a:rPr lang="tr-TR" sz="2400" b="0" spc="10" dirty="0">
                <a:solidFill>
                  <a:srgbClr val="000000"/>
                </a:solidFill>
                <a:latin typeface="Calibri"/>
                <a:cs typeface="Calibri"/>
              </a:rPr>
              <a:t> </a:t>
            </a:r>
            <a:r>
              <a:rPr lang="tr-TR" sz="2400" b="0" spc="-20" dirty="0">
                <a:solidFill>
                  <a:srgbClr val="000000"/>
                </a:solidFill>
                <a:latin typeface="Calibri"/>
                <a:cs typeface="Calibri"/>
              </a:rPr>
              <a:t>Ekim-</a:t>
            </a:r>
            <a:r>
              <a:rPr lang="tr-TR" sz="2400" b="0" dirty="0">
                <a:solidFill>
                  <a:srgbClr val="000000"/>
                </a:solidFill>
                <a:latin typeface="Calibri"/>
                <a:cs typeface="Calibri"/>
              </a:rPr>
              <a:t>4 </a:t>
            </a:r>
            <a:r>
              <a:rPr lang="tr-TR" sz="2400" b="0" spc="-10" dirty="0">
                <a:solidFill>
                  <a:srgbClr val="000000"/>
                </a:solidFill>
                <a:latin typeface="Calibri"/>
                <a:cs typeface="Calibri"/>
              </a:rPr>
              <a:t>Kasım </a:t>
            </a:r>
            <a:r>
              <a:rPr lang="tr-TR" sz="2400" b="1" spc="-10" dirty="0">
                <a:solidFill>
                  <a:srgbClr val="C00000"/>
                </a:solidFill>
                <a:latin typeface="Calibri"/>
                <a:cs typeface="Calibri"/>
              </a:rPr>
              <a:t>Kızılay</a:t>
            </a:r>
            <a:r>
              <a:rPr lang="tr-TR" sz="2400" b="1" spc="-135" dirty="0">
                <a:solidFill>
                  <a:srgbClr val="C00000"/>
                </a:solidFill>
                <a:latin typeface="Calibri"/>
                <a:cs typeface="Calibri"/>
              </a:rPr>
              <a:t> </a:t>
            </a:r>
            <a:r>
              <a:rPr lang="tr-TR" sz="2400" b="1" dirty="0">
                <a:solidFill>
                  <a:srgbClr val="C00000"/>
                </a:solidFill>
                <a:latin typeface="Calibri"/>
                <a:cs typeface="Calibri"/>
              </a:rPr>
              <a:t>SMS</a:t>
            </a:r>
            <a:r>
              <a:rPr lang="tr-TR" sz="2400" b="1" spc="-65" dirty="0">
                <a:solidFill>
                  <a:srgbClr val="C00000"/>
                </a:solidFill>
                <a:latin typeface="Calibri"/>
                <a:cs typeface="Calibri"/>
              </a:rPr>
              <a:t> </a:t>
            </a:r>
            <a:r>
              <a:rPr lang="tr-TR" sz="2400" b="1" spc="-20" dirty="0">
                <a:solidFill>
                  <a:srgbClr val="C00000"/>
                </a:solidFill>
                <a:latin typeface="Calibri"/>
                <a:cs typeface="Calibri"/>
              </a:rPr>
              <a:t>Bağış</a:t>
            </a:r>
            <a:r>
              <a:rPr lang="tr-TR" sz="2400" b="0" dirty="0">
                <a:solidFill>
                  <a:srgbClr val="000000"/>
                </a:solidFill>
                <a:latin typeface="Calibri"/>
                <a:cs typeface="Calibri"/>
              </a:rPr>
              <a:t>:</a:t>
            </a:r>
            <a:r>
              <a:rPr lang="tr-TR" sz="2400" b="0" spc="-15" dirty="0">
                <a:solidFill>
                  <a:srgbClr val="000000"/>
                </a:solidFill>
                <a:latin typeface="Calibri"/>
                <a:cs typeface="Calibri"/>
              </a:rPr>
              <a:t> </a:t>
            </a:r>
            <a:r>
              <a:rPr lang="tr-TR" sz="2400" b="0" spc="-20" dirty="0">
                <a:solidFill>
                  <a:srgbClr val="000000"/>
                </a:solidFill>
                <a:latin typeface="Calibri"/>
                <a:cs typeface="Calibri"/>
              </a:rPr>
              <a:t>2868</a:t>
            </a:r>
            <a:endParaRPr lang="tr-TR" sz="2400" dirty="0"/>
          </a:p>
        </p:txBody>
      </p:sp>
      <p:sp>
        <p:nvSpPr>
          <p:cNvPr id="15" name="Metin kutusu 14">
            <a:extLst>
              <a:ext uri="{FF2B5EF4-FFF2-40B4-BE49-F238E27FC236}">
                <a16:creationId xmlns:a16="http://schemas.microsoft.com/office/drawing/2014/main" id="{AC05CC3B-ED4F-CD71-73C6-244F062F3B4C}"/>
              </a:ext>
            </a:extLst>
          </p:cNvPr>
          <p:cNvSpPr txBox="1"/>
          <p:nvPr/>
        </p:nvSpPr>
        <p:spPr>
          <a:xfrm>
            <a:off x="533400" y="2397466"/>
            <a:ext cx="4572000" cy="523220"/>
          </a:xfrm>
          <a:prstGeom prst="rect">
            <a:avLst/>
          </a:prstGeom>
          <a:noFill/>
        </p:spPr>
        <p:txBody>
          <a:bodyPr wrap="square">
            <a:spAutoFit/>
          </a:bodyPr>
          <a:lstStyle/>
          <a:p>
            <a:pPr marL="12700">
              <a:lnSpc>
                <a:spcPct val="100000"/>
              </a:lnSpc>
              <a:spcBef>
                <a:spcPts val="90"/>
              </a:spcBef>
            </a:pPr>
            <a:r>
              <a:rPr lang="tr-TR" sz="2800" b="1" spc="-10" dirty="0">
                <a:solidFill>
                  <a:srgbClr val="FF0000"/>
                </a:solidFill>
                <a:latin typeface="Calibri"/>
                <a:cs typeface="Calibri"/>
              </a:rPr>
              <a:t>Kızılay</a:t>
            </a:r>
            <a:r>
              <a:rPr lang="tr-TR" sz="2800" b="1" spc="-135" dirty="0">
                <a:solidFill>
                  <a:srgbClr val="FF0000"/>
                </a:solidFill>
                <a:latin typeface="Calibri"/>
                <a:cs typeface="Calibri"/>
              </a:rPr>
              <a:t> </a:t>
            </a:r>
            <a:r>
              <a:rPr lang="tr-TR" sz="2800" b="1" dirty="0">
                <a:solidFill>
                  <a:srgbClr val="FF0000"/>
                </a:solidFill>
                <a:latin typeface="Calibri"/>
                <a:cs typeface="Calibri"/>
              </a:rPr>
              <a:t>Çağrı</a:t>
            </a:r>
            <a:r>
              <a:rPr lang="tr-TR" sz="2800" b="1" spc="-50" dirty="0">
                <a:solidFill>
                  <a:srgbClr val="FF0000"/>
                </a:solidFill>
                <a:latin typeface="Calibri"/>
                <a:cs typeface="Calibri"/>
              </a:rPr>
              <a:t> </a:t>
            </a:r>
            <a:r>
              <a:rPr lang="tr-TR" sz="2800" b="1" spc="-10" dirty="0">
                <a:solidFill>
                  <a:srgbClr val="FF0000"/>
                </a:solidFill>
                <a:latin typeface="Calibri"/>
                <a:cs typeface="Calibri"/>
              </a:rPr>
              <a:t>Merkezi</a:t>
            </a:r>
            <a:r>
              <a:rPr lang="tr-TR" sz="2800" b="1" spc="-45" dirty="0">
                <a:solidFill>
                  <a:srgbClr val="FF0000"/>
                </a:solidFill>
                <a:latin typeface="Calibri"/>
                <a:cs typeface="Calibri"/>
              </a:rPr>
              <a:t> </a:t>
            </a:r>
            <a:r>
              <a:rPr lang="tr-TR" sz="2800" dirty="0">
                <a:latin typeface="Calibri"/>
                <a:cs typeface="Calibri"/>
              </a:rPr>
              <a:t>:</a:t>
            </a:r>
            <a:r>
              <a:rPr lang="tr-TR" sz="2800" spc="-85" dirty="0">
                <a:latin typeface="Calibri"/>
                <a:cs typeface="Calibri"/>
              </a:rPr>
              <a:t> </a:t>
            </a:r>
            <a:r>
              <a:rPr lang="tr-TR" sz="2800" spc="-25" dirty="0">
                <a:latin typeface="Calibri"/>
                <a:cs typeface="Calibri"/>
              </a:rPr>
              <a:t>168</a:t>
            </a:r>
            <a:endParaRPr lang="tr-TR" sz="2800" dirty="0">
              <a:latin typeface="Calibri"/>
              <a:cs typeface="Calibri"/>
            </a:endParaRPr>
          </a:p>
        </p:txBody>
      </p:sp>
      <p:pic>
        <p:nvPicPr>
          <p:cNvPr id="7" name="Resim 6">
            <a:extLst>
              <a:ext uri="{FF2B5EF4-FFF2-40B4-BE49-F238E27FC236}">
                <a16:creationId xmlns:a16="http://schemas.microsoft.com/office/drawing/2014/main" id="{CA34F936-44A0-7651-E4EA-BFD5AFFCC00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7162" y="5291531"/>
            <a:ext cx="1255499" cy="1368151"/>
          </a:xfrm>
          <a:prstGeom prst="rect">
            <a:avLst/>
          </a:prstGeom>
        </p:spPr>
      </p:pic>
    </p:spTree>
    <p:extLst>
      <p:ext uri="{BB962C8B-B14F-4D97-AF65-F5344CB8AC3E}">
        <p14:creationId xmlns:p14="http://schemas.microsoft.com/office/powerpoint/2010/main" val="40358855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24538-211D-E0C2-7D0D-5E2350045EF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4453563-7202-A96A-A0B2-AD33A7A432C4}"/>
              </a:ext>
            </a:extLst>
          </p:cNvPr>
          <p:cNvSpPr/>
          <p:nvPr/>
        </p:nvSpPr>
        <p:spPr>
          <a:xfrm>
            <a:off x="214287" y="285750"/>
            <a:ext cx="1905" cy="5072380"/>
          </a:xfrm>
          <a:custGeom>
            <a:avLst/>
            <a:gdLst/>
            <a:ahLst/>
            <a:cxnLst/>
            <a:rect l="l" t="t" r="r" b="b"/>
            <a:pathLst>
              <a:path w="1904" h="5072380">
                <a:moveTo>
                  <a:pt x="1587" y="0"/>
                </a:moveTo>
                <a:lnTo>
                  <a:pt x="0" y="5072126"/>
                </a:lnTo>
              </a:path>
            </a:pathLst>
          </a:custGeom>
          <a:ln w="76200">
            <a:solidFill>
              <a:srgbClr val="C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4B51CE11-9ED8-7F3C-8650-6280D8160122}"/>
              </a:ext>
            </a:extLst>
          </p:cNvPr>
          <p:cNvSpPr/>
          <p:nvPr/>
        </p:nvSpPr>
        <p:spPr>
          <a:xfrm>
            <a:off x="8928100" y="285750"/>
            <a:ext cx="1905" cy="6120130"/>
          </a:xfrm>
          <a:custGeom>
            <a:avLst/>
            <a:gdLst/>
            <a:ahLst/>
            <a:cxnLst/>
            <a:rect l="l" t="t" r="r" b="b"/>
            <a:pathLst>
              <a:path w="1904" h="6120130">
                <a:moveTo>
                  <a:pt x="1650" y="0"/>
                </a:moveTo>
                <a:lnTo>
                  <a:pt x="0" y="6119977"/>
                </a:lnTo>
              </a:path>
            </a:pathLst>
          </a:custGeom>
          <a:ln w="76200">
            <a:solidFill>
              <a:srgbClr val="C00000"/>
            </a:solidFill>
          </a:ln>
        </p:spPr>
        <p:txBody>
          <a:bodyPr wrap="square" lIns="0" tIns="0" rIns="0" bIns="0" rtlCol="0"/>
          <a:lstStyle/>
          <a:p>
            <a:endParaRPr/>
          </a:p>
        </p:txBody>
      </p:sp>
      <p:sp>
        <p:nvSpPr>
          <p:cNvPr id="5" name="object 5">
            <a:extLst>
              <a:ext uri="{FF2B5EF4-FFF2-40B4-BE49-F238E27FC236}">
                <a16:creationId xmlns:a16="http://schemas.microsoft.com/office/drawing/2014/main" id="{A31E2F54-1C9A-8B76-9BE5-1D810CEE8084}"/>
              </a:ext>
            </a:extLst>
          </p:cNvPr>
          <p:cNvSpPr/>
          <p:nvPr/>
        </p:nvSpPr>
        <p:spPr>
          <a:xfrm>
            <a:off x="1857375" y="6357963"/>
            <a:ext cx="6948170" cy="1905"/>
          </a:xfrm>
          <a:custGeom>
            <a:avLst/>
            <a:gdLst/>
            <a:ahLst/>
            <a:cxnLst/>
            <a:rect l="l" t="t" r="r" b="b"/>
            <a:pathLst>
              <a:path w="6948170" h="1904">
                <a:moveTo>
                  <a:pt x="0" y="0"/>
                </a:moveTo>
                <a:lnTo>
                  <a:pt x="6948043" y="1587"/>
                </a:lnTo>
              </a:path>
            </a:pathLst>
          </a:custGeom>
          <a:ln w="76200">
            <a:solidFill>
              <a:srgbClr val="C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520C7598-8280-82A3-932D-4E96537D151F}"/>
              </a:ext>
            </a:extLst>
          </p:cNvPr>
          <p:cNvSpPr/>
          <p:nvPr/>
        </p:nvSpPr>
        <p:spPr>
          <a:xfrm>
            <a:off x="357162" y="334009"/>
            <a:ext cx="8424545" cy="1905"/>
          </a:xfrm>
          <a:custGeom>
            <a:avLst/>
            <a:gdLst/>
            <a:ahLst/>
            <a:cxnLst/>
            <a:rect l="l" t="t" r="r" b="b"/>
            <a:pathLst>
              <a:path w="8424545" h="1904">
                <a:moveTo>
                  <a:pt x="0" y="0"/>
                </a:moveTo>
                <a:lnTo>
                  <a:pt x="8423998" y="1650"/>
                </a:lnTo>
              </a:path>
            </a:pathLst>
          </a:custGeom>
          <a:ln w="76200">
            <a:solidFill>
              <a:srgbClr val="C00000"/>
            </a:solidFill>
          </a:ln>
        </p:spPr>
        <p:txBody>
          <a:bodyPr wrap="square" lIns="0" tIns="0" rIns="0" bIns="0" rtlCol="0"/>
          <a:lstStyle/>
          <a:p>
            <a:endParaRPr/>
          </a:p>
        </p:txBody>
      </p:sp>
      <p:sp>
        <p:nvSpPr>
          <p:cNvPr id="9" name="Metin kutusu 8">
            <a:extLst>
              <a:ext uri="{FF2B5EF4-FFF2-40B4-BE49-F238E27FC236}">
                <a16:creationId xmlns:a16="http://schemas.microsoft.com/office/drawing/2014/main" id="{C8569564-2AC2-D752-89CC-2F373711F947}"/>
              </a:ext>
            </a:extLst>
          </p:cNvPr>
          <p:cNvSpPr txBox="1"/>
          <p:nvPr/>
        </p:nvSpPr>
        <p:spPr>
          <a:xfrm>
            <a:off x="316624" y="417548"/>
            <a:ext cx="7379576" cy="461665"/>
          </a:xfrm>
          <a:prstGeom prst="rect">
            <a:avLst/>
          </a:prstGeom>
          <a:noFill/>
        </p:spPr>
        <p:txBody>
          <a:bodyPr wrap="square">
            <a:spAutoFit/>
          </a:bodyPr>
          <a:lstStyle/>
          <a:p>
            <a:r>
              <a:rPr lang="tr-TR" sz="2400" b="1" dirty="0">
                <a:solidFill>
                  <a:srgbClr val="C00000"/>
                </a:solidFill>
              </a:rPr>
              <a:t>Etkinlik 1 – Giysi ve Ayakkabı Sınıflandırma</a:t>
            </a:r>
            <a:endParaRPr lang="tr-TR" sz="2400" dirty="0">
              <a:solidFill>
                <a:srgbClr val="C00000"/>
              </a:solidFill>
            </a:endParaRPr>
          </a:p>
        </p:txBody>
      </p:sp>
      <p:sp>
        <p:nvSpPr>
          <p:cNvPr id="11" name="Metin kutusu 10">
            <a:extLst>
              <a:ext uri="{FF2B5EF4-FFF2-40B4-BE49-F238E27FC236}">
                <a16:creationId xmlns:a16="http://schemas.microsoft.com/office/drawing/2014/main" id="{ABBE4B95-A6A2-64BD-1D01-7C43B50D31B8}"/>
              </a:ext>
            </a:extLst>
          </p:cNvPr>
          <p:cNvSpPr txBox="1"/>
          <p:nvPr/>
        </p:nvSpPr>
        <p:spPr>
          <a:xfrm>
            <a:off x="316624" y="925281"/>
            <a:ext cx="5626976" cy="2031325"/>
          </a:xfrm>
          <a:prstGeom prst="rect">
            <a:avLst/>
          </a:prstGeom>
          <a:noFill/>
        </p:spPr>
        <p:txBody>
          <a:bodyPr wrap="square">
            <a:spAutoFit/>
          </a:bodyPr>
          <a:lstStyle/>
          <a:p>
            <a:r>
              <a:rPr lang="tr-TR" dirty="0"/>
              <a:t>Bu etkinlikte, bağış yoluyla Kızılay Gebze Şubesi’ne ulaşan giysi ve ayakkabılar koliler halinde hazırlanmıştı. İlk görevim, bu kolileri açıp içindeki malzemeleri yaş grubu, cinsiyet ve ürün türüne göre detaylı bir şekilde sınıflandırmak oldu. Bu sayede daha sonraki dağıtım süreçlerinin daha hızlı ve etkili gerçekleşmesi sağlandı.</a:t>
            </a:r>
          </a:p>
        </p:txBody>
      </p:sp>
      <p:pic>
        <p:nvPicPr>
          <p:cNvPr id="17" name="Resim 16" descr="metin, kutu, iç mekan, duvar içeren bir resim&#10;&#10;Yapay zeka tarafından oluşturulan içerik yanlış olabilir.">
            <a:extLst>
              <a:ext uri="{FF2B5EF4-FFF2-40B4-BE49-F238E27FC236}">
                <a16:creationId xmlns:a16="http://schemas.microsoft.com/office/drawing/2014/main" id="{DAF92E3A-1C89-28CA-D306-B18F85D1B5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0716" y="3182584"/>
            <a:ext cx="4110991" cy="3083243"/>
          </a:xfrm>
          <a:prstGeom prst="rect">
            <a:avLst/>
          </a:prstGeom>
        </p:spPr>
      </p:pic>
      <p:pic>
        <p:nvPicPr>
          <p:cNvPr id="18" name="Resim 17" descr="insan yüzü, kişi, şahıs, giyim, selfi, özçekim içeren bir resim&#10;&#10;Yapay zeka tarafından oluşturulan içerik yanlış olabilir.">
            <a:extLst>
              <a:ext uri="{FF2B5EF4-FFF2-40B4-BE49-F238E27FC236}">
                <a16:creationId xmlns:a16="http://schemas.microsoft.com/office/drawing/2014/main" id="{F96939C6-64A9-E44E-8C8E-044004BAE22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50848" y="403380"/>
            <a:ext cx="2044865" cy="2726486"/>
          </a:xfrm>
          <a:prstGeom prst="rect">
            <a:avLst/>
          </a:prstGeom>
        </p:spPr>
      </p:pic>
      <p:pic>
        <p:nvPicPr>
          <p:cNvPr id="19" name="Resim 18">
            <a:extLst>
              <a:ext uri="{FF2B5EF4-FFF2-40B4-BE49-F238E27FC236}">
                <a16:creationId xmlns:a16="http://schemas.microsoft.com/office/drawing/2014/main" id="{A94BE21C-7FD2-CFAC-08F6-ED5F39B377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7162" y="5248643"/>
            <a:ext cx="1255499" cy="1368151"/>
          </a:xfrm>
          <a:prstGeom prst="rect">
            <a:avLst/>
          </a:prstGeom>
        </p:spPr>
      </p:pic>
    </p:spTree>
    <p:extLst>
      <p:ext uri="{BB962C8B-B14F-4D97-AF65-F5344CB8AC3E}">
        <p14:creationId xmlns:p14="http://schemas.microsoft.com/office/powerpoint/2010/main" val="563709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08115-CA0E-6CA1-C543-800A2DDC56B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703E9C3-AE1D-870E-C7E1-D5B9D1C659B2}"/>
              </a:ext>
            </a:extLst>
          </p:cNvPr>
          <p:cNvSpPr/>
          <p:nvPr/>
        </p:nvSpPr>
        <p:spPr>
          <a:xfrm>
            <a:off x="214287" y="285750"/>
            <a:ext cx="1905" cy="5072380"/>
          </a:xfrm>
          <a:custGeom>
            <a:avLst/>
            <a:gdLst/>
            <a:ahLst/>
            <a:cxnLst/>
            <a:rect l="l" t="t" r="r" b="b"/>
            <a:pathLst>
              <a:path w="1904" h="5072380">
                <a:moveTo>
                  <a:pt x="1587" y="0"/>
                </a:moveTo>
                <a:lnTo>
                  <a:pt x="0" y="5072126"/>
                </a:lnTo>
              </a:path>
            </a:pathLst>
          </a:custGeom>
          <a:ln w="76200">
            <a:solidFill>
              <a:srgbClr val="C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3EF9A7C4-8CF4-6590-5AD3-911BE1171FAA}"/>
              </a:ext>
            </a:extLst>
          </p:cNvPr>
          <p:cNvSpPr/>
          <p:nvPr/>
        </p:nvSpPr>
        <p:spPr>
          <a:xfrm>
            <a:off x="8928100" y="285750"/>
            <a:ext cx="1905" cy="6120130"/>
          </a:xfrm>
          <a:custGeom>
            <a:avLst/>
            <a:gdLst/>
            <a:ahLst/>
            <a:cxnLst/>
            <a:rect l="l" t="t" r="r" b="b"/>
            <a:pathLst>
              <a:path w="1904" h="6120130">
                <a:moveTo>
                  <a:pt x="1650" y="0"/>
                </a:moveTo>
                <a:lnTo>
                  <a:pt x="0" y="6119977"/>
                </a:lnTo>
              </a:path>
            </a:pathLst>
          </a:custGeom>
          <a:ln w="76200">
            <a:solidFill>
              <a:srgbClr val="C00000"/>
            </a:solidFill>
          </a:ln>
        </p:spPr>
        <p:txBody>
          <a:bodyPr wrap="square" lIns="0" tIns="0" rIns="0" bIns="0" rtlCol="0"/>
          <a:lstStyle/>
          <a:p>
            <a:endParaRPr/>
          </a:p>
        </p:txBody>
      </p:sp>
      <p:sp>
        <p:nvSpPr>
          <p:cNvPr id="5" name="object 5">
            <a:extLst>
              <a:ext uri="{FF2B5EF4-FFF2-40B4-BE49-F238E27FC236}">
                <a16:creationId xmlns:a16="http://schemas.microsoft.com/office/drawing/2014/main" id="{727A52DB-9CE7-992B-EC6C-A3CA9120865E}"/>
              </a:ext>
            </a:extLst>
          </p:cNvPr>
          <p:cNvSpPr/>
          <p:nvPr/>
        </p:nvSpPr>
        <p:spPr>
          <a:xfrm>
            <a:off x="1857375" y="6357963"/>
            <a:ext cx="6948170" cy="1905"/>
          </a:xfrm>
          <a:custGeom>
            <a:avLst/>
            <a:gdLst/>
            <a:ahLst/>
            <a:cxnLst/>
            <a:rect l="l" t="t" r="r" b="b"/>
            <a:pathLst>
              <a:path w="6948170" h="1904">
                <a:moveTo>
                  <a:pt x="0" y="0"/>
                </a:moveTo>
                <a:lnTo>
                  <a:pt x="6948043" y="1587"/>
                </a:lnTo>
              </a:path>
            </a:pathLst>
          </a:custGeom>
          <a:ln w="76200">
            <a:solidFill>
              <a:srgbClr val="C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744AC9E7-EDEB-BAE3-B0EB-4B450332584F}"/>
              </a:ext>
            </a:extLst>
          </p:cNvPr>
          <p:cNvSpPr/>
          <p:nvPr/>
        </p:nvSpPr>
        <p:spPr>
          <a:xfrm>
            <a:off x="357162" y="334009"/>
            <a:ext cx="8424545" cy="1905"/>
          </a:xfrm>
          <a:custGeom>
            <a:avLst/>
            <a:gdLst/>
            <a:ahLst/>
            <a:cxnLst/>
            <a:rect l="l" t="t" r="r" b="b"/>
            <a:pathLst>
              <a:path w="8424545" h="1904">
                <a:moveTo>
                  <a:pt x="0" y="0"/>
                </a:moveTo>
                <a:lnTo>
                  <a:pt x="8423998" y="1650"/>
                </a:lnTo>
              </a:path>
            </a:pathLst>
          </a:custGeom>
          <a:ln w="76200">
            <a:solidFill>
              <a:srgbClr val="C00000"/>
            </a:solidFill>
          </a:ln>
        </p:spPr>
        <p:txBody>
          <a:bodyPr wrap="square" lIns="0" tIns="0" rIns="0" bIns="0" rtlCol="0"/>
          <a:lstStyle/>
          <a:p>
            <a:endParaRPr/>
          </a:p>
        </p:txBody>
      </p:sp>
      <p:sp>
        <p:nvSpPr>
          <p:cNvPr id="8" name="Metin kutusu 7">
            <a:extLst>
              <a:ext uri="{FF2B5EF4-FFF2-40B4-BE49-F238E27FC236}">
                <a16:creationId xmlns:a16="http://schemas.microsoft.com/office/drawing/2014/main" id="{BBBC09F0-778F-E7F2-2FE3-030682372BF7}"/>
              </a:ext>
            </a:extLst>
          </p:cNvPr>
          <p:cNvSpPr txBox="1"/>
          <p:nvPr/>
        </p:nvSpPr>
        <p:spPr>
          <a:xfrm>
            <a:off x="376827" y="412384"/>
            <a:ext cx="5791970" cy="461665"/>
          </a:xfrm>
          <a:prstGeom prst="rect">
            <a:avLst/>
          </a:prstGeom>
          <a:noFill/>
        </p:spPr>
        <p:txBody>
          <a:bodyPr wrap="none" rtlCol="0">
            <a:spAutoFit/>
          </a:bodyPr>
          <a:lstStyle/>
          <a:p>
            <a:r>
              <a:rPr lang="tr-TR" sz="2400" b="1" dirty="0">
                <a:solidFill>
                  <a:srgbClr val="C00000"/>
                </a:solidFill>
              </a:rPr>
              <a:t>Etkinlik 1 – Ofis İşleri ve Kazanımlarım</a:t>
            </a:r>
            <a:endParaRPr lang="tr-TR" sz="2400" dirty="0">
              <a:solidFill>
                <a:srgbClr val="C00000"/>
              </a:solidFill>
            </a:endParaRPr>
          </a:p>
        </p:txBody>
      </p:sp>
      <p:sp>
        <p:nvSpPr>
          <p:cNvPr id="9" name="Metin kutusu 8">
            <a:extLst>
              <a:ext uri="{FF2B5EF4-FFF2-40B4-BE49-F238E27FC236}">
                <a16:creationId xmlns:a16="http://schemas.microsoft.com/office/drawing/2014/main" id="{631A15E3-6CD2-FE68-E99C-2E6CA0C3D57A}"/>
              </a:ext>
            </a:extLst>
          </p:cNvPr>
          <p:cNvSpPr txBox="1"/>
          <p:nvPr/>
        </p:nvSpPr>
        <p:spPr>
          <a:xfrm>
            <a:off x="360870" y="888965"/>
            <a:ext cx="5250487" cy="1477328"/>
          </a:xfrm>
          <a:prstGeom prst="rect">
            <a:avLst/>
          </a:prstGeom>
          <a:noFill/>
        </p:spPr>
        <p:txBody>
          <a:bodyPr wrap="square" rtlCol="0">
            <a:spAutoFit/>
          </a:bodyPr>
          <a:lstStyle/>
          <a:p>
            <a:r>
              <a:rPr lang="tr-TR" dirty="0"/>
              <a:t>Ayrıca, şube ofisinde temel dosyalama, evrak düzenleme ve sınıflandırma gibi görevlerde de aktif olarak yer aldım. Bu süreçte ekip çalışması ve organizasyon becerilerimi geliştirme fırsatı yakaladım.</a:t>
            </a:r>
          </a:p>
        </p:txBody>
      </p:sp>
      <p:pic>
        <p:nvPicPr>
          <p:cNvPr id="13" name="Resim 12" descr="iç mekan, duvar, mobilya, masa içeren bir resim&#10;&#10;Yapay zeka tarafından oluşturulan içerik yanlış olabilir.">
            <a:extLst>
              <a:ext uri="{FF2B5EF4-FFF2-40B4-BE49-F238E27FC236}">
                <a16:creationId xmlns:a16="http://schemas.microsoft.com/office/drawing/2014/main" id="{5854D82B-954D-3B13-B4CD-6015680521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39146" y="379255"/>
            <a:ext cx="2715757" cy="3621009"/>
          </a:xfrm>
          <a:prstGeom prst="rect">
            <a:avLst/>
          </a:prstGeom>
        </p:spPr>
      </p:pic>
      <p:pic>
        <p:nvPicPr>
          <p:cNvPr id="18" name="Resim 17" descr="iç mekan, mukavva, karton kutu, kutu içeren bir resim&#10;&#10;Yapay zeka tarafından oluşturulan içerik yanlış olabilir.">
            <a:extLst>
              <a:ext uri="{FF2B5EF4-FFF2-40B4-BE49-F238E27FC236}">
                <a16:creationId xmlns:a16="http://schemas.microsoft.com/office/drawing/2014/main" id="{897C68C8-C40F-1324-B796-A6A67B4A4C1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39146" y="4000264"/>
            <a:ext cx="2727677" cy="2321225"/>
          </a:xfrm>
          <a:prstGeom prst="rect">
            <a:avLst/>
          </a:prstGeom>
        </p:spPr>
      </p:pic>
      <p:pic>
        <p:nvPicPr>
          <p:cNvPr id="19" name="Resim 18">
            <a:extLst>
              <a:ext uri="{FF2B5EF4-FFF2-40B4-BE49-F238E27FC236}">
                <a16:creationId xmlns:a16="http://schemas.microsoft.com/office/drawing/2014/main" id="{7B561F94-1120-FC2D-646D-5DD41571D60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6827" y="5284959"/>
            <a:ext cx="1255499" cy="1368151"/>
          </a:xfrm>
          <a:prstGeom prst="rect">
            <a:avLst/>
          </a:prstGeom>
        </p:spPr>
      </p:pic>
    </p:spTree>
    <p:extLst>
      <p:ext uri="{BB962C8B-B14F-4D97-AF65-F5344CB8AC3E}">
        <p14:creationId xmlns:p14="http://schemas.microsoft.com/office/powerpoint/2010/main" val="2344758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7A48A-8C0B-39A4-37BB-B2B5B19A386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BD6F83CB-1C2E-AD5B-C213-B5F5A3D39F51}"/>
              </a:ext>
            </a:extLst>
          </p:cNvPr>
          <p:cNvSpPr/>
          <p:nvPr/>
        </p:nvSpPr>
        <p:spPr>
          <a:xfrm>
            <a:off x="214287" y="285750"/>
            <a:ext cx="1905" cy="5072380"/>
          </a:xfrm>
          <a:custGeom>
            <a:avLst/>
            <a:gdLst/>
            <a:ahLst/>
            <a:cxnLst/>
            <a:rect l="l" t="t" r="r" b="b"/>
            <a:pathLst>
              <a:path w="1904" h="5072380">
                <a:moveTo>
                  <a:pt x="1587" y="0"/>
                </a:moveTo>
                <a:lnTo>
                  <a:pt x="0" y="5072126"/>
                </a:lnTo>
              </a:path>
            </a:pathLst>
          </a:custGeom>
          <a:ln w="76200">
            <a:solidFill>
              <a:srgbClr val="C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CEB17332-F0B0-279E-35B4-AC0E15BB247E}"/>
              </a:ext>
            </a:extLst>
          </p:cNvPr>
          <p:cNvSpPr/>
          <p:nvPr/>
        </p:nvSpPr>
        <p:spPr>
          <a:xfrm>
            <a:off x="8928100" y="285750"/>
            <a:ext cx="1905" cy="6120130"/>
          </a:xfrm>
          <a:custGeom>
            <a:avLst/>
            <a:gdLst/>
            <a:ahLst/>
            <a:cxnLst/>
            <a:rect l="l" t="t" r="r" b="b"/>
            <a:pathLst>
              <a:path w="1904" h="6120130">
                <a:moveTo>
                  <a:pt x="1650" y="0"/>
                </a:moveTo>
                <a:lnTo>
                  <a:pt x="0" y="6119977"/>
                </a:lnTo>
              </a:path>
            </a:pathLst>
          </a:custGeom>
          <a:ln w="76200">
            <a:solidFill>
              <a:srgbClr val="C00000"/>
            </a:solidFill>
          </a:ln>
        </p:spPr>
        <p:txBody>
          <a:bodyPr wrap="square" lIns="0" tIns="0" rIns="0" bIns="0" rtlCol="0"/>
          <a:lstStyle/>
          <a:p>
            <a:endParaRPr/>
          </a:p>
        </p:txBody>
      </p:sp>
      <p:sp>
        <p:nvSpPr>
          <p:cNvPr id="5" name="object 5">
            <a:extLst>
              <a:ext uri="{FF2B5EF4-FFF2-40B4-BE49-F238E27FC236}">
                <a16:creationId xmlns:a16="http://schemas.microsoft.com/office/drawing/2014/main" id="{BF277555-37E5-6535-49E5-A62CB52361D9}"/>
              </a:ext>
            </a:extLst>
          </p:cNvPr>
          <p:cNvSpPr/>
          <p:nvPr/>
        </p:nvSpPr>
        <p:spPr>
          <a:xfrm>
            <a:off x="1857375" y="6357963"/>
            <a:ext cx="6948170" cy="1905"/>
          </a:xfrm>
          <a:custGeom>
            <a:avLst/>
            <a:gdLst/>
            <a:ahLst/>
            <a:cxnLst/>
            <a:rect l="l" t="t" r="r" b="b"/>
            <a:pathLst>
              <a:path w="6948170" h="1904">
                <a:moveTo>
                  <a:pt x="0" y="0"/>
                </a:moveTo>
                <a:lnTo>
                  <a:pt x="6948043" y="1587"/>
                </a:lnTo>
              </a:path>
            </a:pathLst>
          </a:custGeom>
          <a:ln w="76200">
            <a:solidFill>
              <a:srgbClr val="C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AD37276C-6625-919D-588D-E7E1A0B517FA}"/>
              </a:ext>
            </a:extLst>
          </p:cNvPr>
          <p:cNvSpPr/>
          <p:nvPr/>
        </p:nvSpPr>
        <p:spPr>
          <a:xfrm>
            <a:off x="357162" y="334009"/>
            <a:ext cx="8424545" cy="1905"/>
          </a:xfrm>
          <a:custGeom>
            <a:avLst/>
            <a:gdLst/>
            <a:ahLst/>
            <a:cxnLst/>
            <a:rect l="l" t="t" r="r" b="b"/>
            <a:pathLst>
              <a:path w="8424545" h="1904">
                <a:moveTo>
                  <a:pt x="0" y="0"/>
                </a:moveTo>
                <a:lnTo>
                  <a:pt x="8423998" y="1650"/>
                </a:lnTo>
              </a:path>
            </a:pathLst>
          </a:custGeom>
          <a:ln w="76200">
            <a:solidFill>
              <a:srgbClr val="C00000"/>
            </a:solidFill>
          </a:ln>
        </p:spPr>
        <p:txBody>
          <a:bodyPr wrap="square" lIns="0" tIns="0" rIns="0" bIns="0" rtlCol="0"/>
          <a:lstStyle/>
          <a:p>
            <a:endParaRPr/>
          </a:p>
        </p:txBody>
      </p:sp>
      <p:sp>
        <p:nvSpPr>
          <p:cNvPr id="9" name="Metin kutusu 8">
            <a:extLst>
              <a:ext uri="{FF2B5EF4-FFF2-40B4-BE49-F238E27FC236}">
                <a16:creationId xmlns:a16="http://schemas.microsoft.com/office/drawing/2014/main" id="{9071BAFF-2DE8-3C7C-D4B4-462898743C9F}"/>
              </a:ext>
            </a:extLst>
          </p:cNvPr>
          <p:cNvSpPr txBox="1"/>
          <p:nvPr/>
        </p:nvSpPr>
        <p:spPr>
          <a:xfrm>
            <a:off x="338747" y="490758"/>
            <a:ext cx="6948170" cy="461665"/>
          </a:xfrm>
          <a:prstGeom prst="rect">
            <a:avLst/>
          </a:prstGeom>
          <a:noFill/>
        </p:spPr>
        <p:txBody>
          <a:bodyPr wrap="square">
            <a:spAutoFit/>
          </a:bodyPr>
          <a:lstStyle/>
          <a:p>
            <a:r>
              <a:rPr lang="tr-TR" sz="2400" b="1" dirty="0">
                <a:solidFill>
                  <a:srgbClr val="C00000"/>
                </a:solidFill>
              </a:rPr>
              <a:t>Etkinlik 2 – Sınıflandırılmış Ürünlerin Dağıtımı </a:t>
            </a:r>
          </a:p>
        </p:txBody>
      </p:sp>
      <p:sp>
        <p:nvSpPr>
          <p:cNvPr id="11" name="Metin kutusu 10">
            <a:extLst>
              <a:ext uri="{FF2B5EF4-FFF2-40B4-BE49-F238E27FC236}">
                <a16:creationId xmlns:a16="http://schemas.microsoft.com/office/drawing/2014/main" id="{A3A11C3E-A6E0-F3DD-23A9-3AC653E43702}"/>
              </a:ext>
            </a:extLst>
          </p:cNvPr>
          <p:cNvSpPr txBox="1"/>
          <p:nvPr/>
        </p:nvSpPr>
        <p:spPr>
          <a:xfrm>
            <a:off x="357162" y="868258"/>
            <a:ext cx="4572000" cy="2585323"/>
          </a:xfrm>
          <a:prstGeom prst="rect">
            <a:avLst/>
          </a:prstGeom>
          <a:noFill/>
        </p:spPr>
        <p:txBody>
          <a:bodyPr wrap="square">
            <a:spAutoFit/>
          </a:bodyPr>
          <a:lstStyle/>
          <a:p>
            <a:r>
              <a:rPr lang="tr-TR" dirty="0"/>
              <a:t>Önceden sınıflandırılan giysi ve ayakkabılar, Kızılay Gebze Şubesi’nde ihtiyaç sahibi vatandaşlara dağıtılmak üzere hazır hale getirilmişti. Bu etkinlikte, vatandaşların taleplerine göre uygun ürünleri seçerek onlara teslim ettim. Gerekli yönlendirmeleri yaparak dağıtım sürecinin düzenli bir şekilde işlemesine yardımcı oldum.</a:t>
            </a:r>
          </a:p>
        </p:txBody>
      </p:sp>
      <p:pic>
        <p:nvPicPr>
          <p:cNvPr id="13" name="Resim 12" descr="iç mekan, mobilya, duvar, masa içeren bir resim&#10;&#10;Yapay zeka tarafından oluşturulan içerik yanlış olabilir.">
            <a:extLst>
              <a:ext uri="{FF2B5EF4-FFF2-40B4-BE49-F238E27FC236}">
                <a16:creationId xmlns:a16="http://schemas.microsoft.com/office/drawing/2014/main" id="{22A1C80A-89FA-453F-DAC8-8195101586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29136" y="3616753"/>
            <a:ext cx="3615617" cy="2711713"/>
          </a:xfrm>
          <a:prstGeom prst="rect">
            <a:avLst/>
          </a:prstGeom>
        </p:spPr>
      </p:pic>
      <p:pic>
        <p:nvPicPr>
          <p:cNvPr id="15" name="Resim 14" descr="saat, kişi, şahıs, insan yüzü, duvar içeren bir resim&#10;&#10;Yapay zeka tarafından oluşturulan içerik yanlış olabilir.">
            <a:extLst>
              <a:ext uri="{FF2B5EF4-FFF2-40B4-BE49-F238E27FC236}">
                <a16:creationId xmlns:a16="http://schemas.microsoft.com/office/drawing/2014/main" id="{3B2E0E28-1B0D-08DB-ADA3-487D674368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86400" y="878090"/>
            <a:ext cx="2058353" cy="2744470"/>
          </a:xfrm>
          <a:prstGeom prst="rect">
            <a:avLst/>
          </a:prstGeom>
        </p:spPr>
      </p:pic>
      <p:pic>
        <p:nvPicPr>
          <p:cNvPr id="16" name="Resim 15">
            <a:extLst>
              <a:ext uri="{FF2B5EF4-FFF2-40B4-BE49-F238E27FC236}">
                <a16:creationId xmlns:a16="http://schemas.microsoft.com/office/drawing/2014/main" id="{4D44F3C9-F4AF-1815-B0A8-30B53CABDA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2414" y="5257800"/>
            <a:ext cx="1255499" cy="1368151"/>
          </a:xfrm>
          <a:prstGeom prst="rect">
            <a:avLst/>
          </a:prstGeom>
        </p:spPr>
      </p:pic>
    </p:spTree>
    <p:extLst>
      <p:ext uri="{BB962C8B-B14F-4D97-AF65-F5344CB8AC3E}">
        <p14:creationId xmlns:p14="http://schemas.microsoft.com/office/powerpoint/2010/main" val="1590184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7CF48-7652-2C37-3D12-1D0884C1697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45674D6-2AFB-3548-D934-F96D72CE1A01}"/>
              </a:ext>
            </a:extLst>
          </p:cNvPr>
          <p:cNvSpPr/>
          <p:nvPr/>
        </p:nvSpPr>
        <p:spPr>
          <a:xfrm>
            <a:off x="214287" y="285750"/>
            <a:ext cx="1905" cy="5072380"/>
          </a:xfrm>
          <a:custGeom>
            <a:avLst/>
            <a:gdLst/>
            <a:ahLst/>
            <a:cxnLst/>
            <a:rect l="l" t="t" r="r" b="b"/>
            <a:pathLst>
              <a:path w="1904" h="5072380">
                <a:moveTo>
                  <a:pt x="1587" y="0"/>
                </a:moveTo>
                <a:lnTo>
                  <a:pt x="0" y="5072126"/>
                </a:lnTo>
              </a:path>
            </a:pathLst>
          </a:custGeom>
          <a:ln w="76200">
            <a:solidFill>
              <a:srgbClr val="C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3F76427D-78F1-316E-7208-FE6568A70A58}"/>
              </a:ext>
            </a:extLst>
          </p:cNvPr>
          <p:cNvSpPr/>
          <p:nvPr/>
        </p:nvSpPr>
        <p:spPr>
          <a:xfrm>
            <a:off x="8928100" y="285750"/>
            <a:ext cx="1905" cy="6120130"/>
          </a:xfrm>
          <a:custGeom>
            <a:avLst/>
            <a:gdLst/>
            <a:ahLst/>
            <a:cxnLst/>
            <a:rect l="l" t="t" r="r" b="b"/>
            <a:pathLst>
              <a:path w="1904" h="6120130">
                <a:moveTo>
                  <a:pt x="1650" y="0"/>
                </a:moveTo>
                <a:lnTo>
                  <a:pt x="0" y="6119977"/>
                </a:lnTo>
              </a:path>
            </a:pathLst>
          </a:custGeom>
          <a:ln w="76200">
            <a:solidFill>
              <a:srgbClr val="C00000"/>
            </a:solidFill>
          </a:ln>
        </p:spPr>
        <p:txBody>
          <a:bodyPr wrap="square" lIns="0" tIns="0" rIns="0" bIns="0" rtlCol="0"/>
          <a:lstStyle/>
          <a:p>
            <a:endParaRPr/>
          </a:p>
        </p:txBody>
      </p:sp>
      <p:sp>
        <p:nvSpPr>
          <p:cNvPr id="5" name="object 5">
            <a:extLst>
              <a:ext uri="{FF2B5EF4-FFF2-40B4-BE49-F238E27FC236}">
                <a16:creationId xmlns:a16="http://schemas.microsoft.com/office/drawing/2014/main" id="{D7988712-F1EC-A675-7E77-67A0FDD667A9}"/>
              </a:ext>
            </a:extLst>
          </p:cNvPr>
          <p:cNvSpPr/>
          <p:nvPr/>
        </p:nvSpPr>
        <p:spPr>
          <a:xfrm>
            <a:off x="1857375" y="6357963"/>
            <a:ext cx="6948170" cy="1905"/>
          </a:xfrm>
          <a:custGeom>
            <a:avLst/>
            <a:gdLst/>
            <a:ahLst/>
            <a:cxnLst/>
            <a:rect l="l" t="t" r="r" b="b"/>
            <a:pathLst>
              <a:path w="6948170" h="1904">
                <a:moveTo>
                  <a:pt x="0" y="0"/>
                </a:moveTo>
                <a:lnTo>
                  <a:pt x="6948043" y="1587"/>
                </a:lnTo>
              </a:path>
            </a:pathLst>
          </a:custGeom>
          <a:ln w="76200">
            <a:solidFill>
              <a:srgbClr val="C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0ADD8A06-C1CF-D82B-DE62-0B5F35696F69}"/>
              </a:ext>
            </a:extLst>
          </p:cNvPr>
          <p:cNvSpPr/>
          <p:nvPr/>
        </p:nvSpPr>
        <p:spPr>
          <a:xfrm>
            <a:off x="357162" y="334009"/>
            <a:ext cx="8424545" cy="1905"/>
          </a:xfrm>
          <a:custGeom>
            <a:avLst/>
            <a:gdLst/>
            <a:ahLst/>
            <a:cxnLst/>
            <a:rect l="l" t="t" r="r" b="b"/>
            <a:pathLst>
              <a:path w="8424545" h="1904">
                <a:moveTo>
                  <a:pt x="0" y="0"/>
                </a:moveTo>
                <a:lnTo>
                  <a:pt x="8423998" y="1650"/>
                </a:lnTo>
              </a:path>
            </a:pathLst>
          </a:custGeom>
          <a:ln w="76200">
            <a:solidFill>
              <a:srgbClr val="C00000"/>
            </a:solidFill>
          </a:ln>
        </p:spPr>
        <p:txBody>
          <a:bodyPr wrap="square" lIns="0" tIns="0" rIns="0" bIns="0" rtlCol="0"/>
          <a:lstStyle/>
          <a:p>
            <a:endParaRPr/>
          </a:p>
        </p:txBody>
      </p:sp>
      <p:sp>
        <p:nvSpPr>
          <p:cNvPr id="9" name="Metin kutusu 8">
            <a:extLst>
              <a:ext uri="{FF2B5EF4-FFF2-40B4-BE49-F238E27FC236}">
                <a16:creationId xmlns:a16="http://schemas.microsoft.com/office/drawing/2014/main" id="{6C10AB9B-4CEB-3C89-9EAD-4FB906312CF8}"/>
              </a:ext>
            </a:extLst>
          </p:cNvPr>
          <p:cNvSpPr txBox="1"/>
          <p:nvPr/>
        </p:nvSpPr>
        <p:spPr>
          <a:xfrm>
            <a:off x="394033" y="498132"/>
            <a:ext cx="5867400" cy="461665"/>
          </a:xfrm>
          <a:prstGeom prst="rect">
            <a:avLst/>
          </a:prstGeom>
          <a:noFill/>
        </p:spPr>
        <p:txBody>
          <a:bodyPr wrap="square">
            <a:spAutoFit/>
          </a:bodyPr>
          <a:lstStyle/>
          <a:p>
            <a:r>
              <a:rPr lang="tr-TR" sz="2400" b="1" dirty="0">
                <a:solidFill>
                  <a:srgbClr val="C00000"/>
                </a:solidFill>
              </a:rPr>
              <a:t>Etkinlik 2 – İletişim ve Sosyal Etkileşim </a:t>
            </a:r>
          </a:p>
        </p:txBody>
      </p:sp>
      <p:sp>
        <p:nvSpPr>
          <p:cNvPr id="11" name="Metin kutusu 10">
            <a:extLst>
              <a:ext uri="{FF2B5EF4-FFF2-40B4-BE49-F238E27FC236}">
                <a16:creationId xmlns:a16="http://schemas.microsoft.com/office/drawing/2014/main" id="{7BBD8B6C-F5C4-6E31-D193-21733975045E}"/>
              </a:ext>
            </a:extLst>
          </p:cNvPr>
          <p:cNvSpPr txBox="1"/>
          <p:nvPr/>
        </p:nvSpPr>
        <p:spPr>
          <a:xfrm>
            <a:off x="394033" y="959797"/>
            <a:ext cx="4572000" cy="2308324"/>
          </a:xfrm>
          <a:prstGeom prst="rect">
            <a:avLst/>
          </a:prstGeom>
          <a:noFill/>
        </p:spPr>
        <p:txBody>
          <a:bodyPr wrap="square">
            <a:spAutoFit/>
          </a:bodyPr>
          <a:lstStyle/>
          <a:p>
            <a:r>
              <a:rPr lang="tr-TR" dirty="0"/>
              <a:t>Bu süreçte vatandaşlarla birebir iletişim kurarak hem ihtiyaçlarını daha iyi anladım hem de empati yeteneğimi geliştirdim. Yardım alma noktasında çekingen davranan bireylerle nazik ve anlayışlı iletişim kurarak onların kendilerini rahat hissetmelerine katkı sağladım. Bu deneyim, sosyal farkındalığımı artırdı.</a:t>
            </a:r>
          </a:p>
        </p:txBody>
      </p:sp>
      <p:pic>
        <p:nvPicPr>
          <p:cNvPr id="13" name="Resim 12" descr="bina, dış mekan, pencere, metin içeren bir resim&#10;&#10;Yapay zeka tarafından oluşturulan içerik yanlış olabilir.">
            <a:extLst>
              <a:ext uri="{FF2B5EF4-FFF2-40B4-BE49-F238E27FC236}">
                <a16:creationId xmlns:a16="http://schemas.microsoft.com/office/drawing/2014/main" id="{60B6E4BD-CBF6-6BE3-73B8-D15FE81AFC5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10097" y="3526427"/>
            <a:ext cx="3655059" cy="2741295"/>
          </a:xfrm>
          <a:prstGeom prst="rect">
            <a:avLst/>
          </a:prstGeom>
        </p:spPr>
      </p:pic>
      <p:pic>
        <p:nvPicPr>
          <p:cNvPr id="15" name="Resim 14" descr="iç mekan, duvar, atık konteyneri, zemin içeren bir resim&#10;&#10;Yapay zeka tarafından oluşturulan içerik yanlış olabilir.">
            <a:extLst>
              <a:ext uri="{FF2B5EF4-FFF2-40B4-BE49-F238E27FC236}">
                <a16:creationId xmlns:a16="http://schemas.microsoft.com/office/drawing/2014/main" id="{3F631E23-0961-11E1-2D30-FBB80E03B4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87320" y="728964"/>
            <a:ext cx="2014893" cy="2686524"/>
          </a:xfrm>
          <a:prstGeom prst="rect">
            <a:avLst/>
          </a:prstGeom>
        </p:spPr>
      </p:pic>
      <p:pic>
        <p:nvPicPr>
          <p:cNvPr id="16" name="Resim 15">
            <a:extLst>
              <a:ext uri="{FF2B5EF4-FFF2-40B4-BE49-F238E27FC236}">
                <a16:creationId xmlns:a16="http://schemas.microsoft.com/office/drawing/2014/main" id="{2110F04E-28C6-5083-21F1-2604E0811C4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8455" y="5214127"/>
            <a:ext cx="1255499" cy="1368151"/>
          </a:xfrm>
          <a:prstGeom prst="rect">
            <a:avLst/>
          </a:prstGeom>
        </p:spPr>
      </p:pic>
    </p:spTree>
    <p:extLst>
      <p:ext uri="{BB962C8B-B14F-4D97-AF65-F5344CB8AC3E}">
        <p14:creationId xmlns:p14="http://schemas.microsoft.com/office/powerpoint/2010/main" val="2036778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9BD42-A76F-AF7C-0237-409FA901B96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75BC3F7-0399-0AB4-58C9-1C7701AAE103}"/>
              </a:ext>
            </a:extLst>
          </p:cNvPr>
          <p:cNvSpPr/>
          <p:nvPr/>
        </p:nvSpPr>
        <p:spPr>
          <a:xfrm>
            <a:off x="214287" y="285750"/>
            <a:ext cx="1905" cy="5072380"/>
          </a:xfrm>
          <a:custGeom>
            <a:avLst/>
            <a:gdLst/>
            <a:ahLst/>
            <a:cxnLst/>
            <a:rect l="l" t="t" r="r" b="b"/>
            <a:pathLst>
              <a:path w="1904" h="5072380">
                <a:moveTo>
                  <a:pt x="1587" y="0"/>
                </a:moveTo>
                <a:lnTo>
                  <a:pt x="0" y="5072126"/>
                </a:lnTo>
              </a:path>
            </a:pathLst>
          </a:custGeom>
          <a:ln w="76200">
            <a:solidFill>
              <a:srgbClr val="C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D762514A-2D84-A56A-DB0C-26016E2974A2}"/>
              </a:ext>
            </a:extLst>
          </p:cNvPr>
          <p:cNvSpPr/>
          <p:nvPr/>
        </p:nvSpPr>
        <p:spPr>
          <a:xfrm>
            <a:off x="8928100" y="285750"/>
            <a:ext cx="1905" cy="6120130"/>
          </a:xfrm>
          <a:custGeom>
            <a:avLst/>
            <a:gdLst/>
            <a:ahLst/>
            <a:cxnLst/>
            <a:rect l="l" t="t" r="r" b="b"/>
            <a:pathLst>
              <a:path w="1904" h="6120130">
                <a:moveTo>
                  <a:pt x="1650" y="0"/>
                </a:moveTo>
                <a:lnTo>
                  <a:pt x="0" y="6119977"/>
                </a:lnTo>
              </a:path>
            </a:pathLst>
          </a:custGeom>
          <a:ln w="76200">
            <a:solidFill>
              <a:srgbClr val="C00000"/>
            </a:solidFill>
          </a:ln>
        </p:spPr>
        <p:txBody>
          <a:bodyPr wrap="square" lIns="0" tIns="0" rIns="0" bIns="0" rtlCol="0"/>
          <a:lstStyle/>
          <a:p>
            <a:endParaRPr/>
          </a:p>
        </p:txBody>
      </p:sp>
      <p:sp>
        <p:nvSpPr>
          <p:cNvPr id="5" name="object 5">
            <a:extLst>
              <a:ext uri="{FF2B5EF4-FFF2-40B4-BE49-F238E27FC236}">
                <a16:creationId xmlns:a16="http://schemas.microsoft.com/office/drawing/2014/main" id="{506F2CB1-8720-1E79-1047-3569375977E0}"/>
              </a:ext>
            </a:extLst>
          </p:cNvPr>
          <p:cNvSpPr/>
          <p:nvPr/>
        </p:nvSpPr>
        <p:spPr>
          <a:xfrm>
            <a:off x="1857375" y="6357963"/>
            <a:ext cx="6948170" cy="1905"/>
          </a:xfrm>
          <a:custGeom>
            <a:avLst/>
            <a:gdLst/>
            <a:ahLst/>
            <a:cxnLst/>
            <a:rect l="l" t="t" r="r" b="b"/>
            <a:pathLst>
              <a:path w="6948170" h="1904">
                <a:moveTo>
                  <a:pt x="0" y="0"/>
                </a:moveTo>
                <a:lnTo>
                  <a:pt x="6948043" y="1587"/>
                </a:lnTo>
              </a:path>
            </a:pathLst>
          </a:custGeom>
          <a:ln w="76200">
            <a:solidFill>
              <a:srgbClr val="C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093D0AE9-A656-4379-3381-0A065BE60E04}"/>
              </a:ext>
            </a:extLst>
          </p:cNvPr>
          <p:cNvSpPr/>
          <p:nvPr/>
        </p:nvSpPr>
        <p:spPr>
          <a:xfrm>
            <a:off x="357162" y="334009"/>
            <a:ext cx="8424545" cy="1905"/>
          </a:xfrm>
          <a:custGeom>
            <a:avLst/>
            <a:gdLst/>
            <a:ahLst/>
            <a:cxnLst/>
            <a:rect l="l" t="t" r="r" b="b"/>
            <a:pathLst>
              <a:path w="8424545" h="1904">
                <a:moveTo>
                  <a:pt x="0" y="0"/>
                </a:moveTo>
                <a:lnTo>
                  <a:pt x="8423998" y="1650"/>
                </a:lnTo>
              </a:path>
            </a:pathLst>
          </a:custGeom>
          <a:ln w="76200">
            <a:solidFill>
              <a:srgbClr val="C00000"/>
            </a:solidFill>
          </a:ln>
        </p:spPr>
        <p:txBody>
          <a:bodyPr wrap="square" lIns="0" tIns="0" rIns="0" bIns="0" rtlCol="0"/>
          <a:lstStyle/>
          <a:p>
            <a:endParaRPr/>
          </a:p>
        </p:txBody>
      </p:sp>
      <p:sp>
        <p:nvSpPr>
          <p:cNvPr id="9" name="Metin kutusu 8">
            <a:extLst>
              <a:ext uri="{FF2B5EF4-FFF2-40B4-BE49-F238E27FC236}">
                <a16:creationId xmlns:a16="http://schemas.microsoft.com/office/drawing/2014/main" id="{5CD6C721-DAA7-8F8F-0006-53DF4F6D5F03}"/>
              </a:ext>
            </a:extLst>
          </p:cNvPr>
          <p:cNvSpPr txBox="1"/>
          <p:nvPr/>
        </p:nvSpPr>
        <p:spPr>
          <a:xfrm>
            <a:off x="338747" y="365964"/>
            <a:ext cx="6824053" cy="430887"/>
          </a:xfrm>
          <a:prstGeom prst="rect">
            <a:avLst/>
          </a:prstGeom>
          <a:noFill/>
        </p:spPr>
        <p:txBody>
          <a:bodyPr wrap="square">
            <a:spAutoFit/>
          </a:bodyPr>
          <a:lstStyle/>
          <a:p>
            <a:r>
              <a:rPr lang="tr-TR" sz="2200" b="1" dirty="0">
                <a:solidFill>
                  <a:srgbClr val="C00000"/>
                </a:solidFill>
              </a:rPr>
              <a:t>Etkinlik 3 – Araçla Yiyecek ve İçecek Dağıtımı</a:t>
            </a:r>
          </a:p>
        </p:txBody>
      </p:sp>
      <p:sp>
        <p:nvSpPr>
          <p:cNvPr id="11" name="Metin kutusu 10">
            <a:extLst>
              <a:ext uri="{FF2B5EF4-FFF2-40B4-BE49-F238E27FC236}">
                <a16:creationId xmlns:a16="http://schemas.microsoft.com/office/drawing/2014/main" id="{BAF0F479-2A57-8F2B-83D9-87ECBFCBDB0B}"/>
              </a:ext>
            </a:extLst>
          </p:cNvPr>
          <p:cNvSpPr txBox="1"/>
          <p:nvPr/>
        </p:nvSpPr>
        <p:spPr>
          <a:xfrm>
            <a:off x="357162" y="685800"/>
            <a:ext cx="4572000" cy="2308324"/>
          </a:xfrm>
          <a:prstGeom prst="rect">
            <a:avLst/>
          </a:prstGeom>
          <a:noFill/>
        </p:spPr>
        <p:txBody>
          <a:bodyPr wrap="square">
            <a:spAutoFit/>
          </a:bodyPr>
          <a:lstStyle/>
          <a:p>
            <a:r>
              <a:rPr lang="tr-TR" dirty="0"/>
              <a:t>Bu etkinlikte, Kızılay Gebze Şubesi aracıyla sahaya çıkarak ihtiyaç sahibi vatandaşlara yiyecek ve içecek dağıtımı gerçekleştirdik. Belirlenen noktalarda aracı durdurup vatandaşlara sıcak içecekler ve çeşitli atıştırmalıklar ulaştırdık. Dağıtım sırasında hız ve hijyen kurallarına dikkat ederek çalıştık.</a:t>
            </a:r>
          </a:p>
        </p:txBody>
      </p:sp>
      <p:pic>
        <p:nvPicPr>
          <p:cNvPr id="16" name="Resim 15">
            <a:extLst>
              <a:ext uri="{FF2B5EF4-FFF2-40B4-BE49-F238E27FC236}">
                <a16:creationId xmlns:a16="http://schemas.microsoft.com/office/drawing/2014/main" id="{757CA076-52EE-F63B-8E46-E64F8D98318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7952" y="5257800"/>
            <a:ext cx="1255499" cy="1368151"/>
          </a:xfrm>
          <a:prstGeom prst="rect">
            <a:avLst/>
          </a:prstGeom>
        </p:spPr>
      </p:pic>
      <p:pic>
        <p:nvPicPr>
          <p:cNvPr id="7" name="Resim 6" descr="metin, gökyüzü, dış mekan, tekerlek içeren bir resim&#10;&#10;Yapay zeka tarafından oluşturulan içerik yanlış olabilir.">
            <a:extLst>
              <a:ext uri="{FF2B5EF4-FFF2-40B4-BE49-F238E27FC236}">
                <a16:creationId xmlns:a16="http://schemas.microsoft.com/office/drawing/2014/main" id="{09106A77-53AC-F9AD-A999-2E80207B541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77863" y="764896"/>
            <a:ext cx="4008975" cy="5345299"/>
          </a:xfrm>
          <a:prstGeom prst="rect">
            <a:avLst/>
          </a:prstGeom>
        </p:spPr>
      </p:pic>
    </p:spTree>
    <p:extLst>
      <p:ext uri="{BB962C8B-B14F-4D97-AF65-F5344CB8AC3E}">
        <p14:creationId xmlns:p14="http://schemas.microsoft.com/office/powerpoint/2010/main" val="974216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D548D-2720-42EF-2E32-0D7D37C38E0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6DB9E06-A339-2746-E628-F6FDBFAF073A}"/>
              </a:ext>
            </a:extLst>
          </p:cNvPr>
          <p:cNvSpPr/>
          <p:nvPr/>
        </p:nvSpPr>
        <p:spPr>
          <a:xfrm>
            <a:off x="214287" y="285750"/>
            <a:ext cx="1905" cy="5072380"/>
          </a:xfrm>
          <a:custGeom>
            <a:avLst/>
            <a:gdLst/>
            <a:ahLst/>
            <a:cxnLst/>
            <a:rect l="l" t="t" r="r" b="b"/>
            <a:pathLst>
              <a:path w="1904" h="5072380">
                <a:moveTo>
                  <a:pt x="1587" y="0"/>
                </a:moveTo>
                <a:lnTo>
                  <a:pt x="0" y="5072126"/>
                </a:lnTo>
              </a:path>
            </a:pathLst>
          </a:custGeom>
          <a:ln w="76200">
            <a:solidFill>
              <a:srgbClr val="C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161BE676-E73F-85EE-4D8B-C7D11AA92F20}"/>
              </a:ext>
            </a:extLst>
          </p:cNvPr>
          <p:cNvSpPr/>
          <p:nvPr/>
        </p:nvSpPr>
        <p:spPr>
          <a:xfrm>
            <a:off x="8928100" y="285750"/>
            <a:ext cx="1905" cy="6120130"/>
          </a:xfrm>
          <a:custGeom>
            <a:avLst/>
            <a:gdLst/>
            <a:ahLst/>
            <a:cxnLst/>
            <a:rect l="l" t="t" r="r" b="b"/>
            <a:pathLst>
              <a:path w="1904" h="6120130">
                <a:moveTo>
                  <a:pt x="1650" y="0"/>
                </a:moveTo>
                <a:lnTo>
                  <a:pt x="0" y="6119977"/>
                </a:lnTo>
              </a:path>
            </a:pathLst>
          </a:custGeom>
          <a:ln w="76200">
            <a:solidFill>
              <a:srgbClr val="C00000"/>
            </a:solidFill>
          </a:ln>
        </p:spPr>
        <p:txBody>
          <a:bodyPr wrap="square" lIns="0" tIns="0" rIns="0" bIns="0" rtlCol="0"/>
          <a:lstStyle/>
          <a:p>
            <a:endParaRPr/>
          </a:p>
        </p:txBody>
      </p:sp>
      <p:sp>
        <p:nvSpPr>
          <p:cNvPr id="5" name="object 5">
            <a:extLst>
              <a:ext uri="{FF2B5EF4-FFF2-40B4-BE49-F238E27FC236}">
                <a16:creationId xmlns:a16="http://schemas.microsoft.com/office/drawing/2014/main" id="{9F287C68-72EF-E6FF-D4B1-927792C8FE86}"/>
              </a:ext>
            </a:extLst>
          </p:cNvPr>
          <p:cNvSpPr/>
          <p:nvPr/>
        </p:nvSpPr>
        <p:spPr>
          <a:xfrm>
            <a:off x="1857375" y="6357963"/>
            <a:ext cx="6948170" cy="1905"/>
          </a:xfrm>
          <a:custGeom>
            <a:avLst/>
            <a:gdLst/>
            <a:ahLst/>
            <a:cxnLst/>
            <a:rect l="l" t="t" r="r" b="b"/>
            <a:pathLst>
              <a:path w="6948170" h="1904">
                <a:moveTo>
                  <a:pt x="0" y="0"/>
                </a:moveTo>
                <a:lnTo>
                  <a:pt x="6948043" y="1587"/>
                </a:lnTo>
              </a:path>
            </a:pathLst>
          </a:custGeom>
          <a:ln w="76200">
            <a:solidFill>
              <a:srgbClr val="C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6FACB7CD-EBDD-F4AA-AB27-FE32DA5398D5}"/>
              </a:ext>
            </a:extLst>
          </p:cNvPr>
          <p:cNvSpPr/>
          <p:nvPr/>
        </p:nvSpPr>
        <p:spPr>
          <a:xfrm>
            <a:off x="357162" y="334009"/>
            <a:ext cx="8424545" cy="1905"/>
          </a:xfrm>
          <a:custGeom>
            <a:avLst/>
            <a:gdLst/>
            <a:ahLst/>
            <a:cxnLst/>
            <a:rect l="l" t="t" r="r" b="b"/>
            <a:pathLst>
              <a:path w="8424545" h="1904">
                <a:moveTo>
                  <a:pt x="0" y="0"/>
                </a:moveTo>
                <a:lnTo>
                  <a:pt x="8423998" y="1650"/>
                </a:lnTo>
              </a:path>
            </a:pathLst>
          </a:custGeom>
          <a:ln w="76200">
            <a:solidFill>
              <a:srgbClr val="C00000"/>
            </a:solidFill>
          </a:ln>
        </p:spPr>
        <p:txBody>
          <a:bodyPr wrap="square" lIns="0" tIns="0" rIns="0" bIns="0" rtlCol="0"/>
          <a:lstStyle/>
          <a:p>
            <a:endParaRPr/>
          </a:p>
        </p:txBody>
      </p:sp>
      <p:sp>
        <p:nvSpPr>
          <p:cNvPr id="9" name="Metin kutusu 8">
            <a:extLst>
              <a:ext uri="{FF2B5EF4-FFF2-40B4-BE49-F238E27FC236}">
                <a16:creationId xmlns:a16="http://schemas.microsoft.com/office/drawing/2014/main" id="{76BFF54A-E38D-F831-04A8-50FEBF2E9CDF}"/>
              </a:ext>
            </a:extLst>
          </p:cNvPr>
          <p:cNvSpPr txBox="1"/>
          <p:nvPr/>
        </p:nvSpPr>
        <p:spPr>
          <a:xfrm>
            <a:off x="357162" y="368293"/>
            <a:ext cx="6327141" cy="430887"/>
          </a:xfrm>
          <a:prstGeom prst="rect">
            <a:avLst/>
          </a:prstGeom>
          <a:noFill/>
        </p:spPr>
        <p:txBody>
          <a:bodyPr wrap="square">
            <a:spAutoFit/>
          </a:bodyPr>
          <a:lstStyle/>
          <a:p>
            <a:r>
              <a:rPr lang="tr-TR" sz="2200" b="1" dirty="0">
                <a:solidFill>
                  <a:srgbClr val="C00000"/>
                </a:solidFill>
              </a:rPr>
              <a:t>Etkinlik 3 – Saha Deneyimi ve Gözlemler</a:t>
            </a:r>
          </a:p>
        </p:txBody>
      </p:sp>
      <p:sp>
        <p:nvSpPr>
          <p:cNvPr id="11" name="Metin kutusu 10">
            <a:extLst>
              <a:ext uri="{FF2B5EF4-FFF2-40B4-BE49-F238E27FC236}">
                <a16:creationId xmlns:a16="http://schemas.microsoft.com/office/drawing/2014/main" id="{BA489B13-A3D4-816B-EA0F-A034E80511DD}"/>
              </a:ext>
            </a:extLst>
          </p:cNvPr>
          <p:cNvSpPr txBox="1"/>
          <p:nvPr/>
        </p:nvSpPr>
        <p:spPr>
          <a:xfrm>
            <a:off x="357162" y="864761"/>
            <a:ext cx="4572000" cy="2308324"/>
          </a:xfrm>
          <a:prstGeom prst="rect">
            <a:avLst/>
          </a:prstGeom>
          <a:noFill/>
        </p:spPr>
        <p:txBody>
          <a:bodyPr wrap="square">
            <a:spAutoFit/>
          </a:bodyPr>
          <a:lstStyle/>
          <a:p>
            <a:r>
              <a:rPr lang="tr-TR" dirty="0"/>
              <a:t>Sahada görev almak, hem fiziksel hem de duygusal açıdan etkileyici bir deneyimdi. Sokakta yaşayan ya da temel ihtiyaçlarını karşılamakta zorlanan vatandaşlarla birebir temas kurmak, yardımın ne kadar anlamlı olduğunu yerinde görmemi sağladı. Zaman yönetimi ve pratik problem çözme becerilerim bu süreçte gelişti.</a:t>
            </a:r>
          </a:p>
        </p:txBody>
      </p:sp>
      <p:pic>
        <p:nvPicPr>
          <p:cNvPr id="13" name="Resim 12" descr="metin, insan yüzü, kişi, şahıs, giyim içeren bir resim&#10;&#10;Yapay zeka tarafından oluşturulan içerik yanlış olabilir.">
            <a:extLst>
              <a:ext uri="{FF2B5EF4-FFF2-40B4-BE49-F238E27FC236}">
                <a16:creationId xmlns:a16="http://schemas.microsoft.com/office/drawing/2014/main" id="{40521082-1939-7534-D864-7940DB935F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14836" y="467092"/>
            <a:ext cx="1982730" cy="2643640"/>
          </a:xfrm>
          <a:prstGeom prst="rect">
            <a:avLst/>
          </a:prstGeom>
        </p:spPr>
      </p:pic>
      <p:pic>
        <p:nvPicPr>
          <p:cNvPr id="15" name="Resim 14" descr="ağaç, çabuk yemek, yemek, gıda, pencere içeren bir resim&#10;&#10;Yapay zeka tarafından oluşturulan içerik yanlış olabilir.">
            <a:extLst>
              <a:ext uri="{FF2B5EF4-FFF2-40B4-BE49-F238E27FC236}">
                <a16:creationId xmlns:a16="http://schemas.microsoft.com/office/drawing/2014/main" id="{CA233C60-81B1-5EB1-798B-04FEF70353B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51907" y="3173085"/>
            <a:ext cx="4180124" cy="3135093"/>
          </a:xfrm>
          <a:prstGeom prst="rect">
            <a:avLst/>
          </a:prstGeom>
        </p:spPr>
      </p:pic>
      <p:pic>
        <p:nvPicPr>
          <p:cNvPr id="16" name="Resim 15">
            <a:extLst>
              <a:ext uri="{FF2B5EF4-FFF2-40B4-BE49-F238E27FC236}">
                <a16:creationId xmlns:a16="http://schemas.microsoft.com/office/drawing/2014/main" id="{D7E70ADB-4A10-5C61-D318-0F5D9D32D2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8455" y="5257800"/>
            <a:ext cx="1255499" cy="1368151"/>
          </a:xfrm>
          <a:prstGeom prst="rect">
            <a:avLst/>
          </a:prstGeom>
        </p:spPr>
      </p:pic>
    </p:spTree>
    <p:extLst>
      <p:ext uri="{BB962C8B-B14F-4D97-AF65-F5344CB8AC3E}">
        <p14:creationId xmlns:p14="http://schemas.microsoft.com/office/powerpoint/2010/main" val="596249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5F1D9-4711-DC2B-621A-B4CEBA90CE1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7607D87-38F2-55E6-B44F-58989D82F04F}"/>
              </a:ext>
            </a:extLst>
          </p:cNvPr>
          <p:cNvSpPr/>
          <p:nvPr/>
        </p:nvSpPr>
        <p:spPr>
          <a:xfrm>
            <a:off x="214287" y="285750"/>
            <a:ext cx="1905" cy="5072380"/>
          </a:xfrm>
          <a:custGeom>
            <a:avLst/>
            <a:gdLst/>
            <a:ahLst/>
            <a:cxnLst/>
            <a:rect l="l" t="t" r="r" b="b"/>
            <a:pathLst>
              <a:path w="1904" h="5072380">
                <a:moveTo>
                  <a:pt x="1587" y="0"/>
                </a:moveTo>
                <a:lnTo>
                  <a:pt x="0" y="5072126"/>
                </a:lnTo>
              </a:path>
            </a:pathLst>
          </a:custGeom>
          <a:ln w="76200">
            <a:solidFill>
              <a:srgbClr val="C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E9DD3C0C-272F-4B0B-A433-62BFB5E75DC3}"/>
              </a:ext>
            </a:extLst>
          </p:cNvPr>
          <p:cNvSpPr/>
          <p:nvPr/>
        </p:nvSpPr>
        <p:spPr>
          <a:xfrm>
            <a:off x="8928100" y="285750"/>
            <a:ext cx="1905" cy="6120130"/>
          </a:xfrm>
          <a:custGeom>
            <a:avLst/>
            <a:gdLst/>
            <a:ahLst/>
            <a:cxnLst/>
            <a:rect l="l" t="t" r="r" b="b"/>
            <a:pathLst>
              <a:path w="1904" h="6120130">
                <a:moveTo>
                  <a:pt x="1650" y="0"/>
                </a:moveTo>
                <a:lnTo>
                  <a:pt x="0" y="6119977"/>
                </a:lnTo>
              </a:path>
            </a:pathLst>
          </a:custGeom>
          <a:ln w="76200">
            <a:solidFill>
              <a:srgbClr val="C00000"/>
            </a:solidFill>
          </a:ln>
        </p:spPr>
        <p:txBody>
          <a:bodyPr wrap="square" lIns="0" tIns="0" rIns="0" bIns="0" rtlCol="0"/>
          <a:lstStyle/>
          <a:p>
            <a:endParaRPr/>
          </a:p>
        </p:txBody>
      </p:sp>
      <p:sp>
        <p:nvSpPr>
          <p:cNvPr id="5" name="object 5">
            <a:extLst>
              <a:ext uri="{FF2B5EF4-FFF2-40B4-BE49-F238E27FC236}">
                <a16:creationId xmlns:a16="http://schemas.microsoft.com/office/drawing/2014/main" id="{D5028CBA-E4F6-E2E7-5153-80DDC2B882CE}"/>
              </a:ext>
            </a:extLst>
          </p:cNvPr>
          <p:cNvSpPr/>
          <p:nvPr/>
        </p:nvSpPr>
        <p:spPr>
          <a:xfrm>
            <a:off x="1857375" y="6357963"/>
            <a:ext cx="6948170" cy="1905"/>
          </a:xfrm>
          <a:custGeom>
            <a:avLst/>
            <a:gdLst/>
            <a:ahLst/>
            <a:cxnLst/>
            <a:rect l="l" t="t" r="r" b="b"/>
            <a:pathLst>
              <a:path w="6948170" h="1904">
                <a:moveTo>
                  <a:pt x="0" y="0"/>
                </a:moveTo>
                <a:lnTo>
                  <a:pt x="6948043" y="1587"/>
                </a:lnTo>
              </a:path>
            </a:pathLst>
          </a:custGeom>
          <a:ln w="76200">
            <a:solidFill>
              <a:srgbClr val="C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DBEFC6E7-0B25-C7FD-9E98-42553FD6408A}"/>
              </a:ext>
            </a:extLst>
          </p:cNvPr>
          <p:cNvSpPr/>
          <p:nvPr/>
        </p:nvSpPr>
        <p:spPr>
          <a:xfrm>
            <a:off x="357162" y="334009"/>
            <a:ext cx="8424545" cy="1905"/>
          </a:xfrm>
          <a:custGeom>
            <a:avLst/>
            <a:gdLst/>
            <a:ahLst/>
            <a:cxnLst/>
            <a:rect l="l" t="t" r="r" b="b"/>
            <a:pathLst>
              <a:path w="8424545" h="1904">
                <a:moveTo>
                  <a:pt x="0" y="0"/>
                </a:moveTo>
                <a:lnTo>
                  <a:pt x="8423998" y="1650"/>
                </a:lnTo>
              </a:path>
            </a:pathLst>
          </a:custGeom>
          <a:ln w="76200">
            <a:solidFill>
              <a:srgbClr val="C00000"/>
            </a:solidFill>
          </a:ln>
        </p:spPr>
        <p:txBody>
          <a:bodyPr wrap="square" lIns="0" tIns="0" rIns="0" bIns="0" rtlCol="0"/>
          <a:lstStyle/>
          <a:p>
            <a:endParaRPr/>
          </a:p>
        </p:txBody>
      </p:sp>
      <p:sp>
        <p:nvSpPr>
          <p:cNvPr id="9" name="Metin kutusu 8">
            <a:extLst>
              <a:ext uri="{FF2B5EF4-FFF2-40B4-BE49-F238E27FC236}">
                <a16:creationId xmlns:a16="http://schemas.microsoft.com/office/drawing/2014/main" id="{6237EA16-8E27-1AA8-B443-1137D6F9EB25}"/>
              </a:ext>
            </a:extLst>
          </p:cNvPr>
          <p:cNvSpPr txBox="1"/>
          <p:nvPr/>
        </p:nvSpPr>
        <p:spPr>
          <a:xfrm>
            <a:off x="338747" y="346000"/>
            <a:ext cx="7967054" cy="430887"/>
          </a:xfrm>
          <a:prstGeom prst="rect">
            <a:avLst/>
          </a:prstGeom>
          <a:noFill/>
        </p:spPr>
        <p:txBody>
          <a:bodyPr wrap="square">
            <a:spAutoFit/>
          </a:bodyPr>
          <a:lstStyle/>
          <a:p>
            <a:r>
              <a:rPr lang="tr-TR" sz="2200" b="1" dirty="0">
                <a:solidFill>
                  <a:srgbClr val="C00000"/>
                </a:solidFill>
              </a:rPr>
              <a:t>Etkinlik 4 – Kızılay Şubesinde Konserve ve Giysi Dağıtımı</a:t>
            </a:r>
          </a:p>
        </p:txBody>
      </p:sp>
      <p:sp>
        <p:nvSpPr>
          <p:cNvPr id="11" name="Metin kutusu 10">
            <a:extLst>
              <a:ext uri="{FF2B5EF4-FFF2-40B4-BE49-F238E27FC236}">
                <a16:creationId xmlns:a16="http://schemas.microsoft.com/office/drawing/2014/main" id="{0A8B62E1-B49D-338F-6B0A-8490E01C37FD}"/>
              </a:ext>
            </a:extLst>
          </p:cNvPr>
          <p:cNvSpPr txBox="1"/>
          <p:nvPr/>
        </p:nvSpPr>
        <p:spPr>
          <a:xfrm>
            <a:off x="338747" y="760492"/>
            <a:ext cx="4572000" cy="2585323"/>
          </a:xfrm>
          <a:prstGeom prst="rect">
            <a:avLst/>
          </a:prstGeom>
          <a:noFill/>
        </p:spPr>
        <p:txBody>
          <a:bodyPr wrap="square">
            <a:spAutoFit/>
          </a:bodyPr>
          <a:lstStyle/>
          <a:p>
            <a:r>
              <a:rPr lang="tr-TR" dirty="0"/>
              <a:t>Bu etkinlikte, Kızılay Gebze Şubesi’nde hazırlanan konserve yiyecekler ve daha önce sınıflandırılmış giysiler ihtiyaç sahibi bireylere ulaştırıldı. Dağıtım sırasında vatandaşların bilgileri kontrol edilerek yardım listeleriyle eşleştirme yapıldı. Ben de bu süreçte hem dağıtımı gerçekleştirdim hem de liste kontrolü ve koordinasyona destek verdim.</a:t>
            </a:r>
          </a:p>
        </p:txBody>
      </p:sp>
      <p:pic>
        <p:nvPicPr>
          <p:cNvPr id="15" name="Resim 14" descr="iç mekan, duvar, metin, karton kutu içeren bir resim&#10;&#10;Yapay zeka tarafından oluşturulan içerik yanlış olabilir.">
            <a:extLst>
              <a:ext uri="{FF2B5EF4-FFF2-40B4-BE49-F238E27FC236}">
                <a16:creationId xmlns:a16="http://schemas.microsoft.com/office/drawing/2014/main" id="{040EC19E-DF09-9E3E-52A8-FDE5D4C59A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59223" y="716252"/>
            <a:ext cx="3946030" cy="5261373"/>
          </a:xfrm>
          <a:prstGeom prst="rect">
            <a:avLst/>
          </a:prstGeom>
        </p:spPr>
      </p:pic>
      <p:pic>
        <p:nvPicPr>
          <p:cNvPr id="16" name="Resim 15">
            <a:extLst>
              <a:ext uri="{FF2B5EF4-FFF2-40B4-BE49-F238E27FC236}">
                <a16:creationId xmlns:a16="http://schemas.microsoft.com/office/drawing/2014/main" id="{37758DBF-111D-1016-E1CA-75938C6417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7162" y="5257800"/>
            <a:ext cx="1255499" cy="1368151"/>
          </a:xfrm>
          <a:prstGeom prst="rect">
            <a:avLst/>
          </a:prstGeom>
        </p:spPr>
      </p:pic>
    </p:spTree>
    <p:extLst>
      <p:ext uri="{BB962C8B-B14F-4D97-AF65-F5344CB8AC3E}">
        <p14:creationId xmlns:p14="http://schemas.microsoft.com/office/powerpoint/2010/main" val="511702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700A0-9314-4611-2BD7-B9A5EA863B4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F8DC87F-2C35-9D10-C76C-ADF59657218E}"/>
              </a:ext>
            </a:extLst>
          </p:cNvPr>
          <p:cNvSpPr/>
          <p:nvPr/>
        </p:nvSpPr>
        <p:spPr>
          <a:xfrm>
            <a:off x="214287" y="285750"/>
            <a:ext cx="1905" cy="5072380"/>
          </a:xfrm>
          <a:custGeom>
            <a:avLst/>
            <a:gdLst/>
            <a:ahLst/>
            <a:cxnLst/>
            <a:rect l="l" t="t" r="r" b="b"/>
            <a:pathLst>
              <a:path w="1904" h="5072380">
                <a:moveTo>
                  <a:pt x="1587" y="0"/>
                </a:moveTo>
                <a:lnTo>
                  <a:pt x="0" y="5072126"/>
                </a:lnTo>
              </a:path>
            </a:pathLst>
          </a:custGeom>
          <a:ln w="76200">
            <a:solidFill>
              <a:srgbClr val="C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1E949E21-841E-CA66-71A3-795E6F0DD3CC}"/>
              </a:ext>
            </a:extLst>
          </p:cNvPr>
          <p:cNvSpPr/>
          <p:nvPr/>
        </p:nvSpPr>
        <p:spPr>
          <a:xfrm>
            <a:off x="8928100" y="285750"/>
            <a:ext cx="1905" cy="6120130"/>
          </a:xfrm>
          <a:custGeom>
            <a:avLst/>
            <a:gdLst/>
            <a:ahLst/>
            <a:cxnLst/>
            <a:rect l="l" t="t" r="r" b="b"/>
            <a:pathLst>
              <a:path w="1904" h="6120130">
                <a:moveTo>
                  <a:pt x="1650" y="0"/>
                </a:moveTo>
                <a:lnTo>
                  <a:pt x="0" y="6119977"/>
                </a:lnTo>
              </a:path>
            </a:pathLst>
          </a:custGeom>
          <a:ln w="76200">
            <a:solidFill>
              <a:srgbClr val="C00000"/>
            </a:solidFill>
          </a:ln>
        </p:spPr>
        <p:txBody>
          <a:bodyPr wrap="square" lIns="0" tIns="0" rIns="0" bIns="0" rtlCol="0"/>
          <a:lstStyle/>
          <a:p>
            <a:endParaRPr/>
          </a:p>
        </p:txBody>
      </p:sp>
      <p:sp>
        <p:nvSpPr>
          <p:cNvPr id="5" name="object 5">
            <a:extLst>
              <a:ext uri="{FF2B5EF4-FFF2-40B4-BE49-F238E27FC236}">
                <a16:creationId xmlns:a16="http://schemas.microsoft.com/office/drawing/2014/main" id="{F2525AF5-5034-CBEE-9B06-673917D2B6AB}"/>
              </a:ext>
            </a:extLst>
          </p:cNvPr>
          <p:cNvSpPr/>
          <p:nvPr/>
        </p:nvSpPr>
        <p:spPr>
          <a:xfrm>
            <a:off x="1857375" y="6357963"/>
            <a:ext cx="6948170" cy="1905"/>
          </a:xfrm>
          <a:custGeom>
            <a:avLst/>
            <a:gdLst/>
            <a:ahLst/>
            <a:cxnLst/>
            <a:rect l="l" t="t" r="r" b="b"/>
            <a:pathLst>
              <a:path w="6948170" h="1904">
                <a:moveTo>
                  <a:pt x="0" y="0"/>
                </a:moveTo>
                <a:lnTo>
                  <a:pt x="6948043" y="1587"/>
                </a:lnTo>
              </a:path>
            </a:pathLst>
          </a:custGeom>
          <a:ln w="76200">
            <a:solidFill>
              <a:srgbClr val="C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DFB10CBA-AB2F-C825-F0D1-C79F5AFE7EDF}"/>
              </a:ext>
            </a:extLst>
          </p:cNvPr>
          <p:cNvSpPr/>
          <p:nvPr/>
        </p:nvSpPr>
        <p:spPr>
          <a:xfrm>
            <a:off x="357162" y="334009"/>
            <a:ext cx="8424545" cy="1905"/>
          </a:xfrm>
          <a:custGeom>
            <a:avLst/>
            <a:gdLst/>
            <a:ahLst/>
            <a:cxnLst/>
            <a:rect l="l" t="t" r="r" b="b"/>
            <a:pathLst>
              <a:path w="8424545" h="1904">
                <a:moveTo>
                  <a:pt x="0" y="0"/>
                </a:moveTo>
                <a:lnTo>
                  <a:pt x="8423998" y="1650"/>
                </a:lnTo>
              </a:path>
            </a:pathLst>
          </a:custGeom>
          <a:ln w="76200">
            <a:solidFill>
              <a:srgbClr val="C00000"/>
            </a:solidFill>
          </a:ln>
        </p:spPr>
        <p:txBody>
          <a:bodyPr wrap="square" lIns="0" tIns="0" rIns="0" bIns="0" rtlCol="0"/>
          <a:lstStyle/>
          <a:p>
            <a:endParaRPr/>
          </a:p>
        </p:txBody>
      </p:sp>
      <p:sp>
        <p:nvSpPr>
          <p:cNvPr id="9" name="Metin kutusu 8">
            <a:extLst>
              <a:ext uri="{FF2B5EF4-FFF2-40B4-BE49-F238E27FC236}">
                <a16:creationId xmlns:a16="http://schemas.microsoft.com/office/drawing/2014/main" id="{ABF1345E-2943-01CD-9C49-E112BFA0DE48}"/>
              </a:ext>
            </a:extLst>
          </p:cNvPr>
          <p:cNvSpPr txBox="1"/>
          <p:nvPr/>
        </p:nvSpPr>
        <p:spPr>
          <a:xfrm>
            <a:off x="314166" y="365964"/>
            <a:ext cx="5943601" cy="430887"/>
          </a:xfrm>
          <a:prstGeom prst="rect">
            <a:avLst/>
          </a:prstGeom>
          <a:noFill/>
        </p:spPr>
        <p:txBody>
          <a:bodyPr wrap="square">
            <a:spAutoFit/>
          </a:bodyPr>
          <a:lstStyle/>
          <a:p>
            <a:r>
              <a:rPr lang="tr-TR" sz="2200" b="1" dirty="0">
                <a:solidFill>
                  <a:srgbClr val="C00000"/>
                </a:solidFill>
              </a:rPr>
              <a:t>Etkinlik 4 – Sorumluluk ve Takım Çalışması</a:t>
            </a:r>
          </a:p>
        </p:txBody>
      </p:sp>
      <p:sp>
        <p:nvSpPr>
          <p:cNvPr id="11" name="Metin kutusu 10">
            <a:extLst>
              <a:ext uri="{FF2B5EF4-FFF2-40B4-BE49-F238E27FC236}">
                <a16:creationId xmlns:a16="http://schemas.microsoft.com/office/drawing/2014/main" id="{9EEB0F21-4BB2-1B04-78E4-659D2AD709D7}"/>
              </a:ext>
            </a:extLst>
          </p:cNvPr>
          <p:cNvSpPr txBox="1"/>
          <p:nvPr/>
        </p:nvSpPr>
        <p:spPr>
          <a:xfrm>
            <a:off x="323999" y="685800"/>
            <a:ext cx="4572000" cy="2585323"/>
          </a:xfrm>
          <a:prstGeom prst="rect">
            <a:avLst/>
          </a:prstGeom>
          <a:noFill/>
        </p:spPr>
        <p:txBody>
          <a:bodyPr wrap="square">
            <a:spAutoFit/>
          </a:bodyPr>
          <a:lstStyle/>
          <a:p>
            <a:r>
              <a:rPr lang="tr-TR" dirty="0"/>
              <a:t>Yoğunluk sırasında düzenin korunması, yardımların doğru kişilere ulaşması ve ihtiyaç sahiplerinin bekletilmeden yönlendirilmesi kritik öneme sahipti. Ekip arkadaşlarımla uyum içinde çalışarak bu süreci başarıyla yönettik. Bu etkinlik, sorumluluk alma, dikkatli çalışma ve ekip içi dayanışma becerilerimi geliştirmemde etkili oldu.</a:t>
            </a:r>
          </a:p>
        </p:txBody>
      </p:sp>
      <p:pic>
        <p:nvPicPr>
          <p:cNvPr id="13" name="Resim 12" descr="kişi, şahıs, insan yüzü, giyim, duvar içeren bir resim&#10;&#10;Yapay zeka tarafından oluşturulan içerik yanlış olabilir.">
            <a:extLst>
              <a:ext uri="{FF2B5EF4-FFF2-40B4-BE49-F238E27FC236}">
                <a16:creationId xmlns:a16="http://schemas.microsoft.com/office/drawing/2014/main" id="{B02F3D1A-37CE-0405-27FE-7A5508D993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18554" y="767255"/>
            <a:ext cx="3802855" cy="5070473"/>
          </a:xfrm>
          <a:prstGeom prst="rect">
            <a:avLst/>
          </a:prstGeom>
        </p:spPr>
      </p:pic>
      <p:pic>
        <p:nvPicPr>
          <p:cNvPr id="14" name="Resim 13">
            <a:extLst>
              <a:ext uri="{FF2B5EF4-FFF2-40B4-BE49-F238E27FC236}">
                <a16:creationId xmlns:a16="http://schemas.microsoft.com/office/drawing/2014/main" id="{5B85A41B-2812-9DD0-0D2F-CE1BC8BDAF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7162" y="5257800"/>
            <a:ext cx="1255499" cy="1368151"/>
          </a:xfrm>
          <a:prstGeom prst="rect">
            <a:avLst/>
          </a:prstGeom>
        </p:spPr>
      </p:pic>
    </p:spTree>
    <p:extLst>
      <p:ext uri="{BB962C8B-B14F-4D97-AF65-F5344CB8AC3E}">
        <p14:creationId xmlns:p14="http://schemas.microsoft.com/office/powerpoint/2010/main" val="2774023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7C7B0-70CF-3D35-FE45-656D3C247D2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A468E2F-2398-5E7A-7604-CA8AD3E6DC92}"/>
              </a:ext>
            </a:extLst>
          </p:cNvPr>
          <p:cNvSpPr/>
          <p:nvPr/>
        </p:nvSpPr>
        <p:spPr>
          <a:xfrm>
            <a:off x="214287" y="285750"/>
            <a:ext cx="1905" cy="5072380"/>
          </a:xfrm>
          <a:custGeom>
            <a:avLst/>
            <a:gdLst/>
            <a:ahLst/>
            <a:cxnLst/>
            <a:rect l="l" t="t" r="r" b="b"/>
            <a:pathLst>
              <a:path w="1904" h="5072380">
                <a:moveTo>
                  <a:pt x="1587" y="0"/>
                </a:moveTo>
                <a:lnTo>
                  <a:pt x="0" y="5072126"/>
                </a:lnTo>
              </a:path>
            </a:pathLst>
          </a:custGeom>
          <a:ln w="76200">
            <a:solidFill>
              <a:srgbClr val="C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5C51F552-6D74-AE40-BF35-518DF6351735}"/>
              </a:ext>
            </a:extLst>
          </p:cNvPr>
          <p:cNvSpPr/>
          <p:nvPr/>
        </p:nvSpPr>
        <p:spPr>
          <a:xfrm>
            <a:off x="8928100" y="285750"/>
            <a:ext cx="1905" cy="6120130"/>
          </a:xfrm>
          <a:custGeom>
            <a:avLst/>
            <a:gdLst/>
            <a:ahLst/>
            <a:cxnLst/>
            <a:rect l="l" t="t" r="r" b="b"/>
            <a:pathLst>
              <a:path w="1904" h="6120130">
                <a:moveTo>
                  <a:pt x="1650" y="0"/>
                </a:moveTo>
                <a:lnTo>
                  <a:pt x="0" y="6119977"/>
                </a:lnTo>
              </a:path>
            </a:pathLst>
          </a:custGeom>
          <a:ln w="76200">
            <a:solidFill>
              <a:srgbClr val="C00000"/>
            </a:solidFill>
          </a:ln>
        </p:spPr>
        <p:txBody>
          <a:bodyPr wrap="square" lIns="0" tIns="0" rIns="0" bIns="0" rtlCol="0"/>
          <a:lstStyle/>
          <a:p>
            <a:endParaRPr/>
          </a:p>
        </p:txBody>
      </p:sp>
      <p:sp>
        <p:nvSpPr>
          <p:cNvPr id="5" name="object 5">
            <a:extLst>
              <a:ext uri="{FF2B5EF4-FFF2-40B4-BE49-F238E27FC236}">
                <a16:creationId xmlns:a16="http://schemas.microsoft.com/office/drawing/2014/main" id="{D8DF7432-6165-8FF9-3636-79891A1612EE}"/>
              </a:ext>
            </a:extLst>
          </p:cNvPr>
          <p:cNvSpPr/>
          <p:nvPr/>
        </p:nvSpPr>
        <p:spPr>
          <a:xfrm>
            <a:off x="1857375" y="6357963"/>
            <a:ext cx="6948170" cy="1905"/>
          </a:xfrm>
          <a:custGeom>
            <a:avLst/>
            <a:gdLst/>
            <a:ahLst/>
            <a:cxnLst/>
            <a:rect l="l" t="t" r="r" b="b"/>
            <a:pathLst>
              <a:path w="6948170" h="1904">
                <a:moveTo>
                  <a:pt x="0" y="0"/>
                </a:moveTo>
                <a:lnTo>
                  <a:pt x="6948043" y="1587"/>
                </a:lnTo>
              </a:path>
            </a:pathLst>
          </a:custGeom>
          <a:ln w="76200">
            <a:solidFill>
              <a:srgbClr val="C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E6780EB7-FA56-C207-E37C-ADEB2E6084F7}"/>
              </a:ext>
            </a:extLst>
          </p:cNvPr>
          <p:cNvSpPr/>
          <p:nvPr/>
        </p:nvSpPr>
        <p:spPr>
          <a:xfrm>
            <a:off x="357162" y="334009"/>
            <a:ext cx="8424545" cy="1905"/>
          </a:xfrm>
          <a:custGeom>
            <a:avLst/>
            <a:gdLst/>
            <a:ahLst/>
            <a:cxnLst/>
            <a:rect l="l" t="t" r="r" b="b"/>
            <a:pathLst>
              <a:path w="8424545" h="1904">
                <a:moveTo>
                  <a:pt x="0" y="0"/>
                </a:moveTo>
                <a:lnTo>
                  <a:pt x="8423998" y="1650"/>
                </a:lnTo>
              </a:path>
            </a:pathLst>
          </a:custGeom>
          <a:ln w="76200">
            <a:solidFill>
              <a:srgbClr val="C00000"/>
            </a:solidFill>
          </a:ln>
        </p:spPr>
        <p:txBody>
          <a:bodyPr wrap="square" lIns="0" tIns="0" rIns="0" bIns="0" rtlCol="0"/>
          <a:lstStyle/>
          <a:p>
            <a:endParaRPr/>
          </a:p>
        </p:txBody>
      </p:sp>
      <p:sp>
        <p:nvSpPr>
          <p:cNvPr id="11" name="Metin kutusu 10">
            <a:extLst>
              <a:ext uri="{FF2B5EF4-FFF2-40B4-BE49-F238E27FC236}">
                <a16:creationId xmlns:a16="http://schemas.microsoft.com/office/drawing/2014/main" id="{A1DE143F-AF11-D22F-F3D5-FAC2F729F973}"/>
              </a:ext>
            </a:extLst>
          </p:cNvPr>
          <p:cNvSpPr txBox="1"/>
          <p:nvPr/>
        </p:nvSpPr>
        <p:spPr>
          <a:xfrm>
            <a:off x="338747" y="386225"/>
            <a:ext cx="7554593" cy="430887"/>
          </a:xfrm>
          <a:prstGeom prst="rect">
            <a:avLst/>
          </a:prstGeom>
          <a:noFill/>
        </p:spPr>
        <p:txBody>
          <a:bodyPr wrap="square">
            <a:spAutoFit/>
          </a:bodyPr>
          <a:lstStyle/>
          <a:p>
            <a:r>
              <a:rPr lang="tr-TR" sz="2200" b="1" dirty="0">
                <a:solidFill>
                  <a:srgbClr val="C00000"/>
                </a:solidFill>
              </a:rPr>
              <a:t>Etkinlik 5 – Özel Çocuklar İçin Etkinlikte Dağıtım Görevi </a:t>
            </a:r>
          </a:p>
        </p:txBody>
      </p:sp>
      <p:sp>
        <p:nvSpPr>
          <p:cNvPr id="13" name="Metin kutusu 12">
            <a:extLst>
              <a:ext uri="{FF2B5EF4-FFF2-40B4-BE49-F238E27FC236}">
                <a16:creationId xmlns:a16="http://schemas.microsoft.com/office/drawing/2014/main" id="{20E5AF8A-1B68-3019-6C11-F4AA67EC6B34}"/>
              </a:ext>
            </a:extLst>
          </p:cNvPr>
          <p:cNvSpPr txBox="1"/>
          <p:nvPr/>
        </p:nvSpPr>
        <p:spPr>
          <a:xfrm>
            <a:off x="338747" y="785699"/>
            <a:ext cx="4572000" cy="2031325"/>
          </a:xfrm>
          <a:prstGeom prst="rect">
            <a:avLst/>
          </a:prstGeom>
          <a:noFill/>
        </p:spPr>
        <p:txBody>
          <a:bodyPr wrap="square">
            <a:spAutoFit/>
          </a:bodyPr>
          <a:lstStyle/>
          <a:p>
            <a:r>
              <a:rPr lang="tr-TR" dirty="0"/>
              <a:t>Bu etkinlikte, özel çocuklara eğitim veren bir kurumda düzenlenen gösteri sonrasında Kızılay aracıyla tatlı su ve çay dağıtımı gerçekleştirdik. Etkinlik sonunda hem çocuklara hem de katılımcılara ikramlarda bulunarak bu özel günün daha anlamlı geçmesine katkı sağladık.</a:t>
            </a:r>
          </a:p>
        </p:txBody>
      </p:sp>
      <p:pic>
        <p:nvPicPr>
          <p:cNvPr id="17" name="Resim 16" descr="çabuk yemek, yemek, gıda, iç mekan, çerez, atıştırmalık içeren bir resim&#10;&#10;Yapay zeka tarafından oluşturulan içerik yanlış olabilir.">
            <a:extLst>
              <a:ext uri="{FF2B5EF4-FFF2-40B4-BE49-F238E27FC236}">
                <a16:creationId xmlns:a16="http://schemas.microsoft.com/office/drawing/2014/main" id="{2BD11171-F5AB-4A61-A082-C8AAA48BE0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80757" y="3876853"/>
            <a:ext cx="4186066" cy="2412078"/>
          </a:xfrm>
          <a:prstGeom prst="rect">
            <a:avLst/>
          </a:prstGeom>
        </p:spPr>
      </p:pic>
      <p:pic>
        <p:nvPicPr>
          <p:cNvPr id="19" name="Resim 18" descr="giyim, kişi, şahıs, dış mekan, ayakkabı içeren bir resim&#10;&#10;Yapay zeka tarafından oluşturulan içerik yanlış olabilir.">
            <a:extLst>
              <a:ext uri="{FF2B5EF4-FFF2-40B4-BE49-F238E27FC236}">
                <a16:creationId xmlns:a16="http://schemas.microsoft.com/office/drawing/2014/main" id="{EC7D80C7-F797-0E56-68D2-CF0F66D603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68838" y="727471"/>
            <a:ext cx="4186066" cy="3139550"/>
          </a:xfrm>
          <a:prstGeom prst="rect">
            <a:avLst/>
          </a:prstGeom>
        </p:spPr>
      </p:pic>
      <p:pic>
        <p:nvPicPr>
          <p:cNvPr id="20" name="Resim 19">
            <a:extLst>
              <a:ext uri="{FF2B5EF4-FFF2-40B4-BE49-F238E27FC236}">
                <a16:creationId xmlns:a16="http://schemas.microsoft.com/office/drawing/2014/main" id="{3DCEBEE6-6CEE-E322-49D5-3B28B2152E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7162" y="5257800"/>
            <a:ext cx="1255499" cy="1368151"/>
          </a:xfrm>
          <a:prstGeom prst="rect">
            <a:avLst/>
          </a:prstGeom>
        </p:spPr>
      </p:pic>
    </p:spTree>
    <p:extLst>
      <p:ext uri="{BB962C8B-B14F-4D97-AF65-F5344CB8AC3E}">
        <p14:creationId xmlns:p14="http://schemas.microsoft.com/office/powerpoint/2010/main" val="3292486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17AA3-0802-BD4A-EBBE-8B391CA9690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ABD617B-347B-3137-4EDC-50C9BBFA0BB6}"/>
              </a:ext>
            </a:extLst>
          </p:cNvPr>
          <p:cNvSpPr/>
          <p:nvPr/>
        </p:nvSpPr>
        <p:spPr>
          <a:xfrm>
            <a:off x="214287" y="285750"/>
            <a:ext cx="1905" cy="5072380"/>
          </a:xfrm>
          <a:custGeom>
            <a:avLst/>
            <a:gdLst/>
            <a:ahLst/>
            <a:cxnLst/>
            <a:rect l="l" t="t" r="r" b="b"/>
            <a:pathLst>
              <a:path w="1904" h="5072380">
                <a:moveTo>
                  <a:pt x="1587" y="0"/>
                </a:moveTo>
                <a:lnTo>
                  <a:pt x="0" y="5072126"/>
                </a:lnTo>
              </a:path>
            </a:pathLst>
          </a:custGeom>
          <a:ln w="76200">
            <a:solidFill>
              <a:srgbClr val="C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E8865980-470C-DBBB-91CF-EDC2BE8B4F09}"/>
              </a:ext>
            </a:extLst>
          </p:cNvPr>
          <p:cNvSpPr/>
          <p:nvPr/>
        </p:nvSpPr>
        <p:spPr>
          <a:xfrm>
            <a:off x="8928100" y="285750"/>
            <a:ext cx="1905" cy="6120130"/>
          </a:xfrm>
          <a:custGeom>
            <a:avLst/>
            <a:gdLst/>
            <a:ahLst/>
            <a:cxnLst/>
            <a:rect l="l" t="t" r="r" b="b"/>
            <a:pathLst>
              <a:path w="1904" h="6120130">
                <a:moveTo>
                  <a:pt x="1650" y="0"/>
                </a:moveTo>
                <a:lnTo>
                  <a:pt x="0" y="6119977"/>
                </a:lnTo>
              </a:path>
            </a:pathLst>
          </a:custGeom>
          <a:ln w="76200">
            <a:solidFill>
              <a:srgbClr val="C00000"/>
            </a:solidFill>
          </a:ln>
        </p:spPr>
        <p:txBody>
          <a:bodyPr wrap="square" lIns="0" tIns="0" rIns="0" bIns="0" rtlCol="0"/>
          <a:lstStyle/>
          <a:p>
            <a:endParaRPr/>
          </a:p>
        </p:txBody>
      </p:sp>
      <p:sp>
        <p:nvSpPr>
          <p:cNvPr id="5" name="object 5">
            <a:extLst>
              <a:ext uri="{FF2B5EF4-FFF2-40B4-BE49-F238E27FC236}">
                <a16:creationId xmlns:a16="http://schemas.microsoft.com/office/drawing/2014/main" id="{E6739FAF-AA39-7FB5-73FE-A5E842C79CFD}"/>
              </a:ext>
            </a:extLst>
          </p:cNvPr>
          <p:cNvSpPr/>
          <p:nvPr/>
        </p:nvSpPr>
        <p:spPr>
          <a:xfrm>
            <a:off x="1857375" y="6357963"/>
            <a:ext cx="6948170" cy="1905"/>
          </a:xfrm>
          <a:custGeom>
            <a:avLst/>
            <a:gdLst/>
            <a:ahLst/>
            <a:cxnLst/>
            <a:rect l="l" t="t" r="r" b="b"/>
            <a:pathLst>
              <a:path w="6948170" h="1904">
                <a:moveTo>
                  <a:pt x="0" y="0"/>
                </a:moveTo>
                <a:lnTo>
                  <a:pt x="6948043" y="1587"/>
                </a:lnTo>
              </a:path>
            </a:pathLst>
          </a:custGeom>
          <a:ln w="76200">
            <a:solidFill>
              <a:srgbClr val="C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4A62C9DA-62C0-E2B7-7F40-5EE970F39C68}"/>
              </a:ext>
            </a:extLst>
          </p:cNvPr>
          <p:cNvSpPr/>
          <p:nvPr/>
        </p:nvSpPr>
        <p:spPr>
          <a:xfrm>
            <a:off x="357162" y="334009"/>
            <a:ext cx="8424545" cy="1905"/>
          </a:xfrm>
          <a:custGeom>
            <a:avLst/>
            <a:gdLst/>
            <a:ahLst/>
            <a:cxnLst/>
            <a:rect l="l" t="t" r="r" b="b"/>
            <a:pathLst>
              <a:path w="8424545" h="1904">
                <a:moveTo>
                  <a:pt x="0" y="0"/>
                </a:moveTo>
                <a:lnTo>
                  <a:pt x="8423998" y="1650"/>
                </a:lnTo>
              </a:path>
            </a:pathLst>
          </a:custGeom>
          <a:ln w="76200">
            <a:solidFill>
              <a:srgbClr val="C00000"/>
            </a:solidFill>
          </a:ln>
        </p:spPr>
        <p:txBody>
          <a:bodyPr wrap="square" lIns="0" tIns="0" rIns="0" bIns="0" rtlCol="0"/>
          <a:lstStyle/>
          <a:p>
            <a:endParaRPr/>
          </a:p>
        </p:txBody>
      </p:sp>
      <p:sp>
        <p:nvSpPr>
          <p:cNvPr id="8" name="Metin kutusu 7">
            <a:extLst>
              <a:ext uri="{FF2B5EF4-FFF2-40B4-BE49-F238E27FC236}">
                <a16:creationId xmlns:a16="http://schemas.microsoft.com/office/drawing/2014/main" id="{9CB42BE7-6B49-CA16-E59F-5EDCE6F94078}"/>
              </a:ext>
            </a:extLst>
          </p:cNvPr>
          <p:cNvSpPr txBox="1"/>
          <p:nvPr/>
        </p:nvSpPr>
        <p:spPr>
          <a:xfrm>
            <a:off x="357162" y="356857"/>
            <a:ext cx="6642101" cy="430887"/>
          </a:xfrm>
          <a:prstGeom prst="rect">
            <a:avLst/>
          </a:prstGeom>
          <a:noFill/>
        </p:spPr>
        <p:txBody>
          <a:bodyPr wrap="square">
            <a:spAutoFit/>
          </a:bodyPr>
          <a:lstStyle/>
          <a:p>
            <a:r>
              <a:rPr lang="tr-TR" sz="2200" b="1" dirty="0">
                <a:solidFill>
                  <a:srgbClr val="C00000"/>
                </a:solidFill>
              </a:rPr>
              <a:t>Etkinlik 5 – Duygusal Farkındalık ve Hassasiyet</a:t>
            </a:r>
          </a:p>
        </p:txBody>
      </p:sp>
      <p:sp>
        <p:nvSpPr>
          <p:cNvPr id="10" name="Metin kutusu 9">
            <a:extLst>
              <a:ext uri="{FF2B5EF4-FFF2-40B4-BE49-F238E27FC236}">
                <a16:creationId xmlns:a16="http://schemas.microsoft.com/office/drawing/2014/main" id="{6DEC2EBA-7EC5-2C0A-95E7-123AF6A88E75}"/>
              </a:ext>
            </a:extLst>
          </p:cNvPr>
          <p:cNvSpPr txBox="1"/>
          <p:nvPr/>
        </p:nvSpPr>
        <p:spPr>
          <a:xfrm>
            <a:off x="338747" y="750873"/>
            <a:ext cx="4572000" cy="2308324"/>
          </a:xfrm>
          <a:prstGeom prst="rect">
            <a:avLst/>
          </a:prstGeom>
          <a:noFill/>
        </p:spPr>
        <p:txBody>
          <a:bodyPr wrap="square">
            <a:spAutoFit/>
          </a:bodyPr>
          <a:lstStyle/>
          <a:p>
            <a:r>
              <a:rPr lang="tr-TR" dirty="0"/>
              <a:t>Özel bireylerle temas kurmak, sabır, anlayış ve duyarlılıkla hareket etmeyi gerektiriyordu. Bu süreçte yalnızca fiziksel yardımda bulunmakla kalmayıp, duygusal destek olmanın da ne kadar önemli olduğunu fark ettim. Bu deneyim, empati gücümün ve sosyal sorumluluk bilincimin daha da artmasını sağladı.</a:t>
            </a:r>
          </a:p>
        </p:txBody>
      </p:sp>
      <p:pic>
        <p:nvPicPr>
          <p:cNvPr id="12" name="Resim 11" descr="giyim, kişi, şahıs, ayakkabı, insan yüzü içeren bir resim&#10;&#10;Yapay zeka tarafından oluşturulan içerik yanlış olabilir.">
            <a:extLst>
              <a:ext uri="{FF2B5EF4-FFF2-40B4-BE49-F238E27FC236}">
                <a16:creationId xmlns:a16="http://schemas.microsoft.com/office/drawing/2014/main" id="{EBEE33CE-7A99-694A-60DE-33A4A9AA31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06630" y="775454"/>
            <a:ext cx="4113371" cy="5484495"/>
          </a:xfrm>
          <a:prstGeom prst="rect">
            <a:avLst/>
          </a:prstGeom>
        </p:spPr>
      </p:pic>
      <p:pic>
        <p:nvPicPr>
          <p:cNvPr id="13" name="Resim 12">
            <a:extLst>
              <a:ext uri="{FF2B5EF4-FFF2-40B4-BE49-F238E27FC236}">
                <a16:creationId xmlns:a16="http://schemas.microsoft.com/office/drawing/2014/main" id="{AC5830A2-EAF9-09CF-1A39-BE52D07A7E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7162" y="5257800"/>
            <a:ext cx="1255499" cy="1368151"/>
          </a:xfrm>
          <a:prstGeom prst="rect">
            <a:avLst/>
          </a:prstGeom>
        </p:spPr>
      </p:pic>
    </p:spTree>
    <p:extLst>
      <p:ext uri="{BB962C8B-B14F-4D97-AF65-F5344CB8AC3E}">
        <p14:creationId xmlns:p14="http://schemas.microsoft.com/office/powerpoint/2010/main" val="2174510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35BF1-822E-388C-AEF6-E68BD225A2A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7FBA994-ADFF-419E-A696-E2A3D1570AA1}"/>
              </a:ext>
            </a:extLst>
          </p:cNvPr>
          <p:cNvSpPr/>
          <p:nvPr/>
        </p:nvSpPr>
        <p:spPr>
          <a:xfrm>
            <a:off x="214287" y="285750"/>
            <a:ext cx="1905" cy="5072380"/>
          </a:xfrm>
          <a:custGeom>
            <a:avLst/>
            <a:gdLst/>
            <a:ahLst/>
            <a:cxnLst/>
            <a:rect l="l" t="t" r="r" b="b"/>
            <a:pathLst>
              <a:path w="1904" h="5072380">
                <a:moveTo>
                  <a:pt x="1587" y="0"/>
                </a:moveTo>
                <a:lnTo>
                  <a:pt x="0" y="5072126"/>
                </a:lnTo>
              </a:path>
            </a:pathLst>
          </a:custGeom>
          <a:ln w="76200">
            <a:solidFill>
              <a:srgbClr val="C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1C1B24C1-73AD-507A-C100-53B88B0B5BE5}"/>
              </a:ext>
            </a:extLst>
          </p:cNvPr>
          <p:cNvSpPr/>
          <p:nvPr/>
        </p:nvSpPr>
        <p:spPr>
          <a:xfrm>
            <a:off x="8928100" y="285750"/>
            <a:ext cx="1905" cy="6120130"/>
          </a:xfrm>
          <a:custGeom>
            <a:avLst/>
            <a:gdLst/>
            <a:ahLst/>
            <a:cxnLst/>
            <a:rect l="l" t="t" r="r" b="b"/>
            <a:pathLst>
              <a:path w="1904" h="6120130">
                <a:moveTo>
                  <a:pt x="1650" y="0"/>
                </a:moveTo>
                <a:lnTo>
                  <a:pt x="0" y="6119977"/>
                </a:lnTo>
              </a:path>
            </a:pathLst>
          </a:custGeom>
          <a:ln w="76200">
            <a:solidFill>
              <a:srgbClr val="C00000"/>
            </a:solidFill>
          </a:ln>
        </p:spPr>
        <p:txBody>
          <a:bodyPr wrap="square" lIns="0" tIns="0" rIns="0" bIns="0" rtlCol="0"/>
          <a:lstStyle/>
          <a:p>
            <a:endParaRPr/>
          </a:p>
        </p:txBody>
      </p:sp>
      <p:sp>
        <p:nvSpPr>
          <p:cNvPr id="5" name="object 5">
            <a:extLst>
              <a:ext uri="{FF2B5EF4-FFF2-40B4-BE49-F238E27FC236}">
                <a16:creationId xmlns:a16="http://schemas.microsoft.com/office/drawing/2014/main" id="{6F1F7291-7A68-36D3-D628-0F558FC7FE1A}"/>
              </a:ext>
            </a:extLst>
          </p:cNvPr>
          <p:cNvSpPr/>
          <p:nvPr/>
        </p:nvSpPr>
        <p:spPr>
          <a:xfrm>
            <a:off x="1857375" y="6357963"/>
            <a:ext cx="6948170" cy="1905"/>
          </a:xfrm>
          <a:custGeom>
            <a:avLst/>
            <a:gdLst/>
            <a:ahLst/>
            <a:cxnLst/>
            <a:rect l="l" t="t" r="r" b="b"/>
            <a:pathLst>
              <a:path w="6948170" h="1904">
                <a:moveTo>
                  <a:pt x="0" y="0"/>
                </a:moveTo>
                <a:lnTo>
                  <a:pt x="6948043" y="1587"/>
                </a:lnTo>
              </a:path>
            </a:pathLst>
          </a:custGeom>
          <a:ln w="76200">
            <a:solidFill>
              <a:srgbClr val="C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968EFFD7-0616-127B-2B3C-66249982C7F7}"/>
              </a:ext>
            </a:extLst>
          </p:cNvPr>
          <p:cNvSpPr/>
          <p:nvPr/>
        </p:nvSpPr>
        <p:spPr>
          <a:xfrm>
            <a:off x="357162" y="334009"/>
            <a:ext cx="8424545" cy="1905"/>
          </a:xfrm>
          <a:custGeom>
            <a:avLst/>
            <a:gdLst/>
            <a:ahLst/>
            <a:cxnLst/>
            <a:rect l="l" t="t" r="r" b="b"/>
            <a:pathLst>
              <a:path w="8424545" h="1904">
                <a:moveTo>
                  <a:pt x="0" y="0"/>
                </a:moveTo>
                <a:lnTo>
                  <a:pt x="8423998" y="1650"/>
                </a:lnTo>
              </a:path>
            </a:pathLst>
          </a:custGeom>
          <a:ln w="76200">
            <a:solidFill>
              <a:srgbClr val="C00000"/>
            </a:solidFill>
          </a:ln>
        </p:spPr>
        <p:txBody>
          <a:bodyPr wrap="square" lIns="0" tIns="0" rIns="0" bIns="0" rtlCol="0"/>
          <a:lstStyle/>
          <a:p>
            <a:endParaRPr/>
          </a:p>
        </p:txBody>
      </p:sp>
      <p:sp>
        <p:nvSpPr>
          <p:cNvPr id="8" name="Metin kutusu 7">
            <a:extLst>
              <a:ext uri="{FF2B5EF4-FFF2-40B4-BE49-F238E27FC236}">
                <a16:creationId xmlns:a16="http://schemas.microsoft.com/office/drawing/2014/main" id="{C9EED971-5E80-DA5D-164F-6285F318C6CA}"/>
              </a:ext>
            </a:extLst>
          </p:cNvPr>
          <p:cNvSpPr txBox="1"/>
          <p:nvPr/>
        </p:nvSpPr>
        <p:spPr>
          <a:xfrm>
            <a:off x="1996904" y="461088"/>
            <a:ext cx="4572000" cy="461665"/>
          </a:xfrm>
          <a:prstGeom prst="rect">
            <a:avLst/>
          </a:prstGeom>
          <a:noFill/>
        </p:spPr>
        <p:txBody>
          <a:bodyPr wrap="square">
            <a:spAutoFit/>
          </a:bodyPr>
          <a:lstStyle/>
          <a:p>
            <a:pPr algn="ctr"/>
            <a:r>
              <a:rPr lang="tr-TR" sz="2400" b="1" dirty="0">
                <a:solidFill>
                  <a:srgbClr val="C00000"/>
                </a:solidFill>
              </a:rPr>
              <a:t>KIZILAY’IN BANA KATKISI</a:t>
            </a:r>
          </a:p>
        </p:txBody>
      </p:sp>
      <p:sp>
        <p:nvSpPr>
          <p:cNvPr id="10" name="Metin kutusu 9">
            <a:extLst>
              <a:ext uri="{FF2B5EF4-FFF2-40B4-BE49-F238E27FC236}">
                <a16:creationId xmlns:a16="http://schemas.microsoft.com/office/drawing/2014/main" id="{134FA26F-1EBF-40C5-1A19-53CEAF32DA9E}"/>
              </a:ext>
            </a:extLst>
          </p:cNvPr>
          <p:cNvSpPr txBox="1"/>
          <p:nvPr/>
        </p:nvSpPr>
        <p:spPr>
          <a:xfrm>
            <a:off x="357162" y="1111613"/>
            <a:ext cx="6519253" cy="2862322"/>
          </a:xfrm>
          <a:prstGeom prst="rect">
            <a:avLst/>
          </a:prstGeom>
          <a:noFill/>
        </p:spPr>
        <p:txBody>
          <a:bodyPr wrap="square">
            <a:spAutoFit/>
          </a:bodyPr>
          <a:lstStyle/>
          <a:p>
            <a:pPr algn="l"/>
            <a:r>
              <a:rPr lang="tr-TR" dirty="0"/>
              <a:t>Kızılay’da gönüllü olmak, empati kurma, toplumsal duyarlılık ve sorumluluk bilincimi geliştirdi. </a:t>
            </a:r>
          </a:p>
          <a:p>
            <a:pPr algn="l"/>
            <a:endParaRPr lang="tr-TR" dirty="0"/>
          </a:p>
          <a:p>
            <a:pPr algn="l"/>
            <a:r>
              <a:rPr lang="tr-TR" dirty="0"/>
              <a:t>Farklı insanlarla iletişim kurarak sosyal becerilerimi artırdım. </a:t>
            </a:r>
          </a:p>
          <a:p>
            <a:pPr algn="l"/>
            <a:endParaRPr lang="tr-TR" dirty="0"/>
          </a:p>
          <a:p>
            <a:pPr algn="l"/>
            <a:r>
              <a:rPr lang="tr-TR" dirty="0"/>
              <a:t>Ekip çalışması, düzenli çalışma ve kriz anında çözüm üretme gibi pratik deneyimler kazandım. </a:t>
            </a:r>
          </a:p>
          <a:p>
            <a:pPr algn="l"/>
            <a:endParaRPr lang="tr-TR" dirty="0"/>
          </a:p>
          <a:p>
            <a:pPr algn="l"/>
            <a:r>
              <a:rPr lang="tr-TR" dirty="0"/>
              <a:t>Bu süreç, hem kişisel gelişimime katkı sağladı hem de gönüllülüğün gücünü yaşamamı sağladı.</a:t>
            </a:r>
          </a:p>
        </p:txBody>
      </p:sp>
      <p:pic>
        <p:nvPicPr>
          <p:cNvPr id="11" name="Resim 10">
            <a:extLst>
              <a:ext uri="{FF2B5EF4-FFF2-40B4-BE49-F238E27FC236}">
                <a16:creationId xmlns:a16="http://schemas.microsoft.com/office/drawing/2014/main" id="{4F00A8F1-7EE9-2BC2-49ED-9D6C0A6FCC6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4368" y="5257800"/>
            <a:ext cx="1255499" cy="1368151"/>
          </a:xfrm>
          <a:prstGeom prst="rect">
            <a:avLst/>
          </a:prstGeom>
        </p:spPr>
      </p:pic>
    </p:spTree>
    <p:extLst>
      <p:ext uri="{BB962C8B-B14F-4D97-AF65-F5344CB8AC3E}">
        <p14:creationId xmlns:p14="http://schemas.microsoft.com/office/powerpoint/2010/main" val="1273884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2713A-700F-F187-D375-99882B42E7F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BFE14F6-44DF-36E9-72DB-40BD58877769}"/>
              </a:ext>
            </a:extLst>
          </p:cNvPr>
          <p:cNvSpPr/>
          <p:nvPr/>
        </p:nvSpPr>
        <p:spPr>
          <a:xfrm>
            <a:off x="214287" y="285750"/>
            <a:ext cx="1905" cy="5072380"/>
          </a:xfrm>
          <a:custGeom>
            <a:avLst/>
            <a:gdLst/>
            <a:ahLst/>
            <a:cxnLst/>
            <a:rect l="l" t="t" r="r" b="b"/>
            <a:pathLst>
              <a:path w="1904" h="5072380">
                <a:moveTo>
                  <a:pt x="1587" y="0"/>
                </a:moveTo>
                <a:lnTo>
                  <a:pt x="0" y="5072126"/>
                </a:lnTo>
              </a:path>
            </a:pathLst>
          </a:custGeom>
          <a:ln w="76200">
            <a:solidFill>
              <a:srgbClr val="C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05FEAE54-062D-552D-52C9-F210210204BF}"/>
              </a:ext>
            </a:extLst>
          </p:cNvPr>
          <p:cNvSpPr/>
          <p:nvPr/>
        </p:nvSpPr>
        <p:spPr>
          <a:xfrm>
            <a:off x="8928100" y="285750"/>
            <a:ext cx="1905" cy="6120130"/>
          </a:xfrm>
          <a:custGeom>
            <a:avLst/>
            <a:gdLst/>
            <a:ahLst/>
            <a:cxnLst/>
            <a:rect l="l" t="t" r="r" b="b"/>
            <a:pathLst>
              <a:path w="1904" h="6120130">
                <a:moveTo>
                  <a:pt x="1650" y="0"/>
                </a:moveTo>
                <a:lnTo>
                  <a:pt x="0" y="6119977"/>
                </a:lnTo>
              </a:path>
            </a:pathLst>
          </a:custGeom>
          <a:ln w="76200">
            <a:solidFill>
              <a:srgbClr val="C00000"/>
            </a:solidFill>
          </a:ln>
        </p:spPr>
        <p:txBody>
          <a:bodyPr wrap="square" lIns="0" tIns="0" rIns="0" bIns="0" rtlCol="0"/>
          <a:lstStyle/>
          <a:p>
            <a:endParaRPr/>
          </a:p>
        </p:txBody>
      </p:sp>
      <p:sp>
        <p:nvSpPr>
          <p:cNvPr id="5" name="object 5">
            <a:extLst>
              <a:ext uri="{FF2B5EF4-FFF2-40B4-BE49-F238E27FC236}">
                <a16:creationId xmlns:a16="http://schemas.microsoft.com/office/drawing/2014/main" id="{2DB8ACDA-9BFF-777B-67C7-49C2EE1482FF}"/>
              </a:ext>
            </a:extLst>
          </p:cNvPr>
          <p:cNvSpPr/>
          <p:nvPr/>
        </p:nvSpPr>
        <p:spPr>
          <a:xfrm>
            <a:off x="1857375" y="6357963"/>
            <a:ext cx="6948170" cy="1905"/>
          </a:xfrm>
          <a:custGeom>
            <a:avLst/>
            <a:gdLst/>
            <a:ahLst/>
            <a:cxnLst/>
            <a:rect l="l" t="t" r="r" b="b"/>
            <a:pathLst>
              <a:path w="6948170" h="1904">
                <a:moveTo>
                  <a:pt x="0" y="0"/>
                </a:moveTo>
                <a:lnTo>
                  <a:pt x="6948043" y="1587"/>
                </a:lnTo>
              </a:path>
            </a:pathLst>
          </a:custGeom>
          <a:ln w="76200">
            <a:solidFill>
              <a:srgbClr val="C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2071C228-27F0-4BB9-8585-916171AF68FF}"/>
              </a:ext>
            </a:extLst>
          </p:cNvPr>
          <p:cNvSpPr/>
          <p:nvPr/>
        </p:nvSpPr>
        <p:spPr>
          <a:xfrm>
            <a:off x="357162" y="334009"/>
            <a:ext cx="8424545" cy="1905"/>
          </a:xfrm>
          <a:custGeom>
            <a:avLst/>
            <a:gdLst/>
            <a:ahLst/>
            <a:cxnLst/>
            <a:rect l="l" t="t" r="r" b="b"/>
            <a:pathLst>
              <a:path w="8424545" h="1904">
                <a:moveTo>
                  <a:pt x="0" y="0"/>
                </a:moveTo>
                <a:lnTo>
                  <a:pt x="8423998" y="1650"/>
                </a:lnTo>
              </a:path>
            </a:pathLst>
          </a:custGeom>
          <a:ln w="76200">
            <a:solidFill>
              <a:srgbClr val="C00000"/>
            </a:solidFill>
          </a:ln>
        </p:spPr>
        <p:txBody>
          <a:bodyPr wrap="square" lIns="0" tIns="0" rIns="0" bIns="0" rtlCol="0"/>
          <a:lstStyle/>
          <a:p>
            <a:endParaRPr/>
          </a:p>
        </p:txBody>
      </p:sp>
      <p:sp>
        <p:nvSpPr>
          <p:cNvPr id="8" name="Metin kutusu 7">
            <a:extLst>
              <a:ext uri="{FF2B5EF4-FFF2-40B4-BE49-F238E27FC236}">
                <a16:creationId xmlns:a16="http://schemas.microsoft.com/office/drawing/2014/main" id="{89AA7CC2-806B-E8B0-BBD6-B2CFCDEF56CA}"/>
              </a:ext>
            </a:extLst>
          </p:cNvPr>
          <p:cNvSpPr txBox="1"/>
          <p:nvPr/>
        </p:nvSpPr>
        <p:spPr>
          <a:xfrm>
            <a:off x="530218" y="498132"/>
            <a:ext cx="8074023" cy="523220"/>
          </a:xfrm>
          <a:prstGeom prst="rect">
            <a:avLst/>
          </a:prstGeom>
          <a:noFill/>
        </p:spPr>
        <p:txBody>
          <a:bodyPr wrap="square">
            <a:spAutoFit/>
          </a:bodyPr>
          <a:lstStyle/>
          <a:p>
            <a:pPr algn="ctr"/>
            <a:r>
              <a:rPr lang="tr-TR" sz="2800" b="1" dirty="0">
                <a:solidFill>
                  <a:srgbClr val="C00000"/>
                </a:solidFill>
              </a:rPr>
              <a:t>BENİM KIZILAY’A KATKIM</a:t>
            </a:r>
          </a:p>
        </p:txBody>
      </p:sp>
      <p:sp>
        <p:nvSpPr>
          <p:cNvPr id="10" name="Rectangle 2">
            <a:extLst>
              <a:ext uri="{FF2B5EF4-FFF2-40B4-BE49-F238E27FC236}">
                <a16:creationId xmlns:a16="http://schemas.microsoft.com/office/drawing/2014/main" id="{E2E988E2-0763-A75F-79C1-0BAE1AA24EE8}"/>
              </a:ext>
            </a:extLst>
          </p:cNvPr>
          <p:cNvSpPr>
            <a:spLocks noChangeArrowheads="1"/>
          </p:cNvSpPr>
          <p:nvPr/>
        </p:nvSpPr>
        <p:spPr bwMode="auto">
          <a:xfrm>
            <a:off x="357162" y="1381333"/>
            <a:ext cx="878683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800" b="0" i="0" u="none" strike="noStrike" cap="none" normalizeH="0" baseline="0" dirty="0">
                <a:ln>
                  <a:noFill/>
                </a:ln>
                <a:solidFill>
                  <a:schemeClr val="tx1"/>
                </a:solidFill>
                <a:effectLst/>
                <a:latin typeface="Arial" panose="020B0604020202020204" pitchFamily="34" charset="0"/>
              </a:rPr>
              <a:t>Gönüllü olarak katıldığım her etkinlikte sorumluluk alarak Kızılay’ın yardım süreçlerine destek oldum.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800" b="0" i="0" u="none" strike="noStrike" cap="none" normalizeH="0" baseline="0" dirty="0">
                <a:ln>
                  <a:noFill/>
                </a:ln>
                <a:solidFill>
                  <a:schemeClr val="tx1"/>
                </a:solidFill>
                <a:effectLst/>
                <a:latin typeface="Arial" panose="020B0604020202020204" pitchFamily="34" charset="0"/>
              </a:rPr>
              <a:t>Dağıtım, sınıflandırma ve organizasyon gibi görevleri titizlikle yerine getirerek iş yükünün hafiflemesine katkı sağladım.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800" b="0" i="0" u="none" strike="noStrike" cap="none" normalizeH="0" baseline="0" dirty="0">
                <a:ln>
                  <a:noFill/>
                </a:ln>
                <a:solidFill>
                  <a:schemeClr val="tx1"/>
                </a:solidFill>
                <a:effectLst/>
                <a:latin typeface="Arial" panose="020B0604020202020204" pitchFamily="34" charset="0"/>
              </a:rPr>
              <a:t>Empatiyle çalışarak ihtiyaç sahiplerine daha etkili hizmet sunulmasına yardımcı oldum.</a:t>
            </a:r>
          </a:p>
        </p:txBody>
      </p:sp>
      <p:pic>
        <p:nvPicPr>
          <p:cNvPr id="11" name="Resim 10">
            <a:extLst>
              <a:ext uri="{FF2B5EF4-FFF2-40B4-BE49-F238E27FC236}">
                <a16:creationId xmlns:a16="http://schemas.microsoft.com/office/drawing/2014/main" id="{0BB2566A-46EB-A94D-8ED6-38EBAF5BA87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7881" y="5257800"/>
            <a:ext cx="1255499" cy="1368151"/>
          </a:xfrm>
          <a:prstGeom prst="rect">
            <a:avLst/>
          </a:prstGeom>
        </p:spPr>
      </p:pic>
    </p:spTree>
    <p:extLst>
      <p:ext uri="{BB962C8B-B14F-4D97-AF65-F5344CB8AC3E}">
        <p14:creationId xmlns:p14="http://schemas.microsoft.com/office/powerpoint/2010/main" val="1673412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C3565-9945-2589-86BD-95F6FCE8B50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CC79CA84-2BE5-6500-1ACC-970C72E76DD3}"/>
              </a:ext>
            </a:extLst>
          </p:cNvPr>
          <p:cNvSpPr/>
          <p:nvPr/>
        </p:nvSpPr>
        <p:spPr>
          <a:xfrm>
            <a:off x="214287" y="285750"/>
            <a:ext cx="1905" cy="5072380"/>
          </a:xfrm>
          <a:custGeom>
            <a:avLst/>
            <a:gdLst/>
            <a:ahLst/>
            <a:cxnLst/>
            <a:rect l="l" t="t" r="r" b="b"/>
            <a:pathLst>
              <a:path w="1904" h="5072380">
                <a:moveTo>
                  <a:pt x="1587" y="0"/>
                </a:moveTo>
                <a:lnTo>
                  <a:pt x="0" y="5072126"/>
                </a:lnTo>
              </a:path>
            </a:pathLst>
          </a:custGeom>
          <a:ln w="76200">
            <a:solidFill>
              <a:srgbClr val="C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C9E0F963-A5A2-BAFD-BF6A-F3590EDC10A8}"/>
              </a:ext>
            </a:extLst>
          </p:cNvPr>
          <p:cNvSpPr/>
          <p:nvPr/>
        </p:nvSpPr>
        <p:spPr>
          <a:xfrm>
            <a:off x="8928100" y="285750"/>
            <a:ext cx="1905" cy="6120130"/>
          </a:xfrm>
          <a:custGeom>
            <a:avLst/>
            <a:gdLst/>
            <a:ahLst/>
            <a:cxnLst/>
            <a:rect l="l" t="t" r="r" b="b"/>
            <a:pathLst>
              <a:path w="1904" h="6120130">
                <a:moveTo>
                  <a:pt x="1650" y="0"/>
                </a:moveTo>
                <a:lnTo>
                  <a:pt x="0" y="6119977"/>
                </a:lnTo>
              </a:path>
            </a:pathLst>
          </a:custGeom>
          <a:ln w="76200">
            <a:solidFill>
              <a:srgbClr val="C00000"/>
            </a:solidFill>
          </a:ln>
        </p:spPr>
        <p:txBody>
          <a:bodyPr wrap="square" lIns="0" tIns="0" rIns="0" bIns="0" rtlCol="0"/>
          <a:lstStyle/>
          <a:p>
            <a:endParaRPr/>
          </a:p>
        </p:txBody>
      </p:sp>
      <p:sp>
        <p:nvSpPr>
          <p:cNvPr id="5" name="object 5">
            <a:extLst>
              <a:ext uri="{FF2B5EF4-FFF2-40B4-BE49-F238E27FC236}">
                <a16:creationId xmlns:a16="http://schemas.microsoft.com/office/drawing/2014/main" id="{F45BECF9-D9C3-4AFF-ABB4-2A24CCDB3ABA}"/>
              </a:ext>
            </a:extLst>
          </p:cNvPr>
          <p:cNvSpPr/>
          <p:nvPr/>
        </p:nvSpPr>
        <p:spPr>
          <a:xfrm>
            <a:off x="1857375" y="6357963"/>
            <a:ext cx="6948170" cy="1905"/>
          </a:xfrm>
          <a:custGeom>
            <a:avLst/>
            <a:gdLst/>
            <a:ahLst/>
            <a:cxnLst/>
            <a:rect l="l" t="t" r="r" b="b"/>
            <a:pathLst>
              <a:path w="6948170" h="1904">
                <a:moveTo>
                  <a:pt x="0" y="0"/>
                </a:moveTo>
                <a:lnTo>
                  <a:pt x="6948043" y="1587"/>
                </a:lnTo>
              </a:path>
            </a:pathLst>
          </a:custGeom>
          <a:ln w="76200">
            <a:solidFill>
              <a:srgbClr val="C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46355C3E-D5B4-6B16-F8DC-1B6E83F868C0}"/>
              </a:ext>
            </a:extLst>
          </p:cNvPr>
          <p:cNvSpPr/>
          <p:nvPr/>
        </p:nvSpPr>
        <p:spPr>
          <a:xfrm>
            <a:off x="357162" y="334009"/>
            <a:ext cx="8424545" cy="1905"/>
          </a:xfrm>
          <a:custGeom>
            <a:avLst/>
            <a:gdLst/>
            <a:ahLst/>
            <a:cxnLst/>
            <a:rect l="l" t="t" r="r" b="b"/>
            <a:pathLst>
              <a:path w="8424545" h="1904">
                <a:moveTo>
                  <a:pt x="0" y="0"/>
                </a:moveTo>
                <a:lnTo>
                  <a:pt x="8423998" y="1650"/>
                </a:lnTo>
              </a:path>
            </a:pathLst>
          </a:custGeom>
          <a:ln w="76200">
            <a:solidFill>
              <a:srgbClr val="C00000"/>
            </a:solidFill>
          </a:ln>
        </p:spPr>
        <p:txBody>
          <a:bodyPr wrap="square" lIns="0" tIns="0" rIns="0" bIns="0" rtlCol="0"/>
          <a:lstStyle/>
          <a:p>
            <a:endParaRPr/>
          </a:p>
        </p:txBody>
      </p:sp>
      <p:pic>
        <p:nvPicPr>
          <p:cNvPr id="7" name="Resim 6">
            <a:extLst>
              <a:ext uri="{FF2B5EF4-FFF2-40B4-BE49-F238E27FC236}">
                <a16:creationId xmlns:a16="http://schemas.microsoft.com/office/drawing/2014/main" id="{E7B6EC82-A383-23B1-8FF1-4672C9C340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7952" y="5257800"/>
            <a:ext cx="1255499" cy="1368151"/>
          </a:xfrm>
          <a:prstGeom prst="rect">
            <a:avLst/>
          </a:prstGeom>
        </p:spPr>
      </p:pic>
      <p:sp>
        <p:nvSpPr>
          <p:cNvPr id="8" name="Metin kutusu 7">
            <a:extLst>
              <a:ext uri="{FF2B5EF4-FFF2-40B4-BE49-F238E27FC236}">
                <a16:creationId xmlns:a16="http://schemas.microsoft.com/office/drawing/2014/main" id="{3FBBCD42-E0FB-28E6-B599-76C658209403}"/>
              </a:ext>
            </a:extLst>
          </p:cNvPr>
          <p:cNvSpPr txBox="1"/>
          <p:nvPr/>
        </p:nvSpPr>
        <p:spPr>
          <a:xfrm>
            <a:off x="357162" y="498132"/>
            <a:ext cx="8415310" cy="523220"/>
          </a:xfrm>
          <a:prstGeom prst="rect">
            <a:avLst/>
          </a:prstGeom>
          <a:noFill/>
        </p:spPr>
        <p:txBody>
          <a:bodyPr wrap="square" rtlCol="0">
            <a:spAutoFit/>
          </a:bodyPr>
          <a:lstStyle/>
          <a:p>
            <a:pPr algn="ctr"/>
            <a:r>
              <a:rPr lang="tr-TR" sz="2800" b="1" dirty="0">
                <a:solidFill>
                  <a:srgbClr val="C00000"/>
                </a:solidFill>
              </a:rPr>
              <a:t>DEĞERLENDİRME</a:t>
            </a:r>
          </a:p>
        </p:txBody>
      </p:sp>
      <p:sp>
        <p:nvSpPr>
          <p:cNvPr id="10" name="Metin kutusu 9">
            <a:extLst>
              <a:ext uri="{FF2B5EF4-FFF2-40B4-BE49-F238E27FC236}">
                <a16:creationId xmlns:a16="http://schemas.microsoft.com/office/drawing/2014/main" id="{456B876F-F49E-D3C7-826E-D82AC978E597}"/>
              </a:ext>
            </a:extLst>
          </p:cNvPr>
          <p:cNvSpPr txBox="1"/>
          <p:nvPr/>
        </p:nvSpPr>
        <p:spPr>
          <a:xfrm>
            <a:off x="357162" y="1386819"/>
            <a:ext cx="8271853" cy="1754326"/>
          </a:xfrm>
          <a:prstGeom prst="rect">
            <a:avLst/>
          </a:prstGeom>
          <a:noFill/>
        </p:spPr>
        <p:txBody>
          <a:bodyPr wrap="square">
            <a:spAutoFit/>
          </a:bodyPr>
          <a:lstStyle/>
          <a:p>
            <a:r>
              <a:rPr lang="tr-TR" dirty="0"/>
              <a:t>Kızılay’da geçirdiğim gönüllülük süreci, sadece yardım etmek değil; aynı zamanda öğrenmek, gelişmek ve insanlara dokunmak anlamına geldi. </a:t>
            </a:r>
          </a:p>
          <a:p>
            <a:endParaRPr lang="tr-TR" dirty="0"/>
          </a:p>
          <a:p>
            <a:r>
              <a:rPr lang="tr-TR" dirty="0"/>
              <a:t>Bu deneyim, gönüllülüğün toplum için ne kadar değerli olduğunu bana gösterdi. </a:t>
            </a:r>
          </a:p>
          <a:p>
            <a:endParaRPr lang="tr-TR" dirty="0"/>
          </a:p>
          <a:p>
            <a:r>
              <a:rPr lang="tr-TR" dirty="0"/>
              <a:t>Gelecekte de sosyal sorumluluk projelerinde yer almayı istiyorum.</a:t>
            </a:r>
          </a:p>
        </p:txBody>
      </p:sp>
    </p:spTree>
    <p:extLst>
      <p:ext uri="{BB962C8B-B14F-4D97-AF65-F5344CB8AC3E}">
        <p14:creationId xmlns:p14="http://schemas.microsoft.com/office/powerpoint/2010/main" val="26731457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19200" y="1549970"/>
            <a:ext cx="6482460" cy="4681982"/>
          </a:xfrm>
          <a:prstGeom prst="rect">
            <a:avLst/>
          </a:prstGeom>
        </p:spPr>
      </p:pic>
      <p:sp>
        <p:nvSpPr>
          <p:cNvPr id="3" name="object 3"/>
          <p:cNvSpPr/>
          <p:nvPr/>
        </p:nvSpPr>
        <p:spPr>
          <a:xfrm>
            <a:off x="214287" y="242188"/>
            <a:ext cx="1905" cy="6228080"/>
          </a:xfrm>
          <a:custGeom>
            <a:avLst/>
            <a:gdLst/>
            <a:ahLst/>
            <a:cxnLst/>
            <a:rect l="l" t="t" r="r" b="b"/>
            <a:pathLst>
              <a:path w="1904" h="6228080">
                <a:moveTo>
                  <a:pt x="1587" y="0"/>
                </a:moveTo>
                <a:lnTo>
                  <a:pt x="0" y="6228016"/>
                </a:lnTo>
              </a:path>
            </a:pathLst>
          </a:custGeom>
          <a:ln w="76200">
            <a:solidFill>
              <a:srgbClr val="C00000"/>
            </a:solidFill>
          </a:ln>
        </p:spPr>
        <p:txBody>
          <a:bodyPr wrap="square" lIns="0" tIns="0" rIns="0" bIns="0" rtlCol="0"/>
          <a:lstStyle/>
          <a:p>
            <a:endParaRPr/>
          </a:p>
        </p:txBody>
      </p:sp>
      <p:sp>
        <p:nvSpPr>
          <p:cNvPr id="4" name="object 4"/>
          <p:cNvSpPr/>
          <p:nvPr/>
        </p:nvSpPr>
        <p:spPr>
          <a:xfrm>
            <a:off x="8928100" y="1280794"/>
            <a:ext cx="1905" cy="5220335"/>
          </a:xfrm>
          <a:custGeom>
            <a:avLst/>
            <a:gdLst/>
            <a:ahLst/>
            <a:cxnLst/>
            <a:rect l="l" t="t" r="r" b="b"/>
            <a:pathLst>
              <a:path w="1904" h="5220335">
                <a:moveTo>
                  <a:pt x="1650" y="0"/>
                </a:moveTo>
                <a:lnTo>
                  <a:pt x="0" y="5220042"/>
                </a:lnTo>
              </a:path>
            </a:pathLst>
          </a:custGeom>
          <a:ln w="76200">
            <a:solidFill>
              <a:srgbClr val="C00000"/>
            </a:solidFill>
          </a:ln>
        </p:spPr>
        <p:txBody>
          <a:bodyPr wrap="square" lIns="0" tIns="0" rIns="0" bIns="0" rtlCol="0"/>
          <a:lstStyle/>
          <a:p>
            <a:endParaRPr/>
          </a:p>
        </p:txBody>
      </p:sp>
      <p:sp>
        <p:nvSpPr>
          <p:cNvPr id="5" name="object 5"/>
          <p:cNvSpPr/>
          <p:nvPr/>
        </p:nvSpPr>
        <p:spPr>
          <a:xfrm>
            <a:off x="357162" y="6429400"/>
            <a:ext cx="8424545" cy="1905"/>
          </a:xfrm>
          <a:custGeom>
            <a:avLst/>
            <a:gdLst/>
            <a:ahLst/>
            <a:cxnLst/>
            <a:rect l="l" t="t" r="r" b="b"/>
            <a:pathLst>
              <a:path w="8424545" h="1904">
                <a:moveTo>
                  <a:pt x="0" y="0"/>
                </a:moveTo>
                <a:lnTo>
                  <a:pt x="8423998" y="1587"/>
                </a:lnTo>
              </a:path>
            </a:pathLst>
          </a:custGeom>
          <a:ln w="76200">
            <a:solidFill>
              <a:srgbClr val="C00000"/>
            </a:solidFill>
          </a:ln>
        </p:spPr>
        <p:txBody>
          <a:bodyPr wrap="square" lIns="0" tIns="0" rIns="0" bIns="0" rtlCol="0"/>
          <a:lstStyle/>
          <a:p>
            <a:endParaRPr/>
          </a:p>
        </p:txBody>
      </p:sp>
      <p:sp>
        <p:nvSpPr>
          <p:cNvPr id="7" name="object 7"/>
          <p:cNvSpPr/>
          <p:nvPr/>
        </p:nvSpPr>
        <p:spPr>
          <a:xfrm>
            <a:off x="369582" y="268478"/>
            <a:ext cx="7560309" cy="1905"/>
          </a:xfrm>
          <a:custGeom>
            <a:avLst/>
            <a:gdLst/>
            <a:ahLst/>
            <a:cxnLst/>
            <a:rect l="l" t="t" r="r" b="b"/>
            <a:pathLst>
              <a:path w="7560309" h="1904">
                <a:moveTo>
                  <a:pt x="0" y="0"/>
                </a:moveTo>
                <a:lnTo>
                  <a:pt x="7560043" y="1650"/>
                </a:lnTo>
              </a:path>
            </a:pathLst>
          </a:custGeom>
          <a:ln w="76200">
            <a:solidFill>
              <a:srgbClr val="C00000"/>
            </a:solidFill>
          </a:ln>
        </p:spPr>
        <p:txBody>
          <a:bodyPr wrap="square" lIns="0" tIns="0" rIns="0" bIns="0" rtlCol="0"/>
          <a:lstStyle/>
          <a:p>
            <a:endParaRPr/>
          </a:p>
        </p:txBody>
      </p:sp>
      <p:sp>
        <p:nvSpPr>
          <p:cNvPr id="9" name="Metin kutusu 8">
            <a:extLst>
              <a:ext uri="{FF2B5EF4-FFF2-40B4-BE49-F238E27FC236}">
                <a16:creationId xmlns:a16="http://schemas.microsoft.com/office/drawing/2014/main" id="{86449F8A-3CBF-7A7F-A773-3764765E5574}"/>
              </a:ext>
            </a:extLst>
          </p:cNvPr>
          <p:cNvSpPr txBox="1"/>
          <p:nvPr/>
        </p:nvSpPr>
        <p:spPr>
          <a:xfrm>
            <a:off x="969413" y="755672"/>
            <a:ext cx="6954148" cy="584775"/>
          </a:xfrm>
          <a:prstGeom prst="rect">
            <a:avLst/>
          </a:prstGeom>
          <a:noFill/>
        </p:spPr>
        <p:txBody>
          <a:bodyPr wrap="none" rtlCol="0">
            <a:spAutoFit/>
          </a:bodyPr>
          <a:lstStyle/>
          <a:p>
            <a:r>
              <a:rPr lang="tr-TR" sz="3200" b="1" dirty="0"/>
              <a:t>GÜÇLÜ TÜRKİYE, GÜÇLÜ </a:t>
            </a:r>
            <a:r>
              <a:rPr lang="tr-TR" sz="3200" b="1" dirty="0">
                <a:solidFill>
                  <a:srgbClr val="FF0000"/>
                </a:solidFill>
              </a:rPr>
              <a:t>KIZILAY</a:t>
            </a:r>
          </a:p>
        </p:txBody>
      </p:sp>
      <p:pic>
        <p:nvPicPr>
          <p:cNvPr id="10" name="Resim 9">
            <a:extLst>
              <a:ext uri="{FF2B5EF4-FFF2-40B4-BE49-F238E27FC236}">
                <a16:creationId xmlns:a16="http://schemas.microsoft.com/office/drawing/2014/main" id="{66BEE482-43F5-8AC7-7893-C46E8E312E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10371" y="181819"/>
            <a:ext cx="1255499" cy="1368151"/>
          </a:xfrm>
          <a:prstGeom prst="rect">
            <a:avLst/>
          </a:prstGeom>
        </p:spPr>
      </p:pic>
    </p:spTree>
    <p:extLst>
      <p:ext uri="{BB962C8B-B14F-4D97-AF65-F5344CB8AC3E}">
        <p14:creationId xmlns:p14="http://schemas.microsoft.com/office/powerpoint/2010/main" val="11703712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434EC-7208-BB9E-D3DC-AB7006D9E45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5D47BB5-A07B-5394-F783-2FDDBAD15469}"/>
              </a:ext>
            </a:extLst>
          </p:cNvPr>
          <p:cNvSpPr/>
          <p:nvPr/>
        </p:nvSpPr>
        <p:spPr>
          <a:xfrm>
            <a:off x="214287" y="285750"/>
            <a:ext cx="1905" cy="5072380"/>
          </a:xfrm>
          <a:custGeom>
            <a:avLst/>
            <a:gdLst/>
            <a:ahLst/>
            <a:cxnLst/>
            <a:rect l="l" t="t" r="r" b="b"/>
            <a:pathLst>
              <a:path w="1904" h="5072380">
                <a:moveTo>
                  <a:pt x="1587" y="0"/>
                </a:moveTo>
                <a:lnTo>
                  <a:pt x="0" y="5072126"/>
                </a:lnTo>
              </a:path>
            </a:pathLst>
          </a:custGeom>
          <a:ln w="76200">
            <a:solidFill>
              <a:srgbClr val="C00000"/>
            </a:solidFill>
          </a:ln>
        </p:spPr>
        <p:txBody>
          <a:bodyPr wrap="square" lIns="0" tIns="0" rIns="0" bIns="0" rtlCol="0"/>
          <a:lstStyle/>
          <a:p>
            <a:endParaRPr/>
          </a:p>
        </p:txBody>
      </p:sp>
      <p:sp>
        <p:nvSpPr>
          <p:cNvPr id="4" name="object 4">
            <a:extLst>
              <a:ext uri="{FF2B5EF4-FFF2-40B4-BE49-F238E27FC236}">
                <a16:creationId xmlns:a16="http://schemas.microsoft.com/office/drawing/2014/main" id="{CF61512F-7F6B-A38C-F882-55E74F9CDEC8}"/>
              </a:ext>
            </a:extLst>
          </p:cNvPr>
          <p:cNvSpPr/>
          <p:nvPr/>
        </p:nvSpPr>
        <p:spPr>
          <a:xfrm>
            <a:off x="8928100" y="285750"/>
            <a:ext cx="1905" cy="6120130"/>
          </a:xfrm>
          <a:custGeom>
            <a:avLst/>
            <a:gdLst/>
            <a:ahLst/>
            <a:cxnLst/>
            <a:rect l="l" t="t" r="r" b="b"/>
            <a:pathLst>
              <a:path w="1904" h="6120130">
                <a:moveTo>
                  <a:pt x="1650" y="0"/>
                </a:moveTo>
                <a:lnTo>
                  <a:pt x="0" y="6119977"/>
                </a:lnTo>
              </a:path>
            </a:pathLst>
          </a:custGeom>
          <a:ln w="76200">
            <a:solidFill>
              <a:srgbClr val="C00000"/>
            </a:solidFill>
          </a:ln>
        </p:spPr>
        <p:txBody>
          <a:bodyPr wrap="square" lIns="0" tIns="0" rIns="0" bIns="0" rtlCol="0"/>
          <a:lstStyle/>
          <a:p>
            <a:endParaRPr/>
          </a:p>
        </p:txBody>
      </p:sp>
      <p:sp>
        <p:nvSpPr>
          <p:cNvPr id="5" name="object 5">
            <a:extLst>
              <a:ext uri="{FF2B5EF4-FFF2-40B4-BE49-F238E27FC236}">
                <a16:creationId xmlns:a16="http://schemas.microsoft.com/office/drawing/2014/main" id="{CB5A9D7C-F56C-1931-2F75-81EF86B118A9}"/>
              </a:ext>
            </a:extLst>
          </p:cNvPr>
          <p:cNvSpPr/>
          <p:nvPr/>
        </p:nvSpPr>
        <p:spPr>
          <a:xfrm>
            <a:off x="1857375" y="6357963"/>
            <a:ext cx="6948170" cy="1905"/>
          </a:xfrm>
          <a:custGeom>
            <a:avLst/>
            <a:gdLst/>
            <a:ahLst/>
            <a:cxnLst/>
            <a:rect l="l" t="t" r="r" b="b"/>
            <a:pathLst>
              <a:path w="6948170" h="1904">
                <a:moveTo>
                  <a:pt x="0" y="0"/>
                </a:moveTo>
                <a:lnTo>
                  <a:pt x="6948043" y="1587"/>
                </a:lnTo>
              </a:path>
            </a:pathLst>
          </a:custGeom>
          <a:ln w="76200">
            <a:solidFill>
              <a:srgbClr val="C00000"/>
            </a:solidFill>
          </a:ln>
        </p:spPr>
        <p:txBody>
          <a:bodyPr wrap="square" lIns="0" tIns="0" rIns="0" bIns="0" rtlCol="0"/>
          <a:lstStyle/>
          <a:p>
            <a:endParaRPr/>
          </a:p>
        </p:txBody>
      </p:sp>
      <p:sp>
        <p:nvSpPr>
          <p:cNvPr id="6" name="object 6">
            <a:extLst>
              <a:ext uri="{FF2B5EF4-FFF2-40B4-BE49-F238E27FC236}">
                <a16:creationId xmlns:a16="http://schemas.microsoft.com/office/drawing/2014/main" id="{AEC7F425-BC4F-560C-A68A-2B013C471A30}"/>
              </a:ext>
            </a:extLst>
          </p:cNvPr>
          <p:cNvSpPr/>
          <p:nvPr/>
        </p:nvSpPr>
        <p:spPr>
          <a:xfrm>
            <a:off x="357162" y="334009"/>
            <a:ext cx="8424545" cy="1905"/>
          </a:xfrm>
          <a:custGeom>
            <a:avLst/>
            <a:gdLst/>
            <a:ahLst/>
            <a:cxnLst/>
            <a:rect l="l" t="t" r="r" b="b"/>
            <a:pathLst>
              <a:path w="8424545" h="1904">
                <a:moveTo>
                  <a:pt x="0" y="0"/>
                </a:moveTo>
                <a:lnTo>
                  <a:pt x="8423998" y="1650"/>
                </a:lnTo>
              </a:path>
            </a:pathLst>
          </a:custGeom>
          <a:ln w="76200">
            <a:solidFill>
              <a:srgbClr val="C00000"/>
            </a:solidFill>
          </a:ln>
        </p:spPr>
        <p:txBody>
          <a:bodyPr wrap="square" lIns="0" tIns="0" rIns="0" bIns="0" rtlCol="0"/>
          <a:lstStyle/>
          <a:p>
            <a:endParaRPr/>
          </a:p>
        </p:txBody>
      </p:sp>
      <p:sp>
        <p:nvSpPr>
          <p:cNvPr id="7" name="Metin kutusu 6">
            <a:extLst>
              <a:ext uri="{FF2B5EF4-FFF2-40B4-BE49-F238E27FC236}">
                <a16:creationId xmlns:a16="http://schemas.microsoft.com/office/drawing/2014/main" id="{4840C2E2-3904-B2FC-B844-D1FB2CD64A37}"/>
              </a:ext>
            </a:extLst>
          </p:cNvPr>
          <p:cNvSpPr txBox="1"/>
          <p:nvPr/>
        </p:nvSpPr>
        <p:spPr>
          <a:xfrm>
            <a:off x="338747" y="2668484"/>
            <a:ext cx="8424545" cy="584775"/>
          </a:xfrm>
          <a:prstGeom prst="rect">
            <a:avLst/>
          </a:prstGeom>
          <a:noFill/>
        </p:spPr>
        <p:txBody>
          <a:bodyPr wrap="square" rtlCol="0">
            <a:spAutoFit/>
          </a:bodyPr>
          <a:lstStyle/>
          <a:p>
            <a:pPr algn="ctr"/>
            <a:r>
              <a:rPr lang="tr-TR" sz="3200" b="1" dirty="0">
                <a:solidFill>
                  <a:srgbClr val="C00000"/>
                </a:solidFill>
              </a:rPr>
              <a:t>BENİ DİNLEDİĞİNİZ İÇİN TEŞEKKÜRLER</a:t>
            </a:r>
          </a:p>
        </p:txBody>
      </p:sp>
      <p:sp>
        <p:nvSpPr>
          <p:cNvPr id="8" name="Metin kutusu 7">
            <a:extLst>
              <a:ext uri="{FF2B5EF4-FFF2-40B4-BE49-F238E27FC236}">
                <a16:creationId xmlns:a16="http://schemas.microsoft.com/office/drawing/2014/main" id="{FFB5294A-8000-4C56-5BA1-E80D8B3E551F}"/>
              </a:ext>
            </a:extLst>
          </p:cNvPr>
          <p:cNvSpPr txBox="1"/>
          <p:nvPr/>
        </p:nvSpPr>
        <p:spPr>
          <a:xfrm>
            <a:off x="5867400" y="4233861"/>
            <a:ext cx="2593980" cy="400110"/>
          </a:xfrm>
          <a:prstGeom prst="rect">
            <a:avLst/>
          </a:prstGeom>
          <a:noFill/>
        </p:spPr>
        <p:txBody>
          <a:bodyPr wrap="none" rtlCol="0">
            <a:spAutoFit/>
          </a:bodyPr>
          <a:lstStyle/>
          <a:p>
            <a:r>
              <a:rPr lang="tr-TR" sz="2000" b="1" dirty="0">
                <a:solidFill>
                  <a:srgbClr val="C00000"/>
                </a:solidFill>
              </a:rPr>
              <a:t>FATİH EMRE OĞAN</a:t>
            </a:r>
          </a:p>
        </p:txBody>
      </p:sp>
      <p:pic>
        <p:nvPicPr>
          <p:cNvPr id="9" name="Resim 8">
            <a:extLst>
              <a:ext uri="{FF2B5EF4-FFF2-40B4-BE49-F238E27FC236}">
                <a16:creationId xmlns:a16="http://schemas.microsoft.com/office/drawing/2014/main" id="{57F563BF-8C49-25E3-516C-AB84331F40C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7952" y="5257800"/>
            <a:ext cx="1255499" cy="1368151"/>
          </a:xfrm>
          <a:prstGeom prst="rect">
            <a:avLst/>
          </a:prstGeom>
        </p:spPr>
      </p:pic>
    </p:spTree>
    <p:extLst>
      <p:ext uri="{BB962C8B-B14F-4D97-AF65-F5344CB8AC3E}">
        <p14:creationId xmlns:p14="http://schemas.microsoft.com/office/powerpoint/2010/main" val="22067451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221</TotalTime>
  <Words>920</Words>
  <Application>Microsoft Office PowerPoint</Application>
  <PresentationFormat>Ekran Gösterisi (4:3)</PresentationFormat>
  <Paragraphs>85</Paragraphs>
  <Slides>28</Slides>
  <Notes>1</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28</vt:i4>
      </vt:variant>
    </vt:vector>
  </HeadingPairs>
  <TitlesOfParts>
    <vt:vector size="35" baseType="lpstr">
      <vt:lpstr>Aptos</vt:lpstr>
      <vt:lpstr>Arial</vt:lpstr>
      <vt:lpstr>Calibri</vt:lpstr>
      <vt:lpstr>Franklin Gothic Medium</vt:lpstr>
      <vt:lpstr>Microsoft Sans Serif</vt:lpstr>
      <vt:lpstr>Open Sans</vt:lpstr>
      <vt:lpstr>Office Theme</vt:lpstr>
      <vt:lpstr>PowerPoint Sunusu</vt:lpstr>
      <vt:lpstr>TARİHÇE</vt:lpstr>
      <vt:lpstr>KIZILAY KURUCULARI</vt:lpstr>
      <vt:lpstr>KIZILAY İSMİ</vt:lpstr>
      <vt:lpstr>7 TEMEL İLKE</vt:lpstr>
      <vt:lpstr>PowerPoint Sunusu</vt:lpstr>
      <vt:lpstr>PowerPoint Sunusu</vt:lpstr>
      <vt:lpstr>PowerPoint Sunusu</vt:lpstr>
      <vt:lpstr>Türk Kızılay bağımsız bir kurumdur.</vt:lpstr>
      <vt:lpstr>Hizmetlerinde hiçbir şekilde kazanç amacı gütmeyen, gönüllü bir yardım kurumudur.</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Slayt 1</dc:title>
  <dc:creator>fundag</dc:creator>
  <cp:lastModifiedBy>FATİH EMRE OĞAN</cp:lastModifiedBy>
  <cp:revision>7</cp:revision>
  <dcterms:created xsi:type="dcterms:W3CDTF">2025-05-06T18:50:37Z</dcterms:created>
  <dcterms:modified xsi:type="dcterms:W3CDTF">2025-05-08T19:32:07Z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2019-11-01T00:00:00Z</vt:filetime>
  </property>
  <property fmtid="{D5CDD505-2E9C-101B-9397-08002B2CF9AE}" pid="3" name="Creator">
    <vt:lpwstr>Microsoft® Office PowerPoint® 2007</vt:lpwstr>
  </property>
  <property fmtid="{D5CDD505-2E9C-101B-9397-08002B2CF9AE}" pid="4" name="LastSaved">
    <vt:filetime>2025-05-06T00:00:00Z</vt:filetime>
  </property>
  <property fmtid="{D5CDD505-2E9C-101B-9397-08002B2CF9AE}" pid="5" name="Producer">
    <vt:lpwstr>Microsoft® Office PowerPoint® 2007</vt:lpwstr>
  </property>
</Properties>
</file>