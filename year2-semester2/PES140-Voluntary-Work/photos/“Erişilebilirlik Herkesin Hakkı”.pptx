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Proxima Nova" panose="020B0604020202020204" charset="0"/>
      <p:regular r:id="rId9"/>
    </p:embeddedFont>
    <p:embeddedFont>
      <p:font typeface="Proxima Nova Bold" panose="020B0604020202020204" charset="0"/>
      <p:regular r:id="rId10"/>
    </p:embeddedFont>
    <p:embeddedFont>
      <p:font typeface="Proxima Nova Heavy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2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svg"/><Relationship Id="rId7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5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15912" y="1457309"/>
            <a:ext cx="7157913" cy="7372383"/>
          </a:xfrm>
          <a:custGeom>
            <a:avLst/>
            <a:gdLst/>
            <a:ahLst/>
            <a:cxnLst/>
            <a:rect l="l" t="t" r="r" b="b"/>
            <a:pathLst>
              <a:path w="7157913" h="7372383">
                <a:moveTo>
                  <a:pt x="0" y="0"/>
                </a:moveTo>
                <a:lnTo>
                  <a:pt x="7157914" y="0"/>
                </a:lnTo>
                <a:lnTo>
                  <a:pt x="7157914" y="7372382"/>
                </a:lnTo>
                <a:lnTo>
                  <a:pt x="0" y="7372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28700" y="1348185"/>
            <a:ext cx="7419975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“ER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</a:t>
            </a: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Ş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</a:t>
            </a: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LEB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İLİ</a:t>
            </a: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RL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İ</a:t>
            </a: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K HERKES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İ</a:t>
            </a: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 HAKKI”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32105" y="3965717"/>
            <a:ext cx="8183808" cy="63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3"/>
              </a:lnSpc>
            </a:pPr>
            <a:r>
              <a:rPr lang="en-US" sz="3688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FATİH EMRE OĞAN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0012" y="3262371"/>
            <a:ext cx="7631328" cy="105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sz="3588">
                <a:solidFill>
                  <a:srgbClr val="4D2F20"/>
                </a:solidFill>
                <a:latin typeface="Proxima Nova"/>
                <a:ea typeface="Proxima Nova"/>
                <a:cs typeface="Proxima Nova"/>
                <a:sym typeface="Proxima Nova"/>
              </a:rPr>
              <a:t>PES140 GÖNÜLLÜLÜK ÇALIŞMALARI </a:t>
            </a:r>
          </a:p>
          <a:p>
            <a:pPr algn="l">
              <a:lnSpc>
                <a:spcPts val="3455"/>
              </a:lnSpc>
            </a:pPr>
            <a:endParaRPr lang="en-US" sz="3588">
              <a:solidFill>
                <a:srgbClr val="4D2F2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" name="Freeform 6"/>
          <p:cNvSpPr/>
          <p:nvPr/>
        </p:nvSpPr>
        <p:spPr>
          <a:xfrm rot="-3840000" flipH="1">
            <a:off x="15659745" y="-1028700"/>
            <a:ext cx="3111818" cy="4114800"/>
          </a:xfrm>
          <a:custGeom>
            <a:avLst/>
            <a:gdLst/>
            <a:ahLst/>
            <a:cxnLst/>
            <a:rect l="l" t="t" r="r" b="b"/>
            <a:pathLst>
              <a:path w="3111818" h="4114800">
                <a:moveTo>
                  <a:pt x="3111817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7" y="4114800"/>
                </a:lnTo>
                <a:lnTo>
                  <a:pt x="31118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 rot="523809">
            <a:off x="13062473" y="-2091637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 rot="-1500960">
            <a:off x="-375897" y="7488093"/>
            <a:ext cx="3111817" cy="4114800"/>
          </a:xfrm>
          <a:custGeom>
            <a:avLst/>
            <a:gdLst/>
            <a:ahLst/>
            <a:cxnLst/>
            <a:rect l="l" t="t" r="r" b="b"/>
            <a:pathLst>
              <a:path w="3111817" h="4114800">
                <a:moveTo>
                  <a:pt x="0" y="0"/>
                </a:moveTo>
                <a:lnTo>
                  <a:pt x="3111818" y="0"/>
                </a:lnTo>
                <a:lnTo>
                  <a:pt x="3111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 rot="523809">
            <a:off x="1113751" y="7793420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TextBox 10"/>
          <p:cNvSpPr txBox="1"/>
          <p:nvPr/>
        </p:nvSpPr>
        <p:spPr>
          <a:xfrm>
            <a:off x="1132105" y="4973708"/>
            <a:ext cx="2838093" cy="578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4400" b="1" spc="44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11.04.2025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5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25267" y="1112950"/>
            <a:ext cx="6375597" cy="8061100"/>
          </a:xfrm>
          <a:custGeom>
            <a:avLst/>
            <a:gdLst/>
            <a:ahLst/>
            <a:cxnLst/>
            <a:rect l="l" t="t" r="r" b="b"/>
            <a:pathLst>
              <a:path w="6375597" h="8061100">
                <a:moveTo>
                  <a:pt x="0" y="0"/>
                </a:moveTo>
                <a:lnTo>
                  <a:pt x="6375597" y="0"/>
                </a:lnTo>
                <a:lnTo>
                  <a:pt x="6375597" y="8061100"/>
                </a:lnTo>
                <a:lnTo>
                  <a:pt x="0" y="8061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28700" y="1133475"/>
            <a:ext cx="7419975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ER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İ</a:t>
            </a: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Ş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İ</a:t>
            </a: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LEB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İ</a:t>
            </a: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İ</a:t>
            </a: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RL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İ</a:t>
            </a: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K SORUNU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03600" y="2647950"/>
            <a:ext cx="7419975" cy="543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Spor salonları, gönüllülük dersi ve bazı öğretmen ofisleri binanın 1. katındadır.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Bu kata çıkmak için sadece merdiven bulunmaktadır.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Asansör veya başka bir erişim alternatifi mevcut değildir.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Tekerlekli sandalye kullanan bireyler bu alanlara ulaşamamaktadır.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Bu durum eğitimde, sporda ve iletişimde eşitliğin önüne geçmektedir.</a:t>
            </a:r>
          </a:p>
          <a:p>
            <a:pPr algn="l">
              <a:lnSpc>
                <a:spcPts val="3919"/>
              </a:lnSpc>
            </a:pPr>
            <a:endParaRPr lang="en-US" sz="2799" b="1">
              <a:solidFill>
                <a:srgbClr val="4B6E29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5" name="Freeform 5"/>
          <p:cNvSpPr/>
          <p:nvPr/>
        </p:nvSpPr>
        <p:spPr>
          <a:xfrm rot="-3840000" flipH="1">
            <a:off x="15659745" y="-1028700"/>
            <a:ext cx="3111818" cy="4114800"/>
          </a:xfrm>
          <a:custGeom>
            <a:avLst/>
            <a:gdLst/>
            <a:ahLst/>
            <a:cxnLst/>
            <a:rect l="l" t="t" r="r" b="b"/>
            <a:pathLst>
              <a:path w="3111818" h="4114800">
                <a:moveTo>
                  <a:pt x="3111817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7" y="4114800"/>
                </a:lnTo>
                <a:lnTo>
                  <a:pt x="31118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 rot="523809">
            <a:off x="13062473" y="-2091637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 rot="-1500960">
            <a:off x="-375897" y="7488093"/>
            <a:ext cx="3111817" cy="4114800"/>
          </a:xfrm>
          <a:custGeom>
            <a:avLst/>
            <a:gdLst/>
            <a:ahLst/>
            <a:cxnLst/>
            <a:rect l="l" t="t" r="r" b="b"/>
            <a:pathLst>
              <a:path w="3111817" h="4114800">
                <a:moveTo>
                  <a:pt x="0" y="0"/>
                </a:moveTo>
                <a:lnTo>
                  <a:pt x="3111818" y="0"/>
                </a:lnTo>
                <a:lnTo>
                  <a:pt x="3111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 rot="523809">
            <a:off x="1676502" y="8176090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5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27004" y="1119803"/>
            <a:ext cx="6939918" cy="8138497"/>
          </a:xfrm>
          <a:custGeom>
            <a:avLst/>
            <a:gdLst/>
            <a:ahLst/>
            <a:cxnLst/>
            <a:rect l="l" t="t" r="r" b="b"/>
            <a:pathLst>
              <a:path w="6939918" h="8138497">
                <a:moveTo>
                  <a:pt x="0" y="0"/>
                </a:moveTo>
                <a:lnTo>
                  <a:pt x="6939918" y="0"/>
                </a:lnTo>
                <a:lnTo>
                  <a:pt x="6939918" y="8138497"/>
                </a:lnTo>
                <a:lnTo>
                  <a:pt x="0" y="8138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 rot="-3840000" flipH="1">
            <a:off x="15659745" y="-1028700"/>
            <a:ext cx="3111818" cy="4114800"/>
          </a:xfrm>
          <a:custGeom>
            <a:avLst/>
            <a:gdLst/>
            <a:ahLst/>
            <a:cxnLst/>
            <a:rect l="l" t="t" r="r" b="b"/>
            <a:pathLst>
              <a:path w="3111818" h="4114800">
                <a:moveTo>
                  <a:pt x="3111817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7" y="4114800"/>
                </a:lnTo>
                <a:lnTo>
                  <a:pt x="31118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 rot="523809">
            <a:off x="13062473" y="-2091637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 rot="-1500960">
            <a:off x="-375897" y="7488093"/>
            <a:ext cx="3111817" cy="4114800"/>
          </a:xfrm>
          <a:custGeom>
            <a:avLst/>
            <a:gdLst/>
            <a:ahLst/>
            <a:cxnLst/>
            <a:rect l="l" t="t" r="r" b="b"/>
            <a:pathLst>
              <a:path w="3111817" h="4114800">
                <a:moveTo>
                  <a:pt x="0" y="0"/>
                </a:moveTo>
                <a:lnTo>
                  <a:pt x="3111818" y="0"/>
                </a:lnTo>
                <a:lnTo>
                  <a:pt x="3111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 rot="523809">
            <a:off x="1676502" y="8176090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893640" y="950039"/>
            <a:ext cx="7419975" cy="124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b="1" spc="48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NEDEN BU PROJEY</a:t>
            </a:r>
            <a:r>
              <a:rPr lang="tr-TR" sz="4800" b="1" spc="48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İ</a:t>
            </a:r>
            <a:r>
              <a:rPr lang="en-US" sz="4800" b="1" spc="48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SEÇT</a:t>
            </a:r>
            <a:r>
              <a:rPr lang="tr-TR" sz="4800" b="1" spc="48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İ</a:t>
            </a:r>
            <a:r>
              <a:rPr lang="en-US" sz="4800" b="1" spc="48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2900785"/>
            <a:ext cx="10178678" cy="3643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905" lvl="1" indent="-280953" algn="just">
              <a:lnSpc>
                <a:spcPts val="2602"/>
              </a:lnSpc>
              <a:spcBef>
                <a:spcPct val="0"/>
              </a:spcBef>
              <a:buFont typeface="Arial"/>
              <a:buChar char="•"/>
            </a:pPr>
            <a:r>
              <a:rPr lang="en-US" sz="2602" b="1" spc="26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FIZIKSEL PROBLEMLERI OLAN  BIREYLERIN ERIŞIM SORUNLARINA DIKKAT ÇEKMEK ISTEDIM.</a:t>
            </a:r>
          </a:p>
          <a:p>
            <a:pPr algn="just">
              <a:lnSpc>
                <a:spcPts val="2602"/>
              </a:lnSpc>
              <a:spcBef>
                <a:spcPct val="0"/>
              </a:spcBef>
            </a:pPr>
            <a:endParaRPr lang="en-US" sz="2602" b="1" spc="26">
              <a:solidFill>
                <a:srgbClr val="4B6E29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marL="561905" lvl="1" indent="-280953" algn="just">
              <a:lnSpc>
                <a:spcPts val="2602"/>
              </a:lnSpc>
              <a:spcBef>
                <a:spcPct val="0"/>
              </a:spcBef>
              <a:buFont typeface="Arial"/>
              <a:buChar char="•"/>
            </a:pPr>
            <a:r>
              <a:rPr lang="en-US" sz="2602" b="1" spc="26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HERKESIN EĞITIM VE ETKINLIKLERE EŞIT KATILIM HAKKI OLMALI.</a:t>
            </a:r>
          </a:p>
          <a:p>
            <a:pPr algn="just">
              <a:lnSpc>
                <a:spcPts val="2602"/>
              </a:lnSpc>
              <a:spcBef>
                <a:spcPct val="0"/>
              </a:spcBef>
            </a:pPr>
            <a:endParaRPr lang="en-US" sz="2602" b="1" spc="26">
              <a:solidFill>
                <a:srgbClr val="4B6E29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marL="561905" lvl="1" indent="-280953" algn="just">
              <a:lnSpc>
                <a:spcPts val="2602"/>
              </a:lnSpc>
              <a:spcBef>
                <a:spcPct val="0"/>
              </a:spcBef>
              <a:buFont typeface="Arial"/>
              <a:buChar char="•"/>
            </a:pPr>
            <a:r>
              <a:rPr lang="en-US" sz="2602" b="1" spc="26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BU SORUNU KENDI GÖZLERIMLE GÖRDÜM VE ÇÖZÜM ÜRETMEK ISTIYORUM.</a:t>
            </a:r>
          </a:p>
          <a:p>
            <a:pPr algn="just">
              <a:lnSpc>
                <a:spcPts val="2602"/>
              </a:lnSpc>
              <a:spcBef>
                <a:spcPct val="0"/>
              </a:spcBef>
            </a:pPr>
            <a:endParaRPr lang="en-US" sz="2602" b="1" spc="26">
              <a:solidFill>
                <a:srgbClr val="4B6E29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marL="561905" lvl="1" indent="-280953" algn="just">
              <a:lnSpc>
                <a:spcPts val="2602"/>
              </a:lnSpc>
              <a:spcBef>
                <a:spcPct val="0"/>
              </a:spcBef>
              <a:buFont typeface="Arial"/>
              <a:buChar char="•"/>
            </a:pPr>
            <a:r>
              <a:rPr lang="en-US" sz="2602" b="1" spc="26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ERIŞILEBILIRLIK, TEMEL BIR HAK OLMALI, LÜKS DEĞIL</a:t>
            </a:r>
          </a:p>
          <a:p>
            <a:pPr algn="just">
              <a:lnSpc>
                <a:spcPts val="2602"/>
              </a:lnSpc>
              <a:spcBef>
                <a:spcPct val="0"/>
              </a:spcBef>
            </a:pPr>
            <a:endParaRPr lang="en-US" sz="2602" b="1" spc="26">
              <a:solidFill>
                <a:srgbClr val="4B6E29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5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40000" flipH="1">
            <a:off x="15659745" y="-1028700"/>
            <a:ext cx="3111818" cy="4114800"/>
          </a:xfrm>
          <a:custGeom>
            <a:avLst/>
            <a:gdLst/>
            <a:ahLst/>
            <a:cxnLst/>
            <a:rect l="l" t="t" r="r" b="b"/>
            <a:pathLst>
              <a:path w="3111818" h="4114800">
                <a:moveTo>
                  <a:pt x="3111817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7" y="4114800"/>
                </a:lnTo>
                <a:lnTo>
                  <a:pt x="31118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 rot="523809">
            <a:off x="13062473" y="-2091637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 rot="-1500960">
            <a:off x="-375897" y="7488093"/>
            <a:ext cx="3111817" cy="4114800"/>
          </a:xfrm>
          <a:custGeom>
            <a:avLst/>
            <a:gdLst/>
            <a:ahLst/>
            <a:cxnLst/>
            <a:rect l="l" t="t" r="r" b="b"/>
            <a:pathLst>
              <a:path w="3111817" h="4114800">
                <a:moveTo>
                  <a:pt x="0" y="0"/>
                </a:moveTo>
                <a:lnTo>
                  <a:pt x="3111818" y="0"/>
                </a:lnTo>
                <a:lnTo>
                  <a:pt x="3111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 rot="523809">
            <a:off x="1676502" y="8176090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10105591" y="1976754"/>
            <a:ext cx="7110062" cy="7110062"/>
          </a:xfrm>
          <a:custGeom>
            <a:avLst/>
            <a:gdLst/>
            <a:ahLst/>
            <a:cxnLst/>
            <a:rect l="l" t="t" r="r" b="b"/>
            <a:pathLst>
              <a:path w="7110062" h="7110062">
                <a:moveTo>
                  <a:pt x="0" y="0"/>
                </a:moveTo>
                <a:lnTo>
                  <a:pt x="7110062" y="0"/>
                </a:lnTo>
                <a:lnTo>
                  <a:pt x="7110062" y="7110062"/>
                </a:lnTo>
                <a:lnTo>
                  <a:pt x="0" y="711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1180012" y="1624329"/>
            <a:ext cx="7419975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ÇÖZÜM ÖNER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</a:t>
            </a: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LER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</a:t>
            </a:r>
            <a:endParaRPr lang="en-US" sz="6000" b="1" spc="60" dirty="0">
              <a:solidFill>
                <a:srgbClr val="4B6E29"/>
              </a:solidFill>
              <a:latin typeface="Proxima Nova Heavy"/>
              <a:ea typeface="Proxima Nova Heavy"/>
              <a:cs typeface="Proxima Nova Heavy"/>
              <a:sym typeface="Proxima Nova Heavy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66990" y="4284620"/>
            <a:ext cx="7419975" cy="295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endParaRPr/>
          </a:p>
          <a:p>
            <a:pPr marL="604519" lvl="1" indent="-302260" algn="l">
              <a:lnSpc>
                <a:spcPts val="3919"/>
              </a:lnSpc>
              <a:buAutoNum type="arabicPeriod"/>
            </a:pPr>
            <a:r>
              <a:rPr lang="en-US" sz="2799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kata erişimi sağlayacak bir asansör ya da platform asansörü kurulabilir.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Böylece engelsiz bireyler bağımsız bir şekilde bu alanlara ulaşabilir</a:t>
            </a:r>
          </a:p>
          <a:p>
            <a:pPr algn="l">
              <a:lnSpc>
                <a:spcPts val="3919"/>
              </a:lnSpc>
            </a:pPr>
            <a:endParaRPr lang="en-US" sz="2799" b="1">
              <a:solidFill>
                <a:srgbClr val="4B6E29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29339" y="3132751"/>
            <a:ext cx="7757626" cy="120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9"/>
              </a:lnSpc>
              <a:spcBef>
                <a:spcPct val="0"/>
              </a:spcBef>
            </a:pPr>
            <a:r>
              <a:rPr lang="en-US" sz="2869" b="1" spc="28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ENGELSIZ BIREYLER IÇIN ASANSÖR KURULUMU</a:t>
            </a:r>
          </a:p>
          <a:p>
            <a:pPr algn="ctr">
              <a:lnSpc>
                <a:spcPts val="3586"/>
              </a:lnSpc>
              <a:spcBef>
                <a:spcPct val="0"/>
              </a:spcBef>
            </a:pPr>
            <a:endParaRPr lang="en-US" sz="2869" b="1" spc="28">
              <a:solidFill>
                <a:srgbClr val="4B6E29"/>
              </a:solidFill>
              <a:latin typeface="Proxima Nova Heavy"/>
              <a:ea typeface="Proxima Nova Heavy"/>
              <a:cs typeface="Proxima Nova Heavy"/>
              <a:sym typeface="Proxima Nova Heav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5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40000" flipH="1">
            <a:off x="15659745" y="-1028700"/>
            <a:ext cx="3111818" cy="4114800"/>
          </a:xfrm>
          <a:custGeom>
            <a:avLst/>
            <a:gdLst/>
            <a:ahLst/>
            <a:cxnLst/>
            <a:rect l="l" t="t" r="r" b="b"/>
            <a:pathLst>
              <a:path w="3111818" h="4114800">
                <a:moveTo>
                  <a:pt x="3111817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7" y="4114800"/>
                </a:lnTo>
                <a:lnTo>
                  <a:pt x="31118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 rot="523809">
            <a:off x="13062473" y="-2091637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 rot="-1500960">
            <a:off x="-375897" y="7488093"/>
            <a:ext cx="3111817" cy="4114800"/>
          </a:xfrm>
          <a:custGeom>
            <a:avLst/>
            <a:gdLst/>
            <a:ahLst/>
            <a:cxnLst/>
            <a:rect l="l" t="t" r="r" b="b"/>
            <a:pathLst>
              <a:path w="3111817" h="4114800">
                <a:moveTo>
                  <a:pt x="0" y="0"/>
                </a:moveTo>
                <a:lnTo>
                  <a:pt x="3111818" y="0"/>
                </a:lnTo>
                <a:lnTo>
                  <a:pt x="3111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 rot="523809">
            <a:off x="1676502" y="8176090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10377489" y="1853010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1028700" y="1500585"/>
            <a:ext cx="7419975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ÇÖZÜM ÖNER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İ</a:t>
            </a: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LER</a:t>
            </a:r>
            <a:r>
              <a:rPr lang="tr-TR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İ</a:t>
            </a:r>
            <a:endParaRPr lang="en-US" sz="6000" b="1" spc="60" dirty="0">
              <a:solidFill>
                <a:srgbClr val="4B6E29"/>
              </a:solidFill>
              <a:latin typeface="Proxima Nova Heavy"/>
              <a:ea typeface="Proxima Nova Heavy"/>
              <a:cs typeface="Proxima Nova Heavy"/>
              <a:sym typeface="Proxima Nova Heavy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26110" y="3013769"/>
            <a:ext cx="7419975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Engelsiz Bireyler için Rampa Kurulumu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6110" y="4311074"/>
            <a:ext cx="7419975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4D2F20"/>
                </a:solidFill>
                <a:latin typeface="Proxima Nova"/>
                <a:ea typeface="Proxima Nova"/>
                <a:cs typeface="Proxima Nova"/>
                <a:sym typeface="Proxima Nova"/>
              </a:rPr>
              <a:t>Spor salonunun seyirci kısmı altında yer alan beton yapıya bir rampa entegre edilerek tekerlekli sandalye kullanan bireylerin üst kattaki dersliklere ve ofislere erişimi sağlanabilir.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4D2F20"/>
                </a:solidFill>
                <a:latin typeface="Proxima Nova"/>
                <a:ea typeface="Proxima Nova"/>
                <a:cs typeface="Proxima Nova"/>
                <a:sym typeface="Proxima Nova"/>
              </a:rPr>
              <a:t> Bu çözüm, fiziksel erişim sorununu ortadan kaldırarak eğitim ve etkinliklere katılımı mümkün kılar.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5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62585"/>
            <a:ext cx="7243935" cy="6264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6"/>
              </a:lnSpc>
            </a:pPr>
            <a:r>
              <a:rPr lang="en-US" sz="2733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1. Online Katılım Seçenekleri</a:t>
            </a:r>
          </a:p>
          <a:p>
            <a:pPr algn="l">
              <a:lnSpc>
                <a:spcPts val="3826"/>
              </a:lnSpc>
            </a:pPr>
            <a:r>
              <a:rPr lang="en-US" sz="2733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Dersler ve etkinlikler çevrim içi olarak da sunulabilir.</a:t>
            </a:r>
          </a:p>
          <a:p>
            <a:pPr algn="l">
              <a:lnSpc>
                <a:spcPts val="3826"/>
              </a:lnSpc>
            </a:pPr>
            <a:r>
              <a:rPr lang="en-US" sz="2733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2. Dersliklerin Giriş Kata Taşınması</a:t>
            </a:r>
          </a:p>
          <a:p>
            <a:pPr algn="l">
              <a:lnSpc>
                <a:spcPts val="3826"/>
              </a:lnSpc>
            </a:pPr>
            <a:r>
              <a:rPr lang="en-US" sz="2733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Geçici çözüm olarak bazı dersler giriş kata alınabilir.</a:t>
            </a:r>
          </a:p>
          <a:p>
            <a:pPr algn="l">
              <a:lnSpc>
                <a:spcPts val="3826"/>
              </a:lnSpc>
            </a:pPr>
            <a:r>
              <a:rPr lang="en-US" sz="2733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3. Gönüllü Destek Ekibi Oluşturulması</a:t>
            </a:r>
          </a:p>
          <a:p>
            <a:pPr algn="l">
              <a:lnSpc>
                <a:spcPts val="3826"/>
              </a:lnSpc>
            </a:pPr>
            <a:r>
              <a:rPr lang="en-US" sz="2733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Engelsiz bireylere yardımcı olacak gönüllü öğrenciler destek sağlayabilir.</a:t>
            </a:r>
          </a:p>
          <a:p>
            <a:pPr algn="l">
              <a:lnSpc>
                <a:spcPts val="3826"/>
              </a:lnSpc>
            </a:pPr>
            <a:r>
              <a:rPr lang="en-US" sz="2733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4. Farkındalık Çalışmaları</a:t>
            </a:r>
          </a:p>
          <a:p>
            <a:pPr algn="l">
              <a:lnSpc>
                <a:spcPts val="3826"/>
              </a:lnSpc>
            </a:pPr>
            <a:r>
              <a:rPr lang="en-US" sz="2733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Erişilebilirlik konusunda bilgilendirme ve empati etkinlikleri yapılabilir.</a:t>
            </a:r>
          </a:p>
          <a:p>
            <a:pPr algn="l">
              <a:lnSpc>
                <a:spcPts val="3826"/>
              </a:lnSpc>
            </a:pPr>
            <a:endParaRPr lang="en-US" sz="2733" b="1">
              <a:solidFill>
                <a:srgbClr val="4B6E29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3" name="Freeform 3"/>
          <p:cNvSpPr/>
          <p:nvPr/>
        </p:nvSpPr>
        <p:spPr>
          <a:xfrm rot="-3840000" flipH="1">
            <a:off x="15659745" y="-1028700"/>
            <a:ext cx="3111818" cy="4114800"/>
          </a:xfrm>
          <a:custGeom>
            <a:avLst/>
            <a:gdLst/>
            <a:ahLst/>
            <a:cxnLst/>
            <a:rect l="l" t="t" r="r" b="b"/>
            <a:pathLst>
              <a:path w="3111818" h="4114800">
                <a:moveTo>
                  <a:pt x="3111817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7" y="4114800"/>
                </a:lnTo>
                <a:lnTo>
                  <a:pt x="31118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 rot="523809">
            <a:off x="13062473" y="-2091637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 rot="-1500960">
            <a:off x="-375897" y="7488093"/>
            <a:ext cx="3111817" cy="4114800"/>
          </a:xfrm>
          <a:custGeom>
            <a:avLst/>
            <a:gdLst/>
            <a:ahLst/>
            <a:cxnLst/>
            <a:rect l="l" t="t" r="r" b="b"/>
            <a:pathLst>
              <a:path w="3111817" h="4114800">
                <a:moveTo>
                  <a:pt x="0" y="0"/>
                </a:moveTo>
                <a:lnTo>
                  <a:pt x="3111818" y="0"/>
                </a:lnTo>
                <a:lnTo>
                  <a:pt x="3111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 rot="523809">
            <a:off x="1676502" y="8176090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9904778" y="1976754"/>
            <a:ext cx="6762139" cy="6762139"/>
          </a:xfrm>
          <a:custGeom>
            <a:avLst/>
            <a:gdLst/>
            <a:ahLst/>
            <a:cxnLst/>
            <a:rect l="l" t="t" r="r" b="b"/>
            <a:pathLst>
              <a:path w="6762139" h="6762139">
                <a:moveTo>
                  <a:pt x="0" y="0"/>
                </a:moveTo>
                <a:lnTo>
                  <a:pt x="6762139" y="0"/>
                </a:lnTo>
                <a:lnTo>
                  <a:pt x="6762139" y="6762139"/>
                </a:lnTo>
                <a:lnTo>
                  <a:pt x="0" y="67621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TextBox 8"/>
          <p:cNvSpPr txBox="1"/>
          <p:nvPr/>
        </p:nvSpPr>
        <p:spPr>
          <a:xfrm>
            <a:off x="1028700" y="1500585"/>
            <a:ext cx="741997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ÇÖZÜM ÖNERİLERİ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5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98436" y="1853834"/>
            <a:ext cx="5171945" cy="6065181"/>
          </a:xfrm>
          <a:custGeom>
            <a:avLst/>
            <a:gdLst/>
            <a:ahLst/>
            <a:cxnLst/>
            <a:rect l="l" t="t" r="r" b="b"/>
            <a:pathLst>
              <a:path w="5171945" h="6065181">
                <a:moveTo>
                  <a:pt x="0" y="0"/>
                </a:moveTo>
                <a:lnTo>
                  <a:pt x="5171945" y="0"/>
                </a:lnTo>
                <a:lnTo>
                  <a:pt x="5171945" y="6065180"/>
                </a:lnTo>
                <a:lnTo>
                  <a:pt x="0" y="6065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 rot="-1500960">
            <a:off x="-375897" y="7488093"/>
            <a:ext cx="3111817" cy="4114800"/>
          </a:xfrm>
          <a:custGeom>
            <a:avLst/>
            <a:gdLst/>
            <a:ahLst/>
            <a:cxnLst/>
            <a:rect l="l" t="t" r="r" b="b"/>
            <a:pathLst>
              <a:path w="3111817" h="4114800">
                <a:moveTo>
                  <a:pt x="0" y="0"/>
                </a:moveTo>
                <a:lnTo>
                  <a:pt x="3111818" y="0"/>
                </a:lnTo>
                <a:lnTo>
                  <a:pt x="3111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 rot="523809">
            <a:off x="1676502" y="8176090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 rot="-3840000" flipH="1">
            <a:off x="15659745" y="-1028700"/>
            <a:ext cx="3111818" cy="4114800"/>
          </a:xfrm>
          <a:custGeom>
            <a:avLst/>
            <a:gdLst/>
            <a:ahLst/>
            <a:cxnLst/>
            <a:rect l="l" t="t" r="r" b="b"/>
            <a:pathLst>
              <a:path w="3111818" h="4114800">
                <a:moveTo>
                  <a:pt x="3111817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7" y="4114800"/>
                </a:lnTo>
                <a:lnTo>
                  <a:pt x="31118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 rot="523809">
            <a:off x="13062473" y="-2091637"/>
            <a:ext cx="3887671" cy="3795339"/>
          </a:xfrm>
          <a:custGeom>
            <a:avLst/>
            <a:gdLst/>
            <a:ahLst/>
            <a:cxnLst/>
            <a:rect l="l" t="t" r="r" b="b"/>
            <a:pathLst>
              <a:path w="3887671" h="3795339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6966626" y="7101059"/>
            <a:ext cx="8676675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4B6E2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FATİH EMRE OĞAN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10442" y="3571875"/>
            <a:ext cx="8676675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6000" b="1" spc="60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“ERIŞILEBILIRLIK HERKESIN HAKKI”</a:t>
            </a:r>
          </a:p>
        </p:txBody>
      </p:sp>
      <p:sp>
        <p:nvSpPr>
          <p:cNvPr id="9" name="Freeform 9"/>
          <p:cNvSpPr/>
          <p:nvPr/>
        </p:nvSpPr>
        <p:spPr>
          <a:xfrm>
            <a:off x="459635" y="1594037"/>
            <a:ext cx="4346028" cy="6908426"/>
          </a:xfrm>
          <a:custGeom>
            <a:avLst/>
            <a:gdLst/>
            <a:ahLst/>
            <a:cxnLst/>
            <a:rect l="l" t="t" r="r" b="b"/>
            <a:pathLst>
              <a:path w="4346028" h="6908426">
                <a:moveTo>
                  <a:pt x="0" y="0"/>
                </a:moveTo>
                <a:lnTo>
                  <a:pt x="4346027" y="0"/>
                </a:lnTo>
                <a:lnTo>
                  <a:pt x="4346027" y="6908426"/>
                </a:lnTo>
                <a:lnTo>
                  <a:pt x="0" y="6908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TextBox 10"/>
          <p:cNvSpPr txBox="1"/>
          <p:nvPr/>
        </p:nvSpPr>
        <p:spPr>
          <a:xfrm>
            <a:off x="6629400" y="5937926"/>
            <a:ext cx="7419975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tr-TR" sz="3900" b="1" spc="39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DİNLEDİĞİNİZ İÇİN</a:t>
            </a:r>
            <a:r>
              <a:rPr lang="en-US" sz="3900" b="1" spc="39" dirty="0">
                <a:solidFill>
                  <a:srgbClr val="4B6E29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TEŞEKKÜRLER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281</Words>
  <Application>Microsoft Office PowerPoint</Application>
  <PresentationFormat>Özel</PresentationFormat>
  <Paragraphs>39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3" baseType="lpstr">
      <vt:lpstr>Arial</vt:lpstr>
      <vt:lpstr>Proxima Nova Bold</vt:lpstr>
      <vt:lpstr>Calibri</vt:lpstr>
      <vt:lpstr>Proxima Nova Heavy</vt:lpstr>
      <vt:lpstr>Proxima Nova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“Erişilebilirlik Herkesin Hakkı”</dc:title>
  <cp:lastModifiedBy>FATİH EMRE OĞAN</cp:lastModifiedBy>
  <cp:revision>3</cp:revision>
  <dcterms:created xsi:type="dcterms:W3CDTF">2006-08-16T00:00:00Z</dcterms:created>
  <dcterms:modified xsi:type="dcterms:W3CDTF">2025-04-10T14:34:42Z</dcterms:modified>
  <dc:identifier>DAGkKlEQq7g</dc:identifier>
</cp:coreProperties>
</file>